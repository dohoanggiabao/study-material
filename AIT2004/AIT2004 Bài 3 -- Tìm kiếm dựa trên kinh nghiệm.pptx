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80"/>
  </p:notesMasterIdLst>
  <p:handoutMasterIdLst>
    <p:handoutMasterId r:id="rId81"/>
  </p:handoutMasterIdLst>
  <p:sldIdLst>
    <p:sldId id="537" r:id="rId2"/>
    <p:sldId id="591" r:id="rId3"/>
    <p:sldId id="592" r:id="rId4"/>
    <p:sldId id="593" r:id="rId5"/>
    <p:sldId id="538" r:id="rId6"/>
    <p:sldId id="258" r:id="rId7"/>
    <p:sldId id="569" r:id="rId8"/>
    <p:sldId id="489" r:id="rId9"/>
    <p:sldId id="515" r:id="rId10"/>
    <p:sldId id="539" r:id="rId11"/>
    <p:sldId id="520" r:id="rId12"/>
    <p:sldId id="494" r:id="rId13"/>
    <p:sldId id="541" r:id="rId14"/>
    <p:sldId id="547" r:id="rId15"/>
    <p:sldId id="441" r:id="rId16"/>
    <p:sldId id="585" r:id="rId17"/>
    <p:sldId id="584" r:id="rId18"/>
    <p:sldId id="570" r:id="rId19"/>
    <p:sldId id="543" r:id="rId20"/>
    <p:sldId id="556" r:id="rId21"/>
    <p:sldId id="493" r:id="rId22"/>
    <p:sldId id="544" r:id="rId23"/>
    <p:sldId id="557" r:id="rId24"/>
    <p:sldId id="546" r:id="rId25"/>
    <p:sldId id="453" r:id="rId26"/>
    <p:sldId id="586" r:id="rId27"/>
    <p:sldId id="587" r:id="rId28"/>
    <p:sldId id="549" r:id="rId29"/>
    <p:sldId id="551" r:id="rId30"/>
    <p:sldId id="490" r:id="rId31"/>
    <p:sldId id="447" r:id="rId32"/>
    <p:sldId id="452" r:id="rId33"/>
    <p:sldId id="571" r:id="rId34"/>
    <p:sldId id="550" r:id="rId35"/>
    <p:sldId id="481" r:id="rId36"/>
    <p:sldId id="572" r:id="rId37"/>
    <p:sldId id="578" r:id="rId38"/>
    <p:sldId id="579" r:id="rId39"/>
    <p:sldId id="580" r:id="rId40"/>
    <p:sldId id="581" r:id="rId41"/>
    <p:sldId id="573" r:id="rId42"/>
    <p:sldId id="436" r:id="rId43"/>
    <p:sldId id="458" r:id="rId44"/>
    <p:sldId id="588" r:id="rId45"/>
    <p:sldId id="597" r:id="rId46"/>
    <p:sldId id="598" r:id="rId47"/>
    <p:sldId id="599" r:id="rId48"/>
    <p:sldId id="594" r:id="rId49"/>
    <p:sldId id="574" r:id="rId50"/>
    <p:sldId id="521" r:id="rId51"/>
    <p:sldId id="590" r:id="rId52"/>
    <p:sldId id="529" r:id="rId53"/>
    <p:sldId id="552" r:id="rId54"/>
    <p:sldId id="459" r:id="rId55"/>
    <p:sldId id="491" r:id="rId56"/>
    <p:sldId id="562" r:id="rId57"/>
    <p:sldId id="460" r:id="rId58"/>
    <p:sldId id="463" r:id="rId59"/>
    <p:sldId id="575" r:id="rId60"/>
    <p:sldId id="461" r:id="rId61"/>
    <p:sldId id="553" r:id="rId62"/>
    <p:sldId id="522" r:id="rId63"/>
    <p:sldId id="523" r:id="rId64"/>
    <p:sldId id="530" r:id="rId65"/>
    <p:sldId id="535" r:id="rId66"/>
    <p:sldId id="582" r:id="rId67"/>
    <p:sldId id="576" r:id="rId68"/>
    <p:sldId id="600" r:id="rId69"/>
    <p:sldId id="601" r:id="rId70"/>
    <p:sldId id="602" r:id="rId71"/>
    <p:sldId id="583" r:id="rId72"/>
    <p:sldId id="527" r:id="rId73"/>
    <p:sldId id="577" r:id="rId74"/>
    <p:sldId id="528" r:id="rId75"/>
    <p:sldId id="595" r:id="rId76"/>
    <p:sldId id="596" r:id="rId77"/>
    <p:sldId id="531" r:id="rId78"/>
    <p:sldId id="533" r:id="rId79"/>
  </p:sldIdLst>
  <p:sldSz cx="12192000" cy="6858000"/>
  <p:notesSz cx="7315200" cy="9601200"/>
  <p:custDataLst>
    <p:tags r:id="rId8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18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37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5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7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5943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131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320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509" algn="l" defTabSz="91437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8A"/>
    <a:srgbClr val="FFFFCC"/>
    <a:srgbClr val="CCFFCC"/>
    <a:srgbClr val="FFCCFF"/>
    <a:srgbClr val="FFCC99"/>
    <a:srgbClr val="99CCFF"/>
    <a:srgbClr val="008000"/>
    <a:srgbClr val="CC6600"/>
    <a:srgbClr val="9966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3CD07-4705-4F44-9D9A-33C0D430672C}" v="4268" dt="2023-02-02T01:26:59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8" autoAdjust="0"/>
    <p:restoredTop sz="91224" autoAdjust="0"/>
  </p:normalViewPr>
  <p:slideViewPr>
    <p:cSldViewPr>
      <p:cViewPr varScale="1">
        <p:scale>
          <a:sx n="106" d="100"/>
          <a:sy n="106" d="100"/>
        </p:scale>
        <p:origin x="184" y="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28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Tran" userId="e540d250-70c7-4be3-b4a2-b5ecbc3dd049" providerId="ADAL" clId="{BAB3CD07-4705-4F44-9D9A-33C0D430672C}"/>
    <pc:docChg chg="undo custSel addSld modSld sldOrd">
      <pc:chgData name="Long Tran" userId="e540d250-70c7-4be3-b4a2-b5ecbc3dd049" providerId="ADAL" clId="{BAB3CD07-4705-4F44-9D9A-33C0D430672C}" dt="2023-02-08T08:30:41.378" v="11525" actId="207"/>
      <pc:docMkLst>
        <pc:docMk/>
      </pc:docMkLst>
      <pc:sldChg chg="modSp mod">
        <pc:chgData name="Long Tran" userId="e540d250-70c7-4be3-b4a2-b5ecbc3dd049" providerId="ADAL" clId="{BAB3CD07-4705-4F44-9D9A-33C0D430672C}" dt="2023-02-01T05:26:09.542" v="175" actId="20577"/>
        <pc:sldMkLst>
          <pc:docMk/>
          <pc:sldMk cId="0" sldId="258"/>
        </pc:sldMkLst>
        <pc:spChg chg="mod">
          <ac:chgData name="Long Tran" userId="e540d250-70c7-4be3-b4a2-b5ecbc3dd049" providerId="ADAL" clId="{BAB3CD07-4705-4F44-9D9A-33C0D430672C}" dt="2023-02-01T05:24:56.814" v="52" actId="20577"/>
          <ac:spMkLst>
            <pc:docMk/>
            <pc:sldMk cId="0" sldId="258"/>
            <ac:spMk id="512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6:09.542" v="175" actId="20577"/>
          <ac:spMkLst>
            <pc:docMk/>
            <pc:sldMk cId="0" sldId="258"/>
            <ac:spMk id="5123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25:17.409" v="90" actId="167"/>
          <ac:picMkLst>
            <pc:docMk/>
            <pc:sldMk cId="0" sldId="258"/>
            <ac:picMk id="1030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9:49:26.184" v="4250" actId="14100"/>
        <pc:sldMkLst>
          <pc:docMk/>
          <pc:sldMk cId="0" sldId="436"/>
        </pc:sldMkLst>
        <pc:spChg chg="mod">
          <ac:chgData name="Long Tran" userId="e540d250-70c7-4be3-b4a2-b5ecbc3dd049" providerId="ADAL" clId="{BAB3CD07-4705-4F44-9D9A-33C0D430672C}" dt="2023-02-01T09:49:01.563" v="4221"/>
          <ac:spMkLst>
            <pc:docMk/>
            <pc:sldMk cId="0" sldId="436"/>
            <ac:spMk id="2048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9:26.184" v="4250" actId="14100"/>
          <ac:spMkLst>
            <pc:docMk/>
            <pc:sldMk cId="0" sldId="436"/>
            <ac:spMk id="2050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8:22.030" v="1218"/>
        <pc:sldMkLst>
          <pc:docMk/>
          <pc:sldMk cId="0" sldId="441"/>
        </pc:sldMkLst>
        <pc:spChg chg="mod">
          <ac:chgData name="Long Tran" userId="e540d250-70c7-4be3-b4a2-b5ecbc3dd049" providerId="ADAL" clId="{BAB3CD07-4705-4F44-9D9A-33C0D430672C}" dt="2023-02-01T05:37:55.706" v="1217" actId="20577"/>
          <ac:spMkLst>
            <pc:docMk/>
            <pc:sldMk cId="0" sldId="441"/>
            <ac:spMk id="1024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8:22.030" v="1218"/>
          <ac:spMkLst>
            <pc:docMk/>
            <pc:sldMk cId="0" sldId="441"/>
            <ac:spMk id="1024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7:05:05.719" v="2674" actId="207"/>
        <pc:sldMkLst>
          <pc:docMk/>
          <pc:sldMk cId="0" sldId="447"/>
        </pc:sldMkLst>
        <pc:spChg chg="mod">
          <ac:chgData name="Long Tran" userId="e540d250-70c7-4be3-b4a2-b5ecbc3dd049" providerId="ADAL" clId="{BAB3CD07-4705-4F44-9D9A-33C0D430672C}" dt="2023-02-01T07:04:15.685" v="2502" actId="20577"/>
          <ac:spMkLst>
            <pc:docMk/>
            <pc:sldMk cId="0" sldId="447"/>
            <ac:spMk id="1536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7:05:05.719" v="2674" actId="207"/>
          <ac:spMkLst>
            <pc:docMk/>
            <pc:sldMk cId="0" sldId="447"/>
            <ac:spMk id="798748" creationId="{00000000-0000-0000-0000-000000000000}"/>
          </ac:spMkLst>
        </pc:spChg>
      </pc:sldChg>
      <pc:sldChg chg="modSp mod modAnim">
        <pc:chgData name="Long Tran" userId="e540d250-70c7-4be3-b4a2-b5ecbc3dd049" providerId="ADAL" clId="{BAB3CD07-4705-4F44-9D9A-33C0D430672C}" dt="2023-02-01T09:28:01.562" v="2899" actId="20577"/>
        <pc:sldMkLst>
          <pc:docMk/>
          <pc:sldMk cId="0" sldId="452"/>
        </pc:sldMkLst>
        <pc:spChg chg="mod">
          <ac:chgData name="Long Tran" userId="e540d250-70c7-4be3-b4a2-b5ecbc3dd049" providerId="ADAL" clId="{BAB3CD07-4705-4F44-9D9A-33C0D430672C}" dt="2023-02-01T07:05:32.579" v="2693" actId="20577"/>
          <ac:spMkLst>
            <pc:docMk/>
            <pc:sldMk cId="0" sldId="452"/>
            <ac:spMk id="1638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28:01.562" v="2899" actId="20577"/>
          <ac:spMkLst>
            <pc:docMk/>
            <pc:sldMk cId="0" sldId="452"/>
            <ac:spMk id="803856" creationId="{00000000-0000-0000-0000-000000000000}"/>
          </ac:spMkLst>
        </pc:spChg>
      </pc:sldChg>
      <pc:sldChg chg="modSp modAnim">
        <pc:chgData name="Long Tran" userId="e540d250-70c7-4be3-b4a2-b5ecbc3dd049" providerId="ADAL" clId="{BAB3CD07-4705-4F44-9D9A-33C0D430672C}" dt="2023-02-01T05:47:15.793" v="2137" actId="20577"/>
        <pc:sldMkLst>
          <pc:docMk/>
          <pc:sldMk cId="0" sldId="453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453"/>
            <ac:spMk id="1331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7:15.793" v="2137" actId="20577"/>
          <ac:spMkLst>
            <pc:docMk/>
            <pc:sldMk cId="0" sldId="453"/>
            <ac:spMk id="13316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1:03.833" v="4516" actId="14100"/>
        <pc:sldMkLst>
          <pc:docMk/>
          <pc:sldMk cId="0" sldId="458"/>
        </pc:sldMkLst>
        <pc:spChg chg="mod">
          <ac:chgData name="Long Tran" userId="e540d250-70c7-4be3-b4a2-b5ecbc3dd049" providerId="ADAL" clId="{BAB3CD07-4705-4F44-9D9A-33C0D430672C}" dt="2023-02-01T09:49:42.326" v="4281" actId="20577"/>
          <ac:spMkLst>
            <pc:docMk/>
            <pc:sldMk cId="0" sldId="458"/>
            <ac:spMk id="2150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0:33.294" v="4485" actId="20577"/>
          <ac:spMkLst>
            <pc:docMk/>
            <pc:sldMk cId="0" sldId="458"/>
            <ac:spMk id="2150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0:43.357" v="4498" actId="14100"/>
          <ac:spMkLst>
            <pc:docMk/>
            <pc:sldMk cId="0" sldId="458"/>
            <ac:spMk id="2151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0:49.553" v="4511" actId="14100"/>
          <ac:spMkLst>
            <pc:docMk/>
            <pc:sldMk cId="0" sldId="458"/>
            <ac:spMk id="2151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1:03.833" v="4516" actId="14100"/>
          <ac:spMkLst>
            <pc:docMk/>
            <pc:sldMk cId="0" sldId="458"/>
            <ac:spMk id="2151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0:57.477" v="4514" actId="20577"/>
          <ac:spMkLst>
            <pc:docMk/>
            <pc:sldMk cId="0" sldId="458"/>
            <ac:spMk id="21518" creationId="{00000000-0000-0000-0000-000000000000}"/>
          </ac:spMkLst>
        </pc:spChg>
      </pc:sldChg>
      <pc:sldChg chg="modSp mod modAnim">
        <pc:chgData name="Long Tran" userId="e540d250-70c7-4be3-b4a2-b5ecbc3dd049" providerId="ADAL" clId="{BAB3CD07-4705-4F44-9D9A-33C0D430672C}" dt="2023-02-01T09:58:18.783" v="5198" actId="20577"/>
        <pc:sldMkLst>
          <pc:docMk/>
          <pc:sldMk cId="0" sldId="459"/>
        </pc:sldMkLst>
        <pc:spChg chg="mod">
          <ac:chgData name="Long Tran" userId="e540d250-70c7-4be3-b4a2-b5ecbc3dd049" providerId="ADAL" clId="{BAB3CD07-4705-4F44-9D9A-33C0D430672C}" dt="2023-02-01T09:58:18.783" v="5198" actId="20577"/>
          <ac:spMkLst>
            <pc:docMk/>
            <pc:sldMk cId="0" sldId="459"/>
            <ac:spMk id="2150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5:19.556" v="4942" actId="20577"/>
          <ac:spMkLst>
            <pc:docMk/>
            <pc:sldMk cId="0" sldId="459"/>
            <ac:spMk id="22530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07:05.794" v="5959" actId="207"/>
        <pc:sldMkLst>
          <pc:docMk/>
          <pc:sldMk cId="0" sldId="460"/>
        </pc:sldMkLst>
        <pc:spChg chg="mod">
          <ac:chgData name="Long Tran" userId="e540d250-70c7-4be3-b4a2-b5ecbc3dd049" providerId="ADAL" clId="{BAB3CD07-4705-4F44-9D9A-33C0D430672C}" dt="2023-02-01T10:03:27.781" v="5741"/>
          <ac:spMkLst>
            <pc:docMk/>
            <pc:sldMk cId="0" sldId="460"/>
            <ac:spMk id="2560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7:05.794" v="5959" actId="207"/>
          <ac:spMkLst>
            <pc:docMk/>
            <pc:sldMk cId="0" sldId="460"/>
            <ac:spMk id="81305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4:38.817" v="5906" actId="1076"/>
          <ac:spMkLst>
            <pc:docMk/>
            <pc:sldMk cId="0" sldId="460"/>
            <ac:spMk id="813061" creationId="{00000000-0000-0000-0000-000000000000}"/>
          </ac:spMkLst>
        </pc:spChg>
        <pc:graphicFrameChg chg="mod modGraphic">
          <ac:chgData name="Long Tran" userId="e540d250-70c7-4be3-b4a2-b5ecbc3dd049" providerId="ADAL" clId="{BAB3CD07-4705-4F44-9D9A-33C0D430672C}" dt="2023-02-01T10:06:45.257" v="5958" actId="1035"/>
          <ac:graphicFrameMkLst>
            <pc:docMk/>
            <pc:sldMk cId="0" sldId="460"/>
            <ac:graphicFrameMk id="813133" creationId="{00000000-0000-0000-0000-000000000000}"/>
          </ac:graphicFrameMkLst>
        </pc:graphicFrameChg>
      </pc:sldChg>
      <pc:sldChg chg="modSp mod modShow">
        <pc:chgData name="Long Tran" userId="e540d250-70c7-4be3-b4a2-b5ecbc3dd049" providerId="ADAL" clId="{BAB3CD07-4705-4F44-9D9A-33C0D430672C}" dt="2023-02-01T10:09:39.673" v="6419" actId="729"/>
        <pc:sldMkLst>
          <pc:docMk/>
          <pc:sldMk cId="0" sldId="461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461"/>
            <ac:spMk id="2765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461"/>
            <ac:spMk id="27651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09:19.011" v="6417" actId="20577"/>
        <pc:sldMkLst>
          <pc:docMk/>
          <pc:sldMk cId="0" sldId="463"/>
        </pc:sldMkLst>
        <pc:spChg chg="mod">
          <ac:chgData name="Long Tran" userId="e540d250-70c7-4be3-b4a2-b5ecbc3dd049" providerId="ADAL" clId="{BAB3CD07-4705-4F44-9D9A-33C0D430672C}" dt="2023-02-01T10:07:19.046" v="5960"/>
          <ac:spMkLst>
            <pc:docMk/>
            <pc:sldMk cId="0" sldId="463"/>
            <ac:spMk id="2662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9:19.011" v="6417" actId="20577"/>
          <ac:spMkLst>
            <pc:docMk/>
            <pc:sldMk cId="0" sldId="463"/>
            <ac:spMk id="81715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35:18.859" v="3461" actId="20577"/>
        <pc:sldMkLst>
          <pc:docMk/>
          <pc:sldMk cId="0" sldId="481"/>
        </pc:sldMkLst>
        <pc:spChg chg="mod">
          <ac:chgData name="Long Tran" userId="e540d250-70c7-4be3-b4a2-b5ecbc3dd049" providerId="ADAL" clId="{BAB3CD07-4705-4F44-9D9A-33C0D430672C}" dt="2023-02-01T09:35:05.763" v="3412" actId="20577"/>
          <ac:spMkLst>
            <pc:docMk/>
            <pc:sldMk cId="0" sldId="481"/>
            <ac:spMk id="163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35:18.859" v="3461" actId="20577"/>
          <ac:spMkLst>
            <pc:docMk/>
            <pc:sldMk cId="0" sldId="481"/>
            <ac:spMk id="17410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9:34:27.745" v="3279" actId="1037"/>
          <ac:picMkLst>
            <pc:docMk/>
            <pc:sldMk cId="0" sldId="481"/>
            <ac:picMk id="17413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5:31:32.449" v="759" actId="20577"/>
        <pc:sldMkLst>
          <pc:docMk/>
          <pc:sldMk cId="0" sldId="489"/>
        </pc:sldMkLst>
        <pc:spChg chg="mod">
          <ac:chgData name="Long Tran" userId="e540d250-70c7-4be3-b4a2-b5ecbc3dd049" providerId="ADAL" clId="{BAB3CD07-4705-4F44-9D9A-33C0D430672C}" dt="2023-02-01T05:27:13.651" v="206"/>
          <ac:spMkLst>
            <pc:docMk/>
            <pc:sldMk cId="0" sldId="489"/>
            <ac:spMk id="614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1:32.449" v="759" actId="20577"/>
          <ac:spMkLst>
            <pc:docMk/>
            <pc:sldMk cId="0" sldId="489"/>
            <ac:spMk id="614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7:03:24.314" v="2473" actId="20577"/>
        <pc:sldMkLst>
          <pc:docMk/>
          <pc:sldMk cId="0" sldId="490"/>
        </pc:sldMkLst>
        <pc:spChg chg="mod">
          <ac:chgData name="Long Tran" userId="e540d250-70c7-4be3-b4a2-b5ecbc3dd049" providerId="ADAL" clId="{BAB3CD07-4705-4F44-9D9A-33C0D430672C}" dt="2023-02-01T07:00:51.541" v="2248" actId="20577"/>
          <ac:spMkLst>
            <pc:docMk/>
            <pc:sldMk cId="0" sldId="490"/>
            <ac:spMk id="1434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7:03:24.314" v="2473" actId="20577"/>
          <ac:spMkLst>
            <pc:docMk/>
            <pc:sldMk cId="0" sldId="490"/>
            <ac:spMk id="1437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7:03:18.199" v="2461" actId="20577"/>
          <ac:spMkLst>
            <pc:docMk/>
            <pc:sldMk cId="0" sldId="490"/>
            <ac:spMk id="85299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9:48.281" v="5456" actId="20577"/>
        <pc:sldMkLst>
          <pc:docMk/>
          <pc:sldMk cId="0" sldId="491"/>
        </pc:sldMkLst>
        <pc:spChg chg="mod">
          <ac:chgData name="Long Tran" userId="e540d250-70c7-4be3-b4a2-b5ecbc3dd049" providerId="ADAL" clId="{BAB3CD07-4705-4F44-9D9A-33C0D430672C}" dt="2023-02-01T09:58:52.994" v="5248" actId="14100"/>
          <ac:spMkLst>
            <pc:docMk/>
            <pc:sldMk cId="0" sldId="491"/>
            <ac:spMk id="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9:08.704" v="5293" actId="1037"/>
          <ac:spMkLst>
            <pc:docMk/>
            <pc:sldMk cId="0" sldId="491"/>
            <ac:spMk id="1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8:56.452" v="5261" actId="20577"/>
          <ac:spMkLst>
            <pc:docMk/>
            <pc:sldMk cId="0" sldId="491"/>
            <ac:spMk id="1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8:39.346" v="5222" actId="20577"/>
          <ac:spMkLst>
            <pc:docMk/>
            <pc:sldMk cId="0" sldId="491"/>
            <ac:spMk id="2355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9:48.281" v="5456" actId="20577"/>
          <ac:spMkLst>
            <pc:docMk/>
            <pc:sldMk cId="0" sldId="491"/>
            <ac:spMk id="2355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3:29.275" v="1681" actId="790"/>
        <pc:sldMkLst>
          <pc:docMk/>
          <pc:sldMk cId="0" sldId="493"/>
        </pc:sldMkLst>
        <pc:spChg chg="mod">
          <ac:chgData name="Long Tran" userId="e540d250-70c7-4be3-b4a2-b5ecbc3dd049" providerId="ADAL" clId="{BAB3CD07-4705-4F44-9D9A-33C0D430672C}" dt="2023-02-01T05:43:29.275" v="1681" actId="790"/>
          <ac:spMkLst>
            <pc:docMk/>
            <pc:sldMk cId="0" sldId="493"/>
            <ac:spMk id="10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3:29.275" v="1681" actId="790"/>
          <ac:spMkLst>
            <pc:docMk/>
            <pc:sldMk cId="0" sldId="493"/>
            <ac:spMk id="15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3:29.275" v="1681" actId="790"/>
          <ac:spMkLst>
            <pc:docMk/>
            <pc:sldMk cId="0" sldId="493"/>
            <ac:spMk id="11266" creationId="{00000000-0000-0000-0000-000000000000}"/>
          </ac:spMkLst>
        </pc:s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26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79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81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88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94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96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98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299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301" creationId="{00000000-0000-0000-0000-000000000000}"/>
          </ac:grpSpMkLst>
        </pc:grpChg>
        <pc:grpChg chg="mod">
          <ac:chgData name="Long Tran" userId="e540d250-70c7-4be3-b4a2-b5ecbc3dd049" providerId="ADAL" clId="{BAB3CD07-4705-4F44-9D9A-33C0D430672C}" dt="2023-02-01T05:43:29.275" v="1681" actId="790"/>
          <ac:grpSpMkLst>
            <pc:docMk/>
            <pc:sldMk cId="0" sldId="493"/>
            <ac:grpSpMk id="11311" creationId="{00000000-0000-0000-0000-000000000000}"/>
          </ac:grpSpMkLst>
        </pc:grp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8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9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0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3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5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6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21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2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23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2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38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3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5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6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57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63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65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69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71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79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8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86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06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0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5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17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20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2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2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29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30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34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38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42" creationId="{00000000-0000-0000-0000-000000000000}"/>
          </ac:cxnSpMkLst>
        </pc:cxnChg>
        <pc:cxnChg chg="mod">
          <ac:chgData name="Long Tran" userId="e540d250-70c7-4be3-b4a2-b5ecbc3dd049" providerId="ADAL" clId="{BAB3CD07-4705-4F44-9D9A-33C0D430672C}" dt="2023-02-01T05:43:29.275" v="1681" actId="790"/>
          <ac:cxnSpMkLst>
            <pc:docMk/>
            <pc:sldMk cId="0" sldId="493"/>
            <ac:cxnSpMk id="144" creationId="{00000000-0000-0000-0000-000000000000}"/>
          </ac:cxnSpMkLst>
        </pc:cxnChg>
      </pc:sldChg>
      <pc:sldChg chg="modSp mod modNotesTx">
        <pc:chgData name="Long Tran" userId="e540d250-70c7-4be3-b4a2-b5ecbc3dd049" providerId="ADAL" clId="{BAB3CD07-4705-4F44-9D9A-33C0D430672C}" dt="2023-02-01T05:35:49.798" v="1140" actId="20577"/>
        <pc:sldMkLst>
          <pc:docMk/>
          <pc:sldMk cId="0" sldId="494"/>
        </pc:sldMkLst>
        <pc:spChg chg="mod">
          <ac:chgData name="Long Tran" userId="e540d250-70c7-4be3-b4a2-b5ecbc3dd049" providerId="ADAL" clId="{BAB3CD07-4705-4F44-9D9A-33C0D430672C}" dt="2023-02-01T05:35:45.490" v="1139" actId="20577"/>
          <ac:spMkLst>
            <pc:docMk/>
            <pc:sldMk cId="0" sldId="494"/>
            <ac:spMk id="7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4:36.941" v="1027" actId="20577"/>
          <ac:spMkLst>
            <pc:docMk/>
            <pc:sldMk cId="0" sldId="494"/>
            <ac:spMk id="12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5:17.045" v="1076" actId="14100"/>
          <ac:spMkLst>
            <pc:docMk/>
            <pc:sldMk cId="0" sldId="494"/>
            <ac:spMk id="12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3:32.698" v="965" actId="20577"/>
          <ac:spMkLst>
            <pc:docMk/>
            <pc:sldMk cId="0" sldId="494"/>
            <ac:spMk id="921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4:01.520" v="990" actId="20577"/>
        <pc:sldMkLst>
          <pc:docMk/>
          <pc:sldMk cId="0" sldId="515"/>
        </pc:sldMkLst>
        <pc:spChg chg="mod">
          <ac:chgData name="Long Tran" userId="e540d250-70c7-4be3-b4a2-b5ecbc3dd049" providerId="ADAL" clId="{BAB3CD07-4705-4F44-9D9A-33C0D430672C}" dt="2023-02-01T05:32:11.314" v="807" actId="20577"/>
          <ac:spMkLst>
            <pc:docMk/>
            <pc:sldMk cId="0" sldId="515"/>
            <ac:spMk id="717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4:01.520" v="990" actId="20577"/>
          <ac:spMkLst>
            <pc:docMk/>
            <pc:sldMk cId="0" sldId="515"/>
            <ac:spMk id="719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3:22.232" v="927" actId="20577"/>
        <pc:sldMkLst>
          <pc:docMk/>
          <pc:sldMk cId="0" sldId="520"/>
        </pc:sldMkLst>
        <pc:spChg chg="mod">
          <ac:chgData name="Long Tran" userId="e540d250-70c7-4be3-b4a2-b5ecbc3dd049" providerId="ADAL" clId="{BAB3CD07-4705-4F44-9D9A-33C0D430672C}" dt="2023-02-01T05:33:01.820" v="843"/>
          <ac:spMkLst>
            <pc:docMk/>
            <pc:sldMk cId="0" sldId="520"/>
            <ac:spMk id="819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3:22.232" v="927" actId="20577"/>
          <ac:spMkLst>
            <pc:docMk/>
            <pc:sldMk cId="0" sldId="520"/>
            <ac:spMk id="8253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3:42.613" v="4809" actId="20577"/>
        <pc:sldMkLst>
          <pc:docMk/>
          <pc:sldMk cId="0" sldId="521"/>
        </pc:sldMkLst>
        <pc:spChg chg="mod">
          <ac:chgData name="Long Tran" userId="e540d250-70c7-4be3-b4a2-b5ecbc3dd049" providerId="ADAL" clId="{BAB3CD07-4705-4F44-9D9A-33C0D430672C}" dt="2023-02-01T09:52:58.990" v="4631"/>
          <ac:spMkLst>
            <pc:docMk/>
            <pc:sldMk cId="0" sldId="521"/>
            <ac:spMk id="2867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3:42.613" v="4809" actId="20577"/>
          <ac:spMkLst>
            <pc:docMk/>
            <pc:sldMk cId="0" sldId="521"/>
            <ac:spMk id="2867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11:54.658" v="6687" actId="20577"/>
        <pc:sldMkLst>
          <pc:docMk/>
          <pc:sldMk cId="0" sldId="522"/>
        </pc:sldMkLst>
        <pc:spChg chg="mod">
          <ac:chgData name="Long Tran" userId="e540d250-70c7-4be3-b4a2-b5ecbc3dd049" providerId="ADAL" clId="{BAB3CD07-4705-4F44-9D9A-33C0D430672C}" dt="2023-02-01T10:11:54.658" v="6687" actId="20577"/>
          <ac:spMkLst>
            <pc:docMk/>
            <pc:sldMk cId="0" sldId="522"/>
            <ac:spMk id="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1:50.499" v="6671" actId="20577"/>
          <ac:spMkLst>
            <pc:docMk/>
            <pc:sldMk cId="0" sldId="522"/>
            <ac:spMk id="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0:49.701" v="6525" actId="20577"/>
          <ac:spMkLst>
            <pc:docMk/>
            <pc:sldMk cId="0" sldId="522"/>
            <ac:spMk id="2969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1:32.915" v="6648" actId="20577"/>
          <ac:spMkLst>
            <pc:docMk/>
            <pc:sldMk cId="0" sldId="522"/>
            <ac:spMk id="2969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12:41.729" v="6820" actId="20577"/>
        <pc:sldMkLst>
          <pc:docMk/>
          <pc:sldMk cId="0" sldId="523"/>
        </pc:sldMkLst>
        <pc:spChg chg="mod">
          <ac:chgData name="Long Tran" userId="e540d250-70c7-4be3-b4a2-b5ecbc3dd049" providerId="ADAL" clId="{BAB3CD07-4705-4F44-9D9A-33C0D430672C}" dt="2023-02-01T10:12:17.081" v="6715" actId="20577"/>
          <ac:spMkLst>
            <pc:docMk/>
            <pc:sldMk cId="0" sldId="523"/>
            <ac:spMk id="3072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2:41.729" v="6820" actId="20577"/>
          <ac:spMkLst>
            <pc:docMk/>
            <pc:sldMk cId="0" sldId="523"/>
            <ac:spMk id="30723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2T01:28:50.465" v="11521" actId="20577"/>
        <pc:sldMkLst>
          <pc:docMk/>
          <pc:sldMk cId="0" sldId="527"/>
        </pc:sldMkLst>
        <pc:spChg chg="mod">
          <ac:chgData name="Long Tran" userId="e540d250-70c7-4be3-b4a2-b5ecbc3dd049" providerId="ADAL" clId="{BAB3CD07-4705-4F44-9D9A-33C0D430672C}" dt="2023-02-01T10:25:48.219" v="8393" actId="20577"/>
          <ac:spMkLst>
            <pc:docMk/>
            <pc:sldMk cId="0" sldId="527"/>
            <ac:spMk id="3686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8:50.465" v="11521" actId="20577"/>
          <ac:spMkLst>
            <pc:docMk/>
            <pc:sldMk cId="0" sldId="527"/>
            <ac:spMk id="3686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2T01:29:02.412" v="11522"/>
        <pc:sldMkLst>
          <pc:docMk/>
          <pc:sldMk cId="0" sldId="528"/>
        </pc:sldMkLst>
        <pc:spChg chg="mod">
          <ac:chgData name="Long Tran" userId="e540d250-70c7-4be3-b4a2-b5ecbc3dd049" providerId="ADAL" clId="{BAB3CD07-4705-4F44-9D9A-33C0D430672C}" dt="2023-02-01T10:30:02.430" v="8771"/>
          <ac:spMkLst>
            <pc:docMk/>
            <pc:sldMk cId="0" sldId="528"/>
            <ac:spMk id="3789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9:02.412" v="11522"/>
          <ac:spMkLst>
            <pc:docMk/>
            <pc:sldMk cId="0" sldId="528"/>
            <ac:spMk id="37891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4:26.590" v="4862" actId="20577"/>
        <pc:sldMkLst>
          <pc:docMk/>
          <pc:sldMk cId="0" sldId="529"/>
        </pc:sldMkLst>
        <pc:spChg chg="mod">
          <ac:chgData name="Long Tran" userId="e540d250-70c7-4be3-b4a2-b5ecbc3dd049" providerId="ADAL" clId="{BAB3CD07-4705-4F44-9D9A-33C0D430672C}" dt="2023-02-01T09:54:26.590" v="4862" actId="20577"/>
          <ac:spMkLst>
            <pc:docMk/>
            <pc:sldMk cId="0" sldId="529"/>
            <ac:spMk id="38914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17:16.217" v="7405" actId="20577"/>
        <pc:sldMkLst>
          <pc:docMk/>
          <pc:sldMk cId="0" sldId="530"/>
        </pc:sldMkLst>
        <pc:spChg chg="mod">
          <ac:chgData name="Long Tran" userId="e540d250-70c7-4be3-b4a2-b5ecbc3dd049" providerId="ADAL" clId="{BAB3CD07-4705-4F44-9D9A-33C0D430672C}" dt="2023-02-01T10:17:16.217" v="7405" actId="20577"/>
          <ac:spMkLst>
            <pc:docMk/>
            <pc:sldMk cId="0" sldId="530"/>
            <ac:spMk id="2969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3:57.942" v="6821"/>
          <ac:spMkLst>
            <pc:docMk/>
            <pc:sldMk cId="0" sldId="530"/>
            <ac:spMk id="31746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0" sldId="531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1"/>
            <ac:spMk id="419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1"/>
            <ac:spMk id="41988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0" sldId="533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3"/>
            <ac:spMk id="3584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3"/>
            <ac:spMk id="78233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17:52.821" v="7495" actId="20577"/>
        <pc:sldMkLst>
          <pc:docMk/>
          <pc:sldMk cId="0" sldId="535"/>
        </pc:sldMkLst>
        <pc:spChg chg="mod">
          <ac:chgData name="Long Tran" userId="e540d250-70c7-4be3-b4a2-b5ecbc3dd049" providerId="ADAL" clId="{BAB3CD07-4705-4F44-9D9A-33C0D430672C}" dt="2023-02-01T10:17:52.821" v="7495" actId="20577"/>
          <ac:spMkLst>
            <pc:docMk/>
            <pc:sldMk cId="0" sldId="535"/>
            <ac:spMk id="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7:43.898" v="7454" actId="20577"/>
          <ac:spMkLst>
            <pc:docMk/>
            <pc:sldMk cId="0" sldId="535"/>
            <ac:spMk id="3379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17:48.583" v="7477" actId="20577"/>
          <ac:spMkLst>
            <pc:docMk/>
            <pc:sldMk cId="0" sldId="535"/>
            <ac:spMk id="33817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0" sldId="537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7"/>
            <ac:spMk id="307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0" sldId="537"/>
            <ac:spMk id="614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23:56.086" v="42" actId="1076"/>
        <pc:sldMkLst>
          <pc:docMk/>
          <pc:sldMk cId="0" sldId="538"/>
        </pc:sldMkLst>
        <pc:spChg chg="mod">
          <ac:chgData name="Long Tran" userId="e540d250-70c7-4be3-b4a2-b5ecbc3dd049" providerId="ADAL" clId="{BAB3CD07-4705-4F44-9D9A-33C0D430672C}" dt="2023-02-01T05:23:56.086" v="42" actId="1076"/>
          <ac:spMkLst>
            <pc:docMk/>
            <pc:sldMk cId="0" sldId="538"/>
            <ac:spMk id="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3:27.206" v="2" actId="20577"/>
          <ac:spMkLst>
            <pc:docMk/>
            <pc:sldMk cId="0" sldId="538"/>
            <ac:spMk id="512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23:36.622" v="38" actId="20577"/>
          <ac:spMkLst>
            <pc:docMk/>
            <pc:sldMk cId="0" sldId="538"/>
            <ac:spMk id="5123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2:57.114" v="842"/>
        <pc:sldMkLst>
          <pc:docMk/>
          <pc:sldMk cId="0" sldId="539"/>
        </pc:sldMkLst>
        <pc:spChg chg="mod">
          <ac:chgData name="Long Tran" userId="e540d250-70c7-4be3-b4a2-b5ecbc3dd049" providerId="ADAL" clId="{BAB3CD07-4705-4F44-9D9A-33C0D430672C}" dt="2023-02-01T05:32:57.114" v="842"/>
          <ac:spMkLst>
            <pc:docMk/>
            <pc:sldMk cId="0" sldId="539"/>
            <ac:spMk id="7170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6:44.618" v="1143"/>
        <pc:sldMkLst>
          <pc:docMk/>
          <pc:sldMk cId="0" sldId="541"/>
        </pc:sldMkLst>
        <pc:spChg chg="mod">
          <ac:chgData name="Long Tran" userId="e540d250-70c7-4be3-b4a2-b5ecbc3dd049" providerId="ADAL" clId="{BAB3CD07-4705-4F44-9D9A-33C0D430672C}" dt="2023-02-01T05:36:30.416" v="1141"/>
          <ac:spMkLst>
            <pc:docMk/>
            <pc:sldMk cId="0" sldId="541"/>
            <ac:spMk id="2969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36:44.618" v="1143"/>
          <ac:spMkLst>
            <pc:docMk/>
            <pc:sldMk cId="0" sldId="541"/>
            <ac:spMk id="29711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1:11.468" v="1566" actId="790"/>
        <pc:sldMkLst>
          <pc:docMk/>
          <pc:sldMk cId="0" sldId="543"/>
        </pc:sldMkLst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1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3277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3277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3277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1:11.468" v="1566" actId="790"/>
          <ac:spMkLst>
            <pc:docMk/>
            <pc:sldMk cId="0" sldId="543"/>
            <ac:spMk id="3277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4:05.901" v="1717" actId="20577"/>
        <pc:sldMkLst>
          <pc:docMk/>
          <pc:sldMk cId="0" sldId="544"/>
        </pc:sldMkLst>
        <pc:spChg chg="mod">
          <ac:chgData name="Long Tran" userId="e540d250-70c7-4be3-b4a2-b5ecbc3dd049" providerId="ADAL" clId="{BAB3CD07-4705-4F44-9D9A-33C0D430672C}" dt="2023-02-01T05:44:05.901" v="1717" actId="20577"/>
          <ac:spMkLst>
            <pc:docMk/>
            <pc:sldMk cId="0" sldId="544"/>
            <ac:spMk id="2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43:53.141" v="1682" actId="167"/>
          <ac:picMkLst>
            <pc:docMk/>
            <pc:sldMk cId="0" sldId="544"/>
            <ac:picMk id="5" creationId="{00000000-0000-0000-0000-000000000000}"/>
          </ac:picMkLst>
        </pc:picChg>
      </pc:sldChg>
      <pc:sldChg chg="modSp mod modAnim">
        <pc:chgData name="Long Tran" userId="e540d250-70c7-4be3-b4a2-b5ecbc3dd049" providerId="ADAL" clId="{BAB3CD07-4705-4F44-9D9A-33C0D430672C}" dt="2023-02-01T05:45:13.716" v="1821" actId="20577"/>
        <pc:sldMkLst>
          <pc:docMk/>
          <pc:sldMk cId="0" sldId="546"/>
        </pc:sldMkLst>
        <pc:spChg chg="mod">
          <ac:chgData name="Long Tran" userId="e540d250-70c7-4be3-b4a2-b5ecbc3dd049" providerId="ADAL" clId="{BAB3CD07-4705-4F44-9D9A-33C0D430672C}" dt="2023-02-01T05:44:31.405" v="1738" actId="20577"/>
          <ac:spMkLst>
            <pc:docMk/>
            <pc:sldMk cId="0" sldId="546"/>
            <ac:spMk id="3481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5:45:13.716" v="1821" actId="20577"/>
          <ac:spMkLst>
            <pc:docMk/>
            <pc:sldMk cId="0" sldId="546"/>
            <ac:spMk id="816131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7:02.919" v="1160" actId="20577"/>
        <pc:sldMkLst>
          <pc:docMk/>
          <pc:sldMk cId="0" sldId="547"/>
        </pc:sldMkLst>
        <pc:spChg chg="mod">
          <ac:chgData name="Long Tran" userId="e540d250-70c7-4be3-b4a2-b5ecbc3dd049" providerId="ADAL" clId="{BAB3CD07-4705-4F44-9D9A-33C0D430672C}" dt="2023-02-01T05:37:02.919" v="1160" actId="20577"/>
          <ac:spMkLst>
            <pc:docMk/>
            <pc:sldMk cId="0" sldId="547"/>
            <ac:spMk id="2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36:58.590" v="1145" actId="167"/>
          <ac:picMkLst>
            <pc:docMk/>
            <pc:sldMk cId="0" sldId="547"/>
            <ac:picMk id="15364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6:58:19.966" v="2229" actId="20577"/>
        <pc:sldMkLst>
          <pc:docMk/>
          <pc:sldMk cId="0" sldId="549"/>
        </pc:sldMkLst>
        <pc:spChg chg="mod">
          <ac:chgData name="Long Tran" userId="e540d250-70c7-4be3-b4a2-b5ecbc3dd049" providerId="ADAL" clId="{BAB3CD07-4705-4F44-9D9A-33C0D430672C}" dt="2023-02-01T06:58:19.966" v="2229" actId="20577"/>
          <ac:spMkLst>
            <pc:docMk/>
            <pc:sldMk cId="0" sldId="549"/>
            <ac:spMk id="2" creationId="{00000000-0000-0000-0000-000000000000}"/>
          </ac:spMkLst>
        </pc:spChg>
        <pc:picChg chg="mod modCrop">
          <ac:chgData name="Long Tran" userId="e540d250-70c7-4be3-b4a2-b5ecbc3dd049" providerId="ADAL" clId="{BAB3CD07-4705-4F44-9D9A-33C0D430672C}" dt="2023-02-01T06:58:08.455" v="2199" actId="732"/>
          <ac:picMkLst>
            <pc:docMk/>
            <pc:sldMk cId="0" sldId="549"/>
            <ac:picMk id="5123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9:32:03.486" v="3206" actId="20577"/>
        <pc:sldMkLst>
          <pc:docMk/>
          <pc:sldMk cId="0" sldId="550"/>
        </pc:sldMkLst>
        <pc:spChg chg="mod">
          <ac:chgData name="Long Tran" userId="e540d250-70c7-4be3-b4a2-b5ecbc3dd049" providerId="ADAL" clId="{BAB3CD07-4705-4F44-9D9A-33C0D430672C}" dt="2023-02-01T09:28:40.285" v="2978" actId="20577"/>
          <ac:spMkLst>
            <pc:docMk/>
            <pc:sldMk cId="0" sldId="550"/>
            <ac:spMk id="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29:58.282" v="3113" actId="20577"/>
          <ac:spMkLst>
            <pc:docMk/>
            <pc:sldMk cId="0" sldId="550"/>
            <ac:spMk id="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32:03.486" v="3206" actId="20577"/>
          <ac:spMkLst>
            <pc:docMk/>
            <pc:sldMk cId="0" sldId="550"/>
            <ac:spMk id="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7:00:37.359" v="2230"/>
        <pc:sldMkLst>
          <pc:docMk/>
          <pc:sldMk cId="0" sldId="551"/>
        </pc:sldMkLst>
        <pc:spChg chg="mod">
          <ac:chgData name="Long Tran" userId="e540d250-70c7-4be3-b4a2-b5ecbc3dd049" providerId="ADAL" clId="{BAB3CD07-4705-4F44-9D9A-33C0D430672C}" dt="2023-02-01T07:00:37.359" v="2230"/>
          <ac:spMkLst>
            <pc:docMk/>
            <pc:sldMk cId="0" sldId="551"/>
            <ac:spMk id="512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4:42.417" v="4891" actId="20577"/>
        <pc:sldMkLst>
          <pc:docMk/>
          <pc:sldMk cId="0" sldId="552"/>
        </pc:sldMkLst>
        <pc:spChg chg="mod">
          <ac:chgData name="Long Tran" userId="e540d250-70c7-4be3-b4a2-b5ecbc3dd049" providerId="ADAL" clId="{BAB3CD07-4705-4F44-9D9A-33C0D430672C}" dt="2023-02-01T09:54:42.417" v="4891" actId="20577"/>
          <ac:spMkLst>
            <pc:docMk/>
            <pc:sldMk cId="0" sldId="552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09:48.260" v="6447" actId="20577"/>
        <pc:sldMkLst>
          <pc:docMk/>
          <pc:sldMk cId="0" sldId="553"/>
        </pc:sldMkLst>
        <pc:spChg chg="mod">
          <ac:chgData name="Long Tran" userId="e540d250-70c7-4be3-b4a2-b5ecbc3dd049" providerId="ADAL" clId="{BAB3CD07-4705-4F44-9D9A-33C0D430672C}" dt="2023-02-01T10:09:48.260" v="6447" actId="20577"/>
          <ac:spMkLst>
            <pc:docMk/>
            <pc:sldMk cId="0" sldId="553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1:40.466" v="1595" actId="1037"/>
        <pc:sldMkLst>
          <pc:docMk/>
          <pc:sldMk cId="0" sldId="556"/>
        </pc:sldMkLst>
        <pc:spChg chg="mod">
          <ac:chgData name="Long Tran" userId="e540d250-70c7-4be3-b4a2-b5ecbc3dd049" providerId="ADAL" clId="{BAB3CD07-4705-4F44-9D9A-33C0D430672C}" dt="2023-02-01T05:41:40.466" v="1595" actId="1037"/>
          <ac:spMkLst>
            <pc:docMk/>
            <pc:sldMk cId="0" sldId="556"/>
            <ac:spMk id="12290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44:23.019" v="1718"/>
        <pc:sldMkLst>
          <pc:docMk/>
          <pc:sldMk cId="0" sldId="557"/>
        </pc:sldMkLst>
        <pc:spChg chg="mod">
          <ac:chgData name="Long Tran" userId="e540d250-70c7-4be3-b4a2-b5ecbc3dd049" providerId="ADAL" clId="{BAB3CD07-4705-4F44-9D9A-33C0D430672C}" dt="2023-02-01T05:44:23.019" v="1718"/>
          <ac:spMkLst>
            <pc:docMk/>
            <pc:sldMk cId="0" sldId="557"/>
            <ac:spMk id="12290" creationId="{00000000-0000-0000-0000-000000000000}"/>
          </ac:spMkLst>
        </pc:spChg>
      </pc:sldChg>
      <pc:sldChg chg="addSp delSp modSp mod delAnim modAnim">
        <pc:chgData name="Long Tran" userId="e540d250-70c7-4be3-b4a2-b5ecbc3dd049" providerId="ADAL" clId="{BAB3CD07-4705-4F44-9D9A-33C0D430672C}" dt="2023-02-01T10:05:30.092" v="5946" actId="20577"/>
        <pc:sldMkLst>
          <pc:docMk/>
          <pc:sldMk cId="0" sldId="562"/>
        </pc:sldMkLst>
        <pc:spChg chg="add del mod">
          <ac:chgData name="Long Tran" userId="e540d250-70c7-4be3-b4a2-b5ecbc3dd049" providerId="ADAL" clId="{BAB3CD07-4705-4F44-9D9A-33C0D430672C}" dt="2023-02-01T10:01:07.168" v="5542" actId="478"/>
          <ac:spMkLst>
            <pc:docMk/>
            <pc:sldMk cId="0" sldId="562"/>
            <ac:spMk id="2" creationId="{7B48EB91-61BA-8212-8153-6880413B4675}"/>
          </ac:spMkLst>
        </pc:spChg>
        <pc:spChg chg="mod">
          <ac:chgData name="Long Tran" userId="e540d250-70c7-4be3-b4a2-b5ecbc3dd049" providerId="ADAL" clId="{BAB3CD07-4705-4F44-9D9A-33C0D430672C}" dt="2023-02-01T10:01:58.824" v="5611" actId="14100"/>
          <ac:spMkLst>
            <pc:docMk/>
            <pc:sldMk cId="0" sldId="562"/>
            <ac:spMk id="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2:05.825" v="5635" actId="14100"/>
          <ac:spMkLst>
            <pc:docMk/>
            <pc:sldMk cId="0" sldId="562"/>
            <ac:spMk id="1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0:10.852" v="5459"/>
          <ac:spMkLst>
            <pc:docMk/>
            <pc:sldMk cId="0" sldId="562"/>
            <ac:spMk id="2457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1:49.667" v="5585" actId="113"/>
          <ac:spMkLst>
            <pc:docMk/>
            <pc:sldMk cId="0" sldId="562"/>
            <ac:spMk id="81920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01:21.824" v="5544" actId="1035"/>
          <ac:spMkLst>
            <pc:docMk/>
            <pc:sldMk cId="0" sldId="562"/>
            <ac:spMk id="819206" creationId="{00000000-0000-0000-0000-000000000000}"/>
          </ac:spMkLst>
        </pc:spChg>
        <pc:graphicFrameChg chg="mod modGraphic">
          <ac:chgData name="Long Tran" userId="e540d250-70c7-4be3-b4a2-b5ecbc3dd049" providerId="ADAL" clId="{BAB3CD07-4705-4F44-9D9A-33C0D430672C}" dt="2023-02-01T10:05:30.092" v="5946" actId="20577"/>
          <ac:graphicFrameMkLst>
            <pc:docMk/>
            <pc:sldMk cId="0" sldId="562"/>
            <ac:graphicFrameMk id="819294" creationId="{00000000-0000-0000-0000-000000000000}"/>
          </ac:graphicFrameMkLst>
        </pc:graphicFrameChg>
      </pc:sldChg>
      <pc:sldChg chg="modSp mod">
        <pc:chgData name="Long Tran" userId="e540d250-70c7-4be3-b4a2-b5ecbc3dd049" providerId="ADAL" clId="{BAB3CD07-4705-4F44-9D9A-33C0D430672C}" dt="2023-02-01T05:27:03.135" v="205" actId="20577"/>
        <pc:sldMkLst>
          <pc:docMk/>
          <pc:sldMk cId="3639268594" sldId="569"/>
        </pc:sldMkLst>
        <pc:spChg chg="mod">
          <ac:chgData name="Long Tran" userId="e540d250-70c7-4be3-b4a2-b5ecbc3dd049" providerId="ADAL" clId="{BAB3CD07-4705-4F44-9D9A-33C0D430672C}" dt="2023-02-01T05:27:03.135" v="205" actId="20577"/>
          <ac:spMkLst>
            <pc:docMk/>
            <pc:sldMk cId="3639268594" sldId="569"/>
            <ac:spMk id="6146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26:52.113" v="177" actId="1076"/>
          <ac:picMkLst>
            <pc:docMk/>
            <pc:sldMk cId="3639268594" sldId="569"/>
            <ac:picMk id="16386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5:39:27.384" v="1315" actId="20577"/>
        <pc:sldMkLst>
          <pc:docMk/>
          <pc:sldMk cId="1518584122" sldId="570"/>
        </pc:sldMkLst>
        <pc:spChg chg="mod">
          <ac:chgData name="Long Tran" userId="e540d250-70c7-4be3-b4a2-b5ecbc3dd049" providerId="ADAL" clId="{BAB3CD07-4705-4F44-9D9A-33C0D430672C}" dt="2023-02-01T05:39:27.384" v="1315" actId="20577"/>
          <ac:spMkLst>
            <pc:docMk/>
            <pc:sldMk cId="1518584122" sldId="570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28:17.166" v="2939" actId="20577"/>
        <pc:sldMkLst>
          <pc:docMk/>
          <pc:sldMk cId="1540661966" sldId="571"/>
        </pc:sldMkLst>
        <pc:spChg chg="mod">
          <ac:chgData name="Long Tran" userId="e540d250-70c7-4be3-b4a2-b5ecbc3dd049" providerId="ADAL" clId="{BAB3CD07-4705-4F44-9D9A-33C0D430672C}" dt="2023-02-01T09:28:17.166" v="2939" actId="20577"/>
          <ac:spMkLst>
            <pc:docMk/>
            <pc:sldMk cId="1540661966" sldId="571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36:00.512" v="3523" actId="20577"/>
        <pc:sldMkLst>
          <pc:docMk/>
          <pc:sldMk cId="742900907" sldId="572"/>
        </pc:sldMkLst>
        <pc:spChg chg="mod">
          <ac:chgData name="Long Tran" userId="e540d250-70c7-4be3-b4a2-b5ecbc3dd049" providerId="ADAL" clId="{BAB3CD07-4705-4F44-9D9A-33C0D430672C}" dt="2023-02-01T09:36:00.512" v="3523" actId="20577"/>
          <ac:spMkLst>
            <pc:docMk/>
            <pc:sldMk cId="742900907" sldId="572"/>
            <ac:spMk id="18435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48:53.291" v="4220" actId="20577"/>
        <pc:sldMkLst>
          <pc:docMk/>
          <pc:sldMk cId="79349485" sldId="573"/>
        </pc:sldMkLst>
        <pc:spChg chg="mod">
          <ac:chgData name="Long Tran" userId="e540d250-70c7-4be3-b4a2-b5ecbc3dd049" providerId="ADAL" clId="{BAB3CD07-4705-4F44-9D9A-33C0D430672C}" dt="2023-02-01T09:48:53.291" v="4220" actId="20577"/>
          <ac:spMkLst>
            <pc:docMk/>
            <pc:sldMk cId="79349485" sldId="573"/>
            <ac:spMk id="2048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2:53.251" v="4630" actId="20577"/>
        <pc:sldMkLst>
          <pc:docMk/>
          <pc:sldMk cId="2979847548" sldId="574"/>
        </pc:sldMkLst>
        <pc:spChg chg="mod">
          <ac:chgData name="Long Tran" userId="e540d250-70c7-4be3-b4a2-b5ecbc3dd049" providerId="ADAL" clId="{BAB3CD07-4705-4F44-9D9A-33C0D430672C}" dt="2023-02-01T09:52:53.251" v="4630" actId="20577"/>
          <ac:spMkLst>
            <pc:docMk/>
            <pc:sldMk cId="2979847548" sldId="574"/>
            <ac:spMk id="28674" creationId="{00000000-0000-0000-0000-000000000000}"/>
          </ac:spMkLst>
        </pc:spChg>
      </pc:sldChg>
      <pc:sldChg chg="modSp mod modShow">
        <pc:chgData name="Long Tran" userId="e540d250-70c7-4be3-b4a2-b5ecbc3dd049" providerId="ADAL" clId="{BAB3CD07-4705-4F44-9D9A-33C0D430672C}" dt="2023-02-01T10:09:31.136" v="6418" actId="729"/>
        <pc:sldMkLst>
          <pc:docMk/>
          <pc:sldMk cId="3887698923" sldId="575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3887698923" sldId="575"/>
            <ac:spMk id="2048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23:21.170" v="7990" actId="20577"/>
        <pc:sldMkLst>
          <pc:docMk/>
          <pc:sldMk cId="3647543317" sldId="576"/>
        </pc:sldMkLst>
        <pc:spChg chg="mod">
          <ac:chgData name="Long Tran" userId="e540d250-70c7-4be3-b4a2-b5ecbc3dd049" providerId="ADAL" clId="{BAB3CD07-4705-4F44-9D9A-33C0D430672C}" dt="2023-02-01T10:23:21.170" v="7990" actId="20577"/>
          <ac:spMkLst>
            <pc:docMk/>
            <pc:sldMk cId="3647543317" sldId="576"/>
            <ac:spMk id="36866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29:56.075" v="8770" actId="20577"/>
        <pc:sldMkLst>
          <pc:docMk/>
          <pc:sldMk cId="3817355224" sldId="577"/>
        </pc:sldMkLst>
        <pc:spChg chg="mod">
          <ac:chgData name="Long Tran" userId="e540d250-70c7-4be3-b4a2-b5ecbc3dd049" providerId="ADAL" clId="{BAB3CD07-4705-4F44-9D9A-33C0D430672C}" dt="2023-02-01T10:29:56.075" v="8770" actId="20577"/>
          <ac:spMkLst>
            <pc:docMk/>
            <pc:sldMk cId="3817355224" sldId="577"/>
            <ac:spMk id="37890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8T08:30:41.378" v="11525" actId="207"/>
        <pc:sldMkLst>
          <pc:docMk/>
          <pc:sldMk cId="3296152515" sldId="578"/>
        </pc:sldMkLst>
        <pc:spChg chg="mod">
          <ac:chgData name="Long Tran" userId="e540d250-70c7-4be3-b4a2-b5ecbc3dd049" providerId="ADAL" clId="{BAB3CD07-4705-4F44-9D9A-33C0D430672C}" dt="2023-02-01T09:36:12.555" v="3524"/>
          <ac:spMkLst>
            <pc:docMk/>
            <pc:sldMk cId="3296152515" sldId="578"/>
            <ac:spMk id="1843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8T08:30:41.378" v="11525" actId="207"/>
          <ac:spMkLst>
            <pc:docMk/>
            <pc:sldMk cId="3296152515" sldId="578"/>
            <ac:spMk id="18447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41:37.506" v="4024"/>
        <pc:sldMkLst>
          <pc:docMk/>
          <pc:sldMk cId="1348260842" sldId="579"/>
        </pc:sldMkLst>
        <pc:spChg chg="mod">
          <ac:chgData name="Long Tran" userId="e540d250-70c7-4be3-b4a2-b5ecbc3dd049" providerId="ADAL" clId="{BAB3CD07-4705-4F44-9D9A-33C0D430672C}" dt="2023-02-01T09:40:36.542" v="3974" actId="20577"/>
          <ac:spMkLst>
            <pc:docMk/>
            <pc:sldMk cId="1348260842" sldId="579"/>
            <ac:spMk id="2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0:51.416" v="4007"/>
          <ac:spMkLst>
            <pc:docMk/>
            <pc:sldMk cId="1348260842" sldId="579"/>
            <ac:spMk id="2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0:58.715" v="4022" actId="20577"/>
          <ac:spMkLst>
            <pc:docMk/>
            <pc:sldMk cId="1348260842" sldId="579"/>
            <ac:spMk id="4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38:23.076" v="3701"/>
          <ac:spMkLst>
            <pc:docMk/>
            <pc:sldMk cId="1348260842" sldId="579"/>
            <ac:spMk id="1945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1:37.506" v="4024"/>
          <ac:spMkLst>
            <pc:docMk/>
            <pc:sldMk cId="1348260842" sldId="579"/>
            <ac:spMk id="782339" creationId="{00000000-0000-0000-0000-000000000000}"/>
          </ac:spMkLst>
        </pc:spChg>
      </pc:sldChg>
      <pc:sldChg chg="modSp modAnim">
        <pc:chgData name="Long Tran" userId="e540d250-70c7-4be3-b4a2-b5ecbc3dd049" providerId="ADAL" clId="{BAB3CD07-4705-4F44-9D9A-33C0D430672C}" dt="2023-02-01T09:48:14.069" v="4197"/>
        <pc:sldMkLst>
          <pc:docMk/>
          <pc:sldMk cId="2893214047" sldId="580"/>
        </pc:sldMkLst>
        <pc:spChg chg="mod">
          <ac:chgData name="Long Tran" userId="e540d250-70c7-4be3-b4a2-b5ecbc3dd049" providerId="ADAL" clId="{BAB3CD07-4705-4F44-9D9A-33C0D430672C}" dt="2023-02-01T09:44:54.885" v="4042" actId="20577"/>
          <ac:spMkLst>
            <pc:docMk/>
            <pc:sldMk cId="2893214047" sldId="580"/>
            <ac:spMk id="2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5:00.682" v="4057" actId="20577"/>
          <ac:spMkLst>
            <pc:docMk/>
            <pc:sldMk cId="2893214047" sldId="580"/>
            <ac:spMk id="2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8:14.069" v="4197"/>
          <ac:spMkLst>
            <pc:docMk/>
            <pc:sldMk cId="2893214047" sldId="580"/>
            <ac:spMk id="1945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4:43.767" v="4027"/>
          <ac:spMkLst>
            <pc:docMk/>
            <pc:sldMk cId="2893214047" sldId="580"/>
            <ac:spMk id="782339" creationId="{00000000-0000-0000-0000-000000000000}"/>
          </ac:spMkLst>
        </pc:spChg>
      </pc:sldChg>
      <pc:sldChg chg="modSp mod modAnim">
        <pc:chgData name="Long Tran" userId="e540d250-70c7-4be3-b4a2-b5ecbc3dd049" providerId="ADAL" clId="{BAB3CD07-4705-4F44-9D9A-33C0D430672C}" dt="2023-02-01T09:48:17.163" v="4198"/>
        <pc:sldMkLst>
          <pc:docMk/>
          <pc:sldMk cId="4225757629" sldId="581"/>
        </pc:sldMkLst>
        <pc:spChg chg="mod">
          <ac:chgData name="Long Tran" userId="e540d250-70c7-4be3-b4a2-b5ecbc3dd049" providerId="ADAL" clId="{BAB3CD07-4705-4F44-9D9A-33C0D430672C}" dt="2023-02-01T09:48:17.163" v="4198"/>
          <ac:spMkLst>
            <pc:docMk/>
            <pc:sldMk cId="4225757629" sldId="581"/>
            <ac:spMk id="1945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46:23.962" v="4194" actId="14100"/>
          <ac:spMkLst>
            <pc:docMk/>
            <pc:sldMk cId="4225757629" sldId="581"/>
            <ac:spMk id="782339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2T01:27:06.510" v="11463" actId="20577"/>
        <pc:sldMkLst>
          <pc:docMk/>
          <pc:sldMk cId="3080973534" sldId="582"/>
        </pc:sldMkLst>
        <pc:spChg chg="mod">
          <ac:chgData name="Long Tran" userId="e540d250-70c7-4be3-b4a2-b5ecbc3dd049" providerId="ADAL" clId="{BAB3CD07-4705-4F44-9D9A-33C0D430672C}" dt="2023-02-02T01:26:59.899" v="11451" actId="20577"/>
          <ac:spMkLst>
            <pc:docMk/>
            <pc:sldMk cId="3080973534" sldId="582"/>
            <ac:spMk id="819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06.510" v="11463" actId="20577"/>
          <ac:spMkLst>
            <pc:docMk/>
            <pc:sldMk cId="3080973534" sldId="582"/>
            <ac:spMk id="34818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2T01:28:01.447" v="11483" actId="14100"/>
        <pc:sldMkLst>
          <pc:docMk/>
          <pc:sldMk cId="3464164265" sldId="583"/>
        </pc:sldMkLst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8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10:23:25.455" v="7991"/>
          <ac:spMkLst>
            <pc:docMk/>
            <pc:sldMk cId="3464164265" sldId="583"/>
            <ac:spMk id="419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8:01.447" v="11483" actId="14100"/>
          <ac:spMkLst>
            <pc:docMk/>
            <pc:sldMk cId="3464164265" sldId="583"/>
            <ac:spMk id="4198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8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3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4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5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8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1999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2000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2001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58.042" v="11482" actId="1076"/>
          <ac:spMkLst>
            <pc:docMk/>
            <pc:sldMk cId="3464164265" sldId="583"/>
            <ac:spMk id="4200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5:39:15.697" v="1279" actId="404"/>
        <pc:sldMkLst>
          <pc:docMk/>
          <pc:sldMk cId="2490402382" sldId="584"/>
        </pc:sldMkLst>
        <pc:spChg chg="mod">
          <ac:chgData name="Long Tran" userId="e540d250-70c7-4be3-b4a2-b5ecbc3dd049" providerId="ADAL" clId="{BAB3CD07-4705-4F44-9D9A-33C0D430672C}" dt="2023-02-01T05:39:15.697" v="1279" actId="404"/>
          <ac:spMkLst>
            <pc:docMk/>
            <pc:sldMk cId="2490402382" sldId="584"/>
            <ac:spMk id="6" creationId="{00000000-0000-0000-0000-000000000000}"/>
          </ac:spMkLst>
        </pc:spChg>
        <pc:picChg chg="mod">
          <ac:chgData name="Long Tran" userId="e540d250-70c7-4be3-b4a2-b5ecbc3dd049" providerId="ADAL" clId="{BAB3CD07-4705-4F44-9D9A-33C0D430672C}" dt="2023-02-01T05:39:11.325" v="1277" actId="1076"/>
          <ac:picMkLst>
            <pc:docMk/>
            <pc:sldMk cId="2490402382" sldId="584"/>
            <ac:picMk id="2" creationId="{00000000-0000-0000-0000-000000000000}"/>
          </ac:picMkLst>
        </pc:picChg>
      </pc:sldChg>
      <pc:sldChg chg="modSp mod">
        <pc:chgData name="Long Tran" userId="e540d250-70c7-4be3-b4a2-b5ecbc3dd049" providerId="ADAL" clId="{BAB3CD07-4705-4F44-9D9A-33C0D430672C}" dt="2023-02-01T05:38:52.134" v="1265" actId="20577"/>
        <pc:sldMkLst>
          <pc:docMk/>
          <pc:sldMk cId="1198574813" sldId="585"/>
        </pc:sldMkLst>
        <pc:spChg chg="mod">
          <ac:chgData name="Long Tran" userId="e540d250-70c7-4be3-b4a2-b5ecbc3dd049" providerId="ADAL" clId="{BAB3CD07-4705-4F44-9D9A-33C0D430672C}" dt="2023-02-01T05:38:52.134" v="1265" actId="20577"/>
          <ac:spMkLst>
            <pc:docMk/>
            <pc:sldMk cId="1198574813" sldId="585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6:57:23.904" v="2192" actId="20577"/>
        <pc:sldMkLst>
          <pc:docMk/>
          <pc:sldMk cId="2358854174" sldId="586"/>
        </pc:sldMkLst>
        <pc:spChg chg="mod">
          <ac:chgData name="Long Tran" userId="e540d250-70c7-4be3-b4a2-b5ecbc3dd049" providerId="ADAL" clId="{BAB3CD07-4705-4F44-9D9A-33C0D430672C}" dt="2023-02-01T06:57:23.904" v="2192" actId="20577"/>
          <ac:spMkLst>
            <pc:docMk/>
            <pc:sldMk cId="2358854174" sldId="58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6:57:42.689" v="2197" actId="404"/>
        <pc:sldMkLst>
          <pc:docMk/>
          <pc:sldMk cId="1190874024" sldId="587"/>
        </pc:sldMkLst>
        <pc:spChg chg="mod">
          <ac:chgData name="Long Tran" userId="e540d250-70c7-4be3-b4a2-b5ecbc3dd049" providerId="ADAL" clId="{BAB3CD07-4705-4F44-9D9A-33C0D430672C}" dt="2023-02-01T06:57:42.689" v="2197" actId="404"/>
          <ac:spMkLst>
            <pc:docMk/>
            <pc:sldMk cId="1190874024" sldId="587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1:27.407" v="4558" actId="20577"/>
        <pc:sldMkLst>
          <pc:docMk/>
          <pc:sldMk cId="2630822306" sldId="588"/>
        </pc:sldMkLst>
        <pc:spChg chg="mod">
          <ac:chgData name="Long Tran" userId="e540d250-70c7-4be3-b4a2-b5ecbc3dd049" providerId="ADAL" clId="{BAB3CD07-4705-4F44-9D9A-33C0D430672C}" dt="2023-02-01T09:51:27.407" v="4558" actId="20577"/>
          <ac:spMkLst>
            <pc:docMk/>
            <pc:sldMk cId="2630822306" sldId="588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4:05.194" v="4823" actId="20577"/>
        <pc:sldMkLst>
          <pc:docMk/>
          <pc:sldMk cId="3225407652" sldId="590"/>
        </pc:sldMkLst>
        <pc:spChg chg="mod">
          <ac:chgData name="Long Tran" userId="e540d250-70c7-4be3-b4a2-b5ecbc3dd049" providerId="ADAL" clId="{BAB3CD07-4705-4F44-9D9A-33C0D430672C}" dt="2023-02-01T09:54:05.194" v="4823" actId="20577"/>
          <ac:spMkLst>
            <pc:docMk/>
            <pc:sldMk cId="3225407652" sldId="590"/>
            <ac:spMk id="2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92539186" sldId="591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92539186" sldId="591"/>
            <ac:spMk id="2" creationId="{00000000-0000-0000-0000-000000000000}"/>
          </ac:spMkLst>
        </pc:spChg>
      </pc:sldChg>
      <pc:sldChg chg="modSp">
        <pc:chgData name="Long Tran" userId="e540d250-70c7-4be3-b4a2-b5ecbc3dd049" providerId="ADAL" clId="{BAB3CD07-4705-4F44-9D9A-33C0D430672C}" dt="2023-02-01T05:22:54.888" v="0" actId="790"/>
        <pc:sldMkLst>
          <pc:docMk/>
          <pc:sldMk cId="795479980" sldId="592"/>
        </pc:sldMkLst>
        <pc:spChg chg="mod">
          <ac:chgData name="Long Tran" userId="e540d250-70c7-4be3-b4a2-b5ecbc3dd049" providerId="ADAL" clId="{BAB3CD07-4705-4F44-9D9A-33C0D430672C}" dt="2023-02-01T05:22:54.888" v="0" actId="790"/>
          <ac:spMkLst>
            <pc:docMk/>
            <pc:sldMk cId="795479980" sldId="592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2:45.292" v="4612" actId="1076"/>
        <pc:sldMkLst>
          <pc:docMk/>
          <pc:sldMk cId="2387485623" sldId="594"/>
        </pc:sldMkLst>
        <pc:spChg chg="mod">
          <ac:chgData name="Long Tran" userId="e540d250-70c7-4be3-b4a2-b5ecbc3dd049" providerId="ADAL" clId="{BAB3CD07-4705-4F44-9D9A-33C0D430672C}" dt="2023-02-01T09:52:29.943" v="4588" actId="20577"/>
          <ac:spMkLst>
            <pc:docMk/>
            <pc:sldMk cId="2387485623" sldId="594"/>
            <ac:spMk id="2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2:39.977" v="4607" actId="20577"/>
          <ac:spMkLst>
            <pc:docMk/>
            <pc:sldMk cId="2387485623" sldId="594"/>
            <ac:spMk id="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1T09:52:45.292" v="4612" actId="1076"/>
          <ac:spMkLst>
            <pc:docMk/>
            <pc:sldMk cId="2387485623" sldId="594"/>
            <ac:spMk id="8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31:26.090" v="9050" actId="20577"/>
        <pc:sldMkLst>
          <pc:docMk/>
          <pc:sldMk cId="920705821" sldId="595"/>
        </pc:sldMkLst>
        <pc:spChg chg="mod">
          <ac:chgData name="Long Tran" userId="e540d250-70c7-4be3-b4a2-b5ecbc3dd049" providerId="ADAL" clId="{BAB3CD07-4705-4F44-9D9A-33C0D430672C}" dt="2023-02-01T10:31:26.090" v="9050" actId="20577"/>
          <ac:spMkLst>
            <pc:docMk/>
            <pc:sldMk cId="920705821" sldId="595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10:31:32.809" v="9061" actId="20577"/>
        <pc:sldMkLst>
          <pc:docMk/>
          <pc:sldMk cId="2932126854" sldId="596"/>
        </pc:sldMkLst>
        <pc:spChg chg="mod">
          <ac:chgData name="Long Tran" userId="e540d250-70c7-4be3-b4a2-b5ecbc3dd049" providerId="ADAL" clId="{BAB3CD07-4705-4F44-9D9A-33C0D430672C}" dt="2023-02-01T10:31:32.809" v="9061" actId="20577"/>
          <ac:spMkLst>
            <pc:docMk/>
            <pc:sldMk cId="2932126854" sldId="59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1:37.563" v="4565" actId="20577"/>
        <pc:sldMkLst>
          <pc:docMk/>
          <pc:sldMk cId="2791982410" sldId="597"/>
        </pc:sldMkLst>
        <pc:spChg chg="mod">
          <ac:chgData name="Long Tran" userId="e540d250-70c7-4be3-b4a2-b5ecbc3dd049" providerId="ADAL" clId="{BAB3CD07-4705-4F44-9D9A-33C0D430672C}" dt="2023-02-01T09:51:37.563" v="4565" actId="20577"/>
          <ac:spMkLst>
            <pc:docMk/>
            <pc:sldMk cId="2791982410" sldId="597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1:43.885" v="4568" actId="20577"/>
        <pc:sldMkLst>
          <pc:docMk/>
          <pc:sldMk cId="2791982410" sldId="598"/>
        </pc:sldMkLst>
        <pc:spChg chg="mod">
          <ac:chgData name="Long Tran" userId="e540d250-70c7-4be3-b4a2-b5ecbc3dd049" providerId="ADAL" clId="{BAB3CD07-4705-4F44-9D9A-33C0D430672C}" dt="2023-02-01T09:51:43.885" v="4568" actId="20577"/>
          <ac:spMkLst>
            <pc:docMk/>
            <pc:sldMk cId="2791982410" sldId="598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BAB3CD07-4705-4F44-9D9A-33C0D430672C}" dt="2023-02-01T09:52:09.338" v="4580" actId="404"/>
        <pc:sldMkLst>
          <pc:docMk/>
          <pc:sldMk cId="2791982410" sldId="599"/>
        </pc:sldMkLst>
        <pc:spChg chg="mod">
          <ac:chgData name="Long Tran" userId="e540d250-70c7-4be3-b4a2-b5ecbc3dd049" providerId="ADAL" clId="{BAB3CD07-4705-4F44-9D9A-33C0D430672C}" dt="2023-02-01T09:52:09.338" v="4580" actId="404"/>
          <ac:spMkLst>
            <pc:docMk/>
            <pc:sldMk cId="2791982410" sldId="599"/>
            <ac:spMk id="2" creationId="{00000000-0000-0000-0000-000000000000}"/>
          </ac:spMkLst>
        </pc:spChg>
      </pc:sldChg>
      <pc:sldChg chg="modSp add mod ord">
        <pc:chgData name="Long Tran" userId="e540d250-70c7-4be3-b4a2-b5ecbc3dd049" providerId="ADAL" clId="{BAB3CD07-4705-4F44-9D9A-33C0D430672C}" dt="2023-02-02T01:27:23.067" v="11477" actId="20577"/>
        <pc:sldMkLst>
          <pc:docMk/>
          <pc:sldMk cId="2636264832" sldId="600"/>
        </pc:sldMkLst>
        <pc:spChg chg="mod">
          <ac:chgData name="Long Tran" userId="e540d250-70c7-4be3-b4a2-b5ecbc3dd049" providerId="ADAL" clId="{BAB3CD07-4705-4F44-9D9A-33C0D430672C}" dt="2023-02-02T01:27:16.831" v="11475" actId="20577"/>
          <ac:spMkLst>
            <pc:docMk/>
            <pc:sldMk cId="2636264832" sldId="600"/>
            <ac:spMk id="41987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23.067" v="11477" actId="20577"/>
          <ac:spMkLst>
            <pc:docMk/>
            <pc:sldMk cId="2636264832" sldId="600"/>
            <ac:spMk id="41988" creationId="{00000000-0000-0000-0000-000000000000}"/>
          </ac:spMkLst>
        </pc:spChg>
      </pc:sldChg>
      <pc:sldChg chg="modSp add mod">
        <pc:chgData name="Long Tran" userId="e540d250-70c7-4be3-b4a2-b5ecbc3dd049" providerId="ADAL" clId="{BAB3CD07-4705-4F44-9D9A-33C0D430672C}" dt="2023-02-02T01:27:31.627" v="11479" actId="20577"/>
        <pc:sldMkLst>
          <pc:docMk/>
          <pc:sldMk cId="3855033788" sldId="601"/>
        </pc:sldMkLst>
        <pc:spChg chg="mod">
          <ac:chgData name="Long Tran" userId="e540d250-70c7-4be3-b4a2-b5ecbc3dd049" providerId="ADAL" clId="{BAB3CD07-4705-4F44-9D9A-33C0D430672C}" dt="2023-02-02T01:27:31.627" v="11479" actId="20577"/>
          <ac:spMkLst>
            <pc:docMk/>
            <pc:sldMk cId="3855033788" sldId="601"/>
            <ac:spMk id="41988" creationId="{00000000-0000-0000-0000-000000000000}"/>
          </ac:spMkLst>
        </pc:spChg>
      </pc:sldChg>
      <pc:sldChg chg="addSp delSp modSp add mod ord modAnim">
        <pc:chgData name="Long Tran" userId="e540d250-70c7-4be3-b4a2-b5ecbc3dd049" providerId="ADAL" clId="{BAB3CD07-4705-4F44-9D9A-33C0D430672C}" dt="2023-02-02T01:27:37.502" v="11480"/>
        <pc:sldMkLst>
          <pc:docMk/>
          <pc:sldMk cId="3910168499" sldId="602"/>
        </pc:sldMkLst>
        <pc:spChg chg="add del mod">
          <ac:chgData name="Long Tran" userId="e540d250-70c7-4be3-b4a2-b5ecbc3dd049" providerId="ADAL" clId="{BAB3CD07-4705-4F44-9D9A-33C0D430672C}" dt="2023-02-01T23:12:56.434" v="10973"/>
          <ac:spMkLst>
            <pc:docMk/>
            <pc:sldMk cId="3910168499" sldId="602"/>
            <ac:spMk id="2" creationId="{434E8073-C2CB-1708-C502-C7E72EA81822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3" creationId="{9007D96D-5932-ADD5-E282-D4B509037924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4" creationId="{EF4659BA-4283-4A17-AEED-CAAB58943201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5" creationId="{B89E6358-C244-4AC1-387E-4465BA6FABE0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6" creationId="{F8B3D514-A43B-1A8A-FF55-ECC55F36613D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7" creationId="{23D49EA1-BB54-00C4-FBC2-88AE1629A523}"/>
          </ac:spMkLst>
        </pc:spChg>
        <pc:spChg chg="add mod">
          <ac:chgData name="Long Tran" userId="e540d250-70c7-4be3-b4a2-b5ecbc3dd049" providerId="ADAL" clId="{BAB3CD07-4705-4F44-9D9A-33C0D430672C}" dt="2023-02-01T23:20:13.787" v="11307" actId="1076"/>
          <ac:spMkLst>
            <pc:docMk/>
            <pc:sldMk cId="3910168499" sldId="602"/>
            <ac:spMk id="8" creationId="{D433221B-B1A6-F3D9-7802-752921DF98C7}"/>
          </ac:spMkLst>
        </pc:spChg>
        <pc:spChg chg="mod">
          <ac:chgData name="Long Tran" userId="e540d250-70c7-4be3-b4a2-b5ecbc3dd049" providerId="ADAL" clId="{BAB3CD07-4705-4F44-9D9A-33C0D430672C}" dt="2023-02-01T23:13:07.407" v="10974"/>
          <ac:spMkLst>
            <pc:docMk/>
            <pc:sldMk cId="3910168499" sldId="602"/>
            <ac:spMk id="13" creationId="{31D464BA-7646-A4C3-8F8C-2CD48924BB59}"/>
          </ac:spMkLst>
        </pc:spChg>
        <pc:spChg chg="mod">
          <ac:chgData name="Long Tran" userId="e540d250-70c7-4be3-b4a2-b5ecbc3dd049" providerId="ADAL" clId="{BAB3CD07-4705-4F44-9D9A-33C0D430672C}" dt="2023-02-01T23:13:07.407" v="10974"/>
          <ac:spMkLst>
            <pc:docMk/>
            <pc:sldMk cId="3910168499" sldId="602"/>
            <ac:spMk id="16" creationId="{4DBEF2B9-4216-449D-D010-5B83D641B955}"/>
          </ac:spMkLst>
        </pc:spChg>
        <pc:spChg chg="del">
          <ac:chgData name="Long Tran" userId="e540d250-70c7-4be3-b4a2-b5ecbc3dd049" providerId="ADAL" clId="{BAB3CD07-4705-4F44-9D9A-33C0D430672C}" dt="2023-02-01T23:12:48.917" v="10970" actId="478"/>
          <ac:spMkLst>
            <pc:docMk/>
            <pc:sldMk cId="3910168499" sldId="602"/>
            <ac:spMk id="41986" creationId="{00000000-0000-0000-0000-000000000000}"/>
          </ac:spMkLst>
        </pc:spChg>
        <pc:spChg chg="mod">
          <ac:chgData name="Long Tran" userId="e540d250-70c7-4be3-b4a2-b5ecbc3dd049" providerId="ADAL" clId="{BAB3CD07-4705-4F44-9D9A-33C0D430672C}" dt="2023-02-02T01:27:37.502" v="11480"/>
          <ac:spMkLst>
            <pc:docMk/>
            <pc:sldMk cId="3910168499" sldId="602"/>
            <ac:spMk id="41988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46.535" v="10969" actId="478"/>
          <ac:spMkLst>
            <pc:docMk/>
            <pc:sldMk cId="3910168499" sldId="602"/>
            <ac:spMk id="41989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0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1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2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3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4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5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6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7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8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1999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2000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2001" creationId="{00000000-0000-0000-0000-000000000000}"/>
          </ac:spMkLst>
        </pc:spChg>
        <pc:spChg chg="del">
          <ac:chgData name="Long Tran" userId="e540d250-70c7-4be3-b4a2-b5ecbc3dd049" providerId="ADAL" clId="{BAB3CD07-4705-4F44-9D9A-33C0D430672C}" dt="2023-02-01T23:12:53.761" v="10971" actId="478"/>
          <ac:spMkLst>
            <pc:docMk/>
            <pc:sldMk cId="3910168499" sldId="602"/>
            <ac:spMk id="42002" creationId="{00000000-0000-0000-0000-000000000000}"/>
          </ac:spMkLst>
        </pc:spChg>
        <pc:grpChg chg="add mod">
          <ac:chgData name="Long Tran" userId="e540d250-70c7-4be3-b4a2-b5ecbc3dd049" providerId="ADAL" clId="{BAB3CD07-4705-4F44-9D9A-33C0D430672C}" dt="2023-02-01T23:20:13.787" v="11307" actId="1076"/>
          <ac:grpSpMkLst>
            <pc:docMk/>
            <pc:sldMk cId="3910168499" sldId="602"/>
            <ac:grpSpMk id="12" creationId="{89FB114A-53A9-B2B2-E263-124DEEC3B29B}"/>
          </ac:grpSpMkLst>
        </pc:grpChg>
        <pc:grpChg chg="add mod">
          <ac:chgData name="Long Tran" userId="e540d250-70c7-4be3-b4a2-b5ecbc3dd049" providerId="ADAL" clId="{BAB3CD07-4705-4F44-9D9A-33C0D430672C}" dt="2023-02-01T23:20:13.787" v="11307" actId="1076"/>
          <ac:grpSpMkLst>
            <pc:docMk/>
            <pc:sldMk cId="3910168499" sldId="602"/>
            <ac:grpSpMk id="15" creationId="{F793A0E5-B388-65F3-0117-4F5FED83B3D7}"/>
          </ac:grpSpMkLst>
        </pc:grpChg>
        <pc:picChg chg="add mod">
          <ac:chgData name="Long Tran" userId="e540d250-70c7-4be3-b4a2-b5ecbc3dd049" providerId="ADAL" clId="{BAB3CD07-4705-4F44-9D9A-33C0D430672C}" dt="2023-02-01T23:20:13.787" v="11307" actId="1076"/>
          <ac:picMkLst>
            <pc:docMk/>
            <pc:sldMk cId="3910168499" sldId="602"/>
            <ac:picMk id="9" creationId="{D8755C81-5D71-6E25-7B38-413A504C24B2}"/>
          </ac:picMkLst>
        </pc:picChg>
        <pc:picChg chg="add mod">
          <ac:chgData name="Long Tran" userId="e540d250-70c7-4be3-b4a2-b5ecbc3dd049" providerId="ADAL" clId="{BAB3CD07-4705-4F44-9D9A-33C0D430672C}" dt="2023-02-01T23:20:13.787" v="11307" actId="1076"/>
          <ac:picMkLst>
            <pc:docMk/>
            <pc:sldMk cId="3910168499" sldId="602"/>
            <ac:picMk id="10" creationId="{9F420D2B-8ADA-4789-26BE-2A0A13417624}"/>
          </ac:picMkLst>
        </pc:picChg>
        <pc:picChg chg="add mod">
          <ac:chgData name="Long Tran" userId="e540d250-70c7-4be3-b4a2-b5ecbc3dd049" providerId="ADAL" clId="{BAB3CD07-4705-4F44-9D9A-33C0D430672C}" dt="2023-02-01T23:20:13.787" v="11307" actId="1076"/>
          <ac:picMkLst>
            <pc:docMk/>
            <pc:sldMk cId="3910168499" sldId="602"/>
            <ac:picMk id="11" creationId="{22BA84D6-B0DC-83DD-9120-D8C3F71F33C5}"/>
          </ac:picMkLst>
        </pc:picChg>
        <pc:picChg chg="mod">
          <ac:chgData name="Long Tran" userId="e540d250-70c7-4be3-b4a2-b5ecbc3dd049" providerId="ADAL" clId="{BAB3CD07-4705-4F44-9D9A-33C0D430672C}" dt="2023-02-01T23:13:07.407" v="10974"/>
          <ac:picMkLst>
            <pc:docMk/>
            <pc:sldMk cId="3910168499" sldId="602"/>
            <ac:picMk id="14" creationId="{71E0C701-03FF-C100-F067-0F71E4665F95}"/>
          </ac:picMkLst>
        </pc:picChg>
        <pc:picChg chg="mod">
          <ac:chgData name="Long Tran" userId="e540d250-70c7-4be3-b4a2-b5ecbc3dd049" providerId="ADAL" clId="{BAB3CD07-4705-4F44-9D9A-33C0D430672C}" dt="2023-02-01T23:13:07.407" v="10974"/>
          <ac:picMkLst>
            <pc:docMk/>
            <pc:sldMk cId="3910168499" sldId="602"/>
            <ac:picMk id="17" creationId="{E72134FD-7F2A-FBC4-B038-F2C5EF1423D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F38672AD-12AE-4354-8ADE-1E86BC48C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2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94" y="4561576"/>
            <a:ext cx="5852814" cy="431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684C7023-1648-4F51-874D-1B6680E39D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392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8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7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56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7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5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</a:t>
            </a:r>
            <a:r>
              <a:rPr lang="en-US" baseline="0"/>
              <a:t>Thanks!</a:t>
            </a:r>
            <a:endParaRPr lang="en-US" sz="120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32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0E0FD6-A987-4E1A-BCF4-7669DC860F72}" type="slidenum">
              <a:rPr lang="en-US" smtClean="0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33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Gates, W. and Papadimitriou, C., "Bounds for Sorting by Prefix Reversal.", Discrete Mathematics. 27, 47-57, 1979.</a:t>
            </a:r>
          </a:p>
          <a:p>
            <a:endParaRPr lang="en-US">
              <a:latin typeface="Arial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E1D48C-6E2A-4EE0-9086-47A40D7FB81E}" type="slidenum">
              <a:rPr lang="en-US" smtClean="0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457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Gates, W. and Papadimitriou, C., "Bounds for Sorting by Prefix Reversal.", Discrete Mathematics. 27, 47-57, 1979.</a:t>
            </a:r>
          </a:p>
          <a:p>
            <a:endParaRPr lang="en-US">
              <a:latin typeface="Arial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E1D48C-6E2A-4EE0-9086-47A40D7FB81E}" type="slidenum">
              <a:rPr lang="en-US" smtClean="0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759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A* expanded 8100 ; Path cost = 33</a:t>
            </a:r>
          </a:p>
          <a:p>
            <a:r>
              <a:rPr lang="en-US">
                <a:latin typeface="Arial" charset="0"/>
              </a:rPr>
              <a:t>UCS expanded 25263 . Path cost = 33</a:t>
            </a:r>
          </a:p>
          <a:p>
            <a:r>
              <a:rPr lang="en-US">
                <a:latin typeface="Arial" charset="0"/>
              </a:rPr>
              <a:t>Greedy expanded 10 . Path cost = 41</a:t>
            </a:r>
          </a:p>
          <a:p>
            <a:r>
              <a:rPr lang="en-US">
                <a:latin typeface="Arial" charset="0"/>
              </a:rPr>
              <a:t>[0, 7, 5, 3, 2, 1, 4, 6]</a:t>
            </a:r>
          </a:p>
          <a:p>
            <a:r>
              <a:rPr lang="en-US">
                <a:latin typeface="Arial" charset="0"/>
              </a:rPr>
              <a:t>(7, 0, 5, 3, 2, 1, 4, 6)</a:t>
            </a:r>
          </a:p>
          <a:p>
            <a:r>
              <a:rPr lang="en-US">
                <a:latin typeface="Arial" charset="0"/>
              </a:rPr>
              <a:t>(6, 4, 1, 2, 3, 5, 0, 7)</a:t>
            </a:r>
          </a:p>
          <a:p>
            <a:r>
              <a:rPr lang="en-US">
                <a:latin typeface="Arial" charset="0"/>
              </a:rPr>
              <a:t>(3, 2, 1, 4, 6, 5, 0, 7)</a:t>
            </a:r>
          </a:p>
          <a:p>
            <a:r>
              <a:rPr lang="en-US">
                <a:latin typeface="Arial" charset="0"/>
              </a:rPr>
              <a:t>(1, 2, 3, 4, 6, 5, 0, 7)</a:t>
            </a:r>
          </a:p>
          <a:p>
            <a:r>
              <a:rPr lang="en-US">
                <a:latin typeface="Arial" charset="0"/>
              </a:rPr>
              <a:t>(5, 6, 4, 3, 2, 1, 0, 7)</a:t>
            </a:r>
          </a:p>
          <a:p>
            <a:r>
              <a:rPr lang="en-US">
                <a:latin typeface="Arial" charset="0"/>
              </a:rPr>
              <a:t>(6, 5, 4, 3, 2, 1, 0, 7)</a:t>
            </a:r>
          </a:p>
          <a:p>
            <a:r>
              <a:rPr lang="en-US">
                <a:latin typeface="Arial" charset="0"/>
              </a:rPr>
              <a:t>(0, 1, 2, 3, 4, 5, 6, 7)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19D4EE-71CB-479F-AF32-9365A8F44758}" type="slidenum">
              <a:rPr lang="en-US" smtClean="0">
                <a:latin typeface="Arial" charset="0"/>
              </a:rPr>
              <a:pPr/>
              <a:t>11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675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charset="0"/>
              </a:rPr>
              <a:t>You know exactly where you came from and how you got there, but you have no idea where you’re going.  But, you’ll know it when you see it.</a:t>
            </a: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8C17AD-3C99-472D-9877-AC50EDB6C845}" type="slidenum">
              <a:rPr lang="en-US" smtClean="0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323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98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charset="0"/>
              </a:rPr>
              <a:t>A* expanded 8100 ; Path cost = 33</a:t>
            </a:r>
          </a:p>
          <a:p>
            <a:r>
              <a:rPr lang="en-US" dirty="0">
                <a:latin typeface="Arial" charset="0"/>
              </a:rPr>
              <a:t>UCS expanded 25263 . Path cost = 33</a:t>
            </a:r>
          </a:p>
          <a:p>
            <a:r>
              <a:rPr lang="en-US" dirty="0">
                <a:latin typeface="Arial" charset="0"/>
              </a:rPr>
              <a:t>Greedy expanded 10 . Path cost = 41</a:t>
            </a:r>
          </a:p>
          <a:p>
            <a:r>
              <a:rPr lang="en-US" dirty="0">
                <a:latin typeface="Arial" charset="0"/>
              </a:rPr>
              <a:t>[0, 7, 5, 3, 2, 1, 4, 6]</a:t>
            </a:r>
          </a:p>
          <a:p>
            <a:r>
              <a:rPr lang="en-US" dirty="0">
                <a:latin typeface="Arial" charset="0"/>
              </a:rPr>
              <a:t>(7, 0, 5, 3, 2, 1, 4, 6)</a:t>
            </a:r>
          </a:p>
          <a:p>
            <a:r>
              <a:rPr lang="en-US" dirty="0">
                <a:latin typeface="Arial" charset="0"/>
              </a:rPr>
              <a:t>(6, 4, 1, 2, 3, 5, 0, 7)</a:t>
            </a:r>
          </a:p>
          <a:p>
            <a:r>
              <a:rPr lang="en-US" dirty="0">
                <a:latin typeface="Arial" charset="0"/>
              </a:rPr>
              <a:t>(3, 2, 1, 4, 6, 5, 0, 7)</a:t>
            </a:r>
          </a:p>
          <a:p>
            <a:r>
              <a:rPr lang="en-US" dirty="0">
                <a:latin typeface="Arial" charset="0"/>
              </a:rPr>
              <a:t>(1, 2, 3, 4, 6, 5, 0, 7)</a:t>
            </a:r>
          </a:p>
          <a:p>
            <a:r>
              <a:rPr lang="en-US" dirty="0">
                <a:latin typeface="Arial" charset="0"/>
              </a:rPr>
              <a:t>(5, 6, 4, 3, 2, 1, 0, 7)</a:t>
            </a:r>
          </a:p>
          <a:p>
            <a:r>
              <a:rPr lang="en-US" dirty="0">
                <a:latin typeface="Arial" charset="0"/>
              </a:rPr>
              <a:t>(6, 5, 4, 3, 2, 1, 0, 7)</a:t>
            </a:r>
          </a:p>
          <a:p>
            <a:r>
              <a:rPr lang="en-US" dirty="0">
                <a:latin typeface="Arial" charset="0"/>
              </a:rPr>
              <a:t>(0, 1, 2, 3, 4, 5, 6, 7)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CDAF64-B086-440E-BFF9-B4CF7AA4786C}" type="slidenum">
              <a:rPr lang="en-US" smtClean="0">
                <a:latin typeface="Arial" charset="0"/>
              </a:rPr>
              <a:pPr/>
              <a:t>21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217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For any search problem, you know the goal.  Now, you have an idea of how far away you are from the goal.</a:t>
            </a: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2CE179-B2C7-46EC-9538-A27EC550BBF7}" type="slidenum">
              <a:rPr lang="en-US" smtClean="0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388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Notes: these images licensed from iStockphoto for UC Berkeley use.</a:t>
            </a: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0E0FD6-A987-4E1A-BCF4-7669DC860F72}" type="slidenum">
              <a:rPr lang="en-US" smtClean="0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546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1A524C-0FE5-4D64-AE7F-8C8CC01270F0}" type="slidenum">
              <a:rPr lang="en-US" smtClean="0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369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9F9AF4-5B05-467D-A88D-11CD62E3A2C2}" type="slidenum">
              <a:rPr lang="en-US" smtClean="0">
                <a:latin typeface="Arial" charset="0"/>
              </a:rPr>
              <a:pPr/>
              <a:t>43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568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Semi-lattice: x &lt;= y &lt;-&gt; x = x ^ y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E49D97-3088-46C0-A5CF-C692DC2682E9}" type="slidenum">
              <a:rPr lang="en-US" smtClean="0">
                <a:latin typeface="Arial" charset="0"/>
              </a:rPr>
              <a:pPr/>
              <a:t>60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970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4C7023-1648-4F51-874D-1B6680E39D27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A559F-2ED3-42FB-97D7-7C336CEBC91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AE4EA-EF72-4592-B966-0919EDBC0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D84D3-0B6F-43E9-96DD-B384A1346F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4CD15-A186-434C-A76C-E16FE73CAB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F1A73-48D6-4B22-86A8-533683877D9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BE99A-4DC5-4CD3-AA5A-F0648462A6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7EAA6-40E0-4638-8426-274C359A2A1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8C8E3-8727-4A80-8860-67A2C5A4D4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00F85-53AA-4CB9-B5F3-E0A7D91F13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028D4-0D48-40B4-A2B4-AA16B583E8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581A5-8CD7-46EA-B6E3-B84F6F7DE5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7BFCCC65-4CBD-445E-A057-E1EE8E8797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ndagrad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17.w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4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8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33.png"/><Relationship Id="rId5" Type="http://schemas.openxmlformats.org/officeDocument/2006/relationships/tags" Target="../tags/tag10.xml"/><Relationship Id="rId10" Type="http://schemas.openxmlformats.org/officeDocument/2006/relationships/image" Target="../media/image37.png"/><Relationship Id="rId4" Type="http://schemas.openxmlformats.org/officeDocument/2006/relationships/tags" Target="../tags/tag9.xml"/><Relationship Id="rId9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14.xml"/><Relationship Id="rId7" Type="http://schemas.openxmlformats.org/officeDocument/2006/relationships/image" Target="../media/image39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4.png"/><Relationship Id="rId5" Type="http://schemas.openxmlformats.org/officeDocument/2006/relationships/tags" Target="../tags/tag16.xml"/><Relationship Id="rId10" Type="http://schemas.openxmlformats.org/officeDocument/2006/relationships/image" Target="../media/image33.png"/><Relationship Id="rId4" Type="http://schemas.openxmlformats.org/officeDocument/2006/relationships/tags" Target="../tags/tag15.xml"/><Relationship Id="rId9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tags" Target="../tags/tag19.xml"/><Relationship Id="rId7" Type="http://schemas.openxmlformats.org/officeDocument/2006/relationships/image" Target="../media/image37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4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Relationship Id="rId9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wmv"/><Relationship Id="rId1" Type="http://schemas.microsoft.com/office/2007/relationships/media" Target="../media/media7.wmv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wmv"/><Relationship Id="rId1" Type="http://schemas.microsoft.com/office/2007/relationships/media" Target="../media/media8.wmv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22.xml"/><Relationship Id="rId16" Type="http://schemas.openxmlformats.org/officeDocument/2006/relationships/image" Target="../media/image60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55.png"/><Relationship Id="rId5" Type="http://schemas.openxmlformats.org/officeDocument/2006/relationships/tags" Target="../tags/tag25.xml"/><Relationship Id="rId15" Type="http://schemas.openxmlformats.org/officeDocument/2006/relationships/image" Target="../media/image59.png"/><Relationship Id="rId10" Type="http://schemas.openxmlformats.org/officeDocument/2006/relationships/notesSlide" Target="../notesSlides/notesSlide14.xml"/><Relationship Id="rId4" Type="http://schemas.openxmlformats.org/officeDocument/2006/relationships/tags" Target="../tags/tag2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5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tags" Target="../tags/tag31.xml"/><Relationship Id="rId7" Type="http://schemas.openxmlformats.org/officeDocument/2006/relationships/image" Target="../media/image37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68.png"/><Relationship Id="rId5" Type="http://schemas.openxmlformats.org/officeDocument/2006/relationships/tags" Target="../tags/tag33.xml"/><Relationship Id="rId10" Type="http://schemas.openxmlformats.org/officeDocument/2006/relationships/image" Target="../media/image67.png"/><Relationship Id="rId4" Type="http://schemas.openxmlformats.org/officeDocument/2006/relationships/tags" Target="../tags/tag32.xml"/><Relationship Id="rId9" Type="http://schemas.openxmlformats.org/officeDocument/2006/relationships/image" Target="../media/image66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tags" Target="../tags/tag36.xml"/><Relationship Id="rId7" Type="http://schemas.openxmlformats.org/officeDocument/2006/relationships/notesSlide" Target="../notesSlides/notesSlide15.xml"/><Relationship Id="rId12" Type="http://schemas.openxmlformats.org/officeDocument/2006/relationships/image" Target="../media/image68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67.png"/><Relationship Id="rId5" Type="http://schemas.openxmlformats.org/officeDocument/2006/relationships/tags" Target="../tags/tag38.xml"/><Relationship Id="rId10" Type="http://schemas.openxmlformats.org/officeDocument/2006/relationships/image" Target="../media/image66.png"/><Relationship Id="rId4" Type="http://schemas.openxmlformats.org/officeDocument/2006/relationships/tags" Target="../tags/tag37.xml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Announcements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295400"/>
            <a:ext cx="9067800" cy="5064125"/>
          </a:xfrm>
        </p:spPr>
        <p:txBody>
          <a:bodyPr/>
          <a:lstStyle/>
          <a:p>
            <a:pPr eaLnBrk="1" hangingPunct="1"/>
            <a:r>
              <a:rPr lang="vi-VN" sz="2400" noProof="0" dirty="0"/>
              <a:t>Homework 1: Search</a:t>
            </a:r>
          </a:p>
          <a:p>
            <a:pPr lvl="1"/>
            <a:r>
              <a:rPr lang="vi-VN" sz="2000" noProof="0" dirty="0"/>
              <a:t>Has been released!  Part I AND Part II due Monday, 2/3, at 11:59pm.</a:t>
            </a:r>
          </a:p>
          <a:p>
            <a:pPr lvl="1"/>
            <a:r>
              <a:rPr lang="vi-VN" sz="2000" noProof="0" dirty="0"/>
              <a:t>Part I through edX – online, instant grading, submit as often as you like.</a:t>
            </a:r>
          </a:p>
          <a:p>
            <a:pPr lvl="1"/>
            <a:r>
              <a:rPr lang="vi-VN" sz="2000" noProof="0" dirty="0"/>
              <a:t>Part II through </a:t>
            </a:r>
            <a:r>
              <a:rPr lang="vi-VN" sz="2000" noProof="0" dirty="0">
                <a:hlinkClick r:id="rId3"/>
              </a:rPr>
              <a:t>www.pandagrader.com</a:t>
            </a:r>
            <a:r>
              <a:rPr lang="vi-VN" sz="2000" noProof="0" dirty="0"/>
              <a:t> -- submit pdf</a:t>
            </a:r>
          </a:p>
          <a:p>
            <a:pPr lvl="3"/>
            <a:endParaRPr lang="vi-VN" sz="1200" noProof="0" dirty="0"/>
          </a:p>
          <a:p>
            <a:pPr eaLnBrk="1" hangingPunct="1"/>
            <a:r>
              <a:rPr lang="vi-VN" sz="2400" noProof="0" dirty="0"/>
              <a:t>Project 1: Search</a:t>
            </a:r>
          </a:p>
          <a:p>
            <a:pPr lvl="1" eaLnBrk="1" hangingPunct="1"/>
            <a:r>
              <a:rPr lang="vi-VN" sz="2000" noProof="0" dirty="0"/>
              <a:t>Will be released soon!  Due Friday 2/7 at 5pm.</a:t>
            </a:r>
          </a:p>
          <a:p>
            <a:pPr lvl="1" eaLnBrk="1" hangingPunct="1"/>
            <a:r>
              <a:rPr lang="vi-VN" sz="2000" noProof="0" dirty="0"/>
              <a:t>Start early and ask questions.  It’s longer than most!</a:t>
            </a:r>
          </a:p>
          <a:p>
            <a:pPr lvl="3"/>
            <a:endParaRPr lang="vi-VN" sz="1200" noProof="0" dirty="0"/>
          </a:p>
          <a:p>
            <a:pPr eaLnBrk="1" hangingPunct="1"/>
            <a:r>
              <a:rPr lang="vi-VN" sz="2400" noProof="0" dirty="0"/>
              <a:t>Sections</a:t>
            </a:r>
          </a:p>
          <a:p>
            <a:pPr lvl="1"/>
            <a:r>
              <a:rPr lang="vi-VN" sz="2000" noProof="0" dirty="0"/>
              <a:t>You can go to any, but have priority in your own.</a:t>
            </a:r>
          </a:p>
          <a:p>
            <a:pPr lvl="4"/>
            <a:endParaRPr lang="vi-VN" sz="1200" noProof="0" dirty="0"/>
          </a:p>
          <a:p>
            <a:r>
              <a:rPr lang="vi-VN" sz="2400" noProof="0" dirty="0"/>
              <a:t>Exam preferences / conflicts</a:t>
            </a:r>
          </a:p>
          <a:p>
            <a:pPr lvl="1"/>
            <a:r>
              <a:rPr lang="vi-VN" sz="2000" noProof="0" dirty="0"/>
              <a:t>Please fill out the survey form (link on Piazza)</a:t>
            </a:r>
          </a:p>
          <a:p>
            <a:pPr lvl="1"/>
            <a:r>
              <a:rPr lang="vi-VN" sz="2000" noProof="0" dirty="0"/>
              <a:t>Due tonight!</a:t>
            </a:r>
          </a:p>
          <a:p>
            <a:pPr eaLnBrk="1" hangingPunct="1"/>
            <a:endParaRPr lang="vi-VN" sz="2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AI in the news …</a:t>
            </a:r>
          </a:p>
        </p:txBody>
      </p:sp>
      <p:pic>
        <p:nvPicPr>
          <p:cNvPr id="4" name="Picture 3" descr="Screen Shot 2014-01-27 at 11.57.2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617" y="1219200"/>
            <a:ext cx="7284767" cy="5562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89066" y="6488668"/>
            <a:ext cx="2402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TechCrunch</a:t>
            </a:r>
            <a:r>
              <a:rPr lang="en-US" dirty="0">
                <a:latin typeface="Calibri"/>
                <a:cs typeface="Calibri"/>
              </a:rPr>
              <a:t>, 2014/1/25</a:t>
            </a:r>
          </a:p>
        </p:txBody>
      </p:sp>
    </p:spTree>
    <p:extLst>
      <p:ext uri="{BB962C8B-B14F-4D97-AF65-F5344CB8AC3E}">
        <p14:creationId xmlns:p14="http://schemas.microsoft.com/office/powerpoint/2010/main" val="9253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AI in the news …</a:t>
            </a:r>
          </a:p>
        </p:txBody>
      </p:sp>
      <p:pic>
        <p:nvPicPr>
          <p:cNvPr id="4" name="Picture 3" descr="Screen Shot 2014-01-28 at 12.01.1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0"/>
            <a:ext cx="519128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08352" y="6488668"/>
            <a:ext cx="1983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Wired, 2013/12/12</a:t>
            </a:r>
          </a:p>
        </p:txBody>
      </p:sp>
    </p:spTree>
    <p:extLst>
      <p:ext uri="{BB962C8B-B14F-4D97-AF65-F5344CB8AC3E}">
        <p14:creationId xmlns:p14="http://schemas.microsoft.com/office/powerpoint/2010/main" val="79547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01-28 at 12.39.1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0"/>
            <a:ext cx="67086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08352" y="6488668"/>
            <a:ext cx="1983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Wired, 2014/01/16</a:t>
            </a:r>
          </a:p>
        </p:txBody>
      </p:sp>
    </p:spTree>
    <p:extLst>
      <p:ext uri="{BB962C8B-B14F-4D97-AF65-F5344CB8AC3E}">
        <p14:creationId xmlns:p14="http://schemas.microsoft.com/office/powerpoint/2010/main" val="146632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vi-VN" dirty="0"/>
              <a:t>INT3401: Trí tuệ nhân tạo</a:t>
            </a:r>
            <a:br>
              <a:rPr lang="vi-VN" dirty="0"/>
            </a:br>
            <a:endParaRPr lang="vi-VN" sz="3600" noProof="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/>
          <a:lstStyle/>
          <a:p>
            <a:pPr eaLnBrk="1" hangingPunct="1"/>
            <a:r>
              <a:rPr lang="vi-VN" sz="4300" noProof="0" dirty="0"/>
              <a:t>Tìm kiếm dựa trên kinh nghiệm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4704" y="1974760"/>
            <a:ext cx="7010399" cy="3511382"/>
          </a:xfrm>
          <a:prstGeom prst="rect">
            <a:avLst/>
          </a:prstGeom>
          <a:noFill/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0" y="6328529"/>
            <a:ext cx="12192000" cy="500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>
                <a:latin typeface="Calibri"/>
                <a:cs typeface="Calibri"/>
              </a:rPr>
              <a:t>[These slides were translated from slides by Dan Klein and Pieter </a:t>
            </a:r>
            <a:r>
              <a:rPr lang="en-US" sz="1400" dirty="0" err="1">
                <a:latin typeface="Calibri"/>
                <a:cs typeface="Calibri"/>
              </a:rPr>
              <a:t>Abbeel</a:t>
            </a:r>
            <a:r>
              <a:rPr lang="en-US" sz="1400" dirty="0">
                <a:latin typeface="Calibri"/>
                <a:cs typeface="Calibri"/>
              </a:rPr>
              <a:t> for CS188 Intro to AI at UC Berkeley.</a:t>
            </a:r>
            <a:br>
              <a:rPr lang="en-US" sz="1400" dirty="0">
                <a:latin typeface="Calibri"/>
                <a:cs typeface="Calibri"/>
              </a:rPr>
            </a:br>
            <a:r>
              <a:rPr lang="en-US" sz="1400" dirty="0">
                <a:latin typeface="Calibri"/>
                <a:cs typeface="Calibri"/>
              </a:rPr>
              <a:t> All materials available at http://</a:t>
            </a:r>
            <a:r>
              <a:rPr lang="en-US" sz="1400" dirty="0" err="1">
                <a:latin typeface="Calibri"/>
                <a:cs typeface="Calibri"/>
              </a:rPr>
              <a:t>ai.berkeley.edu</a:t>
            </a:r>
            <a:r>
              <a:rPr lang="en-US" sz="1400" dirty="0">
                <a:latin typeface="Calibri"/>
                <a:cs typeface="Calibri"/>
              </a:rPr>
              <a:t>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2590" y="1828800"/>
            <a:ext cx="5682419" cy="4416827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Nội dung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14436"/>
            <a:ext cx="10642600" cy="4729164"/>
          </a:xfrm>
        </p:spPr>
        <p:txBody>
          <a:bodyPr/>
          <a:lstStyle/>
          <a:p>
            <a:pPr eaLnBrk="1" hangingPunct="1"/>
            <a:endParaRPr lang="vi-VN" sz="3600" noProof="0" dirty="0"/>
          </a:p>
          <a:p>
            <a:pPr eaLnBrk="1" hangingPunct="1"/>
            <a:r>
              <a:rPr lang="vi-VN" sz="3600" noProof="0" dirty="0"/>
              <a:t>Tìm kiếm dựa trên kinh nghiệm</a:t>
            </a:r>
          </a:p>
          <a:p>
            <a:pPr lvl="1"/>
            <a:r>
              <a:rPr lang="vi-VN" sz="3200" noProof="0" dirty="0"/>
              <a:t>Hàm kinh nghiệm</a:t>
            </a:r>
          </a:p>
          <a:p>
            <a:pPr lvl="1"/>
            <a:r>
              <a:rPr lang="vi-VN" sz="3200" noProof="0" dirty="0"/>
              <a:t>Tìm kiếm ăn tham</a:t>
            </a:r>
          </a:p>
          <a:p>
            <a:pPr lvl="1"/>
            <a:r>
              <a:rPr lang="vi-VN" sz="3200" noProof="0" dirty="0"/>
              <a:t>Tìm kiếm A*</a:t>
            </a:r>
          </a:p>
          <a:p>
            <a:pPr lvl="2"/>
            <a:endParaRPr lang="vi-VN" sz="2800" noProof="0" dirty="0"/>
          </a:p>
          <a:p>
            <a:pPr eaLnBrk="1" hangingPunct="1"/>
            <a:r>
              <a:rPr lang="vi-VN" sz="3600" noProof="0" dirty="0"/>
              <a:t>Tìm kiếm trên đồ thị</a:t>
            </a:r>
          </a:p>
          <a:p>
            <a:pPr eaLnBrk="1" hangingPunct="1"/>
            <a:endParaRPr lang="vi-VN" sz="3600" noProof="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Nhắc lại: Tìm kiếm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8800" y="397800"/>
            <a:ext cx="8073044" cy="6062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3926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Nhắc lại: Tìm kiếm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6962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Bài toán tìm kiếm: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Trạng thái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Hành động và chi phí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Hàm chuyển trạng thái</a:t>
            </a:r>
          </a:p>
          <a:p>
            <a:pPr lvl="2">
              <a:lnSpc>
                <a:spcPct val="90000"/>
              </a:lnSpc>
            </a:pPr>
            <a:r>
              <a:rPr lang="vi-VN" sz="1600" noProof="0" dirty="0"/>
              <a:t>mô phỏng vận động của môi trường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Trạng thái bắt đầu, hàm kiểm tra kết thúc</a:t>
            </a:r>
          </a:p>
          <a:p>
            <a:pPr>
              <a:lnSpc>
                <a:spcPct val="90000"/>
              </a:lnSpc>
            </a:pPr>
            <a:endParaRPr lang="vi-VN" sz="15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Cây tìm kiếm: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Nút trong cây = kế hoạch đạt tới trạng thái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dirty="0"/>
              <a:t>Chi phí của kế hoạch = tổng chi phí của hành động</a:t>
            </a:r>
            <a:endParaRPr lang="vi-VN" sz="2000" noProof="0" dirty="0"/>
          </a:p>
          <a:p>
            <a:pPr>
              <a:lnSpc>
                <a:spcPct val="90000"/>
              </a:lnSpc>
            </a:pPr>
            <a:endParaRPr lang="vi-VN" sz="15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Thuật toán tìm kiếm: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Xây dựng cây tìm kiếm một cách hệ thống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Chiến lược mở rộng biên tìm kiếm</a:t>
            </a:r>
          </a:p>
          <a:p>
            <a:pPr lvl="1" eaLnBrk="1" hangingPunct="1">
              <a:lnSpc>
                <a:spcPct val="90000"/>
              </a:lnSpc>
            </a:pPr>
            <a:r>
              <a:rPr lang="vi-VN" sz="2000" noProof="0" dirty="0"/>
              <a:t>Tối ưu = tìm kế hoạch có chi phí nhỏ nhất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90277" y="514350"/>
            <a:ext cx="6164445" cy="4629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Lật chồng bánh pancake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505201" y="3808413"/>
            <a:ext cx="1066800" cy="1588"/>
          </a:xfrm>
          <a:prstGeom prst="line">
            <a:avLst/>
          </a:prstGeom>
          <a:ln w="762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52801" y="3656013"/>
            <a:ext cx="1371600" cy="1588"/>
          </a:xfrm>
          <a:prstGeom prst="line">
            <a:avLst/>
          </a:prstGeom>
          <a:ln w="762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71801" y="3960813"/>
            <a:ext cx="2209800" cy="1588"/>
          </a:xfrm>
          <a:prstGeom prst="line">
            <a:avLst/>
          </a:prstGeom>
          <a:ln w="762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00401" y="3505201"/>
            <a:ext cx="1752600" cy="1588"/>
          </a:xfrm>
          <a:prstGeom prst="line">
            <a:avLst/>
          </a:prstGeom>
          <a:ln w="762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Diagonal Stripe 22"/>
          <p:cNvSpPr/>
          <p:nvPr/>
        </p:nvSpPr>
        <p:spPr>
          <a:xfrm flipV="1">
            <a:off x="2438401" y="3505200"/>
            <a:ext cx="990600" cy="228600"/>
          </a:xfrm>
          <a:prstGeom prst="diagStrip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Connector 24"/>
          <p:cNvCxnSpPr>
            <a:stCxn id="23" idx="1"/>
          </p:cNvCxnSpPr>
          <p:nvPr/>
        </p:nvCxnSpPr>
        <p:spPr>
          <a:xfrm rot="10800000">
            <a:off x="1752601" y="2590801"/>
            <a:ext cx="685800" cy="97155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772401" y="2513012"/>
            <a:ext cx="1066800" cy="1588"/>
          </a:xfrm>
          <a:prstGeom prst="line">
            <a:avLst/>
          </a:prstGeom>
          <a:ln w="762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620001" y="2209800"/>
            <a:ext cx="1371600" cy="1588"/>
          </a:xfrm>
          <a:prstGeom prst="line">
            <a:avLst/>
          </a:prstGeom>
          <a:ln w="762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239001" y="2665412"/>
            <a:ext cx="2209800" cy="1588"/>
          </a:xfrm>
          <a:prstGeom prst="line">
            <a:avLst/>
          </a:prstGeom>
          <a:ln w="762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467601" y="2360612"/>
            <a:ext cx="1752600" cy="1588"/>
          </a:xfrm>
          <a:prstGeom prst="line">
            <a:avLst/>
          </a:prstGeom>
          <a:ln w="762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772401" y="3429000"/>
            <a:ext cx="1066800" cy="1588"/>
          </a:xfrm>
          <a:prstGeom prst="line">
            <a:avLst/>
          </a:prstGeom>
          <a:ln w="762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620001" y="3579812"/>
            <a:ext cx="1371600" cy="1588"/>
          </a:xfrm>
          <a:prstGeom prst="line">
            <a:avLst/>
          </a:prstGeom>
          <a:ln w="762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239001" y="3884612"/>
            <a:ext cx="2209800" cy="1588"/>
          </a:xfrm>
          <a:prstGeom prst="line">
            <a:avLst/>
          </a:prstGeom>
          <a:ln w="762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7467601" y="3732212"/>
            <a:ext cx="1752600" cy="1588"/>
          </a:xfrm>
          <a:prstGeom prst="line">
            <a:avLst/>
          </a:prstGeom>
          <a:ln w="762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7772401" y="4876799"/>
            <a:ext cx="1066800" cy="1588"/>
          </a:xfrm>
          <a:prstGeom prst="line">
            <a:avLst/>
          </a:prstGeom>
          <a:ln w="762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620001" y="5027611"/>
            <a:ext cx="1371600" cy="1588"/>
          </a:xfrm>
          <a:prstGeom prst="line">
            <a:avLst/>
          </a:prstGeom>
          <a:ln w="762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239001" y="4724399"/>
            <a:ext cx="2209800" cy="1588"/>
          </a:xfrm>
          <a:prstGeom prst="line">
            <a:avLst/>
          </a:prstGeom>
          <a:ln w="762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467601" y="5180011"/>
            <a:ext cx="1752600" cy="1588"/>
          </a:xfrm>
          <a:prstGeom prst="line">
            <a:avLst/>
          </a:prstGeom>
          <a:ln w="762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Left Arrow 48"/>
          <p:cNvSpPr/>
          <p:nvPr/>
        </p:nvSpPr>
        <p:spPr>
          <a:xfrm rot="19800000" flipH="1">
            <a:off x="5867401" y="2616322"/>
            <a:ext cx="914400" cy="381000"/>
          </a:xfrm>
          <a:prstGeom prst="leftArrow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" name="Left Arrow 49"/>
          <p:cNvSpPr/>
          <p:nvPr/>
        </p:nvSpPr>
        <p:spPr>
          <a:xfrm flipH="1">
            <a:off x="5867401" y="3505200"/>
            <a:ext cx="914400" cy="381000"/>
          </a:xfrm>
          <a:prstGeom prst="leftArrow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Left Arrow 50"/>
          <p:cNvSpPr/>
          <p:nvPr/>
        </p:nvSpPr>
        <p:spPr>
          <a:xfrm rot="1800000" flipH="1">
            <a:off x="5825197" y="4368922"/>
            <a:ext cx="914400" cy="381000"/>
          </a:xfrm>
          <a:prstGeom prst="leftArrow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92" name="TextBox 59"/>
          <p:cNvSpPr txBox="1">
            <a:spLocks noChangeArrowheads="1"/>
          </p:cNvSpPr>
          <p:nvPr/>
        </p:nvSpPr>
        <p:spPr bwMode="auto">
          <a:xfrm>
            <a:off x="0" y="6019800"/>
            <a:ext cx="12192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Chi </a:t>
            </a:r>
            <a:r>
              <a:rPr lang="en-US" sz="2800" dirty="0" err="1">
                <a:latin typeface="Calibri" pitchFamily="34" charset="0"/>
              </a:rPr>
              <a:t>phí</a:t>
            </a:r>
            <a:r>
              <a:rPr lang="en-US" sz="2800" dirty="0">
                <a:latin typeface="Calibri" pitchFamily="34" charset="0"/>
              </a:rPr>
              <a:t> = </a:t>
            </a:r>
            <a:r>
              <a:rPr lang="en-US" sz="2800" dirty="0" err="1">
                <a:latin typeface="Calibri" pitchFamily="34" charset="0"/>
              </a:rPr>
              <a:t>tổng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số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lớp</a:t>
            </a:r>
            <a:r>
              <a:rPr lang="en-US" sz="2800" dirty="0">
                <a:latin typeface="Calibri" pitchFamily="34" charset="0"/>
              </a:rPr>
              <a:t> bánh </a:t>
            </a:r>
            <a:r>
              <a:rPr lang="en-US" sz="2800" dirty="0" err="1">
                <a:latin typeface="Calibri" pitchFamily="34" charset="0"/>
              </a:rPr>
              <a:t>được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lật</a:t>
            </a:r>
            <a:endParaRPr lang="en-US" sz="28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71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6600" y="2133891"/>
            <a:ext cx="5493904" cy="2828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Lật chồng bánh pancake</a:t>
            </a:r>
          </a:p>
        </p:txBody>
      </p:sp>
      <p:pic>
        <p:nvPicPr>
          <p:cNvPr id="62466" name="Picture 2" descr="Z:\Shared with PC\gates_pancak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73275" y="1524000"/>
            <a:ext cx="8137525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Ví dụ: Lật chồng bánh pancake</a:t>
            </a:r>
            <a:endParaRPr lang="vi-VN" noProof="0" dirty="0">
              <a:latin typeface="Calibri"/>
              <a:cs typeface="Calibri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84526" y="2501900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113088" y="2598738"/>
            <a:ext cx="636587" cy="0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936875" y="2403476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043238" y="2693988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128964" y="3727451"/>
            <a:ext cx="636587" cy="1587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00401" y="3533775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952751" y="3630612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059114" y="3822700"/>
            <a:ext cx="812800" cy="1587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075239" y="2271713"/>
            <a:ext cx="1025525" cy="1588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322889" y="2174875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51450" y="2078038"/>
            <a:ext cx="636588" cy="0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81600" y="1981200"/>
            <a:ext cx="812800" cy="1587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07" name="Group 81"/>
          <p:cNvGrpSpPr>
            <a:grpSpLocks/>
          </p:cNvGrpSpPr>
          <p:nvPr/>
        </p:nvGrpSpPr>
        <p:grpSpPr bwMode="auto">
          <a:xfrm flipV="1">
            <a:off x="2251075" y="4689476"/>
            <a:ext cx="1025525" cy="195263"/>
            <a:chOff x="914400" y="6033654"/>
            <a:chExt cx="1025380" cy="194975"/>
          </a:xfrm>
        </p:grpSpPr>
        <p:cxnSp>
          <p:nvCxnSpPr>
            <p:cNvPr id="45" name="Straight Connector 44"/>
            <p:cNvCxnSpPr/>
            <p:nvPr/>
          </p:nvCxnSpPr>
          <p:spPr>
            <a:xfrm flipV="1">
              <a:off x="1090588" y="6227044"/>
              <a:ext cx="636497" cy="1585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1162015" y="6033654"/>
              <a:ext cx="495230" cy="1585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914400" y="6130349"/>
              <a:ext cx="1025380" cy="1586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 flipV="1">
            <a:off x="2357438" y="4979988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09" name="Group 87"/>
          <p:cNvGrpSpPr>
            <a:grpSpLocks/>
          </p:cNvGrpSpPr>
          <p:nvPr/>
        </p:nvGrpSpPr>
        <p:grpSpPr bwMode="auto">
          <a:xfrm flipV="1">
            <a:off x="4232275" y="4357688"/>
            <a:ext cx="1025525" cy="290513"/>
            <a:chOff x="2175020" y="6019800"/>
            <a:chExt cx="1025380" cy="290946"/>
          </a:xfrm>
        </p:grpSpPr>
        <p:grpSp>
          <p:nvGrpSpPr>
            <p:cNvPr id="8281" name="Group 82"/>
            <p:cNvGrpSpPr>
              <a:grpSpLocks/>
            </p:cNvGrpSpPr>
            <p:nvPr/>
          </p:nvGrpSpPr>
          <p:grpSpPr bwMode="auto">
            <a:xfrm>
              <a:off x="2175020" y="6019800"/>
              <a:ext cx="1025380" cy="194975"/>
              <a:chOff x="914400" y="6033654"/>
              <a:chExt cx="1025380" cy="194975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flipV="1">
                <a:off x="1090588" y="6227617"/>
                <a:ext cx="636497" cy="159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1162015" y="6033654"/>
                <a:ext cx="495230" cy="1590"/>
              </a:xfrm>
              <a:prstGeom prst="line">
                <a:avLst/>
              </a:prstGeom>
              <a:ln w="38100">
                <a:solidFill>
                  <a:srgbClr val="CC99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914400" y="6130636"/>
                <a:ext cx="1025380" cy="1589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/>
            <p:cNvCxnSpPr/>
            <p:nvPr/>
          </p:nvCxnSpPr>
          <p:spPr>
            <a:xfrm flipV="1">
              <a:off x="2281368" y="6309156"/>
              <a:ext cx="81268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/>
          <p:cNvCxnSpPr/>
          <p:nvPr/>
        </p:nvCxnSpPr>
        <p:spPr>
          <a:xfrm>
            <a:off x="9032875" y="4191000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9280526" y="3900488"/>
            <a:ext cx="495300" cy="1588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9209088" y="3997326"/>
            <a:ext cx="636587" cy="1587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9139238" y="4094162"/>
            <a:ext cx="812800" cy="0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029201" y="3594100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276850" y="3497262"/>
            <a:ext cx="495300" cy="1588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16" name="Group 94"/>
          <p:cNvGrpSpPr>
            <a:grpSpLocks/>
          </p:cNvGrpSpPr>
          <p:nvPr/>
        </p:nvGrpSpPr>
        <p:grpSpPr bwMode="auto">
          <a:xfrm flipV="1">
            <a:off x="5135563" y="3305175"/>
            <a:ext cx="812800" cy="96837"/>
            <a:chOff x="6278274" y="6096000"/>
            <a:chExt cx="813233" cy="96982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6349749" y="6191393"/>
              <a:ext cx="635338" cy="1589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278274" y="6096000"/>
              <a:ext cx="813233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3" name="Straight Arrow Connector 62"/>
          <p:cNvCxnSpPr/>
          <p:nvPr/>
        </p:nvCxnSpPr>
        <p:spPr>
          <a:xfrm rot="10800000" flipV="1">
            <a:off x="4114800" y="2300287"/>
            <a:ext cx="574675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5400000" flipH="1" flipV="1">
            <a:off x="3203575" y="3127375"/>
            <a:ext cx="5334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2860675" y="4003675"/>
            <a:ext cx="609600" cy="457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rot="10800000">
            <a:off x="3886200" y="4052887"/>
            <a:ext cx="304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5505450" y="5499100"/>
            <a:ext cx="495300" cy="1587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22" name="Group 80"/>
          <p:cNvGrpSpPr>
            <a:grpSpLocks/>
          </p:cNvGrpSpPr>
          <p:nvPr/>
        </p:nvGrpSpPr>
        <p:grpSpPr bwMode="auto">
          <a:xfrm flipV="1">
            <a:off x="5257801" y="5210176"/>
            <a:ext cx="1025525" cy="193675"/>
            <a:chOff x="3200400" y="5791200"/>
            <a:chExt cx="1025380" cy="193964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3376588" y="5886592"/>
              <a:ext cx="636497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3200400" y="5983575"/>
              <a:ext cx="1025380" cy="1589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306748" y="5791200"/>
              <a:ext cx="81268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/>
          <p:cNvCxnSpPr/>
          <p:nvPr/>
        </p:nvCxnSpPr>
        <p:spPr>
          <a:xfrm flipV="1">
            <a:off x="2422526" y="5799138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24" name="Group 86"/>
          <p:cNvGrpSpPr>
            <a:grpSpLocks/>
          </p:cNvGrpSpPr>
          <p:nvPr/>
        </p:nvGrpSpPr>
        <p:grpSpPr bwMode="auto">
          <a:xfrm flipV="1">
            <a:off x="2174875" y="5603876"/>
            <a:ext cx="1025525" cy="98425"/>
            <a:chOff x="1752600" y="5562600"/>
            <a:chExt cx="1025380" cy="97993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1928788" y="5562600"/>
              <a:ext cx="636497" cy="1581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1752600" y="5659013"/>
              <a:ext cx="1025380" cy="1580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Straight Connector 85"/>
          <p:cNvCxnSpPr/>
          <p:nvPr/>
        </p:nvCxnSpPr>
        <p:spPr>
          <a:xfrm flipV="1">
            <a:off x="2281238" y="5894388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26" name="Group 92"/>
          <p:cNvGrpSpPr>
            <a:grpSpLocks/>
          </p:cNvGrpSpPr>
          <p:nvPr/>
        </p:nvGrpSpPr>
        <p:grpSpPr bwMode="auto">
          <a:xfrm flipV="1">
            <a:off x="3663951" y="5972175"/>
            <a:ext cx="1025525" cy="290512"/>
            <a:chOff x="2479820" y="6019800"/>
            <a:chExt cx="1025380" cy="290946"/>
          </a:xfrm>
        </p:grpSpPr>
        <p:cxnSp>
          <p:nvCxnSpPr>
            <p:cNvPr id="88" name="Straight Connector 87"/>
            <p:cNvCxnSpPr/>
            <p:nvPr/>
          </p:nvCxnSpPr>
          <p:spPr>
            <a:xfrm flipV="1">
              <a:off x="2727435" y="6213764"/>
              <a:ext cx="495230" cy="1589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270" name="Group 88"/>
            <p:cNvGrpSpPr>
              <a:grpSpLocks/>
            </p:cNvGrpSpPr>
            <p:nvPr/>
          </p:nvGrpSpPr>
          <p:grpSpPr bwMode="auto">
            <a:xfrm flipV="1">
              <a:off x="2479820" y="6019800"/>
              <a:ext cx="1025380" cy="97993"/>
              <a:chOff x="1752600" y="5562600"/>
              <a:chExt cx="1025380" cy="97993"/>
            </a:xfrm>
          </p:grpSpPr>
          <p:cxnSp>
            <p:nvCxnSpPr>
              <p:cNvPr id="90" name="Straight Connector 89"/>
              <p:cNvCxnSpPr/>
              <p:nvPr/>
            </p:nvCxnSpPr>
            <p:spPr>
              <a:xfrm>
                <a:off x="1928788" y="5562021"/>
                <a:ext cx="636497" cy="159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V="1">
                <a:off x="1752600" y="5659004"/>
                <a:ext cx="1025380" cy="1589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2" name="Straight Connector 91"/>
            <p:cNvCxnSpPr/>
            <p:nvPr/>
          </p:nvCxnSpPr>
          <p:spPr>
            <a:xfrm flipV="1">
              <a:off x="2586168" y="6309157"/>
              <a:ext cx="812685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227" name="Group 98"/>
          <p:cNvGrpSpPr>
            <a:grpSpLocks/>
          </p:cNvGrpSpPr>
          <p:nvPr/>
        </p:nvGrpSpPr>
        <p:grpSpPr bwMode="auto">
          <a:xfrm flipV="1">
            <a:off x="6858001" y="3824288"/>
            <a:ext cx="1025525" cy="290513"/>
            <a:chOff x="4267200" y="5119254"/>
            <a:chExt cx="1025380" cy="290946"/>
          </a:xfrm>
        </p:grpSpPr>
        <p:cxnSp>
          <p:nvCxnSpPr>
            <p:cNvPr id="94" name="Straight Connector 93"/>
            <p:cNvCxnSpPr/>
            <p:nvPr/>
          </p:nvCxnSpPr>
          <p:spPr>
            <a:xfrm flipV="1">
              <a:off x="4514815" y="5408610"/>
              <a:ext cx="495230" cy="1590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265" name="Group 94"/>
            <p:cNvGrpSpPr>
              <a:grpSpLocks/>
            </p:cNvGrpSpPr>
            <p:nvPr/>
          </p:nvGrpSpPr>
          <p:grpSpPr bwMode="auto">
            <a:xfrm flipV="1">
              <a:off x="4267200" y="5119254"/>
              <a:ext cx="1025380" cy="193964"/>
              <a:chOff x="3200400" y="5791200"/>
              <a:chExt cx="1025380" cy="193964"/>
            </a:xfrm>
          </p:grpSpPr>
          <p:cxnSp>
            <p:nvCxnSpPr>
              <p:cNvPr id="96" name="Straight Connector 95"/>
              <p:cNvCxnSpPr/>
              <p:nvPr/>
            </p:nvCxnSpPr>
            <p:spPr>
              <a:xfrm>
                <a:off x="3376588" y="5886592"/>
                <a:ext cx="636497" cy="1589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flipV="1">
                <a:off x="3200400" y="5983574"/>
                <a:ext cx="1025380" cy="1590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3306748" y="5791200"/>
                <a:ext cx="812685" cy="1589"/>
              </a:xfrm>
              <a:prstGeom prst="line">
                <a:avLst/>
              </a:prstGeom>
              <a:ln w="38100">
                <a:solidFill>
                  <a:srgbClr val="99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6" name="Straight Connector 105"/>
          <p:cNvCxnSpPr/>
          <p:nvPr/>
        </p:nvCxnSpPr>
        <p:spPr>
          <a:xfrm flipV="1">
            <a:off x="8118475" y="5943600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29" name="Group 106"/>
          <p:cNvGrpSpPr>
            <a:grpSpLocks/>
          </p:cNvGrpSpPr>
          <p:nvPr/>
        </p:nvGrpSpPr>
        <p:grpSpPr bwMode="auto">
          <a:xfrm flipV="1">
            <a:off x="8224838" y="5653088"/>
            <a:ext cx="812800" cy="193675"/>
            <a:chOff x="4338494" y="6019800"/>
            <a:chExt cx="813233" cy="193964"/>
          </a:xfrm>
        </p:grpSpPr>
        <p:cxnSp>
          <p:nvCxnSpPr>
            <p:cNvPr id="102" name="Straight Connector 101"/>
            <p:cNvCxnSpPr/>
            <p:nvPr/>
          </p:nvCxnSpPr>
          <p:spPr>
            <a:xfrm>
              <a:off x="4479856" y="6115192"/>
              <a:ext cx="495564" cy="1589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4409969" y="6212174"/>
              <a:ext cx="635338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4338494" y="6019800"/>
              <a:ext cx="813233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Straight Arrow Connector 109"/>
          <p:cNvCxnSpPr/>
          <p:nvPr/>
        </p:nvCxnSpPr>
        <p:spPr>
          <a:xfrm rot="5400000" flipH="1" flipV="1">
            <a:off x="2590007" y="5272882"/>
            <a:ext cx="3048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10800000">
            <a:off x="3276600" y="5729287"/>
            <a:ext cx="3810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rot="10800000" flipV="1">
            <a:off x="4724400" y="5805487"/>
            <a:ext cx="2971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>
            <a:off x="5105400" y="4814887"/>
            <a:ext cx="304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rot="10800000" flipV="1">
            <a:off x="5867400" y="4281487"/>
            <a:ext cx="91440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>
            <a:off x="6213475" y="3367087"/>
            <a:ext cx="762000" cy="304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5400000">
            <a:off x="5295107" y="2796382"/>
            <a:ext cx="5334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7262813" y="5021262"/>
            <a:ext cx="636587" cy="1588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V="1">
            <a:off x="7086601" y="5118100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39" name="Group 131"/>
          <p:cNvGrpSpPr>
            <a:grpSpLocks/>
          </p:cNvGrpSpPr>
          <p:nvPr/>
        </p:nvGrpSpPr>
        <p:grpSpPr bwMode="auto">
          <a:xfrm flipV="1">
            <a:off x="7192963" y="4829175"/>
            <a:ext cx="812800" cy="96837"/>
            <a:chOff x="6472094" y="4738254"/>
            <a:chExt cx="813233" cy="97993"/>
          </a:xfrm>
        </p:grpSpPr>
        <p:cxnSp>
          <p:nvCxnSpPr>
            <p:cNvPr id="127" name="Straight Connector 126"/>
            <p:cNvCxnSpPr/>
            <p:nvPr/>
          </p:nvCxnSpPr>
          <p:spPr>
            <a:xfrm>
              <a:off x="6613456" y="4738254"/>
              <a:ext cx="495564" cy="1606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6472094" y="4834641"/>
              <a:ext cx="813233" cy="1606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4" name="Straight Arrow Connector 133"/>
          <p:cNvCxnSpPr/>
          <p:nvPr/>
        </p:nvCxnSpPr>
        <p:spPr>
          <a:xfrm rot="10800000">
            <a:off x="6324600" y="2452687"/>
            <a:ext cx="24384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H="1">
            <a:off x="7277100" y="4395787"/>
            <a:ext cx="4572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>
            <a:off x="7772400" y="5272087"/>
            <a:ext cx="6096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rot="5400000" flipH="1" flipV="1">
            <a:off x="8572500" y="4548187"/>
            <a:ext cx="106680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44" name="TextBox 154"/>
          <p:cNvSpPr txBox="1">
            <a:spLocks noChangeArrowheads="1"/>
          </p:cNvSpPr>
          <p:nvPr/>
        </p:nvSpPr>
        <p:spPr bwMode="auto">
          <a:xfrm>
            <a:off x="7432675" y="2757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45" name="TextBox 154"/>
          <p:cNvSpPr txBox="1">
            <a:spLocks noChangeArrowheads="1"/>
          </p:cNvSpPr>
          <p:nvPr/>
        </p:nvSpPr>
        <p:spPr bwMode="auto">
          <a:xfrm>
            <a:off x="9109075" y="4841876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246" name="TextBox 154"/>
          <p:cNvSpPr txBox="1">
            <a:spLocks noChangeArrowheads="1"/>
          </p:cNvSpPr>
          <p:nvPr/>
        </p:nvSpPr>
        <p:spPr bwMode="auto">
          <a:xfrm>
            <a:off x="6061075" y="4281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247" name="TextBox 154"/>
          <p:cNvSpPr txBox="1">
            <a:spLocks noChangeArrowheads="1"/>
          </p:cNvSpPr>
          <p:nvPr/>
        </p:nvSpPr>
        <p:spPr bwMode="auto">
          <a:xfrm>
            <a:off x="6518275" y="3165476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48" name="TextBox 154"/>
          <p:cNvSpPr txBox="1">
            <a:spLocks noChangeArrowheads="1"/>
          </p:cNvSpPr>
          <p:nvPr/>
        </p:nvSpPr>
        <p:spPr bwMode="auto">
          <a:xfrm>
            <a:off x="5984875" y="58816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49" name="TextBox 154"/>
          <p:cNvSpPr txBox="1">
            <a:spLocks noChangeArrowheads="1"/>
          </p:cNvSpPr>
          <p:nvPr/>
        </p:nvSpPr>
        <p:spPr bwMode="auto">
          <a:xfrm>
            <a:off x="7585075" y="4281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250" name="TextBox 154"/>
          <p:cNvSpPr txBox="1">
            <a:spLocks noChangeArrowheads="1"/>
          </p:cNvSpPr>
          <p:nvPr/>
        </p:nvSpPr>
        <p:spPr bwMode="auto">
          <a:xfrm>
            <a:off x="2784475" y="5086351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251" name="TextBox 154"/>
          <p:cNvSpPr txBox="1">
            <a:spLocks noChangeArrowheads="1"/>
          </p:cNvSpPr>
          <p:nvPr/>
        </p:nvSpPr>
        <p:spPr bwMode="auto">
          <a:xfrm>
            <a:off x="3470275" y="29098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252" name="TextBox 154"/>
          <p:cNvSpPr txBox="1">
            <a:spLocks noChangeArrowheads="1"/>
          </p:cNvSpPr>
          <p:nvPr/>
        </p:nvSpPr>
        <p:spPr bwMode="auto">
          <a:xfrm>
            <a:off x="4308475" y="2376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253" name="TextBox 115"/>
          <p:cNvSpPr txBox="1">
            <a:spLocks noChangeArrowheads="1"/>
          </p:cNvSpPr>
          <p:nvPr/>
        </p:nvSpPr>
        <p:spPr bwMode="auto">
          <a:xfrm>
            <a:off x="0" y="1219200"/>
            <a:ext cx="12191999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/>
            <a:r>
              <a:rPr lang="en-US" sz="2800" dirty="0" err="1">
                <a:latin typeface="Calibri"/>
                <a:cs typeface="Calibri"/>
              </a:rPr>
              <a:t>Đồ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thị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không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gian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trạng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thái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với</a:t>
            </a:r>
            <a:r>
              <a:rPr lang="en-US" sz="2800" dirty="0">
                <a:latin typeface="Calibri"/>
                <a:cs typeface="Calibri"/>
              </a:rPr>
              <a:t> chi </a:t>
            </a:r>
            <a:r>
              <a:rPr lang="en-US" sz="2800" dirty="0" err="1">
                <a:latin typeface="Calibri"/>
                <a:cs typeface="Calibri"/>
              </a:rPr>
              <a:t>phí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hành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động</a:t>
            </a:r>
            <a:r>
              <a:rPr lang="en-US" sz="2800" dirty="0">
                <a:latin typeface="Calibri"/>
                <a:cs typeface="Calibri"/>
              </a:rPr>
              <a:t> = </a:t>
            </a:r>
            <a:r>
              <a:rPr lang="en-US" sz="2800" dirty="0" err="1">
                <a:latin typeface="Calibri"/>
                <a:cs typeface="Calibri"/>
              </a:rPr>
              <a:t>trọng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số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cạnh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8254" name="TextBox 154"/>
          <p:cNvSpPr txBox="1">
            <a:spLocks noChangeArrowheads="1"/>
          </p:cNvSpPr>
          <p:nvPr/>
        </p:nvSpPr>
        <p:spPr bwMode="auto">
          <a:xfrm>
            <a:off x="3165475" y="41290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55" name="TextBox 154"/>
          <p:cNvSpPr txBox="1">
            <a:spLocks noChangeArrowheads="1"/>
          </p:cNvSpPr>
          <p:nvPr/>
        </p:nvSpPr>
        <p:spPr bwMode="auto">
          <a:xfrm>
            <a:off x="4079875" y="38242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256" name="TextBox 154"/>
          <p:cNvSpPr txBox="1">
            <a:spLocks noChangeArrowheads="1"/>
          </p:cNvSpPr>
          <p:nvPr/>
        </p:nvSpPr>
        <p:spPr bwMode="auto">
          <a:xfrm>
            <a:off x="4841875" y="48148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57" name="TextBox 154"/>
          <p:cNvSpPr txBox="1">
            <a:spLocks noChangeArrowheads="1"/>
          </p:cNvSpPr>
          <p:nvPr/>
        </p:nvSpPr>
        <p:spPr bwMode="auto">
          <a:xfrm>
            <a:off x="3470275" y="5424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258" name="TextBox 154"/>
          <p:cNvSpPr txBox="1">
            <a:spLocks noChangeArrowheads="1"/>
          </p:cNvSpPr>
          <p:nvPr/>
        </p:nvSpPr>
        <p:spPr bwMode="auto">
          <a:xfrm>
            <a:off x="5222875" y="26812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99"/>
          <p:cNvSpPr/>
          <p:nvPr/>
        </p:nvSpPr>
        <p:spPr>
          <a:xfrm>
            <a:off x="2514600" y="4724400"/>
            <a:ext cx="6858000" cy="838200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>
              <a:latin typeface="Calibri"/>
              <a:cs typeface="Calibri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Thuật toán tìm kiếm tổng quát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2" y="1390650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2" name="Straight Connector 21"/>
          <p:cNvCxnSpPr/>
          <p:nvPr/>
        </p:nvCxnSpPr>
        <p:spPr>
          <a:xfrm flipV="1">
            <a:off x="5734051" y="4287839"/>
            <a:ext cx="495300" cy="1587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662613" y="4384675"/>
            <a:ext cx="636587" cy="1588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486400" y="4191001"/>
            <a:ext cx="1025525" cy="1588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592763" y="4481513"/>
            <a:ext cx="812800" cy="0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08"/>
          <p:cNvGrpSpPr>
            <a:grpSpLocks/>
          </p:cNvGrpSpPr>
          <p:nvPr/>
        </p:nvGrpSpPr>
        <p:grpSpPr bwMode="auto">
          <a:xfrm>
            <a:off x="1981200" y="4495801"/>
            <a:ext cx="5029200" cy="2087563"/>
            <a:chOff x="685800" y="4724400"/>
            <a:chExt cx="5029200" cy="2087106"/>
          </a:xfrm>
        </p:grpSpPr>
        <p:sp>
          <p:nvSpPr>
            <p:cNvPr id="107" name="Rectangle 106"/>
            <p:cNvSpPr/>
            <p:nvPr/>
          </p:nvSpPr>
          <p:spPr>
            <a:xfrm>
              <a:off x="990600" y="4724400"/>
              <a:ext cx="3048000" cy="11427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685800" y="5790966"/>
              <a:ext cx="2819400" cy="838017"/>
            </a:xfrm>
            <a:prstGeom prst="round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352800" y="5821123"/>
              <a:ext cx="2362200" cy="99038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104" name="Straight Connector 103"/>
            <p:cNvCxnSpPr/>
            <p:nvPr/>
          </p:nvCxnSpPr>
          <p:spPr>
            <a:xfrm rot="5400000" flipH="1" flipV="1">
              <a:off x="3314792" y="4990958"/>
              <a:ext cx="838017" cy="762000"/>
            </a:xfrm>
            <a:prstGeom prst="lin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rot="5400000" flipH="1" flipV="1">
              <a:off x="3314792" y="5828975"/>
              <a:ext cx="838017" cy="762000"/>
            </a:xfrm>
            <a:prstGeom prst="lin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3" name="Group 109"/>
          <p:cNvGrpSpPr>
            <a:grpSpLocks/>
          </p:cNvGrpSpPr>
          <p:nvPr/>
        </p:nvGrpSpPr>
        <p:grpSpPr bwMode="auto">
          <a:xfrm flipH="1">
            <a:off x="5562600" y="4541837"/>
            <a:ext cx="4419600" cy="2087563"/>
            <a:chOff x="685800" y="4724400"/>
            <a:chExt cx="4419600" cy="2087106"/>
          </a:xfrm>
        </p:grpSpPr>
        <p:sp>
          <p:nvSpPr>
            <p:cNvPr id="111" name="Rectangle 110"/>
            <p:cNvSpPr/>
            <p:nvPr/>
          </p:nvSpPr>
          <p:spPr>
            <a:xfrm>
              <a:off x="990600" y="4724400"/>
              <a:ext cx="3048000" cy="11427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685800" y="5790967"/>
              <a:ext cx="2819400" cy="838017"/>
            </a:xfrm>
            <a:prstGeom prst="round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3352800" y="5821122"/>
              <a:ext cx="1752600" cy="99038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rot="5400000" flipH="1" flipV="1">
              <a:off x="3314792" y="4990959"/>
              <a:ext cx="838017" cy="762000"/>
            </a:xfrm>
            <a:prstGeom prst="lin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rot="5400000" flipH="1" flipV="1">
              <a:off x="3314792" y="5828975"/>
              <a:ext cx="838017" cy="762000"/>
            </a:xfrm>
            <a:prstGeom prst="lin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2871789" y="5002213"/>
            <a:ext cx="6272212" cy="331787"/>
            <a:chOff x="1575811" y="5230090"/>
            <a:chExt cx="6272789" cy="332510"/>
          </a:xfrm>
        </p:grpSpPr>
        <p:cxnSp>
          <p:nvCxnSpPr>
            <p:cNvPr id="64" name="Straight Connector 63"/>
            <p:cNvCxnSpPr/>
            <p:nvPr/>
          </p:nvCxnSpPr>
          <p:spPr>
            <a:xfrm flipV="1">
              <a:off x="1752039" y="5424187"/>
              <a:ext cx="636647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823484" y="5230090"/>
              <a:ext cx="495346" cy="1590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1575811" y="5327138"/>
              <a:ext cx="1025619" cy="1591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1682183" y="5519645"/>
              <a:ext cx="81287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403408" y="5368503"/>
              <a:ext cx="495346" cy="1591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4333552" y="5271455"/>
              <a:ext cx="636647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4155735" y="5465552"/>
              <a:ext cx="1025619" cy="1590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4262108" y="5561010"/>
              <a:ext cx="81287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6822981" y="5561010"/>
              <a:ext cx="1025619" cy="1590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7070653" y="5463961"/>
              <a:ext cx="495346" cy="1591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7000797" y="5366913"/>
              <a:ext cx="635058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6929353" y="5271455"/>
              <a:ext cx="81287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6" name="Rounded Rectangle 115"/>
          <p:cNvSpPr/>
          <p:nvPr/>
        </p:nvSpPr>
        <p:spPr>
          <a:xfrm>
            <a:off x="5181600" y="4038600"/>
            <a:ext cx="1600200" cy="609600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>
              <a:latin typeface="Calibri"/>
              <a:cs typeface="Calibri"/>
            </a:endParaRPr>
          </a:p>
        </p:txBody>
      </p:sp>
      <p:grpSp>
        <p:nvGrpSpPr>
          <p:cNvPr id="5" name="Group 128"/>
          <p:cNvGrpSpPr>
            <a:grpSpLocks/>
          </p:cNvGrpSpPr>
          <p:nvPr/>
        </p:nvGrpSpPr>
        <p:grpSpPr bwMode="auto">
          <a:xfrm>
            <a:off x="2362199" y="3733800"/>
            <a:ext cx="7162801" cy="762000"/>
            <a:chOff x="1066799" y="3962400"/>
            <a:chExt cx="7162801" cy="762000"/>
          </a:xfrm>
        </p:grpSpPr>
        <p:sp>
          <p:nvSpPr>
            <p:cNvPr id="122" name="Rounded Rectangular Callout 121"/>
            <p:cNvSpPr/>
            <p:nvPr/>
          </p:nvSpPr>
          <p:spPr>
            <a:xfrm>
              <a:off x="1066799" y="3962400"/>
              <a:ext cx="2336801" cy="762000"/>
            </a:xfrm>
            <a:prstGeom prst="wedgeRoundRectCallout">
              <a:avLst>
                <a:gd name="adj1" fmla="val 43579"/>
                <a:gd name="adj2" fmla="val 70521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err="1">
                  <a:latin typeface="Calibri"/>
                  <a:cs typeface="Calibri"/>
                </a:rPr>
                <a:t>Hành</a:t>
              </a:r>
              <a:r>
                <a:rPr lang="en-US" dirty="0">
                  <a:latin typeface="Calibri"/>
                  <a:cs typeface="Calibri"/>
                </a:rPr>
                <a:t> </a:t>
              </a:r>
              <a:r>
                <a:rPr lang="en-US" dirty="0" err="1">
                  <a:latin typeface="Calibri"/>
                  <a:cs typeface="Calibri"/>
                </a:rPr>
                <a:t>động</a:t>
              </a:r>
              <a:r>
                <a:rPr lang="en-US" dirty="0">
                  <a:latin typeface="Calibri"/>
                  <a:cs typeface="Calibri"/>
                </a:rPr>
                <a:t>: </a:t>
              </a:r>
              <a:r>
                <a:rPr lang="en-US" dirty="0" err="1">
                  <a:latin typeface="Calibri"/>
                  <a:cs typeface="Calibri"/>
                </a:rPr>
                <a:t>lật</a:t>
              </a:r>
              <a:r>
                <a:rPr lang="en-US" dirty="0">
                  <a:latin typeface="Calibri"/>
                  <a:cs typeface="Calibri"/>
                </a:rPr>
                <a:t> 2 </a:t>
              </a:r>
              <a:r>
                <a:rPr lang="en-US" dirty="0" err="1">
                  <a:latin typeface="Calibri"/>
                  <a:cs typeface="Calibri"/>
                </a:rPr>
                <a:t>tầng</a:t>
              </a:r>
              <a:br>
                <a:rPr lang="en-US" dirty="0">
                  <a:latin typeface="Calibri"/>
                  <a:cs typeface="Calibri"/>
                </a:rPr>
              </a:br>
              <a:r>
                <a:rPr lang="en-US" dirty="0">
                  <a:latin typeface="Calibri"/>
                  <a:cs typeface="Calibri"/>
                </a:rPr>
                <a:t>Chi </a:t>
              </a:r>
              <a:r>
                <a:rPr lang="en-US" dirty="0" err="1">
                  <a:latin typeface="Calibri"/>
                  <a:cs typeface="Calibri"/>
                </a:rPr>
                <a:t>phí</a:t>
              </a:r>
              <a:r>
                <a:rPr lang="en-US" dirty="0">
                  <a:latin typeface="Calibri"/>
                  <a:cs typeface="Calibri"/>
                </a:rPr>
                <a:t>: 2</a:t>
              </a:r>
            </a:p>
          </p:txBody>
        </p:sp>
        <p:sp>
          <p:nvSpPr>
            <p:cNvPr id="123" name="Rounded Rectangular Callout 122"/>
            <p:cNvSpPr/>
            <p:nvPr/>
          </p:nvSpPr>
          <p:spPr>
            <a:xfrm>
              <a:off x="5591176" y="3962400"/>
              <a:ext cx="2638424" cy="762000"/>
            </a:xfrm>
            <a:prstGeom prst="wedgeRoundRectCallout">
              <a:avLst>
                <a:gd name="adj1" fmla="val -40244"/>
                <a:gd name="adj2" fmla="val 72286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 err="1">
                  <a:latin typeface="Calibri"/>
                  <a:cs typeface="Calibri"/>
                </a:rPr>
                <a:t>Hành</a:t>
              </a:r>
              <a:r>
                <a:rPr lang="en-US" dirty="0">
                  <a:latin typeface="Calibri"/>
                  <a:cs typeface="Calibri"/>
                </a:rPr>
                <a:t> </a:t>
              </a:r>
              <a:r>
                <a:rPr lang="en-US" dirty="0" err="1">
                  <a:latin typeface="Calibri"/>
                  <a:cs typeface="Calibri"/>
                </a:rPr>
                <a:t>động</a:t>
              </a:r>
              <a:r>
                <a:rPr lang="en-US" dirty="0">
                  <a:latin typeface="Calibri"/>
                  <a:cs typeface="Calibri"/>
                </a:rPr>
                <a:t>: </a:t>
              </a:r>
              <a:r>
                <a:rPr lang="en-US" dirty="0" err="1">
                  <a:latin typeface="Calibri"/>
                  <a:cs typeface="Calibri"/>
                </a:rPr>
                <a:t>Lật</a:t>
              </a:r>
              <a:r>
                <a:rPr lang="en-US" dirty="0">
                  <a:latin typeface="Calibri"/>
                  <a:cs typeface="Calibri"/>
                </a:rPr>
                <a:t> </a:t>
              </a:r>
              <a:r>
                <a:rPr lang="en-US" dirty="0" err="1">
                  <a:latin typeface="Calibri"/>
                  <a:cs typeface="Calibri"/>
                </a:rPr>
                <a:t>cả</a:t>
              </a:r>
              <a:r>
                <a:rPr lang="en-US" dirty="0">
                  <a:latin typeface="Calibri"/>
                  <a:cs typeface="Calibri"/>
                </a:rPr>
                <a:t> 4 </a:t>
              </a:r>
              <a:r>
                <a:rPr lang="en-US" dirty="0" err="1">
                  <a:latin typeface="Calibri"/>
                  <a:cs typeface="Calibri"/>
                </a:rPr>
                <a:t>tầng</a:t>
              </a:r>
              <a:endParaRPr lang="en-US" dirty="0">
                <a:latin typeface="Calibri"/>
                <a:cs typeface="Calibri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latin typeface="Calibri"/>
                  <a:cs typeface="Calibri"/>
                </a:rPr>
                <a:t>Chi </a:t>
              </a:r>
              <a:r>
                <a:rPr lang="en-US" dirty="0" err="1">
                  <a:latin typeface="Calibri"/>
                  <a:cs typeface="Calibri"/>
                </a:rPr>
                <a:t>phí</a:t>
              </a:r>
              <a:r>
                <a:rPr lang="en-US" dirty="0">
                  <a:latin typeface="Calibri"/>
                  <a:cs typeface="Calibri"/>
                </a:rPr>
                <a:t>: 4</a:t>
              </a:r>
            </a:p>
          </p:txBody>
        </p:sp>
      </p:grpSp>
      <p:grpSp>
        <p:nvGrpSpPr>
          <p:cNvPr id="6" name="Group 127"/>
          <p:cNvGrpSpPr>
            <a:grpSpLocks/>
          </p:cNvGrpSpPr>
          <p:nvPr/>
        </p:nvGrpSpPr>
        <p:grpSpPr bwMode="auto">
          <a:xfrm>
            <a:off x="3733800" y="4495801"/>
            <a:ext cx="4572000" cy="393700"/>
            <a:chOff x="2438400" y="4724400"/>
            <a:chExt cx="4572000" cy="394447"/>
          </a:xfrm>
        </p:grpSpPr>
        <p:cxnSp>
          <p:nvCxnSpPr>
            <p:cNvPr id="119" name="Straight Arrow Connector 118"/>
            <p:cNvCxnSpPr/>
            <p:nvPr/>
          </p:nvCxnSpPr>
          <p:spPr>
            <a:xfrm rot="10800000" flipV="1">
              <a:off x="2438400" y="4724400"/>
              <a:ext cx="1676400" cy="38172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rot="10800000" flipH="1" flipV="1">
              <a:off x="5334000" y="4724400"/>
              <a:ext cx="1676400" cy="38172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 rot="5400000">
              <a:off x="4543930" y="4965364"/>
              <a:ext cx="30537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136"/>
          <p:cNvGrpSpPr>
            <a:grpSpLocks/>
          </p:cNvGrpSpPr>
          <p:nvPr/>
        </p:nvGrpSpPr>
        <p:grpSpPr bwMode="auto">
          <a:xfrm>
            <a:off x="2133600" y="5410200"/>
            <a:ext cx="2362200" cy="762000"/>
            <a:chOff x="838200" y="5638800"/>
            <a:chExt cx="2362200" cy="762000"/>
          </a:xfrm>
        </p:grpSpPr>
        <p:grpSp>
          <p:nvGrpSpPr>
            <p:cNvPr id="9246" name="Group 97"/>
            <p:cNvGrpSpPr>
              <a:grpSpLocks/>
            </p:cNvGrpSpPr>
            <p:nvPr/>
          </p:nvGrpSpPr>
          <p:grpSpPr bwMode="auto">
            <a:xfrm>
              <a:off x="838200" y="6096000"/>
              <a:ext cx="2362200" cy="304800"/>
              <a:chOff x="838200" y="6096000"/>
              <a:chExt cx="2362200" cy="304800"/>
            </a:xfrm>
          </p:grpSpPr>
          <p:grpSp>
            <p:nvGrpSpPr>
              <p:cNvPr id="9249" name="Group 81"/>
              <p:cNvGrpSpPr>
                <a:grpSpLocks/>
              </p:cNvGrpSpPr>
              <p:nvPr/>
            </p:nvGrpSpPr>
            <p:grpSpPr bwMode="auto">
              <a:xfrm flipV="1">
                <a:off x="838200" y="6109854"/>
                <a:ext cx="1025380" cy="194975"/>
                <a:chOff x="914400" y="6033654"/>
                <a:chExt cx="1025380" cy="194975"/>
              </a:xfrm>
            </p:grpSpPr>
            <p:cxnSp>
              <p:nvCxnSpPr>
                <p:cNvPr id="78" name="Straight Connector 77"/>
                <p:cNvCxnSpPr/>
                <p:nvPr/>
              </p:nvCxnSpPr>
              <p:spPr>
                <a:xfrm flipV="1">
                  <a:off x="1090613" y="6226608"/>
                  <a:ext cx="636587" cy="1587"/>
                </a:xfrm>
                <a:prstGeom prst="line">
                  <a:avLst/>
                </a:prstGeom>
                <a:ln w="38100">
                  <a:solidFill>
                    <a:srgbClr val="CC66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>
                  <a:off x="1162050" y="6032933"/>
                  <a:ext cx="495300" cy="1587"/>
                </a:xfrm>
                <a:prstGeom prst="line">
                  <a:avLst/>
                </a:prstGeom>
                <a:ln w="38100">
                  <a:solidFill>
                    <a:srgbClr val="CC99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/>
              </p:nvCxnSpPr>
              <p:spPr>
                <a:xfrm>
                  <a:off x="914400" y="6129770"/>
                  <a:ext cx="1025525" cy="1588"/>
                </a:xfrm>
                <a:prstGeom prst="line">
                  <a:avLst/>
                </a:prstGeom>
                <a:ln w="38100">
                  <a:solidFill>
                    <a:srgbClr val="6633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1" name="Straight Connector 80"/>
              <p:cNvCxnSpPr/>
              <p:nvPr/>
            </p:nvCxnSpPr>
            <p:spPr>
              <a:xfrm flipV="1">
                <a:off x="944563" y="6399213"/>
                <a:ext cx="812800" cy="1587"/>
              </a:xfrm>
              <a:prstGeom prst="line">
                <a:avLst/>
              </a:prstGeom>
              <a:ln w="38100">
                <a:solidFill>
                  <a:srgbClr val="99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251" name="Group 87"/>
              <p:cNvGrpSpPr>
                <a:grpSpLocks/>
              </p:cNvGrpSpPr>
              <p:nvPr/>
            </p:nvGrpSpPr>
            <p:grpSpPr bwMode="auto">
              <a:xfrm flipV="1">
                <a:off x="2175020" y="6096000"/>
                <a:ext cx="1025380" cy="290946"/>
                <a:chOff x="2175020" y="6019800"/>
                <a:chExt cx="1025380" cy="290946"/>
              </a:xfrm>
            </p:grpSpPr>
            <p:grpSp>
              <p:nvGrpSpPr>
                <p:cNvPr id="9252" name="Group 82"/>
                <p:cNvGrpSpPr>
                  <a:grpSpLocks/>
                </p:cNvGrpSpPr>
                <p:nvPr/>
              </p:nvGrpSpPr>
              <p:grpSpPr bwMode="auto">
                <a:xfrm>
                  <a:off x="2175020" y="6019800"/>
                  <a:ext cx="1025380" cy="194975"/>
                  <a:chOff x="914400" y="6033654"/>
                  <a:chExt cx="1025380" cy="194975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V="1">
                    <a:off x="1090468" y="6227762"/>
                    <a:ext cx="636587" cy="1588"/>
                  </a:xfrm>
                  <a:prstGeom prst="line">
                    <a:avLst/>
                  </a:prstGeom>
                  <a:ln w="38100">
                    <a:solidFill>
                      <a:srgbClr val="CC6600"/>
                    </a:solidFill>
                  </a:ln>
                  <a:effec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1161905" y="6034087"/>
                    <a:ext cx="495300" cy="1588"/>
                  </a:xfrm>
                  <a:prstGeom prst="line">
                    <a:avLst/>
                  </a:prstGeom>
                  <a:ln w="38100">
                    <a:solidFill>
                      <a:srgbClr val="CC9900"/>
                    </a:solidFill>
                  </a:ln>
                  <a:effec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/>
                  <p:cNvCxnSpPr/>
                  <p:nvPr/>
                </p:nvCxnSpPr>
                <p:spPr>
                  <a:xfrm>
                    <a:off x="914255" y="6130925"/>
                    <a:ext cx="1025525" cy="1587"/>
                  </a:xfrm>
                  <a:prstGeom prst="line">
                    <a:avLst/>
                  </a:prstGeom>
                  <a:ln w="38100">
                    <a:solidFill>
                      <a:srgbClr val="663300"/>
                    </a:solidFill>
                  </a:ln>
                  <a:effec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7" name="Straight Connector 86"/>
                <p:cNvCxnSpPr/>
                <p:nvPr/>
              </p:nvCxnSpPr>
              <p:spPr>
                <a:xfrm flipV="1">
                  <a:off x="2281238" y="6309158"/>
                  <a:ext cx="812800" cy="1588"/>
                </a:xfrm>
                <a:prstGeom prst="line">
                  <a:avLst/>
                </a:prstGeom>
                <a:ln w="38100">
                  <a:solidFill>
                    <a:srgbClr val="9966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0" name="Straight Arrow Connector 129"/>
            <p:cNvCxnSpPr/>
            <p:nvPr/>
          </p:nvCxnSpPr>
          <p:spPr>
            <a:xfrm rot="10800000" flipV="1">
              <a:off x="1295400" y="5638800"/>
              <a:ext cx="5334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/>
            <p:nvPr/>
          </p:nvCxnSpPr>
          <p:spPr>
            <a:xfrm rot="10800000" flipH="1" flipV="1">
              <a:off x="2209800" y="5638800"/>
              <a:ext cx="5334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5"/>
          <p:cNvGrpSpPr>
            <a:grpSpLocks/>
          </p:cNvGrpSpPr>
          <p:nvPr/>
        </p:nvGrpSpPr>
        <p:grpSpPr bwMode="auto">
          <a:xfrm>
            <a:off x="7391400" y="5410200"/>
            <a:ext cx="2438400" cy="762000"/>
            <a:chOff x="6096000" y="5638800"/>
            <a:chExt cx="2438400" cy="762000"/>
          </a:xfrm>
        </p:grpSpPr>
        <p:grpSp>
          <p:nvGrpSpPr>
            <p:cNvPr id="9234" name="Group 98"/>
            <p:cNvGrpSpPr>
              <a:grpSpLocks/>
            </p:cNvGrpSpPr>
            <p:nvPr/>
          </p:nvGrpSpPr>
          <p:grpSpPr bwMode="auto">
            <a:xfrm>
              <a:off x="6096000" y="6096000"/>
              <a:ext cx="2438400" cy="304800"/>
              <a:chOff x="6096000" y="6096000"/>
              <a:chExt cx="2438400" cy="304800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7508875" y="6399213"/>
                <a:ext cx="1025525" cy="1587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7756525" y="6110288"/>
                <a:ext cx="495300" cy="0"/>
              </a:xfrm>
              <a:prstGeom prst="line">
                <a:avLst/>
              </a:prstGeom>
              <a:ln w="38100">
                <a:solidFill>
                  <a:srgbClr val="CC99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7685088" y="6207125"/>
                <a:ext cx="636587" cy="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7615238" y="6302375"/>
                <a:ext cx="812800" cy="1588"/>
              </a:xfrm>
              <a:prstGeom prst="line">
                <a:avLst/>
              </a:prstGeom>
              <a:ln w="38100">
                <a:solidFill>
                  <a:srgbClr val="99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6096000" y="6386513"/>
                <a:ext cx="1025525" cy="0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6343650" y="6289675"/>
                <a:ext cx="495300" cy="0"/>
              </a:xfrm>
              <a:prstGeom prst="line">
                <a:avLst/>
              </a:prstGeom>
              <a:ln w="38100">
                <a:solidFill>
                  <a:srgbClr val="CC99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243" name="Group 94"/>
              <p:cNvGrpSpPr>
                <a:grpSpLocks/>
              </p:cNvGrpSpPr>
              <p:nvPr/>
            </p:nvGrpSpPr>
            <p:grpSpPr bwMode="auto">
              <a:xfrm flipV="1">
                <a:off x="6202074" y="6096000"/>
                <a:ext cx="813233" cy="96982"/>
                <a:chOff x="6278274" y="6096000"/>
                <a:chExt cx="813233" cy="96982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6350000" y="6191394"/>
                  <a:ext cx="635000" cy="1588"/>
                </a:xfrm>
                <a:prstGeom prst="line">
                  <a:avLst/>
                </a:prstGeom>
                <a:ln w="38100">
                  <a:solidFill>
                    <a:srgbClr val="CC66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6278563" y="6096144"/>
                  <a:ext cx="812800" cy="1588"/>
                </a:xfrm>
                <a:prstGeom prst="line">
                  <a:avLst/>
                </a:prstGeom>
                <a:ln w="38100">
                  <a:solidFill>
                    <a:srgbClr val="9966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4" name="Straight Arrow Connector 133"/>
            <p:cNvCxnSpPr/>
            <p:nvPr/>
          </p:nvCxnSpPr>
          <p:spPr>
            <a:xfrm rot="10800000" flipV="1">
              <a:off x="6629400" y="5638800"/>
              <a:ext cx="5334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 rot="10800000" flipH="1" flipV="1">
              <a:off x="7543800" y="5638800"/>
              <a:ext cx="5334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" name="Rounded Rectangular Callout 70"/>
          <p:cNvSpPr/>
          <p:nvPr/>
        </p:nvSpPr>
        <p:spPr bwMode="auto">
          <a:xfrm>
            <a:off x="7772400" y="3810000"/>
            <a:ext cx="2286000" cy="990600"/>
          </a:xfrm>
          <a:prstGeom prst="wedgeRoundRectCallout">
            <a:avLst>
              <a:gd name="adj1" fmla="val 23278"/>
              <a:gd name="adj2" fmla="val 1428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dirty="0" err="1">
                <a:latin typeface="Calibri"/>
                <a:cs typeface="Calibri"/>
              </a:rPr>
              <a:t>Giải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pháp</a:t>
            </a:r>
            <a:r>
              <a:rPr lang="en-US" dirty="0">
                <a:latin typeface="Calibri"/>
                <a:cs typeface="Calibri"/>
              </a:rPr>
              <a:t>:</a:t>
            </a:r>
          </a:p>
          <a:p>
            <a:pPr algn="ctr">
              <a:defRPr/>
            </a:pPr>
            <a:r>
              <a:rPr lang="en-US" dirty="0" err="1">
                <a:latin typeface="Calibri"/>
                <a:cs typeface="Calibri"/>
              </a:rPr>
              <a:t>Lật</a:t>
            </a:r>
            <a:r>
              <a:rPr lang="en-US" dirty="0">
                <a:latin typeface="Calibri"/>
                <a:cs typeface="Calibri"/>
              </a:rPr>
              <a:t> 4 </a:t>
            </a:r>
            <a:r>
              <a:rPr lang="en-US" dirty="0" err="1">
                <a:latin typeface="Calibri"/>
                <a:cs typeface="Calibri"/>
              </a:rPr>
              <a:t>rồi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lật</a:t>
            </a:r>
            <a:r>
              <a:rPr lang="en-US" dirty="0">
                <a:latin typeface="Calibri"/>
                <a:cs typeface="Calibri"/>
              </a:rPr>
              <a:t> 3</a:t>
            </a:r>
          </a:p>
          <a:p>
            <a:pPr algn="ctr">
              <a:defRPr/>
            </a:pPr>
            <a:r>
              <a:rPr lang="en-US" dirty="0" err="1">
                <a:latin typeface="Calibri"/>
                <a:cs typeface="Calibri"/>
              </a:rPr>
              <a:t>Tổng</a:t>
            </a:r>
            <a:r>
              <a:rPr lang="en-US" dirty="0">
                <a:latin typeface="Calibri"/>
                <a:cs typeface="Calibri"/>
              </a:rPr>
              <a:t> chi </a:t>
            </a:r>
            <a:r>
              <a:rPr lang="en-US" dirty="0" err="1">
                <a:latin typeface="Calibri"/>
                <a:cs typeface="Calibri"/>
              </a:rPr>
              <a:t>phí</a:t>
            </a:r>
            <a:r>
              <a:rPr lang="en-US" dirty="0">
                <a:latin typeface="Calibri"/>
                <a:cs typeface="Calibri"/>
              </a:rPr>
              <a:t>: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16" grpId="0" animBg="1"/>
      <p:bldP spid="116" grpId="1" animBg="1"/>
      <p:bldP spid="7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Chỉ cần một cách cài đặt</a:t>
            </a:r>
            <a:endParaRPr lang="vi-VN" noProof="0" dirty="0"/>
          </a:p>
        </p:txBody>
      </p:sp>
      <p:sp>
        <p:nvSpPr>
          <p:cNvPr id="29711" name="Rectangle 15"/>
          <p:cNvSpPr>
            <a:spLocks noGrp="1" noChangeArrowheads="1"/>
          </p:cNvSpPr>
          <p:nvPr>
            <p:ph idx="1"/>
          </p:nvPr>
        </p:nvSpPr>
        <p:spPr>
          <a:xfrm>
            <a:off x="381000" y="1443036"/>
            <a:ext cx="5842000" cy="4729164"/>
          </a:xfrm>
        </p:spPr>
        <p:txBody>
          <a:bodyPr/>
          <a:lstStyle/>
          <a:p>
            <a:pPr eaLnBrk="1" hangingPunct="1"/>
            <a:r>
              <a:rPr lang="vi-VN" sz="2800" dirty="0"/>
              <a:t>Tất cả các thuật toán DFS, BFS, UCS chỉ khác nhau ở cách cài đặt biên</a:t>
            </a:r>
          </a:p>
          <a:p>
            <a:pPr lvl="1"/>
            <a:r>
              <a:rPr lang="vi-VN" sz="2400" dirty="0"/>
              <a:t>Có thể coi biên đều là hàng đợi ưu tiên</a:t>
            </a:r>
          </a:p>
          <a:p>
            <a:pPr lvl="1"/>
            <a:r>
              <a:rPr lang="vi-VN" sz="2400" dirty="0"/>
              <a:t>Riêng với DFS và BFS có thể tránh O(lg n) vì dùng Ngăn xếp và Hàng đợi</a:t>
            </a:r>
          </a:p>
          <a:p>
            <a:pPr lvl="1"/>
            <a:r>
              <a:rPr lang="vi-VN" sz="2400" dirty="0"/>
              <a:t>Có thể lập trình tổng quát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7900" y="1296458"/>
            <a:ext cx="5753099" cy="44746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-25400"/>
            <a:ext cx="9753599" cy="731519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Tìm kiếm mù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8"/>
          <p:cNvSpPr>
            <a:spLocks noChangeArrowheads="1"/>
          </p:cNvSpPr>
          <p:nvPr/>
        </p:nvSpPr>
        <p:spPr bwMode="auto">
          <a:xfrm>
            <a:off x="8353425" y="4494213"/>
            <a:ext cx="1912937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43" name="Freeform 21"/>
          <p:cNvSpPr>
            <a:spLocks/>
          </p:cNvSpPr>
          <p:nvPr/>
        </p:nvSpPr>
        <p:spPr bwMode="auto">
          <a:xfrm>
            <a:off x="8745536" y="1412875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Tìm kiếm chi phí đều (UCS)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7162799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UCS khám phá cây tìm kiếm theo đường đồng mức của chi phí</a:t>
            </a:r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vi-VN" sz="2800" dirty="0"/>
              <a:t>Điểm tốt: UCS đầy đủ và tối ưu !</a:t>
            </a:r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lvl="1">
              <a:lnSpc>
                <a:spcPct val="80000"/>
              </a:lnSpc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vi-VN" sz="2800" dirty="0"/>
              <a:t>Điểm xấu: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Khám phá các kế hoạch theo mọi hướng có thể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Không sử dụng thông tin về mục tiêu</a:t>
            </a:r>
            <a:endParaRPr lang="vi-VN" sz="2800" noProof="0" dirty="0"/>
          </a:p>
        </p:txBody>
      </p:sp>
      <p:sp>
        <p:nvSpPr>
          <p:cNvPr id="10246" name="Oval 4"/>
          <p:cNvSpPr>
            <a:spLocks noChangeArrowheads="1"/>
          </p:cNvSpPr>
          <p:nvPr/>
        </p:nvSpPr>
        <p:spPr bwMode="auto">
          <a:xfrm>
            <a:off x="9256712" y="527050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8994774" y="5386389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Start</a:t>
            </a:r>
          </a:p>
        </p:txBody>
      </p:sp>
      <p:sp>
        <p:nvSpPr>
          <p:cNvPr id="10248" name="Oval 6"/>
          <p:cNvSpPr>
            <a:spLocks noChangeArrowheads="1"/>
          </p:cNvSpPr>
          <p:nvPr/>
        </p:nvSpPr>
        <p:spPr bwMode="auto">
          <a:xfrm>
            <a:off x="10183812" y="5292726"/>
            <a:ext cx="163513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49" name="Text Box 7"/>
          <p:cNvSpPr txBox="1">
            <a:spLocks noChangeArrowheads="1"/>
          </p:cNvSpPr>
          <p:nvPr/>
        </p:nvSpPr>
        <p:spPr bwMode="auto">
          <a:xfrm>
            <a:off x="10244136" y="5410201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Goal</a:t>
            </a:r>
          </a:p>
        </p:txBody>
      </p:sp>
      <p:sp>
        <p:nvSpPr>
          <p:cNvPr id="10250" name="Freeform 9"/>
          <p:cNvSpPr>
            <a:spLocks/>
          </p:cNvSpPr>
          <p:nvPr/>
        </p:nvSpPr>
        <p:spPr bwMode="auto">
          <a:xfrm>
            <a:off x="8251825" y="1560514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51" name="Oval 10"/>
          <p:cNvSpPr>
            <a:spLocks noChangeArrowheads="1"/>
          </p:cNvSpPr>
          <p:nvPr/>
        </p:nvSpPr>
        <p:spPr bwMode="auto">
          <a:xfrm>
            <a:off x="9374186" y="1916113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2" name="Oval 11"/>
          <p:cNvSpPr>
            <a:spLocks noChangeArrowheads="1"/>
          </p:cNvSpPr>
          <p:nvPr/>
        </p:nvSpPr>
        <p:spPr bwMode="auto">
          <a:xfrm>
            <a:off x="9850437" y="190658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3" name="Text Box 12"/>
          <p:cNvSpPr txBox="1">
            <a:spLocks noChangeArrowheads="1"/>
          </p:cNvSpPr>
          <p:nvPr/>
        </p:nvSpPr>
        <p:spPr bwMode="auto">
          <a:xfrm>
            <a:off x="9504361" y="1766889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10254" name="Oval 16"/>
          <p:cNvSpPr>
            <a:spLocks noChangeArrowheads="1"/>
          </p:cNvSpPr>
          <p:nvPr/>
        </p:nvSpPr>
        <p:spPr bwMode="auto">
          <a:xfrm>
            <a:off x="10098086" y="2955926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5" name="Oval 17"/>
          <p:cNvSpPr>
            <a:spLocks noChangeArrowheads="1"/>
          </p:cNvSpPr>
          <p:nvPr/>
        </p:nvSpPr>
        <p:spPr bwMode="auto">
          <a:xfrm>
            <a:off x="9618662" y="3511550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6" name="Freeform 19"/>
          <p:cNvSpPr>
            <a:spLocks/>
          </p:cNvSpPr>
          <p:nvPr/>
        </p:nvSpPr>
        <p:spPr bwMode="auto">
          <a:xfrm>
            <a:off x="9572624" y="2301877"/>
            <a:ext cx="179387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57" name="Freeform 20"/>
          <p:cNvSpPr>
            <a:spLocks/>
          </p:cNvSpPr>
          <p:nvPr/>
        </p:nvSpPr>
        <p:spPr bwMode="auto">
          <a:xfrm>
            <a:off x="9990136" y="2498725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58" name="Oval 22"/>
          <p:cNvSpPr>
            <a:spLocks noChangeArrowheads="1"/>
          </p:cNvSpPr>
          <p:nvPr/>
        </p:nvSpPr>
        <p:spPr bwMode="auto">
          <a:xfrm>
            <a:off x="9605962" y="1490664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59" name="Freeform 23"/>
          <p:cNvSpPr>
            <a:spLocks/>
          </p:cNvSpPr>
          <p:nvPr/>
        </p:nvSpPr>
        <p:spPr bwMode="auto">
          <a:xfrm>
            <a:off x="9034462" y="2395539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60" name="Freeform 24"/>
          <p:cNvSpPr>
            <a:spLocks/>
          </p:cNvSpPr>
          <p:nvPr/>
        </p:nvSpPr>
        <p:spPr bwMode="auto">
          <a:xfrm>
            <a:off x="9290050" y="2127251"/>
            <a:ext cx="747712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0261" name="Oval 25"/>
          <p:cNvSpPr>
            <a:spLocks noChangeArrowheads="1"/>
          </p:cNvSpPr>
          <p:nvPr/>
        </p:nvSpPr>
        <p:spPr bwMode="auto">
          <a:xfrm>
            <a:off x="8888412" y="4929189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0262" name="Text Box 26"/>
          <p:cNvSpPr txBox="1">
            <a:spLocks noChangeArrowheads="1"/>
          </p:cNvSpPr>
          <p:nvPr/>
        </p:nvSpPr>
        <p:spPr bwMode="auto">
          <a:xfrm>
            <a:off x="10528300" y="2495551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3</a:t>
            </a:r>
          </a:p>
        </p:txBody>
      </p:sp>
      <p:sp>
        <p:nvSpPr>
          <p:cNvPr id="10263" name="Text Box 27"/>
          <p:cNvSpPr txBox="1">
            <a:spLocks noChangeArrowheads="1"/>
          </p:cNvSpPr>
          <p:nvPr/>
        </p:nvSpPr>
        <p:spPr bwMode="auto">
          <a:xfrm>
            <a:off x="10401300" y="2100263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2</a:t>
            </a:r>
          </a:p>
        </p:txBody>
      </p:sp>
      <p:sp>
        <p:nvSpPr>
          <p:cNvPr id="10264" name="Text Box 28"/>
          <p:cNvSpPr txBox="1">
            <a:spLocks noChangeArrowheads="1"/>
          </p:cNvSpPr>
          <p:nvPr/>
        </p:nvSpPr>
        <p:spPr bwMode="auto">
          <a:xfrm>
            <a:off x="10201274" y="1722439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 </a:t>
            </a:r>
            <a:r>
              <a:rPr lang="en-US">
                <a:sym typeface="Symbol" pitchFamily="18" charset="2"/>
              </a:rPr>
              <a:t> 1</a:t>
            </a:r>
          </a:p>
        </p:txBody>
      </p:sp>
      <p:sp>
        <p:nvSpPr>
          <p:cNvPr id="10265" name="TextBox 18"/>
          <p:cNvSpPr txBox="1">
            <a:spLocks noChangeArrowheads="1"/>
          </p:cNvSpPr>
          <p:nvPr/>
        </p:nvSpPr>
        <p:spPr bwMode="auto">
          <a:xfrm>
            <a:off x="7315200" y="6248400"/>
            <a:ext cx="4841875" cy="646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[Demo: contours UCS empty (L3D1)]</a:t>
            </a:r>
          </a:p>
          <a:p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[Demo: contours UCS </a:t>
            </a:r>
            <a:r>
              <a:rPr lang="en-US" dirty="0" err="1">
                <a:solidFill>
                  <a:srgbClr val="C00000"/>
                </a:solidFill>
                <a:latin typeface="Calibri"/>
                <a:cs typeface="Calibri"/>
              </a:rPr>
              <a:t>pacman</a:t>
            </a:r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 small maze (L3D3)]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đường đồng mức UCS trong Empty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05920" y="1128214"/>
            <a:ext cx="6380161" cy="534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7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vi-VN" sz="3600" noProof="0" dirty="0"/>
              <a:t>Ví dụ: đường đồng mức UCS trong</a:t>
            </a:r>
            <a:br>
              <a:rPr lang="vi-VN" sz="3600" noProof="0" dirty="0"/>
            </a:br>
            <a:r>
              <a:rPr lang="vi-VN" sz="3600" noProof="0" dirty="0"/>
              <a:t>Pacman Small Maze</a:t>
            </a:r>
          </a:p>
        </p:txBody>
      </p:sp>
      <p:pic>
        <p:nvPicPr>
          <p:cNvPr id="2" name="ContoursPacmanSmallMaze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5182" y="1117600"/>
            <a:ext cx="1012163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0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Tìm kiếm dựa trên kinh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54691" y="1603435"/>
            <a:ext cx="6463617" cy="42624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858412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Hàm kinh nghiệm</a:t>
            </a:r>
          </a:p>
        </p:txBody>
      </p:sp>
      <p:pic>
        <p:nvPicPr>
          <p:cNvPr id="32771" name="Picture 2" descr="Z:\Shared with PC\smallMaz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498849"/>
            <a:ext cx="6623051" cy="2978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457200" y="1219200"/>
            <a:ext cx="6858000" cy="1708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/>
          <a:lstStyle/>
          <a:p>
            <a:pPr marL="342866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vi-VN" sz="2800" kern="0">
                <a:solidFill>
                  <a:schemeClr val="accent2"/>
                </a:solidFill>
                <a:latin typeface="Calibri" pitchFamily="34" charset="0"/>
                <a:cs typeface="+mn-cs"/>
              </a:rPr>
              <a:t>Hàm kinh nghiệm: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vi-VN" sz="2000" kern="0">
                <a:latin typeface="Calibri" pitchFamily="34" charset="0"/>
                <a:cs typeface="+mn-cs"/>
              </a:rPr>
              <a:t>Là hàm </a:t>
            </a:r>
            <a:r>
              <a:rPr lang="vi-VN" sz="2000" i="1" kern="0">
                <a:latin typeface="Calibri" pitchFamily="34" charset="0"/>
                <a:cs typeface="+mn-cs"/>
              </a:rPr>
              <a:t>ước lượng</a:t>
            </a:r>
            <a:r>
              <a:rPr lang="vi-VN" sz="2000" kern="0">
                <a:latin typeface="Calibri" pitchFamily="34" charset="0"/>
                <a:cs typeface="+mn-cs"/>
              </a:rPr>
              <a:t> một trạng thái gần mục tiêu thế nào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vi-VN" sz="2000" kern="0">
                <a:latin typeface="Calibri" pitchFamily="34" charset="0"/>
                <a:cs typeface="+mn-cs"/>
              </a:rPr>
              <a:t>Được thiết kế cho từng bài toán tìm kiếm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vi-VN" sz="2000" kern="0">
                <a:latin typeface="Calibri" pitchFamily="34" charset="0"/>
                <a:cs typeface="+mn-cs"/>
              </a:rPr>
              <a:t>Ví dụ: Khoảng cách Manhattan, khoảng cách Euclid cho bài toán tìm kiếm đường đi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903293" y="4078286"/>
            <a:ext cx="3025775" cy="1924051"/>
            <a:chOff x="1573306" y="4155142"/>
            <a:chExt cx="3025588" cy="1922929"/>
          </a:xfrm>
        </p:grpSpPr>
        <p:sp>
          <p:nvSpPr>
            <p:cNvPr id="13" name="Freeform 12"/>
            <p:cNvSpPr/>
            <p:nvPr/>
          </p:nvSpPr>
          <p:spPr>
            <a:xfrm>
              <a:off x="1573306" y="4578757"/>
              <a:ext cx="3025588" cy="1499314"/>
            </a:xfrm>
            <a:custGeom>
              <a:avLst/>
              <a:gdLst>
                <a:gd name="connsiteX0" fmla="*/ 3065929 w 3065929"/>
                <a:gd name="connsiteY0" fmla="*/ 13447 h 1479177"/>
                <a:gd name="connsiteX1" fmla="*/ 0 w 3065929"/>
                <a:gd name="connsiteY1" fmla="*/ 0 h 1479177"/>
                <a:gd name="connsiteX2" fmla="*/ 26894 w 3065929"/>
                <a:gd name="connsiteY2" fmla="*/ 1479177 h 1479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5929" h="1479177">
                  <a:moveTo>
                    <a:pt x="3065929" y="13447"/>
                  </a:moveTo>
                  <a:lnTo>
                    <a:pt x="0" y="0"/>
                  </a:lnTo>
                  <a:lnTo>
                    <a:pt x="26894" y="1479177"/>
                  </a:lnTo>
                </a:path>
              </a:pathLst>
            </a:cu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vi-VN"/>
            </a:p>
          </p:txBody>
        </p:sp>
        <p:sp>
          <p:nvSpPr>
            <p:cNvPr id="32778" name="TextBox 15"/>
            <p:cNvSpPr txBox="1">
              <a:spLocks noChangeArrowheads="1"/>
            </p:cNvSpPr>
            <p:nvPr/>
          </p:nvSpPr>
          <p:spPr bwMode="auto">
            <a:xfrm>
              <a:off x="2164976" y="4155142"/>
              <a:ext cx="441119" cy="369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vi-VN" b="1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32779" name="TextBox 16"/>
            <p:cNvSpPr txBox="1">
              <a:spLocks noChangeArrowheads="1"/>
            </p:cNvSpPr>
            <p:nvPr/>
          </p:nvSpPr>
          <p:spPr bwMode="auto">
            <a:xfrm>
              <a:off x="1591236" y="4953001"/>
              <a:ext cx="312887" cy="369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vi-VN" b="1">
                  <a:solidFill>
                    <a:srgbClr val="C00000"/>
                  </a:solidFill>
                </a:rPr>
                <a:t>5</a:t>
              </a: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984257" y="4495801"/>
            <a:ext cx="2978143" cy="1506537"/>
            <a:chOff x="1653989" y="4572529"/>
            <a:chExt cx="2978334" cy="1505542"/>
          </a:xfrm>
        </p:grpSpPr>
        <p:cxnSp>
          <p:nvCxnSpPr>
            <p:cNvPr id="15" name="Straight Arrow Connector 14"/>
            <p:cNvCxnSpPr/>
            <p:nvPr/>
          </p:nvCxnSpPr>
          <p:spPr>
            <a:xfrm flipH="1">
              <a:off x="1653989" y="4572529"/>
              <a:ext cx="2978334" cy="150554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776" name="TextBox 17"/>
            <p:cNvSpPr txBox="1">
              <a:spLocks noChangeArrowheads="1"/>
            </p:cNvSpPr>
            <p:nvPr/>
          </p:nvSpPr>
          <p:spPr bwMode="auto">
            <a:xfrm>
              <a:off x="3016625" y="5356413"/>
              <a:ext cx="620787" cy="369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vi-VN" b="1">
                  <a:solidFill>
                    <a:srgbClr val="C00000"/>
                  </a:solidFill>
                </a:rPr>
                <a:t>11.2</a:t>
              </a:r>
            </a:p>
          </p:txBody>
        </p:sp>
      </p:grp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9223" y="1524000"/>
            <a:ext cx="3407831" cy="2300286"/>
          </a:xfrm>
          <a:prstGeom prst="rect">
            <a:avLst/>
          </a:prstGeom>
          <a:noFill/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0" y="4116375"/>
            <a:ext cx="3476133" cy="2374241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pPr eaLnBrk="1" hangingPunct="1"/>
            <a:r>
              <a:rPr lang="vi-VN" noProof="0" dirty="0"/>
              <a:t>Ví dụ: Hàm kinh nghiệm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4689" y="1640445"/>
            <a:ext cx="8329612" cy="409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8991600" y="5943600"/>
            <a:ext cx="1143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C00000"/>
                </a:solidFill>
              </a:rPr>
              <a:t>h(x)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1905000" cy="4267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Ví dụ: Hàm kinh nghiệm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371851" y="2563812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300413" y="2660650"/>
            <a:ext cx="636587" cy="0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3124200" y="2465388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230563" y="2755900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316289" y="3789363"/>
            <a:ext cx="636587" cy="1587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387726" y="3595687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140076" y="3692524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246439" y="3884612"/>
            <a:ext cx="812800" cy="1587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262564" y="2333625"/>
            <a:ext cx="1025525" cy="1588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510214" y="2236787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38775" y="2139950"/>
            <a:ext cx="636588" cy="0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368925" y="2043112"/>
            <a:ext cx="812800" cy="1587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79" name="Group 81"/>
          <p:cNvGrpSpPr>
            <a:grpSpLocks/>
          </p:cNvGrpSpPr>
          <p:nvPr/>
        </p:nvGrpSpPr>
        <p:grpSpPr bwMode="auto">
          <a:xfrm flipV="1">
            <a:off x="2438400" y="4751388"/>
            <a:ext cx="1025525" cy="195263"/>
            <a:chOff x="914400" y="6033654"/>
            <a:chExt cx="1025380" cy="194975"/>
          </a:xfrm>
        </p:grpSpPr>
        <p:cxnSp>
          <p:nvCxnSpPr>
            <p:cNvPr id="45" name="Straight Connector 44"/>
            <p:cNvCxnSpPr/>
            <p:nvPr/>
          </p:nvCxnSpPr>
          <p:spPr>
            <a:xfrm flipV="1">
              <a:off x="1090588" y="6227044"/>
              <a:ext cx="636497" cy="1585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1162015" y="6033654"/>
              <a:ext cx="495230" cy="1585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914400" y="6130349"/>
              <a:ext cx="1025380" cy="1586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 flipV="1">
            <a:off x="2544763" y="5041900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81" name="Group 87"/>
          <p:cNvGrpSpPr>
            <a:grpSpLocks/>
          </p:cNvGrpSpPr>
          <p:nvPr/>
        </p:nvGrpSpPr>
        <p:grpSpPr bwMode="auto">
          <a:xfrm flipV="1">
            <a:off x="4419600" y="4419600"/>
            <a:ext cx="1025525" cy="290513"/>
            <a:chOff x="2175020" y="6019800"/>
            <a:chExt cx="1025380" cy="290946"/>
          </a:xfrm>
        </p:grpSpPr>
        <p:grpSp>
          <p:nvGrpSpPr>
            <p:cNvPr id="11354" name="Group 82"/>
            <p:cNvGrpSpPr>
              <a:grpSpLocks/>
            </p:cNvGrpSpPr>
            <p:nvPr/>
          </p:nvGrpSpPr>
          <p:grpSpPr bwMode="auto">
            <a:xfrm>
              <a:off x="2175020" y="6019800"/>
              <a:ext cx="1025380" cy="194975"/>
              <a:chOff x="914400" y="6033654"/>
              <a:chExt cx="1025380" cy="194975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flipV="1">
                <a:off x="1090588" y="6227617"/>
                <a:ext cx="636497" cy="159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1162015" y="6033654"/>
                <a:ext cx="495230" cy="1590"/>
              </a:xfrm>
              <a:prstGeom prst="line">
                <a:avLst/>
              </a:prstGeom>
              <a:ln w="38100">
                <a:solidFill>
                  <a:srgbClr val="CC99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914400" y="6130636"/>
                <a:ext cx="1025380" cy="1589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/>
            <p:cNvCxnSpPr/>
            <p:nvPr/>
          </p:nvCxnSpPr>
          <p:spPr>
            <a:xfrm flipV="1">
              <a:off x="2281368" y="6309156"/>
              <a:ext cx="81268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/>
          <p:cNvCxnSpPr/>
          <p:nvPr/>
        </p:nvCxnSpPr>
        <p:spPr>
          <a:xfrm>
            <a:off x="9220200" y="4252912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9467851" y="3962400"/>
            <a:ext cx="495300" cy="1588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9396413" y="4059238"/>
            <a:ext cx="636587" cy="1587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9326563" y="4156074"/>
            <a:ext cx="812800" cy="0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216526" y="3656012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464175" y="3559174"/>
            <a:ext cx="495300" cy="1588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88" name="Group 94"/>
          <p:cNvGrpSpPr>
            <a:grpSpLocks/>
          </p:cNvGrpSpPr>
          <p:nvPr/>
        </p:nvGrpSpPr>
        <p:grpSpPr bwMode="auto">
          <a:xfrm flipV="1">
            <a:off x="5322888" y="3367087"/>
            <a:ext cx="812800" cy="96837"/>
            <a:chOff x="6278274" y="6096000"/>
            <a:chExt cx="813233" cy="96982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6349749" y="6191393"/>
              <a:ext cx="635338" cy="1589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278274" y="6096000"/>
              <a:ext cx="813233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3" name="Straight Arrow Connector 62"/>
          <p:cNvCxnSpPr/>
          <p:nvPr/>
        </p:nvCxnSpPr>
        <p:spPr>
          <a:xfrm rot="10800000" flipV="1">
            <a:off x="4302125" y="2362199"/>
            <a:ext cx="574675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5400000" flipH="1" flipV="1">
            <a:off x="3390900" y="3189287"/>
            <a:ext cx="5334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3048000" y="4065587"/>
            <a:ext cx="609600" cy="457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rot="10800000">
            <a:off x="4073525" y="4114799"/>
            <a:ext cx="304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5692775" y="5561012"/>
            <a:ext cx="495300" cy="1587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94" name="Group 80"/>
          <p:cNvGrpSpPr>
            <a:grpSpLocks/>
          </p:cNvGrpSpPr>
          <p:nvPr/>
        </p:nvGrpSpPr>
        <p:grpSpPr bwMode="auto">
          <a:xfrm flipV="1">
            <a:off x="5445126" y="5272088"/>
            <a:ext cx="1025525" cy="193675"/>
            <a:chOff x="3200400" y="5791200"/>
            <a:chExt cx="1025380" cy="193964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3376588" y="5886592"/>
              <a:ext cx="636497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3200400" y="5983575"/>
              <a:ext cx="1025380" cy="1589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306748" y="5791200"/>
              <a:ext cx="81268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/>
          <p:cNvCxnSpPr/>
          <p:nvPr/>
        </p:nvCxnSpPr>
        <p:spPr>
          <a:xfrm flipV="1">
            <a:off x="2609851" y="5861050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96" name="Group 86"/>
          <p:cNvGrpSpPr>
            <a:grpSpLocks/>
          </p:cNvGrpSpPr>
          <p:nvPr/>
        </p:nvGrpSpPr>
        <p:grpSpPr bwMode="auto">
          <a:xfrm flipV="1">
            <a:off x="2362200" y="5665788"/>
            <a:ext cx="1025525" cy="98425"/>
            <a:chOff x="1752600" y="5562600"/>
            <a:chExt cx="1025380" cy="97993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1928788" y="5562600"/>
              <a:ext cx="636497" cy="1581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1752600" y="5659013"/>
              <a:ext cx="1025380" cy="1580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Straight Connector 85"/>
          <p:cNvCxnSpPr/>
          <p:nvPr/>
        </p:nvCxnSpPr>
        <p:spPr>
          <a:xfrm flipV="1">
            <a:off x="2468563" y="5956300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98" name="Group 92"/>
          <p:cNvGrpSpPr>
            <a:grpSpLocks/>
          </p:cNvGrpSpPr>
          <p:nvPr/>
        </p:nvGrpSpPr>
        <p:grpSpPr bwMode="auto">
          <a:xfrm flipV="1">
            <a:off x="3851276" y="6034087"/>
            <a:ext cx="1025525" cy="290512"/>
            <a:chOff x="2479820" y="6019800"/>
            <a:chExt cx="1025380" cy="290946"/>
          </a:xfrm>
        </p:grpSpPr>
        <p:cxnSp>
          <p:nvCxnSpPr>
            <p:cNvPr id="88" name="Straight Connector 87"/>
            <p:cNvCxnSpPr/>
            <p:nvPr/>
          </p:nvCxnSpPr>
          <p:spPr>
            <a:xfrm flipV="1">
              <a:off x="2727435" y="6213764"/>
              <a:ext cx="495230" cy="1589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343" name="Group 88"/>
            <p:cNvGrpSpPr>
              <a:grpSpLocks/>
            </p:cNvGrpSpPr>
            <p:nvPr/>
          </p:nvGrpSpPr>
          <p:grpSpPr bwMode="auto">
            <a:xfrm flipV="1">
              <a:off x="2479820" y="6019800"/>
              <a:ext cx="1025380" cy="97993"/>
              <a:chOff x="1752600" y="5562600"/>
              <a:chExt cx="1025380" cy="97993"/>
            </a:xfrm>
          </p:grpSpPr>
          <p:cxnSp>
            <p:nvCxnSpPr>
              <p:cNvPr id="90" name="Straight Connector 89"/>
              <p:cNvCxnSpPr/>
              <p:nvPr/>
            </p:nvCxnSpPr>
            <p:spPr>
              <a:xfrm>
                <a:off x="1928788" y="5562021"/>
                <a:ext cx="636497" cy="159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V="1">
                <a:off x="1752600" y="5659004"/>
                <a:ext cx="1025380" cy="1589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2" name="Straight Connector 91"/>
            <p:cNvCxnSpPr/>
            <p:nvPr/>
          </p:nvCxnSpPr>
          <p:spPr>
            <a:xfrm flipV="1">
              <a:off x="2586168" y="6309157"/>
              <a:ext cx="812685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299" name="Group 98"/>
          <p:cNvGrpSpPr>
            <a:grpSpLocks/>
          </p:cNvGrpSpPr>
          <p:nvPr/>
        </p:nvGrpSpPr>
        <p:grpSpPr bwMode="auto">
          <a:xfrm flipV="1">
            <a:off x="7045326" y="3886200"/>
            <a:ext cx="1025525" cy="290513"/>
            <a:chOff x="4267200" y="5119254"/>
            <a:chExt cx="1025380" cy="290946"/>
          </a:xfrm>
        </p:grpSpPr>
        <p:cxnSp>
          <p:nvCxnSpPr>
            <p:cNvPr id="94" name="Straight Connector 93"/>
            <p:cNvCxnSpPr/>
            <p:nvPr/>
          </p:nvCxnSpPr>
          <p:spPr>
            <a:xfrm flipV="1">
              <a:off x="4514815" y="5408610"/>
              <a:ext cx="495230" cy="1590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338" name="Group 94"/>
            <p:cNvGrpSpPr>
              <a:grpSpLocks/>
            </p:cNvGrpSpPr>
            <p:nvPr/>
          </p:nvGrpSpPr>
          <p:grpSpPr bwMode="auto">
            <a:xfrm flipV="1">
              <a:off x="4267200" y="5119254"/>
              <a:ext cx="1025380" cy="193964"/>
              <a:chOff x="3200400" y="5791200"/>
              <a:chExt cx="1025380" cy="193964"/>
            </a:xfrm>
          </p:grpSpPr>
          <p:cxnSp>
            <p:nvCxnSpPr>
              <p:cNvPr id="96" name="Straight Connector 95"/>
              <p:cNvCxnSpPr/>
              <p:nvPr/>
            </p:nvCxnSpPr>
            <p:spPr>
              <a:xfrm>
                <a:off x="3376588" y="5886592"/>
                <a:ext cx="636497" cy="1589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flipV="1">
                <a:off x="3200400" y="5983574"/>
                <a:ext cx="1025380" cy="1590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3306748" y="5791200"/>
                <a:ext cx="812685" cy="1589"/>
              </a:xfrm>
              <a:prstGeom prst="line">
                <a:avLst/>
              </a:prstGeom>
              <a:ln w="38100">
                <a:solidFill>
                  <a:srgbClr val="99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6" name="Straight Connector 105"/>
          <p:cNvCxnSpPr/>
          <p:nvPr/>
        </p:nvCxnSpPr>
        <p:spPr>
          <a:xfrm flipV="1">
            <a:off x="8305800" y="6005512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301" name="Group 106"/>
          <p:cNvGrpSpPr>
            <a:grpSpLocks/>
          </p:cNvGrpSpPr>
          <p:nvPr/>
        </p:nvGrpSpPr>
        <p:grpSpPr bwMode="auto">
          <a:xfrm flipV="1">
            <a:off x="8412163" y="5715000"/>
            <a:ext cx="812800" cy="193675"/>
            <a:chOff x="4338494" y="6019800"/>
            <a:chExt cx="813233" cy="193964"/>
          </a:xfrm>
        </p:grpSpPr>
        <p:cxnSp>
          <p:nvCxnSpPr>
            <p:cNvPr id="102" name="Straight Connector 101"/>
            <p:cNvCxnSpPr/>
            <p:nvPr/>
          </p:nvCxnSpPr>
          <p:spPr>
            <a:xfrm>
              <a:off x="4479856" y="6115192"/>
              <a:ext cx="495564" cy="1589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4409969" y="6212174"/>
              <a:ext cx="635338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4338494" y="6019800"/>
              <a:ext cx="813233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Straight Arrow Connector 109"/>
          <p:cNvCxnSpPr/>
          <p:nvPr/>
        </p:nvCxnSpPr>
        <p:spPr>
          <a:xfrm rot="5400000" flipH="1" flipV="1">
            <a:off x="2777332" y="5334794"/>
            <a:ext cx="3048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10800000">
            <a:off x="3463925" y="5791199"/>
            <a:ext cx="3810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rot="10800000" flipV="1">
            <a:off x="4911725" y="5867399"/>
            <a:ext cx="2971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>
            <a:off x="5292725" y="4876799"/>
            <a:ext cx="304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rot="10800000" flipV="1">
            <a:off x="6054725" y="4343399"/>
            <a:ext cx="91440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>
            <a:off x="6400800" y="3428999"/>
            <a:ext cx="762000" cy="304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5400000">
            <a:off x="5482432" y="2858294"/>
            <a:ext cx="5334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7450138" y="5083174"/>
            <a:ext cx="636587" cy="1588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V="1">
            <a:off x="7273926" y="5180012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311" name="Group 131"/>
          <p:cNvGrpSpPr>
            <a:grpSpLocks/>
          </p:cNvGrpSpPr>
          <p:nvPr/>
        </p:nvGrpSpPr>
        <p:grpSpPr bwMode="auto">
          <a:xfrm flipV="1">
            <a:off x="7380288" y="4891087"/>
            <a:ext cx="812800" cy="96837"/>
            <a:chOff x="6472094" y="4738254"/>
            <a:chExt cx="813233" cy="97993"/>
          </a:xfrm>
        </p:grpSpPr>
        <p:cxnSp>
          <p:nvCxnSpPr>
            <p:cNvPr id="127" name="Straight Connector 126"/>
            <p:cNvCxnSpPr/>
            <p:nvPr/>
          </p:nvCxnSpPr>
          <p:spPr>
            <a:xfrm>
              <a:off x="6613456" y="4738254"/>
              <a:ext cx="495564" cy="1606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6472094" y="4834641"/>
              <a:ext cx="813233" cy="1606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4" name="Straight Arrow Connector 133"/>
          <p:cNvCxnSpPr/>
          <p:nvPr/>
        </p:nvCxnSpPr>
        <p:spPr>
          <a:xfrm rot="10800000">
            <a:off x="6511925" y="2514599"/>
            <a:ext cx="24384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H="1">
            <a:off x="7464425" y="4457699"/>
            <a:ext cx="4572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>
            <a:off x="7959725" y="5333999"/>
            <a:ext cx="6096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rot="5400000" flipH="1" flipV="1">
            <a:off x="8759825" y="4610099"/>
            <a:ext cx="106680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/>
          <p:cNvSpPr txBox="1">
            <a:spLocks noChangeArrowheads="1"/>
          </p:cNvSpPr>
          <p:nvPr/>
        </p:nvSpPr>
        <p:spPr bwMode="auto">
          <a:xfrm>
            <a:off x="0" y="1229382"/>
            <a:ext cx="12192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/>
            <a:r>
              <a:rPr lang="vi-VN" sz="2800" dirty="0">
                <a:latin typeface="Calibri" pitchFamily="34" charset="0"/>
              </a:rPr>
              <a:t>Kinh nghiệm = sai lệch vị trí của tầng bánh lớn nhất bị sai chỗ </a:t>
            </a:r>
          </a:p>
        </p:txBody>
      </p:sp>
      <p:grpSp>
        <p:nvGrpSpPr>
          <p:cNvPr id="26" name="Group 168"/>
          <p:cNvGrpSpPr>
            <a:grpSpLocks/>
          </p:cNvGrpSpPr>
          <p:nvPr/>
        </p:nvGrpSpPr>
        <p:grpSpPr bwMode="auto">
          <a:xfrm>
            <a:off x="2057400" y="1981200"/>
            <a:ext cx="7086600" cy="4408068"/>
            <a:chOff x="457200" y="2133600"/>
            <a:chExt cx="7086600" cy="4408744"/>
          </a:xfrm>
        </p:grpSpPr>
        <p:sp>
          <p:nvSpPr>
            <p:cNvPr id="11319" name="TextBox 150"/>
            <p:cNvSpPr txBox="1">
              <a:spLocks noChangeArrowheads="1"/>
            </p:cNvSpPr>
            <p:nvPr/>
          </p:nvSpPr>
          <p:spPr bwMode="auto">
            <a:xfrm>
              <a:off x="1143000" y="2590799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20" name="TextBox 154"/>
            <p:cNvSpPr txBox="1">
              <a:spLocks noChangeArrowheads="1"/>
            </p:cNvSpPr>
            <p:nvPr/>
          </p:nvSpPr>
          <p:spPr bwMode="auto">
            <a:xfrm>
              <a:off x="3352800" y="21336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1" name="TextBox 156"/>
            <p:cNvSpPr txBox="1">
              <a:spLocks noChangeArrowheads="1"/>
            </p:cNvSpPr>
            <p:nvPr/>
          </p:nvSpPr>
          <p:spPr bwMode="auto">
            <a:xfrm>
              <a:off x="7239000" y="40386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322" name="TextBox 157"/>
            <p:cNvSpPr txBox="1">
              <a:spLocks noChangeArrowheads="1"/>
            </p:cNvSpPr>
            <p:nvPr/>
          </p:nvSpPr>
          <p:spPr bwMode="auto">
            <a:xfrm>
              <a:off x="6400800" y="57912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1323" name="TextBox 158"/>
            <p:cNvSpPr txBox="1">
              <a:spLocks noChangeArrowheads="1"/>
            </p:cNvSpPr>
            <p:nvPr/>
          </p:nvSpPr>
          <p:spPr bwMode="auto">
            <a:xfrm>
              <a:off x="5334000" y="4953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4" name="TextBox 159"/>
            <p:cNvSpPr txBox="1">
              <a:spLocks noChangeArrowheads="1"/>
            </p:cNvSpPr>
            <p:nvPr/>
          </p:nvSpPr>
          <p:spPr bwMode="auto">
            <a:xfrm>
              <a:off x="5181600" y="39624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5" name="TextBox 161"/>
            <p:cNvSpPr txBox="1">
              <a:spLocks noChangeArrowheads="1"/>
            </p:cNvSpPr>
            <p:nvPr/>
          </p:nvSpPr>
          <p:spPr bwMode="auto">
            <a:xfrm>
              <a:off x="3276600" y="3429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6" name="TextBox 162"/>
            <p:cNvSpPr txBox="1">
              <a:spLocks noChangeArrowheads="1"/>
            </p:cNvSpPr>
            <p:nvPr/>
          </p:nvSpPr>
          <p:spPr bwMode="auto">
            <a:xfrm>
              <a:off x="2438400" y="44958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27" name="TextBox 163"/>
            <p:cNvSpPr txBox="1">
              <a:spLocks noChangeArrowheads="1"/>
            </p:cNvSpPr>
            <p:nvPr/>
          </p:nvSpPr>
          <p:spPr bwMode="auto">
            <a:xfrm>
              <a:off x="3505200" y="5334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28" name="TextBox 164"/>
            <p:cNvSpPr txBox="1">
              <a:spLocks noChangeArrowheads="1"/>
            </p:cNvSpPr>
            <p:nvPr/>
          </p:nvSpPr>
          <p:spPr bwMode="auto">
            <a:xfrm>
              <a:off x="1905000" y="6096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29" name="TextBox 165"/>
            <p:cNvSpPr txBox="1">
              <a:spLocks noChangeArrowheads="1"/>
            </p:cNvSpPr>
            <p:nvPr/>
          </p:nvSpPr>
          <p:spPr bwMode="auto">
            <a:xfrm>
              <a:off x="457200" y="4876801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30" name="TextBox 166"/>
            <p:cNvSpPr txBox="1">
              <a:spLocks noChangeArrowheads="1"/>
            </p:cNvSpPr>
            <p:nvPr/>
          </p:nvSpPr>
          <p:spPr bwMode="auto">
            <a:xfrm>
              <a:off x="457200" y="57150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1331" name="TextBox 167"/>
            <p:cNvSpPr txBox="1">
              <a:spLocks noChangeArrowheads="1"/>
            </p:cNvSpPr>
            <p:nvPr/>
          </p:nvSpPr>
          <p:spPr bwMode="auto">
            <a:xfrm>
              <a:off x="1219200" y="3657600"/>
              <a:ext cx="304800" cy="44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vi-VN" sz="2300" dirty="0">
                  <a:solidFill>
                    <a:srgbClr val="C00000"/>
                  </a:solidFill>
                </a:rPr>
                <a:t>4</a:t>
              </a:r>
            </a:p>
          </p:txBody>
        </p:sp>
      </p:grpSp>
      <p:sp>
        <p:nvSpPr>
          <p:cNvPr id="103" name="Text Box 6"/>
          <p:cNvSpPr txBox="1">
            <a:spLocks noChangeArrowheads="1"/>
          </p:cNvSpPr>
          <p:nvPr/>
        </p:nvSpPr>
        <p:spPr bwMode="auto">
          <a:xfrm>
            <a:off x="8763000" y="2209799"/>
            <a:ext cx="1143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vi-VN" sz="2800" dirty="0">
                <a:solidFill>
                  <a:srgbClr val="CC0000"/>
                </a:solidFill>
              </a:rPr>
              <a:t>h(x)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0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0" y="-457200"/>
            <a:ext cx="9753599" cy="731519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Tìm kiếm ăn tham (Greedy)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Ví dụ: Hàm kinh nghiệm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4689" y="1640445"/>
            <a:ext cx="8329612" cy="409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8991600" y="5943600"/>
            <a:ext cx="1143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C00000"/>
                </a:solidFill>
              </a:rPr>
              <a:t>h(x)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1905000" cy="4267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315200" y="914400"/>
            <a:ext cx="48768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5400"/>
            <a:ext cx="9448800" cy="1143000"/>
          </a:xfrm>
        </p:spPr>
        <p:txBody>
          <a:bodyPr/>
          <a:lstStyle/>
          <a:p>
            <a:pPr eaLnBrk="1" hangingPunct="1"/>
            <a:r>
              <a:rPr lang="vi-VN" noProof="0" dirty="0"/>
              <a:t>Tìm kiếm ăn tham</a:t>
            </a:r>
          </a:p>
        </p:txBody>
      </p:sp>
      <p:sp>
        <p:nvSpPr>
          <p:cNvPr id="816131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439861"/>
            <a:ext cx="8229600" cy="488473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800" noProof="0" dirty="0"/>
              <a:t>Mở rộng nút có hàm kinh nghiệm nhỏ nhất</a:t>
            </a:r>
          </a:p>
          <a:p>
            <a:pPr eaLnBrk="1" hangingPunct="1">
              <a:lnSpc>
                <a:spcPct val="90000"/>
              </a:lnSpc>
            </a:pPr>
            <a:endParaRPr lang="vi-VN" sz="2800" noProof="0" dirty="0"/>
          </a:p>
          <a:p>
            <a:pPr eaLnBrk="1" hangingPunct="1">
              <a:lnSpc>
                <a:spcPct val="90000"/>
              </a:lnSpc>
            </a:pPr>
            <a:endParaRPr lang="vi-VN" sz="2800" noProof="0" dirty="0"/>
          </a:p>
          <a:p>
            <a:pPr eaLnBrk="1" hangingPunct="1">
              <a:lnSpc>
                <a:spcPct val="90000"/>
              </a:lnSpc>
            </a:pPr>
            <a:endParaRPr lang="vi-VN" sz="2800" noProof="0" dirty="0"/>
          </a:p>
          <a:p>
            <a:pPr eaLnBrk="1" hangingPunct="1">
              <a:lnSpc>
                <a:spcPct val="90000"/>
              </a:lnSpc>
            </a:pPr>
            <a:endParaRPr lang="vi-VN" sz="2800" noProof="0" dirty="0"/>
          </a:p>
          <a:p>
            <a:pPr eaLnBrk="1" hangingPunct="1">
              <a:lnSpc>
                <a:spcPct val="90000"/>
              </a:lnSpc>
            </a:pPr>
            <a:endParaRPr lang="vi-VN" sz="2800" noProof="0" dirty="0"/>
          </a:p>
          <a:p>
            <a:pPr eaLnBrk="1" hangingPunct="1">
              <a:lnSpc>
                <a:spcPct val="90000"/>
              </a:lnSpc>
            </a:pPr>
            <a:endParaRPr lang="vi-VN" sz="2800" noProof="0" dirty="0"/>
          </a:p>
          <a:p>
            <a:pPr eaLnBrk="1" hangingPunct="1">
              <a:lnSpc>
                <a:spcPct val="90000"/>
              </a:lnSpc>
            </a:pPr>
            <a:endParaRPr lang="vi-VN" sz="2800" noProof="0" dirty="0"/>
          </a:p>
          <a:p>
            <a:pPr eaLnBrk="1" hangingPunct="1">
              <a:lnSpc>
                <a:spcPct val="90000"/>
              </a:lnSpc>
            </a:pPr>
            <a:endParaRPr lang="vi-VN" sz="2800" noProof="0" dirty="0"/>
          </a:p>
          <a:p>
            <a:pPr eaLnBrk="1" hangingPunct="1">
              <a:lnSpc>
                <a:spcPct val="90000"/>
              </a:lnSpc>
            </a:pPr>
            <a:r>
              <a:rPr lang="vi-VN" sz="2800" dirty="0"/>
              <a:t>Có vấn đề gì không ?</a:t>
            </a:r>
            <a:endParaRPr lang="vi-VN" sz="2800" noProof="0" dirty="0"/>
          </a:p>
        </p:txBody>
      </p:sp>
      <p:pic>
        <p:nvPicPr>
          <p:cNvPr id="8161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0177" y="2268535"/>
            <a:ext cx="1122363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61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3993" y="2311399"/>
            <a:ext cx="6535737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613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22394" y="2362200"/>
            <a:ext cx="7877175" cy="212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613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19218" y="2343153"/>
            <a:ext cx="7880351" cy="28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96200" y="3962400"/>
            <a:ext cx="3238498" cy="2428874"/>
          </a:xfrm>
          <a:prstGeom prst="rect">
            <a:avLst/>
          </a:prstGeom>
          <a:noFill/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1803"/>
          <a:stretch>
            <a:fillRect/>
          </a:stretch>
        </p:blipFill>
        <p:spPr bwMode="auto">
          <a:xfrm>
            <a:off x="7339093" y="0"/>
            <a:ext cx="4852907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reeform 28"/>
          <p:cNvSpPr>
            <a:spLocks/>
          </p:cNvSpPr>
          <p:nvPr/>
        </p:nvSpPr>
        <p:spPr bwMode="auto">
          <a:xfrm>
            <a:off x="8094662" y="3833812"/>
            <a:ext cx="2884488" cy="2263775"/>
          </a:xfrm>
          <a:custGeom>
            <a:avLst/>
            <a:gdLst>
              <a:gd name="T0" fmla="*/ 2147483647 w 1817"/>
              <a:gd name="T1" fmla="*/ 2147483647 h 1714"/>
              <a:gd name="T2" fmla="*/ 2147483647 w 1817"/>
              <a:gd name="T3" fmla="*/ 2147483647 h 1714"/>
              <a:gd name="T4" fmla="*/ 2147483647 w 1817"/>
              <a:gd name="T5" fmla="*/ 2147483647 h 1714"/>
              <a:gd name="T6" fmla="*/ 2147483647 w 1817"/>
              <a:gd name="T7" fmla="*/ 2147483647 h 1714"/>
              <a:gd name="T8" fmla="*/ 2147483647 w 1817"/>
              <a:gd name="T9" fmla="*/ 2147483647 h 1714"/>
              <a:gd name="T10" fmla="*/ 2147483647 w 1817"/>
              <a:gd name="T11" fmla="*/ 2147483647 h 1714"/>
              <a:gd name="T12" fmla="*/ 2147483647 w 1817"/>
              <a:gd name="T13" fmla="*/ 2147483647 h 1714"/>
              <a:gd name="T14" fmla="*/ 2147483647 w 1817"/>
              <a:gd name="T15" fmla="*/ 2147483647 h 1714"/>
              <a:gd name="T16" fmla="*/ 2147483647 w 1817"/>
              <a:gd name="T17" fmla="*/ 2147483647 h 1714"/>
              <a:gd name="T18" fmla="*/ 2147483647 w 1817"/>
              <a:gd name="T19" fmla="*/ 2147483647 h 171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17"/>
              <a:gd name="T31" fmla="*/ 0 h 1714"/>
              <a:gd name="T32" fmla="*/ 1817 w 1817"/>
              <a:gd name="T33" fmla="*/ 1714 h 171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17" h="1714">
                <a:moveTo>
                  <a:pt x="938" y="164"/>
                </a:moveTo>
                <a:cubicBezTo>
                  <a:pt x="1096" y="407"/>
                  <a:pt x="1716" y="1413"/>
                  <a:pt x="1817" y="1625"/>
                </a:cubicBezTo>
                <a:cubicBezTo>
                  <a:pt x="1741" y="1629"/>
                  <a:pt x="1331" y="1650"/>
                  <a:pt x="1054" y="1649"/>
                </a:cubicBezTo>
                <a:cubicBezTo>
                  <a:pt x="1021" y="1539"/>
                  <a:pt x="1101" y="1279"/>
                  <a:pt x="1036" y="1021"/>
                </a:cubicBezTo>
                <a:cubicBezTo>
                  <a:pt x="1008" y="965"/>
                  <a:pt x="973" y="949"/>
                  <a:pt x="897" y="973"/>
                </a:cubicBezTo>
                <a:cubicBezTo>
                  <a:pt x="855" y="963"/>
                  <a:pt x="618" y="1676"/>
                  <a:pt x="586" y="1654"/>
                </a:cubicBezTo>
                <a:cubicBezTo>
                  <a:pt x="468" y="1651"/>
                  <a:pt x="44" y="1714"/>
                  <a:pt x="47" y="1649"/>
                </a:cubicBezTo>
                <a:cubicBezTo>
                  <a:pt x="0" y="1570"/>
                  <a:pt x="165" y="1427"/>
                  <a:pt x="302" y="1181"/>
                </a:cubicBezTo>
                <a:cubicBezTo>
                  <a:pt x="348" y="1005"/>
                  <a:pt x="762" y="338"/>
                  <a:pt x="868" y="169"/>
                </a:cubicBezTo>
                <a:cubicBezTo>
                  <a:pt x="974" y="0"/>
                  <a:pt x="924" y="165"/>
                  <a:pt x="938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Greedy Search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086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noProof="0" dirty="0"/>
              <a:t>Chiến lược: mở rộng nút ta nghĩ gần mục tiêu nhất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noProof="0" dirty="0"/>
              <a:t>Hàm kinh nghiệm: ước lượng một trạng thái gần mục tiêu thế nào</a:t>
            </a:r>
          </a:p>
          <a:p>
            <a:pPr lvl="1" eaLnBrk="1" hangingPunct="1">
              <a:lnSpc>
                <a:spcPct val="80000"/>
              </a:lnSpc>
            </a:pPr>
            <a:endParaRPr lang="vi-VN" sz="1200" noProof="0" dirty="0"/>
          </a:p>
          <a:p>
            <a:pPr eaLnBrk="1" hangingPunct="1">
              <a:lnSpc>
                <a:spcPct val="80000"/>
              </a:lnSpc>
            </a:pPr>
            <a:endParaRPr lang="vi-VN" sz="2800" noProof="0" dirty="0"/>
          </a:p>
          <a:p>
            <a:pPr eaLnBrk="1" hangingPunct="1">
              <a:lnSpc>
                <a:spcPct val="80000"/>
              </a:lnSpc>
            </a:pPr>
            <a:r>
              <a:rPr lang="vi-VN" sz="2800" noProof="0" dirty="0"/>
              <a:t>Trường hợp thông thường: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noProof="0" dirty="0"/>
              <a:t>Greedy = tìm được mục tiêu (không tối ưu)</a:t>
            </a:r>
          </a:p>
          <a:p>
            <a:pPr eaLnBrk="1" hangingPunct="1">
              <a:lnSpc>
                <a:spcPct val="80000"/>
              </a:lnSpc>
            </a:pPr>
            <a:endParaRPr lang="vi-VN" sz="1200" noProof="0" dirty="0"/>
          </a:p>
          <a:p>
            <a:pPr eaLnBrk="1" hangingPunct="1">
              <a:lnSpc>
                <a:spcPct val="80000"/>
              </a:lnSpc>
            </a:pPr>
            <a:endParaRPr lang="vi-VN" sz="1200" noProof="0" dirty="0"/>
          </a:p>
          <a:p>
            <a:pPr eaLnBrk="1" hangingPunct="1">
              <a:lnSpc>
                <a:spcPct val="80000"/>
              </a:lnSpc>
            </a:pPr>
            <a:endParaRPr lang="vi-VN" sz="2800" noProof="0" dirty="0"/>
          </a:p>
          <a:p>
            <a:pPr eaLnBrk="1" hangingPunct="1">
              <a:lnSpc>
                <a:spcPct val="80000"/>
              </a:lnSpc>
            </a:pPr>
            <a:r>
              <a:rPr lang="vi-VN" sz="2800" noProof="0" dirty="0"/>
              <a:t>Trường hợp xấu nhất:</a:t>
            </a:r>
          </a:p>
          <a:p>
            <a:pPr lvl="1">
              <a:lnSpc>
                <a:spcPct val="80000"/>
              </a:lnSpc>
            </a:pPr>
            <a:r>
              <a:rPr lang="vi-VN" sz="2400" noProof="0" dirty="0"/>
              <a:t>Greedy = DFS được hướng dẫn tồi</a:t>
            </a:r>
          </a:p>
        </p:txBody>
      </p:sp>
      <p:sp>
        <p:nvSpPr>
          <p:cNvPr id="13317" name="Freeform 30"/>
          <p:cNvSpPr>
            <a:spLocks/>
          </p:cNvSpPr>
          <p:nvPr/>
        </p:nvSpPr>
        <p:spPr bwMode="auto">
          <a:xfrm>
            <a:off x="9348787" y="1219200"/>
            <a:ext cx="846139" cy="1774825"/>
          </a:xfrm>
          <a:custGeom>
            <a:avLst/>
            <a:gdLst>
              <a:gd name="T0" fmla="*/ 2147483647 w 533"/>
              <a:gd name="T1" fmla="*/ 2147483647 h 1118"/>
              <a:gd name="T2" fmla="*/ 2147483647 w 533"/>
              <a:gd name="T3" fmla="*/ 2147483647 h 1118"/>
              <a:gd name="T4" fmla="*/ 2147483647 w 533"/>
              <a:gd name="T5" fmla="*/ 2147483647 h 1118"/>
              <a:gd name="T6" fmla="*/ 2147483647 w 533"/>
              <a:gd name="T7" fmla="*/ 2147483647 h 1118"/>
              <a:gd name="T8" fmla="*/ 2147483647 w 533"/>
              <a:gd name="T9" fmla="*/ 2147483647 h 1118"/>
              <a:gd name="T10" fmla="*/ 2147483647 w 533"/>
              <a:gd name="T11" fmla="*/ 2147483647 h 11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33"/>
              <a:gd name="T19" fmla="*/ 0 h 1118"/>
              <a:gd name="T20" fmla="*/ 533 w 533"/>
              <a:gd name="T21" fmla="*/ 1118 h 11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33" h="1118">
                <a:moveTo>
                  <a:pt x="100" y="137"/>
                </a:moveTo>
                <a:cubicBezTo>
                  <a:pt x="172" y="245"/>
                  <a:pt x="395" y="656"/>
                  <a:pt x="464" y="788"/>
                </a:cubicBezTo>
                <a:cubicBezTo>
                  <a:pt x="533" y="920"/>
                  <a:pt x="513" y="858"/>
                  <a:pt x="513" y="928"/>
                </a:cubicBezTo>
                <a:cubicBezTo>
                  <a:pt x="472" y="988"/>
                  <a:pt x="380" y="1118"/>
                  <a:pt x="281" y="991"/>
                </a:cubicBezTo>
                <a:cubicBezTo>
                  <a:pt x="260" y="823"/>
                  <a:pt x="60" y="284"/>
                  <a:pt x="30" y="142"/>
                </a:cubicBezTo>
                <a:cubicBezTo>
                  <a:pt x="0" y="0"/>
                  <a:pt x="32" y="29"/>
                  <a:pt x="100" y="137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8" name="Freeform 4"/>
          <p:cNvSpPr>
            <a:spLocks/>
          </p:cNvSpPr>
          <p:nvPr/>
        </p:nvSpPr>
        <p:spPr bwMode="auto">
          <a:xfrm>
            <a:off x="8001000" y="1322386"/>
            <a:ext cx="2927351" cy="2108200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19" name="Oval 5"/>
          <p:cNvSpPr>
            <a:spLocks noChangeArrowheads="1"/>
          </p:cNvSpPr>
          <p:nvPr/>
        </p:nvSpPr>
        <p:spPr bwMode="auto">
          <a:xfrm>
            <a:off x="9123363" y="1677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0" name="Oval 6"/>
          <p:cNvSpPr>
            <a:spLocks noChangeArrowheads="1"/>
          </p:cNvSpPr>
          <p:nvPr/>
        </p:nvSpPr>
        <p:spPr bwMode="auto">
          <a:xfrm>
            <a:off x="9599613" y="166846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1" name="Text Box 7"/>
          <p:cNvSpPr txBox="1">
            <a:spLocks noChangeArrowheads="1"/>
          </p:cNvSpPr>
          <p:nvPr/>
        </p:nvSpPr>
        <p:spPr bwMode="auto">
          <a:xfrm>
            <a:off x="9253537" y="1528763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13322" name="Freeform 8"/>
          <p:cNvSpPr>
            <a:spLocks/>
          </p:cNvSpPr>
          <p:nvPr/>
        </p:nvSpPr>
        <p:spPr bwMode="auto">
          <a:xfrm>
            <a:off x="9236076" y="148272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23" name="Text Box 9"/>
          <p:cNvSpPr txBox="1">
            <a:spLocks noChangeArrowheads="1"/>
          </p:cNvSpPr>
          <p:nvPr/>
        </p:nvSpPr>
        <p:spPr bwMode="auto">
          <a:xfrm>
            <a:off x="9637711" y="1281112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13324" name="Oval 11"/>
          <p:cNvSpPr>
            <a:spLocks noChangeArrowheads="1"/>
          </p:cNvSpPr>
          <p:nvPr/>
        </p:nvSpPr>
        <p:spPr bwMode="auto">
          <a:xfrm>
            <a:off x="9847263" y="2592387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5" name="Oval 17"/>
          <p:cNvSpPr>
            <a:spLocks noChangeArrowheads="1"/>
          </p:cNvSpPr>
          <p:nvPr/>
        </p:nvSpPr>
        <p:spPr bwMode="auto">
          <a:xfrm>
            <a:off x="9355137" y="125253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6" name="Freeform 18"/>
          <p:cNvSpPr>
            <a:spLocks/>
          </p:cNvSpPr>
          <p:nvPr/>
        </p:nvSpPr>
        <p:spPr bwMode="auto">
          <a:xfrm>
            <a:off x="8080376" y="3959223"/>
            <a:ext cx="2927351" cy="2062163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27" name="Oval 19"/>
          <p:cNvSpPr>
            <a:spLocks noChangeArrowheads="1"/>
          </p:cNvSpPr>
          <p:nvPr/>
        </p:nvSpPr>
        <p:spPr bwMode="auto">
          <a:xfrm>
            <a:off x="9202737" y="43148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8" name="Oval 20"/>
          <p:cNvSpPr>
            <a:spLocks noChangeArrowheads="1"/>
          </p:cNvSpPr>
          <p:nvPr/>
        </p:nvSpPr>
        <p:spPr bwMode="auto">
          <a:xfrm>
            <a:off x="9678988" y="430529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29" name="Text Box 21"/>
          <p:cNvSpPr txBox="1">
            <a:spLocks noChangeArrowheads="1"/>
          </p:cNvSpPr>
          <p:nvPr/>
        </p:nvSpPr>
        <p:spPr bwMode="auto">
          <a:xfrm>
            <a:off x="9332912" y="4165600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13330" name="Freeform 22"/>
          <p:cNvSpPr>
            <a:spLocks/>
          </p:cNvSpPr>
          <p:nvPr/>
        </p:nvSpPr>
        <p:spPr bwMode="auto">
          <a:xfrm>
            <a:off x="9315451" y="411956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13331" name="Text Box 23"/>
          <p:cNvSpPr txBox="1">
            <a:spLocks noChangeArrowheads="1"/>
          </p:cNvSpPr>
          <p:nvPr/>
        </p:nvSpPr>
        <p:spPr bwMode="auto">
          <a:xfrm>
            <a:off x="9717087" y="3917950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13332" name="Oval 25"/>
          <p:cNvSpPr>
            <a:spLocks noChangeArrowheads="1"/>
          </p:cNvSpPr>
          <p:nvPr/>
        </p:nvSpPr>
        <p:spPr bwMode="auto">
          <a:xfrm>
            <a:off x="9466263" y="5335587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33" name="Oval 29"/>
          <p:cNvSpPr>
            <a:spLocks noChangeArrowheads="1"/>
          </p:cNvSpPr>
          <p:nvPr/>
        </p:nvSpPr>
        <p:spPr bwMode="auto">
          <a:xfrm>
            <a:off x="9434513" y="388937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3334" name="TextBox 18"/>
          <p:cNvSpPr txBox="1">
            <a:spLocks noChangeArrowheads="1"/>
          </p:cNvSpPr>
          <p:nvPr/>
        </p:nvSpPr>
        <p:spPr bwMode="auto">
          <a:xfrm>
            <a:off x="7086600" y="6211671"/>
            <a:ext cx="5105400" cy="646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[Demo: contours greedy empty (L3D1)] </a:t>
            </a:r>
          </a:p>
          <a:p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[Demo: contours greedy </a:t>
            </a:r>
            <a:r>
              <a:rPr lang="en-US" dirty="0" err="1">
                <a:solidFill>
                  <a:srgbClr val="C00000"/>
                </a:solidFill>
                <a:latin typeface="Calibri"/>
                <a:cs typeface="Calibri"/>
              </a:rPr>
              <a:t>pacman</a:t>
            </a:r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 small maze (L3D4)]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nimBg="1"/>
      <p:bldP spid="13326" grpId="0" animBg="1"/>
      <p:bldP spid="13327" grpId="0" animBg="1"/>
      <p:bldP spid="13328" grpId="0" animBg="1"/>
      <p:bldP spid="13329" grpId="0"/>
      <p:bldP spid="13330" grpId="0" animBg="1"/>
      <p:bldP spid="13331" grpId="0"/>
      <p:bldP spid="13332" grpId="0" animBg="1"/>
      <p:bldP spid="133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Ví dụ: đường đồng mức của Greedy trong Empty</a:t>
            </a:r>
          </a:p>
        </p:txBody>
      </p:sp>
      <p:pic>
        <p:nvPicPr>
          <p:cNvPr id="3" name="Empty-greedy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14739" y="1143001"/>
            <a:ext cx="6362523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5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600" dirty="0"/>
              <a:t>Ví dụ: đường đồng mức của Greedy trong </a:t>
            </a:r>
            <a:br>
              <a:rPr lang="vi-VN" sz="3600" dirty="0"/>
            </a:br>
            <a:r>
              <a:rPr lang="vi-VN" sz="3600" noProof="0" dirty="0"/>
              <a:t>Pacman Small Maze</a:t>
            </a:r>
          </a:p>
        </p:txBody>
      </p:sp>
      <p:pic>
        <p:nvPicPr>
          <p:cNvPr id="3" name="ContoursPacmanSmallMaze-greedy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28361" y="1143000"/>
            <a:ext cx="9335278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7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Thuật toán Tìm kiếm A*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00"/>
          <a:stretch/>
        </p:blipFill>
        <p:spPr bwMode="auto">
          <a:xfrm>
            <a:off x="-31315" y="1905000"/>
            <a:ext cx="12182254" cy="601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Thuật toán Tìm kiếm A*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1676400"/>
            <a:ext cx="2871787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1447800"/>
            <a:ext cx="1600200" cy="184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19600" y="3744914"/>
            <a:ext cx="3557588" cy="236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633787" y="3276601"/>
            <a:ext cx="1524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/>
            <a:r>
              <a:rPr lang="en-US" sz="2000">
                <a:latin typeface="Calibri" pitchFamily="34" charset="0"/>
              </a:rPr>
              <a:t>UCS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162800" y="3276601"/>
            <a:ext cx="1524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/>
            <a:r>
              <a:rPr lang="en-US" sz="2000">
                <a:latin typeface="Calibri" pitchFamily="34" charset="0"/>
              </a:rPr>
              <a:t>Greedy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562599" y="5954714"/>
            <a:ext cx="1524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/>
            <a:r>
              <a:rPr lang="en-US" sz="2000">
                <a:latin typeface="Calibri" pitchFamily="34" charset="0"/>
              </a:rPr>
              <a:t>A*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7800"/>
            <a:ext cx="5791200" cy="502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 sz="200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8" name="AutoShape 2"/>
          <p:cNvCxnSpPr>
            <a:cxnSpLocks noChangeShapeType="1"/>
            <a:stCxn id="14344" idx="6"/>
            <a:endCxn id="14346" idx="2"/>
          </p:cNvCxnSpPr>
          <p:nvPr/>
        </p:nvCxnSpPr>
        <p:spPr bwMode="auto">
          <a:xfrm>
            <a:off x="5029200" y="4038600"/>
            <a:ext cx="13716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39" name="AutoShape 3"/>
          <p:cNvCxnSpPr>
            <a:cxnSpLocks noChangeShapeType="1"/>
            <a:stCxn id="14365" idx="4"/>
            <a:endCxn id="14344" idx="0"/>
          </p:cNvCxnSpPr>
          <p:nvPr/>
        </p:nvCxnSpPr>
        <p:spPr bwMode="auto">
          <a:xfrm flipH="1">
            <a:off x="4800600" y="3352800"/>
            <a:ext cx="685800" cy="457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A* = UCS + Greedy</a:t>
            </a:r>
          </a:p>
        </p:txBody>
      </p:sp>
      <p:sp>
        <p:nvSpPr>
          <p:cNvPr id="852997" name="Rectangle 5"/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822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300" noProof="0" dirty="0">
                <a:solidFill>
                  <a:srgbClr val="FF0000"/>
                </a:solidFill>
                <a:latin typeface="Calibri"/>
                <a:cs typeface="Calibri"/>
              </a:rPr>
              <a:t>UCS</a:t>
            </a:r>
            <a:r>
              <a:rPr lang="vi-VN" sz="2300" noProof="0" dirty="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lang="vi-VN" sz="2300" noProof="0" dirty="0">
                <a:solidFill>
                  <a:schemeClr val="tx1"/>
                </a:solidFill>
                <a:latin typeface="Calibri"/>
                <a:cs typeface="Calibri"/>
              </a:rPr>
              <a:t>ưu tiên chi phí đường đi, hay </a:t>
            </a:r>
            <a:r>
              <a:rPr lang="vi-VN" sz="2300" noProof="0" dirty="0">
                <a:solidFill>
                  <a:srgbClr val="2D2D8A"/>
                </a:solidFill>
                <a:latin typeface="Calibri"/>
                <a:cs typeface="Calibri"/>
              </a:rPr>
              <a:t>chi phí quá khứ </a:t>
            </a:r>
            <a:r>
              <a:rPr lang="vi-VN" sz="2300" noProof="0" dirty="0">
                <a:solidFill>
                  <a:schemeClr val="tx1"/>
                </a:solidFill>
                <a:latin typeface="Calibri"/>
                <a:cs typeface="Calibri"/>
              </a:rPr>
              <a:t>g(n)</a:t>
            </a:r>
          </a:p>
          <a:p>
            <a:pPr eaLnBrk="1" hangingPunct="1">
              <a:lnSpc>
                <a:spcPct val="90000"/>
              </a:lnSpc>
            </a:pPr>
            <a:r>
              <a:rPr lang="vi-VN" sz="2300" noProof="0" dirty="0">
                <a:solidFill>
                  <a:srgbClr val="CC0000"/>
                </a:solidFill>
                <a:latin typeface="Calibri"/>
                <a:cs typeface="Calibri"/>
              </a:rPr>
              <a:t>Greedy</a:t>
            </a:r>
            <a:r>
              <a:rPr lang="vi-VN" sz="2300" noProof="0" dirty="0">
                <a:latin typeface="Calibri"/>
                <a:cs typeface="Calibri"/>
              </a:rPr>
              <a:t> </a:t>
            </a:r>
            <a:r>
              <a:rPr lang="vi-VN" sz="2300" noProof="0" dirty="0">
                <a:solidFill>
                  <a:schemeClr val="tx2"/>
                </a:solidFill>
                <a:latin typeface="Calibri"/>
                <a:cs typeface="Calibri"/>
              </a:rPr>
              <a:t>ưu tiên ước lượng khoảng cách đến mục tiêu, hay </a:t>
            </a:r>
            <a:r>
              <a:rPr lang="vi-VN" sz="2300" noProof="0" dirty="0">
                <a:solidFill>
                  <a:srgbClr val="2D2D8A"/>
                </a:solidFill>
                <a:latin typeface="Calibri"/>
                <a:cs typeface="Calibri"/>
              </a:rPr>
              <a:t>chi phí tương lai</a:t>
            </a:r>
            <a:r>
              <a:rPr lang="vi-VN" sz="2300" i="1" noProof="0" dirty="0">
                <a:solidFill>
                  <a:schemeClr val="tx2"/>
                </a:solidFill>
                <a:latin typeface="Calibri"/>
                <a:cs typeface="Calibri"/>
              </a:rPr>
              <a:t>  </a:t>
            </a:r>
            <a:r>
              <a:rPr lang="vi-VN" sz="2300" noProof="0" dirty="0">
                <a:solidFill>
                  <a:schemeClr val="tx2"/>
                </a:solidFill>
                <a:latin typeface="Calibri"/>
                <a:cs typeface="Calibri"/>
              </a:rPr>
              <a:t>h(n)</a:t>
            </a:r>
            <a:endParaRPr lang="vi-VN" sz="2300" i="1" noProof="0" dirty="0">
              <a:solidFill>
                <a:schemeClr val="tx2"/>
              </a:solidFill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solidFill>
                <a:schemeClr val="tx2"/>
              </a:solidFill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vi-VN" sz="2300" noProof="0" dirty="0">
              <a:latin typeface="Calibri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r>
              <a:rPr lang="vi-VN" sz="2300" noProof="0" dirty="0">
                <a:solidFill>
                  <a:srgbClr val="CC00CC"/>
                </a:solidFill>
                <a:latin typeface="Calibri"/>
                <a:cs typeface="Calibri"/>
              </a:rPr>
              <a:t>Tìm kiếm A*</a:t>
            </a:r>
            <a:r>
              <a:rPr lang="vi-VN" sz="2300" noProof="0" dirty="0">
                <a:solidFill>
                  <a:schemeClr val="tx1"/>
                </a:solidFill>
                <a:latin typeface="Calibri"/>
                <a:cs typeface="Calibri"/>
              </a:rPr>
              <a:t> ưu tiên tổng: f(n) = g(n) + h(n)</a:t>
            </a:r>
            <a:endParaRPr lang="vi-VN" sz="2300" i="1" noProof="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457200" y="3810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1752600" y="3810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4572000" y="3810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d</a:t>
            </a: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17526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b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6400800" y="3810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1981200" y="4191001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h=5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1676400" y="5181601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h=6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4800600" y="4343401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h=2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1066800" y="3641725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3276600" y="2286001"/>
            <a:ext cx="38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8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1066800" y="4572001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1524000" y="4251325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5562600" y="3641725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2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304800" y="4191001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h=6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6172200" y="4343401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h=0</a:t>
            </a:r>
          </a:p>
        </p:txBody>
      </p:sp>
      <p:cxnSp>
        <p:nvCxnSpPr>
          <p:cNvPr id="14357" name="AutoShape 21"/>
          <p:cNvCxnSpPr>
            <a:cxnSpLocks noChangeShapeType="1"/>
            <a:stCxn id="14342" idx="6"/>
            <a:endCxn id="14343" idx="2"/>
          </p:cNvCxnSpPr>
          <p:nvPr/>
        </p:nvCxnSpPr>
        <p:spPr bwMode="auto">
          <a:xfrm>
            <a:off x="914400" y="4038600"/>
            <a:ext cx="8382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58" name="AutoShape 22"/>
          <p:cNvCxnSpPr>
            <a:cxnSpLocks noChangeShapeType="1"/>
            <a:stCxn id="14343" idx="4"/>
            <a:endCxn id="14345" idx="0"/>
          </p:cNvCxnSpPr>
          <p:nvPr/>
        </p:nvCxnSpPr>
        <p:spPr bwMode="auto">
          <a:xfrm>
            <a:off x="1981200" y="4267200"/>
            <a:ext cx="0" cy="457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59" name="AutoShape 23"/>
          <p:cNvCxnSpPr>
            <a:cxnSpLocks noChangeShapeType="1"/>
            <a:stCxn id="14343" idx="0"/>
            <a:endCxn id="14365" idx="1"/>
          </p:cNvCxnSpPr>
          <p:nvPr/>
        </p:nvCxnSpPr>
        <p:spPr bwMode="auto">
          <a:xfrm rot="-5400000">
            <a:off x="3228976" y="1714501"/>
            <a:ext cx="847725" cy="3343275"/>
          </a:xfrm>
          <a:prstGeom prst="curvedConnector3">
            <a:avLst>
              <a:gd name="adj1" fmla="val 134833"/>
            </a:avLst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60" name="AutoShape 24"/>
          <p:cNvCxnSpPr>
            <a:cxnSpLocks noChangeShapeType="1"/>
            <a:stCxn id="14345" idx="2"/>
            <a:endCxn id="14361" idx="6"/>
          </p:cNvCxnSpPr>
          <p:nvPr/>
        </p:nvCxnSpPr>
        <p:spPr bwMode="auto">
          <a:xfrm rot="10800000">
            <a:off x="914400" y="4953001"/>
            <a:ext cx="838200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361" name="Oval 25"/>
          <p:cNvSpPr>
            <a:spLocks noChangeArrowheads="1"/>
          </p:cNvSpPr>
          <p:nvPr/>
        </p:nvSpPr>
        <p:spPr bwMode="auto">
          <a:xfrm>
            <a:off x="4572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c</a:t>
            </a:r>
          </a:p>
        </p:txBody>
      </p:sp>
      <p:cxnSp>
        <p:nvCxnSpPr>
          <p:cNvPr id="14362" name="AutoShape 27"/>
          <p:cNvCxnSpPr>
            <a:cxnSpLocks noChangeShapeType="1"/>
            <a:stCxn id="14343" idx="6"/>
            <a:endCxn id="14344" idx="2"/>
          </p:cNvCxnSpPr>
          <p:nvPr/>
        </p:nvCxnSpPr>
        <p:spPr bwMode="auto">
          <a:xfrm>
            <a:off x="2209800" y="4038600"/>
            <a:ext cx="23622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363" name="Text Box 28"/>
          <p:cNvSpPr txBox="1">
            <a:spLocks noChangeArrowheads="1"/>
          </p:cNvSpPr>
          <p:nvPr/>
        </p:nvSpPr>
        <p:spPr bwMode="auto">
          <a:xfrm>
            <a:off x="304800" y="5165725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h=7</a:t>
            </a:r>
          </a:p>
        </p:txBody>
      </p:sp>
      <p:sp>
        <p:nvSpPr>
          <p:cNvPr id="14364" name="Text Box 30"/>
          <p:cNvSpPr txBox="1">
            <a:spLocks noChangeArrowheads="1"/>
          </p:cNvSpPr>
          <p:nvPr/>
        </p:nvSpPr>
        <p:spPr bwMode="auto">
          <a:xfrm>
            <a:off x="3124200" y="3641725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3</a:t>
            </a:r>
          </a:p>
        </p:txBody>
      </p:sp>
      <p:sp>
        <p:nvSpPr>
          <p:cNvPr id="14365" name="Oval 31"/>
          <p:cNvSpPr>
            <a:spLocks noChangeArrowheads="1"/>
          </p:cNvSpPr>
          <p:nvPr/>
        </p:nvSpPr>
        <p:spPr bwMode="auto">
          <a:xfrm>
            <a:off x="5257800" y="2895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e</a:t>
            </a:r>
          </a:p>
        </p:txBody>
      </p:sp>
      <p:sp>
        <p:nvSpPr>
          <p:cNvPr id="14366" name="Text Box 32"/>
          <p:cNvSpPr txBox="1">
            <a:spLocks noChangeArrowheads="1"/>
          </p:cNvSpPr>
          <p:nvPr/>
        </p:nvSpPr>
        <p:spPr bwMode="auto">
          <a:xfrm>
            <a:off x="5715000" y="2895601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h=1</a:t>
            </a:r>
          </a:p>
        </p:txBody>
      </p:sp>
      <p:sp>
        <p:nvSpPr>
          <p:cNvPr id="14367" name="Text Box 33"/>
          <p:cNvSpPr txBox="1">
            <a:spLocks noChangeArrowheads="1"/>
          </p:cNvSpPr>
          <p:nvPr/>
        </p:nvSpPr>
        <p:spPr bwMode="auto">
          <a:xfrm>
            <a:off x="4724400" y="3200401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Calibri"/>
                <a:cs typeface="Calibri"/>
              </a:rPr>
              <a:t>1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914400" y="4038601"/>
            <a:ext cx="1066800" cy="915988"/>
            <a:chOff x="1392" y="2544"/>
            <a:chExt cx="672" cy="577"/>
          </a:xfrm>
        </p:grpSpPr>
        <p:cxnSp>
          <p:nvCxnSpPr>
            <p:cNvPr id="14379" name="AutoShape 35"/>
            <p:cNvCxnSpPr>
              <a:cxnSpLocks noChangeShapeType="1"/>
            </p:cNvCxnSpPr>
            <p:nvPr/>
          </p:nvCxnSpPr>
          <p:spPr bwMode="auto">
            <a:xfrm>
              <a:off x="1392" y="2544"/>
              <a:ext cx="528" cy="0"/>
            </a:xfrm>
            <a:prstGeom prst="straightConnector1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</p:spPr>
        </p:cxnSp>
        <p:cxnSp>
          <p:nvCxnSpPr>
            <p:cNvPr id="14380" name="AutoShape 36"/>
            <p:cNvCxnSpPr>
              <a:cxnSpLocks noChangeShapeType="1"/>
            </p:cNvCxnSpPr>
            <p:nvPr/>
          </p:nvCxnSpPr>
          <p:spPr bwMode="auto">
            <a:xfrm>
              <a:off x="2064" y="2688"/>
              <a:ext cx="0" cy="288"/>
            </a:xfrm>
            <a:prstGeom prst="straightConnector1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</p:spPr>
        </p:cxnSp>
        <p:cxnSp>
          <p:nvCxnSpPr>
            <p:cNvPr id="14381" name="AutoShape 37"/>
            <p:cNvCxnSpPr>
              <a:cxnSpLocks noChangeShapeType="1"/>
            </p:cNvCxnSpPr>
            <p:nvPr/>
          </p:nvCxnSpPr>
          <p:spPr bwMode="auto">
            <a:xfrm rot="10800000">
              <a:off x="1392" y="3120"/>
              <a:ext cx="528" cy="1"/>
            </a:xfrm>
            <a:prstGeom prst="straightConnector1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914400" y="2962276"/>
            <a:ext cx="5486400" cy="1076325"/>
            <a:chOff x="1392" y="1872"/>
            <a:chExt cx="3456" cy="678"/>
          </a:xfrm>
        </p:grpSpPr>
        <p:cxnSp>
          <p:nvCxnSpPr>
            <p:cNvPr id="14375" name="AutoShape 39"/>
            <p:cNvCxnSpPr>
              <a:cxnSpLocks noChangeShapeType="1"/>
            </p:cNvCxnSpPr>
            <p:nvPr/>
          </p:nvCxnSpPr>
          <p:spPr bwMode="auto">
            <a:xfrm>
              <a:off x="3984" y="2550"/>
              <a:ext cx="864" cy="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4376" name="AutoShape 40"/>
            <p:cNvCxnSpPr>
              <a:cxnSpLocks noChangeShapeType="1"/>
            </p:cNvCxnSpPr>
            <p:nvPr/>
          </p:nvCxnSpPr>
          <p:spPr bwMode="auto">
            <a:xfrm flipH="1">
              <a:off x="3840" y="2118"/>
              <a:ext cx="432" cy="28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4377" name="AutoShape 41"/>
            <p:cNvCxnSpPr>
              <a:cxnSpLocks noChangeShapeType="1"/>
            </p:cNvCxnSpPr>
            <p:nvPr/>
          </p:nvCxnSpPr>
          <p:spPr bwMode="auto">
            <a:xfrm>
              <a:off x="1392" y="2550"/>
              <a:ext cx="528" cy="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4378" name="AutoShape 42"/>
            <p:cNvCxnSpPr>
              <a:cxnSpLocks noChangeShapeType="1"/>
            </p:cNvCxnSpPr>
            <p:nvPr/>
          </p:nvCxnSpPr>
          <p:spPr bwMode="auto">
            <a:xfrm rot="-5400000">
              <a:off x="2850" y="1086"/>
              <a:ext cx="534" cy="2106"/>
            </a:xfrm>
            <a:prstGeom prst="curvedConnector3">
              <a:avLst>
                <a:gd name="adj1" fmla="val 134833"/>
              </a:avLst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914400" y="4038600"/>
            <a:ext cx="5486400" cy="0"/>
            <a:chOff x="1392" y="2544"/>
            <a:chExt cx="3456" cy="0"/>
          </a:xfrm>
        </p:grpSpPr>
        <p:cxnSp>
          <p:nvCxnSpPr>
            <p:cNvPr id="14372" name="AutoShape 44"/>
            <p:cNvCxnSpPr>
              <a:cxnSpLocks noChangeShapeType="1"/>
            </p:cNvCxnSpPr>
            <p:nvPr/>
          </p:nvCxnSpPr>
          <p:spPr bwMode="auto">
            <a:xfrm>
              <a:off x="3984" y="2544"/>
              <a:ext cx="864" cy="0"/>
            </a:xfrm>
            <a:prstGeom prst="straightConnector1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med"/>
            </a:ln>
          </p:spPr>
        </p:cxnSp>
        <p:cxnSp>
          <p:nvCxnSpPr>
            <p:cNvPr id="14373" name="AutoShape 45"/>
            <p:cNvCxnSpPr>
              <a:cxnSpLocks noChangeShapeType="1"/>
            </p:cNvCxnSpPr>
            <p:nvPr/>
          </p:nvCxnSpPr>
          <p:spPr bwMode="auto">
            <a:xfrm>
              <a:off x="1392" y="2544"/>
              <a:ext cx="528" cy="0"/>
            </a:xfrm>
            <a:prstGeom prst="straightConnector1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med"/>
            </a:ln>
          </p:spPr>
        </p:cxnSp>
        <p:cxnSp>
          <p:nvCxnSpPr>
            <p:cNvPr id="14374" name="AutoShape 46"/>
            <p:cNvCxnSpPr>
              <a:cxnSpLocks noChangeShapeType="1"/>
            </p:cNvCxnSpPr>
            <p:nvPr/>
          </p:nvCxnSpPr>
          <p:spPr bwMode="auto">
            <a:xfrm>
              <a:off x="2208" y="2544"/>
              <a:ext cx="1488" cy="0"/>
            </a:xfrm>
            <a:prstGeom prst="straightConnector1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med"/>
            </a:ln>
          </p:spPr>
        </p:cxnSp>
      </p:grpSp>
      <p:sp>
        <p:nvSpPr>
          <p:cNvPr id="14371" name="Text Box 50"/>
          <p:cNvSpPr txBox="1">
            <a:spLocks noChangeArrowheads="1"/>
          </p:cNvSpPr>
          <p:nvPr/>
        </p:nvSpPr>
        <p:spPr bwMode="auto">
          <a:xfrm>
            <a:off x="9296400" y="6457892"/>
            <a:ext cx="28194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 err="1">
                <a:latin typeface="Calibri"/>
                <a:cs typeface="Calibri"/>
              </a:rPr>
              <a:t>Ví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dụ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của</a:t>
            </a:r>
            <a:r>
              <a:rPr lang="en-US" sz="2000" dirty="0">
                <a:latin typeface="Calibri"/>
                <a:cs typeface="Calibri"/>
              </a:rPr>
              <a:t> Teg </a:t>
            </a:r>
            <a:r>
              <a:rPr lang="en-US" sz="2000" dirty="0" err="1">
                <a:latin typeface="Calibri"/>
                <a:cs typeface="Calibri"/>
              </a:rPr>
              <a:t>Grenager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47" name="Oval 6"/>
          <p:cNvSpPr>
            <a:spLocks noChangeArrowheads="1"/>
          </p:cNvSpPr>
          <p:nvPr/>
        </p:nvSpPr>
        <p:spPr bwMode="auto">
          <a:xfrm>
            <a:off x="9753600" y="2362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48" name="Oval 7"/>
          <p:cNvSpPr>
            <a:spLocks noChangeArrowheads="1"/>
          </p:cNvSpPr>
          <p:nvPr/>
        </p:nvSpPr>
        <p:spPr bwMode="auto">
          <a:xfrm>
            <a:off x="9220200" y="29718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49" name="Oval 9"/>
          <p:cNvSpPr>
            <a:spLocks noChangeArrowheads="1"/>
          </p:cNvSpPr>
          <p:nvPr/>
        </p:nvSpPr>
        <p:spPr bwMode="auto">
          <a:xfrm>
            <a:off x="86868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b</a:t>
            </a:r>
          </a:p>
        </p:txBody>
      </p:sp>
      <p:sp>
        <p:nvSpPr>
          <p:cNvPr id="50" name="Oval 25"/>
          <p:cNvSpPr>
            <a:spLocks noChangeArrowheads="1"/>
          </p:cNvSpPr>
          <p:nvPr/>
        </p:nvSpPr>
        <p:spPr bwMode="auto">
          <a:xfrm>
            <a:off x="86868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c</a:t>
            </a:r>
          </a:p>
        </p:txBody>
      </p:sp>
      <p:sp>
        <p:nvSpPr>
          <p:cNvPr id="51" name="Oval 31"/>
          <p:cNvSpPr>
            <a:spLocks noChangeArrowheads="1"/>
          </p:cNvSpPr>
          <p:nvPr/>
        </p:nvSpPr>
        <p:spPr bwMode="auto">
          <a:xfrm>
            <a:off x="108966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e</a:t>
            </a:r>
          </a:p>
        </p:txBody>
      </p:sp>
      <p:sp>
        <p:nvSpPr>
          <p:cNvPr id="52" name="Oval 8"/>
          <p:cNvSpPr>
            <a:spLocks noChangeArrowheads="1"/>
          </p:cNvSpPr>
          <p:nvPr/>
        </p:nvSpPr>
        <p:spPr bwMode="auto">
          <a:xfrm>
            <a:off x="94488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d</a:t>
            </a:r>
          </a:p>
        </p:txBody>
      </p:sp>
      <p:sp>
        <p:nvSpPr>
          <p:cNvPr id="53" name="Oval 8"/>
          <p:cNvSpPr>
            <a:spLocks noChangeArrowheads="1"/>
          </p:cNvSpPr>
          <p:nvPr/>
        </p:nvSpPr>
        <p:spPr bwMode="auto">
          <a:xfrm>
            <a:off x="108966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d</a:t>
            </a:r>
          </a:p>
        </p:txBody>
      </p:sp>
      <p:sp>
        <p:nvSpPr>
          <p:cNvPr id="54" name="Oval 10"/>
          <p:cNvSpPr>
            <a:spLocks noChangeArrowheads="1"/>
          </p:cNvSpPr>
          <p:nvPr/>
        </p:nvSpPr>
        <p:spPr bwMode="auto">
          <a:xfrm>
            <a:off x="94488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10896600" y="5715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G</a:t>
            </a:r>
          </a:p>
        </p:txBody>
      </p:sp>
      <p:cxnSp>
        <p:nvCxnSpPr>
          <p:cNvPr id="7" name="Straight Connector 6"/>
          <p:cNvCxnSpPr>
            <a:stCxn id="47" idx="4"/>
            <a:endCxn id="48" idx="7"/>
          </p:cNvCxnSpPr>
          <p:nvPr/>
        </p:nvCxnSpPr>
        <p:spPr>
          <a:xfrm flipH="1">
            <a:off x="9610445" y="2819400"/>
            <a:ext cx="371755" cy="2193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8" idx="4"/>
            <a:endCxn id="52" idx="0"/>
          </p:cNvCxnSpPr>
          <p:nvPr/>
        </p:nvCxnSpPr>
        <p:spPr>
          <a:xfrm>
            <a:off x="9448800" y="3429000"/>
            <a:ext cx="22860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1" idx="4"/>
            <a:endCxn id="53" idx="0"/>
          </p:cNvCxnSpPr>
          <p:nvPr/>
        </p:nvCxnSpPr>
        <p:spPr>
          <a:xfrm>
            <a:off x="11125200" y="4343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2" idx="4"/>
            <a:endCxn id="54" idx="0"/>
          </p:cNvCxnSpPr>
          <p:nvPr/>
        </p:nvCxnSpPr>
        <p:spPr>
          <a:xfrm>
            <a:off x="9677400" y="4343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1" idx="0"/>
            <a:endCxn id="48" idx="4"/>
          </p:cNvCxnSpPr>
          <p:nvPr/>
        </p:nvCxnSpPr>
        <p:spPr>
          <a:xfrm flipH="1" flipV="1">
            <a:off x="9448800" y="3429000"/>
            <a:ext cx="167640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48" idx="4"/>
            <a:endCxn id="49" idx="0"/>
          </p:cNvCxnSpPr>
          <p:nvPr/>
        </p:nvCxnSpPr>
        <p:spPr>
          <a:xfrm flipH="1">
            <a:off x="8915400" y="3429000"/>
            <a:ext cx="53340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49" idx="4"/>
            <a:endCxn id="50" idx="0"/>
          </p:cNvCxnSpPr>
          <p:nvPr/>
        </p:nvCxnSpPr>
        <p:spPr>
          <a:xfrm>
            <a:off x="8915400" y="4343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53" idx="4"/>
            <a:endCxn id="55" idx="0"/>
          </p:cNvCxnSpPr>
          <p:nvPr/>
        </p:nvCxnSpPr>
        <p:spPr>
          <a:xfrm>
            <a:off x="11125200" y="52578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 Box 19"/>
          <p:cNvSpPr txBox="1">
            <a:spLocks noChangeArrowheads="1"/>
          </p:cNvSpPr>
          <p:nvPr/>
        </p:nvSpPr>
        <p:spPr bwMode="auto">
          <a:xfrm>
            <a:off x="10287000" y="2209800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0 h=6</a:t>
            </a:r>
          </a:p>
        </p:txBody>
      </p:sp>
      <p:sp>
        <p:nvSpPr>
          <p:cNvPr id="65" name="Text Box 19"/>
          <p:cNvSpPr txBox="1">
            <a:spLocks noChangeArrowheads="1"/>
          </p:cNvSpPr>
          <p:nvPr/>
        </p:nvSpPr>
        <p:spPr bwMode="auto">
          <a:xfrm>
            <a:off x="8458200" y="2797316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1 h=5</a:t>
            </a:r>
          </a:p>
        </p:txBody>
      </p:sp>
      <p:sp>
        <p:nvSpPr>
          <p:cNvPr id="66" name="Text Box 19"/>
          <p:cNvSpPr txBox="1">
            <a:spLocks noChangeArrowheads="1"/>
          </p:cNvSpPr>
          <p:nvPr/>
        </p:nvSpPr>
        <p:spPr bwMode="auto">
          <a:xfrm>
            <a:off x="7848600" y="3733800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2 h=6</a:t>
            </a:r>
          </a:p>
        </p:txBody>
      </p:sp>
      <p:sp>
        <p:nvSpPr>
          <p:cNvPr id="67" name="Text Box 19"/>
          <p:cNvSpPr txBox="1">
            <a:spLocks noChangeArrowheads="1"/>
          </p:cNvSpPr>
          <p:nvPr/>
        </p:nvSpPr>
        <p:spPr bwMode="auto">
          <a:xfrm>
            <a:off x="7848600" y="4626116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3 h=7</a:t>
            </a:r>
          </a:p>
        </p:txBody>
      </p:sp>
      <p:sp>
        <p:nvSpPr>
          <p:cNvPr id="68" name="Text Box 19"/>
          <p:cNvSpPr txBox="1">
            <a:spLocks noChangeArrowheads="1"/>
          </p:cNvSpPr>
          <p:nvPr/>
        </p:nvSpPr>
        <p:spPr bwMode="auto">
          <a:xfrm>
            <a:off x="9829800" y="3810000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4 h=2</a:t>
            </a:r>
          </a:p>
        </p:txBody>
      </p:sp>
      <p:sp>
        <p:nvSpPr>
          <p:cNvPr id="69" name="Text Box 19"/>
          <p:cNvSpPr txBox="1">
            <a:spLocks noChangeArrowheads="1"/>
          </p:cNvSpPr>
          <p:nvPr/>
        </p:nvSpPr>
        <p:spPr bwMode="auto">
          <a:xfrm>
            <a:off x="9829800" y="4648200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6 h=0</a:t>
            </a:r>
          </a:p>
        </p:txBody>
      </p:sp>
      <p:sp>
        <p:nvSpPr>
          <p:cNvPr id="70" name="Text Box 19"/>
          <p:cNvSpPr txBox="1">
            <a:spLocks noChangeArrowheads="1"/>
          </p:cNvSpPr>
          <p:nvPr/>
        </p:nvSpPr>
        <p:spPr bwMode="auto">
          <a:xfrm>
            <a:off x="11277600" y="3711716"/>
            <a:ext cx="8382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9 h=1</a:t>
            </a:r>
          </a:p>
        </p:txBody>
      </p:sp>
      <p:sp>
        <p:nvSpPr>
          <p:cNvPr id="71" name="Text Box 19"/>
          <p:cNvSpPr txBox="1">
            <a:spLocks noChangeArrowheads="1"/>
          </p:cNvSpPr>
          <p:nvPr/>
        </p:nvSpPr>
        <p:spPr bwMode="auto">
          <a:xfrm>
            <a:off x="11277600" y="4702316"/>
            <a:ext cx="9144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10 h=2</a:t>
            </a:r>
          </a:p>
        </p:txBody>
      </p:sp>
      <p:sp>
        <p:nvSpPr>
          <p:cNvPr id="72" name="Text Box 19"/>
          <p:cNvSpPr txBox="1">
            <a:spLocks noChangeArrowheads="1"/>
          </p:cNvSpPr>
          <p:nvPr/>
        </p:nvSpPr>
        <p:spPr bwMode="auto">
          <a:xfrm>
            <a:off x="11277600" y="5562600"/>
            <a:ext cx="9144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g = 12 h=0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9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997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Khi nào A* nên kết thúc ?</a:t>
            </a:r>
          </a:p>
        </p:txBody>
      </p:sp>
      <p:sp>
        <p:nvSpPr>
          <p:cNvPr id="798748" name="Rectangle 28"/>
          <p:cNvSpPr>
            <a:spLocks noGrp="1" noChangeArrowheads="1"/>
          </p:cNvSpPr>
          <p:nvPr>
            <p:ph idx="1"/>
          </p:nvPr>
        </p:nvSpPr>
        <p:spPr>
          <a:xfrm>
            <a:off x="2209800" y="1447800"/>
            <a:ext cx="9728200" cy="4105174"/>
          </a:xfrm>
        </p:spPr>
        <p:txBody>
          <a:bodyPr/>
          <a:lstStyle/>
          <a:p>
            <a:pPr eaLnBrk="1" hangingPunct="1"/>
            <a:r>
              <a:rPr lang="vi-VN" dirty="0">
                <a:latin typeface="Calibri"/>
                <a:cs typeface="Calibri"/>
              </a:rPr>
              <a:t>Kết thúc khi đưa trạng thái mục tiêu vào hàng đợi </a:t>
            </a:r>
            <a:r>
              <a:rPr lang="vi-VN" noProof="0" dirty="0">
                <a:latin typeface="Calibri"/>
                <a:cs typeface="Calibri"/>
              </a:rPr>
              <a:t>?</a:t>
            </a: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r>
              <a:rPr lang="vi-VN" noProof="0" dirty="0">
                <a:solidFill>
                  <a:srgbClr val="FF0000"/>
                </a:solidFill>
                <a:latin typeface="Calibri"/>
                <a:cs typeface="Calibri"/>
              </a:rPr>
              <a:t>Không</a:t>
            </a:r>
            <a:r>
              <a:rPr lang="vi-VN" noProof="0" dirty="0">
                <a:latin typeface="Calibri"/>
                <a:cs typeface="Calibri"/>
              </a:rPr>
              <a:t> ! Chỉ kết thúc khi lấy trạng thái mục tiêu khỏi hàng đợi</a:t>
            </a: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3276600" y="3505200"/>
            <a:ext cx="609600" cy="59531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5365" name="AutoShape 6"/>
          <p:cNvSpPr>
            <a:spLocks noChangeArrowheads="1"/>
          </p:cNvSpPr>
          <p:nvPr/>
        </p:nvSpPr>
        <p:spPr bwMode="auto">
          <a:xfrm>
            <a:off x="5867400" y="4419600"/>
            <a:ext cx="609600" cy="59531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B</a:t>
            </a:r>
          </a:p>
        </p:txBody>
      </p:sp>
      <p:sp>
        <p:nvSpPr>
          <p:cNvPr id="15366" name="AutoShape 8"/>
          <p:cNvSpPr>
            <a:spLocks noChangeArrowheads="1"/>
          </p:cNvSpPr>
          <p:nvPr/>
        </p:nvSpPr>
        <p:spPr bwMode="auto">
          <a:xfrm>
            <a:off x="5867400" y="2528888"/>
            <a:ext cx="609600" cy="59531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15367" name="AutoShape 9"/>
          <p:cNvSpPr>
            <a:spLocks noChangeArrowheads="1"/>
          </p:cNvSpPr>
          <p:nvPr/>
        </p:nvSpPr>
        <p:spPr bwMode="auto">
          <a:xfrm>
            <a:off x="8382000" y="3519488"/>
            <a:ext cx="609600" cy="59531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15368" name="Line 10"/>
          <p:cNvSpPr>
            <a:spLocks noChangeShapeType="1"/>
          </p:cNvSpPr>
          <p:nvPr/>
        </p:nvSpPr>
        <p:spPr bwMode="auto">
          <a:xfrm>
            <a:off x="6477000" y="2819400"/>
            <a:ext cx="19050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5369" name="Line 13"/>
          <p:cNvSpPr>
            <a:spLocks noChangeShapeType="1"/>
          </p:cNvSpPr>
          <p:nvPr/>
        </p:nvSpPr>
        <p:spPr bwMode="auto">
          <a:xfrm flipH="1">
            <a:off x="3886200" y="2819400"/>
            <a:ext cx="19812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5370" name="Line 14"/>
          <p:cNvSpPr>
            <a:spLocks noChangeShapeType="1"/>
          </p:cNvSpPr>
          <p:nvPr/>
        </p:nvSpPr>
        <p:spPr bwMode="auto">
          <a:xfrm>
            <a:off x="3886200" y="3962400"/>
            <a:ext cx="19812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5371" name="Line 15"/>
          <p:cNvSpPr>
            <a:spLocks noChangeShapeType="1"/>
          </p:cNvSpPr>
          <p:nvPr/>
        </p:nvSpPr>
        <p:spPr bwMode="auto">
          <a:xfrm flipH="1">
            <a:off x="6477000" y="3962400"/>
            <a:ext cx="19050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5372" name="Text Box 16"/>
          <p:cNvSpPr txBox="1">
            <a:spLocks noChangeArrowheads="1"/>
          </p:cNvSpPr>
          <p:nvPr/>
        </p:nvSpPr>
        <p:spPr bwMode="auto">
          <a:xfrm>
            <a:off x="4572000" y="2667000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2</a:t>
            </a:r>
          </a:p>
        </p:txBody>
      </p:sp>
      <p:sp>
        <p:nvSpPr>
          <p:cNvPr id="15373" name="Text Box 19"/>
          <p:cNvSpPr txBox="1">
            <a:spLocks noChangeArrowheads="1"/>
          </p:cNvSpPr>
          <p:nvPr/>
        </p:nvSpPr>
        <p:spPr bwMode="auto">
          <a:xfrm>
            <a:off x="7315200" y="4433888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3</a:t>
            </a:r>
          </a:p>
        </p:txBody>
      </p:sp>
      <p:sp>
        <p:nvSpPr>
          <p:cNvPr id="15374" name="Text Box 20"/>
          <p:cNvSpPr txBox="1">
            <a:spLocks noChangeArrowheads="1"/>
          </p:cNvSpPr>
          <p:nvPr/>
        </p:nvSpPr>
        <p:spPr bwMode="auto">
          <a:xfrm>
            <a:off x="7315200" y="2681288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2</a:t>
            </a:r>
          </a:p>
        </p:txBody>
      </p:sp>
      <p:sp>
        <p:nvSpPr>
          <p:cNvPr id="15375" name="Text Box 21"/>
          <p:cNvSpPr txBox="1">
            <a:spLocks noChangeArrowheads="1"/>
          </p:cNvSpPr>
          <p:nvPr/>
        </p:nvSpPr>
        <p:spPr bwMode="auto">
          <a:xfrm>
            <a:off x="4572000" y="4419600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2</a:t>
            </a:r>
          </a:p>
        </p:txBody>
      </p:sp>
      <p:sp>
        <p:nvSpPr>
          <p:cNvPr id="15376" name="Text Box 22"/>
          <p:cNvSpPr txBox="1">
            <a:spLocks noChangeArrowheads="1"/>
          </p:cNvSpPr>
          <p:nvPr/>
        </p:nvSpPr>
        <p:spPr bwMode="auto">
          <a:xfrm>
            <a:off x="5867400" y="5040870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/>
                <a:cs typeface="Calibri"/>
              </a:rPr>
              <a:t>h = 1</a:t>
            </a:r>
          </a:p>
        </p:txBody>
      </p:sp>
      <p:sp>
        <p:nvSpPr>
          <p:cNvPr id="15377" name="Text Box 25"/>
          <p:cNvSpPr txBox="1">
            <a:spLocks noChangeArrowheads="1"/>
          </p:cNvSpPr>
          <p:nvPr/>
        </p:nvSpPr>
        <p:spPr bwMode="auto">
          <a:xfrm>
            <a:off x="5867400" y="2145270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/>
                <a:cs typeface="Calibri"/>
              </a:rPr>
              <a:t>h = 2</a:t>
            </a:r>
          </a:p>
        </p:txBody>
      </p:sp>
      <p:sp>
        <p:nvSpPr>
          <p:cNvPr id="15378" name="Text Box 26"/>
          <p:cNvSpPr txBox="1">
            <a:spLocks noChangeArrowheads="1"/>
          </p:cNvSpPr>
          <p:nvPr/>
        </p:nvSpPr>
        <p:spPr bwMode="auto">
          <a:xfrm>
            <a:off x="7620000" y="3593070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/>
                <a:cs typeface="Calibri"/>
              </a:rPr>
              <a:t>h = 0</a:t>
            </a:r>
          </a:p>
        </p:txBody>
      </p:sp>
      <p:sp>
        <p:nvSpPr>
          <p:cNvPr id="15379" name="Text Box 27"/>
          <p:cNvSpPr txBox="1">
            <a:spLocks noChangeArrowheads="1"/>
          </p:cNvSpPr>
          <p:nvPr/>
        </p:nvSpPr>
        <p:spPr bwMode="auto">
          <a:xfrm>
            <a:off x="3962400" y="3593070"/>
            <a:ext cx="9144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/>
                <a:cs typeface="Calibri"/>
              </a:rPr>
              <a:t>h 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4000" noProof="0" dirty="0">
                <a:latin typeface="Calibri"/>
                <a:cs typeface="Calibri"/>
              </a:rPr>
              <a:t>A* có tối ưu ?</a:t>
            </a:r>
          </a:p>
        </p:txBody>
      </p:sp>
      <p:sp>
        <p:nvSpPr>
          <p:cNvPr id="803856" name="Rectangle 16"/>
          <p:cNvSpPr>
            <a:spLocks noGrp="1" noChangeArrowheads="1"/>
          </p:cNvSpPr>
          <p:nvPr>
            <p:ph idx="1"/>
          </p:nvPr>
        </p:nvSpPr>
        <p:spPr>
          <a:xfrm>
            <a:off x="2209800" y="4872033"/>
            <a:ext cx="9575800" cy="9445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800" noProof="0" dirty="0">
                <a:latin typeface="Calibri"/>
                <a:cs typeface="Calibri"/>
              </a:rPr>
              <a:t>Sai lầm xảy ra tại sao ?</a:t>
            </a:r>
          </a:p>
          <a:p>
            <a:pPr eaLnBrk="1" hangingPunct="1">
              <a:lnSpc>
                <a:spcPct val="90000"/>
              </a:lnSpc>
            </a:pPr>
            <a:r>
              <a:rPr lang="vi-VN" sz="2800" noProof="0" dirty="0">
                <a:latin typeface="Calibri"/>
                <a:cs typeface="Calibri"/>
              </a:rPr>
              <a:t>Chi phí thật của trạng thái mục tiêu tồi </a:t>
            </a:r>
            <a:br>
              <a:rPr lang="vi-VN" sz="2800" noProof="0" dirty="0">
                <a:latin typeface="Calibri"/>
                <a:cs typeface="Calibri"/>
              </a:rPr>
            </a:br>
            <a:r>
              <a:rPr lang="vi-VN" sz="2800" noProof="0" dirty="0">
                <a:latin typeface="Calibri"/>
                <a:cs typeface="Calibri"/>
              </a:rPr>
              <a:t>&lt; Chi phí ước lượng của trạng thái mục tiêu tốt</a:t>
            </a:r>
          </a:p>
          <a:p>
            <a:pPr eaLnBrk="1" hangingPunct="1">
              <a:lnSpc>
                <a:spcPct val="90000"/>
              </a:lnSpc>
            </a:pPr>
            <a:r>
              <a:rPr lang="vi-VN" sz="2800" noProof="0" dirty="0">
                <a:latin typeface="Calibri"/>
                <a:cs typeface="Calibri"/>
              </a:rPr>
              <a:t>Cần ước lượng nhỏ hơn chi phí thật !</a:t>
            </a:r>
          </a:p>
        </p:txBody>
      </p:sp>
      <p:sp>
        <p:nvSpPr>
          <p:cNvPr id="16387" name="AutoShape 3"/>
          <p:cNvSpPr>
            <a:spLocks noChangeArrowheads="1"/>
          </p:cNvSpPr>
          <p:nvPr/>
        </p:nvSpPr>
        <p:spPr bwMode="auto">
          <a:xfrm>
            <a:off x="5791200" y="1752598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16388" name="AutoShape 4"/>
          <p:cNvSpPr>
            <a:spLocks noChangeArrowheads="1"/>
          </p:cNvSpPr>
          <p:nvPr/>
        </p:nvSpPr>
        <p:spPr bwMode="auto">
          <a:xfrm>
            <a:off x="8763000" y="3238499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2819400" y="3124198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3886200" y="1752599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7848600" y="1752599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3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5715000" y="1295399"/>
            <a:ext cx="9144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 = 6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9448800" y="3288269"/>
            <a:ext cx="9144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 = 0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0" y="4038600"/>
            <a:ext cx="1219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5</a:t>
            </a:r>
          </a:p>
        </p:txBody>
      </p:sp>
      <p:sp>
        <p:nvSpPr>
          <p:cNvPr id="16398" name="Text Box 15"/>
          <p:cNvSpPr txBox="1">
            <a:spLocks noChangeArrowheads="1"/>
          </p:cNvSpPr>
          <p:nvPr/>
        </p:nvSpPr>
        <p:spPr bwMode="auto">
          <a:xfrm>
            <a:off x="3505200" y="3200399"/>
            <a:ext cx="762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</a:t>
            </a:r>
            <a:r>
              <a:rPr lang="en-US" sz="2000" dirty="0">
                <a:latin typeface="Calibri"/>
                <a:cs typeface="Calibri"/>
              </a:rPr>
              <a:t> = </a:t>
            </a:r>
            <a:r>
              <a:rPr lang="en-US" sz="2000" i="1" dirty="0">
                <a:latin typeface="Calibri"/>
                <a:cs typeface="Calibri"/>
              </a:rPr>
              <a:t>7</a:t>
            </a:r>
          </a:p>
        </p:txBody>
      </p:sp>
      <p:cxnSp>
        <p:nvCxnSpPr>
          <p:cNvPr id="26" name="Curved Connector 25"/>
          <p:cNvCxnSpPr>
            <a:stCxn id="16389" idx="2"/>
            <a:endCxn id="16388" idx="2"/>
          </p:cNvCxnSpPr>
          <p:nvPr/>
        </p:nvCxnSpPr>
        <p:spPr>
          <a:xfrm rot="16200000" flipH="1">
            <a:off x="6038850" y="781049"/>
            <a:ext cx="114301" cy="5943600"/>
          </a:xfrm>
          <a:prstGeom prst="curvedConnector3">
            <a:avLst>
              <a:gd name="adj1" fmla="val 792305"/>
            </a:avLst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6389" idx="0"/>
            <a:endCxn id="16387" idx="1"/>
          </p:cNvCxnSpPr>
          <p:nvPr/>
        </p:nvCxnSpPr>
        <p:spPr>
          <a:xfrm rot="5400000" flipH="1" flipV="1">
            <a:off x="3914776" y="1247774"/>
            <a:ext cx="1085849" cy="2667000"/>
          </a:xfrm>
          <a:prstGeom prst="curvedConnector2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27"/>
          <p:cNvCxnSpPr>
            <a:stCxn id="16387" idx="3"/>
            <a:endCxn id="16388" idx="0"/>
          </p:cNvCxnSpPr>
          <p:nvPr/>
        </p:nvCxnSpPr>
        <p:spPr>
          <a:xfrm>
            <a:off x="6400800" y="2038349"/>
            <a:ext cx="2667000" cy="1200150"/>
          </a:xfrm>
          <a:prstGeom prst="curvedConnector2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Hàm kinh nghiệm chấp nhận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6543" y="1219379"/>
            <a:ext cx="6398914" cy="4832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40661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Ý tưởng: Tính chấp nhận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068" y="1143000"/>
            <a:ext cx="5555264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1595" y="1143152"/>
            <a:ext cx="5397497" cy="4076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57200" y="5257800"/>
            <a:ext cx="556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latin typeface="Calibri" pitchFamily="34" charset="0"/>
              </a:rPr>
              <a:t>Hàm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kinh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nghiệm</a:t>
            </a:r>
            <a:r>
              <a:rPr lang="en-US" sz="2200" dirty="0">
                <a:latin typeface="Calibri" pitchFamily="34" charset="0"/>
              </a:rPr>
              <a:t> bi </a:t>
            </a:r>
            <a:r>
              <a:rPr lang="en-US" sz="2200" dirty="0" err="1">
                <a:latin typeface="Calibri" pitchFamily="34" charset="0"/>
              </a:rPr>
              <a:t>quan</a:t>
            </a:r>
            <a:r>
              <a:rPr lang="en-US" sz="2200" dirty="0">
                <a:latin typeface="Calibri" pitchFamily="34" charset="0"/>
              </a:rPr>
              <a:t> (</a:t>
            </a:r>
            <a:r>
              <a:rPr lang="en-US" sz="2200" dirty="0" err="1">
                <a:latin typeface="Calibri" pitchFamily="34" charset="0"/>
              </a:rPr>
              <a:t>ước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lượng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quá</a:t>
            </a:r>
            <a:r>
              <a:rPr lang="en-US" sz="2200" dirty="0">
                <a:latin typeface="Calibri" pitchFamily="34" charset="0"/>
              </a:rPr>
              <a:t>) </a:t>
            </a:r>
            <a:r>
              <a:rPr lang="en-US" sz="2200" dirty="0" err="1">
                <a:latin typeface="Calibri" pitchFamily="34" charset="0"/>
              </a:rPr>
              <a:t>giữ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kế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hoạch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tốt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trong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biên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tìm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kiếm</a:t>
            </a:r>
            <a:endParaRPr lang="en-US" sz="2200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7000" y="5257800"/>
            <a:ext cx="556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latin typeface="Calibri" pitchFamily="34" charset="0"/>
              </a:rPr>
              <a:t>Hàm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kinh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nghiệm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lạc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quan</a:t>
            </a:r>
            <a:r>
              <a:rPr lang="en-US" sz="2200" dirty="0">
                <a:latin typeface="Calibri" pitchFamily="34" charset="0"/>
              </a:rPr>
              <a:t> (</a:t>
            </a:r>
            <a:r>
              <a:rPr lang="en-US" sz="2200" dirty="0" err="1">
                <a:latin typeface="Calibri" pitchFamily="34" charset="0"/>
              </a:rPr>
              <a:t>ước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lượng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thiếu</a:t>
            </a:r>
            <a:r>
              <a:rPr lang="en-US" sz="2200" dirty="0">
                <a:latin typeface="Calibri" pitchFamily="34" charset="0"/>
              </a:rPr>
              <a:t>) </a:t>
            </a:r>
            <a:r>
              <a:rPr lang="en-US" sz="2200" dirty="0" err="1">
                <a:latin typeface="Calibri" pitchFamily="34" charset="0"/>
              </a:rPr>
              <a:t>không</a:t>
            </a:r>
            <a:r>
              <a:rPr lang="en-US" sz="2200" dirty="0">
                <a:latin typeface="Calibri" pitchFamily="34" charset="0"/>
              </a:rPr>
              <a:t> bao </a:t>
            </a:r>
            <a:r>
              <a:rPr lang="en-US" sz="2200" dirty="0" err="1">
                <a:latin typeface="Calibri" pitchFamily="34" charset="0"/>
              </a:rPr>
              <a:t>giờ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vượt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quá</a:t>
            </a:r>
            <a:r>
              <a:rPr lang="en-US" sz="2200" dirty="0">
                <a:latin typeface="Calibri" pitchFamily="34" charset="0"/>
              </a:rPr>
              <a:t> chi </a:t>
            </a:r>
            <a:r>
              <a:rPr lang="en-US" sz="2200" dirty="0" err="1">
                <a:latin typeface="Calibri" pitchFamily="34" charset="0"/>
              </a:rPr>
              <a:t>phí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latin typeface="Calibri" pitchFamily="34" charset="0"/>
              </a:rPr>
              <a:t>thật</a:t>
            </a:r>
            <a:endParaRPr lang="en-US" sz="22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Hàm kinh nghiệm chấp nhận được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11277600" cy="4876800"/>
          </a:xfrm>
        </p:spPr>
        <p:txBody>
          <a:bodyPr/>
          <a:lstStyle/>
          <a:p>
            <a:pPr eaLnBrk="1" hangingPunct="1"/>
            <a:r>
              <a:rPr lang="vi-VN" noProof="0" dirty="0"/>
              <a:t>Hàm kinh nghiệm </a:t>
            </a:r>
            <a:r>
              <a:rPr lang="vi-VN" i="1" noProof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vi-VN" noProof="0" dirty="0"/>
              <a:t> </a:t>
            </a:r>
            <a:r>
              <a:rPr lang="vi-VN" i="1" noProof="0" dirty="0">
                <a:solidFill>
                  <a:srgbClr val="C00000"/>
                </a:solidFill>
              </a:rPr>
              <a:t>chấp nhận được</a:t>
            </a:r>
            <a:r>
              <a:rPr lang="vi-VN" i="1" noProof="0" dirty="0"/>
              <a:t> </a:t>
            </a:r>
            <a:r>
              <a:rPr lang="vi-VN" noProof="0" dirty="0"/>
              <a:t>(lạc quan) nếu:</a:t>
            </a:r>
          </a:p>
          <a:p>
            <a:pPr lvl="1"/>
            <a:endParaRPr lang="vi-VN" noProof="0" dirty="0"/>
          </a:p>
          <a:p>
            <a:pPr lvl="1"/>
            <a:endParaRPr lang="vi-VN" noProof="0" dirty="0"/>
          </a:p>
          <a:p>
            <a:pPr eaLnBrk="1" hangingPunct="1">
              <a:buFont typeface="Wingdings" pitchFamily="2" charset="2"/>
              <a:buNone/>
            </a:pPr>
            <a:r>
              <a:rPr lang="vi-VN" noProof="0" dirty="0"/>
              <a:t>	trong đó               là chi phí đến trạng thái mục tiêu gần nhất</a:t>
            </a:r>
          </a:p>
          <a:p>
            <a:pPr eaLnBrk="1" hangingPunct="1">
              <a:buFont typeface="Wingdings" pitchFamily="2" charset="2"/>
              <a:buNone/>
            </a:pPr>
            <a:endParaRPr lang="vi-VN" sz="1600" noProof="0" dirty="0"/>
          </a:p>
          <a:p>
            <a:pPr eaLnBrk="1" hangingPunct="1"/>
            <a:r>
              <a:rPr lang="vi-VN" noProof="0" dirty="0"/>
              <a:t>Ví dụ:</a:t>
            </a:r>
          </a:p>
          <a:p>
            <a:pPr eaLnBrk="1" hangingPunct="1"/>
            <a:endParaRPr lang="vi-VN" noProof="0" dirty="0"/>
          </a:p>
          <a:p>
            <a:pPr eaLnBrk="1" hangingPunct="1"/>
            <a:endParaRPr lang="vi-VN" noProof="0" dirty="0"/>
          </a:p>
          <a:p>
            <a:pPr eaLnBrk="1" hangingPunct="1"/>
            <a:r>
              <a:rPr lang="vi-VN" noProof="0" dirty="0"/>
              <a:t>Áp dụng A* </a:t>
            </a:r>
            <a:r>
              <a:rPr lang="vi-VN" noProof="0" dirty="0">
                <a:sym typeface="Wingdings" pitchFamily="2" charset="2"/>
              </a:rPr>
              <a:t> tìm một hàm mục tiêu chấp nhận được</a:t>
            </a:r>
            <a:r>
              <a:rPr lang="vi-VN" noProof="0" dirty="0"/>
              <a:t>.</a:t>
            </a:r>
          </a:p>
        </p:txBody>
      </p:sp>
      <p:pic>
        <p:nvPicPr>
          <p:cNvPr id="20" name="Picture 19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4343400" y="2133600"/>
            <a:ext cx="3130785" cy="403304"/>
          </a:xfrm>
          <a:prstGeom prst="rect">
            <a:avLst/>
          </a:prstGeom>
          <a:noFill/>
          <a:ln/>
          <a:effectLst/>
        </p:spPr>
      </p:pic>
      <p:pic>
        <p:nvPicPr>
          <p:cNvPr id="17413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4600" y="2949575"/>
            <a:ext cx="979488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7661275" y="4114804"/>
            <a:ext cx="2641750" cy="599323"/>
            <a:chOff x="2098675" y="4903173"/>
            <a:chExt cx="1406525" cy="319544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2727325" y="5028769"/>
              <a:ext cx="495300" cy="0"/>
            </a:xfrm>
            <a:prstGeom prst="line">
              <a:avLst/>
            </a:prstGeom>
            <a:ln w="762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2655888" y="5125744"/>
              <a:ext cx="636587" cy="0"/>
            </a:xfrm>
            <a:prstGeom prst="line">
              <a:avLst/>
            </a:prstGeom>
            <a:ln w="762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2479675" y="4930204"/>
              <a:ext cx="1025525" cy="1590"/>
            </a:xfrm>
            <a:prstGeom prst="line">
              <a:avLst/>
            </a:prstGeom>
            <a:ln w="762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2586038" y="5221128"/>
              <a:ext cx="812800" cy="1589"/>
            </a:xfrm>
            <a:prstGeom prst="line">
              <a:avLst/>
            </a:prstGeom>
            <a:ln w="762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24" name="TextBox 150"/>
            <p:cNvSpPr txBox="1">
              <a:spLocks noChangeArrowheads="1"/>
            </p:cNvSpPr>
            <p:nvPr/>
          </p:nvSpPr>
          <p:spPr bwMode="auto">
            <a:xfrm>
              <a:off x="2098675" y="4903173"/>
              <a:ext cx="304800" cy="278968"/>
            </a:xfrm>
            <a:prstGeom prst="rect">
              <a:avLst/>
            </a:prstGeom>
            <a:noFill/>
            <a:ln w="762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800" dirty="0">
                  <a:solidFill>
                    <a:srgbClr val="C00000"/>
                  </a:solidFill>
                  <a:latin typeface="Calibri"/>
                  <a:cs typeface="Calibri"/>
                </a:rPr>
                <a:t>4</a:t>
              </a: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3314701" y="3962400"/>
            <a:ext cx="2663825" cy="1196975"/>
            <a:chOff x="4724400" y="4114800"/>
            <a:chExt cx="2663541" cy="1197700"/>
          </a:xfrm>
        </p:grpSpPr>
        <p:pic>
          <p:nvPicPr>
            <p:cNvPr id="17416" name="Picture 2" descr="Z:\Shared with PC\smallMaze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724400" y="4114800"/>
              <a:ext cx="2663541" cy="119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4" name="Straight Arrow Connector 13"/>
            <p:cNvCxnSpPr/>
            <p:nvPr/>
          </p:nvCxnSpPr>
          <p:spPr bwMode="auto">
            <a:xfrm rot="10800000" flipV="1">
              <a:off x="4952976" y="4553215"/>
              <a:ext cx="1125418" cy="1906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18" name="TextBox 17"/>
            <p:cNvSpPr txBox="1">
              <a:spLocks noChangeArrowheads="1"/>
            </p:cNvSpPr>
            <p:nvPr/>
          </p:nvSpPr>
          <p:spPr bwMode="auto">
            <a:xfrm>
              <a:off x="5105401" y="4648200"/>
              <a:ext cx="548590" cy="52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Calibri"/>
                  <a:cs typeface="Calibri"/>
                </a:rPr>
                <a:t>15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 rot="5400000">
              <a:off x="4648785" y="4876468"/>
              <a:ext cx="609969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cây tìm kiếm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6501" y="1753559"/>
            <a:ext cx="5862797" cy="4222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42900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cây tìm kiếm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18447" name="Content Placeholder 19"/>
          <p:cNvSpPr>
            <a:spLocks noGrp="1"/>
          </p:cNvSpPr>
          <p:nvPr>
            <p:ph idx="1"/>
          </p:nvPr>
        </p:nvSpPr>
        <p:spPr>
          <a:xfrm>
            <a:off x="1371440" y="1447800"/>
            <a:ext cx="5486560" cy="45259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vi-VN" sz="2400" noProof="0" dirty="0">
                <a:latin typeface="Calibri"/>
                <a:cs typeface="Calibri"/>
              </a:rPr>
              <a:t>Giả sử:</a:t>
            </a:r>
          </a:p>
          <a:p>
            <a:r>
              <a:rPr lang="vi-VN" sz="2400" noProof="0" dirty="0">
                <a:latin typeface="Calibri"/>
                <a:cs typeface="Calibri"/>
              </a:rPr>
              <a:t>A là trạng thái mục tiêu tối ưu</a:t>
            </a:r>
          </a:p>
          <a:p>
            <a:r>
              <a:rPr lang="vi-VN" sz="2400" noProof="0" dirty="0">
                <a:latin typeface="Calibri"/>
                <a:cs typeface="Calibri"/>
              </a:rPr>
              <a:t>B là trạng thái mục tiêu </a:t>
            </a:r>
            <a:r>
              <a:rPr lang="vi-VN" sz="2400" noProof="0" dirty="0">
                <a:solidFill>
                  <a:srgbClr val="FF0000"/>
                </a:solidFill>
                <a:latin typeface="Calibri"/>
                <a:cs typeface="Calibri"/>
              </a:rPr>
              <a:t>không</a:t>
            </a:r>
            <a:r>
              <a:rPr lang="vi-VN" sz="2400" noProof="0" dirty="0">
                <a:latin typeface="Calibri"/>
                <a:cs typeface="Calibri"/>
              </a:rPr>
              <a:t> tối ưu</a:t>
            </a:r>
          </a:p>
          <a:p>
            <a:r>
              <a:rPr lang="vi-VN" sz="2400" noProof="0" dirty="0">
                <a:latin typeface="Calibri"/>
                <a:cs typeface="Calibri"/>
              </a:rPr>
              <a:t>h chấp nhận được</a:t>
            </a:r>
          </a:p>
          <a:p>
            <a:pPr>
              <a:lnSpc>
                <a:spcPct val="150000"/>
              </a:lnSpc>
            </a:pPr>
            <a:endParaRPr lang="vi-VN" sz="1200" noProof="0" dirty="0">
              <a:latin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vi-VN" sz="2400" noProof="0" dirty="0">
                <a:latin typeface="Calibri"/>
                <a:cs typeface="Calibri"/>
              </a:rPr>
              <a:t>Kết luận:</a:t>
            </a:r>
          </a:p>
          <a:p>
            <a:r>
              <a:rPr lang="vi-VN" sz="2400" noProof="0" dirty="0">
                <a:latin typeface="Calibri"/>
                <a:cs typeface="Calibri"/>
              </a:rPr>
              <a:t>A sẽ ra khỏi biên tìm kiếm trước B</a:t>
            </a:r>
          </a:p>
          <a:p>
            <a:pPr marL="0" indent="0">
              <a:buNone/>
            </a:pPr>
            <a:r>
              <a:rPr lang="vi-VN" sz="2400" dirty="0">
                <a:latin typeface="Calibri"/>
                <a:cs typeface="Calibri"/>
                <a:sym typeface="Wingdings" pitchFamily="2" charset="2"/>
              </a:rPr>
              <a:t> Tìm được kế hoạch tối ưu</a:t>
            </a:r>
            <a:endParaRPr lang="vi-VN" sz="2400" noProof="0" dirty="0">
              <a:latin typeface="Calibri"/>
              <a:cs typeface="Calibri"/>
            </a:endParaRPr>
          </a:p>
        </p:txBody>
      </p:sp>
      <p:sp>
        <p:nvSpPr>
          <p:cNvPr id="17" name="Freeform 12"/>
          <p:cNvSpPr>
            <a:spLocks/>
          </p:cNvSpPr>
          <p:nvPr/>
        </p:nvSpPr>
        <p:spPr bwMode="auto">
          <a:xfrm>
            <a:off x="7384889" y="1789113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8" name="Oval 13"/>
          <p:cNvSpPr>
            <a:spLocks noChangeArrowheads="1"/>
          </p:cNvSpPr>
          <p:nvPr/>
        </p:nvSpPr>
        <p:spPr bwMode="auto">
          <a:xfrm>
            <a:off x="8507250" y="2144712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19" name="Oval 14"/>
          <p:cNvSpPr>
            <a:spLocks noChangeArrowheads="1"/>
          </p:cNvSpPr>
          <p:nvPr/>
        </p:nvSpPr>
        <p:spPr bwMode="auto">
          <a:xfrm>
            <a:off x="8983501" y="2135187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8637425" y="1995486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21" name="Oval 16"/>
          <p:cNvSpPr>
            <a:spLocks noChangeArrowheads="1"/>
          </p:cNvSpPr>
          <p:nvPr/>
        </p:nvSpPr>
        <p:spPr bwMode="auto">
          <a:xfrm>
            <a:off x="9989976" y="3832224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2" name="Oval 17"/>
          <p:cNvSpPr>
            <a:spLocks noChangeArrowheads="1"/>
          </p:cNvSpPr>
          <p:nvPr/>
        </p:nvSpPr>
        <p:spPr bwMode="auto">
          <a:xfrm>
            <a:off x="7703976" y="3527424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3" name="Oval 21"/>
          <p:cNvSpPr>
            <a:spLocks noChangeArrowheads="1"/>
          </p:cNvSpPr>
          <p:nvPr/>
        </p:nvSpPr>
        <p:spPr bwMode="auto">
          <a:xfrm>
            <a:off x="8739026" y="1719262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28" name="Picture 2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0334304" y="3819722"/>
            <a:ext cx="257496" cy="241101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7285983" y="3514921"/>
            <a:ext cx="257817" cy="257817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3296152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ular Callout 44"/>
          <p:cNvSpPr/>
          <p:nvPr/>
        </p:nvSpPr>
        <p:spPr>
          <a:xfrm>
            <a:off x="5410200" y="4572000"/>
            <a:ext cx="6553200" cy="1905000"/>
          </a:xfrm>
          <a:prstGeom prst="wedgeRoundRectCallout">
            <a:avLst>
              <a:gd name="adj1" fmla="val -60117"/>
              <a:gd name="adj2" fmla="val -90421"/>
              <a:gd name="adj3" fmla="val 1666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Tính tối ưu của A* trên cây tìm kiếm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7"/>
            <a:ext cx="49530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vi-VN" sz="2400" noProof="0" dirty="0">
                <a:latin typeface="Calibri"/>
                <a:cs typeface="Calibri"/>
              </a:rPr>
              <a:t>Chứng minh: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Giả sử B nằm trong biên tìm kiếm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Giả sử một nút n là tổ tiên của A (hoặc chính là A) cũng nằm trong biên tìm kiếm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Thì: </a:t>
            </a:r>
            <a:r>
              <a:rPr lang="vi-VN" sz="2400" i="1" noProof="0" dirty="0">
                <a:latin typeface="Calibri"/>
                <a:cs typeface="Calibri"/>
              </a:rPr>
              <a:t>n</a:t>
            </a:r>
            <a:r>
              <a:rPr lang="vi-VN" sz="2400" noProof="0" dirty="0">
                <a:latin typeface="Calibri"/>
                <a:cs typeface="Calibri"/>
              </a:rPr>
              <a:t> được mở rộng (ra khỏi biên tìm kiếm) trước B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noProof="0" dirty="0">
                <a:latin typeface="Calibri"/>
                <a:cs typeface="Calibri"/>
              </a:rPr>
              <a:t>f(n) </a:t>
            </a:r>
            <a:r>
              <a:rPr lang="vi-VN" sz="2400" dirty="0">
                <a:latin typeface="Calibri"/>
                <a:cs typeface="Calibri"/>
              </a:rPr>
              <a:t>≤ </a:t>
            </a:r>
            <a:r>
              <a:rPr lang="vi-VN" sz="2400" noProof="0" dirty="0">
                <a:latin typeface="Calibri"/>
                <a:cs typeface="Calibri"/>
              </a:rPr>
              <a:t>f(A)</a:t>
            </a:r>
          </a:p>
        </p:txBody>
      </p:sp>
      <p:pic>
        <p:nvPicPr>
          <p:cNvPr id="22" name="Picture 2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15000" y="4903471"/>
            <a:ext cx="3013075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/>
          <p:cNvSpPr txBox="1"/>
          <p:nvPr/>
        </p:nvSpPr>
        <p:spPr>
          <a:xfrm>
            <a:off x="9144000" y="4822578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Calibri"/>
                <a:cs typeface="Calibri"/>
              </a:rPr>
              <a:t>Định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nghĩa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của</a:t>
            </a:r>
            <a:r>
              <a:rPr lang="en-US" sz="2600" dirty="0">
                <a:latin typeface="Calibri"/>
                <a:cs typeface="Calibri"/>
              </a:rPr>
              <a:t> f</a:t>
            </a:r>
          </a:p>
        </p:txBody>
      </p:sp>
      <p:pic>
        <p:nvPicPr>
          <p:cNvPr id="25" name="Picture 24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5714998" y="5374957"/>
            <a:ext cx="1864893" cy="318467"/>
          </a:xfrm>
          <a:prstGeom prst="rect">
            <a:avLst/>
          </a:prstGeom>
          <a:noFill/>
          <a:ln/>
          <a:effectLst/>
        </p:spPr>
      </p:pic>
      <p:sp>
        <p:nvSpPr>
          <p:cNvPr id="24" name="TextBox 23"/>
          <p:cNvSpPr txBox="1"/>
          <p:nvPr/>
        </p:nvSpPr>
        <p:spPr>
          <a:xfrm>
            <a:off x="9144000" y="5284243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/>
                <a:cs typeface="Calibri"/>
              </a:rPr>
              <a:t>h </a:t>
            </a:r>
            <a:r>
              <a:rPr lang="en-US" sz="2600" dirty="0" err="1">
                <a:latin typeface="Calibri"/>
                <a:cs typeface="Calibri"/>
              </a:rPr>
              <a:t>chấp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nhận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được</a:t>
            </a:r>
            <a:endParaRPr lang="en-US" sz="2600" dirty="0">
              <a:latin typeface="Calibri"/>
              <a:cs typeface="Calibri"/>
            </a:endParaRPr>
          </a:p>
        </p:txBody>
      </p:sp>
      <p:sp>
        <p:nvSpPr>
          <p:cNvPr id="27" name="Freeform 34"/>
          <p:cNvSpPr>
            <a:spLocks/>
          </p:cNvSpPr>
          <p:nvPr/>
        </p:nvSpPr>
        <p:spPr bwMode="auto">
          <a:xfrm>
            <a:off x="8200864" y="1538287"/>
            <a:ext cx="1931987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>
            <a:off x="7384889" y="1517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2" name="Oval 13"/>
          <p:cNvSpPr>
            <a:spLocks noChangeArrowheads="1"/>
          </p:cNvSpPr>
          <p:nvPr/>
        </p:nvSpPr>
        <p:spPr bwMode="auto">
          <a:xfrm>
            <a:off x="8507250" y="187325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5" name="Oval 14"/>
          <p:cNvSpPr>
            <a:spLocks noChangeArrowheads="1"/>
          </p:cNvSpPr>
          <p:nvPr/>
        </p:nvSpPr>
        <p:spPr bwMode="auto">
          <a:xfrm>
            <a:off x="8983501" y="18637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8637425" y="1724024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37" name="Oval 16"/>
          <p:cNvSpPr>
            <a:spLocks noChangeArrowheads="1"/>
          </p:cNvSpPr>
          <p:nvPr/>
        </p:nvSpPr>
        <p:spPr bwMode="auto">
          <a:xfrm>
            <a:off x="9989976" y="35607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8" name="Oval 17"/>
          <p:cNvSpPr>
            <a:spLocks noChangeArrowheads="1"/>
          </p:cNvSpPr>
          <p:nvPr/>
        </p:nvSpPr>
        <p:spPr bwMode="auto">
          <a:xfrm>
            <a:off x="7703976" y="32559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9" name="Oval 21"/>
          <p:cNvSpPr>
            <a:spLocks noChangeArrowheads="1"/>
          </p:cNvSpPr>
          <p:nvPr/>
        </p:nvSpPr>
        <p:spPr bwMode="auto">
          <a:xfrm>
            <a:off x="8739026" y="144780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0" name="Oval 27"/>
          <p:cNvSpPr>
            <a:spLocks noChangeArrowheads="1"/>
          </p:cNvSpPr>
          <p:nvPr/>
        </p:nvSpPr>
        <p:spPr bwMode="auto">
          <a:xfrm>
            <a:off x="8084976" y="2570162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41" name="Picture 2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780175" y="2493961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10334304" y="3548260"/>
            <a:ext cx="257496" cy="241101"/>
          </a:xfrm>
          <a:prstGeom prst="rect">
            <a:avLst/>
          </a:prstGeom>
          <a:noFill/>
          <a:ln/>
          <a:effectLst/>
        </p:spPr>
      </p:pic>
      <p:sp>
        <p:nvSpPr>
          <p:cNvPr id="46" name="Oval 45"/>
          <p:cNvSpPr/>
          <p:nvPr/>
        </p:nvSpPr>
        <p:spPr>
          <a:xfrm rot="1800000">
            <a:off x="7335252" y="2272604"/>
            <a:ext cx="954869" cy="155526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29" name="Picture 28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5731099" y="5867401"/>
            <a:ext cx="1944584" cy="318518"/>
          </a:xfrm>
          <a:prstGeom prst="rect">
            <a:avLst/>
          </a:prstGeom>
          <a:noFill/>
          <a:ln/>
          <a:effectLst/>
        </p:spPr>
      </p:pic>
      <p:sp>
        <p:nvSpPr>
          <p:cNvPr id="48" name="TextBox 47"/>
          <p:cNvSpPr txBox="1"/>
          <p:nvPr/>
        </p:nvSpPr>
        <p:spPr>
          <a:xfrm>
            <a:off x="9144000" y="5741443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/>
                <a:cs typeface="Calibri"/>
              </a:rPr>
              <a:t>h = 0 </a:t>
            </a:r>
            <a:r>
              <a:rPr lang="en-US" sz="2600" dirty="0" err="1">
                <a:latin typeface="Calibri"/>
                <a:cs typeface="Calibri"/>
              </a:rPr>
              <a:t>tại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mục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tiêu</a:t>
            </a:r>
            <a:endParaRPr lang="en-US" sz="2600" dirty="0">
              <a:latin typeface="Calibri"/>
              <a:cs typeface="Calibri"/>
            </a:endParaRPr>
          </a:p>
        </p:txBody>
      </p:sp>
      <p:pic>
        <p:nvPicPr>
          <p:cNvPr id="26" name="Picture 25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 bwMode="auto">
          <a:xfrm>
            <a:off x="7315200" y="3200400"/>
            <a:ext cx="257817" cy="257817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13482608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1" grpId="0"/>
      <p:bldP spid="24" grpId="0"/>
      <p:bldP spid="27" grpId="0" animBg="1"/>
      <p:bldP spid="40" grpId="0" animBg="1"/>
      <p:bldP spid="46" grpId="0" animBg="1"/>
      <p:bldP spid="4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ular Callout 53"/>
          <p:cNvSpPr/>
          <p:nvPr/>
        </p:nvSpPr>
        <p:spPr>
          <a:xfrm>
            <a:off x="5562600" y="4572000"/>
            <a:ext cx="6400800" cy="1371600"/>
          </a:xfrm>
          <a:prstGeom prst="wedgeRoundRectCallout">
            <a:avLst>
              <a:gd name="adj1" fmla="val -75813"/>
              <a:gd name="adj2" fmla="val -77449"/>
              <a:gd name="adj3" fmla="val 1666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Tính tối ưu của A* trên cây tìm kiếm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7"/>
            <a:ext cx="4953000" cy="4525963"/>
          </a:xfrm>
        </p:spPr>
        <p:txBody>
          <a:bodyPr/>
          <a:lstStyle/>
          <a:p>
            <a:pPr>
              <a:buNone/>
            </a:pPr>
            <a:r>
              <a:rPr lang="vi-VN" sz="2400" dirty="0">
                <a:latin typeface="Calibri"/>
                <a:cs typeface="Calibri"/>
              </a:rPr>
              <a:t>Chứng minh:</a:t>
            </a:r>
          </a:p>
          <a:p>
            <a:r>
              <a:rPr lang="vi-VN" sz="2400" dirty="0">
                <a:latin typeface="Calibri"/>
                <a:cs typeface="Calibri"/>
              </a:rPr>
              <a:t>Giả sử B nằm trong biên tìm kiếm</a:t>
            </a:r>
          </a:p>
          <a:p>
            <a:r>
              <a:rPr lang="vi-VN" sz="2400" dirty="0">
                <a:latin typeface="Calibri"/>
                <a:cs typeface="Calibri"/>
              </a:rPr>
              <a:t>Giả sử một nút n là tổ tiên của A (hoặc chính là A) cũng nằm trong biên tìm kiếm</a:t>
            </a:r>
          </a:p>
          <a:p>
            <a:r>
              <a:rPr lang="vi-VN" sz="2400" dirty="0">
                <a:latin typeface="Calibri"/>
                <a:cs typeface="Calibri"/>
              </a:rPr>
              <a:t>Thì: </a:t>
            </a:r>
            <a:r>
              <a:rPr lang="vi-VN" sz="2400" i="1" dirty="0">
                <a:latin typeface="Calibri"/>
                <a:cs typeface="Calibri"/>
              </a:rPr>
              <a:t>n</a:t>
            </a:r>
            <a:r>
              <a:rPr lang="vi-VN" sz="2400" dirty="0">
                <a:latin typeface="Calibri"/>
                <a:cs typeface="Calibri"/>
              </a:rPr>
              <a:t> được mở rộng (ra khỏi biên tìm kiếm) trước B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dirty="0">
                <a:latin typeface="Calibri"/>
                <a:cs typeface="Calibri"/>
              </a:rPr>
              <a:t>f(n) ≤ f(A)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noProof="0" dirty="0">
                <a:latin typeface="Calibri"/>
                <a:cs typeface="Calibri"/>
              </a:rPr>
              <a:t>f(A) </a:t>
            </a:r>
            <a:r>
              <a:rPr lang="vi-VN" sz="2400" dirty="0">
                <a:latin typeface="Calibri"/>
                <a:cs typeface="Calibri"/>
              </a:rPr>
              <a:t>≤ f</a:t>
            </a:r>
            <a:r>
              <a:rPr lang="vi-VN" sz="2400" noProof="0" dirty="0">
                <a:latin typeface="Calibri"/>
                <a:cs typeface="Calibri"/>
              </a:rPr>
              <a:t>(B)</a:t>
            </a:r>
          </a:p>
        </p:txBody>
      </p:sp>
      <p:pic>
        <p:nvPicPr>
          <p:cNvPr id="27" name="Picture 26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6512222" y="5354956"/>
            <a:ext cx="1930189" cy="318668"/>
          </a:xfrm>
          <a:prstGeom prst="rect">
            <a:avLst/>
          </a:prstGeom>
          <a:noFill/>
          <a:ln/>
          <a:effectLst/>
        </p:spPr>
      </p:pic>
      <p:pic>
        <p:nvPicPr>
          <p:cNvPr id="24" name="Picture 2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6497464" y="4881879"/>
            <a:ext cx="1914135" cy="318704"/>
          </a:xfrm>
          <a:prstGeom prst="rect">
            <a:avLst/>
          </a:prstGeom>
          <a:noFill/>
          <a:ln/>
          <a:effectLst/>
        </p:spPr>
      </p:pic>
      <p:sp>
        <p:nvSpPr>
          <p:cNvPr id="25" name="TextBox 24"/>
          <p:cNvSpPr txBox="1"/>
          <p:nvPr/>
        </p:nvSpPr>
        <p:spPr>
          <a:xfrm>
            <a:off x="9296400" y="4785610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/>
                <a:cs typeface="Calibri"/>
              </a:rPr>
              <a:t>B </a:t>
            </a:r>
            <a:r>
              <a:rPr lang="en-US" sz="2600" dirty="0" err="1">
                <a:latin typeface="Calibri"/>
                <a:cs typeface="Calibri"/>
              </a:rPr>
              <a:t>không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tối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ưu</a:t>
            </a:r>
            <a:endParaRPr lang="en-US" sz="2600" dirty="0">
              <a:latin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96400" y="5242810"/>
            <a:ext cx="3048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alibri"/>
                <a:cs typeface="Calibri"/>
              </a:rPr>
              <a:t>h = 0 </a:t>
            </a:r>
            <a:r>
              <a:rPr lang="en-US" sz="2600" dirty="0" err="1">
                <a:latin typeface="Calibri"/>
                <a:cs typeface="Calibri"/>
              </a:rPr>
              <a:t>tại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mục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dirty="0" err="1">
                <a:latin typeface="Calibri"/>
                <a:cs typeface="Calibri"/>
              </a:rPr>
              <a:t>tiêu</a:t>
            </a:r>
            <a:endParaRPr lang="en-US" sz="2600" dirty="0">
              <a:latin typeface="Calibri"/>
              <a:cs typeface="Calibri"/>
            </a:endParaRPr>
          </a:p>
        </p:txBody>
      </p:sp>
      <p:sp>
        <p:nvSpPr>
          <p:cNvPr id="29" name="Freeform 34"/>
          <p:cNvSpPr>
            <a:spLocks/>
          </p:cNvSpPr>
          <p:nvPr/>
        </p:nvSpPr>
        <p:spPr bwMode="auto">
          <a:xfrm>
            <a:off x="8200864" y="1538287"/>
            <a:ext cx="1931987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0" name="Freeform 12"/>
          <p:cNvSpPr>
            <a:spLocks/>
          </p:cNvSpPr>
          <p:nvPr/>
        </p:nvSpPr>
        <p:spPr bwMode="auto">
          <a:xfrm>
            <a:off x="7384889" y="1517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4" name="Oval 13"/>
          <p:cNvSpPr>
            <a:spLocks noChangeArrowheads="1"/>
          </p:cNvSpPr>
          <p:nvPr/>
        </p:nvSpPr>
        <p:spPr bwMode="auto">
          <a:xfrm>
            <a:off x="8507250" y="187325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5" name="Oval 14"/>
          <p:cNvSpPr>
            <a:spLocks noChangeArrowheads="1"/>
          </p:cNvSpPr>
          <p:nvPr/>
        </p:nvSpPr>
        <p:spPr bwMode="auto">
          <a:xfrm>
            <a:off x="8983501" y="18637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6" name="Text Box 15"/>
          <p:cNvSpPr txBox="1">
            <a:spLocks noChangeArrowheads="1"/>
          </p:cNvSpPr>
          <p:nvPr/>
        </p:nvSpPr>
        <p:spPr bwMode="auto">
          <a:xfrm>
            <a:off x="8637425" y="1724024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9989976" y="35607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8" name="Oval 17"/>
          <p:cNvSpPr>
            <a:spLocks noChangeArrowheads="1"/>
          </p:cNvSpPr>
          <p:nvPr/>
        </p:nvSpPr>
        <p:spPr bwMode="auto">
          <a:xfrm>
            <a:off x="7703976" y="32559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8739026" y="144780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50" name="Oval 27"/>
          <p:cNvSpPr>
            <a:spLocks noChangeArrowheads="1"/>
          </p:cNvSpPr>
          <p:nvPr/>
        </p:nvSpPr>
        <p:spPr bwMode="auto">
          <a:xfrm>
            <a:off x="8084976" y="2570162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51" name="Picture 2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780175" y="2493961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10334304" y="3548260"/>
            <a:ext cx="257496" cy="241101"/>
          </a:xfrm>
          <a:prstGeom prst="rect">
            <a:avLst/>
          </a:prstGeom>
          <a:noFill/>
          <a:ln/>
          <a:effectLst/>
        </p:spPr>
      </p:pic>
      <p:sp>
        <p:nvSpPr>
          <p:cNvPr id="56" name="Oval 55"/>
          <p:cNvSpPr/>
          <p:nvPr/>
        </p:nvSpPr>
        <p:spPr>
          <a:xfrm rot="359986">
            <a:off x="7040951" y="3019060"/>
            <a:ext cx="3870153" cy="95065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23" name="Picture 2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7315200" y="3200400"/>
            <a:ext cx="257817" cy="257817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2893214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ular Callout 53"/>
          <p:cNvSpPr/>
          <p:nvPr/>
        </p:nvSpPr>
        <p:spPr>
          <a:xfrm>
            <a:off x="7391400" y="4800600"/>
            <a:ext cx="3733800" cy="914400"/>
          </a:xfrm>
          <a:prstGeom prst="wedgeRoundRectCallout">
            <a:avLst>
              <a:gd name="adj1" fmla="val -141787"/>
              <a:gd name="adj2" fmla="val -64255"/>
              <a:gd name="adj3" fmla="val 1666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Tính tối ưu của A* trên cây tìm kiếm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417637"/>
            <a:ext cx="5957727" cy="4525963"/>
          </a:xfrm>
        </p:spPr>
        <p:txBody>
          <a:bodyPr/>
          <a:lstStyle/>
          <a:p>
            <a:pPr>
              <a:buNone/>
            </a:pPr>
            <a:r>
              <a:rPr lang="vi-VN" sz="2400" dirty="0">
                <a:latin typeface="Calibri"/>
                <a:cs typeface="Calibri"/>
              </a:rPr>
              <a:t>Chứng minh:</a:t>
            </a:r>
          </a:p>
          <a:p>
            <a:r>
              <a:rPr lang="vi-VN" sz="2400" dirty="0">
                <a:latin typeface="Calibri"/>
                <a:cs typeface="Calibri"/>
              </a:rPr>
              <a:t>Giả sử B nằm trong biên tìm kiếm</a:t>
            </a:r>
          </a:p>
          <a:p>
            <a:r>
              <a:rPr lang="vi-VN" sz="2400" dirty="0">
                <a:latin typeface="Calibri"/>
                <a:cs typeface="Calibri"/>
              </a:rPr>
              <a:t>Giả sử một nút n là tổ tiên của A (hoặc chính là A) cũng nằm trong biên tìm kiếm</a:t>
            </a:r>
          </a:p>
          <a:p>
            <a:r>
              <a:rPr lang="vi-VN" sz="2400" dirty="0">
                <a:latin typeface="Calibri"/>
                <a:cs typeface="Calibri"/>
              </a:rPr>
              <a:t>Thì: </a:t>
            </a:r>
            <a:r>
              <a:rPr lang="vi-VN" sz="2400" i="1" dirty="0">
                <a:latin typeface="Calibri"/>
                <a:cs typeface="Calibri"/>
              </a:rPr>
              <a:t>n</a:t>
            </a:r>
            <a:r>
              <a:rPr lang="vi-VN" sz="2400" dirty="0">
                <a:latin typeface="Calibri"/>
                <a:cs typeface="Calibri"/>
              </a:rPr>
              <a:t> được mở rộng (ra khỏi biên tìm kiếm) trước B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dirty="0">
                <a:latin typeface="Calibri"/>
                <a:cs typeface="Calibri"/>
              </a:rPr>
              <a:t>f(n) ≤ f(A)</a:t>
            </a:r>
          </a:p>
          <a:p>
            <a:pPr marL="914376" lvl="1" indent="-457200">
              <a:buFont typeface="+mj-lt"/>
              <a:buAutoNum type="arabicPeriod"/>
            </a:pPr>
            <a:r>
              <a:rPr lang="vi-VN" sz="2400" dirty="0">
                <a:latin typeface="Calibri"/>
                <a:cs typeface="Calibri"/>
              </a:rPr>
              <a:t>f(A) ≤ f(B)</a:t>
            </a:r>
          </a:p>
          <a:p>
            <a:pPr marL="914376" lvl="1" indent="-457200" eaLnBrk="1" hangingPunct="1">
              <a:buFont typeface="+mj-lt"/>
              <a:buAutoNum type="arabicPeriod"/>
            </a:pPr>
            <a:r>
              <a:rPr lang="vi-VN" sz="2400" i="1" noProof="0" dirty="0">
                <a:latin typeface="Calibri"/>
                <a:cs typeface="Calibri"/>
              </a:rPr>
              <a:t>n</a:t>
            </a:r>
            <a:r>
              <a:rPr lang="vi-VN" sz="2400" noProof="0" dirty="0">
                <a:latin typeface="Calibri"/>
                <a:cs typeface="Calibri"/>
              </a:rPr>
              <a:t> được mở rộng trước B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Tất cả tổ tiên của A được mở rộng trước B</a:t>
            </a:r>
          </a:p>
          <a:p>
            <a:r>
              <a:rPr lang="vi-VN" sz="2400" dirty="0">
                <a:latin typeface="Calibri"/>
                <a:cs typeface="Calibri"/>
              </a:rPr>
              <a:t>A được mở rộng trước B</a:t>
            </a:r>
          </a:p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A* tối ưu</a:t>
            </a:r>
          </a:p>
        </p:txBody>
      </p:sp>
      <p:pic>
        <p:nvPicPr>
          <p:cNvPr id="19" name="Picture 1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7709669" y="5105400"/>
            <a:ext cx="3110735" cy="318731"/>
          </a:xfrm>
          <a:prstGeom prst="rect">
            <a:avLst/>
          </a:prstGeom>
          <a:noFill/>
          <a:ln/>
          <a:effectLst/>
        </p:spPr>
      </p:pic>
      <p:sp>
        <p:nvSpPr>
          <p:cNvPr id="29" name="Freeform 34"/>
          <p:cNvSpPr>
            <a:spLocks/>
          </p:cNvSpPr>
          <p:nvPr/>
        </p:nvSpPr>
        <p:spPr bwMode="auto">
          <a:xfrm>
            <a:off x="8200864" y="1538287"/>
            <a:ext cx="1931987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0" name="Freeform 12"/>
          <p:cNvSpPr>
            <a:spLocks/>
          </p:cNvSpPr>
          <p:nvPr/>
        </p:nvSpPr>
        <p:spPr bwMode="auto">
          <a:xfrm>
            <a:off x="7384889" y="1517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4" name="Oval 13"/>
          <p:cNvSpPr>
            <a:spLocks noChangeArrowheads="1"/>
          </p:cNvSpPr>
          <p:nvPr/>
        </p:nvSpPr>
        <p:spPr bwMode="auto">
          <a:xfrm>
            <a:off x="8507250" y="187325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5" name="Oval 14"/>
          <p:cNvSpPr>
            <a:spLocks noChangeArrowheads="1"/>
          </p:cNvSpPr>
          <p:nvPr/>
        </p:nvSpPr>
        <p:spPr bwMode="auto">
          <a:xfrm>
            <a:off x="8983501" y="1863725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6" name="Text Box 15"/>
          <p:cNvSpPr txBox="1">
            <a:spLocks noChangeArrowheads="1"/>
          </p:cNvSpPr>
          <p:nvPr/>
        </p:nvSpPr>
        <p:spPr bwMode="auto">
          <a:xfrm>
            <a:off x="8637425" y="1724024"/>
            <a:ext cx="274639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9989976" y="35607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8" name="Oval 17"/>
          <p:cNvSpPr>
            <a:spLocks noChangeArrowheads="1"/>
          </p:cNvSpPr>
          <p:nvPr/>
        </p:nvSpPr>
        <p:spPr bwMode="auto">
          <a:xfrm>
            <a:off x="7703976" y="3255962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8739026" y="144780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50" name="Oval 27"/>
          <p:cNvSpPr>
            <a:spLocks noChangeArrowheads="1"/>
          </p:cNvSpPr>
          <p:nvPr/>
        </p:nvSpPr>
        <p:spPr bwMode="auto">
          <a:xfrm>
            <a:off x="8084976" y="2570162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pic>
        <p:nvPicPr>
          <p:cNvPr id="51" name="Picture 2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780175" y="2493961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0334304" y="3548260"/>
            <a:ext cx="257496" cy="241101"/>
          </a:xfrm>
          <a:prstGeom prst="rect">
            <a:avLst/>
          </a:prstGeom>
          <a:noFill/>
          <a:ln/>
          <a:effectLst/>
        </p:spPr>
      </p:pic>
      <p:sp>
        <p:nvSpPr>
          <p:cNvPr id="23" name="Oval 22"/>
          <p:cNvSpPr/>
          <p:nvPr/>
        </p:nvSpPr>
        <p:spPr>
          <a:xfrm rot="1372885">
            <a:off x="7307550" y="2652452"/>
            <a:ext cx="3645108" cy="95065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20" name="Picture 19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7315200" y="3200400"/>
            <a:ext cx="257817" cy="257817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42257576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23" grpId="0" animBg="1"/>
      <p:bldP spid="23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90800"/>
            <a:ext cx="12192000" cy="1143000"/>
          </a:xfrm>
        </p:spPr>
        <p:txBody>
          <a:bodyPr/>
          <a:lstStyle/>
          <a:p>
            <a:pPr eaLnBrk="1" hangingPunct="1"/>
            <a:r>
              <a:rPr lang="vi-VN" sz="6000" noProof="0" dirty="0"/>
              <a:t>Tính chất của A*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94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Tính chất của A*</a:t>
            </a:r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466725" y="1441451"/>
            <a:ext cx="8229600" cy="524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342891" indent="-34289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</p:txBody>
      </p:sp>
      <p:sp>
        <p:nvSpPr>
          <p:cNvPr id="20484" name="Freeform 88"/>
          <p:cNvSpPr>
            <a:spLocks/>
          </p:cNvSpPr>
          <p:nvPr/>
        </p:nvSpPr>
        <p:spPr bwMode="auto">
          <a:xfrm>
            <a:off x="2895600" y="2703514"/>
            <a:ext cx="2438400" cy="20970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85" name="Freeform 126"/>
          <p:cNvSpPr>
            <a:spLocks/>
          </p:cNvSpPr>
          <p:nvPr/>
        </p:nvSpPr>
        <p:spPr bwMode="auto">
          <a:xfrm>
            <a:off x="3429001" y="2667001"/>
            <a:ext cx="1371555" cy="1598510"/>
          </a:xfrm>
          <a:custGeom>
            <a:avLst/>
            <a:gdLst>
              <a:gd name="T0" fmla="*/ 2147483647 w 769"/>
              <a:gd name="T1" fmla="*/ 0 h 1239"/>
              <a:gd name="T2" fmla="*/ 0 w 769"/>
              <a:gd name="T3" fmla="*/ 2147483647 h 1239"/>
              <a:gd name="T4" fmla="*/ 2147483647 w 769"/>
              <a:gd name="T5" fmla="*/ 2147483647 h 1239"/>
              <a:gd name="T6" fmla="*/ 2147483647 w 769"/>
              <a:gd name="T7" fmla="*/ 2147483647 h 1239"/>
              <a:gd name="T8" fmla="*/ 2147483647 w 769"/>
              <a:gd name="T9" fmla="*/ 2147483647 h 1239"/>
              <a:gd name="T10" fmla="*/ 2147483647 w 769"/>
              <a:gd name="T11" fmla="*/ 2147483647 h 1239"/>
              <a:gd name="T12" fmla="*/ 2147483647 w 769"/>
              <a:gd name="T13" fmla="*/ 2147483647 h 1239"/>
              <a:gd name="T14" fmla="*/ 2147483647 w 769"/>
              <a:gd name="T15" fmla="*/ 0 h 1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69"/>
              <a:gd name="T25" fmla="*/ 0 h 1239"/>
              <a:gd name="T26" fmla="*/ 769 w 769"/>
              <a:gd name="T27" fmla="*/ 1239 h 1239"/>
              <a:gd name="connsiteX0" fmla="*/ 5618 w 11235"/>
              <a:gd name="connsiteY0" fmla="*/ 0 h 10000"/>
              <a:gd name="connsiteX1" fmla="*/ 0 w 11235"/>
              <a:gd name="connsiteY1" fmla="*/ 6199 h 10000"/>
              <a:gd name="connsiteX2" fmla="*/ 1873 w 11235"/>
              <a:gd name="connsiteY2" fmla="*/ 6973 h 10000"/>
              <a:gd name="connsiteX3" fmla="*/ 4993 w 11235"/>
              <a:gd name="connsiteY3" fmla="*/ 7748 h 10000"/>
              <a:gd name="connsiteX4" fmla="*/ 6957 w 11235"/>
              <a:gd name="connsiteY4" fmla="*/ 6538 h 10000"/>
              <a:gd name="connsiteX5" fmla="*/ 9272 w 11235"/>
              <a:gd name="connsiteY5" fmla="*/ 9621 h 10000"/>
              <a:gd name="connsiteX6" fmla="*/ 11235 w 11235"/>
              <a:gd name="connsiteY6" fmla="*/ 6199 h 10000"/>
              <a:gd name="connsiteX7" fmla="*/ 5618 w 11235"/>
              <a:gd name="connsiteY7" fmla="*/ 0 h 10000"/>
              <a:gd name="connsiteX0" fmla="*/ 5618 w 11235"/>
              <a:gd name="connsiteY0" fmla="*/ 0 h 8127"/>
              <a:gd name="connsiteX1" fmla="*/ 0 w 11235"/>
              <a:gd name="connsiteY1" fmla="*/ 6199 h 8127"/>
              <a:gd name="connsiteX2" fmla="*/ 1873 w 11235"/>
              <a:gd name="connsiteY2" fmla="*/ 6973 h 8127"/>
              <a:gd name="connsiteX3" fmla="*/ 4993 w 11235"/>
              <a:gd name="connsiteY3" fmla="*/ 7748 h 8127"/>
              <a:gd name="connsiteX4" fmla="*/ 6957 w 11235"/>
              <a:gd name="connsiteY4" fmla="*/ 6538 h 8127"/>
              <a:gd name="connsiteX5" fmla="*/ 9987 w 11235"/>
              <a:gd name="connsiteY5" fmla="*/ 7748 h 8127"/>
              <a:gd name="connsiteX6" fmla="*/ 11235 w 11235"/>
              <a:gd name="connsiteY6" fmla="*/ 6199 h 8127"/>
              <a:gd name="connsiteX7" fmla="*/ 5618 w 11235"/>
              <a:gd name="connsiteY7" fmla="*/ 0 h 8127"/>
              <a:gd name="connsiteX0" fmla="*/ 5000 w 10000"/>
              <a:gd name="connsiteY0" fmla="*/ 0 h 10000"/>
              <a:gd name="connsiteX1" fmla="*/ 0 w 10000"/>
              <a:gd name="connsiteY1" fmla="*/ 7628 h 10000"/>
              <a:gd name="connsiteX2" fmla="*/ 1667 w 10000"/>
              <a:gd name="connsiteY2" fmla="*/ 9057 h 10000"/>
              <a:gd name="connsiteX3" fmla="*/ 4444 w 10000"/>
              <a:gd name="connsiteY3" fmla="*/ 9534 h 10000"/>
              <a:gd name="connsiteX4" fmla="*/ 6192 w 10000"/>
              <a:gd name="connsiteY4" fmla="*/ 8045 h 10000"/>
              <a:gd name="connsiteX5" fmla="*/ 8889 w 10000"/>
              <a:gd name="connsiteY5" fmla="*/ 9534 h 10000"/>
              <a:gd name="connsiteX6" fmla="*/ 10000 w 10000"/>
              <a:gd name="connsiteY6" fmla="*/ 7628 h 10000"/>
              <a:gd name="connsiteX7" fmla="*/ 5000 w 10000"/>
              <a:gd name="connsiteY7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5000" y="0"/>
                </a:moveTo>
                <a:lnTo>
                  <a:pt x="0" y="7628"/>
                </a:lnTo>
                <a:lnTo>
                  <a:pt x="1667" y="9057"/>
                </a:lnTo>
                <a:cubicBezTo>
                  <a:pt x="1667" y="9057"/>
                  <a:pt x="3611" y="9851"/>
                  <a:pt x="4444" y="9534"/>
                </a:cubicBezTo>
                <a:cubicBezTo>
                  <a:pt x="5197" y="9872"/>
                  <a:pt x="5452" y="8045"/>
                  <a:pt x="6192" y="8045"/>
                </a:cubicBezTo>
                <a:cubicBezTo>
                  <a:pt x="6933" y="8045"/>
                  <a:pt x="8530" y="10000"/>
                  <a:pt x="8889" y="9534"/>
                </a:cubicBezTo>
                <a:cubicBezTo>
                  <a:pt x="9537" y="8819"/>
                  <a:pt x="9514" y="8243"/>
                  <a:pt x="10000" y="7628"/>
                </a:cubicBezTo>
                <a:lnTo>
                  <a:pt x="5000" y="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86" name="Oval 89"/>
          <p:cNvSpPr>
            <a:spLocks noChangeArrowheads="1"/>
          </p:cNvSpPr>
          <p:nvPr/>
        </p:nvSpPr>
        <p:spPr bwMode="auto">
          <a:xfrm>
            <a:off x="3789364" y="3059113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87" name="Oval 90"/>
          <p:cNvSpPr>
            <a:spLocks noChangeArrowheads="1"/>
          </p:cNvSpPr>
          <p:nvPr/>
        </p:nvSpPr>
        <p:spPr bwMode="auto">
          <a:xfrm>
            <a:off x="4265613" y="304958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88" name="Text Box 91"/>
          <p:cNvSpPr txBox="1">
            <a:spLocks noChangeArrowheads="1"/>
          </p:cNvSpPr>
          <p:nvPr/>
        </p:nvSpPr>
        <p:spPr bwMode="auto">
          <a:xfrm>
            <a:off x="3919539" y="2909889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20489" name="Freeform 92"/>
          <p:cNvSpPr>
            <a:spLocks/>
          </p:cNvSpPr>
          <p:nvPr/>
        </p:nvSpPr>
        <p:spPr bwMode="auto">
          <a:xfrm>
            <a:off x="3902075" y="28638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0" name="Text Box 93"/>
          <p:cNvSpPr txBox="1">
            <a:spLocks noChangeArrowheads="1"/>
          </p:cNvSpPr>
          <p:nvPr/>
        </p:nvSpPr>
        <p:spPr bwMode="auto">
          <a:xfrm>
            <a:off x="4303713" y="2662240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b</a:t>
            </a:r>
          </a:p>
        </p:txBody>
      </p:sp>
      <p:sp>
        <p:nvSpPr>
          <p:cNvPr id="20491" name="Oval 95"/>
          <p:cNvSpPr>
            <a:spLocks noChangeArrowheads="1"/>
          </p:cNvSpPr>
          <p:nvPr/>
        </p:nvSpPr>
        <p:spPr bwMode="auto">
          <a:xfrm>
            <a:off x="3962401" y="4079875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2" name="Oval 99"/>
          <p:cNvSpPr>
            <a:spLocks noChangeArrowheads="1"/>
          </p:cNvSpPr>
          <p:nvPr/>
        </p:nvSpPr>
        <p:spPr bwMode="auto">
          <a:xfrm>
            <a:off x="4021139" y="2633664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3" name="Freeform 109"/>
          <p:cNvSpPr>
            <a:spLocks/>
          </p:cNvSpPr>
          <p:nvPr/>
        </p:nvSpPr>
        <p:spPr bwMode="auto">
          <a:xfrm>
            <a:off x="7010400" y="2668589"/>
            <a:ext cx="2438400" cy="2132012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4" name="Freeform 127"/>
          <p:cNvSpPr>
            <a:spLocks/>
          </p:cNvSpPr>
          <p:nvPr/>
        </p:nvSpPr>
        <p:spPr bwMode="auto">
          <a:xfrm>
            <a:off x="7848610" y="2667000"/>
            <a:ext cx="762001" cy="1524000"/>
          </a:xfrm>
          <a:custGeom>
            <a:avLst/>
            <a:gdLst>
              <a:gd name="T0" fmla="*/ 2147483647 w 591"/>
              <a:gd name="T1" fmla="*/ 0 h 960"/>
              <a:gd name="T2" fmla="*/ 0 w 591"/>
              <a:gd name="T3" fmla="*/ 2147483647 h 960"/>
              <a:gd name="T4" fmla="*/ 2147483647 w 591"/>
              <a:gd name="T5" fmla="*/ 2147483647 h 960"/>
              <a:gd name="T6" fmla="*/ 2147483647 w 591"/>
              <a:gd name="T7" fmla="*/ 2147483647 h 960"/>
              <a:gd name="T8" fmla="*/ 2147483647 w 591"/>
              <a:gd name="T9" fmla="*/ 2147483647 h 960"/>
              <a:gd name="T10" fmla="*/ 2147483647 w 591"/>
              <a:gd name="T11" fmla="*/ 2147483647 h 960"/>
              <a:gd name="T12" fmla="*/ 2147483647 w 591"/>
              <a:gd name="T13" fmla="*/ 0 h 9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91"/>
              <a:gd name="T22" fmla="*/ 0 h 960"/>
              <a:gd name="T23" fmla="*/ 591 w 591"/>
              <a:gd name="T24" fmla="*/ 960 h 960"/>
              <a:gd name="connsiteX0" fmla="*/ 5110 w 9171"/>
              <a:gd name="connsiteY0" fmla="*/ 0 h 10000"/>
              <a:gd name="connsiteX1" fmla="*/ 0 w 9171"/>
              <a:gd name="connsiteY1" fmla="*/ 5510 h 10000"/>
              <a:gd name="connsiteX2" fmla="*/ 2843 w 9171"/>
              <a:gd name="connsiteY2" fmla="*/ 7052 h 10000"/>
              <a:gd name="connsiteX3" fmla="*/ 4298 w 9171"/>
              <a:gd name="connsiteY3" fmla="*/ 10000 h 10000"/>
              <a:gd name="connsiteX4" fmla="*/ 6633 w 9171"/>
              <a:gd name="connsiteY4" fmla="*/ 6573 h 10000"/>
              <a:gd name="connsiteX5" fmla="*/ 9171 w 9171"/>
              <a:gd name="connsiteY5" fmla="*/ 4500 h 10000"/>
              <a:gd name="connsiteX6" fmla="*/ 5110 w 9171"/>
              <a:gd name="connsiteY6" fmla="*/ 0 h 10000"/>
              <a:gd name="connsiteX0" fmla="*/ 5572 w 10000"/>
              <a:gd name="connsiteY0" fmla="*/ 0 h 10000"/>
              <a:gd name="connsiteX1" fmla="*/ 0 w 10000"/>
              <a:gd name="connsiteY1" fmla="*/ 5510 h 10000"/>
              <a:gd name="connsiteX2" fmla="*/ 2915 w 10000"/>
              <a:gd name="connsiteY2" fmla="*/ 7500 h 10000"/>
              <a:gd name="connsiteX3" fmla="*/ 4687 w 10000"/>
              <a:gd name="connsiteY3" fmla="*/ 10000 h 10000"/>
              <a:gd name="connsiteX4" fmla="*/ 7233 w 10000"/>
              <a:gd name="connsiteY4" fmla="*/ 6573 h 10000"/>
              <a:gd name="connsiteX5" fmla="*/ 10000 w 10000"/>
              <a:gd name="connsiteY5" fmla="*/ 4500 h 10000"/>
              <a:gd name="connsiteX6" fmla="*/ 5572 w 10000"/>
              <a:gd name="connsiteY6" fmla="*/ 0 h 10000"/>
              <a:gd name="connsiteX0" fmla="*/ 4428 w 8856"/>
              <a:gd name="connsiteY0" fmla="*/ 0 h 10000"/>
              <a:gd name="connsiteX1" fmla="*/ 0 w 8856"/>
              <a:gd name="connsiteY1" fmla="*/ 4500 h 10000"/>
              <a:gd name="connsiteX2" fmla="*/ 1771 w 8856"/>
              <a:gd name="connsiteY2" fmla="*/ 7500 h 10000"/>
              <a:gd name="connsiteX3" fmla="*/ 3543 w 8856"/>
              <a:gd name="connsiteY3" fmla="*/ 10000 h 10000"/>
              <a:gd name="connsiteX4" fmla="*/ 6089 w 8856"/>
              <a:gd name="connsiteY4" fmla="*/ 6573 h 10000"/>
              <a:gd name="connsiteX5" fmla="*/ 8856 w 8856"/>
              <a:gd name="connsiteY5" fmla="*/ 4500 h 10000"/>
              <a:gd name="connsiteX6" fmla="*/ 4428 w 8856"/>
              <a:gd name="connsiteY6" fmla="*/ 0 h 10000"/>
              <a:gd name="connsiteX0" fmla="*/ 5000 w 10000"/>
              <a:gd name="connsiteY0" fmla="*/ 0 h 10000"/>
              <a:gd name="connsiteX1" fmla="*/ 0 w 10000"/>
              <a:gd name="connsiteY1" fmla="*/ 4500 h 10000"/>
              <a:gd name="connsiteX2" fmla="*/ 2000 w 10000"/>
              <a:gd name="connsiteY2" fmla="*/ 6500 h 10000"/>
              <a:gd name="connsiteX3" fmla="*/ 4001 w 10000"/>
              <a:gd name="connsiteY3" fmla="*/ 10000 h 10000"/>
              <a:gd name="connsiteX4" fmla="*/ 6876 w 10000"/>
              <a:gd name="connsiteY4" fmla="*/ 6573 h 10000"/>
              <a:gd name="connsiteX5" fmla="*/ 10000 w 10000"/>
              <a:gd name="connsiteY5" fmla="*/ 4500 h 10000"/>
              <a:gd name="connsiteX6" fmla="*/ 5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5000" y="0"/>
                </a:moveTo>
                <a:cubicBezTo>
                  <a:pt x="3166" y="1479"/>
                  <a:pt x="3041" y="1792"/>
                  <a:pt x="0" y="4500"/>
                </a:cubicBezTo>
                <a:cubicBezTo>
                  <a:pt x="958" y="5511"/>
                  <a:pt x="1145" y="5740"/>
                  <a:pt x="2000" y="6500"/>
                </a:cubicBezTo>
                <a:cubicBezTo>
                  <a:pt x="2000" y="6500"/>
                  <a:pt x="2416" y="8542"/>
                  <a:pt x="4001" y="10000"/>
                </a:cubicBezTo>
                <a:cubicBezTo>
                  <a:pt x="6021" y="8490"/>
                  <a:pt x="5875" y="7490"/>
                  <a:pt x="6876" y="6573"/>
                </a:cubicBezTo>
                <a:cubicBezTo>
                  <a:pt x="7875" y="5656"/>
                  <a:pt x="9125" y="5146"/>
                  <a:pt x="10000" y="4500"/>
                </a:cubicBezTo>
                <a:cubicBezTo>
                  <a:pt x="7000" y="1750"/>
                  <a:pt x="6250" y="1125"/>
                  <a:pt x="5000" y="0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5" name="Oval 110"/>
          <p:cNvSpPr>
            <a:spLocks noChangeArrowheads="1"/>
          </p:cNvSpPr>
          <p:nvPr/>
        </p:nvSpPr>
        <p:spPr bwMode="auto">
          <a:xfrm>
            <a:off x="7904164" y="302418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6" name="Oval 111"/>
          <p:cNvSpPr>
            <a:spLocks noChangeArrowheads="1"/>
          </p:cNvSpPr>
          <p:nvPr/>
        </p:nvSpPr>
        <p:spPr bwMode="auto">
          <a:xfrm>
            <a:off x="8380413" y="3014664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7" name="Text Box 112"/>
          <p:cNvSpPr txBox="1">
            <a:spLocks noChangeArrowheads="1"/>
          </p:cNvSpPr>
          <p:nvPr/>
        </p:nvSpPr>
        <p:spPr bwMode="auto">
          <a:xfrm>
            <a:off x="8034339" y="2874964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20498" name="Freeform 113"/>
          <p:cNvSpPr>
            <a:spLocks/>
          </p:cNvSpPr>
          <p:nvPr/>
        </p:nvSpPr>
        <p:spPr bwMode="auto">
          <a:xfrm>
            <a:off x="8016875" y="2828926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499" name="Text Box 114"/>
          <p:cNvSpPr txBox="1">
            <a:spLocks noChangeArrowheads="1"/>
          </p:cNvSpPr>
          <p:nvPr/>
        </p:nvSpPr>
        <p:spPr bwMode="auto">
          <a:xfrm>
            <a:off x="8418513" y="2627314"/>
            <a:ext cx="298451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b</a:t>
            </a:r>
          </a:p>
        </p:txBody>
      </p:sp>
      <p:sp>
        <p:nvSpPr>
          <p:cNvPr id="20500" name="Oval 116"/>
          <p:cNvSpPr>
            <a:spLocks noChangeArrowheads="1"/>
          </p:cNvSpPr>
          <p:nvPr/>
        </p:nvSpPr>
        <p:spPr bwMode="auto">
          <a:xfrm>
            <a:off x="8135939" y="259873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501" name="Oval 115"/>
          <p:cNvSpPr>
            <a:spLocks noChangeArrowheads="1"/>
          </p:cNvSpPr>
          <p:nvPr/>
        </p:nvSpPr>
        <p:spPr bwMode="auto">
          <a:xfrm>
            <a:off x="8077201" y="4044951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20502" name="Text Box 123"/>
          <p:cNvSpPr txBox="1">
            <a:spLocks noChangeArrowheads="1"/>
          </p:cNvSpPr>
          <p:nvPr/>
        </p:nvSpPr>
        <p:spPr bwMode="auto">
          <a:xfrm>
            <a:off x="2971800" y="1676401"/>
            <a:ext cx="33528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 err="1">
                <a:latin typeface="Calibri"/>
                <a:cs typeface="Calibri"/>
              </a:rPr>
              <a:t>Tìm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kiếm</a:t>
            </a:r>
            <a:r>
              <a:rPr lang="en-US" sz="2800" dirty="0">
                <a:latin typeface="Calibri"/>
                <a:cs typeface="Calibri"/>
              </a:rPr>
              <a:t> chi </a:t>
            </a:r>
            <a:r>
              <a:rPr lang="en-US" sz="2800" dirty="0" err="1">
                <a:latin typeface="Calibri"/>
                <a:cs typeface="Calibri"/>
              </a:rPr>
              <a:t>phí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đều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20503" name="Text Box 124"/>
          <p:cNvSpPr txBox="1">
            <a:spLocks noChangeArrowheads="1"/>
          </p:cNvSpPr>
          <p:nvPr/>
        </p:nvSpPr>
        <p:spPr bwMode="auto">
          <a:xfrm>
            <a:off x="8001000" y="1676401"/>
            <a:ext cx="60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Calibri"/>
                <a:cs typeface="Calibri"/>
              </a:rPr>
              <a:t>A*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Oval 14"/>
          <p:cNvSpPr>
            <a:spLocks noChangeArrowheads="1"/>
          </p:cNvSpPr>
          <p:nvPr/>
        </p:nvSpPr>
        <p:spPr bwMode="auto">
          <a:xfrm>
            <a:off x="9005887" y="5029202"/>
            <a:ext cx="1284288" cy="627063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07" name="Oval 8"/>
          <p:cNvSpPr>
            <a:spLocks noChangeArrowheads="1"/>
          </p:cNvSpPr>
          <p:nvPr/>
        </p:nvSpPr>
        <p:spPr bwMode="auto">
          <a:xfrm>
            <a:off x="8396287" y="1828800"/>
            <a:ext cx="1912939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Đường đồng mức của UCS và A*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46237"/>
            <a:ext cx="6705600" cy="4525963"/>
          </a:xfrm>
        </p:spPr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UCS mở rộng như nhau theo mọi hướng</a:t>
            </a:r>
          </a:p>
          <a:p>
            <a:pPr lvl="1"/>
            <a:endParaRPr lang="vi-VN" noProof="0" dirty="0">
              <a:latin typeface="Calibri"/>
              <a:cs typeface="Calibri"/>
            </a:endParaRPr>
          </a:p>
          <a:p>
            <a:pPr lvl="1"/>
            <a:endParaRPr lang="vi-VN" noProof="0" dirty="0">
              <a:latin typeface="Calibri"/>
              <a:cs typeface="Calibri"/>
            </a:endParaRPr>
          </a:p>
          <a:p>
            <a:pPr lvl="1"/>
            <a:endParaRPr lang="vi-VN" noProof="0" dirty="0">
              <a:latin typeface="Calibri"/>
              <a:cs typeface="Calibri"/>
            </a:endParaRPr>
          </a:p>
          <a:p>
            <a:pPr eaLnBrk="1" hangingPunct="1"/>
            <a:r>
              <a:rPr lang="vi-VN" noProof="0" dirty="0">
                <a:latin typeface="Calibri"/>
                <a:cs typeface="Calibri"/>
              </a:rPr>
              <a:t>A* mở rộng theo hướng mục tiêu (hướng dẫn bởi kinh nghiệm), nhưng mở rộng một chút xung quanh để đảm bảo tính tối ưu</a:t>
            </a:r>
          </a:p>
        </p:txBody>
      </p:sp>
      <p:sp>
        <p:nvSpPr>
          <p:cNvPr id="21510" name="Oval 4"/>
          <p:cNvSpPr>
            <a:spLocks noChangeArrowheads="1"/>
          </p:cNvSpPr>
          <p:nvPr/>
        </p:nvSpPr>
        <p:spPr bwMode="auto">
          <a:xfrm>
            <a:off x="9299575" y="2605089"/>
            <a:ext cx="163512" cy="153987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1" name="Text Box 5"/>
          <p:cNvSpPr txBox="1">
            <a:spLocks noChangeArrowheads="1"/>
          </p:cNvSpPr>
          <p:nvPr/>
        </p:nvSpPr>
        <p:spPr bwMode="auto">
          <a:xfrm>
            <a:off x="8534400" y="2720977"/>
            <a:ext cx="11430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Calibri"/>
                <a:cs typeface="Calibri"/>
              </a:rPr>
              <a:t>Bắt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đầu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1512" name="Oval 6"/>
          <p:cNvSpPr>
            <a:spLocks noChangeArrowheads="1"/>
          </p:cNvSpPr>
          <p:nvPr/>
        </p:nvSpPr>
        <p:spPr bwMode="auto">
          <a:xfrm>
            <a:off x="10226675" y="2627313"/>
            <a:ext cx="163512" cy="15398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3" name="Text Box 7"/>
          <p:cNvSpPr txBox="1">
            <a:spLocks noChangeArrowheads="1"/>
          </p:cNvSpPr>
          <p:nvPr/>
        </p:nvSpPr>
        <p:spPr bwMode="auto">
          <a:xfrm>
            <a:off x="10287000" y="2744789"/>
            <a:ext cx="13716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Calibri"/>
                <a:cs typeface="Calibri"/>
              </a:rPr>
              <a:t>Mục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tiêu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1514" name="Oval 9"/>
          <p:cNvSpPr>
            <a:spLocks noChangeArrowheads="1"/>
          </p:cNvSpPr>
          <p:nvPr/>
        </p:nvSpPr>
        <p:spPr bwMode="auto">
          <a:xfrm>
            <a:off x="8931276" y="2263775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5" name="Oval 10"/>
          <p:cNvSpPr>
            <a:spLocks noChangeArrowheads="1"/>
          </p:cNvSpPr>
          <p:nvPr/>
        </p:nvSpPr>
        <p:spPr bwMode="auto">
          <a:xfrm>
            <a:off x="9234488" y="527050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6" name="Text Box 11"/>
          <p:cNvSpPr txBox="1">
            <a:spLocks noChangeArrowheads="1"/>
          </p:cNvSpPr>
          <p:nvPr/>
        </p:nvSpPr>
        <p:spPr bwMode="auto">
          <a:xfrm>
            <a:off x="8381999" y="5410200"/>
            <a:ext cx="1284287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Calibri"/>
                <a:cs typeface="Calibri"/>
              </a:rPr>
              <a:t>Bắt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đầu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1517" name="Oval 12"/>
          <p:cNvSpPr>
            <a:spLocks noChangeArrowheads="1"/>
          </p:cNvSpPr>
          <p:nvPr/>
        </p:nvSpPr>
        <p:spPr bwMode="auto">
          <a:xfrm>
            <a:off x="10213975" y="5257801"/>
            <a:ext cx="163512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18" name="Text Box 13"/>
          <p:cNvSpPr txBox="1">
            <a:spLocks noChangeArrowheads="1"/>
          </p:cNvSpPr>
          <p:nvPr/>
        </p:nvSpPr>
        <p:spPr bwMode="auto">
          <a:xfrm>
            <a:off x="10221912" y="5405737"/>
            <a:ext cx="1436688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Calibri"/>
                <a:cs typeface="Calibri"/>
              </a:rPr>
              <a:t>Mục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tiêu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21519" name="Oval 15"/>
          <p:cNvSpPr>
            <a:spLocks noChangeArrowheads="1"/>
          </p:cNvSpPr>
          <p:nvPr/>
        </p:nvSpPr>
        <p:spPr bwMode="auto">
          <a:xfrm>
            <a:off x="9126537" y="5105400"/>
            <a:ext cx="869951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21520" name="TextBox 18"/>
          <p:cNvSpPr txBox="1">
            <a:spLocks noChangeArrowheads="1"/>
          </p:cNvSpPr>
          <p:nvPr/>
        </p:nvSpPr>
        <p:spPr bwMode="auto">
          <a:xfrm>
            <a:off x="6705600" y="6172200"/>
            <a:ext cx="54864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[Demo: contours UCS / greedy / A* empty (L3D1)]</a:t>
            </a:r>
          </a:p>
          <a:p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[Demo: contours A* </a:t>
            </a:r>
            <a:r>
              <a:rPr lang="en-US" sz="2000" dirty="0" err="1">
                <a:solidFill>
                  <a:srgbClr val="C00000"/>
                </a:solidFill>
                <a:latin typeface="Calibri"/>
                <a:cs typeface="Calibri"/>
              </a:rPr>
              <a:t>pacman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 small maze (L3D5)]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Đường đồng mức của UCS (Empty)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60186" y="1143001"/>
            <a:ext cx="6271629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2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Đường đồng mức của Greedy (Empty)</a:t>
            </a:r>
          </a:p>
        </p:txBody>
      </p:sp>
      <p:pic>
        <p:nvPicPr>
          <p:cNvPr id="3" name="Empty-greedy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60185" y="1143000"/>
            <a:ext cx="627163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Đường đồng mức của A* (Empty)</a:t>
            </a:r>
          </a:p>
        </p:txBody>
      </p:sp>
      <p:pic>
        <p:nvPicPr>
          <p:cNvPr id="3" name="Empty-astar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60186" y="1143001"/>
            <a:ext cx="6271628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4000" noProof="0" dirty="0"/>
              <a:t>Ví dụ: Đường đồng mức của A* (Pacman Small Maze)</a:t>
            </a:r>
          </a:p>
        </p:txBody>
      </p:sp>
      <p:pic>
        <p:nvPicPr>
          <p:cNvPr id="3" name="ContoursPacmanSmallMaze-astar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9700" y="1143000"/>
            <a:ext cx="9372600" cy="52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vi-VN" noProof="0" dirty="0"/>
              <a:t>So sánh</a:t>
            </a:r>
          </a:p>
        </p:txBody>
      </p:sp>
      <p:pic>
        <p:nvPicPr>
          <p:cNvPr id="4" name="Picture 3" descr="greedy_pacma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72380"/>
            <a:ext cx="3657600" cy="205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 descr="uniform_pacma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72380"/>
            <a:ext cx="3621881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3" descr="astar_pacman.jpg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695" y="2372380"/>
            <a:ext cx="351650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43000" y="5039380"/>
            <a:ext cx="1237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Greedy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4857" y="5039380"/>
            <a:ext cx="771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UCS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5039380"/>
            <a:ext cx="571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A*</a:t>
            </a:r>
          </a:p>
        </p:txBody>
      </p:sp>
    </p:spTree>
    <p:extLst>
      <p:ext uri="{BB962C8B-B14F-4D97-AF65-F5344CB8AC3E}">
        <p14:creationId xmlns:p14="http://schemas.microsoft.com/office/powerpoint/2010/main" val="23874856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Ứng dụng của A*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1524000"/>
            <a:ext cx="5638800" cy="427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98475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Ứng dụng của A*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Trò chơi điện tử</a:t>
            </a:r>
          </a:p>
          <a:p>
            <a:pPr eaLnBrk="1" hangingPunct="1"/>
            <a:r>
              <a:rPr lang="vi-VN" noProof="0" dirty="0"/>
              <a:t>Bài toán tìm đường</a:t>
            </a:r>
          </a:p>
          <a:p>
            <a:pPr eaLnBrk="1" hangingPunct="1"/>
            <a:r>
              <a:rPr lang="vi-VN" noProof="0" dirty="0"/>
              <a:t>Bài toán phân bổ tài nguyên</a:t>
            </a:r>
          </a:p>
          <a:p>
            <a:pPr eaLnBrk="1" hangingPunct="1"/>
            <a:r>
              <a:rPr lang="vi-VN" noProof="0" dirty="0"/>
              <a:t>Lập kế hoạch di chuyển rô-bốt</a:t>
            </a:r>
          </a:p>
          <a:p>
            <a:pPr eaLnBrk="1" hangingPunct="1"/>
            <a:r>
              <a:rPr lang="vi-VN" noProof="0" dirty="0"/>
              <a:t>Phân tích ngôn ngữ</a:t>
            </a:r>
          </a:p>
          <a:p>
            <a:pPr eaLnBrk="1" hangingPunct="1"/>
            <a:r>
              <a:rPr lang="vi-VN" noProof="0" dirty="0"/>
              <a:t>Dịch máy</a:t>
            </a:r>
          </a:p>
          <a:p>
            <a:pPr eaLnBrk="1" hangingPunct="1"/>
            <a:r>
              <a:rPr lang="vi-VN" noProof="0" dirty="0"/>
              <a:t>Nhận dạng tiếng nói</a:t>
            </a:r>
          </a:p>
          <a:p>
            <a:pPr eaLnBrk="1" hangingPunct="1"/>
            <a:r>
              <a:rPr lang="vi-VN" noProof="0" dirty="0"/>
              <a:t>…</a:t>
            </a:r>
          </a:p>
        </p:txBody>
      </p:sp>
      <p:sp>
        <p:nvSpPr>
          <p:cNvPr id="28676" name="TextBox 5"/>
          <p:cNvSpPr txBox="1">
            <a:spLocks noChangeArrowheads="1"/>
          </p:cNvSpPr>
          <p:nvPr/>
        </p:nvSpPr>
        <p:spPr bwMode="auto">
          <a:xfrm>
            <a:off x="6477000" y="6150116"/>
            <a:ext cx="5715000" cy="7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[Demo: UCS / A* </a:t>
            </a:r>
            <a:r>
              <a:rPr lang="en-US" sz="2000" dirty="0" err="1">
                <a:solidFill>
                  <a:srgbClr val="C00000"/>
                </a:solidFill>
                <a:latin typeface="Calibri" pitchFamily="34" charset="0"/>
              </a:rPr>
              <a:t>pacman</a:t>
            </a:r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 tiny maze (L3D6,L3D7)]</a:t>
            </a:r>
          </a:p>
          <a:p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[Demo: guess algorithm Empty Shallow/Deep (L3D8)]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524000"/>
            <a:ext cx="5638800" cy="427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UCS / A* (Tiny Maze)</a:t>
            </a:r>
          </a:p>
        </p:txBody>
      </p:sp>
      <p:pic>
        <p:nvPicPr>
          <p:cNvPr id="4" name="Lecture3-demo6-tiny-ucs-astar-pacman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3960" y="1143000"/>
            <a:ext cx="978408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0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3600" noProof="0" dirty="0"/>
              <a:t>Ví dụ: Empty Water Shallow/Deep – Đoán thuật toán ?</a:t>
            </a:r>
          </a:p>
        </p:txBody>
      </p:sp>
      <p:pic>
        <p:nvPicPr>
          <p:cNvPr id="2" name="Lecture3-demo7-search-demo-costs-v2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015" y="1143000"/>
            <a:ext cx="9919970" cy="5562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Xây dựng hàm kinh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6600" y="1600200"/>
            <a:ext cx="5714999" cy="45853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Xây dựng hàm kinh nghiệm chấp nhận được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11379200" cy="4546599"/>
          </a:xfrm>
        </p:spPr>
        <p:txBody>
          <a:bodyPr/>
          <a:lstStyle/>
          <a:p>
            <a:r>
              <a:rPr lang="vi-VN" sz="2800" noProof="0" dirty="0"/>
              <a:t>Áp dụng A* </a:t>
            </a:r>
            <a:r>
              <a:rPr lang="vi-VN" sz="2800" noProof="0" dirty="0">
                <a:sym typeface="Wingdings" pitchFamily="2" charset="2"/>
              </a:rPr>
              <a:t> </a:t>
            </a:r>
            <a:r>
              <a:rPr lang="vi-VN" sz="2800" dirty="0"/>
              <a:t>Xây dựng hàm kinh nghiệm chấp nhận được</a:t>
            </a:r>
            <a:endParaRPr lang="vi-VN" sz="2800" noProof="0" dirty="0"/>
          </a:p>
          <a:p>
            <a:pPr lvl="3"/>
            <a:endParaRPr lang="vi-VN" sz="1600" noProof="0" dirty="0"/>
          </a:p>
          <a:p>
            <a:r>
              <a:rPr lang="vi-VN" sz="2800" noProof="0" dirty="0"/>
              <a:t>Nói chung, </a:t>
            </a:r>
            <a:r>
              <a:rPr lang="vi-VN" sz="2800" dirty="0"/>
              <a:t>hàm kinh nghiệm chấp nhận được là chi phí của bài toán được nới lỏng các ràng buộc (cho phép sử dụng chi phí thấp hơn để tới mục tiêu</a:t>
            </a:r>
            <a:r>
              <a:rPr lang="vi-VN" sz="2800" noProof="0" dirty="0"/>
              <a:t>)</a:t>
            </a:r>
            <a:endParaRPr lang="vi-VN" sz="2800" i="1" noProof="0" dirty="0"/>
          </a:p>
          <a:p>
            <a:pPr lvl="2"/>
            <a:endParaRPr lang="vi-VN" sz="2000" i="1" noProof="0" dirty="0"/>
          </a:p>
          <a:p>
            <a:pPr eaLnBrk="1" hangingPunct="1"/>
            <a:endParaRPr lang="vi-VN" sz="2800" noProof="0" dirty="0"/>
          </a:p>
          <a:p>
            <a:pPr eaLnBrk="1" hangingPunct="1"/>
            <a:endParaRPr lang="vi-VN" sz="2800" noProof="0" dirty="0"/>
          </a:p>
          <a:p>
            <a:pPr eaLnBrk="1" hangingPunct="1"/>
            <a:endParaRPr lang="vi-VN" sz="2800" noProof="0" dirty="0"/>
          </a:p>
          <a:p>
            <a:pPr eaLnBrk="1" hangingPunct="1"/>
            <a:endParaRPr lang="vi-VN" sz="2800" noProof="0" dirty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553200" y="3919078"/>
            <a:ext cx="3657600" cy="1643522"/>
            <a:chOff x="5067016" y="4038600"/>
            <a:chExt cx="2663541" cy="1197700"/>
          </a:xfrm>
        </p:grpSpPr>
        <p:pic>
          <p:nvPicPr>
            <p:cNvPr id="22536" name="Picture 2" descr="Z:\Shared with PC\smallMaze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067016" y="4038600"/>
              <a:ext cx="2663541" cy="119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2" name="Straight Arrow Connector 11"/>
            <p:cNvCxnSpPr/>
            <p:nvPr/>
          </p:nvCxnSpPr>
          <p:spPr bwMode="auto">
            <a:xfrm rot="10800000" flipV="1">
              <a:off x="5236861" y="4473838"/>
              <a:ext cx="1125417" cy="1906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538" name="TextBox 17"/>
            <p:cNvSpPr txBox="1">
              <a:spLocks noChangeArrowheads="1"/>
            </p:cNvSpPr>
            <p:nvPr/>
          </p:nvSpPr>
          <p:spPr bwMode="auto">
            <a:xfrm>
              <a:off x="5388658" y="4569096"/>
              <a:ext cx="399537" cy="381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Calibri"/>
                  <a:cs typeface="Calibri"/>
                </a:rPr>
                <a:t>15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 bwMode="auto">
            <a:xfrm rot="5400000">
              <a:off x="4931082" y="4797091"/>
              <a:ext cx="609969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438400" y="3886200"/>
            <a:ext cx="2819399" cy="1786100"/>
            <a:chOff x="2743201" y="4111625"/>
            <a:chExt cx="2170113" cy="1374775"/>
          </a:xfrm>
        </p:grpSpPr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r="22440"/>
            <a:stretch>
              <a:fillRect/>
            </a:stretch>
          </p:blipFill>
          <p:spPr bwMode="auto">
            <a:xfrm>
              <a:off x="2743201" y="4111625"/>
              <a:ext cx="2170113" cy="137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" name="Straight Connector 16"/>
            <p:cNvCxnSpPr/>
            <p:nvPr/>
          </p:nvCxnSpPr>
          <p:spPr>
            <a:xfrm>
              <a:off x="2895600" y="4492623"/>
              <a:ext cx="1295400" cy="6858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752600" y="4191000"/>
            <a:ext cx="9906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alibri"/>
                <a:cs typeface="Calibri"/>
              </a:rPr>
              <a:t>366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Ví dụ: Trò đẩy chữ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495800"/>
            <a:ext cx="8382000" cy="16303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Trạng thái là gì ?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Có bao nhiêu trạng thái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Hành động là gì ?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Có bao nhiêu trạng thái đến được từ trạng thái bắt đầu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Chi phí là gì 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424733" y="838200"/>
            <a:ext cx="5338267" cy="4584642"/>
            <a:chOff x="6387246" y="1371600"/>
            <a:chExt cx="6033354" cy="5181600"/>
          </a:xfrm>
        </p:grpSpPr>
        <p:pic>
          <p:nvPicPr>
            <p:cNvPr id="1945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387246" y="1371600"/>
              <a:ext cx="5789731" cy="4838698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10515600" y="4724400"/>
              <a:ext cx="1905000" cy="182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4618" y="1220185"/>
            <a:ext cx="2969363" cy="254342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85800" y="37338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Trạng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thái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bắt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đầu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15400" y="3733800"/>
            <a:ext cx="273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Trạng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thái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mục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tiêu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8745" y="1219462"/>
            <a:ext cx="3044108" cy="254487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6019800" y="37338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Hành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động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Trò đẩy chữ I</a:t>
            </a:r>
          </a:p>
        </p:txBody>
      </p:sp>
      <p:sp>
        <p:nvSpPr>
          <p:cNvPr id="8192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6324600" cy="4525963"/>
          </a:xfrm>
        </p:spPr>
        <p:txBody>
          <a:bodyPr/>
          <a:lstStyle/>
          <a:p>
            <a:pPr eaLnBrk="1" hangingPunct="1"/>
            <a:r>
              <a:rPr lang="vi-VN" sz="2800" noProof="0" dirty="0"/>
              <a:t>Kinh nghiệm: Số ô sai vị trí</a:t>
            </a:r>
          </a:p>
          <a:p>
            <a:pPr eaLnBrk="1" hangingPunct="1"/>
            <a:r>
              <a:rPr lang="vi-VN" sz="2800" noProof="0" dirty="0">
                <a:solidFill>
                  <a:srgbClr val="FF0000"/>
                </a:solidFill>
              </a:rPr>
              <a:t>Tại sao là hàm chấp nhận được ?</a:t>
            </a:r>
          </a:p>
          <a:p>
            <a:pPr eaLnBrk="1" hangingPunct="1"/>
            <a:r>
              <a:rPr lang="vi-VN" sz="2800" noProof="0" dirty="0"/>
              <a:t>h(S) =</a:t>
            </a:r>
          </a:p>
          <a:p>
            <a:pPr eaLnBrk="1" hangingPunct="1"/>
            <a:r>
              <a:rPr lang="vi-VN" sz="2800" i="1" noProof="0" dirty="0"/>
              <a:t>Bài toán nới lỏng </a:t>
            </a:r>
            <a:r>
              <a:rPr lang="vi-VN" sz="2800" noProof="0" dirty="0"/>
              <a:t>là gì ?</a:t>
            </a:r>
          </a:p>
        </p:txBody>
      </p:sp>
      <p:sp>
        <p:nvSpPr>
          <p:cNvPr id="819206" name="Text Box 6"/>
          <p:cNvSpPr txBox="1">
            <a:spLocks noChangeArrowheads="1"/>
          </p:cNvSpPr>
          <p:nvPr/>
        </p:nvSpPr>
        <p:spPr bwMode="auto">
          <a:xfrm>
            <a:off x="1608162" y="2286000"/>
            <a:ext cx="990600" cy="584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chemeClr val="accent2"/>
                </a:solidFill>
                <a:latin typeface="Calibri" pitchFamily="34" charset="0"/>
              </a:rPr>
              <a:t>8</a:t>
            </a:r>
          </a:p>
        </p:txBody>
      </p:sp>
      <p:graphicFrame>
        <p:nvGraphicFramePr>
          <p:cNvPr id="819294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783332"/>
              </p:ext>
            </p:extLst>
          </p:nvPr>
        </p:nvGraphicFramePr>
        <p:xfrm>
          <a:off x="6400800" y="3886200"/>
          <a:ext cx="5029200" cy="257778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Số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nút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được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mở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rộng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trung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bình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khi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mục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tiêu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tối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ưu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ở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4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8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12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UCS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6,300</a:t>
                      </a:r>
                      <a:endParaRPr kumimoji="0" lang="en-US" sz="24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3.6 x 10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TILES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890" y="3489471"/>
            <a:ext cx="5510086" cy="3138194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6324601" y="1219414"/>
            <a:ext cx="5333998" cy="2533496"/>
            <a:chOff x="533401" y="1219446"/>
            <a:chExt cx="6113461" cy="2903718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3401" y="1219446"/>
              <a:ext cx="6113461" cy="2544905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620735" y="3639596"/>
              <a:ext cx="2620056" cy="458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Trạng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thái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bắt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đầu</a:t>
              </a:r>
              <a:endParaRPr lang="en-US" sz="2000" dirty="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52137" y="3664585"/>
              <a:ext cx="2505211" cy="458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Trạng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thái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mục</a:t>
              </a:r>
              <a:r>
                <a:rPr lang="en-US" sz="2000" dirty="0">
                  <a:latin typeface="Calibri" pitchFamily="34" charset="0"/>
                </a:rPr>
                <a:t> </a:t>
              </a:r>
              <a:r>
                <a:rPr lang="en-US" sz="2000" dirty="0" err="1">
                  <a:latin typeface="Calibri" pitchFamily="34" charset="0"/>
                </a:rPr>
                <a:t>tiêu</a:t>
              </a:r>
              <a:endParaRPr lang="en-US" sz="2000" dirty="0">
                <a:latin typeface="Calibri" pitchFamily="34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9067800" y="65532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libri" pitchFamily="34" charset="0"/>
              </a:rPr>
              <a:t>Statistics from Andrew Moore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6" grpId="0"/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Trò đẩy chữ II</a:t>
            </a:r>
          </a:p>
        </p:txBody>
      </p:sp>
      <p:sp>
        <p:nvSpPr>
          <p:cNvPr id="813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5867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Nếu ta có thể di chuyển từng ô theo mọi hướng, vượt qua mọi ô khác?</a:t>
            </a:r>
          </a:p>
          <a:p>
            <a:pPr eaLnBrk="1" hangingPunct="1">
              <a:lnSpc>
                <a:spcPct val="90000"/>
              </a:lnSpc>
            </a:pPr>
            <a:endParaRPr lang="vi-VN" sz="24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>
                <a:solidFill>
                  <a:srgbClr val="FF0000"/>
                </a:solidFill>
              </a:rPr>
              <a:t>Tổng khoảng cách </a:t>
            </a:r>
            <a:r>
              <a:rPr lang="vi-VN" sz="2400" i="1" noProof="0" dirty="0">
                <a:solidFill>
                  <a:srgbClr val="FF0000"/>
                </a:solidFill>
              </a:rPr>
              <a:t>Manhattan</a:t>
            </a:r>
            <a:endParaRPr lang="vi-VN" sz="2400" noProof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vi-VN" sz="24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Tại sao là hàm chấp nhận được ?</a:t>
            </a:r>
          </a:p>
          <a:p>
            <a:pPr eaLnBrk="1" hangingPunct="1">
              <a:lnSpc>
                <a:spcPct val="90000"/>
              </a:lnSpc>
            </a:pPr>
            <a:endParaRPr lang="vi-VN" sz="24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h(S) =</a:t>
            </a:r>
          </a:p>
          <a:p>
            <a:pPr eaLnBrk="1" hangingPunct="1">
              <a:lnSpc>
                <a:spcPct val="90000"/>
              </a:lnSpc>
            </a:pPr>
            <a:endParaRPr lang="vi-VN" sz="2400" noProof="0" dirty="0"/>
          </a:p>
        </p:txBody>
      </p:sp>
      <p:sp>
        <p:nvSpPr>
          <p:cNvPr id="813061" name="Text Box 5"/>
          <p:cNvSpPr txBox="1">
            <a:spLocks noChangeArrowheads="1"/>
          </p:cNvSpPr>
          <p:nvPr/>
        </p:nvSpPr>
        <p:spPr bwMode="auto">
          <a:xfrm>
            <a:off x="1676400" y="4267200"/>
            <a:ext cx="48006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3 + 1 + 2 + … = 18</a:t>
            </a:r>
          </a:p>
        </p:txBody>
      </p:sp>
      <p:graphicFrame>
        <p:nvGraphicFramePr>
          <p:cNvPr id="813133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30584"/>
              </p:ext>
            </p:extLst>
          </p:nvPr>
        </p:nvGraphicFramePr>
        <p:xfrm>
          <a:off x="5791200" y="3886200"/>
          <a:ext cx="5891629" cy="2602992"/>
        </p:xfrm>
        <a:graphic>
          <a:graphicData uri="http://schemas.openxmlformats.org/drawingml/2006/table">
            <a:tbl>
              <a:tblPr/>
              <a:tblGrid>
                <a:gridCol w="18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Số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nút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được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mở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rộng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trung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bình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khi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mục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tiêu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tối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ưu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ở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4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8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Sau 12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bước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TILES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MANHATTAN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6324601" y="1219414"/>
            <a:ext cx="5333998" cy="2536188"/>
            <a:chOff x="533401" y="1219446"/>
            <a:chExt cx="6113461" cy="2906804"/>
          </a:xfrm>
        </p:grpSpPr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3401" y="1219446"/>
              <a:ext cx="6113461" cy="2544905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1259591" y="3639596"/>
              <a:ext cx="1981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alibri" pitchFamily="34" charset="0"/>
                </a:rPr>
                <a:t>Start State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76148" y="3664585"/>
              <a:ext cx="1981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alibri" pitchFamily="34" charset="0"/>
                </a:rPr>
                <a:t>Goal State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Trò đẩy chữ III</a:t>
            </a:r>
          </a:p>
        </p:txBody>
      </p:sp>
      <p:sp>
        <p:nvSpPr>
          <p:cNvPr id="817155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11099800" cy="4729164"/>
          </a:xfrm>
        </p:spPr>
        <p:txBody>
          <a:bodyPr/>
          <a:lstStyle/>
          <a:p>
            <a:pPr eaLnBrk="1" hangingPunct="1"/>
            <a:r>
              <a:rPr lang="vi-VN" sz="2800" noProof="0" dirty="0"/>
              <a:t>Tại sao không dùng chi phí thật làm hàm kinh nghiệm ?</a:t>
            </a:r>
          </a:p>
          <a:p>
            <a:pPr lvl="1" eaLnBrk="1" hangingPunct="1"/>
            <a:r>
              <a:rPr lang="vi-VN" sz="2400" noProof="0" dirty="0"/>
              <a:t>Có chấp nhận được không ?</a:t>
            </a:r>
          </a:p>
          <a:p>
            <a:pPr lvl="1" eaLnBrk="1" hangingPunct="1"/>
            <a:r>
              <a:rPr lang="vi-VN" sz="2400" noProof="0" dirty="0"/>
              <a:t>Có giảm được số nút cần mở rộng ?</a:t>
            </a:r>
          </a:p>
          <a:p>
            <a:pPr lvl="1" eaLnBrk="1" hangingPunct="1"/>
            <a:r>
              <a:rPr lang="vi-VN" sz="2400" noProof="0" dirty="0"/>
              <a:t>Có vấn đề gì với hàm này ?</a:t>
            </a:r>
          </a:p>
          <a:p>
            <a:pPr eaLnBrk="1" hangingPunct="1"/>
            <a:endParaRPr lang="vi-VN" sz="2800" noProof="0" dirty="0"/>
          </a:p>
          <a:p>
            <a:pPr eaLnBrk="1" hangingPunct="1"/>
            <a:endParaRPr lang="vi-VN" sz="2800" noProof="0" dirty="0"/>
          </a:p>
          <a:p>
            <a:pPr eaLnBrk="1" hangingPunct="1"/>
            <a:r>
              <a:rPr lang="vi-VN" sz="2800" dirty="0"/>
              <a:t>Bản chất </a:t>
            </a:r>
            <a:r>
              <a:rPr lang="vi-VN" sz="2800" noProof="0" dirty="0"/>
              <a:t>A*: sự đánh đổi giữa khối lượng tính toán và chất lượng của ước lượng</a:t>
            </a:r>
          </a:p>
          <a:p>
            <a:pPr lvl="1"/>
            <a:r>
              <a:rPr lang="vi-VN" sz="2400" noProof="0" dirty="0"/>
              <a:t>Khi hàm kinh nghiệm gần với chi phí thật: phải mở rộng ít nút hơn nhưng phải tính toán nhiều hơn tại mỗi nút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1138" y="1880138"/>
            <a:ext cx="5021261" cy="19297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90800"/>
            <a:ext cx="12192000" cy="1143000"/>
          </a:xfrm>
        </p:spPr>
        <p:txBody>
          <a:bodyPr/>
          <a:lstStyle/>
          <a:p>
            <a:pPr eaLnBrk="1" hangingPunct="1"/>
            <a:r>
              <a:rPr lang="vi-VN" sz="6000" noProof="0" dirty="0"/>
              <a:t>Semi-Lattice of Heuristics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989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Trivial Heuristics, Dominance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524000"/>
            <a:ext cx="5715000" cy="4953000"/>
          </a:xfrm>
        </p:spPr>
        <p:txBody>
          <a:bodyPr/>
          <a:lstStyle/>
          <a:p>
            <a:pPr eaLnBrk="1" hangingPunct="1"/>
            <a:r>
              <a:rPr lang="vi-VN" sz="2400" noProof="0" dirty="0"/>
              <a:t>Dominance: h</a:t>
            </a:r>
            <a:r>
              <a:rPr lang="vi-VN" sz="2400" baseline="-25000" noProof="0" dirty="0"/>
              <a:t>a</a:t>
            </a:r>
            <a:r>
              <a:rPr lang="vi-VN" sz="2400" noProof="0" dirty="0"/>
              <a:t> </a:t>
            </a:r>
            <a:r>
              <a:rPr lang="vi-VN" sz="2400" noProof="0" dirty="0">
                <a:cs typeface="Arial" charset="0"/>
              </a:rPr>
              <a:t>≥</a:t>
            </a:r>
            <a:r>
              <a:rPr lang="vi-VN" sz="2400" noProof="0" dirty="0"/>
              <a:t> h</a:t>
            </a:r>
            <a:r>
              <a:rPr lang="vi-VN" sz="2400" baseline="-25000" noProof="0" dirty="0"/>
              <a:t>c</a:t>
            </a:r>
            <a:r>
              <a:rPr lang="vi-VN" sz="2400" noProof="0" dirty="0"/>
              <a:t> if</a:t>
            </a:r>
          </a:p>
          <a:p>
            <a:pPr eaLnBrk="1" hangingPunct="1"/>
            <a:endParaRPr lang="vi-VN" sz="2400" noProof="0" dirty="0"/>
          </a:p>
          <a:p>
            <a:pPr eaLnBrk="1" hangingPunct="1"/>
            <a:endParaRPr lang="vi-VN" sz="2400" noProof="0" dirty="0"/>
          </a:p>
          <a:p>
            <a:pPr eaLnBrk="1" hangingPunct="1"/>
            <a:r>
              <a:rPr lang="vi-VN" sz="2400" noProof="0" dirty="0"/>
              <a:t>Heuristics form a semi-lattice:</a:t>
            </a:r>
          </a:p>
          <a:p>
            <a:pPr lvl="1" eaLnBrk="1" hangingPunct="1"/>
            <a:r>
              <a:rPr lang="vi-VN" sz="2000" noProof="0" dirty="0"/>
              <a:t>Max of admissible heuristics is admissible</a:t>
            </a:r>
          </a:p>
          <a:p>
            <a:pPr lvl="1" eaLnBrk="1" hangingPunct="1"/>
            <a:endParaRPr lang="vi-VN" sz="2000" noProof="0" dirty="0"/>
          </a:p>
          <a:p>
            <a:pPr lvl="1" eaLnBrk="1" hangingPunct="1"/>
            <a:endParaRPr lang="vi-VN" sz="2000" noProof="0" dirty="0"/>
          </a:p>
          <a:p>
            <a:pPr lvl="1" eaLnBrk="1" hangingPunct="1"/>
            <a:endParaRPr lang="vi-VN" sz="2000" noProof="0" dirty="0"/>
          </a:p>
          <a:p>
            <a:pPr eaLnBrk="1" hangingPunct="1"/>
            <a:r>
              <a:rPr lang="vi-VN" sz="2400" noProof="0" dirty="0"/>
              <a:t>Trivial heuristics</a:t>
            </a:r>
          </a:p>
          <a:p>
            <a:pPr lvl="1" eaLnBrk="1" hangingPunct="1"/>
            <a:r>
              <a:rPr lang="vi-VN" sz="2000" noProof="0" dirty="0"/>
              <a:t>Bottom of lattice is the zero heuristic (what does this give us?)</a:t>
            </a:r>
          </a:p>
          <a:p>
            <a:pPr lvl="1" eaLnBrk="1" hangingPunct="1"/>
            <a:r>
              <a:rPr lang="vi-VN" sz="2000" noProof="0" dirty="0"/>
              <a:t>Top of lattice is the exact heuristic</a:t>
            </a:r>
          </a:p>
        </p:txBody>
      </p:sp>
      <p:pic>
        <p:nvPicPr>
          <p:cNvPr id="27652" name="Picture 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133601" y="3886200"/>
            <a:ext cx="43799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7" name="Picture 1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212975" y="2133601"/>
            <a:ext cx="30988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8" name="Group 17"/>
          <p:cNvGrpSpPr/>
          <p:nvPr/>
        </p:nvGrpSpPr>
        <p:grpSpPr>
          <a:xfrm>
            <a:off x="8229600" y="1716338"/>
            <a:ext cx="2133600" cy="4227262"/>
            <a:chOff x="9344024" y="1905002"/>
            <a:chExt cx="1781176" cy="3529011"/>
          </a:xfrm>
        </p:grpSpPr>
        <p:pic>
          <p:nvPicPr>
            <p:cNvPr id="27653" name="Picture 9" descr="txp_fi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9725023" y="1905002"/>
              <a:ext cx="86201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4" name="Picture 11" descr="txp_fig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9801223" y="5257800"/>
              <a:ext cx="720725" cy="176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5" name="Picture 13" descr="txp_fig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9344024" y="3505200"/>
              <a:ext cx="350839" cy="2984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6" name="Picture 15" descr="txp_fi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10791825" y="3505201"/>
              <a:ext cx="333375" cy="3508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8" name="Picture 19" descr="txp_fig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9344024" y="4349749"/>
              <a:ext cx="350839" cy="2984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59" name="Line 23"/>
            <p:cNvSpPr>
              <a:spLocks noChangeShapeType="1"/>
            </p:cNvSpPr>
            <p:nvPr/>
          </p:nvSpPr>
          <p:spPr bwMode="auto">
            <a:xfrm flipH="1" flipV="1">
              <a:off x="9572623" y="4800600"/>
              <a:ext cx="457200" cy="3048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0" name="Line 24"/>
            <p:cNvSpPr>
              <a:spLocks noChangeShapeType="1"/>
            </p:cNvSpPr>
            <p:nvPr/>
          </p:nvSpPr>
          <p:spPr bwMode="auto">
            <a:xfrm flipV="1">
              <a:off x="10334623" y="3962400"/>
              <a:ext cx="533400" cy="1143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1" name="Line 25"/>
            <p:cNvSpPr>
              <a:spLocks noChangeShapeType="1"/>
            </p:cNvSpPr>
            <p:nvPr/>
          </p:nvSpPr>
          <p:spPr bwMode="auto">
            <a:xfrm flipV="1">
              <a:off x="9496423" y="3962400"/>
              <a:ext cx="0" cy="3048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2" name="Line 26"/>
            <p:cNvSpPr>
              <a:spLocks noChangeShapeType="1"/>
            </p:cNvSpPr>
            <p:nvPr/>
          </p:nvSpPr>
          <p:spPr bwMode="auto">
            <a:xfrm flipV="1">
              <a:off x="9496423" y="3124200"/>
              <a:ext cx="685800" cy="2286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3" name="Line 27"/>
            <p:cNvSpPr>
              <a:spLocks noChangeShapeType="1"/>
            </p:cNvSpPr>
            <p:nvPr/>
          </p:nvSpPr>
          <p:spPr bwMode="auto">
            <a:xfrm flipH="1" flipV="1">
              <a:off x="10182223" y="3124200"/>
              <a:ext cx="762000" cy="2286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4" name="Line 28"/>
            <p:cNvSpPr>
              <a:spLocks noChangeShapeType="1"/>
            </p:cNvSpPr>
            <p:nvPr/>
          </p:nvSpPr>
          <p:spPr bwMode="auto">
            <a:xfrm flipV="1">
              <a:off x="10182223" y="2286000"/>
              <a:ext cx="0" cy="2286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pic>
          <p:nvPicPr>
            <p:cNvPr id="27665" name="Picture 29" descr="txp_fig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9420224" y="2732089"/>
              <a:ext cx="1560513" cy="295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Tìm kiếm trên đồ thị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0" y="1600552"/>
            <a:ext cx="9932986" cy="44093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295400"/>
            <a:ext cx="11379200" cy="4729164"/>
          </a:xfrm>
        </p:spPr>
        <p:txBody>
          <a:bodyPr/>
          <a:lstStyle/>
          <a:p>
            <a:pPr eaLnBrk="1" hangingPunct="1"/>
            <a:r>
              <a:rPr lang="vi-VN" sz="2800" noProof="0" dirty="0"/>
              <a:t>Không phát hiện được các trạng thái gây bùng nổ về số nút cần mở rộng.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41711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936947" y="2035612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184898" y="2198192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 err="1">
                <a:latin typeface="Calibri" pitchFamily="34" charset="0"/>
              </a:rPr>
              <a:t>Cây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tìm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kiếm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5547" y="2121992"/>
            <a:ext cx="3429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 err="1">
                <a:latin typeface="Calibri" pitchFamily="34" charset="0"/>
              </a:rPr>
              <a:t>Đồ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thị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trạng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thái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Tìm kiếm trên cây: Cấu trúc lặp lại !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0" t="2840" r="64740" b="2208"/>
          <a:stretch>
            <a:fillRect/>
          </a:stretch>
        </p:blipFill>
        <p:spPr bwMode="auto">
          <a:xfrm>
            <a:off x="1371600" y="2514600"/>
            <a:ext cx="3048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165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8026" t="5048" r="2599" b="15457"/>
          <a:stretch>
            <a:fillRect/>
          </a:stretch>
        </p:blipFill>
        <p:spPr bwMode="auto">
          <a:xfrm>
            <a:off x="6477000" y="2819400"/>
            <a:ext cx="4343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Tìm kiếm trên đồ thị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sz="2600" noProof="0" dirty="0">
                <a:latin typeface="Calibri"/>
                <a:cs typeface="Calibri"/>
              </a:rPr>
              <a:t>Trong BFS, không cần phải mở rộng các nút được khoanh tròn (tại sao ?)</a:t>
            </a: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3352800" y="2435610"/>
            <a:ext cx="5486400" cy="3355590"/>
            <a:chOff x="48" y="2332"/>
            <a:chExt cx="3456" cy="2406"/>
          </a:xfrm>
        </p:grpSpPr>
        <p:sp>
          <p:nvSpPr>
            <p:cNvPr id="30729" name="Text Box 5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30730" name="Text Box 6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30731" name="Text Box 7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b</a:t>
              </a:r>
            </a:p>
          </p:txBody>
        </p:sp>
        <p:sp>
          <p:nvSpPr>
            <p:cNvPr id="30732" name="Text Box 8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d</a:t>
              </a:r>
            </a:p>
          </p:txBody>
        </p:sp>
        <p:sp>
          <p:nvSpPr>
            <p:cNvPr id="30733" name="Text Box 9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p</a:t>
              </a:r>
            </a:p>
          </p:txBody>
        </p:sp>
        <p:sp>
          <p:nvSpPr>
            <p:cNvPr id="30734" name="Text Box 10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30735" name="Text Box 11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c</a:t>
              </a:r>
            </a:p>
          </p:txBody>
        </p:sp>
        <p:cxnSp>
          <p:nvCxnSpPr>
            <p:cNvPr id="30736" name="AutoShape 12"/>
            <p:cNvCxnSpPr>
              <a:cxnSpLocks noChangeShapeType="1"/>
              <a:stCxn id="30732" idx="2"/>
              <a:endCxn id="30731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7" name="AutoShape 13"/>
            <p:cNvCxnSpPr>
              <a:cxnSpLocks noChangeShapeType="1"/>
              <a:stCxn id="30732" idx="2"/>
              <a:endCxn id="30735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8" name="AutoShape 14"/>
            <p:cNvCxnSpPr>
              <a:cxnSpLocks noChangeShapeType="1"/>
              <a:stCxn id="30731" idx="2"/>
              <a:endCxn id="30730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9" name="AutoShape 15"/>
            <p:cNvCxnSpPr>
              <a:cxnSpLocks noChangeShapeType="1"/>
              <a:stCxn id="30735" idx="2"/>
              <a:endCxn id="30734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30740" name="Group 16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30767" name="Text Box 17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30768" name="Text Box 18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p</a:t>
                </a:r>
              </a:p>
            </p:txBody>
          </p:sp>
          <p:sp>
            <p:nvSpPr>
              <p:cNvPr id="30769" name="Text Box 19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h</a:t>
                </a:r>
              </a:p>
            </p:txBody>
          </p:sp>
          <p:sp>
            <p:nvSpPr>
              <p:cNvPr id="30770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f</a:t>
                </a:r>
              </a:p>
            </p:txBody>
          </p:sp>
          <p:sp>
            <p:nvSpPr>
              <p:cNvPr id="30771" name="Text Box 21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r</a:t>
                </a:r>
              </a:p>
            </p:txBody>
          </p:sp>
          <p:sp>
            <p:nvSpPr>
              <p:cNvPr id="30772" name="Text Box 22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q</a:t>
                </a:r>
              </a:p>
            </p:txBody>
          </p:sp>
          <p:sp>
            <p:nvSpPr>
              <p:cNvPr id="30773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q</a:t>
                </a:r>
              </a:p>
            </p:txBody>
          </p:sp>
          <p:sp>
            <p:nvSpPr>
              <p:cNvPr id="30774" name="Text Box 24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c</a:t>
                </a:r>
              </a:p>
            </p:txBody>
          </p:sp>
          <p:sp>
            <p:nvSpPr>
              <p:cNvPr id="30775" name="Text Box 25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>
                    <a:latin typeface="Calibri"/>
                    <a:cs typeface="Calibri"/>
                  </a:rPr>
                  <a:t>G</a:t>
                </a:r>
              </a:p>
            </p:txBody>
          </p:sp>
          <p:sp>
            <p:nvSpPr>
              <p:cNvPr id="30776" name="Text Box 26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a</a:t>
                </a:r>
              </a:p>
            </p:txBody>
          </p:sp>
          <p:cxnSp>
            <p:nvCxnSpPr>
              <p:cNvPr id="30777" name="AutoShape 27"/>
              <p:cNvCxnSpPr>
                <a:cxnSpLocks noChangeShapeType="1"/>
                <a:stCxn id="30767" idx="2"/>
                <a:endCxn id="30769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78" name="AutoShape 28"/>
              <p:cNvCxnSpPr>
                <a:cxnSpLocks noChangeShapeType="1"/>
                <a:stCxn id="30767" idx="2"/>
                <a:endCxn id="30771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79" name="AutoShape 29"/>
              <p:cNvCxnSpPr>
                <a:cxnSpLocks noChangeShapeType="1"/>
                <a:stCxn id="30769" idx="2"/>
                <a:endCxn id="30768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0" name="AutoShape 30"/>
              <p:cNvCxnSpPr>
                <a:cxnSpLocks noChangeShapeType="1"/>
                <a:stCxn id="30769" idx="2"/>
                <a:endCxn id="30772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1" name="AutoShape 31"/>
              <p:cNvCxnSpPr>
                <a:cxnSpLocks noChangeShapeType="1"/>
                <a:stCxn id="30771" idx="2"/>
                <a:endCxn id="30770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2" name="AutoShape 32"/>
              <p:cNvCxnSpPr>
                <a:cxnSpLocks noChangeShapeType="1"/>
                <a:stCxn id="30768" idx="2"/>
                <a:endCxn id="30773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3" name="AutoShape 33"/>
              <p:cNvCxnSpPr>
                <a:cxnSpLocks noChangeShapeType="1"/>
                <a:stCxn id="30770" idx="2"/>
                <a:endCxn id="30774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4" name="AutoShape 34"/>
              <p:cNvCxnSpPr>
                <a:cxnSpLocks noChangeShapeType="1"/>
                <a:stCxn id="30770" idx="2"/>
                <a:endCxn id="30775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85" name="AutoShape 35"/>
              <p:cNvCxnSpPr>
                <a:cxnSpLocks noChangeShapeType="1"/>
                <a:stCxn id="30774" idx="2"/>
                <a:endCxn id="30776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30741" name="Text Box 36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>
                  <a:latin typeface="Calibri"/>
                  <a:cs typeface="Calibri"/>
                </a:rPr>
                <a:t>q</a:t>
              </a:r>
            </a:p>
          </p:txBody>
        </p:sp>
        <p:cxnSp>
          <p:nvCxnSpPr>
            <p:cNvPr id="30742" name="AutoShape 37"/>
            <p:cNvCxnSpPr>
              <a:cxnSpLocks noChangeShapeType="1"/>
              <a:stCxn id="30733" idx="2"/>
              <a:endCxn id="30741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30743" name="Group 38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30748" name="Text Box 39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30749" name="Text Box 40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p</a:t>
                </a:r>
              </a:p>
            </p:txBody>
          </p:sp>
          <p:sp>
            <p:nvSpPr>
              <p:cNvPr id="30750" name="Text Box 41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h</a:t>
                </a:r>
              </a:p>
            </p:txBody>
          </p:sp>
          <p:sp>
            <p:nvSpPr>
              <p:cNvPr id="30751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f</a:t>
                </a:r>
              </a:p>
            </p:txBody>
          </p:sp>
          <p:sp>
            <p:nvSpPr>
              <p:cNvPr id="30752" name="Text Box 43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r</a:t>
                </a:r>
              </a:p>
            </p:txBody>
          </p:sp>
          <p:sp>
            <p:nvSpPr>
              <p:cNvPr id="30753" name="Text Box 44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q</a:t>
                </a:r>
              </a:p>
            </p:txBody>
          </p:sp>
          <p:sp>
            <p:nvSpPr>
              <p:cNvPr id="30754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q</a:t>
                </a:r>
              </a:p>
            </p:txBody>
          </p:sp>
          <p:sp>
            <p:nvSpPr>
              <p:cNvPr id="30755" name="Text Box 46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c</a:t>
                </a:r>
              </a:p>
            </p:txBody>
          </p:sp>
          <p:sp>
            <p:nvSpPr>
              <p:cNvPr id="30756" name="Text Box 47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 dirty="0">
                    <a:latin typeface="Calibri"/>
                    <a:cs typeface="Calibri"/>
                  </a:rPr>
                  <a:t>G</a:t>
                </a:r>
              </a:p>
            </p:txBody>
          </p:sp>
          <p:sp>
            <p:nvSpPr>
              <p:cNvPr id="30757" name="Text Box 48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>
                    <a:latin typeface="Calibri"/>
                    <a:cs typeface="Calibri"/>
                  </a:rPr>
                  <a:t>a</a:t>
                </a:r>
              </a:p>
            </p:txBody>
          </p:sp>
          <p:cxnSp>
            <p:nvCxnSpPr>
              <p:cNvPr id="30758" name="AutoShape 49"/>
              <p:cNvCxnSpPr>
                <a:cxnSpLocks noChangeShapeType="1"/>
                <a:stCxn id="30748" idx="2"/>
                <a:endCxn id="30750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59" name="AutoShape 50"/>
              <p:cNvCxnSpPr>
                <a:cxnSpLocks noChangeShapeType="1"/>
                <a:stCxn id="30748" idx="2"/>
                <a:endCxn id="30752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0" name="AutoShape 51"/>
              <p:cNvCxnSpPr>
                <a:cxnSpLocks noChangeShapeType="1"/>
                <a:stCxn id="30750" idx="2"/>
                <a:endCxn id="30749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1" name="AutoShape 52"/>
              <p:cNvCxnSpPr>
                <a:cxnSpLocks noChangeShapeType="1"/>
                <a:stCxn id="30750" idx="2"/>
                <a:endCxn id="30753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2" name="AutoShape 53"/>
              <p:cNvCxnSpPr>
                <a:cxnSpLocks noChangeShapeType="1"/>
                <a:stCxn id="30752" idx="2"/>
                <a:endCxn id="30751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3" name="AutoShape 54"/>
              <p:cNvCxnSpPr>
                <a:cxnSpLocks noChangeShapeType="1"/>
                <a:stCxn id="30749" idx="2"/>
                <a:endCxn id="30754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4" name="AutoShape 55"/>
              <p:cNvCxnSpPr>
                <a:cxnSpLocks noChangeShapeType="1"/>
                <a:stCxn id="30751" idx="2"/>
                <a:endCxn id="30755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5" name="AutoShape 56"/>
              <p:cNvCxnSpPr>
                <a:cxnSpLocks noChangeShapeType="1"/>
                <a:stCxn id="30751" idx="2"/>
                <a:endCxn id="30756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0766" name="AutoShape 57"/>
              <p:cNvCxnSpPr>
                <a:cxnSpLocks noChangeShapeType="1"/>
                <a:stCxn id="30755" idx="2"/>
                <a:endCxn id="30757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30744" name="AutoShape 58"/>
            <p:cNvCxnSpPr>
              <a:cxnSpLocks noChangeShapeType="1"/>
              <a:stCxn id="30732" idx="2"/>
              <a:endCxn id="30748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5" name="AutoShape 59"/>
            <p:cNvCxnSpPr>
              <a:cxnSpLocks noChangeShapeType="1"/>
              <a:stCxn id="30729" idx="2"/>
              <a:endCxn id="30732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6" name="AutoShape 60"/>
            <p:cNvCxnSpPr>
              <a:cxnSpLocks noChangeShapeType="1"/>
              <a:stCxn id="30729" idx="2"/>
              <a:endCxn id="30767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7" name="AutoShape 61"/>
            <p:cNvCxnSpPr>
              <a:cxnSpLocks noChangeShapeType="1"/>
              <a:stCxn id="30729" idx="2"/>
              <a:endCxn id="30733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861246" name="Oval 62"/>
          <p:cNvSpPr>
            <a:spLocks noChangeArrowheads="1"/>
          </p:cNvSpPr>
          <p:nvPr/>
        </p:nvSpPr>
        <p:spPr bwMode="auto">
          <a:xfrm>
            <a:off x="4892676" y="3407161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861247" name="Oval 63"/>
          <p:cNvSpPr>
            <a:spLocks noChangeArrowheads="1"/>
          </p:cNvSpPr>
          <p:nvPr/>
        </p:nvSpPr>
        <p:spPr bwMode="auto">
          <a:xfrm>
            <a:off x="6122989" y="3959610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861248" name="Oval 64"/>
          <p:cNvSpPr>
            <a:spLocks noChangeArrowheads="1"/>
          </p:cNvSpPr>
          <p:nvPr/>
        </p:nvSpPr>
        <p:spPr bwMode="auto">
          <a:xfrm>
            <a:off x="4054476" y="3940561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861249" name="Oval 65"/>
          <p:cNvSpPr>
            <a:spLocks noChangeArrowheads="1"/>
          </p:cNvSpPr>
          <p:nvPr/>
        </p:nvSpPr>
        <p:spPr bwMode="auto">
          <a:xfrm>
            <a:off x="6564314" y="3956435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1246" grpId="0" animBg="1"/>
      <p:bldP spid="861247" grpId="0" animBg="1"/>
      <p:bldP spid="861248" grpId="0" animBg="1"/>
      <p:bldP spid="86124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Tìm kiếm trên đồ thị</a:t>
            </a:r>
            <a:endParaRPr lang="vi-VN" noProof="0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1371600"/>
            <a:ext cx="8153400" cy="472281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vi-VN" sz="2400" noProof="0" dirty="0"/>
              <a:t>Ý tưởng: Không mở rộng một trạng thái </a:t>
            </a:r>
            <a:r>
              <a:rPr lang="vi-VN" sz="2400" noProof="0" dirty="0">
                <a:solidFill>
                  <a:srgbClr val="FF0000"/>
                </a:solidFill>
              </a:rPr>
              <a:t>2 lần</a:t>
            </a:r>
          </a:p>
          <a:p>
            <a:pPr eaLnBrk="1" hangingPunct="1">
              <a:lnSpc>
                <a:spcPct val="150000"/>
              </a:lnSpc>
            </a:pPr>
            <a:r>
              <a:rPr lang="vi-VN" sz="2400" noProof="0" dirty="0"/>
              <a:t>Cài đặt: </a:t>
            </a:r>
          </a:p>
          <a:p>
            <a:pPr lvl="1" eaLnBrk="1" hangingPunct="1"/>
            <a:r>
              <a:rPr lang="vi-VN" sz="2000" noProof="0" dirty="0"/>
              <a:t>Tìm kiếm trên cây + lưu trữ các nút đã mở rộng (“tập đóng”)</a:t>
            </a:r>
          </a:p>
          <a:p>
            <a:pPr lvl="1" eaLnBrk="1" hangingPunct="1"/>
            <a:r>
              <a:rPr lang="vi-VN" sz="2000" noProof="0" dirty="0"/>
              <a:t>Mở rộng cây tìm kiếm theo từng nút, nhưng …</a:t>
            </a:r>
          </a:p>
          <a:p>
            <a:pPr lvl="1" eaLnBrk="1" hangingPunct="1"/>
            <a:r>
              <a:rPr lang="vi-VN" sz="2000" noProof="0" dirty="0"/>
              <a:t>Trước khi mở rộng mỗi nút, kiểm tra nút đó đã được mở rộng chưa</a:t>
            </a:r>
          </a:p>
          <a:p>
            <a:pPr lvl="1" eaLnBrk="1" hangingPunct="1"/>
            <a:r>
              <a:rPr lang="vi-VN" sz="2000" noProof="0" dirty="0"/>
              <a:t>Nếu nút đã mở rộng, bỏ qua, ngược lại, đưa nút đó vào tập đóng</a:t>
            </a:r>
            <a:endParaRPr lang="vi-VN" sz="2400" noProof="0" dirty="0"/>
          </a:p>
          <a:p>
            <a:pPr eaLnBrk="1" hangingPunct="1">
              <a:lnSpc>
                <a:spcPct val="150000"/>
              </a:lnSpc>
            </a:pPr>
            <a:r>
              <a:rPr lang="vi-VN" sz="2400" noProof="0" dirty="0"/>
              <a:t>Lưu ý: </a:t>
            </a:r>
            <a:r>
              <a:rPr lang="vi-VN" sz="2400" noProof="0" dirty="0">
                <a:solidFill>
                  <a:srgbClr val="FF0000"/>
                </a:solidFill>
              </a:rPr>
              <a:t>lưu trữ tập đóng bằng tập hợp</a:t>
            </a:r>
            <a:r>
              <a:rPr lang="vi-VN" sz="2400" noProof="0" dirty="0"/>
              <a:t>, không dùng danh sách</a:t>
            </a:r>
            <a:endParaRPr lang="vi-VN" sz="1900" noProof="0" dirty="0"/>
          </a:p>
          <a:p>
            <a:pPr eaLnBrk="1" hangingPunct="1">
              <a:lnSpc>
                <a:spcPct val="150000"/>
              </a:lnSpc>
            </a:pPr>
            <a:r>
              <a:rPr lang="vi-VN" sz="2400" noProof="0" dirty="0"/>
              <a:t>Tìm kiếm trên đồ thị có đầy đủ ?</a:t>
            </a:r>
          </a:p>
          <a:p>
            <a:pPr eaLnBrk="1" hangingPunct="1">
              <a:lnSpc>
                <a:spcPct val="150000"/>
              </a:lnSpc>
            </a:pPr>
            <a:r>
              <a:rPr lang="vi-VN" sz="2400" noProof="0" dirty="0"/>
              <a:t>Có tối ưu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Trường hợp Tìm kiếm trên đồ thị sai</a:t>
            </a:r>
          </a:p>
        </p:txBody>
      </p:sp>
      <p:sp>
        <p:nvSpPr>
          <p:cNvPr id="18" name="Oval 17"/>
          <p:cNvSpPr/>
          <p:nvPr/>
        </p:nvSpPr>
        <p:spPr>
          <a:xfrm>
            <a:off x="1363498" y="28194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9" name="Oval 18"/>
          <p:cNvSpPr/>
          <p:nvPr/>
        </p:nvSpPr>
        <p:spPr>
          <a:xfrm>
            <a:off x="3116098" y="21336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dirty="0">
                <a:latin typeface="Calibri"/>
                <a:cs typeface="Calibr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2506498" y="41910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dirty="0">
                <a:latin typeface="Calibri"/>
                <a:cs typeface="Calibri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4792498" y="28956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dirty="0">
                <a:latin typeface="Calibri"/>
                <a:cs typeface="Calibri"/>
              </a:rPr>
              <a:t>C</a:t>
            </a:r>
          </a:p>
        </p:txBody>
      </p:sp>
      <p:sp>
        <p:nvSpPr>
          <p:cNvPr id="22" name="Oval 21"/>
          <p:cNvSpPr/>
          <p:nvPr/>
        </p:nvSpPr>
        <p:spPr>
          <a:xfrm>
            <a:off x="4792498" y="5105400"/>
            <a:ext cx="762000" cy="7620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400" b="1" dirty="0">
                <a:latin typeface="Calibri"/>
                <a:cs typeface="Calibri"/>
              </a:rPr>
              <a:t>G</a:t>
            </a:r>
          </a:p>
        </p:txBody>
      </p:sp>
      <p:cxnSp>
        <p:nvCxnSpPr>
          <p:cNvPr id="24" name="Straight Arrow Connector 23"/>
          <p:cNvCxnSpPr>
            <a:stCxn id="18" idx="7"/>
            <a:endCxn id="19" idx="2"/>
          </p:cNvCxnSpPr>
          <p:nvPr/>
        </p:nvCxnSpPr>
        <p:spPr>
          <a:xfrm flipV="1">
            <a:off x="2013906" y="2514600"/>
            <a:ext cx="1102192" cy="41639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8" idx="5"/>
            <a:endCxn id="20" idx="1"/>
          </p:cNvCxnSpPr>
          <p:nvPr/>
        </p:nvCxnSpPr>
        <p:spPr>
          <a:xfrm>
            <a:off x="2013906" y="3469808"/>
            <a:ext cx="604184" cy="8327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7"/>
            <a:endCxn id="21" idx="3"/>
          </p:cNvCxnSpPr>
          <p:nvPr/>
        </p:nvCxnSpPr>
        <p:spPr>
          <a:xfrm flipV="1">
            <a:off x="3156906" y="3546008"/>
            <a:ext cx="1747184" cy="7565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9" idx="6"/>
            <a:endCxn id="21" idx="1"/>
          </p:cNvCxnSpPr>
          <p:nvPr/>
        </p:nvCxnSpPr>
        <p:spPr>
          <a:xfrm>
            <a:off x="3878098" y="2514600"/>
            <a:ext cx="1025992" cy="49259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1" idx="4"/>
            <a:endCxn id="22" idx="0"/>
          </p:cNvCxnSpPr>
          <p:nvPr/>
        </p:nvCxnSpPr>
        <p:spPr>
          <a:xfrm>
            <a:off x="5173498" y="3657600"/>
            <a:ext cx="0" cy="1447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805" name="TextBox 34"/>
          <p:cNvSpPr txBox="1">
            <a:spLocks noChangeArrowheads="1"/>
          </p:cNvSpPr>
          <p:nvPr/>
        </p:nvSpPr>
        <p:spPr bwMode="auto">
          <a:xfrm>
            <a:off x="2531898" y="2678670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1</a:t>
            </a:r>
          </a:p>
        </p:txBody>
      </p:sp>
      <p:sp>
        <p:nvSpPr>
          <p:cNvPr id="33806" name="TextBox 35"/>
          <p:cNvSpPr txBox="1">
            <a:spLocks noChangeArrowheads="1"/>
          </p:cNvSpPr>
          <p:nvPr/>
        </p:nvSpPr>
        <p:spPr bwMode="auto">
          <a:xfrm>
            <a:off x="2303298" y="3581398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1</a:t>
            </a:r>
          </a:p>
        </p:txBody>
      </p:sp>
      <p:sp>
        <p:nvSpPr>
          <p:cNvPr id="33807" name="TextBox 36"/>
          <p:cNvSpPr txBox="1">
            <a:spLocks noChangeArrowheads="1"/>
          </p:cNvSpPr>
          <p:nvPr/>
        </p:nvSpPr>
        <p:spPr bwMode="auto">
          <a:xfrm>
            <a:off x="4259098" y="2819398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1</a:t>
            </a:r>
          </a:p>
        </p:txBody>
      </p:sp>
      <p:sp>
        <p:nvSpPr>
          <p:cNvPr id="33808" name="TextBox 37"/>
          <p:cNvSpPr txBox="1">
            <a:spLocks noChangeArrowheads="1"/>
          </p:cNvSpPr>
          <p:nvPr/>
        </p:nvSpPr>
        <p:spPr bwMode="auto">
          <a:xfrm>
            <a:off x="3954298" y="3957637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2</a:t>
            </a:r>
          </a:p>
        </p:txBody>
      </p:sp>
      <p:sp>
        <p:nvSpPr>
          <p:cNvPr id="33809" name="TextBox 38"/>
          <p:cNvSpPr txBox="1">
            <a:spLocks noChangeArrowheads="1"/>
          </p:cNvSpPr>
          <p:nvPr/>
        </p:nvSpPr>
        <p:spPr bwMode="auto">
          <a:xfrm>
            <a:off x="5249698" y="4186237"/>
            <a:ext cx="312902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3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477798" y="2971799"/>
            <a:ext cx="3986139" cy="3341389"/>
            <a:chOff x="1638925" y="2743200"/>
            <a:chExt cx="3984928" cy="3341100"/>
          </a:xfrm>
        </p:grpSpPr>
        <p:sp>
          <p:nvSpPr>
            <p:cNvPr id="33831" name="TextBox 39"/>
            <p:cNvSpPr txBox="1">
              <a:spLocks noChangeArrowheads="1"/>
            </p:cNvSpPr>
            <p:nvPr/>
          </p:nvSpPr>
          <p:spPr bwMode="auto">
            <a:xfrm>
              <a:off x="1638925" y="3429001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h=2</a:t>
              </a:r>
            </a:p>
          </p:txBody>
        </p:sp>
        <p:sp>
          <p:nvSpPr>
            <p:cNvPr id="33832" name="TextBox 40"/>
            <p:cNvSpPr txBox="1">
              <a:spLocks noChangeArrowheads="1"/>
            </p:cNvSpPr>
            <p:nvPr/>
          </p:nvSpPr>
          <p:spPr bwMode="auto">
            <a:xfrm>
              <a:off x="2743200" y="4800600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h=1</a:t>
              </a:r>
            </a:p>
          </p:txBody>
        </p:sp>
        <p:sp>
          <p:nvSpPr>
            <p:cNvPr id="33833" name="TextBox 41"/>
            <p:cNvSpPr txBox="1">
              <a:spLocks noChangeArrowheads="1"/>
            </p:cNvSpPr>
            <p:nvPr/>
          </p:nvSpPr>
          <p:spPr bwMode="auto">
            <a:xfrm>
              <a:off x="3315325" y="2743200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h=4</a:t>
              </a:r>
            </a:p>
          </p:txBody>
        </p:sp>
        <p:sp>
          <p:nvSpPr>
            <p:cNvPr id="33834" name="TextBox 42"/>
            <p:cNvSpPr txBox="1">
              <a:spLocks noChangeArrowheads="1"/>
            </p:cNvSpPr>
            <p:nvPr/>
          </p:nvSpPr>
          <p:spPr bwMode="auto">
            <a:xfrm>
              <a:off x="4267200" y="3119735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h=1</a:t>
              </a:r>
            </a:p>
          </p:txBody>
        </p:sp>
        <p:sp>
          <p:nvSpPr>
            <p:cNvPr id="33835" name="TextBox 43"/>
            <p:cNvSpPr txBox="1">
              <a:spLocks noChangeArrowheads="1"/>
            </p:cNvSpPr>
            <p:nvPr/>
          </p:nvSpPr>
          <p:spPr bwMode="auto">
            <a:xfrm>
              <a:off x="5029200" y="5715000"/>
              <a:ext cx="594653" cy="369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rgbClr val="C00000"/>
                  </a:solidFill>
                  <a:latin typeface="Calibri"/>
                  <a:cs typeface="Calibri"/>
                </a:rPr>
                <a:t>h=0</a:t>
              </a:r>
            </a:p>
          </p:txBody>
        </p:sp>
      </p:grp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8229601" y="2362200"/>
            <a:ext cx="1047578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S (0+</a:t>
            </a:r>
            <a:r>
              <a:rPr lang="en-US" sz="240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lang="en-US" sz="2400" dirty="0">
                <a:latin typeface="Calibri"/>
                <a:cs typeface="Calibri"/>
              </a:rPr>
              <a:t>)</a:t>
            </a:r>
          </a:p>
        </p:txBody>
      </p:sp>
      <p:grpSp>
        <p:nvGrpSpPr>
          <p:cNvPr id="3" name="Group 80"/>
          <p:cNvGrpSpPr>
            <a:grpSpLocks/>
          </p:cNvGrpSpPr>
          <p:nvPr/>
        </p:nvGrpSpPr>
        <p:grpSpPr bwMode="auto">
          <a:xfrm>
            <a:off x="7239001" y="2823863"/>
            <a:ext cx="2995207" cy="919284"/>
            <a:chOff x="5638800" y="2133354"/>
            <a:chExt cx="2995208" cy="918925"/>
          </a:xfrm>
        </p:grpSpPr>
        <p:sp>
          <p:nvSpPr>
            <p:cNvPr id="33827" name="TextBox 54"/>
            <p:cNvSpPr txBox="1">
              <a:spLocks noChangeArrowheads="1"/>
            </p:cNvSpPr>
            <p:nvPr/>
          </p:nvSpPr>
          <p:spPr bwMode="auto">
            <a:xfrm>
              <a:off x="5638800" y="2590794"/>
              <a:ext cx="1084251" cy="461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A (1+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4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33828" name="TextBox 55"/>
            <p:cNvSpPr txBox="1">
              <a:spLocks noChangeArrowheads="1"/>
            </p:cNvSpPr>
            <p:nvPr/>
          </p:nvSpPr>
          <p:spPr bwMode="auto">
            <a:xfrm>
              <a:off x="7560427" y="2590789"/>
              <a:ext cx="1073581" cy="461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B (1+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1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62" name="Straight Arrow Connector 61"/>
            <p:cNvCxnSpPr>
              <a:stCxn id="54" idx="2"/>
              <a:endCxn id="33828" idx="0"/>
            </p:cNvCxnSpPr>
            <p:nvPr/>
          </p:nvCxnSpPr>
          <p:spPr>
            <a:xfrm>
              <a:off x="7153190" y="2133354"/>
              <a:ext cx="944028" cy="45743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54" idx="2"/>
              <a:endCxn id="33827" idx="0"/>
            </p:cNvCxnSpPr>
            <p:nvPr/>
          </p:nvCxnSpPr>
          <p:spPr>
            <a:xfrm flipH="1">
              <a:off x="6180926" y="2133354"/>
              <a:ext cx="972263" cy="45744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7237991" y="3743147"/>
            <a:ext cx="1070275" cy="914580"/>
            <a:chOff x="5637791" y="3052286"/>
            <a:chExt cx="1069765" cy="914581"/>
          </a:xfrm>
        </p:grpSpPr>
        <p:sp>
          <p:nvSpPr>
            <p:cNvPr id="33825" name="TextBox 58"/>
            <p:cNvSpPr txBox="1">
              <a:spLocks noChangeArrowheads="1"/>
            </p:cNvSpPr>
            <p:nvPr/>
          </p:nvSpPr>
          <p:spPr bwMode="auto">
            <a:xfrm>
              <a:off x="5637791" y="3505201"/>
              <a:ext cx="1069765" cy="4616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C (2+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1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68" name="Straight Arrow Connector 67"/>
            <p:cNvCxnSpPr>
              <a:stCxn id="33827" idx="2"/>
              <a:endCxn id="33825" idx="0"/>
            </p:cNvCxnSpPr>
            <p:nvPr/>
          </p:nvCxnSpPr>
          <p:spPr>
            <a:xfrm flipH="1">
              <a:off x="6172674" y="3052286"/>
              <a:ext cx="7994" cy="4529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84"/>
          <p:cNvGrpSpPr>
            <a:grpSpLocks/>
          </p:cNvGrpSpPr>
          <p:nvPr/>
        </p:nvGrpSpPr>
        <p:grpSpPr bwMode="auto">
          <a:xfrm>
            <a:off x="7239002" y="4657727"/>
            <a:ext cx="1100331" cy="909802"/>
            <a:chOff x="5638805" y="3966836"/>
            <a:chExt cx="1099952" cy="910124"/>
          </a:xfrm>
        </p:grpSpPr>
        <p:sp>
          <p:nvSpPr>
            <p:cNvPr id="33823" name="TextBox 59"/>
            <p:cNvSpPr txBox="1">
              <a:spLocks noChangeArrowheads="1"/>
            </p:cNvSpPr>
            <p:nvPr/>
          </p:nvSpPr>
          <p:spPr bwMode="auto">
            <a:xfrm>
              <a:off x="5638805" y="4415132"/>
              <a:ext cx="1099952" cy="461828"/>
            </a:xfrm>
            <a:prstGeom prst="rect">
              <a:avLst/>
            </a:prstGeom>
            <a:noFill/>
            <a:ln w="28575">
              <a:noFill/>
              <a:miter lim="800000"/>
              <a:headEnd type="none" w="med" len="med"/>
              <a:tailEnd type="triangle" w="lg" len="lg"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G (5+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0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70" name="Straight Arrow Connector 69"/>
            <p:cNvCxnSpPr>
              <a:stCxn id="33825" idx="2"/>
              <a:endCxn id="33823" idx="0"/>
            </p:cNvCxnSpPr>
            <p:nvPr/>
          </p:nvCxnSpPr>
          <p:spPr>
            <a:xfrm>
              <a:off x="6172748" y="3966836"/>
              <a:ext cx="16033" cy="4482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9142996" y="3743142"/>
            <a:ext cx="1070275" cy="909982"/>
            <a:chOff x="7543375" y="3052260"/>
            <a:chExt cx="1069766" cy="910305"/>
          </a:xfrm>
        </p:grpSpPr>
        <p:sp>
          <p:nvSpPr>
            <p:cNvPr id="33821" name="TextBox 56"/>
            <p:cNvSpPr txBox="1">
              <a:spLocks noChangeArrowheads="1"/>
            </p:cNvSpPr>
            <p:nvPr/>
          </p:nvSpPr>
          <p:spPr bwMode="auto">
            <a:xfrm>
              <a:off x="7543375" y="3500736"/>
              <a:ext cx="1069766" cy="4618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C (3+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1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72" name="Straight Arrow Connector 71"/>
            <p:cNvCxnSpPr>
              <a:stCxn id="33828" idx="2"/>
              <a:endCxn id="33821" idx="0"/>
            </p:cNvCxnSpPr>
            <p:nvPr/>
          </p:nvCxnSpPr>
          <p:spPr>
            <a:xfrm flipH="1">
              <a:off x="8078258" y="3052260"/>
              <a:ext cx="19275" cy="44847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Group 82"/>
          <p:cNvGrpSpPr>
            <a:grpSpLocks/>
          </p:cNvGrpSpPr>
          <p:nvPr/>
        </p:nvGrpSpPr>
        <p:grpSpPr bwMode="auto">
          <a:xfrm>
            <a:off x="9126745" y="4653124"/>
            <a:ext cx="1100331" cy="914237"/>
            <a:chOff x="7526555" y="3962569"/>
            <a:chExt cx="1099952" cy="914240"/>
          </a:xfrm>
        </p:grpSpPr>
        <p:sp>
          <p:nvSpPr>
            <p:cNvPr id="33819" name="TextBox 57"/>
            <p:cNvSpPr txBox="1">
              <a:spLocks noChangeArrowheads="1"/>
            </p:cNvSpPr>
            <p:nvPr/>
          </p:nvSpPr>
          <p:spPr bwMode="auto">
            <a:xfrm>
              <a:off x="7526555" y="4415142"/>
              <a:ext cx="1099952" cy="461667"/>
            </a:xfrm>
            <a:prstGeom prst="rect">
              <a:avLst/>
            </a:prstGeom>
            <a:noFill/>
            <a:ln w="28575">
              <a:noFill/>
              <a:miter lim="800000"/>
              <a:headEnd type="none" w="med" len="med"/>
              <a:tailEnd type="triangle" w="lg" len="lg"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G (6+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0</a:t>
              </a:r>
              <a:r>
                <a:rPr lang="en-US" sz="2400" dirty="0">
                  <a:latin typeface="Calibri"/>
                  <a:cs typeface="Calibri"/>
                </a:rPr>
                <a:t>)</a:t>
              </a:r>
            </a:p>
          </p:txBody>
        </p:sp>
        <p:cxnSp>
          <p:nvCxnSpPr>
            <p:cNvPr id="74" name="Straight Arrow Connector 73"/>
            <p:cNvCxnSpPr>
              <a:stCxn id="33821" idx="2"/>
              <a:endCxn id="33819" idx="0"/>
            </p:cNvCxnSpPr>
            <p:nvPr/>
          </p:nvCxnSpPr>
          <p:spPr>
            <a:xfrm flipH="1">
              <a:off x="8076531" y="3962569"/>
              <a:ext cx="1223" cy="45257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3817" name="TextBox 85"/>
          <p:cNvSpPr txBox="1">
            <a:spLocks noChangeArrowheads="1"/>
          </p:cNvSpPr>
          <p:nvPr/>
        </p:nvSpPr>
        <p:spPr bwMode="auto">
          <a:xfrm>
            <a:off x="2125499" y="1295400"/>
            <a:ext cx="2564159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800" dirty="0" err="1">
                <a:latin typeface="Calibri"/>
                <a:cs typeface="Calibri"/>
              </a:rPr>
              <a:t>Đồ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thị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trạng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thái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87" name="TextBox 86"/>
          <p:cNvSpPr txBox="1">
            <a:spLocks noChangeArrowheads="1"/>
          </p:cNvSpPr>
          <p:nvPr/>
        </p:nvSpPr>
        <p:spPr bwMode="auto">
          <a:xfrm>
            <a:off x="7745370" y="1311833"/>
            <a:ext cx="2064728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800" dirty="0" err="1">
                <a:latin typeface="Calibri"/>
                <a:cs typeface="Calibri"/>
              </a:rPr>
              <a:t>Cây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tìm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kiếm</a:t>
            </a:r>
            <a:endParaRPr lang="en-US" sz="28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8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Hàm kinh nghiệm nhất quán</a:t>
            </a:r>
          </a:p>
        </p:txBody>
      </p:sp>
      <p:sp>
        <p:nvSpPr>
          <p:cNvPr id="8195" name="Content Placeholder 14"/>
          <p:cNvSpPr>
            <a:spLocks noGrp="1"/>
          </p:cNvSpPr>
          <p:nvPr>
            <p:ph idx="1"/>
          </p:nvPr>
        </p:nvSpPr>
        <p:spPr>
          <a:xfrm>
            <a:off x="4876800" y="1295400"/>
            <a:ext cx="6934200" cy="304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sz="2400" noProof="0" dirty="0">
                <a:latin typeface="Calibri"/>
                <a:cs typeface="Calibri"/>
              </a:rPr>
              <a:t>Ý tưởng: ước lượng ≤ chi phí thật</a:t>
            </a:r>
          </a:p>
          <a:p>
            <a:pPr lvl="1">
              <a:lnSpc>
                <a:spcPct val="150000"/>
              </a:lnSpc>
            </a:pPr>
            <a:r>
              <a:rPr lang="vi-VN" sz="2000" noProof="0" dirty="0">
                <a:solidFill>
                  <a:srgbClr val="FF0000"/>
                </a:solidFill>
                <a:latin typeface="Calibri"/>
                <a:cs typeface="Calibri"/>
              </a:rPr>
              <a:t>Chấp nhận được</a:t>
            </a:r>
            <a:r>
              <a:rPr lang="vi-VN" sz="2000" noProof="0" dirty="0">
                <a:latin typeface="Calibri"/>
                <a:cs typeface="Calibri"/>
              </a:rPr>
              <a:t>: chi phí ước lượng ≤ chi phí tới mục tiêu</a:t>
            </a:r>
          </a:p>
          <a:p>
            <a:pPr lvl="1">
              <a:lnSpc>
                <a:spcPct val="150000"/>
              </a:lnSpc>
              <a:buNone/>
            </a:pPr>
            <a:r>
              <a:rPr lang="vi-VN" sz="2000" noProof="0" dirty="0">
                <a:latin typeface="Calibri"/>
                <a:cs typeface="Calibri"/>
              </a:rPr>
              <a:t>		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h(A) </a:t>
            </a:r>
            <a:r>
              <a:rPr lang="vi-VN" sz="2000" noProof="0" dirty="0">
                <a:latin typeface="Calibri"/>
                <a:cs typeface="Calibri"/>
              </a:rPr>
              <a:t>≤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chi phí đi từ A đến G</a:t>
            </a:r>
          </a:p>
          <a:p>
            <a:pPr lvl="1">
              <a:lnSpc>
                <a:spcPct val="150000"/>
              </a:lnSpc>
            </a:pPr>
            <a:r>
              <a:rPr lang="vi-VN" sz="2000" dirty="0">
                <a:solidFill>
                  <a:srgbClr val="FF0000"/>
                </a:solidFill>
                <a:latin typeface="Calibri"/>
                <a:cs typeface="Calibri"/>
              </a:rPr>
              <a:t>Nhất quán</a:t>
            </a:r>
            <a:r>
              <a:rPr lang="vi-VN" sz="2000" noProof="0" dirty="0">
                <a:latin typeface="Calibri"/>
                <a:cs typeface="Calibri"/>
              </a:rPr>
              <a:t>: Chi phí </a:t>
            </a:r>
            <a:r>
              <a:rPr lang="vi-VN" sz="2000" dirty="0">
                <a:latin typeface="Calibri"/>
                <a:cs typeface="Calibri"/>
              </a:rPr>
              <a:t>ước lượng</a:t>
            </a:r>
            <a:r>
              <a:rPr lang="vi-VN" sz="2000" noProof="0" dirty="0">
                <a:latin typeface="Calibri"/>
                <a:cs typeface="Calibri"/>
              </a:rPr>
              <a:t> từng cung đường ≤ chi phí thật trên cung đó</a:t>
            </a:r>
          </a:p>
          <a:p>
            <a:pPr lvl="1">
              <a:lnSpc>
                <a:spcPct val="150000"/>
              </a:lnSpc>
              <a:buNone/>
            </a:pP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		h(A) – h(C)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latin typeface="Calibri"/>
                <a:cs typeface="Calibri"/>
              </a:rPr>
              <a:t>≤ 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chi phí(A </a:t>
            </a:r>
            <a:r>
              <a:rPr lang="vi-VN" sz="2000" dirty="0">
                <a:solidFill>
                  <a:srgbClr val="008000"/>
                </a:solidFill>
                <a:latin typeface="Calibri"/>
                <a:cs typeface="Calibri"/>
              </a:rPr>
              <a:t>đến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 C) </a:t>
            </a:r>
            <a:r>
              <a:rPr lang="vi-VN" sz="2000" noProof="0" dirty="0">
                <a:latin typeface="Calibri"/>
                <a:cs typeface="Calibri"/>
              </a:rPr>
              <a:t>và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solidFill>
                  <a:srgbClr val="FF0000"/>
                </a:solidFill>
                <a:latin typeface="Calibri"/>
                <a:cs typeface="Calibri"/>
              </a:rPr>
              <a:t>h(G) = 0</a:t>
            </a:r>
            <a:endParaRPr lang="vi-VN" sz="1000" noProof="0" dirty="0">
              <a:solidFill>
                <a:srgbClr val="FF0000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  <a:buClr>
                <a:srgbClr val="333399"/>
              </a:buClr>
            </a:pPr>
            <a:r>
              <a:rPr lang="vi-VN" sz="2400" noProof="0" dirty="0">
                <a:solidFill>
                  <a:srgbClr val="333399"/>
                </a:solidFill>
                <a:latin typeface="Calibri"/>
                <a:cs typeface="Calibri"/>
              </a:rPr>
              <a:t>Hệ quả của tính nhất quán:</a:t>
            </a:r>
          </a:p>
          <a:p>
            <a:pPr lvl="1">
              <a:lnSpc>
                <a:spcPct val="150000"/>
              </a:lnSpc>
              <a:buClr>
                <a:srgbClr val="333399"/>
              </a:buClr>
            </a:pPr>
            <a:r>
              <a:rPr lang="vi-VN" sz="2000" noProof="0" dirty="0">
                <a:latin typeface="Calibri"/>
                <a:cs typeface="Calibri"/>
              </a:rPr>
              <a:t>Giá trị của hàm f không giảm theo mọi đường đi từ gốc</a:t>
            </a:r>
          </a:p>
          <a:p>
            <a:pPr lvl="1">
              <a:lnSpc>
                <a:spcPct val="150000"/>
              </a:lnSpc>
              <a:buClr>
                <a:srgbClr val="333399"/>
              </a:buClr>
              <a:buNone/>
            </a:pPr>
            <a:r>
              <a:rPr lang="vi-VN" sz="2000" noProof="0" dirty="0">
                <a:latin typeface="Calibri"/>
                <a:cs typeface="Calibri"/>
              </a:rPr>
              <a:t>		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solidFill>
                  <a:srgbClr val="7030A0"/>
                </a:solidFill>
                <a:latin typeface="Calibri"/>
                <a:cs typeface="Calibri"/>
              </a:rPr>
              <a:t>g(A) 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+ h(A) </a:t>
            </a:r>
            <a:r>
              <a:rPr lang="vi-VN" sz="2000" noProof="0" dirty="0">
                <a:latin typeface="Calibri"/>
                <a:cs typeface="Calibri"/>
              </a:rPr>
              <a:t>≤ </a:t>
            </a:r>
            <a:r>
              <a:rPr lang="vi-VN" sz="2000" dirty="0">
                <a:solidFill>
                  <a:srgbClr val="7030A0"/>
                </a:solidFill>
                <a:latin typeface="Calibri"/>
                <a:cs typeface="Calibri"/>
              </a:rPr>
              <a:t>g(A) </a:t>
            </a:r>
            <a:r>
              <a:rPr lang="vi-VN" sz="2000" dirty="0">
                <a:solidFill>
                  <a:srgbClr val="C00000"/>
                </a:solidFill>
                <a:latin typeface="Calibri"/>
                <a:cs typeface="Calibri"/>
              </a:rPr>
              <a:t>+ </a:t>
            </a:r>
            <a:r>
              <a:rPr lang="vi-VN" sz="2000" dirty="0">
                <a:solidFill>
                  <a:srgbClr val="008000"/>
                </a:solidFill>
                <a:latin typeface="Calibri"/>
                <a:cs typeface="Calibri"/>
              </a:rPr>
              <a:t>chi phí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(A đến C) </a:t>
            </a:r>
            <a:r>
              <a:rPr lang="vi-VN" sz="2000" noProof="0" dirty="0">
                <a:latin typeface="Calibri"/>
                <a:cs typeface="Calibri"/>
              </a:rPr>
              <a:t>+</a:t>
            </a:r>
            <a:r>
              <a:rPr lang="vi-VN" sz="2000" noProof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vi-VN" sz="2000" noProof="0" dirty="0">
                <a:solidFill>
                  <a:srgbClr val="C00000"/>
                </a:solidFill>
                <a:latin typeface="Calibri"/>
                <a:cs typeface="Calibri"/>
              </a:rPr>
              <a:t>h(C)</a:t>
            </a:r>
            <a:endParaRPr lang="vi-VN" sz="2000" noProof="0" dirty="0">
              <a:latin typeface="Calibri"/>
              <a:cs typeface="Calibri"/>
            </a:endParaRPr>
          </a:p>
          <a:p>
            <a:pPr lvl="1">
              <a:lnSpc>
                <a:spcPct val="150000"/>
              </a:lnSpc>
              <a:buClr>
                <a:srgbClr val="333399"/>
              </a:buClr>
            </a:pPr>
            <a:r>
              <a:rPr lang="vi-VN" sz="2000" noProof="0" dirty="0">
                <a:latin typeface="Calibri"/>
                <a:cs typeface="Calibri"/>
              </a:rPr>
              <a:t>A* trên đồ thị tối ưu (sẽ chứng minh) !</a:t>
            </a:r>
          </a:p>
          <a:p>
            <a:endParaRPr lang="vi-VN" sz="2000" noProof="0" dirty="0">
              <a:latin typeface="Calibri"/>
              <a:cs typeface="Calibri"/>
            </a:endParaRPr>
          </a:p>
        </p:txBody>
      </p:sp>
      <p:cxnSp>
        <p:nvCxnSpPr>
          <p:cNvPr id="4" name="Straight Arrow Connector 3"/>
          <p:cNvCxnSpPr>
            <a:endCxn id="8" idx="1"/>
          </p:cNvCxnSpPr>
          <p:nvPr/>
        </p:nvCxnSpPr>
        <p:spPr>
          <a:xfrm>
            <a:off x="1676401" y="2281240"/>
            <a:ext cx="1124510" cy="43871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8" idx="4"/>
            <a:endCxn id="9" idx="0"/>
          </p:cNvCxnSpPr>
          <p:nvPr/>
        </p:nvCxnSpPr>
        <p:spPr>
          <a:xfrm>
            <a:off x="3124200" y="3500439"/>
            <a:ext cx="0" cy="152876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822" name="TextBox 5"/>
          <p:cNvSpPr txBox="1">
            <a:spLocks noChangeArrowheads="1"/>
          </p:cNvSpPr>
          <p:nvPr/>
        </p:nvSpPr>
        <p:spPr bwMode="auto">
          <a:xfrm>
            <a:off x="3276600" y="3886200"/>
            <a:ext cx="340654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62000" y="1824039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8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2667000" y="2586039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800" b="1" dirty="0">
                <a:latin typeface="Calibri"/>
                <a:cs typeface="Calibri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2667000" y="5029200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28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34826" name="TextBox 9"/>
          <p:cNvSpPr txBox="1">
            <a:spLocks noChangeArrowheads="1"/>
          </p:cNvSpPr>
          <p:nvPr/>
        </p:nvSpPr>
        <p:spPr bwMode="auto">
          <a:xfrm>
            <a:off x="609600" y="2819400"/>
            <a:ext cx="730697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/>
                <a:cs typeface="Calibri"/>
              </a:rPr>
              <a:t>h=4</a:t>
            </a:r>
          </a:p>
        </p:txBody>
      </p:sp>
      <p:sp>
        <p:nvSpPr>
          <p:cNvPr id="34827" name="TextBox 10"/>
          <p:cNvSpPr txBox="1">
            <a:spLocks noChangeArrowheads="1"/>
          </p:cNvSpPr>
          <p:nvPr/>
        </p:nvSpPr>
        <p:spPr bwMode="auto">
          <a:xfrm>
            <a:off x="3657600" y="2819400"/>
            <a:ext cx="730697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/>
                <a:cs typeface="Calibri"/>
              </a:rPr>
              <a:t>h=1</a:t>
            </a:r>
          </a:p>
        </p:txBody>
      </p:sp>
      <p:sp>
        <p:nvSpPr>
          <p:cNvPr id="34828" name="TextBox 11"/>
          <p:cNvSpPr txBox="1">
            <a:spLocks noChangeArrowheads="1"/>
          </p:cNvSpPr>
          <p:nvPr/>
        </p:nvSpPr>
        <p:spPr bwMode="auto">
          <a:xfrm>
            <a:off x="1905000" y="2509837"/>
            <a:ext cx="340654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1</a:t>
            </a:r>
          </a:p>
        </p:txBody>
      </p:sp>
      <p:cxnSp>
        <p:nvCxnSpPr>
          <p:cNvPr id="17" name="Straight Arrow Connector 16"/>
          <p:cNvCxnSpPr>
            <a:stCxn id="7" idx="5"/>
            <a:endCxn id="9" idx="1"/>
          </p:cNvCxnSpPr>
          <p:nvPr/>
        </p:nvCxnSpPr>
        <p:spPr>
          <a:xfrm>
            <a:off x="1542489" y="2604528"/>
            <a:ext cx="1258422" cy="2558583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8" idx="1"/>
          </p:cNvCxnSpPr>
          <p:nvPr/>
        </p:nvCxnSpPr>
        <p:spPr>
          <a:xfrm>
            <a:off x="1676400" y="2281239"/>
            <a:ext cx="1124511" cy="438711"/>
          </a:xfrm>
          <a:prstGeom prst="straightConnector1">
            <a:avLst/>
          </a:prstGeom>
          <a:ln w="57150">
            <a:solidFill>
              <a:srgbClr val="008000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9"/>
          <p:cNvSpPr txBox="1">
            <a:spLocks noChangeArrowheads="1"/>
          </p:cNvSpPr>
          <p:nvPr/>
        </p:nvSpPr>
        <p:spPr bwMode="auto">
          <a:xfrm>
            <a:off x="609600" y="3200400"/>
            <a:ext cx="730697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/>
                <a:cs typeface="Calibri"/>
              </a:rPr>
              <a:t>h=2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609600" y="3019425"/>
            <a:ext cx="838200" cy="63808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9735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  <p:bldP spid="34822" grpId="1"/>
      <p:bldP spid="7" grpId="0" animBg="1"/>
      <p:bldP spid="8" grpId="0" animBg="1"/>
      <p:bldP spid="9" grpId="0" animBg="1"/>
      <p:bldP spid="9" grpId="1" animBg="1"/>
      <p:bldP spid="34826" grpId="0"/>
      <p:bldP spid="34827" grpId="0"/>
      <p:bldP spid="34828" grpId="0"/>
      <p:bldP spid="2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đồ thị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6501" y="1753559"/>
            <a:ext cx="5862797" cy="4222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475433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1"/>
          <p:cNvSpPr>
            <a:spLocks/>
          </p:cNvSpPr>
          <p:nvPr/>
        </p:nvSpPr>
        <p:spPr bwMode="auto">
          <a:xfrm>
            <a:off x="8518525" y="2362200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3600" noProof="0" dirty="0"/>
              <a:t>Tính tối ưu của A* trên cây tìm kiếm</a:t>
            </a:r>
            <a:br>
              <a:rPr lang="vi-VN" sz="3600" noProof="0" dirty="0"/>
            </a:br>
            <a:r>
              <a:rPr lang="vi-VN" sz="3600" noProof="0" dirty="0"/>
              <a:t>sử dụng hàm kinh nghiệm nhất quán</a:t>
            </a:r>
            <a:endParaRPr lang="vi-VN" sz="3600" noProof="0" dirty="0">
              <a:latin typeface="Calibri"/>
              <a:cs typeface="Calibri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7073900" cy="4419600"/>
          </a:xfrm>
        </p:spPr>
        <p:txBody>
          <a:bodyPr/>
          <a:lstStyle/>
          <a:p>
            <a:pPr eaLnBrk="1" hangingPunct="1"/>
            <a:r>
              <a:rPr lang="vi-VN" sz="2400" noProof="0" dirty="0">
                <a:latin typeface="Calibri"/>
                <a:cs typeface="Calibri"/>
              </a:rPr>
              <a:t>Hàm h nhất quán </a:t>
            </a:r>
            <a:r>
              <a:rPr lang="vi-VN" sz="2400" noProof="0" dirty="0">
                <a:latin typeface="Calibri"/>
                <a:cs typeface="Calibri"/>
                <a:sym typeface="Wingdings" pitchFamily="2" charset="2"/>
              </a:rPr>
              <a:t> Hàm h chấp nhận được</a:t>
            </a:r>
          </a:p>
          <a:p>
            <a:pPr eaLnBrk="1" hangingPunct="1"/>
            <a:r>
              <a:rPr lang="vi-VN" sz="2400" dirty="0">
                <a:latin typeface="Calibri"/>
                <a:cs typeface="Calibri"/>
                <a:sym typeface="Wingdings" pitchFamily="2" charset="2"/>
              </a:rPr>
              <a:t>Chứng minh:</a:t>
            </a:r>
          </a:p>
          <a:p>
            <a:pPr lvl="1"/>
            <a:r>
              <a:rPr lang="vi-VN" sz="2000" noProof="0" dirty="0">
                <a:latin typeface="Calibri"/>
                <a:cs typeface="Calibri"/>
                <a:sym typeface="Wingdings" pitchFamily="2" charset="2"/>
              </a:rPr>
              <a:t>Nếu n là trạng thái mục tiêu h(n) = 0 </a:t>
            </a:r>
            <a:r>
              <a:rPr lang="vi-VN" sz="2000" noProof="0" dirty="0">
                <a:latin typeface="Calibri"/>
                <a:cs typeface="Calibri"/>
              </a:rPr>
              <a:t>≤ g(n) (giả sử các cạnh có trọng số không âm)</a:t>
            </a:r>
          </a:p>
          <a:p>
            <a:pPr lvl="1"/>
            <a:r>
              <a:rPr lang="vi-VN" sz="2000" dirty="0">
                <a:latin typeface="Calibri"/>
                <a:cs typeface="Calibri"/>
              </a:rPr>
              <a:t>Nếu n là trạng thái trước mục tiêu G:</a:t>
            </a:r>
            <a:br>
              <a:rPr lang="vi-VN" sz="2000" dirty="0">
                <a:latin typeface="Calibri"/>
                <a:cs typeface="Calibri"/>
              </a:rPr>
            </a:br>
            <a:r>
              <a:rPr lang="vi-VN" sz="2000" dirty="0">
                <a:latin typeface="Calibri"/>
                <a:cs typeface="Calibri"/>
              </a:rPr>
              <a:t>h(n) = h(n) – h(G)  ≤ c(n, G) = h*(n)</a:t>
            </a:r>
          </a:p>
          <a:p>
            <a:pPr lvl="1"/>
            <a:r>
              <a:rPr lang="vi-VN" sz="2000" noProof="0" dirty="0">
                <a:latin typeface="Calibri"/>
                <a:cs typeface="Calibri"/>
              </a:rPr>
              <a:t>Quy nạp, giả sử đúng với mọi trạng thái n’ có độ dài đường đi tới mục tiêu = k. Xét nút n là trạng thái trước n’:</a:t>
            </a:r>
            <a:br>
              <a:rPr lang="vi-VN" sz="2000" noProof="0" dirty="0">
                <a:latin typeface="Calibri"/>
                <a:cs typeface="Calibri"/>
              </a:rPr>
            </a:br>
            <a:r>
              <a:rPr lang="vi-VN" sz="2000" noProof="0" dirty="0">
                <a:latin typeface="Calibri"/>
                <a:cs typeface="Calibri"/>
              </a:rPr>
              <a:t>với mọi n’: h(n) ≤ c(n,n’) + h(n’) ≤ c(n, n’)+h*(n’)</a:t>
            </a:r>
            <a:br>
              <a:rPr lang="vi-VN" sz="2000" noProof="0" dirty="0">
                <a:latin typeface="Calibri"/>
                <a:cs typeface="Calibri"/>
              </a:rPr>
            </a:br>
            <a:r>
              <a:rPr lang="vi-VN" sz="2000" noProof="0" dirty="0">
                <a:latin typeface="Calibri"/>
                <a:cs typeface="Calibri"/>
              </a:rPr>
              <a:t>h(n) ≤ min</a:t>
            </a:r>
            <a:r>
              <a:rPr lang="vi-VN" sz="2000" baseline="-25000" noProof="0" dirty="0">
                <a:latin typeface="Calibri"/>
                <a:cs typeface="Calibri"/>
              </a:rPr>
              <a:t>n’</a:t>
            </a:r>
            <a:r>
              <a:rPr lang="vi-VN" sz="2000" noProof="0" dirty="0">
                <a:latin typeface="Calibri"/>
                <a:cs typeface="Calibri"/>
              </a:rPr>
              <a:t>(c(n, n’)+h*(n’)) = h*(n)</a:t>
            </a:r>
            <a:br>
              <a:rPr lang="vi-VN" sz="1600" dirty="0">
                <a:latin typeface="Calibri"/>
                <a:cs typeface="Calibri"/>
              </a:rPr>
            </a:br>
            <a:endParaRPr lang="vi-VN" sz="2000" noProof="0" dirty="0">
              <a:latin typeface="Calibri"/>
              <a:cs typeface="Calibri"/>
            </a:endParaRPr>
          </a:p>
        </p:txBody>
      </p:sp>
      <p:sp>
        <p:nvSpPr>
          <p:cNvPr id="41989" name="Freeform 9"/>
          <p:cNvSpPr>
            <a:spLocks/>
          </p:cNvSpPr>
          <p:nvPr/>
        </p:nvSpPr>
        <p:spPr bwMode="auto">
          <a:xfrm>
            <a:off x="8001000" y="2533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0" name="Oval 10"/>
          <p:cNvSpPr>
            <a:spLocks noChangeArrowheads="1"/>
          </p:cNvSpPr>
          <p:nvPr/>
        </p:nvSpPr>
        <p:spPr bwMode="auto">
          <a:xfrm>
            <a:off x="9123363" y="2889250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1" name="Oval 11"/>
          <p:cNvSpPr>
            <a:spLocks noChangeArrowheads="1"/>
          </p:cNvSpPr>
          <p:nvPr/>
        </p:nvSpPr>
        <p:spPr bwMode="auto">
          <a:xfrm>
            <a:off x="9599613" y="287972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2" name="Text Box 12"/>
          <p:cNvSpPr txBox="1">
            <a:spLocks noChangeArrowheads="1"/>
          </p:cNvSpPr>
          <p:nvPr/>
        </p:nvSpPr>
        <p:spPr bwMode="auto">
          <a:xfrm>
            <a:off x="9253538" y="2740026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1993" name="Oval 16"/>
          <p:cNvSpPr>
            <a:spLocks noChangeArrowheads="1"/>
          </p:cNvSpPr>
          <p:nvPr/>
        </p:nvSpPr>
        <p:spPr bwMode="auto">
          <a:xfrm>
            <a:off x="9847263" y="3929063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4" name="Oval 17"/>
          <p:cNvSpPr>
            <a:spLocks noChangeArrowheads="1"/>
          </p:cNvSpPr>
          <p:nvPr/>
        </p:nvSpPr>
        <p:spPr bwMode="auto">
          <a:xfrm>
            <a:off x="9367838" y="4484688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5" name="Freeform 19"/>
          <p:cNvSpPr>
            <a:spLocks/>
          </p:cNvSpPr>
          <p:nvPr/>
        </p:nvSpPr>
        <p:spPr bwMode="auto">
          <a:xfrm>
            <a:off x="9321800" y="3275014"/>
            <a:ext cx="179388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6" name="Freeform 20"/>
          <p:cNvSpPr>
            <a:spLocks/>
          </p:cNvSpPr>
          <p:nvPr/>
        </p:nvSpPr>
        <p:spPr bwMode="auto">
          <a:xfrm>
            <a:off x="9739311" y="3471862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7" name="Oval 22"/>
          <p:cNvSpPr>
            <a:spLocks noChangeArrowheads="1"/>
          </p:cNvSpPr>
          <p:nvPr/>
        </p:nvSpPr>
        <p:spPr bwMode="auto">
          <a:xfrm>
            <a:off x="9355138" y="2463801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8" name="Freeform 23"/>
          <p:cNvSpPr>
            <a:spLocks/>
          </p:cNvSpPr>
          <p:nvPr/>
        </p:nvSpPr>
        <p:spPr bwMode="auto">
          <a:xfrm>
            <a:off x="8783637" y="3368676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9" name="Freeform 24"/>
          <p:cNvSpPr>
            <a:spLocks/>
          </p:cNvSpPr>
          <p:nvPr/>
        </p:nvSpPr>
        <p:spPr bwMode="auto">
          <a:xfrm>
            <a:off x="9039226" y="3100388"/>
            <a:ext cx="747713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2000" name="Text Box 26"/>
          <p:cNvSpPr txBox="1">
            <a:spLocks noChangeArrowheads="1"/>
          </p:cNvSpPr>
          <p:nvPr/>
        </p:nvSpPr>
        <p:spPr bwMode="auto">
          <a:xfrm>
            <a:off x="10277475" y="3468689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3</a:t>
            </a:r>
          </a:p>
        </p:txBody>
      </p:sp>
      <p:sp>
        <p:nvSpPr>
          <p:cNvPr id="42001" name="Text Box 27"/>
          <p:cNvSpPr txBox="1">
            <a:spLocks noChangeArrowheads="1"/>
          </p:cNvSpPr>
          <p:nvPr/>
        </p:nvSpPr>
        <p:spPr bwMode="auto">
          <a:xfrm>
            <a:off x="10150475" y="3073401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2</a:t>
            </a:r>
          </a:p>
        </p:txBody>
      </p:sp>
      <p:sp>
        <p:nvSpPr>
          <p:cNvPr id="42002" name="Text Box 28"/>
          <p:cNvSpPr txBox="1">
            <a:spLocks noChangeArrowheads="1"/>
          </p:cNvSpPr>
          <p:nvPr/>
        </p:nvSpPr>
        <p:spPr bwMode="auto">
          <a:xfrm>
            <a:off x="9950449" y="2695577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1</a:t>
            </a:r>
          </a:p>
        </p:txBody>
      </p:sp>
    </p:spTree>
    <p:extLst>
      <p:ext uri="{BB962C8B-B14F-4D97-AF65-F5344CB8AC3E}">
        <p14:creationId xmlns:p14="http://schemas.microsoft.com/office/powerpoint/2010/main" val="2636264832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1"/>
          <p:cNvSpPr>
            <a:spLocks/>
          </p:cNvSpPr>
          <p:nvPr/>
        </p:nvSpPr>
        <p:spPr bwMode="auto">
          <a:xfrm>
            <a:off x="8518525" y="2362200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đồ thị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600200"/>
            <a:ext cx="7080251" cy="4419600"/>
          </a:xfrm>
        </p:spPr>
        <p:txBody>
          <a:bodyPr/>
          <a:lstStyle/>
          <a:p>
            <a:r>
              <a:rPr lang="vi-VN" sz="2400" noProof="0" dirty="0">
                <a:latin typeface="Calibri"/>
                <a:cs typeface="Calibri"/>
              </a:rPr>
              <a:t>Hàm h nhất quán </a:t>
            </a:r>
            <a:r>
              <a:rPr lang="vi-VN" sz="2400" noProof="0" dirty="0">
                <a:latin typeface="Calibri"/>
                <a:cs typeface="Calibri"/>
                <a:sym typeface="Wingdings" pitchFamily="2" charset="2"/>
              </a:rPr>
              <a:t> </a:t>
            </a:r>
            <a:r>
              <a:rPr lang="vi-VN" sz="2400" noProof="0" dirty="0">
                <a:latin typeface="Calibri"/>
                <a:cs typeface="Calibri"/>
              </a:rPr>
              <a:t>Giá trị của hàm f không giảm theo mọi đường đi từ gốc</a:t>
            </a:r>
            <a:endParaRPr lang="vi-VN" sz="2400" noProof="0" dirty="0">
              <a:latin typeface="Calibri"/>
              <a:cs typeface="Calibri"/>
              <a:sym typeface="Wingdings" pitchFamily="2" charset="2"/>
            </a:endParaRPr>
          </a:p>
          <a:p>
            <a:pPr eaLnBrk="1" hangingPunct="1"/>
            <a:r>
              <a:rPr lang="vi-VN" sz="2400" dirty="0">
                <a:latin typeface="Calibri"/>
                <a:cs typeface="Calibri"/>
                <a:sym typeface="Wingdings" pitchFamily="2" charset="2"/>
              </a:rPr>
              <a:t>Chứng minh:</a:t>
            </a:r>
          </a:p>
          <a:p>
            <a:pPr lvl="1"/>
            <a:r>
              <a:rPr lang="vi-VN" sz="2000" noProof="0" dirty="0">
                <a:latin typeface="Calibri"/>
                <a:cs typeface="Calibri"/>
              </a:rPr>
              <a:t>Xét nút p là trạng thái trước n trong một đường đi từ gốc:</a:t>
            </a:r>
            <a:br>
              <a:rPr lang="vi-VN" sz="2000" noProof="0" dirty="0">
                <a:latin typeface="Calibri"/>
                <a:cs typeface="Calibri"/>
              </a:rPr>
            </a:br>
            <a:r>
              <a:rPr lang="vi-VN" sz="2000" noProof="0" dirty="0">
                <a:latin typeface="Calibri"/>
                <a:cs typeface="Calibri"/>
              </a:rPr>
              <a:t>h(p) ≤ c(p,n) + h(n)</a:t>
            </a:r>
            <a:br>
              <a:rPr lang="vi-VN" sz="2000" noProof="0" dirty="0">
                <a:latin typeface="Calibri"/>
                <a:cs typeface="Calibri"/>
              </a:rPr>
            </a:br>
            <a:r>
              <a:rPr lang="vi-VN" sz="2000" dirty="0">
                <a:latin typeface="Calibri"/>
                <a:cs typeface="Calibri"/>
              </a:rPr>
              <a:t>f(p) = g(p) + h(p) </a:t>
            </a:r>
            <a:r>
              <a:rPr lang="vi-VN" sz="2000" noProof="0" dirty="0">
                <a:latin typeface="Calibri"/>
                <a:cs typeface="Calibri"/>
              </a:rPr>
              <a:t>≤ </a:t>
            </a:r>
            <a:r>
              <a:rPr lang="vi-VN" sz="2000" dirty="0">
                <a:latin typeface="Calibri"/>
                <a:cs typeface="Calibri"/>
              </a:rPr>
              <a:t>g(p) + </a:t>
            </a:r>
            <a:r>
              <a:rPr lang="vi-VN" sz="2000" noProof="0" dirty="0">
                <a:latin typeface="Calibri"/>
                <a:cs typeface="Calibri"/>
              </a:rPr>
              <a:t>c(p,n) + h(n) = g(n) + h(n) = f(n)</a:t>
            </a:r>
          </a:p>
        </p:txBody>
      </p:sp>
      <p:sp>
        <p:nvSpPr>
          <p:cNvPr id="41989" name="Freeform 9"/>
          <p:cNvSpPr>
            <a:spLocks/>
          </p:cNvSpPr>
          <p:nvPr/>
        </p:nvSpPr>
        <p:spPr bwMode="auto">
          <a:xfrm>
            <a:off x="8001000" y="253365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0" name="Oval 10"/>
          <p:cNvSpPr>
            <a:spLocks noChangeArrowheads="1"/>
          </p:cNvSpPr>
          <p:nvPr/>
        </p:nvSpPr>
        <p:spPr bwMode="auto">
          <a:xfrm>
            <a:off x="9123363" y="2889250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1" name="Oval 11"/>
          <p:cNvSpPr>
            <a:spLocks noChangeArrowheads="1"/>
          </p:cNvSpPr>
          <p:nvPr/>
        </p:nvSpPr>
        <p:spPr bwMode="auto">
          <a:xfrm>
            <a:off x="9599613" y="287972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2" name="Text Box 12"/>
          <p:cNvSpPr txBox="1">
            <a:spLocks noChangeArrowheads="1"/>
          </p:cNvSpPr>
          <p:nvPr/>
        </p:nvSpPr>
        <p:spPr bwMode="auto">
          <a:xfrm>
            <a:off x="9253538" y="2740026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1993" name="Oval 16"/>
          <p:cNvSpPr>
            <a:spLocks noChangeArrowheads="1"/>
          </p:cNvSpPr>
          <p:nvPr/>
        </p:nvSpPr>
        <p:spPr bwMode="auto">
          <a:xfrm>
            <a:off x="9847263" y="3929063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4" name="Oval 17"/>
          <p:cNvSpPr>
            <a:spLocks noChangeArrowheads="1"/>
          </p:cNvSpPr>
          <p:nvPr/>
        </p:nvSpPr>
        <p:spPr bwMode="auto">
          <a:xfrm>
            <a:off x="9367838" y="4484688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5" name="Freeform 19"/>
          <p:cNvSpPr>
            <a:spLocks/>
          </p:cNvSpPr>
          <p:nvPr/>
        </p:nvSpPr>
        <p:spPr bwMode="auto">
          <a:xfrm>
            <a:off x="9321800" y="3275014"/>
            <a:ext cx="179388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6" name="Freeform 20"/>
          <p:cNvSpPr>
            <a:spLocks/>
          </p:cNvSpPr>
          <p:nvPr/>
        </p:nvSpPr>
        <p:spPr bwMode="auto">
          <a:xfrm>
            <a:off x="9739311" y="3471862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7" name="Oval 22"/>
          <p:cNvSpPr>
            <a:spLocks noChangeArrowheads="1"/>
          </p:cNvSpPr>
          <p:nvPr/>
        </p:nvSpPr>
        <p:spPr bwMode="auto">
          <a:xfrm>
            <a:off x="9355138" y="2463801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8" name="Freeform 23"/>
          <p:cNvSpPr>
            <a:spLocks/>
          </p:cNvSpPr>
          <p:nvPr/>
        </p:nvSpPr>
        <p:spPr bwMode="auto">
          <a:xfrm>
            <a:off x="8783637" y="3368676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9" name="Freeform 24"/>
          <p:cNvSpPr>
            <a:spLocks/>
          </p:cNvSpPr>
          <p:nvPr/>
        </p:nvSpPr>
        <p:spPr bwMode="auto">
          <a:xfrm>
            <a:off x="9039226" y="3100388"/>
            <a:ext cx="747713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2000" name="Text Box 26"/>
          <p:cNvSpPr txBox="1">
            <a:spLocks noChangeArrowheads="1"/>
          </p:cNvSpPr>
          <p:nvPr/>
        </p:nvSpPr>
        <p:spPr bwMode="auto">
          <a:xfrm>
            <a:off x="10277475" y="3468689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3</a:t>
            </a:r>
          </a:p>
        </p:txBody>
      </p:sp>
      <p:sp>
        <p:nvSpPr>
          <p:cNvPr id="42001" name="Text Box 27"/>
          <p:cNvSpPr txBox="1">
            <a:spLocks noChangeArrowheads="1"/>
          </p:cNvSpPr>
          <p:nvPr/>
        </p:nvSpPr>
        <p:spPr bwMode="auto">
          <a:xfrm>
            <a:off x="10150475" y="3073401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2</a:t>
            </a:r>
          </a:p>
        </p:txBody>
      </p:sp>
      <p:sp>
        <p:nvSpPr>
          <p:cNvPr id="42002" name="Text Box 28"/>
          <p:cNvSpPr txBox="1">
            <a:spLocks noChangeArrowheads="1"/>
          </p:cNvSpPr>
          <p:nvPr/>
        </p:nvSpPr>
        <p:spPr bwMode="auto">
          <a:xfrm>
            <a:off x="9950449" y="2695577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1</a:t>
            </a:r>
          </a:p>
        </p:txBody>
      </p:sp>
    </p:spTree>
    <p:extLst>
      <p:ext uri="{BB962C8B-B14F-4D97-AF65-F5344CB8AC3E}">
        <p14:creationId xmlns:p14="http://schemas.microsoft.com/office/powerpoint/2010/main" val="3855033788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đồ thị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600200"/>
            <a:ext cx="7607301" cy="4419600"/>
          </a:xfrm>
        </p:spPr>
        <p:txBody>
          <a:bodyPr/>
          <a:lstStyle/>
          <a:p>
            <a:pPr eaLnBrk="1" hangingPunct="1"/>
            <a:r>
              <a:rPr lang="vi-VN" sz="2800" noProof="0" dirty="0">
                <a:latin typeface="Calibri"/>
                <a:cs typeface="Calibri"/>
              </a:rPr>
              <a:t>Giả sử A* sử dụng hàm kinh nghiệm nhất quán:</a:t>
            </a:r>
            <a:endParaRPr lang="vi-VN" sz="1400" noProof="0" dirty="0">
              <a:latin typeface="Calibri"/>
              <a:cs typeface="Calibri"/>
            </a:endParaRPr>
          </a:p>
          <a:p>
            <a:pPr lvl="1" eaLnBrk="1" hangingPunct="1"/>
            <a:r>
              <a:rPr lang="vi-VN" sz="2400" noProof="0" dirty="0">
                <a:latin typeface="Calibri"/>
                <a:cs typeface="Calibri"/>
              </a:rPr>
              <a:t>Mệnh đề 1: Trong cây tìm kiếm, A* mở rộng theo thứ tự tăng dần của f (đường đồng mức của f)</a:t>
            </a:r>
          </a:p>
          <a:p>
            <a:pPr lvl="1" eaLnBrk="1" hangingPunct="1"/>
            <a:r>
              <a:rPr lang="vi-VN" sz="2400" dirty="0">
                <a:latin typeface="Calibri"/>
                <a:cs typeface="Calibri"/>
              </a:rPr>
              <a:t>Chứng minh: Giả sử 2 nút n, n’ có f(n) ≤ f(n’)</a:t>
            </a:r>
            <a:br>
              <a:rPr lang="vi-VN" sz="2400" dirty="0">
                <a:latin typeface="Calibri"/>
                <a:cs typeface="Calibri"/>
              </a:rPr>
            </a:br>
            <a:r>
              <a:rPr lang="vi-VN" sz="2400" dirty="0">
                <a:latin typeface="Calibri"/>
                <a:cs typeface="Calibri"/>
              </a:rPr>
              <a:t>Tại thời điểm n’ được mở rộng</a:t>
            </a:r>
          </a:p>
          <a:p>
            <a:pPr lvl="2"/>
            <a:r>
              <a:rPr lang="vi-VN" sz="2000" dirty="0">
                <a:latin typeface="Calibri"/>
                <a:cs typeface="Calibri"/>
              </a:rPr>
              <a:t>Nếu n đã được mở rộng trước đó </a:t>
            </a:r>
            <a:r>
              <a:rPr lang="vi-VN" sz="2000" dirty="0">
                <a:latin typeface="Calibri"/>
                <a:cs typeface="Calibri"/>
                <a:sym typeface="Wingdings" pitchFamily="2" charset="2"/>
              </a:rPr>
              <a:t> đpcm</a:t>
            </a:r>
          </a:p>
          <a:p>
            <a:pPr lvl="2"/>
            <a:r>
              <a:rPr lang="vi-VN" sz="2000" dirty="0">
                <a:latin typeface="Calibri"/>
                <a:cs typeface="Calibri"/>
                <a:sym typeface="Wingdings" pitchFamily="2" charset="2"/>
              </a:rPr>
              <a:t>Nếu n đang ở trong biên tìm kiếm  vô lý vì ta ưu tiên giá trị f nhỏ hơn được mở rộng trước</a:t>
            </a:r>
          </a:p>
          <a:p>
            <a:pPr lvl="2"/>
            <a:r>
              <a:rPr lang="vi-VN" sz="2000" dirty="0">
                <a:latin typeface="Calibri"/>
                <a:cs typeface="Calibri"/>
                <a:sym typeface="Wingdings" pitchFamily="2" charset="2"/>
              </a:rPr>
              <a:t>Nếu n chưa ở trong biên tìm kiếm  xét một nút p bất kì nằm trên đường đi tới n mà đã ở trong biên tìm kiếm. Ta có f(p) &lt; f(n) ≤ f(n’). Suy ra p được mở rộng trước n’  vô lý</a:t>
            </a:r>
            <a:br>
              <a:rPr lang="vi-VN" noProof="0" dirty="0">
                <a:latin typeface="Calibri"/>
                <a:cs typeface="Calibri"/>
              </a:rPr>
            </a:br>
            <a:endParaRPr lang="vi-VN" sz="1400" noProof="0" dirty="0">
              <a:latin typeface="Calibri"/>
              <a:cs typeface="Calibri"/>
            </a:endParaRPr>
          </a:p>
        </p:txBody>
      </p:sp>
      <p:sp>
        <p:nvSpPr>
          <p:cNvPr id="3" name="Freeform 34">
            <a:extLst>
              <a:ext uri="{FF2B5EF4-FFF2-40B4-BE49-F238E27FC236}">
                <a16:creationId xmlns:a16="http://schemas.microsoft.com/office/drawing/2014/main" id="{9007D96D-5932-ADD5-E282-D4B509037924}"/>
              </a:ext>
            </a:extLst>
          </p:cNvPr>
          <p:cNvSpPr>
            <a:spLocks/>
          </p:cNvSpPr>
          <p:nvPr/>
        </p:nvSpPr>
        <p:spPr bwMode="auto">
          <a:xfrm>
            <a:off x="9578975" y="2306637"/>
            <a:ext cx="1931988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F4659BA-4283-4A17-AEED-CAAB58943201}"/>
              </a:ext>
            </a:extLst>
          </p:cNvPr>
          <p:cNvSpPr>
            <a:spLocks/>
          </p:cNvSpPr>
          <p:nvPr/>
        </p:nvSpPr>
        <p:spPr bwMode="auto">
          <a:xfrm>
            <a:off x="8763000" y="2286000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B89E6358-C244-4AC1-387E-4465BA6FA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8089" y="4329113"/>
            <a:ext cx="179387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6" name="Oval 17">
            <a:extLst>
              <a:ext uri="{FF2B5EF4-FFF2-40B4-BE49-F238E27FC236}">
                <a16:creationId xmlns:a16="http://schemas.microsoft.com/office/drawing/2014/main" id="{F8B3D514-A43B-1A8A-FF55-ECC55F366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2089" y="4024313"/>
            <a:ext cx="179387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7" name="Oval 21">
            <a:extLst>
              <a:ext uri="{FF2B5EF4-FFF2-40B4-BE49-F238E27FC236}">
                <a16:creationId xmlns:a16="http://schemas.microsoft.com/office/drawing/2014/main" id="{23D49EA1-BB54-00C4-FBC2-88AE1629A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138" y="2216150"/>
            <a:ext cx="179387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D433221B-B1A6-F3D9-7802-752921DF9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7713" y="3054350"/>
            <a:ext cx="179387" cy="1793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pic>
        <p:nvPicPr>
          <p:cNvPr id="9" name="Picture 29" descr="txp_fig">
            <a:extLst>
              <a:ext uri="{FF2B5EF4-FFF2-40B4-BE49-F238E27FC236}">
                <a16:creationId xmlns:a16="http://schemas.microsoft.com/office/drawing/2014/main" id="{D8755C81-5D71-6E25-7B38-413A504C24B2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359900" y="2978149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9" descr="txp_fig">
            <a:extLst>
              <a:ext uri="{FF2B5EF4-FFF2-40B4-BE49-F238E27FC236}">
                <a16:creationId xmlns:a16="http://schemas.microsoft.com/office/drawing/2014/main" id="{9F420D2B-8ADA-4789-26BE-2A0A13417624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712577" y="4252912"/>
            <a:ext cx="257175" cy="24130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pic>
        <p:nvPicPr>
          <p:cNvPr id="11" name="Picture 38" descr="txp_fig">
            <a:extLst>
              <a:ext uri="{FF2B5EF4-FFF2-40B4-BE49-F238E27FC236}">
                <a16:creationId xmlns:a16="http://schemas.microsoft.com/office/drawing/2014/main" id="{22BA84D6-B0DC-83DD-9120-D8C3F71F33C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97901" y="3979862"/>
            <a:ext cx="385763" cy="273051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grpSp>
        <p:nvGrpSpPr>
          <p:cNvPr id="12" name="Group 28">
            <a:extLst>
              <a:ext uri="{FF2B5EF4-FFF2-40B4-BE49-F238E27FC236}">
                <a16:creationId xmlns:a16="http://schemas.microsoft.com/office/drawing/2014/main" id="{89FB114A-53A9-B2B2-E263-124DEEC3B29B}"/>
              </a:ext>
            </a:extLst>
          </p:cNvPr>
          <p:cNvGrpSpPr>
            <a:grpSpLocks/>
          </p:cNvGrpSpPr>
          <p:nvPr/>
        </p:nvGrpSpPr>
        <p:grpSpPr bwMode="auto">
          <a:xfrm>
            <a:off x="10225088" y="3109912"/>
            <a:ext cx="441325" cy="533400"/>
            <a:chOff x="7189787" y="2493962"/>
            <a:chExt cx="440532" cy="533400"/>
          </a:xfrm>
        </p:grpSpPr>
        <p:sp>
          <p:nvSpPr>
            <p:cNvPr id="13" name="Oval 27">
              <a:extLst>
                <a:ext uri="{FF2B5EF4-FFF2-40B4-BE49-F238E27FC236}">
                  <a16:creationId xmlns:a16="http://schemas.microsoft.com/office/drawing/2014/main" id="{31D464BA-7646-A4C3-8F8C-2CD48924B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787" y="2847974"/>
              <a:ext cx="179388" cy="1793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4" name="Picture 24" descr="txp_fig">
              <a:extLst>
                <a:ext uri="{FF2B5EF4-FFF2-40B4-BE49-F238E27FC236}">
                  <a16:creationId xmlns:a16="http://schemas.microsoft.com/office/drawing/2014/main" id="{71E0C701-03FF-C100-F067-0F71E4665F9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342187" y="2493962"/>
              <a:ext cx="288132" cy="3044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5" name="Group 29">
            <a:extLst>
              <a:ext uri="{FF2B5EF4-FFF2-40B4-BE49-F238E27FC236}">
                <a16:creationId xmlns:a16="http://schemas.microsoft.com/office/drawing/2014/main" id="{F793A0E5-B388-65F3-0117-4F5FED83B3D7}"/>
              </a:ext>
            </a:extLst>
          </p:cNvPr>
          <p:cNvGrpSpPr>
            <a:grpSpLocks/>
          </p:cNvGrpSpPr>
          <p:nvPr/>
        </p:nvGrpSpPr>
        <p:grpSpPr bwMode="auto">
          <a:xfrm>
            <a:off x="9588500" y="2520949"/>
            <a:ext cx="476251" cy="300039"/>
            <a:chOff x="6553200" y="1905000"/>
            <a:chExt cx="476250" cy="300037"/>
          </a:xfrm>
        </p:grpSpPr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4DBEF2B9-4216-449D-D010-5B83D641B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2" y="2025650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7" name="Picture 26" descr="txp_fig">
              <a:extLst>
                <a:ext uri="{FF2B5EF4-FFF2-40B4-BE49-F238E27FC236}">
                  <a16:creationId xmlns:a16="http://schemas.microsoft.com/office/drawing/2014/main" id="{E72134FD-7F2A-FBC4-B038-F2C5EF1423D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553200" y="1905000"/>
              <a:ext cx="192087" cy="2237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910168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1"/>
          <p:cNvSpPr>
            <a:spLocks/>
          </p:cNvSpPr>
          <p:nvPr/>
        </p:nvSpPr>
        <p:spPr bwMode="auto">
          <a:xfrm>
            <a:off x="9051925" y="2343149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Tính tối ưu của A* trên đồ thị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7543798" cy="4419600"/>
          </a:xfrm>
        </p:spPr>
        <p:txBody>
          <a:bodyPr/>
          <a:lstStyle/>
          <a:p>
            <a:pPr eaLnBrk="1" hangingPunct="1"/>
            <a:r>
              <a:rPr lang="vi-VN" sz="2800" noProof="0" dirty="0">
                <a:latin typeface="Calibri"/>
                <a:cs typeface="Calibri"/>
              </a:rPr>
              <a:t>Giả sử A* sử dụng hàm kinh nghiệm nhất quán:</a:t>
            </a:r>
            <a:br>
              <a:rPr lang="vi-VN" sz="2400" noProof="0" dirty="0">
                <a:latin typeface="Calibri"/>
                <a:cs typeface="Calibri"/>
              </a:rPr>
            </a:br>
            <a:endParaRPr lang="vi-VN" sz="1400" noProof="0" dirty="0">
              <a:latin typeface="Calibri"/>
              <a:cs typeface="Calibri"/>
            </a:endParaRPr>
          </a:p>
          <a:p>
            <a:pPr lvl="1" eaLnBrk="1" hangingPunct="1"/>
            <a:r>
              <a:rPr lang="vi-VN" sz="2400" noProof="0" dirty="0">
                <a:latin typeface="Calibri"/>
                <a:cs typeface="Calibri"/>
              </a:rPr>
              <a:t>Mệnh đề 2: Với mọi trạng thái s, các nút trên đường đi tối ưu đến s được mở rộng trước mọi nút trên đường đi không tối ưu đến s</a:t>
            </a:r>
          </a:p>
          <a:p>
            <a:pPr lvl="1" eaLnBrk="1" hangingPunct="1"/>
            <a:r>
              <a:rPr lang="vi-VN" sz="2400" dirty="0">
                <a:latin typeface="Calibri"/>
                <a:cs typeface="Calibri"/>
              </a:rPr>
              <a:t>Chứng minh: hệ quả của mệnh đề 1, chúng ta mở rộng các nút của cây tìm kiếm theo thứ tự của giá trị f.</a:t>
            </a:r>
            <a:endParaRPr lang="vi-VN" sz="2400" noProof="0" dirty="0">
              <a:latin typeface="Calibri"/>
              <a:cs typeface="Calibri"/>
            </a:endParaRPr>
          </a:p>
          <a:p>
            <a:pPr lvl="1"/>
            <a:endParaRPr lang="vi-VN" sz="1400" noProof="0" dirty="0">
              <a:latin typeface="Calibri"/>
              <a:cs typeface="Calibri"/>
            </a:endParaRPr>
          </a:p>
          <a:p>
            <a:pPr lvl="1" eaLnBrk="1" hangingPunct="1"/>
            <a:r>
              <a:rPr lang="vi-VN" sz="2400" noProof="0" dirty="0">
                <a:latin typeface="Calibri"/>
                <a:cs typeface="Calibri"/>
              </a:rPr>
              <a:t>Kết quả: A* trên đồ thị tối ưu vì không cần mở rộng một trạng thái 2 lần (lần sau chắc chắn không tốt bằng lần đầu)</a:t>
            </a:r>
          </a:p>
        </p:txBody>
      </p:sp>
      <p:sp>
        <p:nvSpPr>
          <p:cNvPr id="41989" name="Freeform 9"/>
          <p:cNvSpPr>
            <a:spLocks/>
          </p:cNvSpPr>
          <p:nvPr/>
        </p:nvSpPr>
        <p:spPr bwMode="auto">
          <a:xfrm>
            <a:off x="8534400" y="2514600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0" name="Oval 10"/>
          <p:cNvSpPr>
            <a:spLocks noChangeArrowheads="1"/>
          </p:cNvSpPr>
          <p:nvPr/>
        </p:nvSpPr>
        <p:spPr bwMode="auto">
          <a:xfrm>
            <a:off x="9656763" y="287019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1" name="Oval 11"/>
          <p:cNvSpPr>
            <a:spLocks noChangeArrowheads="1"/>
          </p:cNvSpPr>
          <p:nvPr/>
        </p:nvSpPr>
        <p:spPr bwMode="auto">
          <a:xfrm>
            <a:off x="10133013" y="2860675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2" name="Text Box 12"/>
          <p:cNvSpPr txBox="1">
            <a:spLocks noChangeArrowheads="1"/>
          </p:cNvSpPr>
          <p:nvPr/>
        </p:nvSpPr>
        <p:spPr bwMode="auto">
          <a:xfrm>
            <a:off x="9786938" y="2720975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…</a:t>
            </a:r>
          </a:p>
        </p:txBody>
      </p:sp>
      <p:sp>
        <p:nvSpPr>
          <p:cNvPr id="41993" name="Oval 16"/>
          <p:cNvSpPr>
            <a:spLocks noChangeArrowheads="1"/>
          </p:cNvSpPr>
          <p:nvPr/>
        </p:nvSpPr>
        <p:spPr bwMode="auto">
          <a:xfrm>
            <a:off x="10380663" y="3910012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4" name="Oval 17"/>
          <p:cNvSpPr>
            <a:spLocks noChangeArrowheads="1"/>
          </p:cNvSpPr>
          <p:nvPr/>
        </p:nvSpPr>
        <p:spPr bwMode="auto">
          <a:xfrm>
            <a:off x="9901238" y="4465637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5" name="Freeform 19"/>
          <p:cNvSpPr>
            <a:spLocks/>
          </p:cNvSpPr>
          <p:nvPr/>
        </p:nvSpPr>
        <p:spPr bwMode="auto">
          <a:xfrm>
            <a:off x="9855200" y="3255963"/>
            <a:ext cx="179388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6" name="Freeform 20"/>
          <p:cNvSpPr>
            <a:spLocks/>
          </p:cNvSpPr>
          <p:nvPr/>
        </p:nvSpPr>
        <p:spPr bwMode="auto">
          <a:xfrm>
            <a:off x="10272711" y="3452811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7" name="Oval 22"/>
          <p:cNvSpPr>
            <a:spLocks noChangeArrowheads="1"/>
          </p:cNvSpPr>
          <p:nvPr/>
        </p:nvSpPr>
        <p:spPr bwMode="auto">
          <a:xfrm>
            <a:off x="9888538" y="2444750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8" name="Freeform 23"/>
          <p:cNvSpPr>
            <a:spLocks/>
          </p:cNvSpPr>
          <p:nvPr/>
        </p:nvSpPr>
        <p:spPr bwMode="auto">
          <a:xfrm>
            <a:off x="9317037" y="3349625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1999" name="Freeform 24"/>
          <p:cNvSpPr>
            <a:spLocks/>
          </p:cNvSpPr>
          <p:nvPr/>
        </p:nvSpPr>
        <p:spPr bwMode="auto">
          <a:xfrm>
            <a:off x="9572626" y="3081337"/>
            <a:ext cx="747713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2000" name="Text Box 26"/>
          <p:cNvSpPr txBox="1">
            <a:spLocks noChangeArrowheads="1"/>
          </p:cNvSpPr>
          <p:nvPr/>
        </p:nvSpPr>
        <p:spPr bwMode="auto">
          <a:xfrm>
            <a:off x="10810875" y="3449638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3</a:t>
            </a:r>
          </a:p>
        </p:txBody>
      </p:sp>
      <p:sp>
        <p:nvSpPr>
          <p:cNvPr id="42001" name="Text Box 27"/>
          <p:cNvSpPr txBox="1">
            <a:spLocks noChangeArrowheads="1"/>
          </p:cNvSpPr>
          <p:nvPr/>
        </p:nvSpPr>
        <p:spPr bwMode="auto">
          <a:xfrm>
            <a:off x="10683875" y="3054350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2</a:t>
            </a:r>
          </a:p>
        </p:txBody>
      </p:sp>
      <p:sp>
        <p:nvSpPr>
          <p:cNvPr id="42002" name="Text Box 28"/>
          <p:cNvSpPr txBox="1">
            <a:spLocks noChangeArrowheads="1"/>
          </p:cNvSpPr>
          <p:nvPr/>
        </p:nvSpPr>
        <p:spPr bwMode="auto">
          <a:xfrm>
            <a:off x="10483849" y="2676526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f </a:t>
            </a:r>
            <a:r>
              <a:rPr lang="en-US">
                <a:latin typeface="Calibri"/>
                <a:cs typeface="Calibri"/>
                <a:sym typeface="Symbol" pitchFamily="18" charset="2"/>
              </a:rPr>
              <a:t> 1</a:t>
            </a:r>
          </a:p>
        </p:txBody>
      </p:sp>
    </p:spTree>
    <p:extLst>
      <p:ext uri="{BB962C8B-B14F-4D97-AF65-F5344CB8AC3E}">
        <p14:creationId xmlns:p14="http://schemas.microsoft.com/office/powerpoint/2010/main" val="3464164265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Tối ưu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6375400" cy="472916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400" dirty="0"/>
              <a:t>A* trên cây</a:t>
            </a:r>
            <a:r>
              <a:rPr lang="vi-VN" sz="2400" noProof="0" dirty="0"/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000" noProof="0" dirty="0"/>
              <a:t>A* tối ưu nếu hàm kinh nghiệm chấp nhận được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000" noProof="0" dirty="0"/>
              <a:t>Trường hợp đặc biệt, UCS (h = 0)</a:t>
            </a:r>
          </a:p>
          <a:p>
            <a:pPr eaLnBrk="1" hangingPunct="1">
              <a:lnSpc>
                <a:spcPct val="80000"/>
              </a:lnSpc>
            </a:pPr>
            <a:endParaRPr lang="vi-VN" sz="2400" noProof="0" dirty="0"/>
          </a:p>
          <a:p>
            <a:pPr eaLnBrk="1" hangingPunct="1">
              <a:lnSpc>
                <a:spcPct val="80000"/>
              </a:lnSpc>
            </a:pPr>
            <a:r>
              <a:rPr lang="vi-VN" sz="2400" noProof="0" dirty="0"/>
              <a:t>A* trên đồ thị: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000" noProof="0" dirty="0"/>
              <a:t>A* tối ưu nếu hàm kinh nghiệm nhất quán</a:t>
            </a:r>
          </a:p>
          <a:p>
            <a:pPr lvl="1">
              <a:lnSpc>
                <a:spcPct val="80000"/>
              </a:lnSpc>
            </a:pPr>
            <a:r>
              <a:rPr lang="vi-VN" sz="2000" noProof="0" dirty="0"/>
              <a:t>Trường hợp đặc biệt, UCS (h = 0)</a:t>
            </a:r>
          </a:p>
          <a:p>
            <a:pPr lvl="1" eaLnBrk="1" hangingPunct="1">
              <a:lnSpc>
                <a:spcPct val="80000"/>
              </a:lnSpc>
            </a:pPr>
            <a:endParaRPr lang="vi-VN" sz="2000" noProof="0" dirty="0"/>
          </a:p>
          <a:p>
            <a:pPr>
              <a:lnSpc>
                <a:spcPct val="80000"/>
              </a:lnSpc>
            </a:pPr>
            <a:r>
              <a:rPr lang="vi-VN" sz="2400" dirty="0"/>
              <a:t>N</a:t>
            </a:r>
            <a:r>
              <a:rPr lang="vi-VN" sz="2400" noProof="0" dirty="0"/>
              <a:t>hất quán ⇒ Chấp nhận được</a:t>
            </a:r>
          </a:p>
          <a:p>
            <a:pPr lvl="1" eaLnBrk="1" hangingPunct="1">
              <a:lnSpc>
                <a:spcPct val="80000"/>
              </a:lnSpc>
            </a:pPr>
            <a:endParaRPr lang="vi-VN" sz="2000" noProof="0" dirty="0"/>
          </a:p>
          <a:p>
            <a:pPr eaLnBrk="1" hangingPunct="1">
              <a:lnSpc>
                <a:spcPct val="80000"/>
              </a:lnSpc>
            </a:pPr>
            <a:r>
              <a:rPr lang="vi-VN" sz="2400" noProof="0" dirty="0"/>
              <a:t>Nói chung, các hàm chấp nhận được thì cũng nhất quán (không luôn đúng), đặc biệt khi được xây dựng từ các bài toán nới lỏng ràng buộc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9853" y="2009404"/>
            <a:ext cx="4720694" cy="340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Tổng kết: A*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39590" y="1553037"/>
            <a:ext cx="4865218" cy="4537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173552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Tổng kết: A*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A* sử dụng cả chi phí quá khứ và ước lượng chi phí tương lai</a:t>
            </a:r>
          </a:p>
          <a:p>
            <a:pPr lvl="4"/>
            <a:endParaRPr lang="vi-VN" sz="1600" noProof="0" dirty="0"/>
          </a:p>
          <a:p>
            <a:pPr eaLnBrk="1" hangingPunct="1"/>
            <a:r>
              <a:rPr lang="vi-VN" noProof="0" dirty="0"/>
              <a:t>A* tối ưu với hàm kinh nghiệm chấp nhận được / nhất quán</a:t>
            </a:r>
          </a:p>
          <a:p>
            <a:pPr lvl="4"/>
            <a:endParaRPr lang="vi-VN" sz="1600" noProof="0" dirty="0"/>
          </a:p>
          <a:p>
            <a:pPr eaLnBrk="1" hangingPunct="1"/>
            <a:r>
              <a:rPr lang="vi-VN" noProof="0" dirty="0"/>
              <a:t>Thiết kế hàm kinh nghiệm: Sử dụng bài toán nới lỏng ràng buộc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1201" y="3886363"/>
            <a:ext cx="8077197" cy="2487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Mã giả: Tìm kiếm trên cây</a:t>
            </a:r>
          </a:p>
        </p:txBody>
      </p:sp>
      <p:pic>
        <p:nvPicPr>
          <p:cNvPr id="4" name="Picture 3" descr="tree-search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81200"/>
            <a:ext cx="11665629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7058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Mã giả: Tìm kiếm </a:t>
            </a:r>
            <a:r>
              <a:rPr lang="vi-VN" noProof="0"/>
              <a:t>trên đồ thị</a:t>
            </a:r>
            <a:endParaRPr lang="vi-VN" noProof="0" dirty="0"/>
          </a:p>
        </p:txBody>
      </p:sp>
      <p:pic>
        <p:nvPicPr>
          <p:cNvPr id="3" name="Picture 2" descr="graph-search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52600"/>
            <a:ext cx="1140646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268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1"/>
          <p:cNvSpPr>
            <a:spLocks/>
          </p:cNvSpPr>
          <p:nvPr/>
        </p:nvSpPr>
        <p:spPr bwMode="auto">
          <a:xfrm>
            <a:off x="5873751" y="3598863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Optimality of A* Graph Search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133600"/>
          </a:xfrm>
        </p:spPr>
        <p:txBody>
          <a:bodyPr/>
          <a:lstStyle/>
          <a:p>
            <a:pPr eaLnBrk="1" hangingPunct="1"/>
            <a:r>
              <a:rPr lang="vi-VN" sz="2800" noProof="0" dirty="0"/>
              <a:t>Consider what A* does:</a:t>
            </a:r>
          </a:p>
          <a:p>
            <a:pPr lvl="1" eaLnBrk="1" hangingPunct="1"/>
            <a:r>
              <a:rPr lang="vi-VN" sz="2400" noProof="0" dirty="0"/>
              <a:t>Expands nodes in increasing total f value (f-contours)</a:t>
            </a:r>
            <a:br>
              <a:rPr lang="vi-VN" sz="2400" noProof="0" dirty="0"/>
            </a:br>
            <a:r>
              <a:rPr lang="vi-VN" sz="2400" noProof="0" dirty="0"/>
              <a:t>Reminder: f(n) = g(n) + h(n) = cost to n + heuristic</a:t>
            </a:r>
          </a:p>
          <a:p>
            <a:pPr lvl="1" eaLnBrk="1" hangingPunct="1"/>
            <a:r>
              <a:rPr lang="vi-VN" sz="2400" noProof="0" dirty="0"/>
              <a:t>Proof idea: the optimal goal(s) have the lowest f value, so it must get expanded first</a:t>
            </a:r>
          </a:p>
        </p:txBody>
      </p:sp>
      <p:sp>
        <p:nvSpPr>
          <p:cNvPr id="41989" name="Freeform 9"/>
          <p:cNvSpPr>
            <a:spLocks/>
          </p:cNvSpPr>
          <p:nvPr/>
        </p:nvSpPr>
        <p:spPr bwMode="auto">
          <a:xfrm>
            <a:off x="5356226" y="3770314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41990" name="Oval 10"/>
          <p:cNvSpPr>
            <a:spLocks noChangeArrowheads="1"/>
          </p:cNvSpPr>
          <p:nvPr/>
        </p:nvSpPr>
        <p:spPr bwMode="auto">
          <a:xfrm>
            <a:off x="6478589" y="4125913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41991" name="Oval 11"/>
          <p:cNvSpPr>
            <a:spLocks noChangeArrowheads="1"/>
          </p:cNvSpPr>
          <p:nvPr/>
        </p:nvSpPr>
        <p:spPr bwMode="auto">
          <a:xfrm>
            <a:off x="6954839" y="4116389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41992" name="Text Box 12"/>
          <p:cNvSpPr txBox="1">
            <a:spLocks noChangeArrowheads="1"/>
          </p:cNvSpPr>
          <p:nvPr/>
        </p:nvSpPr>
        <p:spPr bwMode="auto">
          <a:xfrm>
            <a:off x="6608764" y="3976689"/>
            <a:ext cx="274637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41993" name="Oval 16"/>
          <p:cNvSpPr>
            <a:spLocks noChangeArrowheads="1"/>
          </p:cNvSpPr>
          <p:nvPr/>
        </p:nvSpPr>
        <p:spPr bwMode="auto">
          <a:xfrm>
            <a:off x="7202489" y="5165726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41994" name="Oval 17"/>
          <p:cNvSpPr>
            <a:spLocks noChangeArrowheads="1"/>
          </p:cNvSpPr>
          <p:nvPr/>
        </p:nvSpPr>
        <p:spPr bwMode="auto">
          <a:xfrm>
            <a:off x="6723064" y="5721351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41995" name="Freeform 19"/>
          <p:cNvSpPr>
            <a:spLocks/>
          </p:cNvSpPr>
          <p:nvPr/>
        </p:nvSpPr>
        <p:spPr bwMode="auto">
          <a:xfrm>
            <a:off x="6677026" y="4511677"/>
            <a:ext cx="179388" cy="1196975"/>
          </a:xfrm>
          <a:custGeom>
            <a:avLst/>
            <a:gdLst>
              <a:gd name="T0" fmla="*/ 2147483647 w 113"/>
              <a:gd name="T1" fmla="*/ 0 h 754"/>
              <a:gd name="T2" fmla="*/ 2147483647 w 113"/>
              <a:gd name="T3" fmla="*/ 2147483647 h 754"/>
              <a:gd name="T4" fmla="*/ 2147483647 w 113"/>
              <a:gd name="T5" fmla="*/ 2147483647 h 754"/>
              <a:gd name="T6" fmla="*/ 2147483647 w 113"/>
              <a:gd name="T7" fmla="*/ 2147483647 h 754"/>
              <a:gd name="T8" fmla="*/ 2147483647 w 113"/>
              <a:gd name="T9" fmla="*/ 2147483647 h 754"/>
              <a:gd name="T10" fmla="*/ 0 w 113"/>
              <a:gd name="T11" fmla="*/ 2147483647 h 754"/>
              <a:gd name="T12" fmla="*/ 2147483647 w 113"/>
              <a:gd name="T13" fmla="*/ 2147483647 h 754"/>
              <a:gd name="T14" fmla="*/ 2147483647 w 113"/>
              <a:gd name="T15" fmla="*/ 2147483647 h 754"/>
              <a:gd name="T16" fmla="*/ 2147483647 w 113"/>
              <a:gd name="T17" fmla="*/ 2147483647 h 754"/>
              <a:gd name="T18" fmla="*/ 2147483647 w 113"/>
              <a:gd name="T19" fmla="*/ 2147483647 h 7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3"/>
              <a:gd name="T31" fmla="*/ 0 h 754"/>
              <a:gd name="T32" fmla="*/ 113 w 113"/>
              <a:gd name="T33" fmla="*/ 754 h 7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3" h="754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41996" name="Freeform 20"/>
          <p:cNvSpPr>
            <a:spLocks/>
          </p:cNvSpPr>
          <p:nvPr/>
        </p:nvSpPr>
        <p:spPr bwMode="auto">
          <a:xfrm>
            <a:off x="7094537" y="4708525"/>
            <a:ext cx="222251" cy="436563"/>
          </a:xfrm>
          <a:custGeom>
            <a:avLst/>
            <a:gdLst>
              <a:gd name="T0" fmla="*/ 0 w 140"/>
              <a:gd name="T1" fmla="*/ 0 h 275"/>
              <a:gd name="T2" fmla="*/ 2147483647 w 140"/>
              <a:gd name="T3" fmla="*/ 2147483647 h 275"/>
              <a:gd name="T4" fmla="*/ 2147483647 w 140"/>
              <a:gd name="T5" fmla="*/ 2147483647 h 275"/>
              <a:gd name="T6" fmla="*/ 2147483647 w 140"/>
              <a:gd name="T7" fmla="*/ 2147483647 h 275"/>
              <a:gd name="T8" fmla="*/ 2147483647 w 140"/>
              <a:gd name="T9" fmla="*/ 2147483647 h 275"/>
              <a:gd name="T10" fmla="*/ 2147483647 w 140"/>
              <a:gd name="T11" fmla="*/ 2147483647 h 2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"/>
              <a:gd name="T19" fmla="*/ 0 h 275"/>
              <a:gd name="T20" fmla="*/ 140 w 140"/>
              <a:gd name="T21" fmla="*/ 275 h 2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" h="275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41997" name="Oval 22"/>
          <p:cNvSpPr>
            <a:spLocks noChangeArrowheads="1"/>
          </p:cNvSpPr>
          <p:nvPr/>
        </p:nvSpPr>
        <p:spPr bwMode="auto">
          <a:xfrm>
            <a:off x="6710364" y="3700464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41998" name="Freeform 23"/>
          <p:cNvSpPr>
            <a:spLocks/>
          </p:cNvSpPr>
          <p:nvPr/>
        </p:nvSpPr>
        <p:spPr bwMode="auto">
          <a:xfrm>
            <a:off x="6138863" y="4605339"/>
            <a:ext cx="1181100" cy="557212"/>
          </a:xfrm>
          <a:custGeom>
            <a:avLst/>
            <a:gdLst>
              <a:gd name="T0" fmla="*/ 2147483647 w 744"/>
              <a:gd name="T1" fmla="*/ 0 h 351"/>
              <a:gd name="T2" fmla="*/ 2147483647 w 744"/>
              <a:gd name="T3" fmla="*/ 2147483647 h 351"/>
              <a:gd name="T4" fmla="*/ 2147483647 w 744"/>
              <a:gd name="T5" fmla="*/ 2147483647 h 351"/>
              <a:gd name="T6" fmla="*/ 2147483647 w 744"/>
              <a:gd name="T7" fmla="*/ 2147483647 h 351"/>
              <a:gd name="T8" fmla="*/ 0 w 744"/>
              <a:gd name="T9" fmla="*/ 2147483647 h 3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351"/>
              <a:gd name="T17" fmla="*/ 744 w 744"/>
              <a:gd name="T18" fmla="*/ 351 h 3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351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41999" name="Freeform 24"/>
          <p:cNvSpPr>
            <a:spLocks/>
          </p:cNvSpPr>
          <p:nvPr/>
        </p:nvSpPr>
        <p:spPr bwMode="auto">
          <a:xfrm>
            <a:off x="6394452" y="4337051"/>
            <a:ext cx="747713" cy="293688"/>
          </a:xfrm>
          <a:custGeom>
            <a:avLst/>
            <a:gdLst>
              <a:gd name="T0" fmla="*/ 2147483647 w 471"/>
              <a:gd name="T1" fmla="*/ 0 h 185"/>
              <a:gd name="T2" fmla="*/ 2147483647 w 471"/>
              <a:gd name="T3" fmla="*/ 2147483647 h 185"/>
              <a:gd name="T4" fmla="*/ 0 w 471"/>
              <a:gd name="T5" fmla="*/ 2147483647 h 185"/>
              <a:gd name="T6" fmla="*/ 0 60000 65536"/>
              <a:gd name="T7" fmla="*/ 0 60000 65536"/>
              <a:gd name="T8" fmla="*/ 0 60000 65536"/>
              <a:gd name="T9" fmla="*/ 0 w 471"/>
              <a:gd name="T10" fmla="*/ 0 h 185"/>
              <a:gd name="T11" fmla="*/ 471 w 471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1" h="185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42000" name="Text Box 26"/>
          <p:cNvSpPr txBox="1">
            <a:spLocks noChangeArrowheads="1"/>
          </p:cNvSpPr>
          <p:nvPr/>
        </p:nvSpPr>
        <p:spPr bwMode="auto">
          <a:xfrm>
            <a:off x="7632701" y="4705352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f </a:t>
            </a:r>
            <a:r>
              <a:rPr lang="en-US">
                <a:sym typeface="Symbol" pitchFamily="18" charset="2"/>
              </a:rPr>
              <a:t> 3</a:t>
            </a:r>
          </a:p>
        </p:txBody>
      </p:sp>
      <p:sp>
        <p:nvSpPr>
          <p:cNvPr id="42001" name="Text Box 27"/>
          <p:cNvSpPr txBox="1">
            <a:spLocks noChangeArrowheads="1"/>
          </p:cNvSpPr>
          <p:nvPr/>
        </p:nvSpPr>
        <p:spPr bwMode="auto">
          <a:xfrm>
            <a:off x="7505701" y="4310064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f </a:t>
            </a:r>
            <a:r>
              <a:rPr lang="en-US">
                <a:sym typeface="Symbol" pitchFamily="18" charset="2"/>
              </a:rPr>
              <a:t> 2</a:t>
            </a:r>
          </a:p>
        </p:txBody>
      </p:sp>
      <p:sp>
        <p:nvSpPr>
          <p:cNvPr id="42002" name="Text Box 28"/>
          <p:cNvSpPr txBox="1">
            <a:spLocks noChangeArrowheads="1"/>
          </p:cNvSpPr>
          <p:nvPr/>
        </p:nvSpPr>
        <p:spPr bwMode="auto">
          <a:xfrm>
            <a:off x="7305675" y="3932240"/>
            <a:ext cx="8255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f </a:t>
            </a:r>
            <a:r>
              <a:rPr lang="en-US">
                <a:sym typeface="Symbol" pitchFamily="18" charset="2"/>
              </a:rPr>
              <a:t> 1</a:t>
            </a:r>
          </a:p>
        </p:txBody>
      </p:sp>
      <p:sp>
        <p:nvSpPr>
          <p:cNvPr id="809989" name="Text Box 5"/>
          <p:cNvSpPr txBox="1">
            <a:spLocks noChangeArrowheads="1"/>
          </p:cNvSpPr>
          <p:nvPr/>
        </p:nvSpPr>
        <p:spPr bwMode="auto">
          <a:xfrm>
            <a:off x="1295400" y="4286250"/>
            <a:ext cx="3886200" cy="92332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/>
              <a:t>There’s a problem with this argument.  What are we assuming is true?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98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reeform 34"/>
          <p:cNvSpPr>
            <a:spLocks/>
          </p:cNvSpPr>
          <p:nvPr/>
        </p:nvSpPr>
        <p:spPr bwMode="auto">
          <a:xfrm>
            <a:off x="7610475" y="1690688"/>
            <a:ext cx="1931988" cy="2371725"/>
          </a:xfrm>
          <a:custGeom>
            <a:avLst/>
            <a:gdLst>
              <a:gd name="T0" fmla="*/ 2147483647 w 1217"/>
              <a:gd name="T1" fmla="*/ 0 h 1494"/>
              <a:gd name="T2" fmla="*/ 0 w 1217"/>
              <a:gd name="T3" fmla="*/ 2147483647 h 1494"/>
              <a:gd name="T4" fmla="*/ 2147483647 w 1217"/>
              <a:gd name="T5" fmla="*/ 2147483647 h 1494"/>
              <a:gd name="T6" fmla="*/ 2147483647 w 1217"/>
              <a:gd name="T7" fmla="*/ 2147483647 h 1494"/>
              <a:gd name="T8" fmla="*/ 2147483647 w 1217"/>
              <a:gd name="T9" fmla="*/ 2147483647 h 1494"/>
              <a:gd name="T10" fmla="*/ 2147483647 w 1217"/>
              <a:gd name="T11" fmla="*/ 2147483647 h 1494"/>
              <a:gd name="T12" fmla="*/ 2147483647 w 1217"/>
              <a:gd name="T13" fmla="*/ 0 h 14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7"/>
              <a:gd name="T22" fmla="*/ 0 h 1494"/>
              <a:gd name="T23" fmla="*/ 1217 w 1217"/>
              <a:gd name="T24" fmla="*/ 1494 h 14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7" h="1494">
                <a:moveTo>
                  <a:pt x="386" y="0"/>
                </a:moveTo>
                <a:cubicBezTo>
                  <a:pt x="322" y="114"/>
                  <a:pt x="196" y="352"/>
                  <a:pt x="0" y="682"/>
                </a:cubicBezTo>
                <a:cubicBezTo>
                  <a:pt x="56" y="829"/>
                  <a:pt x="128" y="798"/>
                  <a:pt x="196" y="857"/>
                </a:cubicBezTo>
                <a:cubicBezTo>
                  <a:pt x="264" y="916"/>
                  <a:pt x="308" y="996"/>
                  <a:pt x="407" y="1034"/>
                </a:cubicBezTo>
                <a:cubicBezTo>
                  <a:pt x="506" y="1072"/>
                  <a:pt x="667" y="1035"/>
                  <a:pt x="791" y="1082"/>
                </a:cubicBezTo>
                <a:cubicBezTo>
                  <a:pt x="915" y="1129"/>
                  <a:pt x="1217" y="1494"/>
                  <a:pt x="1152" y="1314"/>
                </a:cubicBezTo>
                <a:cubicBezTo>
                  <a:pt x="1087" y="1134"/>
                  <a:pt x="557" y="274"/>
                  <a:pt x="400" y="0"/>
                </a:cubicBezTo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Optimality of A* Graph Search</a:t>
            </a: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600201"/>
            <a:ext cx="53340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vi-VN" sz="2000" noProof="0" dirty="0"/>
              <a:t>Proof:</a:t>
            </a:r>
          </a:p>
          <a:p>
            <a:pPr eaLnBrk="1" hangingPunct="1"/>
            <a:r>
              <a:rPr lang="vi-VN" sz="2000" noProof="0" dirty="0"/>
              <a:t>New possible problem: some </a:t>
            </a:r>
            <a:r>
              <a:rPr lang="vi-VN" sz="2000" i="1" noProof="0" dirty="0"/>
              <a:t>n</a:t>
            </a:r>
            <a:r>
              <a:rPr lang="vi-VN" sz="2000" noProof="0" dirty="0"/>
              <a:t> on path to G* isn’t in queue when we need it, because some worse </a:t>
            </a:r>
            <a:r>
              <a:rPr lang="vi-VN" sz="2000" i="1" noProof="0" dirty="0"/>
              <a:t>n’</a:t>
            </a:r>
            <a:r>
              <a:rPr lang="vi-VN" sz="2000" noProof="0" dirty="0"/>
              <a:t> for the same state dequeued and expanded first (disaster!)</a:t>
            </a:r>
          </a:p>
          <a:p>
            <a:pPr eaLnBrk="1" hangingPunct="1"/>
            <a:r>
              <a:rPr lang="vi-VN" sz="2000" noProof="0" dirty="0"/>
              <a:t>Take the highest such </a:t>
            </a:r>
            <a:r>
              <a:rPr lang="vi-VN" sz="2000" i="1" noProof="0" dirty="0"/>
              <a:t>n </a:t>
            </a:r>
            <a:r>
              <a:rPr lang="vi-VN" sz="2000" noProof="0" dirty="0"/>
              <a:t>in tree</a:t>
            </a:r>
          </a:p>
          <a:p>
            <a:pPr eaLnBrk="1" hangingPunct="1"/>
            <a:r>
              <a:rPr lang="vi-VN" sz="2000" noProof="0" dirty="0"/>
              <a:t>Let </a:t>
            </a:r>
            <a:r>
              <a:rPr lang="vi-VN" sz="2000" i="1" noProof="0" dirty="0"/>
              <a:t>p</a:t>
            </a:r>
            <a:r>
              <a:rPr lang="vi-VN" sz="2000" noProof="0" dirty="0"/>
              <a:t> be the ancestor of </a:t>
            </a:r>
            <a:r>
              <a:rPr lang="vi-VN" sz="2000" i="1" noProof="0" dirty="0"/>
              <a:t>n </a:t>
            </a:r>
            <a:r>
              <a:rPr lang="vi-VN" sz="2000" noProof="0" dirty="0"/>
              <a:t>that was on the queue when </a:t>
            </a:r>
            <a:r>
              <a:rPr lang="vi-VN" sz="2000" i="1" noProof="0" dirty="0"/>
              <a:t>n</a:t>
            </a:r>
            <a:r>
              <a:rPr lang="vi-VN" sz="2000" noProof="0" dirty="0"/>
              <a:t>’ was popped</a:t>
            </a:r>
          </a:p>
          <a:p>
            <a:pPr eaLnBrk="1" hangingPunct="1"/>
            <a:r>
              <a:rPr lang="vi-VN" sz="2000" i="1" noProof="0" dirty="0"/>
              <a:t>f(p) &lt; f(n)</a:t>
            </a:r>
            <a:r>
              <a:rPr lang="vi-VN" sz="2000" noProof="0" dirty="0"/>
              <a:t> because of </a:t>
            </a:r>
            <a:r>
              <a:rPr lang="vi-VN" sz="2000" noProof="0" dirty="0">
                <a:solidFill>
                  <a:srgbClr val="008000"/>
                </a:solidFill>
              </a:rPr>
              <a:t>consistency</a:t>
            </a:r>
            <a:endParaRPr lang="vi-VN" sz="2000" i="1" noProof="0" dirty="0">
              <a:solidFill>
                <a:srgbClr val="008000"/>
              </a:solidFill>
            </a:endParaRPr>
          </a:p>
          <a:p>
            <a:pPr eaLnBrk="1" hangingPunct="1"/>
            <a:r>
              <a:rPr lang="vi-VN" sz="2000" i="1" noProof="0" dirty="0"/>
              <a:t>f(n) &lt; f(n’) </a:t>
            </a:r>
            <a:r>
              <a:rPr lang="vi-VN" sz="2000" noProof="0" dirty="0"/>
              <a:t>because </a:t>
            </a:r>
            <a:r>
              <a:rPr lang="vi-VN" sz="2000" i="1" noProof="0" dirty="0"/>
              <a:t>n’</a:t>
            </a:r>
            <a:r>
              <a:rPr lang="vi-VN" sz="2000" noProof="0" dirty="0"/>
              <a:t> is suboptimal</a:t>
            </a:r>
            <a:endParaRPr lang="vi-VN" sz="2000" i="1" noProof="0" dirty="0"/>
          </a:p>
          <a:p>
            <a:pPr eaLnBrk="1" hangingPunct="1"/>
            <a:r>
              <a:rPr lang="vi-VN" sz="2000" i="1" noProof="0" dirty="0"/>
              <a:t>p</a:t>
            </a:r>
            <a:r>
              <a:rPr lang="vi-VN" sz="2000" noProof="0" dirty="0"/>
              <a:t> would have been expanded before </a:t>
            </a:r>
            <a:r>
              <a:rPr lang="vi-VN" sz="2000" i="1" noProof="0" dirty="0"/>
              <a:t>n</a:t>
            </a:r>
            <a:r>
              <a:rPr lang="vi-VN" sz="2000" noProof="0" dirty="0"/>
              <a:t>’</a:t>
            </a:r>
          </a:p>
          <a:p>
            <a:pPr eaLnBrk="1" hangingPunct="1"/>
            <a:r>
              <a:rPr lang="vi-VN" sz="2000" noProof="0" dirty="0"/>
              <a:t>Contradiction!</a:t>
            </a:r>
          </a:p>
          <a:p>
            <a:pPr eaLnBrk="1" hangingPunct="1"/>
            <a:endParaRPr lang="vi-VN" sz="2000" noProof="0" dirty="0"/>
          </a:p>
        </p:txBody>
      </p:sp>
      <p:sp>
        <p:nvSpPr>
          <p:cNvPr id="35845" name="Freeform 12"/>
          <p:cNvSpPr>
            <a:spLocks/>
          </p:cNvSpPr>
          <p:nvPr/>
        </p:nvSpPr>
        <p:spPr bwMode="auto">
          <a:xfrm>
            <a:off x="6794500" y="1670051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8" tIns="45719" rIns="91438" bIns="45719"/>
          <a:lstStyle/>
          <a:p>
            <a:endParaRPr lang="en-US"/>
          </a:p>
        </p:txBody>
      </p:sp>
      <p:sp>
        <p:nvSpPr>
          <p:cNvPr id="35846" name="Oval 16"/>
          <p:cNvSpPr>
            <a:spLocks noChangeArrowheads="1"/>
          </p:cNvSpPr>
          <p:nvPr/>
        </p:nvSpPr>
        <p:spPr bwMode="auto">
          <a:xfrm>
            <a:off x="9399589" y="3713164"/>
            <a:ext cx="179387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35847" name="Oval 17"/>
          <p:cNvSpPr>
            <a:spLocks noChangeArrowheads="1"/>
          </p:cNvSpPr>
          <p:nvPr/>
        </p:nvSpPr>
        <p:spPr bwMode="auto">
          <a:xfrm>
            <a:off x="7113589" y="3408364"/>
            <a:ext cx="179387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35848" name="Oval 21"/>
          <p:cNvSpPr>
            <a:spLocks noChangeArrowheads="1"/>
          </p:cNvSpPr>
          <p:nvPr/>
        </p:nvSpPr>
        <p:spPr bwMode="auto">
          <a:xfrm>
            <a:off x="8148638" y="1600201"/>
            <a:ext cx="179387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sp>
        <p:nvSpPr>
          <p:cNvPr id="19470" name="Oval 27"/>
          <p:cNvSpPr>
            <a:spLocks noChangeArrowheads="1"/>
          </p:cNvSpPr>
          <p:nvPr/>
        </p:nvSpPr>
        <p:spPr bwMode="auto">
          <a:xfrm>
            <a:off x="7669213" y="2438401"/>
            <a:ext cx="179387" cy="1793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endParaRPr lang="en-US"/>
          </a:p>
        </p:txBody>
      </p:sp>
      <p:pic>
        <p:nvPicPr>
          <p:cNvPr id="19471" name="Picture 2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391400" y="2362200"/>
            <a:ext cx="192088" cy="160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51" name="Picture 3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9744077" y="3636963"/>
            <a:ext cx="257175" cy="24130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pic>
        <p:nvPicPr>
          <p:cNvPr id="35852" name="Picture 38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629401" y="3363913"/>
            <a:ext cx="385763" cy="273051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8256588" y="2493963"/>
            <a:ext cx="441325" cy="533400"/>
            <a:chOff x="7189787" y="2493962"/>
            <a:chExt cx="440532" cy="533400"/>
          </a:xfrm>
        </p:grpSpPr>
        <p:sp>
          <p:nvSpPr>
            <p:cNvPr id="35857" name="Oval 27"/>
            <p:cNvSpPr>
              <a:spLocks noChangeArrowheads="1"/>
            </p:cNvSpPr>
            <p:nvPr/>
          </p:nvSpPr>
          <p:spPr bwMode="auto">
            <a:xfrm>
              <a:off x="7189787" y="2847974"/>
              <a:ext cx="179388" cy="1793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5858" name="Picture 24" descr="txp_fi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342187" y="2493962"/>
              <a:ext cx="288132" cy="3044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7620000" y="1905000"/>
            <a:ext cx="476251" cy="300039"/>
            <a:chOff x="6553200" y="1905000"/>
            <a:chExt cx="476250" cy="300037"/>
          </a:xfrm>
        </p:grpSpPr>
        <p:sp>
          <p:nvSpPr>
            <p:cNvPr id="35855" name="Oval 13"/>
            <p:cNvSpPr>
              <a:spLocks noChangeArrowheads="1"/>
            </p:cNvSpPr>
            <p:nvPr/>
          </p:nvSpPr>
          <p:spPr bwMode="auto">
            <a:xfrm>
              <a:off x="6850062" y="2025650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5856" name="Picture 26" descr="txp_fi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553200" y="1905000"/>
              <a:ext cx="192087" cy="2237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  <p:tag name="FIRSTDAN@SGFAKZNFUVWXY5M7" val="3532"/>
  <p:tag name="DEFAULTDISPLAYSOURCE" val="\documentclass{article}\pagestyle{empty}&#10;\begin{document}&#10;&#10;\end{document}&#10;"/>
  <p:tag name="EMBEDFO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begin{document}&#10;\[&#10;\textcolor{BrickRed}{0 \le h(n) \le h^*(n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63"/>
  <p:tag name="PICTUREFILESIZE" val="131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rickRed}{h^*(n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51"/>
  <p:tag name="PICTUREFILESIZE" val="59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101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A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87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f(n) = g(n) + h(n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9"/>
  <p:tag name="PICTUREFILESIZE" val="94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f(n) \le g(A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7"/>
  <p:tag name="PICTUREFILESIZE" val="674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101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(A) = f(A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22"/>
  <p:tag name="PICTUREFILESIZE" val="62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A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87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f(A) &lt; f(B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21"/>
  <p:tag name="PICTUREFILESIZE" val="677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(A) &lt; g(B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20"/>
  <p:tag name="PICTUREFILESIZE" val="645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101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A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87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begin{document}&#10;\[&#10;\textcolor{BrickRed}{f(n) \le f(A) &lt; f(B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95"/>
  <p:tag name="PICTUREFILESIZE" val="1466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101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A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"/>
  <p:tag name="PICTUREFILESIZE" val="87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red}{h(n) = max(h_a(n), h_b(n)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249"/>
  <p:tag name="PICTUREFILESIZE" val="201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red}{\forall n : h_a(n) \ge h_c(n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176"/>
  <p:tag name="PICTUREFILESIZE" val="1407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exact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49"/>
  <p:tag name="PICTUREFILESIZE" val="49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zero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41"/>
  <p:tag name="PICTUREFILESIZE" val="389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h_a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20"/>
  <p:tag name="PICTUREFILESIZE" val="289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h_b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19"/>
  <p:tag name="PICTUREFILESIZE" val="297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h_c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20"/>
  <p:tag name="PICTUREFILESIZE" val="272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max(h_a, h_b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111"/>
  <p:tag name="PICTUREFILESIZE" val="1104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MAGNIFICATION" val="1262"/>
  <p:tag name="ORIGWIDTH" val="16"/>
  <p:tag name="PICTUREFILESIZE" val="114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^*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MAGNIFICATION" val="1266"/>
  <p:tag name="ORIGWIDTH" val="24"/>
  <p:tag name="PICTUREFILESIZE" val="162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2"/>
  <p:tag name="PICTUREFILESIZE" val="90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n'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8"/>
  <p:tag name="PICTUREFILESIZE" val="118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MAGNIFICATION" val="1262"/>
  <p:tag name="ORIGWIDTH" val="16"/>
  <p:tag name="PICTUREFILESIZE" val="114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G^*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MAGNIFICATION" val="1266"/>
  <p:tag name="ORIGWIDTH" val="24"/>
  <p:tag name="PICTUREFILESIZE" val="162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2"/>
  <p:tag name="PICTUREFILESIZE" val="90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n'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8"/>
  <p:tag name="PICTUREFILESIZE" val="1182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lIns="91438" tIns="45719" rIns="91438" bIns="45719">
        <a:spAutoFit/>
      </a:bodyPr>
      <a:lstStyle>
        <a:defPPr>
          <a:defRPr>
            <a:solidFill>
              <a:schemeClr val="bg2"/>
            </a:solidFill>
            <a:latin typeface="Calibri"/>
            <a:cs typeface="Calibri"/>
          </a:defRPr>
        </a:defPPr>
      </a:lstStyle>
    </a:txDef>
  </a:objectDefaults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1 -- introduction</Template>
  <TotalTime>39722</TotalTime>
  <Words>4073</Words>
  <Application>Microsoft Macintosh PowerPoint</Application>
  <PresentationFormat>Widescreen</PresentationFormat>
  <Paragraphs>664</Paragraphs>
  <Slides>78</Slides>
  <Notes>15</Notes>
  <HiddenSlides>8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Calibri</vt:lpstr>
      <vt:lpstr>Times New Roman</vt:lpstr>
      <vt:lpstr>Wingdings</vt:lpstr>
      <vt:lpstr>dan-berkeley-nlp-v1</vt:lpstr>
      <vt:lpstr>Announcements</vt:lpstr>
      <vt:lpstr>AI in the news …</vt:lpstr>
      <vt:lpstr>AI in the news …</vt:lpstr>
      <vt:lpstr>PowerPoint Presentation</vt:lpstr>
      <vt:lpstr>INT3401: Trí tuệ nhân tạo </vt:lpstr>
      <vt:lpstr>Nội dung</vt:lpstr>
      <vt:lpstr>Nhắc lại: Tìm kiếm</vt:lpstr>
      <vt:lpstr>Nhắc lại: Tìm kiếm</vt:lpstr>
      <vt:lpstr>Ví dụ: Lật chồng bánh pancake</vt:lpstr>
      <vt:lpstr>Ví dụ: Lật chồng bánh pancake</vt:lpstr>
      <vt:lpstr>Ví dụ: Lật chồng bánh pancake</vt:lpstr>
      <vt:lpstr>Thuật toán tìm kiếm tổng quát</vt:lpstr>
      <vt:lpstr>Chỉ cần một cách cài đặt</vt:lpstr>
      <vt:lpstr>Tìm kiếm mù</vt:lpstr>
      <vt:lpstr>Tìm kiếm chi phí đều (UCS)</vt:lpstr>
      <vt:lpstr>Ví dụ: đường đồng mức UCS trong Empty</vt:lpstr>
      <vt:lpstr>Ví dụ: đường đồng mức UCS trong Pacman Small Maze</vt:lpstr>
      <vt:lpstr>Tìm kiếm dựa trên kinh nghiệm</vt:lpstr>
      <vt:lpstr>Hàm kinh nghiệm</vt:lpstr>
      <vt:lpstr>Ví dụ: Hàm kinh nghiệm</vt:lpstr>
      <vt:lpstr>Ví dụ: Hàm kinh nghiệm</vt:lpstr>
      <vt:lpstr>Tìm kiếm ăn tham (Greedy)</vt:lpstr>
      <vt:lpstr>Ví dụ: Hàm kinh nghiệm</vt:lpstr>
      <vt:lpstr>Tìm kiếm ăn tham</vt:lpstr>
      <vt:lpstr>Greedy Search</vt:lpstr>
      <vt:lpstr>Ví dụ: đường đồng mức của Greedy trong Empty</vt:lpstr>
      <vt:lpstr>Ví dụ: đường đồng mức của Greedy trong  Pacman Small Maze</vt:lpstr>
      <vt:lpstr>Thuật toán Tìm kiếm A*</vt:lpstr>
      <vt:lpstr>Thuật toán Tìm kiếm A*</vt:lpstr>
      <vt:lpstr>A* = UCS + Greedy</vt:lpstr>
      <vt:lpstr>Khi nào A* nên kết thúc ?</vt:lpstr>
      <vt:lpstr>A* có tối ưu ?</vt:lpstr>
      <vt:lpstr>Hàm kinh nghiệm chấp nhận được</vt:lpstr>
      <vt:lpstr>Ý tưởng: Tính chấp nhận được</vt:lpstr>
      <vt:lpstr>Hàm kinh nghiệm chấp nhận được</vt:lpstr>
      <vt:lpstr>Tính tối ưu của A* trên cây tìm kiếm</vt:lpstr>
      <vt:lpstr>Tính tối ưu của A* trên cây tìm kiếm</vt:lpstr>
      <vt:lpstr>Tính tối ưu của A* trên cây tìm kiếm</vt:lpstr>
      <vt:lpstr>Tính tối ưu của A* trên cây tìm kiếm</vt:lpstr>
      <vt:lpstr>Tính tối ưu của A* trên cây tìm kiếm</vt:lpstr>
      <vt:lpstr>Tính chất của A*</vt:lpstr>
      <vt:lpstr>Tính chất của A*</vt:lpstr>
      <vt:lpstr>Đường đồng mức của UCS và A*</vt:lpstr>
      <vt:lpstr>Ví dụ: Đường đồng mức của UCS (Empty)</vt:lpstr>
      <vt:lpstr>Ví dụ: Đường đồng mức của Greedy (Empty)</vt:lpstr>
      <vt:lpstr>Ví dụ: Đường đồng mức của A* (Empty)</vt:lpstr>
      <vt:lpstr>Ví dụ: Đường đồng mức của A* (Pacman Small Maze)</vt:lpstr>
      <vt:lpstr>So sánh</vt:lpstr>
      <vt:lpstr>Ứng dụng của A*</vt:lpstr>
      <vt:lpstr>Ứng dụng của A*</vt:lpstr>
      <vt:lpstr>Ví dụ: UCS / A* (Tiny Maze)</vt:lpstr>
      <vt:lpstr>Ví dụ: Empty Water Shallow/Deep – Đoán thuật toán ?</vt:lpstr>
      <vt:lpstr>Xây dựng hàm kinh nghiệm</vt:lpstr>
      <vt:lpstr>Xây dựng hàm kinh nghiệm chấp nhận được</vt:lpstr>
      <vt:lpstr>Ví dụ: Trò đẩy chữ</vt:lpstr>
      <vt:lpstr>Trò đẩy chữ I</vt:lpstr>
      <vt:lpstr>Trò đẩy chữ II</vt:lpstr>
      <vt:lpstr>Trò đẩy chữ III</vt:lpstr>
      <vt:lpstr>Semi-Lattice of Heuristics</vt:lpstr>
      <vt:lpstr>Trivial Heuristics, Dominance</vt:lpstr>
      <vt:lpstr>Tìm kiếm trên đồ thị</vt:lpstr>
      <vt:lpstr>Tìm kiếm trên cây: Cấu trúc lặp lại !</vt:lpstr>
      <vt:lpstr>Tìm kiếm trên đồ thị</vt:lpstr>
      <vt:lpstr>Tìm kiếm trên đồ thị</vt:lpstr>
      <vt:lpstr>Trường hợp Tìm kiếm trên đồ thị sai</vt:lpstr>
      <vt:lpstr>Hàm kinh nghiệm nhất quán</vt:lpstr>
      <vt:lpstr>Tính tối ưu của A* trên đồ thị</vt:lpstr>
      <vt:lpstr>Tính tối ưu của A* trên cây tìm kiếm sử dụng hàm kinh nghiệm nhất quán</vt:lpstr>
      <vt:lpstr>Tính tối ưu của A* trên đồ thị</vt:lpstr>
      <vt:lpstr>Tính tối ưu của A* trên đồ thị</vt:lpstr>
      <vt:lpstr>Tính tối ưu của A* trên đồ thị</vt:lpstr>
      <vt:lpstr>Tối ưu</vt:lpstr>
      <vt:lpstr>Tổng kết: A*</vt:lpstr>
      <vt:lpstr>Tổng kết: A*</vt:lpstr>
      <vt:lpstr>Mã giả: Tìm kiếm trên cây</vt:lpstr>
      <vt:lpstr>Mã giả: Tìm kiếm trên đồ thị</vt:lpstr>
      <vt:lpstr>Optimality of A* Graph Search</vt:lpstr>
      <vt:lpstr>Optimality of A* Graph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Long Tran</cp:lastModifiedBy>
  <cp:revision>2262</cp:revision>
  <cp:lastPrinted>2014-01-28T19:38:34Z</cp:lastPrinted>
  <dcterms:created xsi:type="dcterms:W3CDTF">2004-08-27T04:16:05Z</dcterms:created>
  <dcterms:modified xsi:type="dcterms:W3CDTF">2023-02-08T09:09:38Z</dcterms:modified>
</cp:coreProperties>
</file>