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4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6.xml" ContentType="application/vnd.openxmlformats-officedocument.presentationml.notesSlide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7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notesSlides/notesSlide8.xml" ContentType="application/vnd.openxmlformats-officedocument.presentationml.notesSlide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notesSlides/notesSlide9.xml" ContentType="application/vnd.openxmlformats-officedocument.presentationml.notesSlide+xml"/>
  <Override PartName="/ppt/tags/tag29.xml" ContentType="application/vnd.openxmlformats-officedocument.presentationml.tags+xml"/>
  <Override PartName="/ppt/notesSlides/notesSlide10.xml" ContentType="application/vnd.openxmlformats-officedocument.presentationml.notesSlide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notesSlides/notesSlide11.xml" ContentType="application/vnd.openxmlformats-officedocument.presentationml.notesSlide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notesSlides/notesSlide12.xml" ContentType="application/vnd.openxmlformats-officedocument.presentationml.notesSlide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notesSlides/notesSlide13.xml" ContentType="application/vnd.openxmlformats-officedocument.presentationml.notesSlide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notesSlides/notesSlide14.xml" ContentType="application/vnd.openxmlformats-officedocument.presentationml.notesSlide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notesSlides/notesSlide15.xml" ContentType="application/vnd.openxmlformats-officedocument.presentationml.notesSlide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notesSlides/notesSlide16.xml" ContentType="application/vnd.openxmlformats-officedocument.presentationml.notesSlide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notesSlides/notesSlide17.xml" ContentType="application/vnd.openxmlformats-officedocument.presentationml.notesSlide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notesSlides/notesSlide18.xml" ContentType="application/vnd.openxmlformats-officedocument.presentationml.notesSlide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notesSlides/notesSlide19.xml" ContentType="application/vnd.openxmlformats-officedocument.presentationml.notesSlide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notesSlides/notesSlide20.xml" ContentType="application/vnd.openxmlformats-officedocument.presentationml.notesSlide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notesSlides/notesSlide21.xml" ContentType="application/vnd.openxmlformats-officedocument.presentationml.notesSlide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notesSlides/notesSlide22.xml" ContentType="application/vnd.openxmlformats-officedocument.presentationml.notesSlide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notesSlides/notesSlide23.xml" ContentType="application/vnd.openxmlformats-officedocument.presentationml.notesSlide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notesSlides/notesSlide24.xml" ContentType="application/vnd.openxmlformats-officedocument.presentationml.notesSlide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notesSlides/notesSlide25.xml" ContentType="application/vnd.openxmlformats-officedocument.presentationml.notesSlide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notesSlides/notesSlide26.xml" ContentType="application/vnd.openxmlformats-officedocument.presentationml.notesSlide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notesSlides/notesSlide27.xml" ContentType="application/vnd.openxmlformats-officedocument.presentationml.notesSlide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notesSlides/notesSlide28.xml" ContentType="application/vnd.openxmlformats-officedocument.presentationml.notesSlide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notesSlides/notesSlide29.xml" ContentType="application/vnd.openxmlformats-officedocument.presentationml.notesSlide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notesSlides/notesSlide30.xml" ContentType="application/vnd.openxmlformats-officedocument.presentationml.notesSlide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notesSlides/notesSlide31.xml" ContentType="application/vnd.openxmlformats-officedocument.presentationml.notesSlide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notesSlides/notesSlide32.xml" ContentType="application/vnd.openxmlformats-officedocument.presentationml.notesSlide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notesSlides/notesSlide33.xml" ContentType="application/vnd.openxmlformats-officedocument.presentationml.notesSlide+xml"/>
  <Override PartName="/ppt/tags/tag115.xml" ContentType="application/vnd.openxmlformats-officedocument.presentationml.tags+xml"/>
  <Override PartName="/ppt/notesSlides/notesSlide34.xml" ContentType="application/vnd.openxmlformats-officedocument.presentationml.notesSlide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notesSlides/notesSlide35.xml" ContentType="application/vnd.openxmlformats-officedocument.presentationml.notesSlide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notesSlides/notesSlide36.xml" ContentType="application/vnd.openxmlformats-officedocument.presentationml.notesSlide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notesSlides/notesSlide37.xml" ContentType="application/vnd.openxmlformats-officedocument.presentationml.notesSlide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notesSlides/notesSlide38.xml" ContentType="application/vnd.openxmlformats-officedocument.presentationml.notesSlide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notesSlides/notesSlide39.xml" ContentType="application/vnd.openxmlformats-officedocument.presentationml.notesSlide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notesSlides/notesSlide40.xml" ContentType="application/vnd.openxmlformats-officedocument.presentationml.notesSlide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notesSlides/notesSlide41.xml" ContentType="application/vnd.openxmlformats-officedocument.presentationml.notesSlide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notesSlides/notesSlide42.xml" ContentType="application/vnd.openxmlformats-officedocument.presentationml.notesSlide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notesSlides/notesSlide43.xml" ContentType="application/vnd.openxmlformats-officedocument.presentationml.notesSlide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notesSlides/notesSlide44.xml" ContentType="application/vnd.openxmlformats-officedocument.presentationml.notesSlide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notesSlides/notesSlide45.xml" ContentType="application/vnd.openxmlformats-officedocument.presentationml.notesSlide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notesSlides/notesSlide46.xml" ContentType="application/vnd.openxmlformats-officedocument.presentationml.notesSlide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notesSlides/notesSlide47.xml" ContentType="application/vnd.openxmlformats-officedocument.presentationml.notesSlide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notesSlides/notesSlide48.xml" ContentType="application/vnd.openxmlformats-officedocument.presentationml.notesSlide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notesSlides/notesSlide49.xml" ContentType="application/vnd.openxmlformats-officedocument.presentationml.notesSlide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notesSlides/notesSlide50.xml" ContentType="application/vnd.openxmlformats-officedocument.presentationml.notesSlide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notesSlides/notesSlide51.xml" ContentType="application/vnd.openxmlformats-officedocument.presentationml.notesSlide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notesSlides/notesSlide52.xml" ContentType="application/vnd.openxmlformats-officedocument.presentationml.notesSlide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notesSlides/notesSlide53.xml" ContentType="application/vnd.openxmlformats-officedocument.presentationml.notesSlide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notesSlides/notesSlide54.xml" ContentType="application/vnd.openxmlformats-officedocument.presentationml.notesSlide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notesSlides/notesSlide55.xml" ContentType="application/vnd.openxmlformats-officedocument.presentationml.notesSlide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notesSlides/notesSlide56.xml" ContentType="application/vnd.openxmlformats-officedocument.presentationml.notesSlide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notesSlides/notesSlide57.xml" ContentType="application/vnd.openxmlformats-officedocument.presentationml.notesSlide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notesSlides/notesSlide58.xml" ContentType="application/vnd.openxmlformats-officedocument.presentationml.notesSlide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notesSlides/notesSlide59.xml" ContentType="application/vnd.openxmlformats-officedocument.presentationml.notesSlide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notesSlides/notesSlide60.xml" ContentType="application/vnd.openxmlformats-officedocument.presentationml.notesSlide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4"/>
  </p:notesMasterIdLst>
  <p:handoutMasterIdLst>
    <p:handoutMasterId r:id="rId65"/>
  </p:handoutMasterIdLst>
  <p:sldIdLst>
    <p:sldId id="256" r:id="rId2"/>
    <p:sldId id="361" r:id="rId3"/>
    <p:sldId id="363" r:id="rId4"/>
    <p:sldId id="364" r:id="rId5"/>
    <p:sldId id="419" r:id="rId6"/>
    <p:sldId id="365" r:id="rId7"/>
    <p:sldId id="366" r:id="rId8"/>
    <p:sldId id="414" r:id="rId9"/>
    <p:sldId id="367" r:id="rId10"/>
    <p:sldId id="368" r:id="rId11"/>
    <p:sldId id="369" r:id="rId12"/>
    <p:sldId id="370" r:id="rId13"/>
    <p:sldId id="371" r:id="rId14"/>
    <p:sldId id="372" r:id="rId15"/>
    <p:sldId id="373" r:id="rId16"/>
    <p:sldId id="374" r:id="rId17"/>
    <p:sldId id="375" r:id="rId18"/>
    <p:sldId id="376" r:id="rId19"/>
    <p:sldId id="377" r:id="rId20"/>
    <p:sldId id="378" r:id="rId21"/>
    <p:sldId id="379" r:id="rId22"/>
    <p:sldId id="380" r:id="rId23"/>
    <p:sldId id="381" r:id="rId24"/>
    <p:sldId id="415" r:id="rId25"/>
    <p:sldId id="416" r:id="rId26"/>
    <p:sldId id="417" r:id="rId27"/>
    <p:sldId id="418" r:id="rId28"/>
    <p:sldId id="382" r:id="rId29"/>
    <p:sldId id="383" r:id="rId30"/>
    <p:sldId id="384" r:id="rId31"/>
    <p:sldId id="385" r:id="rId32"/>
    <p:sldId id="386" r:id="rId33"/>
    <p:sldId id="387" r:id="rId34"/>
    <p:sldId id="388" r:id="rId35"/>
    <p:sldId id="420" r:id="rId36"/>
    <p:sldId id="389" r:id="rId37"/>
    <p:sldId id="390" r:id="rId38"/>
    <p:sldId id="391" r:id="rId39"/>
    <p:sldId id="392" r:id="rId40"/>
    <p:sldId id="393" r:id="rId41"/>
    <p:sldId id="394" r:id="rId42"/>
    <p:sldId id="395" r:id="rId43"/>
    <p:sldId id="396" r:id="rId44"/>
    <p:sldId id="397" r:id="rId45"/>
    <p:sldId id="398" r:id="rId46"/>
    <p:sldId id="421" r:id="rId47"/>
    <p:sldId id="422" r:id="rId48"/>
    <p:sldId id="423" r:id="rId49"/>
    <p:sldId id="399" r:id="rId50"/>
    <p:sldId id="400" r:id="rId51"/>
    <p:sldId id="401" r:id="rId52"/>
    <p:sldId id="413" r:id="rId53"/>
    <p:sldId id="403" r:id="rId54"/>
    <p:sldId id="404" r:id="rId55"/>
    <p:sldId id="405" r:id="rId56"/>
    <p:sldId id="406" r:id="rId57"/>
    <p:sldId id="407" r:id="rId58"/>
    <p:sldId id="408" r:id="rId59"/>
    <p:sldId id="409" r:id="rId60"/>
    <p:sldId id="410" r:id="rId61"/>
    <p:sldId id="411" r:id="rId62"/>
    <p:sldId id="412" r:id="rId63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A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52" autoAdjust="0"/>
    <p:restoredTop sz="93609" autoAdjust="0"/>
  </p:normalViewPr>
  <p:slideViewPr>
    <p:cSldViewPr>
      <p:cViewPr varScale="1">
        <p:scale>
          <a:sx n="75" d="100"/>
          <a:sy n="75" d="100"/>
        </p:scale>
        <p:origin x="1550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EC5A17D-DB2B-2C43-8271-6517CDA746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718A50-2201-4946-B091-5E1BBE3CFD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79D993-C142-8D4E-8645-A25E2E5FAD9E}" type="datetimeFigureOut">
              <a:rPr lang="en-US" smtClean="0"/>
              <a:t>10/21/2022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3AF0EC-0B33-FB48-97A1-CDEA33B91B2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D8773E-24C6-D74E-B71A-91078A758DE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7FE537-9E21-5E49-9353-E767FCA429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053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BD5E47-F045-4C01-A154-66E3997AD169}" type="datetimeFigureOut">
              <a:rPr lang="en-US" smtClean="0"/>
              <a:t>10/21/2022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3EC52C-64D1-4EF5-AC14-14AF6A3FC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810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81AAD16-29C4-4B0D-9509-B54CCCEEDE43}" type="slidenum">
              <a:rPr lang="en-US"/>
              <a:pPr/>
              <a:t>2</a:t>
            </a:fld>
            <a:endParaRPr lang="en-US"/>
          </a:p>
        </p:txBody>
      </p:sp>
      <p:sp>
        <p:nvSpPr>
          <p:cNvPr id="9625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5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8C698C1-AA24-4069-A84B-28DB67054A50}" type="slidenum">
              <a:rPr lang="en-US"/>
              <a:pPr/>
              <a:t>3</a:t>
            </a:fld>
            <a:endParaRPr lang="en-US"/>
          </a:p>
        </p:txBody>
      </p:sp>
      <p:sp>
        <p:nvSpPr>
          <p:cNvPr id="9195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19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C6430A-35D5-42FF-B152-2B38F4D2F3B0}" type="slidenum">
              <a:rPr lang="en-US"/>
              <a:pPr/>
              <a:t>4</a:t>
            </a:fld>
            <a:endParaRPr lang="en-US"/>
          </a:p>
        </p:txBody>
      </p:sp>
      <p:sp>
        <p:nvSpPr>
          <p:cNvPr id="92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C6430A-35D5-42FF-B152-2B38F4D2F3B0}" type="slidenum">
              <a:rPr lang="en-US"/>
              <a:pPr/>
              <a:t>5</a:t>
            </a:fld>
            <a:endParaRPr lang="en-US"/>
          </a:p>
        </p:txBody>
      </p:sp>
      <p:sp>
        <p:nvSpPr>
          <p:cNvPr id="92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8617B21-DE23-49F8-9F81-B49F5D0F4A4E}" type="slidenum">
              <a:rPr lang="en-US"/>
              <a:pPr/>
              <a:t>6</a:t>
            </a:fld>
            <a:endParaRPr lang="en-US"/>
          </a:p>
        </p:txBody>
      </p:sp>
      <p:sp>
        <p:nvSpPr>
          <p:cNvPr id="9216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16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71A5630-84D0-4BFD-9099-7C0B5668D29A}" type="slidenum">
              <a:rPr lang="en-US"/>
              <a:pPr/>
              <a:t>7</a:t>
            </a:fld>
            <a:endParaRPr lang="en-US"/>
          </a:p>
        </p:txBody>
      </p:sp>
      <p:sp>
        <p:nvSpPr>
          <p:cNvPr id="9226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6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71A5630-84D0-4BFD-9099-7C0B5668D29A}" type="slidenum">
              <a:rPr lang="en-US"/>
              <a:pPr/>
              <a:t>8</a:t>
            </a:fld>
            <a:endParaRPr lang="en-US"/>
          </a:p>
        </p:txBody>
      </p:sp>
      <p:sp>
        <p:nvSpPr>
          <p:cNvPr id="9226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6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F81DA1A-5CFF-4F10-8FD1-81BACB967AD4}" type="slidenum">
              <a:rPr lang="en-US"/>
              <a:pPr/>
              <a:t>9</a:t>
            </a:fld>
            <a:endParaRPr lang="en-US"/>
          </a:p>
        </p:txBody>
      </p:sp>
      <p:sp>
        <p:nvSpPr>
          <p:cNvPr id="9236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36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A47676E-B0BB-46AB-8E1E-3F0297F87583}" type="slidenum">
              <a:rPr lang="en-US"/>
              <a:pPr/>
              <a:t>10</a:t>
            </a:fld>
            <a:endParaRPr lang="en-US"/>
          </a:p>
        </p:txBody>
      </p:sp>
      <p:sp>
        <p:nvSpPr>
          <p:cNvPr id="924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4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CF87D5F-7FE5-45E5-A8FB-6808BE355092}" type="slidenum">
              <a:rPr lang="en-US"/>
              <a:pPr/>
              <a:t>11</a:t>
            </a:fld>
            <a:endParaRPr lang="en-US"/>
          </a:p>
        </p:txBody>
      </p:sp>
      <p:sp>
        <p:nvSpPr>
          <p:cNvPr id="9256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56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E0A7091-273C-4757-B866-F1179922AF90}" type="slidenum">
              <a:rPr lang="en-US"/>
              <a:pPr/>
              <a:t>12</a:t>
            </a:fld>
            <a:endParaRPr lang="en-US"/>
          </a:p>
        </p:txBody>
      </p:sp>
      <p:sp>
        <p:nvSpPr>
          <p:cNvPr id="926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67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BB31FBF-D890-4227-94EA-B4D8E419F03F}" type="slidenum">
              <a:rPr lang="en-US"/>
              <a:pPr/>
              <a:t>13</a:t>
            </a:fld>
            <a:endParaRPr lang="en-US"/>
          </a:p>
        </p:txBody>
      </p:sp>
      <p:sp>
        <p:nvSpPr>
          <p:cNvPr id="9277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77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B9EDE69-5253-42DB-B9B4-79D543DC169D}" type="slidenum">
              <a:rPr lang="en-US"/>
              <a:pPr/>
              <a:t>14</a:t>
            </a:fld>
            <a:endParaRPr lang="en-US"/>
          </a:p>
        </p:txBody>
      </p:sp>
      <p:sp>
        <p:nvSpPr>
          <p:cNvPr id="928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8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D01DDD4-F300-491D-8CA3-50B27CA72482}" type="slidenum">
              <a:rPr lang="en-US"/>
              <a:pPr/>
              <a:t>15</a:t>
            </a:fld>
            <a:endParaRPr lang="en-US"/>
          </a:p>
        </p:txBody>
      </p:sp>
      <p:sp>
        <p:nvSpPr>
          <p:cNvPr id="929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9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8FAF869-D8B4-4E79-879D-680B6DFAF6DC}" type="slidenum">
              <a:rPr lang="en-US"/>
              <a:pPr/>
              <a:t>16</a:t>
            </a:fld>
            <a:endParaRPr lang="en-US"/>
          </a:p>
        </p:txBody>
      </p:sp>
      <p:sp>
        <p:nvSpPr>
          <p:cNvPr id="930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08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0945B4F-6643-421D-A46C-C4ACF20FC24A}" type="slidenum">
              <a:rPr lang="en-US"/>
              <a:pPr/>
              <a:t>17</a:t>
            </a:fld>
            <a:endParaRPr lang="en-US"/>
          </a:p>
        </p:txBody>
      </p:sp>
      <p:sp>
        <p:nvSpPr>
          <p:cNvPr id="931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7E42354-CBC9-4772-AEDB-7FC95D5B9ADE}" type="slidenum">
              <a:rPr lang="en-US"/>
              <a:pPr/>
              <a:t>18</a:t>
            </a:fld>
            <a:endParaRPr lang="en-US"/>
          </a:p>
        </p:txBody>
      </p:sp>
      <p:sp>
        <p:nvSpPr>
          <p:cNvPr id="932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28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68547C0-C3CD-4BAB-991D-80CB59DF265B}" type="slidenum">
              <a:rPr lang="en-US"/>
              <a:pPr/>
              <a:t>19</a:t>
            </a:fld>
            <a:endParaRPr lang="en-US"/>
          </a:p>
        </p:txBody>
      </p:sp>
      <p:sp>
        <p:nvSpPr>
          <p:cNvPr id="9338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3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D1CD624-DFAA-424B-A44F-0FA33AA0FFA8}" type="slidenum">
              <a:rPr lang="en-US"/>
              <a:pPr/>
              <a:t>20</a:t>
            </a:fld>
            <a:endParaRPr lang="en-US"/>
          </a:p>
        </p:txBody>
      </p:sp>
      <p:sp>
        <p:nvSpPr>
          <p:cNvPr id="934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4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318EFA4-336A-4508-B907-322DAF99DE65}" type="slidenum">
              <a:rPr lang="en-US"/>
              <a:pPr/>
              <a:t>21</a:t>
            </a:fld>
            <a:endParaRPr lang="en-US"/>
          </a:p>
        </p:txBody>
      </p:sp>
      <p:sp>
        <p:nvSpPr>
          <p:cNvPr id="9359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59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7DB15BA-A5AF-4666-A137-2A7BEE79A6FB}" type="slidenum">
              <a:rPr lang="en-US"/>
              <a:pPr/>
              <a:t>22</a:t>
            </a:fld>
            <a:endParaRPr lang="en-US"/>
          </a:p>
        </p:txBody>
      </p:sp>
      <p:sp>
        <p:nvSpPr>
          <p:cNvPr id="936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69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0804D40-61B8-477E-AD67-F4EC390E63F1}" type="slidenum">
              <a:rPr lang="en-US"/>
              <a:pPr/>
              <a:t>23</a:t>
            </a:fld>
            <a:endParaRPr lang="en-US"/>
          </a:p>
        </p:txBody>
      </p:sp>
      <p:sp>
        <p:nvSpPr>
          <p:cNvPr id="937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7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0804D40-61B8-477E-AD67-F4EC390E63F1}" type="slidenum">
              <a:rPr lang="en-US"/>
              <a:pPr/>
              <a:t>24</a:t>
            </a:fld>
            <a:endParaRPr lang="en-US"/>
          </a:p>
        </p:txBody>
      </p:sp>
      <p:sp>
        <p:nvSpPr>
          <p:cNvPr id="937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7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0804D40-61B8-477E-AD67-F4EC390E63F1}" type="slidenum">
              <a:rPr lang="en-US"/>
              <a:pPr/>
              <a:t>25</a:t>
            </a:fld>
            <a:endParaRPr lang="en-US"/>
          </a:p>
        </p:txBody>
      </p:sp>
      <p:sp>
        <p:nvSpPr>
          <p:cNvPr id="937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7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0804D40-61B8-477E-AD67-F4EC390E63F1}" type="slidenum">
              <a:rPr lang="en-US"/>
              <a:pPr/>
              <a:t>26</a:t>
            </a:fld>
            <a:endParaRPr lang="en-US"/>
          </a:p>
        </p:txBody>
      </p:sp>
      <p:sp>
        <p:nvSpPr>
          <p:cNvPr id="937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7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0804D40-61B8-477E-AD67-F4EC390E63F1}" type="slidenum">
              <a:rPr lang="en-US"/>
              <a:pPr/>
              <a:t>27</a:t>
            </a:fld>
            <a:endParaRPr lang="en-US"/>
          </a:p>
        </p:txBody>
      </p:sp>
      <p:sp>
        <p:nvSpPr>
          <p:cNvPr id="937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7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4965AA2-43F8-419C-ACF8-30CBBDD5BED0}" type="slidenum">
              <a:rPr lang="en-US"/>
              <a:pPr/>
              <a:t>28</a:t>
            </a:fld>
            <a:endParaRPr lang="en-US"/>
          </a:p>
        </p:txBody>
      </p:sp>
      <p:sp>
        <p:nvSpPr>
          <p:cNvPr id="939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90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B20B0DC-77DF-415F-9F94-F6F4156B4EA3}" type="slidenum">
              <a:rPr lang="en-US"/>
              <a:pPr/>
              <a:t>29</a:t>
            </a:fld>
            <a:endParaRPr lang="en-US"/>
          </a:p>
        </p:txBody>
      </p:sp>
      <p:sp>
        <p:nvSpPr>
          <p:cNvPr id="94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08E2DCB-4571-46A1-956F-95662E1595FE}" type="slidenum">
              <a:rPr lang="en-US"/>
              <a:pPr/>
              <a:t>30</a:t>
            </a:fld>
            <a:endParaRPr lang="en-US"/>
          </a:p>
        </p:txBody>
      </p:sp>
      <p:sp>
        <p:nvSpPr>
          <p:cNvPr id="941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1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11CCFAA-1860-41F7-A390-23FA2CED6278}" type="slidenum">
              <a:rPr lang="en-US"/>
              <a:pPr/>
              <a:t>31</a:t>
            </a:fld>
            <a:endParaRPr lang="en-US"/>
          </a:p>
        </p:txBody>
      </p:sp>
      <p:sp>
        <p:nvSpPr>
          <p:cNvPr id="942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2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9059647-4F11-467F-A331-45397E999E40}" type="slidenum">
              <a:rPr lang="en-US"/>
              <a:pPr/>
              <a:t>32</a:t>
            </a:fld>
            <a:endParaRPr lang="en-US"/>
          </a:p>
        </p:txBody>
      </p:sp>
      <p:sp>
        <p:nvSpPr>
          <p:cNvPr id="9431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31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1A24EB4-DDA1-4BEE-AA58-0486B74B0B4D}" type="slidenum">
              <a:rPr lang="en-US"/>
              <a:pPr/>
              <a:t>33</a:t>
            </a:fld>
            <a:endParaRPr lang="en-US"/>
          </a:p>
        </p:txBody>
      </p:sp>
      <p:sp>
        <p:nvSpPr>
          <p:cNvPr id="9441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4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794704E-457B-42BF-918B-1C2936EBD3B4}" type="slidenum">
              <a:rPr lang="en-US"/>
              <a:pPr/>
              <a:t>34</a:t>
            </a:fld>
            <a:endParaRPr lang="en-US"/>
          </a:p>
        </p:txBody>
      </p:sp>
      <p:sp>
        <p:nvSpPr>
          <p:cNvPr id="945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5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794704E-457B-42BF-918B-1C2936EBD3B4}" type="slidenum">
              <a:rPr lang="en-US"/>
              <a:pPr/>
              <a:t>35</a:t>
            </a:fld>
            <a:endParaRPr lang="en-US"/>
          </a:p>
        </p:txBody>
      </p:sp>
      <p:sp>
        <p:nvSpPr>
          <p:cNvPr id="945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5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AF1A4EE-73C6-44A2-A5E9-C6FCE9A148AE}" type="slidenum">
              <a:rPr lang="en-US"/>
              <a:pPr/>
              <a:t>36</a:t>
            </a:fld>
            <a:endParaRPr lang="en-US"/>
          </a:p>
        </p:txBody>
      </p:sp>
      <p:sp>
        <p:nvSpPr>
          <p:cNvPr id="946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6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1D43023-23D1-4250-9895-2A09B20FA834}" type="slidenum">
              <a:rPr lang="en-US"/>
              <a:pPr/>
              <a:t>37</a:t>
            </a:fld>
            <a:endParaRPr lang="en-US"/>
          </a:p>
        </p:txBody>
      </p:sp>
      <p:sp>
        <p:nvSpPr>
          <p:cNvPr id="9472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7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9BE7F7B-9493-4050-BFFB-27CFAD59287F}" type="slidenum">
              <a:rPr lang="en-US"/>
              <a:pPr/>
              <a:t>38</a:t>
            </a:fld>
            <a:endParaRPr lang="en-US"/>
          </a:p>
        </p:txBody>
      </p:sp>
      <p:sp>
        <p:nvSpPr>
          <p:cNvPr id="9482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8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4ED2065-F47C-4D77-807C-83D8BB6B42FD}" type="slidenum">
              <a:rPr lang="en-US"/>
              <a:pPr/>
              <a:t>39</a:t>
            </a:fld>
            <a:endParaRPr lang="en-US"/>
          </a:p>
        </p:txBody>
      </p:sp>
      <p:sp>
        <p:nvSpPr>
          <p:cNvPr id="9492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92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4020B28-2A55-4754-B819-C0D12CB8782D}" type="slidenum">
              <a:rPr lang="en-US"/>
              <a:pPr/>
              <a:t>40</a:t>
            </a:fld>
            <a:endParaRPr lang="en-US"/>
          </a:p>
        </p:txBody>
      </p:sp>
      <p:sp>
        <p:nvSpPr>
          <p:cNvPr id="950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0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2E25FD0-999E-443D-8858-1F9C8BC53C9A}" type="slidenum">
              <a:rPr lang="en-US"/>
              <a:pPr/>
              <a:t>41</a:t>
            </a:fld>
            <a:endParaRPr lang="en-US"/>
          </a:p>
        </p:txBody>
      </p:sp>
      <p:sp>
        <p:nvSpPr>
          <p:cNvPr id="9717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717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CF3DE47-6ADE-4CC8-8D4C-F2046C047A3C}" type="slidenum">
              <a:rPr lang="en-US"/>
              <a:pPr/>
              <a:t>42</a:t>
            </a:fld>
            <a:endParaRPr lang="en-US"/>
          </a:p>
        </p:txBody>
      </p:sp>
      <p:sp>
        <p:nvSpPr>
          <p:cNvPr id="951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12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43AAE14-0550-46DC-B297-AB0455709856}" type="slidenum">
              <a:rPr lang="en-US"/>
              <a:pPr/>
              <a:t>43</a:t>
            </a:fld>
            <a:endParaRPr lang="en-US"/>
          </a:p>
        </p:txBody>
      </p:sp>
      <p:sp>
        <p:nvSpPr>
          <p:cNvPr id="9523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2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1521DFA-67F7-45E6-B6E7-7B8C1EF0267E}" type="slidenum">
              <a:rPr lang="en-US"/>
              <a:pPr/>
              <a:t>44</a:t>
            </a:fld>
            <a:endParaRPr lang="en-US"/>
          </a:p>
        </p:txBody>
      </p:sp>
      <p:sp>
        <p:nvSpPr>
          <p:cNvPr id="9533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33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3176ED2-D093-44C3-956E-327CEAA9EF24}" type="slidenum">
              <a:rPr lang="en-US"/>
              <a:pPr/>
              <a:t>45</a:t>
            </a:fld>
            <a:endParaRPr lang="en-US"/>
          </a:p>
        </p:txBody>
      </p:sp>
      <p:sp>
        <p:nvSpPr>
          <p:cNvPr id="9543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43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3176ED2-D093-44C3-956E-327CEAA9EF24}" type="slidenum">
              <a:rPr lang="en-US"/>
              <a:pPr/>
              <a:t>46</a:t>
            </a:fld>
            <a:endParaRPr lang="en-US"/>
          </a:p>
        </p:txBody>
      </p:sp>
      <p:sp>
        <p:nvSpPr>
          <p:cNvPr id="9543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43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3176ED2-D093-44C3-956E-327CEAA9EF24}" type="slidenum">
              <a:rPr lang="en-US"/>
              <a:pPr/>
              <a:t>47</a:t>
            </a:fld>
            <a:endParaRPr lang="en-US"/>
          </a:p>
        </p:txBody>
      </p:sp>
      <p:sp>
        <p:nvSpPr>
          <p:cNvPr id="9543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43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14294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3176ED2-D093-44C3-956E-327CEAA9EF24}" type="slidenum">
              <a:rPr lang="en-US"/>
              <a:pPr/>
              <a:t>48</a:t>
            </a:fld>
            <a:endParaRPr lang="en-US"/>
          </a:p>
        </p:txBody>
      </p:sp>
      <p:sp>
        <p:nvSpPr>
          <p:cNvPr id="9543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43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12161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E82A046-B1C6-4E51-84E8-31C17C1425D4}" type="slidenum">
              <a:rPr lang="en-US"/>
              <a:pPr/>
              <a:t>49</a:t>
            </a:fld>
            <a:endParaRPr lang="en-US"/>
          </a:p>
        </p:txBody>
      </p:sp>
      <p:sp>
        <p:nvSpPr>
          <p:cNvPr id="955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53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D059D57-0100-4082-A151-1D6514E46006}" type="slidenum">
              <a:rPr lang="en-US"/>
              <a:pPr/>
              <a:t>50</a:t>
            </a:fld>
            <a:endParaRPr lang="en-US"/>
          </a:p>
        </p:txBody>
      </p:sp>
      <p:sp>
        <p:nvSpPr>
          <p:cNvPr id="956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6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4DBBD8D-5805-4D73-BD92-61D2768ECA7A}" type="slidenum">
              <a:rPr lang="en-US"/>
              <a:pPr/>
              <a:t>51</a:t>
            </a:fld>
            <a:endParaRPr lang="en-US"/>
          </a:p>
        </p:txBody>
      </p:sp>
      <p:sp>
        <p:nvSpPr>
          <p:cNvPr id="957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7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4DBBD8D-5805-4D73-BD92-61D2768ECA7A}" type="slidenum">
              <a:rPr lang="en-US"/>
              <a:pPr/>
              <a:t>52</a:t>
            </a:fld>
            <a:endParaRPr lang="en-US"/>
          </a:p>
        </p:txBody>
      </p:sp>
      <p:sp>
        <p:nvSpPr>
          <p:cNvPr id="957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7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14A5738-752E-4EE2-B881-07E573FC4461}" type="slidenum">
              <a:rPr lang="en-US"/>
              <a:pPr/>
              <a:t>53</a:t>
            </a:fld>
            <a:endParaRPr lang="en-US"/>
          </a:p>
        </p:txBody>
      </p:sp>
      <p:sp>
        <p:nvSpPr>
          <p:cNvPr id="9594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94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8F177F-227E-40BB-B535-4FC8FE4C0B40}" type="slidenum">
              <a:rPr lang="en-US"/>
              <a:pPr/>
              <a:t>54</a:t>
            </a:fld>
            <a:endParaRPr lang="en-US"/>
          </a:p>
        </p:txBody>
      </p:sp>
      <p:sp>
        <p:nvSpPr>
          <p:cNvPr id="9605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05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BA1B4EC-5E73-4E12-BB7E-8CC6037318BB}" type="slidenum">
              <a:rPr lang="en-US"/>
              <a:pPr/>
              <a:t>55</a:t>
            </a:fld>
            <a:endParaRPr lang="en-US"/>
          </a:p>
        </p:txBody>
      </p:sp>
      <p:sp>
        <p:nvSpPr>
          <p:cNvPr id="9625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5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26057D3-4D81-4693-B03B-C9FC3C7C9AC7}" type="slidenum">
              <a:rPr lang="en-US"/>
              <a:pPr/>
              <a:t>56</a:t>
            </a:fld>
            <a:endParaRPr lang="en-US"/>
          </a:p>
        </p:txBody>
      </p:sp>
      <p:sp>
        <p:nvSpPr>
          <p:cNvPr id="9635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35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22E92F6-DC1F-4224-8175-473390ED3B87}" type="slidenum">
              <a:rPr lang="en-US"/>
              <a:pPr/>
              <a:t>57</a:t>
            </a:fld>
            <a:endParaRPr lang="en-US"/>
          </a:p>
        </p:txBody>
      </p:sp>
      <p:sp>
        <p:nvSpPr>
          <p:cNvPr id="96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4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209EB63-ADF0-44B8-A43E-CCFE1FD16D5D}" type="slidenum">
              <a:rPr lang="en-US"/>
              <a:pPr/>
              <a:t>58</a:t>
            </a:fld>
            <a:endParaRPr lang="en-US"/>
          </a:p>
        </p:txBody>
      </p:sp>
      <p:sp>
        <p:nvSpPr>
          <p:cNvPr id="965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56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3E4D08D-CC22-4B6C-A876-AB23B632DB03}" type="slidenum">
              <a:rPr lang="en-US"/>
              <a:pPr/>
              <a:t>59</a:t>
            </a:fld>
            <a:endParaRPr lang="en-US"/>
          </a:p>
        </p:txBody>
      </p:sp>
      <p:sp>
        <p:nvSpPr>
          <p:cNvPr id="9666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66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089CC81-449C-445C-85F2-DA402502BE41}" type="slidenum">
              <a:rPr lang="en-US"/>
              <a:pPr/>
              <a:t>60</a:t>
            </a:fld>
            <a:endParaRPr lang="en-US"/>
          </a:p>
        </p:txBody>
      </p:sp>
      <p:sp>
        <p:nvSpPr>
          <p:cNvPr id="9676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76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8411AF2-C03F-43BF-9687-E6C2C87CA51D}" type="slidenum">
              <a:rPr lang="en-US"/>
              <a:pPr/>
              <a:t>61</a:t>
            </a:fld>
            <a:endParaRPr lang="en-US"/>
          </a:p>
        </p:txBody>
      </p:sp>
      <p:sp>
        <p:nvSpPr>
          <p:cNvPr id="968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8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2CF2C90-415D-4F6A-A711-8658D1B49D82}" type="slidenum">
              <a:rPr lang="en-US"/>
              <a:pPr/>
              <a:t>62</a:t>
            </a:fld>
            <a:endParaRPr lang="en-US"/>
          </a:p>
        </p:txBody>
      </p:sp>
      <p:sp>
        <p:nvSpPr>
          <p:cNvPr id="969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9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5928846"/>
            <a:ext cx="9144000" cy="929154"/>
          </a:xfrm>
          <a:prstGeom prst="rect">
            <a:avLst/>
          </a:prstGeom>
          <a:solidFill>
            <a:srgbClr val="231F20"/>
          </a:solidFill>
          <a:ln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9144000" cy="919089"/>
          </a:xfrm>
          <a:prstGeom prst="rect">
            <a:avLst/>
          </a:prstGeom>
          <a:solidFill>
            <a:srgbClr val="231F20"/>
          </a:solidFill>
          <a:ln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72064"/>
            <a:ext cx="990600" cy="8859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943600"/>
            <a:ext cx="773569" cy="864310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477000" y="6248400"/>
            <a:ext cx="1981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aseline="0" dirty="0">
                <a:solidFill>
                  <a:schemeClr val="bg1"/>
                </a:solidFill>
              </a:rPr>
              <a:t>Chapter 4 &lt;</a:t>
            </a:r>
            <a:fld id="{D1B2EFE9-D440-4A3B-858C-5FEDF5DD0E10}" type="slidenum">
              <a:rPr lang="en-US" sz="1400" smtClean="0">
                <a:solidFill>
                  <a:schemeClr val="bg1"/>
                </a:solidFill>
              </a:rPr>
              <a:pPr/>
              <a:t>‹#›</a:t>
            </a:fld>
            <a:r>
              <a:rPr lang="en-US" sz="1400" dirty="0">
                <a:solidFill>
                  <a:schemeClr val="bg1"/>
                </a:solidFill>
              </a:rPr>
              <a:t>&gt; 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295400" y="6248400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Digital Design and Computer Architecture:</a:t>
            </a:r>
            <a:r>
              <a:rPr lang="en-US" sz="1400" baseline="0" dirty="0">
                <a:solidFill>
                  <a:schemeClr val="bg1"/>
                </a:solidFill>
              </a:rPr>
              <a:t> ARM® Edition © 2015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81393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5928846"/>
            <a:ext cx="9144000" cy="929154"/>
          </a:xfrm>
          <a:prstGeom prst="rect">
            <a:avLst/>
          </a:prstGeom>
          <a:solidFill>
            <a:srgbClr val="231F20"/>
          </a:solidFill>
          <a:ln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9144000" cy="919089"/>
          </a:xfrm>
          <a:prstGeom prst="rect">
            <a:avLst/>
          </a:prstGeom>
          <a:solidFill>
            <a:srgbClr val="231F20"/>
          </a:solidFill>
          <a:ln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72064"/>
            <a:ext cx="990600" cy="8859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943600"/>
            <a:ext cx="773569" cy="864310"/>
          </a:xfrm>
          <a:prstGeom prst="rect">
            <a:avLst/>
          </a:prstGeom>
        </p:spPr>
      </p:pic>
      <p:sp>
        <p:nvSpPr>
          <p:cNvPr id="12" name="TextBox 11"/>
          <p:cNvSpPr txBox="1"/>
          <p:nvPr userDrawn="1"/>
        </p:nvSpPr>
        <p:spPr>
          <a:xfrm>
            <a:off x="6477000" y="6248400"/>
            <a:ext cx="1981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aseline="0" dirty="0">
                <a:solidFill>
                  <a:schemeClr val="bg1"/>
                </a:solidFill>
              </a:rPr>
              <a:t>Chapter 4 &lt;</a:t>
            </a:r>
            <a:fld id="{D1B2EFE9-D440-4A3B-858C-5FEDF5DD0E10}" type="slidenum">
              <a:rPr lang="en-US" sz="1400" smtClean="0">
                <a:solidFill>
                  <a:schemeClr val="bg1"/>
                </a:solidFill>
              </a:rPr>
              <a:pPr/>
              <a:t>‹#›</a:t>
            </a:fld>
            <a:r>
              <a:rPr lang="en-US" sz="1400" dirty="0">
                <a:solidFill>
                  <a:schemeClr val="bg1"/>
                </a:solidFill>
              </a:rPr>
              <a:t>&gt; 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1295400" y="6248400"/>
            <a:ext cx="525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Digital Design and Computer Architecture:</a:t>
            </a:r>
            <a:r>
              <a:rPr lang="en-US" sz="1400" baseline="0" dirty="0">
                <a:solidFill>
                  <a:schemeClr val="bg1"/>
                </a:solidFill>
              </a:rPr>
              <a:t> ARM® Edition © 2015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43080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" y="101600"/>
            <a:ext cx="7772400" cy="889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219200"/>
            <a:ext cx="7772400" cy="49530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Copyright © 2012  Elsevier</a:t>
            </a: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1-&lt;</a:t>
            </a:r>
            <a:fld id="{68946159-E475-47D9-8550-A9F0B445C791}" type="slidenum">
              <a:rPr lang="en-US"/>
              <a:pPr>
                <a:defRPr/>
              </a:pPr>
              <a:t>‹#›</a:t>
            </a:fld>
            <a:r>
              <a:rPr lang="en-US"/>
              <a:t>&gt;</a:t>
            </a:r>
          </a:p>
          <a:p>
            <a:pPr>
              <a:defRPr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33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Copyright © 2007 Elsevier</a:t>
            </a: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2-&lt;</a:t>
            </a:r>
            <a:fld id="{56772E6B-5AA2-4C5F-A7F8-95F9D4354597}" type="slidenum">
              <a:rPr lang="en-US"/>
              <a:pPr/>
              <a:t>‹#›</a:t>
            </a:fld>
            <a:r>
              <a:rPr lang="en-US"/>
              <a:t>&gt;</a:t>
            </a:r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6823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" y="101600"/>
            <a:ext cx="7772400" cy="889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219200"/>
            <a:ext cx="38100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19200"/>
            <a:ext cx="38100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1778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Copyright © 2007 Elsevier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60960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2-&lt;</a:t>
            </a:r>
            <a:fld id="{3D7F715D-3209-482A-ABCD-4F9C0036FCD6}" type="slidenum">
              <a:rPr lang="en-US"/>
              <a:pPr/>
              <a:t>‹#›</a:t>
            </a:fld>
            <a:r>
              <a:rPr lang="en-US"/>
              <a:t>&gt;</a:t>
            </a:r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3991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" y="101600"/>
            <a:ext cx="7772400" cy="889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219200"/>
            <a:ext cx="38100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2192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48200" y="37719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1778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Copyright © 2007 Elsevier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60960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2-&lt;</a:t>
            </a:r>
            <a:fld id="{DD0BCF35-A1C1-47C4-BF2B-8B9B8D4EBCAE}" type="slidenum">
              <a:rPr lang="en-US"/>
              <a:pPr/>
              <a:t>‹#›</a:t>
            </a:fld>
            <a:r>
              <a:rPr lang="en-US"/>
              <a:t>&gt;</a:t>
            </a:r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0244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219200"/>
            <a:ext cx="3810000" cy="4953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19200"/>
            <a:ext cx="3810000" cy="4953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Copyright © 2007 Elsevier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2-&lt;</a:t>
            </a:r>
            <a:fld id="{C0FBBB96-A630-4B05-BA47-6FDCC80A2530}" type="slidenum">
              <a:rPr lang="en-US"/>
              <a:pPr/>
              <a:t>‹#›</a:t>
            </a:fld>
            <a:r>
              <a:rPr lang="en-US"/>
              <a:t>&gt;</a:t>
            </a:r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46687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" y="101600"/>
            <a:ext cx="7772400" cy="889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219200"/>
            <a:ext cx="38100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2192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48200" y="37719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1778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Copyright © 2007 Elsevier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60960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2-&lt;</a:t>
            </a:r>
            <a:fld id="{B8D13B05-696B-43F3-A133-03DEFFF24850}" type="slidenum">
              <a:rPr lang="en-US"/>
              <a:pPr/>
              <a:t>‹#›</a:t>
            </a:fld>
            <a:r>
              <a:rPr lang="en-US"/>
              <a:t>&gt;</a:t>
            </a:r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0700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101600" y="101600"/>
            <a:ext cx="7772400" cy="889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12192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2192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5800" y="37719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8200" y="3771900"/>
            <a:ext cx="3810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>
          <a:xfrm>
            <a:off x="1778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Copyright © 2007 Elsevier</a:t>
            </a:r>
            <a:endParaRPr lang="en-GB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60960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2-&lt;</a:t>
            </a:r>
            <a:fld id="{ABE97F21-FF4B-4B80-811E-C7802C99A8A5}" type="slidenum">
              <a:rPr lang="en-US"/>
              <a:pPr/>
              <a:t>‹#›</a:t>
            </a:fld>
            <a:r>
              <a:rPr lang="en-US"/>
              <a:t>&gt;</a:t>
            </a:r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7518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746080-453C-4BEF-9A1F-F094B996EB79}" type="datetimeFigureOut">
              <a:rPr lang="en-US" smtClean="0"/>
              <a:t>10/21/2022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B2EFE9-D440-4A3B-858C-5FEDF5DD0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500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7" Type="http://schemas.openxmlformats.org/officeDocument/2006/relationships/image" Target="../media/image7.emf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oleObject" Target="../embeddings/oleObject1.bin"/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tags" Target="../tags/tag20.xml"/><Relationship Id="rId7" Type="http://schemas.openxmlformats.org/officeDocument/2006/relationships/notesSlide" Target="../notesSlides/notesSlide8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9.xml"/><Relationship Id="rId3" Type="http://schemas.openxmlformats.org/officeDocument/2006/relationships/tags" Target="../tags/tag25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10" Type="http://schemas.openxmlformats.org/officeDocument/2006/relationships/image" Target="../media/image9.emf"/><Relationship Id="rId4" Type="http://schemas.openxmlformats.org/officeDocument/2006/relationships/tags" Target="../tags/tag26.xml"/><Relationship Id="rId9" Type="http://schemas.openxmlformats.org/officeDocument/2006/relationships/oleObject" Target="../embeddings/oleObject2.bin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4" Type="http://schemas.openxmlformats.org/officeDocument/2006/relationships/notesSlide" Target="../notesSlides/notesSlide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34.xml"/><Relationship Id="rId7" Type="http://schemas.openxmlformats.org/officeDocument/2006/relationships/image" Target="../media/image10.png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5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tags" Target="../tags/tag38.xml"/><Relationship Id="rId7" Type="http://schemas.openxmlformats.org/officeDocument/2006/relationships/notesSlide" Target="../notesSlides/notesSlide13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0.xml"/><Relationship Id="rId4" Type="http://schemas.openxmlformats.org/officeDocument/2006/relationships/tags" Target="../tags/tag39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tags" Target="../tags/tag43.xml"/><Relationship Id="rId7" Type="http://schemas.openxmlformats.org/officeDocument/2006/relationships/notesSlide" Target="../notesSlides/notesSlide14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5.xml"/><Relationship Id="rId4" Type="http://schemas.openxmlformats.org/officeDocument/2006/relationships/tags" Target="../tags/tag4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5.xml"/><Relationship Id="rId3" Type="http://schemas.openxmlformats.org/officeDocument/2006/relationships/tags" Target="../tags/tag48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tags" Target="../tags/tag51.xml"/><Relationship Id="rId5" Type="http://schemas.openxmlformats.org/officeDocument/2006/relationships/tags" Target="../tags/tag50.xml"/><Relationship Id="rId10" Type="http://schemas.openxmlformats.org/officeDocument/2006/relationships/image" Target="../media/image13.emf"/><Relationship Id="rId4" Type="http://schemas.openxmlformats.org/officeDocument/2006/relationships/tags" Target="../tags/tag49.xml"/><Relationship Id="rId9" Type="http://schemas.openxmlformats.org/officeDocument/2006/relationships/oleObject" Target="../embeddings/oleObject3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54.xml"/><Relationship Id="rId7" Type="http://schemas.openxmlformats.org/officeDocument/2006/relationships/notesSlide" Target="../notesSlides/notesSlide16.xml"/><Relationship Id="rId2" Type="http://schemas.openxmlformats.org/officeDocument/2006/relationships/tags" Target="../tags/tag53.xml"/><Relationship Id="rId1" Type="http://schemas.openxmlformats.org/officeDocument/2006/relationships/tags" Target="../tags/tag52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6.xml"/><Relationship Id="rId4" Type="http://schemas.openxmlformats.org/officeDocument/2006/relationships/tags" Target="../tags/tag5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59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notesSlide" Target="../notesSlides/notesSlide17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4" Type="http://schemas.openxmlformats.org/officeDocument/2006/relationships/notesSlide" Target="../notesSlides/notesSlide18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tags" Target="../tags/tag65.xml"/><Relationship Id="rId7" Type="http://schemas.openxmlformats.org/officeDocument/2006/relationships/notesSlide" Target="../notesSlides/notesSlide19.xml"/><Relationship Id="rId2" Type="http://schemas.openxmlformats.org/officeDocument/2006/relationships/tags" Target="../tags/tag64.xml"/><Relationship Id="rId1" Type="http://schemas.openxmlformats.org/officeDocument/2006/relationships/tags" Target="../tags/tag6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67.xml"/><Relationship Id="rId4" Type="http://schemas.openxmlformats.org/officeDocument/2006/relationships/tags" Target="../tags/tag66.xml"/><Relationship Id="rId9" Type="http://schemas.openxmlformats.org/officeDocument/2006/relationships/image" Target="../media/image14.wm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.bin"/><Relationship Id="rId3" Type="http://schemas.openxmlformats.org/officeDocument/2006/relationships/tags" Target="../tags/tag70.xml"/><Relationship Id="rId7" Type="http://schemas.openxmlformats.org/officeDocument/2006/relationships/notesSlide" Target="../notesSlides/notesSlide20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9" Type="http://schemas.openxmlformats.org/officeDocument/2006/relationships/image" Target="../media/image15.w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6" Type="http://schemas.openxmlformats.org/officeDocument/2006/relationships/image" Target="../media/image16.emf"/><Relationship Id="rId5" Type="http://schemas.openxmlformats.org/officeDocument/2006/relationships/notesSlide" Target="../notesSlides/notesSlide21.xml"/><Relationship Id="rId4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tags" Target="../tags/tag78.xml"/><Relationship Id="rId7" Type="http://schemas.openxmlformats.org/officeDocument/2006/relationships/image" Target="../media/image17.emf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oleObject" Target="../embeddings/oleObject6.bin"/><Relationship Id="rId5" Type="http://schemas.openxmlformats.org/officeDocument/2006/relationships/notesSlide" Target="../notesSlides/notesSlide22.xml"/><Relationship Id="rId4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tags" Target="../tags/tag81.xml"/><Relationship Id="rId7" Type="http://schemas.openxmlformats.org/officeDocument/2006/relationships/image" Target="../media/image17.emf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6" Type="http://schemas.openxmlformats.org/officeDocument/2006/relationships/oleObject" Target="../embeddings/oleObject7.bin"/><Relationship Id="rId5" Type="http://schemas.openxmlformats.org/officeDocument/2006/relationships/notesSlide" Target="../notesSlides/notesSlide23.xml"/><Relationship Id="rId4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tags" Target="../tags/tag84.xml"/><Relationship Id="rId7" Type="http://schemas.openxmlformats.org/officeDocument/2006/relationships/image" Target="../media/image17.emf"/><Relationship Id="rId2" Type="http://schemas.openxmlformats.org/officeDocument/2006/relationships/tags" Target="../tags/tag83.xml"/><Relationship Id="rId1" Type="http://schemas.openxmlformats.org/officeDocument/2006/relationships/tags" Target="../tags/tag82.xml"/><Relationship Id="rId6" Type="http://schemas.openxmlformats.org/officeDocument/2006/relationships/oleObject" Target="../embeddings/oleObject8.bin"/><Relationship Id="rId5" Type="http://schemas.openxmlformats.org/officeDocument/2006/relationships/notesSlide" Target="../notesSlides/notesSlide24.xml"/><Relationship Id="rId4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tags" Target="../tags/tag87.xml"/><Relationship Id="rId7" Type="http://schemas.openxmlformats.org/officeDocument/2006/relationships/image" Target="../media/image17.emf"/><Relationship Id="rId2" Type="http://schemas.openxmlformats.org/officeDocument/2006/relationships/tags" Target="../tags/tag86.xml"/><Relationship Id="rId1" Type="http://schemas.openxmlformats.org/officeDocument/2006/relationships/tags" Target="../tags/tag85.xml"/><Relationship Id="rId6" Type="http://schemas.openxmlformats.org/officeDocument/2006/relationships/oleObject" Target="../embeddings/oleObject9.bin"/><Relationship Id="rId5" Type="http://schemas.openxmlformats.org/officeDocument/2006/relationships/notesSlide" Target="../notesSlides/notesSlide25.xml"/><Relationship Id="rId4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tags" Target="../tags/tag90.xml"/><Relationship Id="rId7" Type="http://schemas.openxmlformats.org/officeDocument/2006/relationships/image" Target="../media/image17.emf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oleObject" Target="../embeddings/oleObject10.bin"/><Relationship Id="rId5" Type="http://schemas.openxmlformats.org/officeDocument/2006/relationships/notesSlide" Target="../notesSlides/notesSlide26.xml"/><Relationship Id="rId4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tags" Target="../tags/tag93.xml"/><Relationship Id="rId2" Type="http://schemas.openxmlformats.org/officeDocument/2006/relationships/tags" Target="../tags/tag92.xml"/><Relationship Id="rId1" Type="http://schemas.openxmlformats.org/officeDocument/2006/relationships/tags" Target="../tags/tag91.xml"/><Relationship Id="rId5" Type="http://schemas.openxmlformats.org/officeDocument/2006/relationships/notesSlide" Target="../notesSlides/notesSlide27.xml"/><Relationship Id="rId4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tags" Target="../tags/tag96.xml"/><Relationship Id="rId2" Type="http://schemas.openxmlformats.org/officeDocument/2006/relationships/tags" Target="../tags/tag95.xml"/><Relationship Id="rId1" Type="http://schemas.openxmlformats.org/officeDocument/2006/relationships/tags" Target="../tags/tag94.xml"/><Relationship Id="rId5" Type="http://schemas.openxmlformats.org/officeDocument/2006/relationships/notesSlide" Target="../notesSlides/notesSlide28.xml"/><Relationship Id="rId4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tags" Target="../tags/tag99.xml"/><Relationship Id="rId2" Type="http://schemas.openxmlformats.org/officeDocument/2006/relationships/tags" Target="../tags/tag98.xml"/><Relationship Id="rId1" Type="http://schemas.openxmlformats.org/officeDocument/2006/relationships/tags" Target="../tags/tag97.xml"/><Relationship Id="rId6" Type="http://schemas.openxmlformats.org/officeDocument/2006/relationships/image" Target="../media/image18.png"/><Relationship Id="rId5" Type="http://schemas.openxmlformats.org/officeDocument/2006/relationships/notesSlide" Target="../notesSlides/notesSlide29.xml"/><Relationship Id="rId4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wmf"/><Relationship Id="rId3" Type="http://schemas.openxmlformats.org/officeDocument/2006/relationships/tags" Target="../tags/tag102.xml"/><Relationship Id="rId7" Type="http://schemas.openxmlformats.org/officeDocument/2006/relationships/oleObject" Target="../embeddings/oleObject11.bin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6" Type="http://schemas.openxmlformats.org/officeDocument/2006/relationships/notesSlide" Target="../notesSlides/notesSlide30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03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wmf"/><Relationship Id="rId3" Type="http://schemas.openxmlformats.org/officeDocument/2006/relationships/tags" Target="../tags/tag106.xml"/><Relationship Id="rId7" Type="http://schemas.openxmlformats.org/officeDocument/2006/relationships/oleObject" Target="../embeddings/oleObject12.bin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6" Type="http://schemas.openxmlformats.org/officeDocument/2006/relationships/notesSlide" Target="../notesSlides/notesSlide31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0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tags" Target="../tags/tag110.xml"/><Relationship Id="rId7" Type="http://schemas.openxmlformats.org/officeDocument/2006/relationships/image" Target="../media/image21.png"/><Relationship Id="rId2" Type="http://schemas.openxmlformats.org/officeDocument/2006/relationships/tags" Target="../tags/tag109.xml"/><Relationship Id="rId1" Type="http://schemas.openxmlformats.org/officeDocument/2006/relationships/tags" Target="../tags/tag108.xml"/><Relationship Id="rId6" Type="http://schemas.openxmlformats.org/officeDocument/2006/relationships/notesSlide" Target="../notesSlides/notesSlide32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1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tags" Target="../tags/tag114.xml"/><Relationship Id="rId7" Type="http://schemas.openxmlformats.org/officeDocument/2006/relationships/image" Target="../media/image22.wmf"/><Relationship Id="rId2" Type="http://schemas.openxmlformats.org/officeDocument/2006/relationships/tags" Target="../tags/tag113.xml"/><Relationship Id="rId1" Type="http://schemas.openxmlformats.org/officeDocument/2006/relationships/tags" Target="../tags/tag112.xml"/><Relationship Id="rId6" Type="http://schemas.openxmlformats.org/officeDocument/2006/relationships/oleObject" Target="../embeddings/oleObject13.bin"/><Relationship Id="rId5" Type="http://schemas.openxmlformats.org/officeDocument/2006/relationships/notesSlide" Target="../notesSlides/notesSlide33.xml"/><Relationship Id="rId4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17.xml"/><Relationship Id="rId1" Type="http://schemas.openxmlformats.org/officeDocument/2006/relationships/tags" Target="../tags/tag116.xml"/><Relationship Id="rId4" Type="http://schemas.openxmlformats.org/officeDocument/2006/relationships/notesSlide" Target="../notesSlides/notesSlide3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19.xml"/><Relationship Id="rId1" Type="http://schemas.openxmlformats.org/officeDocument/2006/relationships/tags" Target="../tags/tag118.xml"/><Relationship Id="rId4" Type="http://schemas.openxmlformats.org/officeDocument/2006/relationships/notesSlide" Target="../notesSlides/notesSlide3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1.xml"/><Relationship Id="rId1" Type="http://schemas.openxmlformats.org/officeDocument/2006/relationships/tags" Target="../tags/tag120.xml"/><Relationship Id="rId4" Type="http://schemas.openxmlformats.org/officeDocument/2006/relationships/notesSlide" Target="../notesSlides/notesSlide3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3.xml"/><Relationship Id="rId1" Type="http://schemas.openxmlformats.org/officeDocument/2006/relationships/tags" Target="../tags/tag122.xml"/><Relationship Id="rId4" Type="http://schemas.openxmlformats.org/officeDocument/2006/relationships/notesSlide" Target="../notesSlides/notesSlide3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tags" Target="../tags/tag126.xml"/><Relationship Id="rId7" Type="http://schemas.openxmlformats.org/officeDocument/2006/relationships/image" Target="../media/image23.png"/><Relationship Id="rId2" Type="http://schemas.openxmlformats.org/officeDocument/2006/relationships/tags" Target="../tags/tag125.xml"/><Relationship Id="rId1" Type="http://schemas.openxmlformats.org/officeDocument/2006/relationships/tags" Target="../tags/tag124.xml"/><Relationship Id="rId6" Type="http://schemas.openxmlformats.org/officeDocument/2006/relationships/notesSlide" Target="../notesSlides/notesSlide39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27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tags" Target="../tags/tag130.xml"/><Relationship Id="rId7" Type="http://schemas.openxmlformats.org/officeDocument/2006/relationships/notesSlide" Target="../notesSlides/notesSlide40.xml"/><Relationship Id="rId2" Type="http://schemas.openxmlformats.org/officeDocument/2006/relationships/tags" Target="../tags/tag129.xml"/><Relationship Id="rId1" Type="http://schemas.openxmlformats.org/officeDocument/2006/relationships/tags" Target="../tags/tag128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32.xml"/><Relationship Id="rId4" Type="http://schemas.openxmlformats.org/officeDocument/2006/relationships/tags" Target="../tags/tag131.xml"/><Relationship Id="rId9" Type="http://schemas.openxmlformats.org/officeDocument/2006/relationships/image" Target="../media/image2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34.xml"/><Relationship Id="rId1" Type="http://schemas.openxmlformats.org/officeDocument/2006/relationships/tags" Target="../tags/tag133.xml"/><Relationship Id="rId4" Type="http://schemas.openxmlformats.org/officeDocument/2006/relationships/notesSlide" Target="../notesSlides/notesSlide41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tags" Target="../tags/tag137.xml"/><Relationship Id="rId7" Type="http://schemas.openxmlformats.org/officeDocument/2006/relationships/image" Target="../media/image26.wmf"/><Relationship Id="rId2" Type="http://schemas.openxmlformats.org/officeDocument/2006/relationships/tags" Target="../tags/tag136.xml"/><Relationship Id="rId1" Type="http://schemas.openxmlformats.org/officeDocument/2006/relationships/tags" Target="../tags/tag135.xml"/><Relationship Id="rId6" Type="http://schemas.openxmlformats.org/officeDocument/2006/relationships/oleObject" Target="../embeddings/oleObject14.bin"/><Relationship Id="rId5" Type="http://schemas.openxmlformats.org/officeDocument/2006/relationships/notesSlide" Target="../notesSlides/notesSlide42.xml"/><Relationship Id="rId4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tags" Target="../tags/tag140.xml"/><Relationship Id="rId7" Type="http://schemas.openxmlformats.org/officeDocument/2006/relationships/image" Target="../media/image28.wmf"/><Relationship Id="rId2" Type="http://schemas.openxmlformats.org/officeDocument/2006/relationships/tags" Target="../tags/tag139.xml"/><Relationship Id="rId1" Type="http://schemas.openxmlformats.org/officeDocument/2006/relationships/tags" Target="../tags/tag138.xml"/><Relationship Id="rId6" Type="http://schemas.openxmlformats.org/officeDocument/2006/relationships/oleObject" Target="../embeddings/oleObject15.bin"/><Relationship Id="rId5" Type="http://schemas.openxmlformats.org/officeDocument/2006/relationships/notesSlide" Target="../notesSlides/notesSlide43.xml"/><Relationship Id="rId4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tags" Target="../tags/tag143.xml"/><Relationship Id="rId7" Type="http://schemas.openxmlformats.org/officeDocument/2006/relationships/image" Target="../media/image26.wmf"/><Relationship Id="rId2" Type="http://schemas.openxmlformats.org/officeDocument/2006/relationships/tags" Target="../tags/tag142.xml"/><Relationship Id="rId1" Type="http://schemas.openxmlformats.org/officeDocument/2006/relationships/tags" Target="../tags/tag141.xml"/><Relationship Id="rId6" Type="http://schemas.openxmlformats.org/officeDocument/2006/relationships/oleObject" Target="../embeddings/oleObject16.bin"/><Relationship Id="rId5" Type="http://schemas.openxmlformats.org/officeDocument/2006/relationships/notesSlide" Target="../notesSlides/notesSlide44.xml"/><Relationship Id="rId4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5.xml"/><Relationship Id="rId1" Type="http://schemas.openxmlformats.org/officeDocument/2006/relationships/tags" Target="../tags/tag144.xml"/><Relationship Id="rId5" Type="http://schemas.openxmlformats.org/officeDocument/2006/relationships/image" Target="../media/image29.png"/><Relationship Id="rId4" Type="http://schemas.openxmlformats.org/officeDocument/2006/relationships/notesSlide" Target="../notesSlides/notesSlide4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31.png"/><Relationship Id="rId2" Type="http://schemas.openxmlformats.org/officeDocument/2006/relationships/tags" Target="../tags/tag147.xml"/><Relationship Id="rId1" Type="http://schemas.openxmlformats.org/officeDocument/2006/relationships/tags" Target="../tags/tag146.xml"/><Relationship Id="rId6" Type="http://schemas.openxmlformats.org/officeDocument/2006/relationships/image" Target="../media/image30.emf"/><Relationship Id="rId5" Type="http://schemas.openxmlformats.org/officeDocument/2006/relationships/oleObject" Target="../embeddings/oleObject17.bin"/><Relationship Id="rId4" Type="http://schemas.openxmlformats.org/officeDocument/2006/relationships/notesSlide" Target="../notesSlides/notesSlide4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6" Type="http://schemas.openxmlformats.org/officeDocument/2006/relationships/image" Target="../media/image32.emf"/><Relationship Id="rId5" Type="http://schemas.openxmlformats.org/officeDocument/2006/relationships/image" Target="../media/image31.png"/><Relationship Id="rId4" Type="http://schemas.openxmlformats.org/officeDocument/2006/relationships/notesSlide" Target="../notesSlides/notesSlide4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1.xml"/><Relationship Id="rId1" Type="http://schemas.openxmlformats.org/officeDocument/2006/relationships/tags" Target="../tags/tag150.xml"/><Relationship Id="rId4" Type="http://schemas.openxmlformats.org/officeDocument/2006/relationships/notesSlide" Target="../notesSlides/notesSlide4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3.xml"/><Relationship Id="rId1" Type="http://schemas.openxmlformats.org/officeDocument/2006/relationships/tags" Target="../tags/tag152.xml"/><Relationship Id="rId4" Type="http://schemas.openxmlformats.org/officeDocument/2006/relationships/notesSlide" Target="../notesSlides/notesSlide49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tags" Target="../tags/tag156.xml"/><Relationship Id="rId7" Type="http://schemas.openxmlformats.org/officeDocument/2006/relationships/notesSlide" Target="../notesSlides/notesSlide50.xml"/><Relationship Id="rId2" Type="http://schemas.openxmlformats.org/officeDocument/2006/relationships/tags" Target="../tags/tag155.xml"/><Relationship Id="rId1" Type="http://schemas.openxmlformats.org/officeDocument/2006/relationships/tags" Target="../tags/tag15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58.xml"/><Relationship Id="rId4" Type="http://schemas.openxmlformats.org/officeDocument/2006/relationships/tags" Target="../tags/tag15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tags" Target="../tags/tag161.xml"/><Relationship Id="rId7" Type="http://schemas.openxmlformats.org/officeDocument/2006/relationships/notesSlide" Target="../notesSlides/notesSlide51.xml"/><Relationship Id="rId2" Type="http://schemas.openxmlformats.org/officeDocument/2006/relationships/tags" Target="../tags/tag160.xml"/><Relationship Id="rId1" Type="http://schemas.openxmlformats.org/officeDocument/2006/relationships/tags" Target="../tags/tag15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63.xml"/><Relationship Id="rId4" Type="http://schemas.openxmlformats.org/officeDocument/2006/relationships/tags" Target="../tags/tag16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4" Type="http://schemas.openxmlformats.org/officeDocument/2006/relationships/notesSlide" Target="../notesSlides/notesSlide5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7.xml"/><Relationship Id="rId1" Type="http://schemas.openxmlformats.org/officeDocument/2006/relationships/tags" Target="../tags/tag166.xml"/><Relationship Id="rId4" Type="http://schemas.openxmlformats.org/officeDocument/2006/relationships/notesSlide" Target="../notesSlides/notesSlide5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9.xml"/><Relationship Id="rId1" Type="http://schemas.openxmlformats.org/officeDocument/2006/relationships/tags" Target="../tags/tag168.xml"/><Relationship Id="rId4" Type="http://schemas.openxmlformats.org/officeDocument/2006/relationships/notesSlide" Target="../notesSlides/notesSlide5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tags" Target="../tags/tag172.xml"/><Relationship Id="rId7" Type="http://schemas.openxmlformats.org/officeDocument/2006/relationships/image" Target="../media/image33.wmf"/><Relationship Id="rId2" Type="http://schemas.openxmlformats.org/officeDocument/2006/relationships/tags" Target="../tags/tag171.xml"/><Relationship Id="rId1" Type="http://schemas.openxmlformats.org/officeDocument/2006/relationships/tags" Target="../tags/tag170.xml"/><Relationship Id="rId6" Type="http://schemas.openxmlformats.org/officeDocument/2006/relationships/oleObject" Target="../embeddings/oleObject18.bin"/><Relationship Id="rId5" Type="http://schemas.openxmlformats.org/officeDocument/2006/relationships/notesSlide" Target="../notesSlides/notesSlide55.xml"/><Relationship Id="rId4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4.xml"/><Relationship Id="rId1" Type="http://schemas.openxmlformats.org/officeDocument/2006/relationships/tags" Target="../tags/tag173.xml"/><Relationship Id="rId4" Type="http://schemas.openxmlformats.org/officeDocument/2006/relationships/notesSlide" Target="../notesSlides/notesSlide56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6.xml"/><Relationship Id="rId1" Type="http://schemas.openxmlformats.org/officeDocument/2006/relationships/tags" Target="../tags/tag175.xml"/><Relationship Id="rId4" Type="http://schemas.openxmlformats.org/officeDocument/2006/relationships/notesSlide" Target="../notesSlides/notesSlide5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8.xml"/><Relationship Id="rId1" Type="http://schemas.openxmlformats.org/officeDocument/2006/relationships/tags" Target="../tags/tag177.xml"/><Relationship Id="rId4" Type="http://schemas.openxmlformats.org/officeDocument/2006/relationships/notesSlide" Target="../notesSlides/notesSlide5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0.xml"/><Relationship Id="rId1" Type="http://schemas.openxmlformats.org/officeDocument/2006/relationships/tags" Target="../tags/tag179.xml"/><Relationship Id="rId4" Type="http://schemas.openxmlformats.org/officeDocument/2006/relationships/notesSlide" Target="../notesSlides/notesSlide59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2.xml"/><Relationship Id="rId1" Type="http://schemas.openxmlformats.org/officeDocument/2006/relationships/tags" Target="../tags/tag181.xml"/><Relationship Id="rId4" Type="http://schemas.openxmlformats.org/officeDocument/2006/relationships/notesSlide" Target="../notesSlides/notesSlide60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4.xml"/><Relationship Id="rId1" Type="http://schemas.openxmlformats.org/officeDocument/2006/relationships/tags" Target="../tags/tag183.xml"/><Relationship Id="rId4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Chapter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743200"/>
            <a:ext cx="80772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i="1" dirty="0"/>
              <a:t>Digital Design and Computer Architecture</a:t>
            </a:r>
            <a:r>
              <a:rPr lang="en-US" sz="2600" b="1" dirty="0"/>
              <a:t>: ARM® Edition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3226713"/>
            <a:ext cx="8077200" cy="8930"/>
          </a:xfrm>
          <a:prstGeom prst="line">
            <a:avLst/>
          </a:prstGeom>
          <a:ln w="3492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91000" y="3226713"/>
            <a:ext cx="47244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Sarah L. Harris and David Money Harris</a:t>
            </a:r>
          </a:p>
        </p:txBody>
      </p:sp>
    </p:spTree>
    <p:extLst>
      <p:ext uri="{BB962C8B-B14F-4D97-AF65-F5344CB8AC3E}">
        <p14:creationId xmlns:p14="http://schemas.microsoft.com/office/powerpoint/2010/main" val="534681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Chapter 4 :: Topics</a:t>
            </a:r>
          </a:p>
        </p:txBody>
      </p:sp>
      <p:sp>
        <p:nvSpPr>
          <p:cNvPr id="9" name="Rectangle 3"/>
          <p:cNvSpPr txBox="1">
            <a:spLocks noChangeArrowheads="1"/>
          </p:cNvSpPr>
          <p:nvPr>
            <p:custDataLst>
              <p:tags r:id="rId1"/>
            </p:custDataLst>
          </p:nvPr>
        </p:nvSpPr>
        <p:spPr>
          <a:xfrm>
            <a:off x="914400" y="1371600"/>
            <a:ext cx="6477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Introduction</a:t>
            </a:r>
            <a:endParaRPr lang="en-US" dirty="0"/>
          </a:p>
          <a:p>
            <a:r>
              <a:rPr lang="en-US" b="1" dirty="0"/>
              <a:t>Combinational Logic</a:t>
            </a:r>
            <a:endParaRPr lang="en-US" dirty="0"/>
          </a:p>
          <a:p>
            <a:r>
              <a:rPr lang="en-US" b="1" dirty="0"/>
              <a:t>Structural Modeling</a:t>
            </a:r>
            <a:endParaRPr lang="en-US" dirty="0"/>
          </a:p>
          <a:p>
            <a:r>
              <a:rPr lang="en-US" b="1" dirty="0"/>
              <a:t>Sequential Logic</a:t>
            </a:r>
            <a:endParaRPr lang="en-US" dirty="0"/>
          </a:p>
          <a:p>
            <a:r>
              <a:rPr lang="en-US" b="1" dirty="0"/>
              <a:t>More Combinational Logic</a:t>
            </a:r>
            <a:endParaRPr lang="en-US" dirty="0"/>
          </a:p>
          <a:p>
            <a:r>
              <a:rPr lang="en-US" b="1" dirty="0"/>
              <a:t>Finite State Machines</a:t>
            </a:r>
            <a:endParaRPr lang="en-US" dirty="0"/>
          </a:p>
          <a:p>
            <a:r>
              <a:rPr lang="en-US" b="1" dirty="0"/>
              <a:t>Parameterized Modules</a:t>
            </a:r>
            <a:endParaRPr lang="en-US" dirty="0"/>
          </a:p>
          <a:p>
            <a:r>
              <a:rPr lang="en-US" b="1" dirty="0" err="1"/>
              <a:t>Testbenches</a:t>
            </a:r>
            <a:endParaRPr lang="en-US" dirty="0"/>
          </a:p>
          <a:p>
            <a:endParaRPr lang="en-GB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1142999"/>
            <a:ext cx="1704173" cy="4648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819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63" name="Rectangle 3"/>
          <p:cNvSpPr>
            <a:spLocks noGrp="1" noChangeArrowheads="1"/>
          </p:cNvSpPr>
          <p:nvPr>
            <p:ph type="body" idx="4294967295"/>
            <p:custDataLst>
              <p:tags r:id="rId1"/>
            </p:custDataLst>
          </p:nvPr>
        </p:nvSpPr>
        <p:spPr>
          <a:xfrm>
            <a:off x="533400" y="1066800"/>
            <a:ext cx="7772400" cy="4953000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500" dirty="0"/>
              <a:t>Hardware description language (HDL): 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specifies logic function only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Computer-aided design (CAD) tool produces or </a:t>
            </a:r>
            <a:r>
              <a:rPr lang="en-US" i="1" dirty="0"/>
              <a:t>synthesizes </a:t>
            </a:r>
            <a:r>
              <a:rPr lang="en-US" dirty="0"/>
              <a:t>the optimized gates</a:t>
            </a:r>
          </a:p>
          <a:p>
            <a:pPr>
              <a:lnSpc>
                <a:spcPct val="90000"/>
              </a:lnSpc>
            </a:pPr>
            <a:r>
              <a:rPr lang="en-US" sz="3500" dirty="0"/>
              <a:t>Most commercial designs built using HDLs</a:t>
            </a:r>
          </a:p>
          <a:p>
            <a:pPr>
              <a:lnSpc>
                <a:spcPct val="90000"/>
              </a:lnSpc>
            </a:pPr>
            <a:r>
              <a:rPr lang="en-US" sz="3500" dirty="0"/>
              <a:t>Two leading HDLs:</a:t>
            </a:r>
          </a:p>
          <a:p>
            <a:pPr lvl="1">
              <a:lnSpc>
                <a:spcPct val="90000"/>
              </a:lnSpc>
            </a:pPr>
            <a:r>
              <a:rPr lang="en-US" b="1" dirty="0" err="1">
                <a:solidFill>
                  <a:srgbClr val="0070C0"/>
                </a:solidFill>
              </a:rPr>
              <a:t>SystemVerilog</a:t>
            </a:r>
            <a:endParaRPr lang="en-US" b="1" dirty="0">
              <a:solidFill>
                <a:srgbClr val="0070C0"/>
              </a:solidFill>
            </a:endParaRPr>
          </a:p>
          <a:p>
            <a:pPr lvl="2">
              <a:lnSpc>
                <a:spcPct val="90000"/>
              </a:lnSpc>
            </a:pPr>
            <a:r>
              <a:rPr lang="en-US" dirty="0"/>
              <a:t>developed in 1984 by Gateway Design Automation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IEEE standard (1364) in 1995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Extended in 2005 (IEEE STD 1800-2009)</a:t>
            </a:r>
          </a:p>
          <a:p>
            <a:pPr lvl="1">
              <a:lnSpc>
                <a:spcPct val="90000"/>
              </a:lnSpc>
            </a:pPr>
            <a:r>
              <a:rPr lang="en-US" b="1" dirty="0">
                <a:solidFill>
                  <a:srgbClr val="0070C0"/>
                </a:solidFill>
              </a:rPr>
              <a:t>VHDL 2008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Developed in 1981 by the Department of Defense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IEEE standard (1076) in 1987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Updated in 2008 (IEEE STD 1076-2008)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7952796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95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93959" name="Rectangle 7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81000" y="990600"/>
            <a:ext cx="82296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2800" b="1" dirty="0">
                <a:solidFill>
                  <a:srgbClr val="0070C0"/>
                </a:solidFill>
                <a:latin typeface="+mj-lt"/>
                <a:cs typeface="Arial" charset="0"/>
              </a:rPr>
              <a:t>Simulation</a:t>
            </a: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r>
              <a:rPr lang="en-US" sz="2000" dirty="0">
                <a:latin typeface="+mj-lt"/>
                <a:cs typeface="Arial" charset="0"/>
              </a:rPr>
              <a:t>Inputs applied to circuit</a:t>
            </a:r>
            <a:endParaRPr lang="en-US" sz="2000" i="1" dirty="0">
              <a:latin typeface="+mj-lt"/>
              <a:cs typeface="Arial" charset="0"/>
            </a:endParaRP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r>
              <a:rPr lang="en-US" sz="2000" dirty="0">
                <a:latin typeface="+mj-lt"/>
                <a:cs typeface="Arial" charset="0"/>
              </a:rPr>
              <a:t>Outputs checked for correctness</a:t>
            </a: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r>
              <a:rPr lang="en-US" sz="2000" dirty="0">
                <a:latin typeface="+mj-lt"/>
                <a:cs typeface="Arial" charset="0"/>
              </a:rPr>
              <a:t>Millions of dollars saved by debugging in simulation instead of hardware</a:t>
            </a:r>
          </a:p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2800" b="1" dirty="0">
                <a:solidFill>
                  <a:srgbClr val="0070C0"/>
                </a:solidFill>
                <a:latin typeface="+mj-lt"/>
                <a:cs typeface="Arial" charset="0"/>
              </a:rPr>
              <a:t>Synthesis</a:t>
            </a: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r>
              <a:rPr lang="en-US" sz="2000" dirty="0">
                <a:latin typeface="+mj-lt"/>
                <a:cs typeface="Arial" charset="0"/>
              </a:rPr>
              <a:t>Transforms HDL code into a </a:t>
            </a:r>
            <a:r>
              <a:rPr lang="en-US" sz="2000" i="1" dirty="0" err="1">
                <a:latin typeface="+mj-lt"/>
                <a:cs typeface="Arial" charset="0"/>
              </a:rPr>
              <a:t>netlist</a:t>
            </a:r>
            <a:r>
              <a:rPr lang="en-US" sz="2000" dirty="0">
                <a:latin typeface="+mj-lt"/>
                <a:cs typeface="Arial" charset="0"/>
              </a:rPr>
              <a:t> describing the hardware (i.e., a list of gates and the wires connecting them)</a:t>
            </a: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endParaRPr lang="en-US" sz="1200" dirty="0"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2000" dirty="0">
              <a:solidFill>
                <a:srgbClr val="C00000"/>
              </a:solidFill>
              <a:latin typeface="+mj-lt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HDL to Gates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E564EC-6BC5-44D8-B907-D776160BCD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7718" y="914400"/>
            <a:ext cx="4265802" cy="1371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05E5EB-F32D-4A4A-A5E0-3FBAF59C74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94614" y="3939540"/>
            <a:ext cx="3418906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394002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95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93959" name="Rectangle 7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81000" y="990600"/>
            <a:ext cx="82296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Simulation</a:t>
            </a: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Inputs applied to circuit</a:t>
            </a:r>
            <a:endParaRPr lang="en-US" sz="2400" i="1" dirty="0">
              <a:latin typeface="+mj-lt"/>
              <a:cs typeface="Arial" charset="0"/>
            </a:endParaRP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Outputs checked for correctness</a:t>
            </a: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Millions of dollars saved by debugging in simulation instead of hardware</a:t>
            </a:r>
          </a:p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Synthesis</a:t>
            </a: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r>
              <a:rPr lang="en-US" sz="2400" dirty="0">
                <a:latin typeface="+mj-lt"/>
                <a:cs typeface="Arial" charset="0"/>
              </a:rPr>
              <a:t>Transforms HDL code into a </a:t>
            </a:r>
            <a:r>
              <a:rPr lang="en-US" sz="2400" i="1" dirty="0" err="1">
                <a:latin typeface="+mj-lt"/>
                <a:cs typeface="Arial" charset="0"/>
              </a:rPr>
              <a:t>netlist</a:t>
            </a:r>
            <a:r>
              <a:rPr lang="en-US" sz="2400" dirty="0">
                <a:latin typeface="+mj-lt"/>
                <a:cs typeface="Arial" charset="0"/>
              </a:rPr>
              <a:t> describing the hardware (i.e., a list of gates and the wires connecting them)</a:t>
            </a: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endParaRPr lang="en-US" sz="1050" dirty="0"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2400" b="1" dirty="0">
                <a:solidFill>
                  <a:srgbClr val="C00000"/>
                </a:solidFill>
                <a:latin typeface="+mj-lt"/>
                <a:cs typeface="Arial" charset="0"/>
              </a:rPr>
              <a:t>IMPORTANT: </a:t>
            </a:r>
            <a:r>
              <a:rPr lang="en-US" sz="2400" dirty="0">
                <a:solidFill>
                  <a:srgbClr val="C00000"/>
                </a:solidFill>
                <a:latin typeface="+mj-lt"/>
                <a:cs typeface="Arial" charset="0"/>
              </a:rPr>
              <a:t>When using an HDL, think of the </a:t>
            </a:r>
            <a:r>
              <a:rPr lang="en-US" sz="2400" b="1" dirty="0">
                <a:solidFill>
                  <a:srgbClr val="C00000"/>
                </a:solidFill>
                <a:latin typeface="+mj-lt"/>
                <a:cs typeface="Arial" charset="0"/>
              </a:rPr>
              <a:t>hardware</a:t>
            </a:r>
            <a:r>
              <a:rPr lang="en-US" sz="2400" dirty="0">
                <a:solidFill>
                  <a:srgbClr val="C00000"/>
                </a:solidFill>
                <a:latin typeface="+mj-lt"/>
                <a:cs typeface="Arial" charset="0"/>
              </a:rPr>
              <a:t> the HDL should implies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HDL to Gates</a:t>
            </a:r>
          </a:p>
        </p:txBody>
      </p:sp>
    </p:spTree>
    <p:extLst>
      <p:ext uri="{BB962C8B-B14F-4D97-AF65-F5344CB8AC3E}">
        <p14:creationId xmlns:p14="http://schemas.microsoft.com/office/powerpoint/2010/main" val="3150616877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57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graphicFrame>
        <p:nvGraphicFramePr>
          <p:cNvPr id="877573" name="Object 5"/>
          <p:cNvGraphicFramePr>
            <a:graphicFrameLocks noGrp="1" noChangeAspect="1"/>
          </p:cNvGraphicFramePr>
          <p:nvPr>
            <p:ph idx="4294967295"/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76120492"/>
              </p:ext>
            </p:extLst>
          </p:nvPr>
        </p:nvGraphicFramePr>
        <p:xfrm>
          <a:off x="2122488" y="1371600"/>
          <a:ext cx="4473575" cy="1684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1272500" imgH="480114" progId="Visio.Drawing.11">
                  <p:embed/>
                </p:oleObj>
              </mc:Choice>
              <mc:Fallback>
                <p:oleObj name="Visio" r:id="rId6" imgW="1272500" imgH="480114" progId="Visio.Drawing.1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2488" y="1371600"/>
                        <a:ext cx="4473575" cy="16843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77572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096108" y="3637085"/>
            <a:ext cx="7620000" cy="2057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3200" b="1" dirty="0">
                <a:latin typeface="+mj-lt"/>
                <a:cs typeface="Arial" charset="0"/>
              </a:rPr>
              <a:t>Two types of Modules:</a:t>
            </a: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r>
              <a:rPr lang="en-US" sz="2600" b="1" dirty="0">
                <a:solidFill>
                  <a:srgbClr val="0070C0"/>
                </a:solidFill>
                <a:latin typeface="+mj-lt"/>
                <a:cs typeface="Arial" charset="0"/>
              </a:rPr>
              <a:t>Behavioral:</a:t>
            </a:r>
            <a:r>
              <a:rPr lang="en-US" sz="2600" b="1" dirty="0">
                <a:latin typeface="+mj-lt"/>
                <a:cs typeface="Arial" charset="0"/>
              </a:rPr>
              <a:t> </a:t>
            </a:r>
            <a:r>
              <a:rPr lang="en-US" sz="2600" dirty="0">
                <a:latin typeface="+mj-lt"/>
                <a:cs typeface="Arial" charset="0"/>
              </a:rPr>
              <a:t>describe what a module does</a:t>
            </a: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r>
              <a:rPr lang="en-US" sz="2600" b="1" dirty="0">
                <a:solidFill>
                  <a:srgbClr val="0070C0"/>
                </a:solidFill>
                <a:latin typeface="+mj-lt"/>
                <a:cs typeface="Arial" charset="0"/>
              </a:rPr>
              <a:t>Structural:</a:t>
            </a:r>
            <a:r>
              <a:rPr lang="en-US" sz="2600" b="1" dirty="0">
                <a:solidFill>
                  <a:schemeClr val="accent1"/>
                </a:solidFill>
                <a:latin typeface="+mj-lt"/>
                <a:cs typeface="Arial" charset="0"/>
              </a:rPr>
              <a:t> </a:t>
            </a:r>
            <a:r>
              <a:rPr lang="en-US" sz="2600" dirty="0">
                <a:latin typeface="+mj-lt"/>
                <a:cs typeface="Arial" charset="0"/>
              </a:rPr>
              <a:t>describe how it is built from simpler modules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SystemVerilog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76600" y="1676400"/>
            <a:ext cx="2209800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>
                <a:solidFill>
                  <a:schemeClr val="tx1"/>
                </a:solidFill>
              </a:rPr>
              <a:t>SystemVerilog</a:t>
            </a:r>
            <a:endParaRPr lang="en-US" sz="2400" b="1" dirty="0">
              <a:solidFill>
                <a:schemeClr val="tx1"/>
              </a:solidFill>
            </a:endParaRPr>
          </a:p>
          <a:p>
            <a:pPr algn="ctr"/>
            <a:r>
              <a:rPr lang="en-US" sz="2400" b="1" dirty="0">
                <a:solidFill>
                  <a:schemeClr val="tx1"/>
                </a:solidFill>
              </a:rPr>
              <a:t>Module</a:t>
            </a:r>
          </a:p>
        </p:txBody>
      </p:sp>
    </p:spTree>
    <p:extLst>
      <p:ext uri="{BB962C8B-B14F-4D97-AF65-F5344CB8AC3E}">
        <p14:creationId xmlns:p14="http://schemas.microsoft.com/office/powerpoint/2010/main" val="3655501687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59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7859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1600200"/>
            <a:ext cx="8305800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module example(input  logic a, b, c,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         output logic y);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assign y = ~a &amp; ~b &amp; ~c | a &amp; ~b &amp; ~c | a &amp; ~b &amp;  c;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 err="1">
                <a:latin typeface="Courier New" pitchFamily="49" charset="0"/>
                <a:cs typeface="Arial" charset="0"/>
              </a:rPr>
              <a:t>endmodule</a:t>
            </a:r>
            <a:endParaRPr lang="en-US" sz="1800" dirty="0">
              <a:latin typeface="Courier New" pitchFamily="49" charset="0"/>
              <a:cs typeface="Arial" charset="0"/>
            </a:endParaRPr>
          </a:p>
        </p:txBody>
      </p:sp>
      <p:sp>
        <p:nvSpPr>
          <p:cNvPr id="87859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4669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78598" name="Text Box 6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914400" y="1081087"/>
            <a:ext cx="42672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 err="1">
                <a:solidFill>
                  <a:srgbClr val="0070C0"/>
                </a:solidFill>
              </a:rPr>
              <a:t>SystemVerilog</a:t>
            </a:r>
            <a:r>
              <a:rPr lang="en-US" sz="3200" b="1" dirty="0">
                <a:solidFill>
                  <a:srgbClr val="0070C0"/>
                </a:solidFill>
              </a:rPr>
              <a:t>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Behavioral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SystemVerilog</a:t>
            </a:r>
            <a:endParaRPr lang="en-US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739565034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59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7859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1600200"/>
            <a:ext cx="8305800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module example(input  logic a, b, c,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         output logic y);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assign y = ~a &amp; ~b &amp; ~c | a &amp; ~b &amp; ~c | a &amp; ~b &amp;  c;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 err="1">
                <a:latin typeface="Courier New" pitchFamily="49" charset="0"/>
                <a:cs typeface="Arial" charset="0"/>
              </a:rPr>
              <a:t>endmodule</a:t>
            </a:r>
            <a:endParaRPr lang="en-US" sz="1800" dirty="0">
              <a:latin typeface="Courier New" pitchFamily="49" charset="0"/>
              <a:cs typeface="Arial" charset="0"/>
            </a:endParaRPr>
          </a:p>
        </p:txBody>
      </p:sp>
      <p:sp>
        <p:nvSpPr>
          <p:cNvPr id="878597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4669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78598" name="Text Box 6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914400" y="1081087"/>
            <a:ext cx="42672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 err="1">
                <a:solidFill>
                  <a:srgbClr val="0070C0"/>
                </a:solidFill>
              </a:rPr>
              <a:t>SystemVerilog</a:t>
            </a:r>
            <a:r>
              <a:rPr lang="en-US" sz="3200" b="1" dirty="0">
                <a:solidFill>
                  <a:srgbClr val="0070C0"/>
                </a:solidFill>
              </a:rPr>
              <a:t>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Behavioral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SystemVerilog</a:t>
            </a:r>
            <a:endParaRPr lang="en-US" sz="4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00200" y="3474010"/>
            <a:ext cx="685800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module/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endmodule</a:t>
            </a:r>
            <a:r>
              <a:rPr lang="en-US" sz="2200" dirty="0"/>
              <a:t>:  required to begin/end module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example</a:t>
            </a:r>
            <a:r>
              <a:rPr lang="en-US" sz="2200" dirty="0"/>
              <a:t>:  name of the module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Operators:</a:t>
            </a:r>
          </a:p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~</a:t>
            </a:r>
            <a:r>
              <a:rPr lang="en-US" sz="2200" dirty="0"/>
              <a:t>:  NOT</a:t>
            </a:r>
          </a:p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sz="2200" dirty="0"/>
              <a:t>:  AND</a:t>
            </a:r>
          </a:p>
          <a:p>
            <a:pPr lvl="1"/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  <a:r>
              <a:rPr lang="en-US" sz="2200" dirty="0"/>
              <a:t>:  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CC7BF88-1084-47D0-BD9D-0AE7FF046606}"/>
              </a:ext>
            </a:extLst>
          </p:cNvPr>
          <p:cNvSpPr/>
          <p:nvPr/>
        </p:nvSpPr>
        <p:spPr>
          <a:xfrm>
            <a:off x="1143000" y="2286000"/>
            <a:ext cx="1066800" cy="3048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2C40B347-1891-4174-A2E9-FD53ABBDE008}"/>
              </a:ext>
            </a:extLst>
          </p:cNvPr>
          <p:cNvCxnSpPr>
            <a:cxnSpLocks/>
            <a:stCxn id="3" idx="1"/>
            <a:endCxn id="15" idx="0"/>
          </p:cNvCxnSpPr>
          <p:nvPr/>
        </p:nvCxnSpPr>
        <p:spPr>
          <a:xfrm rot="10800000" flipV="1">
            <a:off x="612140" y="2438399"/>
            <a:ext cx="530860" cy="82968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852B8F8-2D25-43E7-B403-5694E36414FF}"/>
              </a:ext>
            </a:extLst>
          </p:cNvPr>
          <p:cNvSpPr txBox="1"/>
          <p:nvPr/>
        </p:nvSpPr>
        <p:spPr>
          <a:xfrm>
            <a:off x="81280" y="3268089"/>
            <a:ext cx="10617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Continuous assignment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B72405-D14F-442B-91EA-624D32A54943}"/>
              </a:ext>
            </a:extLst>
          </p:cNvPr>
          <p:cNvSpPr txBox="1"/>
          <p:nvPr/>
        </p:nvSpPr>
        <p:spPr>
          <a:xfrm>
            <a:off x="416560" y="3999728"/>
            <a:ext cx="106172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Đầu</a:t>
            </a:r>
            <a:r>
              <a:rPr lang="en-US" sz="1400" dirty="0"/>
              <a:t> </a:t>
            </a:r>
            <a:r>
              <a:rPr lang="en-US" sz="1400" dirty="0" err="1"/>
              <a:t>ra</a:t>
            </a:r>
            <a:r>
              <a:rPr lang="en-US" sz="1400" dirty="0"/>
              <a:t> </a:t>
            </a:r>
            <a:r>
              <a:rPr lang="en-US" sz="1400" dirty="0" err="1"/>
              <a:t>sẽ</a:t>
            </a:r>
            <a:r>
              <a:rPr lang="en-US" sz="1400" dirty="0"/>
              <a:t> </a:t>
            </a:r>
            <a:r>
              <a:rPr lang="en-US" sz="1400" dirty="0" err="1"/>
              <a:t>thay</a:t>
            </a:r>
            <a:r>
              <a:rPr lang="en-US" sz="1400" dirty="0"/>
              <a:t> </a:t>
            </a:r>
            <a:r>
              <a:rPr lang="en-US" sz="1400" dirty="0" err="1"/>
              <a:t>đổi</a:t>
            </a:r>
            <a:r>
              <a:rPr lang="en-US" sz="1400" dirty="0"/>
              <a:t> </a:t>
            </a:r>
            <a:r>
              <a:rPr lang="en-US" sz="1400" dirty="0" err="1"/>
              <a:t>ngay</a:t>
            </a:r>
            <a:r>
              <a:rPr lang="en-US" sz="1400" dirty="0"/>
              <a:t> </a:t>
            </a:r>
            <a:r>
              <a:rPr lang="en-US" sz="1400" dirty="0" err="1"/>
              <a:t>khi</a:t>
            </a:r>
            <a:r>
              <a:rPr lang="en-US" sz="1400" dirty="0"/>
              <a:t> </a:t>
            </a:r>
            <a:r>
              <a:rPr lang="en-US" sz="1400" dirty="0" err="1"/>
              <a:t>đầu</a:t>
            </a:r>
            <a:r>
              <a:rPr lang="en-US" sz="1400" dirty="0"/>
              <a:t> </a:t>
            </a:r>
            <a:r>
              <a:rPr lang="en-US" sz="1400" dirty="0" err="1"/>
              <a:t>vào</a:t>
            </a:r>
            <a:r>
              <a:rPr lang="en-US" sz="1400" dirty="0"/>
              <a:t> </a:t>
            </a:r>
            <a:r>
              <a:rPr lang="en-US" sz="1400" dirty="0" err="1"/>
              <a:t>thay</a:t>
            </a:r>
            <a:r>
              <a:rPr lang="en-US" sz="1400" dirty="0"/>
              <a:t> </a:t>
            </a:r>
            <a:r>
              <a:rPr lang="en-US" sz="1400" dirty="0" err="1"/>
              <a:t>đổi</a:t>
            </a:r>
            <a:endParaRPr lang="en-US" sz="1400" dirty="0"/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5BAA84C6-4558-46C3-82CE-8DDC6D55F41F}"/>
              </a:ext>
            </a:extLst>
          </p:cNvPr>
          <p:cNvCxnSpPr>
            <a:cxnSpLocks/>
            <a:stCxn id="15" idx="2"/>
            <a:endCxn id="23" idx="1"/>
          </p:cNvCxnSpPr>
          <p:nvPr/>
        </p:nvCxnSpPr>
        <p:spPr>
          <a:xfrm rot="5400000">
            <a:off x="117753" y="4090116"/>
            <a:ext cx="793195" cy="195580"/>
          </a:xfrm>
          <a:prstGeom prst="curvedConnector4">
            <a:avLst>
              <a:gd name="adj1" fmla="val 13138"/>
              <a:gd name="adj2" fmla="val 21688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1932C0AE-47D3-4B89-AD6F-5AA86A7BB865}"/>
              </a:ext>
            </a:extLst>
          </p:cNvPr>
          <p:cNvCxnSpPr>
            <a:cxnSpLocks/>
            <a:stCxn id="23" idx="2"/>
            <a:endCxn id="35" idx="0"/>
          </p:cNvCxnSpPr>
          <p:nvPr/>
        </p:nvCxnSpPr>
        <p:spPr>
          <a:xfrm rot="16200000" flipH="1">
            <a:off x="1067571" y="5049128"/>
            <a:ext cx="415018" cy="65532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7AAB4AC-D1AD-4503-ACC9-3786F6C1C583}"/>
              </a:ext>
            </a:extLst>
          </p:cNvPr>
          <p:cNvSpPr txBox="1"/>
          <p:nvPr/>
        </p:nvSpPr>
        <p:spPr>
          <a:xfrm>
            <a:off x="386080" y="5584297"/>
            <a:ext cx="2433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Dùng</a:t>
            </a:r>
            <a:r>
              <a:rPr lang="en-US" sz="1400" dirty="0"/>
              <a:t> </a:t>
            </a:r>
            <a:r>
              <a:rPr lang="en-US" sz="1400" dirty="0" err="1"/>
              <a:t>cho</a:t>
            </a:r>
            <a:r>
              <a:rPr lang="en-US" sz="1400" dirty="0"/>
              <a:t> Combinational logic</a:t>
            </a:r>
          </a:p>
        </p:txBody>
      </p:sp>
    </p:spTree>
    <p:extLst>
      <p:ext uri="{BB962C8B-B14F-4D97-AF65-F5344CB8AC3E}">
        <p14:creationId xmlns:p14="http://schemas.microsoft.com/office/powerpoint/2010/main" val="4176464017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97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94981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24669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pic>
        <p:nvPicPr>
          <p:cNvPr id="894983" name="Picture 7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3505200"/>
            <a:ext cx="6553200" cy="2270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HDL Simulation</a:t>
            </a:r>
          </a:p>
        </p:txBody>
      </p:sp>
      <p:sp>
        <p:nvSpPr>
          <p:cNvPr id="13" name="Rectangle 4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914400" y="1600200"/>
            <a:ext cx="8305800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module example(input  logic a, b, c,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         output logic y);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assign y = ~a &amp; ~b &amp; ~c | a &amp; ~b &amp; ~c | a &amp; ~b &amp;  c;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 err="1">
                <a:latin typeface="Courier New" pitchFamily="49" charset="0"/>
                <a:cs typeface="Arial" charset="0"/>
              </a:rPr>
              <a:t>endmodule</a:t>
            </a:r>
            <a:endParaRPr lang="en-US" sz="1800" dirty="0">
              <a:latin typeface="Courier New" pitchFamily="49" charset="0"/>
              <a:cs typeface="Arial" charset="0"/>
            </a:endParaRPr>
          </a:p>
        </p:txBody>
      </p:sp>
      <p:sp>
        <p:nvSpPr>
          <p:cNvPr id="14" name="Text Box 6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914400" y="1081087"/>
            <a:ext cx="42672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 err="1">
                <a:solidFill>
                  <a:srgbClr val="0070C0"/>
                </a:solidFill>
              </a:rPr>
              <a:t>SystemVerilog</a:t>
            </a:r>
            <a:r>
              <a:rPr lang="en-US" sz="3200" b="1" dirty="0">
                <a:solidFill>
                  <a:srgbClr val="0070C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568159258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6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79621" name="Rectangle 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0" y="24669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879622" name="Object 6"/>
          <p:cNvGraphicFramePr>
            <a:graphicFrameLocks noChangeAspect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096466759"/>
              </p:ext>
            </p:extLst>
          </p:nvPr>
        </p:nvGraphicFramePr>
        <p:xfrm>
          <a:off x="2590800" y="3683000"/>
          <a:ext cx="4724400" cy="2565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9" imgW="2545385" imgH="1374038" progId="Visio.Drawing.6">
                  <p:embed/>
                </p:oleObj>
              </mc:Choice>
              <mc:Fallback>
                <p:oleObj name="VISIO" r:id="rId9" imgW="2545385" imgH="1374038" progId="Visio.Drawing.6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90800" y="3683000"/>
                        <a:ext cx="4724400" cy="2565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HDL Synthesis</a:t>
            </a:r>
          </a:p>
        </p:txBody>
      </p:sp>
      <p:sp>
        <p:nvSpPr>
          <p:cNvPr id="12" name="Rectangle 4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914400" y="1600200"/>
            <a:ext cx="8305800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module example(input  logic a, b, c,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         output logic y);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assign y = ~a &amp; ~b &amp; ~c | a &amp; ~b &amp; ~c | a &amp; ~b &amp;  c;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 err="1">
                <a:latin typeface="Courier New" pitchFamily="49" charset="0"/>
                <a:cs typeface="Arial" charset="0"/>
              </a:rPr>
              <a:t>endmodule</a:t>
            </a:r>
            <a:endParaRPr lang="en-US" sz="1800" dirty="0">
              <a:latin typeface="Courier New" pitchFamily="49" charset="0"/>
              <a:cs typeface="Arial" charset="0"/>
            </a:endParaRPr>
          </a:p>
        </p:txBody>
      </p:sp>
      <p:sp>
        <p:nvSpPr>
          <p:cNvPr id="13" name="Text Box 6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914400" y="1081087"/>
            <a:ext cx="42672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 err="1">
                <a:solidFill>
                  <a:srgbClr val="0070C0"/>
                </a:solidFill>
              </a:rPr>
              <a:t>SystemVerilog</a:t>
            </a:r>
            <a:r>
              <a:rPr lang="en-US" sz="3200" b="1" dirty="0">
                <a:solidFill>
                  <a:srgbClr val="0070C0"/>
                </a:solidFill>
              </a:rPr>
              <a:t>:</a:t>
            </a:r>
          </a:p>
        </p:txBody>
      </p:sp>
      <p:sp>
        <p:nvSpPr>
          <p:cNvPr id="14" name="Text Box 6"/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914400" y="3084181"/>
            <a:ext cx="42672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>
                <a:solidFill>
                  <a:srgbClr val="0070C0"/>
                </a:solidFill>
              </a:rPr>
              <a:t>Synthesis:</a:t>
            </a:r>
          </a:p>
        </p:txBody>
      </p:sp>
    </p:spTree>
    <p:extLst>
      <p:ext uri="{BB962C8B-B14F-4D97-AF65-F5344CB8AC3E}">
        <p14:creationId xmlns:p14="http://schemas.microsoft.com/office/powerpoint/2010/main" val="2245741536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411" name="Rectangle 3"/>
          <p:cNvSpPr>
            <a:spLocks noGrp="1" noChangeArrowheads="1"/>
          </p:cNvSpPr>
          <p:nvPr>
            <p:ph type="body" idx="4294967295"/>
            <p:custDataLst>
              <p:tags r:id="rId1"/>
            </p:custDataLst>
          </p:nvPr>
        </p:nvSpPr>
        <p:spPr>
          <a:xfrm>
            <a:off x="990600" y="1219200"/>
            <a:ext cx="7772400" cy="4953000"/>
          </a:xfrm>
        </p:spPr>
        <p:txBody>
          <a:bodyPr/>
          <a:lstStyle/>
          <a:p>
            <a:r>
              <a:rPr lang="en-US" dirty="0"/>
              <a:t>Case sensitive</a:t>
            </a:r>
          </a:p>
          <a:p>
            <a:pPr lvl="1"/>
            <a:r>
              <a:rPr lang="en-US" sz="2400" b="1" dirty="0">
                <a:latin typeface="+mj-lt"/>
              </a:rPr>
              <a:t>Example:</a:t>
            </a:r>
            <a:r>
              <a:rPr lang="en-US" sz="2400" dirty="0">
                <a:latin typeface="Times" pitchFamily="18" charset="0"/>
              </a:rPr>
              <a:t> </a:t>
            </a:r>
            <a:r>
              <a:rPr lang="en-US" sz="2400" dirty="0">
                <a:latin typeface="Courier New" pitchFamily="49" charset="0"/>
              </a:rPr>
              <a:t>reset</a:t>
            </a:r>
            <a:r>
              <a:rPr lang="en-US" sz="2400" dirty="0"/>
              <a:t> and </a:t>
            </a:r>
            <a:r>
              <a:rPr lang="en-US" sz="2400" dirty="0">
                <a:latin typeface="Courier New" pitchFamily="49" charset="0"/>
              </a:rPr>
              <a:t>Reset</a:t>
            </a:r>
            <a:r>
              <a:rPr lang="en-US" sz="2400" dirty="0"/>
              <a:t> are not the same signal.</a:t>
            </a:r>
          </a:p>
          <a:p>
            <a:r>
              <a:rPr lang="en-US" dirty="0"/>
              <a:t>No names that start with numbers </a:t>
            </a:r>
          </a:p>
          <a:p>
            <a:pPr lvl="1"/>
            <a:r>
              <a:rPr lang="en-US" sz="2400" b="1" dirty="0"/>
              <a:t>Example: </a:t>
            </a:r>
            <a:r>
              <a:rPr lang="en-US" sz="2400" dirty="0">
                <a:latin typeface="Courier New" pitchFamily="49" charset="0"/>
              </a:rPr>
              <a:t>2mux</a:t>
            </a:r>
            <a:r>
              <a:rPr lang="en-US" sz="2400" dirty="0"/>
              <a:t> is an invalid name</a:t>
            </a:r>
          </a:p>
          <a:p>
            <a:r>
              <a:rPr lang="en-US" dirty="0"/>
              <a:t>Whitespace ignored</a:t>
            </a:r>
          </a:p>
          <a:p>
            <a:r>
              <a:rPr lang="en-US" dirty="0"/>
              <a:t>Comments:</a:t>
            </a:r>
          </a:p>
          <a:p>
            <a:pPr lvl="1"/>
            <a:r>
              <a:rPr lang="en-US" sz="2000" dirty="0">
                <a:latin typeface="Courier New" pitchFamily="49" charset="0"/>
                <a:cs typeface="Courier New" pitchFamily="49" charset="0"/>
              </a:rPr>
              <a:t>// single line comment</a:t>
            </a:r>
          </a:p>
          <a:p>
            <a:pPr lvl="1"/>
            <a:r>
              <a:rPr lang="en-US" sz="2000" dirty="0">
                <a:latin typeface="Courier New" pitchFamily="49" charset="0"/>
                <a:cs typeface="Courier New" pitchFamily="49" charset="0"/>
              </a:rPr>
              <a:t>/* multiline</a:t>
            </a:r>
          </a:p>
          <a:p>
            <a:pPr lvl="1">
              <a:buFontTx/>
              <a:buNone/>
            </a:pPr>
            <a:r>
              <a:rPr lang="en-US" sz="2000" dirty="0">
                <a:latin typeface="Courier New" pitchFamily="49" charset="0"/>
                <a:cs typeface="Courier New" pitchFamily="49" charset="0"/>
              </a:rPr>
              <a:t>       comment */</a:t>
            </a:r>
          </a:p>
          <a:p>
            <a:pPr>
              <a:buFontTx/>
              <a:buNone/>
            </a:pP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SystemVerilog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Syntax</a:t>
            </a:r>
          </a:p>
        </p:txBody>
      </p:sp>
    </p:spTree>
    <p:extLst>
      <p:ext uri="{BB962C8B-B14F-4D97-AF65-F5344CB8AC3E}">
        <p14:creationId xmlns:p14="http://schemas.microsoft.com/office/powerpoint/2010/main" val="1637822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43" name="Rectangle 3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80644" name="Text Box 4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914400"/>
            <a:ext cx="8458200" cy="50629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1700" dirty="0">
                <a:latin typeface="Courier New" pitchFamily="49" charset="0"/>
              </a:rPr>
              <a:t>module and3(input  logic a, b, c,</a:t>
            </a:r>
          </a:p>
          <a:p>
            <a:r>
              <a:rPr lang="en-US" sz="1700" dirty="0">
                <a:latin typeface="Courier New" pitchFamily="49" charset="0"/>
              </a:rPr>
              <a:t>            output logic y);</a:t>
            </a:r>
          </a:p>
          <a:p>
            <a:r>
              <a:rPr lang="en-US" sz="1700" dirty="0">
                <a:latin typeface="Courier New" pitchFamily="49" charset="0"/>
              </a:rPr>
              <a:t>  assign y = a &amp; b &amp; c;</a:t>
            </a:r>
          </a:p>
          <a:p>
            <a:r>
              <a:rPr lang="en-US" sz="1700" dirty="0" err="1">
                <a:latin typeface="Courier New" pitchFamily="49" charset="0"/>
              </a:rPr>
              <a:t>endmodule</a:t>
            </a:r>
            <a:endParaRPr lang="en-US" sz="1700" dirty="0">
              <a:latin typeface="Courier New" pitchFamily="49" charset="0"/>
            </a:endParaRPr>
          </a:p>
          <a:p>
            <a:endParaRPr lang="en-US" sz="1700" dirty="0">
              <a:latin typeface="Courier New" pitchFamily="49" charset="0"/>
            </a:endParaRPr>
          </a:p>
          <a:p>
            <a:endParaRPr lang="en-US" sz="1700" dirty="0">
              <a:latin typeface="Courier New" pitchFamily="49" charset="0"/>
            </a:endParaRPr>
          </a:p>
          <a:p>
            <a:r>
              <a:rPr lang="en-US" sz="1700" dirty="0">
                <a:latin typeface="Courier New" pitchFamily="49" charset="0"/>
              </a:rPr>
              <a:t>module </a:t>
            </a:r>
            <a:r>
              <a:rPr lang="en-US" sz="1700" dirty="0" err="1">
                <a:latin typeface="Courier New" pitchFamily="49" charset="0"/>
              </a:rPr>
              <a:t>inv</a:t>
            </a:r>
            <a:r>
              <a:rPr lang="en-US" sz="1700" dirty="0">
                <a:latin typeface="Courier New" pitchFamily="49" charset="0"/>
              </a:rPr>
              <a:t>(input  logic a,</a:t>
            </a:r>
          </a:p>
          <a:p>
            <a:r>
              <a:rPr lang="en-US" sz="1700" dirty="0">
                <a:latin typeface="Courier New" pitchFamily="49" charset="0"/>
              </a:rPr>
              <a:t>           output logic y);</a:t>
            </a:r>
          </a:p>
          <a:p>
            <a:r>
              <a:rPr lang="en-US" sz="1700" dirty="0">
                <a:latin typeface="Courier New" pitchFamily="49" charset="0"/>
              </a:rPr>
              <a:t>  assign y = ~a;</a:t>
            </a:r>
          </a:p>
          <a:p>
            <a:r>
              <a:rPr lang="en-US" sz="1700" dirty="0" err="1">
                <a:latin typeface="Courier New" pitchFamily="49" charset="0"/>
              </a:rPr>
              <a:t>endmodule</a:t>
            </a:r>
            <a:endParaRPr lang="en-US" sz="1700" dirty="0">
              <a:latin typeface="Courier New" pitchFamily="49" charset="0"/>
            </a:endParaRPr>
          </a:p>
          <a:p>
            <a:endParaRPr lang="en-US" sz="1700" dirty="0">
              <a:latin typeface="Courier New" pitchFamily="49" charset="0"/>
            </a:endParaRPr>
          </a:p>
          <a:p>
            <a:endParaRPr lang="en-US" sz="1700" dirty="0">
              <a:latin typeface="Courier New" pitchFamily="49" charset="0"/>
            </a:endParaRPr>
          </a:p>
          <a:p>
            <a:r>
              <a:rPr lang="en-US" sz="1700" dirty="0">
                <a:latin typeface="Courier New" pitchFamily="49" charset="0"/>
              </a:rPr>
              <a:t>module nand3(input  logic a, b, c</a:t>
            </a:r>
          </a:p>
          <a:p>
            <a:r>
              <a:rPr lang="en-US" sz="1700" dirty="0">
                <a:latin typeface="Courier New" pitchFamily="49" charset="0"/>
              </a:rPr>
              <a:t>             output logic y);</a:t>
            </a:r>
          </a:p>
          <a:p>
            <a:r>
              <a:rPr lang="en-US" sz="1700" dirty="0">
                <a:latin typeface="Courier New" pitchFamily="49" charset="0"/>
              </a:rPr>
              <a:t>  logic n1;                   </a:t>
            </a:r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// internal signal</a:t>
            </a:r>
          </a:p>
          <a:p>
            <a:endParaRPr lang="en-US" sz="1700" dirty="0">
              <a:latin typeface="Courier New" pitchFamily="49" charset="0"/>
            </a:endParaRPr>
          </a:p>
          <a:p>
            <a:r>
              <a:rPr lang="en-US" sz="1700" dirty="0">
                <a:latin typeface="Courier New" pitchFamily="49" charset="0"/>
              </a:rPr>
              <a:t>  and3 </a:t>
            </a:r>
            <a:r>
              <a:rPr lang="en-US" sz="1700" dirty="0" err="1">
                <a:latin typeface="Courier New" pitchFamily="49" charset="0"/>
              </a:rPr>
              <a:t>andgate</a:t>
            </a:r>
            <a:r>
              <a:rPr lang="en-US" sz="1700" dirty="0">
                <a:latin typeface="Courier New" pitchFamily="49" charset="0"/>
              </a:rPr>
              <a:t>(a, b, c, n1);  </a:t>
            </a:r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// instance of and3</a:t>
            </a:r>
          </a:p>
          <a:p>
            <a:r>
              <a:rPr lang="en-US" sz="1700" dirty="0">
                <a:solidFill>
                  <a:schemeClr val="accent2"/>
                </a:solidFill>
                <a:latin typeface="Courier New" pitchFamily="49" charset="0"/>
              </a:rPr>
              <a:t>  </a:t>
            </a:r>
            <a:r>
              <a:rPr lang="en-US" sz="1700" dirty="0" err="1">
                <a:latin typeface="Courier New" pitchFamily="49" charset="0"/>
              </a:rPr>
              <a:t>inv</a:t>
            </a:r>
            <a:r>
              <a:rPr lang="en-US" sz="1700" dirty="0">
                <a:latin typeface="Courier New" pitchFamily="49" charset="0"/>
              </a:rPr>
              <a:t>  inverter(n1, y);       </a:t>
            </a:r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// instance of </a:t>
            </a:r>
            <a:r>
              <a:rPr lang="en-US" sz="1700" b="1" dirty="0" err="1">
                <a:solidFill>
                  <a:srgbClr val="0070C0"/>
                </a:solidFill>
                <a:latin typeface="Courier New" pitchFamily="49" charset="0"/>
              </a:rPr>
              <a:t>inv</a:t>
            </a:r>
            <a:endParaRPr lang="en-US" sz="1700" b="1" dirty="0">
              <a:solidFill>
                <a:srgbClr val="0070C0"/>
              </a:solidFill>
              <a:latin typeface="Courier New" pitchFamily="49" charset="0"/>
            </a:endParaRPr>
          </a:p>
          <a:p>
            <a:r>
              <a:rPr lang="en-US" sz="1700" dirty="0" err="1">
                <a:latin typeface="Courier New" pitchFamily="49" charset="0"/>
              </a:rPr>
              <a:t>endmodule</a:t>
            </a:r>
            <a:endParaRPr lang="en-US" sz="1700" dirty="0">
              <a:latin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Structural Modeling - Hierarchy</a:t>
            </a:r>
          </a:p>
        </p:txBody>
      </p:sp>
    </p:spTree>
    <p:extLst>
      <p:ext uri="{BB962C8B-B14F-4D97-AF65-F5344CB8AC3E}">
        <p14:creationId xmlns:p14="http://schemas.microsoft.com/office/powerpoint/2010/main" val="1929339706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66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52400" y="7620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8166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9144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module gates(input  logic [3:0]  a, b,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       output </a:t>
            </a:r>
            <a:r>
              <a:rPr lang="en-US" dirty="0">
                <a:latin typeface="Courier New" pitchFamily="49" charset="0"/>
                <a:cs typeface="Arial" charset="0"/>
              </a:rPr>
              <a:t>logic </a:t>
            </a:r>
            <a:r>
              <a:rPr lang="en-US" sz="1800" dirty="0">
                <a:latin typeface="Courier New" pitchFamily="49" charset="0"/>
                <a:cs typeface="Arial" charset="0"/>
              </a:rPr>
              <a:t>[3:0] y1, y2, y3, y4, y5);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/* Five different two-input logic 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gates acting on 4 bit busses */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assign y1 = a &amp; b;    // AND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assign y2 = a | b;    // OR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assign y3 = a ^ b;    // XOR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assign y4 = ~(a &amp; b); // NAND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assign y5 = ~(a | b); // NOR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 err="1">
                <a:latin typeface="Courier New" pitchFamily="49" charset="0"/>
                <a:cs typeface="Arial" charset="0"/>
              </a:rPr>
              <a:t>endmodule</a:t>
            </a: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2400" b="1" dirty="0">
                <a:solidFill>
                  <a:srgbClr val="0070C0"/>
                </a:solidFill>
                <a:latin typeface="Courier New" pitchFamily="49" charset="0"/>
                <a:cs typeface="Arial" charset="0"/>
              </a:rPr>
              <a:t>//</a:t>
            </a:r>
            <a:r>
              <a:rPr lang="en-US" sz="2400" dirty="0">
                <a:solidFill>
                  <a:schemeClr val="accent2"/>
                </a:solidFill>
                <a:cs typeface="Arial" charset="0"/>
              </a:rPr>
              <a:t>  </a:t>
            </a:r>
            <a:r>
              <a:rPr lang="en-US" sz="2400" dirty="0">
                <a:cs typeface="Arial" charset="0"/>
              </a:rPr>
              <a:t>          single line comment</a:t>
            </a:r>
          </a:p>
          <a:p>
            <a:pPr marL="342900" indent="-342900">
              <a:spcBef>
                <a:spcPct val="20000"/>
              </a:spcBef>
            </a:pPr>
            <a:r>
              <a:rPr lang="en-US" sz="2400" b="1" dirty="0">
                <a:solidFill>
                  <a:srgbClr val="0070C0"/>
                </a:solidFill>
                <a:latin typeface="Courier New" pitchFamily="49" charset="0"/>
                <a:cs typeface="Arial" charset="0"/>
              </a:rPr>
              <a:t>/*…*/</a:t>
            </a:r>
            <a:r>
              <a:rPr lang="en-US" sz="2400" dirty="0">
                <a:cs typeface="Arial" charset="0"/>
              </a:rPr>
              <a:t>    multiline comment </a:t>
            </a:r>
          </a:p>
        </p:txBody>
      </p:sp>
      <p:pic>
        <p:nvPicPr>
          <p:cNvPr id="881669" name="Picture 5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7800" y="2590800"/>
            <a:ext cx="3200400" cy="24280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Bitwise Operators</a:t>
            </a:r>
          </a:p>
        </p:txBody>
      </p:sp>
      <p:sp>
        <p:nvSpPr>
          <p:cNvPr id="6" name="Text Box 6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6172200" y="2006025"/>
            <a:ext cx="21336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>
                <a:solidFill>
                  <a:srgbClr val="0070C0"/>
                </a:solidFill>
              </a:rPr>
              <a:t>Synthesis:</a:t>
            </a:r>
          </a:p>
        </p:txBody>
      </p:sp>
    </p:spTree>
    <p:extLst>
      <p:ext uri="{BB962C8B-B14F-4D97-AF65-F5344CB8AC3E}">
        <p14:creationId xmlns:p14="http://schemas.microsoft.com/office/powerpoint/2010/main" val="3417737150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69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82692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914400" y="1319212"/>
            <a:ext cx="8229600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module and8(input  logic [7:0] a, 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         output logic       y);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assign y = &amp;a;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// &amp;a is much easier to write than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// assign y = a[7] &amp; a[6] &amp; a[5] &amp; a[4] &amp;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//            a[3] &amp; a[2] &amp; a[1] &amp; a[0];</a:t>
            </a:r>
          </a:p>
          <a:p>
            <a:pPr>
              <a:buFontTx/>
              <a:buNone/>
            </a:pPr>
            <a:r>
              <a:rPr lang="en-US" sz="1800" dirty="0" err="1">
                <a:latin typeface="Courier New" pitchFamily="49" charset="0"/>
              </a:rPr>
              <a:t>endmodule</a:t>
            </a:r>
            <a:endParaRPr lang="en-US" sz="1800" dirty="0">
              <a:latin typeface="Courier New" pitchFamily="49" charset="0"/>
            </a:endParaRPr>
          </a:p>
        </p:txBody>
      </p:sp>
      <p:pic>
        <p:nvPicPr>
          <p:cNvPr id="882693" name="Picture 5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3962400"/>
            <a:ext cx="3581400" cy="1882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Reduction Operators</a:t>
            </a:r>
          </a:p>
        </p:txBody>
      </p:sp>
      <p:sp>
        <p:nvSpPr>
          <p:cNvPr id="6" name="Text Box 6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2819400" y="3444860"/>
            <a:ext cx="21336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>
                <a:solidFill>
                  <a:srgbClr val="0070C0"/>
                </a:solidFill>
              </a:rPr>
              <a:t>Synthesis:</a:t>
            </a:r>
          </a:p>
        </p:txBody>
      </p:sp>
      <p:sp>
        <p:nvSpPr>
          <p:cNvPr id="7" name="Text Box 6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914400" y="863025"/>
            <a:ext cx="29718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 err="1">
                <a:solidFill>
                  <a:srgbClr val="0070C0"/>
                </a:solidFill>
              </a:rPr>
              <a:t>SystemVerilog</a:t>
            </a:r>
            <a:r>
              <a:rPr lang="en-US" sz="3200" b="1" dirty="0">
                <a:solidFill>
                  <a:srgbClr val="0070C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743443227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71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83716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914400" y="1295400"/>
            <a:ext cx="8229600" cy="4525963"/>
          </a:xfrm>
        </p:spPr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module mux2(input  </a:t>
            </a:r>
            <a:r>
              <a:rPr lang="en-US" sz="1800" dirty="0">
                <a:latin typeface="Courier New" pitchFamily="49" charset="0"/>
                <a:cs typeface="Arial" charset="0"/>
              </a:rPr>
              <a:t>logic </a:t>
            </a:r>
            <a:r>
              <a:rPr lang="en-US" sz="1800" dirty="0">
                <a:latin typeface="Courier New" pitchFamily="49" charset="0"/>
              </a:rPr>
              <a:t>[3:0] d0, d1, 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         input  </a:t>
            </a:r>
            <a:r>
              <a:rPr lang="en-US" sz="1800" dirty="0">
                <a:latin typeface="Courier New" pitchFamily="49" charset="0"/>
                <a:cs typeface="Arial" charset="0"/>
              </a:rPr>
              <a:t>logic</a:t>
            </a:r>
            <a:r>
              <a:rPr lang="en-US" sz="1800" dirty="0">
                <a:latin typeface="Courier New" pitchFamily="49" charset="0"/>
              </a:rPr>
              <a:t>       s,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         output </a:t>
            </a:r>
            <a:r>
              <a:rPr lang="en-US" sz="1800" dirty="0">
                <a:latin typeface="Courier New" pitchFamily="49" charset="0"/>
                <a:cs typeface="Arial" charset="0"/>
              </a:rPr>
              <a:t>logic </a:t>
            </a:r>
            <a:r>
              <a:rPr lang="en-US" sz="1800" dirty="0">
                <a:latin typeface="Courier New" pitchFamily="49" charset="0"/>
              </a:rPr>
              <a:t>[3:0] y);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assign y = s ? d1 : d0; </a:t>
            </a:r>
          </a:p>
          <a:p>
            <a:pPr>
              <a:buFontTx/>
              <a:buNone/>
            </a:pPr>
            <a:r>
              <a:rPr lang="en-US" sz="1800" dirty="0" err="1">
                <a:latin typeface="Courier New" pitchFamily="49" charset="0"/>
              </a:rPr>
              <a:t>endmodule</a:t>
            </a:r>
            <a:endParaRPr lang="en-US" sz="1800" dirty="0">
              <a:latin typeface="Courier New" pitchFamily="49" charset="0"/>
            </a:endParaRPr>
          </a:p>
          <a:p>
            <a:pPr>
              <a:buFontTx/>
              <a:buNone/>
            </a:pPr>
            <a:endParaRPr lang="en-US" sz="1800" dirty="0">
              <a:latin typeface="Courier New" pitchFamily="49" charset="0"/>
            </a:endParaRPr>
          </a:p>
          <a:p>
            <a:pPr>
              <a:buFontTx/>
              <a:buNone/>
            </a:pPr>
            <a:endParaRPr lang="en-US" sz="1800" dirty="0">
              <a:latin typeface="Courier New" pitchFamily="49" charset="0"/>
            </a:endParaRPr>
          </a:p>
          <a:p>
            <a:pPr>
              <a:buFontTx/>
              <a:buNone/>
            </a:pPr>
            <a:endParaRPr lang="en-US" sz="1800" dirty="0">
              <a:latin typeface="Courier New" pitchFamily="49" charset="0"/>
            </a:endParaRPr>
          </a:p>
          <a:p>
            <a:pPr>
              <a:buFontTx/>
              <a:buNone/>
            </a:pPr>
            <a:endParaRPr lang="en-US" sz="1800" dirty="0">
              <a:latin typeface="Courier New" pitchFamily="49" charset="0"/>
            </a:endParaRPr>
          </a:p>
          <a:p>
            <a:pPr>
              <a:buFontTx/>
              <a:buNone/>
            </a:pPr>
            <a:endParaRPr lang="en-US" sz="1800" dirty="0">
              <a:latin typeface="Courier New" pitchFamily="49" charset="0"/>
            </a:endParaRPr>
          </a:p>
          <a:p>
            <a:pPr>
              <a:buFontTx/>
              <a:buNone/>
            </a:pPr>
            <a:endParaRPr lang="en-US" sz="1800" dirty="0">
              <a:latin typeface="Courier New" pitchFamily="49" charset="0"/>
            </a:endParaRPr>
          </a:p>
          <a:p>
            <a:pPr>
              <a:buFontTx/>
              <a:buNone/>
            </a:pPr>
            <a:endParaRPr lang="en-US" sz="18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2400" b="1" dirty="0">
                <a:solidFill>
                  <a:srgbClr val="0070C0"/>
                </a:solidFill>
                <a:latin typeface="Courier New" pitchFamily="49" charset="0"/>
              </a:rPr>
              <a:t>? :</a:t>
            </a:r>
            <a:r>
              <a:rPr lang="en-US" sz="2400" b="1" dirty="0">
                <a:solidFill>
                  <a:srgbClr val="0070C0"/>
                </a:solidFill>
                <a:latin typeface="Arial" charset="0"/>
              </a:rPr>
              <a:t>      </a:t>
            </a:r>
            <a:r>
              <a:rPr lang="en-US" sz="2400" dirty="0">
                <a:latin typeface="Arial" charset="0"/>
              </a:rPr>
              <a:t>is also called a </a:t>
            </a:r>
            <a:r>
              <a:rPr lang="en-US" sz="2400" i="1" dirty="0">
                <a:latin typeface="Arial" charset="0"/>
              </a:rPr>
              <a:t>ternary operator</a:t>
            </a:r>
            <a:r>
              <a:rPr lang="en-US" sz="2400" dirty="0">
                <a:latin typeface="Arial" charset="0"/>
              </a:rPr>
              <a:t> because it   </a:t>
            </a:r>
          </a:p>
          <a:p>
            <a:pPr>
              <a:buFontTx/>
              <a:buNone/>
            </a:pPr>
            <a:r>
              <a:rPr lang="en-US" sz="2400" dirty="0">
                <a:latin typeface="Arial" charset="0"/>
              </a:rPr>
              <a:t>            operates on 3 inputs: </a:t>
            </a:r>
            <a:r>
              <a:rPr lang="en-US" sz="2400" dirty="0">
                <a:latin typeface="Courier New" pitchFamily="49" charset="0"/>
              </a:rPr>
              <a:t>s</a:t>
            </a:r>
            <a:r>
              <a:rPr lang="en-US" sz="2400" dirty="0">
                <a:latin typeface="Arial" charset="0"/>
              </a:rPr>
              <a:t>, </a:t>
            </a:r>
            <a:r>
              <a:rPr lang="en-US" sz="2400" dirty="0">
                <a:latin typeface="Courier New" pitchFamily="49" charset="0"/>
              </a:rPr>
              <a:t>d1</a:t>
            </a:r>
            <a:r>
              <a:rPr lang="en-US" sz="2400" dirty="0">
                <a:latin typeface="Arial" charset="0"/>
              </a:rPr>
              <a:t>, and </a:t>
            </a:r>
            <a:r>
              <a:rPr lang="en-US" sz="2400" dirty="0">
                <a:latin typeface="Courier New" pitchFamily="49" charset="0"/>
              </a:rPr>
              <a:t>d0</a:t>
            </a:r>
            <a:r>
              <a:rPr lang="en-US" sz="2400" dirty="0">
                <a:latin typeface="Arial" charset="0"/>
              </a:rPr>
              <a:t>.</a:t>
            </a:r>
          </a:p>
          <a:p>
            <a:pPr>
              <a:buFontTx/>
              <a:buNone/>
            </a:pPr>
            <a:endParaRPr lang="en-US" sz="1800" dirty="0">
              <a:latin typeface="Courier New" pitchFamily="49" charset="0"/>
            </a:endParaRPr>
          </a:p>
        </p:txBody>
      </p:sp>
      <p:pic>
        <p:nvPicPr>
          <p:cNvPr id="883717" name="Picture 5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3501" y="3124200"/>
            <a:ext cx="3987299" cy="137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Conditional Assignment</a:t>
            </a:r>
          </a:p>
        </p:txBody>
      </p:sp>
      <p:sp>
        <p:nvSpPr>
          <p:cNvPr id="6" name="Text Box 6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2819400" y="2615625"/>
            <a:ext cx="21336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>
                <a:solidFill>
                  <a:srgbClr val="0070C0"/>
                </a:solidFill>
              </a:rPr>
              <a:t>Synthesis:</a:t>
            </a:r>
          </a:p>
        </p:txBody>
      </p:sp>
      <p:sp>
        <p:nvSpPr>
          <p:cNvPr id="7" name="Text Box 6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914400" y="838200"/>
            <a:ext cx="29718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 err="1">
                <a:solidFill>
                  <a:srgbClr val="0070C0"/>
                </a:solidFill>
              </a:rPr>
              <a:t>SystemVerilog</a:t>
            </a:r>
            <a:r>
              <a:rPr lang="en-US" sz="3200" b="1" dirty="0">
                <a:solidFill>
                  <a:srgbClr val="0070C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120111973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73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84740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533400" y="1341437"/>
            <a:ext cx="8229600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module </a:t>
            </a:r>
            <a:r>
              <a:rPr lang="en-US" sz="1800" dirty="0" err="1">
                <a:latin typeface="Courier New" pitchFamily="49" charset="0"/>
              </a:rPr>
              <a:t>fulladder</a:t>
            </a:r>
            <a:r>
              <a:rPr lang="en-US" sz="1800" dirty="0">
                <a:latin typeface="Courier New" pitchFamily="49" charset="0"/>
              </a:rPr>
              <a:t>(input  logic a, b, </a:t>
            </a:r>
            <a:r>
              <a:rPr lang="en-US" sz="1800" dirty="0" err="1">
                <a:latin typeface="Courier New" pitchFamily="49" charset="0"/>
              </a:rPr>
              <a:t>cin</a:t>
            </a:r>
            <a:r>
              <a:rPr lang="en-US" sz="1800" dirty="0">
                <a:latin typeface="Courier New" pitchFamily="49" charset="0"/>
              </a:rPr>
              <a:t>, 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              output logic s, </a:t>
            </a:r>
            <a:r>
              <a:rPr lang="en-US" sz="1800" dirty="0" err="1">
                <a:latin typeface="Courier New" pitchFamily="49" charset="0"/>
              </a:rPr>
              <a:t>cout</a:t>
            </a:r>
            <a:r>
              <a:rPr lang="en-US" sz="1800" dirty="0">
                <a:latin typeface="Courier New" pitchFamily="49" charset="0"/>
              </a:rPr>
              <a:t>);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logic p, g;   // internal nodes</a:t>
            </a:r>
          </a:p>
          <a:p>
            <a:pPr>
              <a:buFontTx/>
              <a:buNone/>
            </a:pPr>
            <a:endParaRPr lang="en-US" sz="18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assign p = a ^ b;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assign g = a &amp; b;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assign s = p ^ </a:t>
            </a:r>
            <a:r>
              <a:rPr lang="en-US" sz="1800" dirty="0" err="1">
                <a:latin typeface="Courier New" pitchFamily="49" charset="0"/>
              </a:rPr>
              <a:t>cin</a:t>
            </a:r>
            <a:r>
              <a:rPr lang="en-US" sz="1800" dirty="0"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assign </a:t>
            </a:r>
            <a:r>
              <a:rPr lang="en-US" sz="1800" dirty="0" err="1">
                <a:latin typeface="Courier New" pitchFamily="49" charset="0"/>
              </a:rPr>
              <a:t>cout</a:t>
            </a:r>
            <a:r>
              <a:rPr lang="en-US" sz="1800" dirty="0">
                <a:latin typeface="Courier New" pitchFamily="49" charset="0"/>
              </a:rPr>
              <a:t> = g | (p &amp; </a:t>
            </a:r>
            <a:r>
              <a:rPr lang="en-US" sz="1800" dirty="0" err="1">
                <a:latin typeface="Courier New" pitchFamily="49" charset="0"/>
              </a:rPr>
              <a:t>cin</a:t>
            </a:r>
            <a:r>
              <a:rPr lang="en-US" sz="1800" dirty="0">
                <a:latin typeface="Courier New" pitchFamily="49" charset="0"/>
              </a:rPr>
              <a:t>);</a:t>
            </a:r>
          </a:p>
          <a:p>
            <a:pPr>
              <a:buFontTx/>
              <a:buNone/>
            </a:pPr>
            <a:r>
              <a:rPr lang="en-US" sz="1800" dirty="0" err="1">
                <a:latin typeface="Courier New" pitchFamily="49" charset="0"/>
              </a:rPr>
              <a:t>endmodule</a:t>
            </a:r>
            <a:endParaRPr lang="en-US" sz="1800" dirty="0">
              <a:latin typeface="Courier New" pitchFamily="49" charset="0"/>
            </a:endParaRPr>
          </a:p>
        </p:txBody>
      </p:sp>
      <p:sp>
        <p:nvSpPr>
          <p:cNvPr id="884741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667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884742" name="Object 6"/>
          <p:cNvGraphicFramePr>
            <a:graphicFrameLocks noChangeAspect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3352465122"/>
              </p:ext>
            </p:extLst>
          </p:nvPr>
        </p:nvGraphicFramePr>
        <p:xfrm>
          <a:off x="4343400" y="3733801"/>
          <a:ext cx="4678924" cy="198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9" imgW="3604320" imgH="1526040" progId="Visio.Drawing.6">
                  <p:embed/>
                </p:oleObj>
              </mc:Choice>
              <mc:Fallback>
                <p:oleObj name="VISIO" r:id="rId9" imgW="3604320" imgH="1526040" progId="Visio.Drawing.6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43400" y="3733801"/>
                        <a:ext cx="4678924" cy="198120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Internal Variables</a:t>
            </a:r>
          </a:p>
        </p:txBody>
      </p:sp>
      <p:sp>
        <p:nvSpPr>
          <p:cNvPr id="7" name="Text Box 6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533400" y="863025"/>
            <a:ext cx="29718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 err="1">
                <a:solidFill>
                  <a:srgbClr val="0070C0"/>
                </a:solidFill>
              </a:rPr>
              <a:t>SystemVerilog</a:t>
            </a:r>
            <a:r>
              <a:rPr lang="en-US" sz="3200" b="1" dirty="0">
                <a:solidFill>
                  <a:srgbClr val="0070C0"/>
                </a:solidFill>
              </a:rPr>
              <a:t>:</a:t>
            </a:r>
          </a:p>
        </p:txBody>
      </p:sp>
      <p:sp>
        <p:nvSpPr>
          <p:cNvPr id="8" name="Text Box 6"/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5410200" y="3072825"/>
            <a:ext cx="21336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>
                <a:solidFill>
                  <a:srgbClr val="0070C0"/>
                </a:solidFill>
              </a:rPr>
              <a:t>Synthesis:</a:t>
            </a:r>
          </a:p>
        </p:txBody>
      </p:sp>
    </p:spTree>
    <p:extLst>
      <p:ext uri="{BB962C8B-B14F-4D97-AF65-F5344CB8AC3E}">
        <p14:creationId xmlns:p14="http://schemas.microsoft.com/office/powerpoint/2010/main" val="572764943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76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graphicFrame>
        <p:nvGraphicFramePr>
          <p:cNvPr id="885813" name="Group 53"/>
          <p:cNvGraphicFramePr>
            <a:graphicFrameLocks noGrp="1"/>
          </p:cNvGraphicFramePr>
          <p:nvPr>
            <p:ph idx="4294967295"/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051709"/>
              </p:ext>
            </p:extLst>
          </p:nvPr>
        </p:nvGraphicFramePr>
        <p:xfrm>
          <a:off x="2819400" y="1088898"/>
          <a:ext cx="4876800" cy="4684717"/>
        </p:xfrm>
        <a:graphic>
          <a:graphicData uri="http://schemas.openxmlformats.org/drawingml/2006/table">
            <a:tbl>
              <a:tblPr/>
              <a:tblGrid>
                <a:gridCol w="2062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46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70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~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NOT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*, /, %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mult, div, mod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70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+, -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add,sub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4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&lt;&lt;, &gt;&gt;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shift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70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&lt;&lt;&lt;, &gt;&gt;&gt;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arithmetic shift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&lt;, &lt;=, &gt;, &gt;=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comparison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70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==, !=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equal, not equal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4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&amp;, ~&amp;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AND, NAND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0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^, ~^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XOR, XNOR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|, ~|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OR, NOR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70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cs typeface="Arial" charset="0"/>
                        </a:rPr>
                        <a:t>?: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Arial" charset="0"/>
                        </a:rPr>
                        <a:t>ternary operator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5764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667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85811" name="Text Box 51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1603131" y="1066800"/>
            <a:ext cx="17526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</a:rPr>
              <a:t>Highest</a:t>
            </a:r>
          </a:p>
        </p:txBody>
      </p:sp>
      <p:sp>
        <p:nvSpPr>
          <p:cNvPr id="885812" name="Text Box 52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1752600" y="5345668"/>
            <a:ext cx="17526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</a:rPr>
              <a:t>Lowest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Precedence</a:t>
            </a:r>
          </a:p>
        </p:txBody>
      </p:sp>
    </p:spTree>
    <p:extLst>
      <p:ext uri="{BB962C8B-B14F-4D97-AF65-F5344CB8AC3E}">
        <p14:creationId xmlns:p14="http://schemas.microsoft.com/office/powerpoint/2010/main" val="3743187756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78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838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graphicFrame>
        <p:nvGraphicFramePr>
          <p:cNvPr id="886868" name="Group 84"/>
          <p:cNvGraphicFramePr>
            <a:graphicFrameLocks noGrp="1"/>
          </p:cNvGraphicFramePr>
          <p:nvPr>
            <p:ph type="tbl" idx="4294967295"/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27011839"/>
              </p:ext>
            </p:extLst>
          </p:nvPr>
        </p:nvGraphicFramePr>
        <p:xfrm>
          <a:off x="990600" y="2209800"/>
          <a:ext cx="7162800" cy="3628073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62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Number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# Bits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Base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Decimal Equivalent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  <a:cs typeface="Arial" charset="0"/>
                        </a:rPr>
                        <a:t>Stored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3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imes New Roman" pitchFamily="18" charset="0"/>
                          <a:cs typeface="Courier New" pitchFamily="49" charset="0"/>
                        </a:rPr>
                        <a:t>'</a:t>
                      </a: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b101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binary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imes New Roman" pitchFamily="18" charset="0"/>
                          <a:cs typeface="Courier New" pitchFamily="49" charset="0"/>
                        </a:rPr>
                        <a:t>'</a:t>
                      </a: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b11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unsized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binary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00…0011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7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8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imes New Roman" pitchFamily="18" charset="0"/>
                          <a:cs typeface="Courier New" pitchFamily="49" charset="0"/>
                        </a:rPr>
                        <a:t>'</a:t>
                      </a: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b11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binary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00000011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9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8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imes New Roman" pitchFamily="18" charset="0"/>
                          <a:cs typeface="Courier New" pitchFamily="49" charset="0"/>
                        </a:rPr>
                        <a:t>'</a:t>
                      </a: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b1010_1011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binary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171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10101011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3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imes New Roman" pitchFamily="18" charset="0"/>
                          <a:cs typeface="Courier New" pitchFamily="49" charset="0"/>
                        </a:rPr>
                        <a:t>'</a:t>
                      </a: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d6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decimal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7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6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imes New Roman" pitchFamily="18" charset="0"/>
                          <a:cs typeface="Courier New" pitchFamily="49" charset="0"/>
                        </a:rPr>
                        <a:t>'</a:t>
                      </a: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o42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octal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34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100010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13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8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imes New Roman" pitchFamily="18" charset="0"/>
                          <a:cs typeface="Courier New" pitchFamily="49" charset="0"/>
                        </a:rPr>
                        <a:t>'</a:t>
                      </a: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hAB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hexadecimal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171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10101011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42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Unsized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decimal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42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Arial" charset="0"/>
                        </a:rPr>
                        <a:t>00…0101010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86788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4384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86860" name="Rectangle 7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914400" y="914400"/>
            <a:ext cx="7772400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2600" b="1" dirty="0">
                <a:solidFill>
                  <a:srgbClr val="0070C0"/>
                </a:solidFill>
                <a:latin typeface="+mj-lt"/>
                <a:cs typeface="Arial" charset="0"/>
              </a:rPr>
              <a:t>Format: </a:t>
            </a:r>
            <a:r>
              <a:rPr lang="en-US" sz="2600" b="1" dirty="0" err="1">
                <a:solidFill>
                  <a:srgbClr val="0070C0"/>
                </a:solidFill>
                <a:latin typeface="+mj-lt"/>
                <a:cs typeface="Arial" charset="0"/>
              </a:rPr>
              <a:t>N</a:t>
            </a:r>
            <a:r>
              <a:rPr lang="en-US" sz="2600" b="1" dirty="0" err="1">
                <a:solidFill>
                  <a:srgbClr val="0070C0"/>
                </a:solidFill>
                <a:latin typeface="+mj-lt"/>
                <a:cs typeface="Courier New" pitchFamily="49" charset="0"/>
              </a:rPr>
              <a:t>'Bvalue</a:t>
            </a:r>
            <a:endParaRPr lang="en-US" sz="2600" b="1" dirty="0">
              <a:solidFill>
                <a:srgbClr val="0070C0"/>
              </a:solidFill>
              <a:latin typeface="+mj-lt"/>
              <a:cs typeface="Courier New" pitchFamily="49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2000" dirty="0">
                <a:latin typeface="+mj-lt"/>
                <a:cs typeface="Courier New" pitchFamily="49" charset="0"/>
              </a:rPr>
              <a:t>		</a:t>
            </a:r>
            <a:r>
              <a:rPr lang="en-US" sz="2000" b="1" dirty="0">
                <a:solidFill>
                  <a:srgbClr val="0070C0"/>
                </a:solidFill>
                <a:latin typeface="+mj-lt"/>
                <a:cs typeface="Courier New" pitchFamily="49" charset="0"/>
              </a:rPr>
              <a:t>N</a:t>
            </a:r>
            <a:r>
              <a:rPr lang="en-US" sz="2000" dirty="0">
                <a:latin typeface="+mj-lt"/>
                <a:cs typeface="Courier New" pitchFamily="49" charset="0"/>
              </a:rPr>
              <a:t> = number of bits, </a:t>
            </a:r>
            <a:r>
              <a:rPr lang="en-US" sz="2000" b="1" dirty="0">
                <a:solidFill>
                  <a:srgbClr val="0070C0"/>
                </a:solidFill>
                <a:latin typeface="+mj-lt"/>
                <a:cs typeface="Courier New" pitchFamily="49" charset="0"/>
              </a:rPr>
              <a:t>B</a:t>
            </a:r>
            <a:r>
              <a:rPr lang="en-US" sz="2000" dirty="0">
                <a:latin typeface="+mj-lt"/>
                <a:cs typeface="Courier New" pitchFamily="49" charset="0"/>
              </a:rPr>
              <a:t> = base</a:t>
            </a:r>
          </a:p>
          <a:p>
            <a:pPr marL="342900" indent="-342900">
              <a:spcBef>
                <a:spcPct val="20000"/>
              </a:spcBef>
            </a:pPr>
            <a:r>
              <a:rPr lang="en-US" sz="2000" dirty="0">
                <a:latin typeface="+mj-lt"/>
                <a:cs typeface="Courier New" pitchFamily="49" charset="0"/>
              </a:rPr>
              <a:t>		</a:t>
            </a:r>
            <a:r>
              <a:rPr lang="en-US" sz="2000" b="1" dirty="0">
                <a:solidFill>
                  <a:srgbClr val="0070C0"/>
                </a:solidFill>
                <a:latin typeface="+mj-lt"/>
                <a:cs typeface="Arial" charset="0"/>
              </a:rPr>
              <a:t>N</a:t>
            </a:r>
            <a:r>
              <a:rPr lang="en-US" sz="2000" b="1" dirty="0">
                <a:solidFill>
                  <a:srgbClr val="0070C0"/>
                </a:solidFill>
                <a:latin typeface="+mj-lt"/>
                <a:cs typeface="Courier New" pitchFamily="49" charset="0"/>
              </a:rPr>
              <a:t>'B</a:t>
            </a:r>
            <a:r>
              <a:rPr lang="en-US" sz="2000" dirty="0">
                <a:latin typeface="+mj-lt"/>
                <a:cs typeface="Courier New" pitchFamily="49" charset="0"/>
              </a:rPr>
              <a:t> is optional but recommended (default is decimal)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Numbers</a:t>
            </a:r>
          </a:p>
        </p:txBody>
      </p:sp>
    </p:spTree>
    <p:extLst>
      <p:ext uri="{BB962C8B-B14F-4D97-AF65-F5344CB8AC3E}">
        <p14:creationId xmlns:p14="http://schemas.microsoft.com/office/powerpoint/2010/main" val="1102358087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81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8781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906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assign y = {a[2:1], {3{b[0]}}, a[0], 6</a:t>
            </a:r>
            <a:r>
              <a:rPr lang="en-US" b="1" dirty="0">
                <a:latin typeface="Times New Roman" pitchFamily="18" charset="0"/>
                <a:cs typeface="Courier New" pitchFamily="49" charset="0"/>
              </a:rPr>
              <a:t>'</a:t>
            </a:r>
            <a:r>
              <a:rPr lang="en-US" sz="1800" dirty="0">
                <a:latin typeface="Courier New" pitchFamily="49" charset="0"/>
                <a:cs typeface="Arial" charset="0"/>
              </a:rPr>
              <a:t>b100_010};</a:t>
            </a:r>
          </a:p>
          <a:p>
            <a:pPr marL="342900" indent="-342900"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1800" b="1" dirty="0">
                <a:latin typeface="Courier New" pitchFamily="49" charset="0"/>
                <a:cs typeface="Arial" charset="0"/>
              </a:rPr>
              <a:t>// if y is a 12-bit signal, the above statement produces: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y = a[2] a[1] b[0] b[0] b[0] a[0] 1 0 0 0 1 0</a:t>
            </a:r>
          </a:p>
          <a:p>
            <a:pPr marL="342900" indent="-342900"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// underscores (_) are used for formatting only to make</a:t>
            </a:r>
          </a:p>
          <a:p>
            <a:pPr marL="342900" indent="-342900"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// </a:t>
            </a:r>
            <a:r>
              <a:rPr lang="en-US" sz="1800" dirty="0">
                <a:latin typeface="Courier New" pitchFamily="49" charset="0"/>
                <a:cs typeface="Arial" charset="0"/>
              </a:rPr>
              <a:t>it easier to read.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SystemVerilog</a:t>
            </a:r>
            <a:r>
              <a:rPr lang="en-US" sz="1800" dirty="0">
                <a:latin typeface="Courier New" pitchFamily="49" charset="0"/>
                <a:cs typeface="Arial" charset="0"/>
              </a:rPr>
              <a:t> ignores them.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Bit Manipulations: Example 1</a:t>
            </a:r>
          </a:p>
        </p:txBody>
      </p:sp>
    </p:spTree>
    <p:extLst>
      <p:ext uri="{BB962C8B-B14F-4D97-AF65-F5344CB8AC3E}">
        <p14:creationId xmlns:p14="http://schemas.microsoft.com/office/powerpoint/2010/main" val="742084867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83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88836" name="Rectangle 4"/>
          <p:cNvSpPr>
            <a:spLocks noGrp="1" noChangeArrowheads="1"/>
          </p:cNvSpPr>
          <p:nvPr>
            <p:ph sz="half" idx="4294967295"/>
            <p:custDataLst>
              <p:tags r:id="rId2"/>
            </p:custDataLst>
          </p:nvPr>
        </p:nvSpPr>
        <p:spPr>
          <a:xfrm>
            <a:off x="457200" y="976313"/>
            <a:ext cx="7696200" cy="4953000"/>
          </a:xfrm>
          <a:noFill/>
          <a:ln/>
        </p:spPr>
        <p:txBody>
          <a:bodyPr/>
          <a:lstStyle/>
          <a:p>
            <a:pPr>
              <a:buFontTx/>
              <a:buNone/>
            </a:pPr>
            <a:endParaRPr lang="en-US" sz="16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module mux2_8(input  logic [7:0] d0, d1,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            input  logic       s,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            output logic [7:0] y);</a:t>
            </a:r>
          </a:p>
          <a:p>
            <a:pPr>
              <a:buFontTx/>
              <a:buNone/>
            </a:pPr>
            <a:endParaRPr lang="en-US" sz="16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mux2 </a:t>
            </a:r>
            <a:r>
              <a:rPr lang="en-US" sz="1600" dirty="0" err="1">
                <a:latin typeface="Courier New" pitchFamily="49" charset="0"/>
              </a:rPr>
              <a:t>lsbmux</a:t>
            </a:r>
            <a:r>
              <a:rPr lang="en-US" sz="1600" dirty="0">
                <a:latin typeface="Courier New" pitchFamily="49" charset="0"/>
              </a:rPr>
              <a:t>(d0[3:0], d1[3:0], s, y[3:0]);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mux2 </a:t>
            </a:r>
            <a:r>
              <a:rPr lang="en-US" sz="1600" dirty="0" err="1">
                <a:latin typeface="Courier New" pitchFamily="49" charset="0"/>
              </a:rPr>
              <a:t>msbmux</a:t>
            </a:r>
            <a:r>
              <a:rPr lang="en-US" sz="1600" dirty="0">
                <a:latin typeface="Courier New" pitchFamily="49" charset="0"/>
              </a:rPr>
              <a:t>(d0[7:4], d1[7:4], s, y[7:4]);</a:t>
            </a:r>
          </a:p>
          <a:p>
            <a:pPr>
              <a:buFontTx/>
              <a:buNone/>
            </a:pPr>
            <a:r>
              <a:rPr lang="en-US" sz="1600" dirty="0" err="1">
                <a:latin typeface="Courier New" pitchFamily="49" charset="0"/>
              </a:rPr>
              <a:t>endmodule</a:t>
            </a:r>
            <a:endParaRPr lang="en-US" sz="1600" dirty="0">
              <a:latin typeface="Courier New" pitchFamily="49" charset="0"/>
            </a:endParaRPr>
          </a:p>
          <a:p>
            <a:pPr>
              <a:buFontTx/>
              <a:buNone/>
            </a:pPr>
            <a:endParaRPr lang="en-US" sz="1600" dirty="0">
              <a:latin typeface="Courier New" pitchFamily="49" charset="0"/>
            </a:endParaRPr>
          </a:p>
        </p:txBody>
      </p:sp>
      <p:graphicFrame>
        <p:nvGraphicFramePr>
          <p:cNvPr id="888837" name="Object 5"/>
          <p:cNvGraphicFramePr>
            <a:graphicFrameLocks noGrp="1" noChangeAspect="1"/>
          </p:cNvGraphicFramePr>
          <p:nvPr>
            <p:ph sz="half" idx="4294967295"/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4239405215"/>
              </p:ext>
            </p:extLst>
          </p:nvPr>
        </p:nvGraphicFramePr>
        <p:xfrm>
          <a:off x="4778375" y="2859087"/>
          <a:ext cx="4137025" cy="3008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8" imgW="2332800" imgH="1695600" progId="Visio.Drawing.6">
                  <p:embed/>
                </p:oleObj>
              </mc:Choice>
              <mc:Fallback>
                <p:oleObj name="VISIO" r:id="rId8" imgW="2332800" imgH="1695600" progId="Visio.Drawing.6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78375" y="2859087"/>
                        <a:ext cx="4137025" cy="3008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Bit Manipulations: Example 2</a:t>
            </a:r>
          </a:p>
        </p:txBody>
      </p:sp>
      <p:sp>
        <p:nvSpPr>
          <p:cNvPr id="8" name="Text Box 6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57200" y="838200"/>
            <a:ext cx="42672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 err="1">
                <a:solidFill>
                  <a:srgbClr val="0070C0"/>
                </a:solidFill>
              </a:rPr>
              <a:t>SystemVerilog</a:t>
            </a:r>
            <a:r>
              <a:rPr lang="en-US" sz="3200" b="1" dirty="0">
                <a:solidFill>
                  <a:srgbClr val="0070C0"/>
                </a:solidFill>
              </a:rPr>
              <a:t>:</a:t>
            </a:r>
          </a:p>
        </p:txBody>
      </p:sp>
      <p:sp>
        <p:nvSpPr>
          <p:cNvPr id="7" name="Text Box 6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6096000" y="2133600"/>
            <a:ext cx="21336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>
                <a:solidFill>
                  <a:srgbClr val="0070C0"/>
                </a:solidFill>
              </a:rPr>
              <a:t>Synthesis:</a:t>
            </a:r>
          </a:p>
        </p:txBody>
      </p:sp>
    </p:spTree>
    <p:extLst>
      <p:ext uri="{BB962C8B-B14F-4D97-AF65-F5344CB8AC3E}">
        <p14:creationId xmlns:p14="http://schemas.microsoft.com/office/powerpoint/2010/main" val="3439483812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85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graphicFrame>
        <p:nvGraphicFramePr>
          <p:cNvPr id="889863" name="Object 7"/>
          <p:cNvGraphicFramePr>
            <a:graphicFrameLocks noGrp="1" noChangeAspect="1"/>
          </p:cNvGraphicFramePr>
          <p:nvPr>
            <p:ph idx="4294967295"/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11309837"/>
              </p:ext>
            </p:extLst>
          </p:nvPr>
        </p:nvGraphicFramePr>
        <p:xfrm>
          <a:off x="2057400" y="4290646"/>
          <a:ext cx="5638800" cy="1392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8" imgW="2332800" imgH="576360" progId="Visio.Drawing.6">
                  <p:embed/>
                </p:oleObj>
              </mc:Choice>
              <mc:Fallback>
                <p:oleObj name="VISIO" r:id="rId8" imgW="2332800" imgH="576360" progId="Visio.Drawing.6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57400" y="4290646"/>
                        <a:ext cx="5638800" cy="1392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89860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144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module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tristate</a:t>
            </a:r>
            <a:r>
              <a:rPr lang="en-US" sz="1800" dirty="0">
                <a:latin typeface="Courier New" pitchFamily="49" charset="0"/>
                <a:cs typeface="Arial" charset="0"/>
              </a:rPr>
              <a:t>(input  </a:t>
            </a:r>
            <a:r>
              <a:rPr lang="en-US" dirty="0">
                <a:latin typeface="Courier New" pitchFamily="49" charset="0"/>
              </a:rPr>
              <a:t>logic </a:t>
            </a:r>
            <a:r>
              <a:rPr lang="en-US" sz="1800" dirty="0">
                <a:latin typeface="Courier New" pitchFamily="49" charset="0"/>
                <a:cs typeface="Arial" charset="0"/>
              </a:rPr>
              <a:t>[3:0] a, 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          input  </a:t>
            </a:r>
            <a:r>
              <a:rPr lang="en-US" dirty="0">
                <a:latin typeface="Courier New" pitchFamily="49" charset="0"/>
              </a:rPr>
              <a:t>logic</a:t>
            </a:r>
            <a:r>
              <a:rPr lang="en-US" sz="1800" dirty="0">
                <a:latin typeface="Courier New" pitchFamily="49" charset="0"/>
                <a:cs typeface="Arial" charset="0"/>
              </a:rPr>
              <a:t>       en, 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          output </a:t>
            </a:r>
            <a:r>
              <a:rPr lang="en-US" dirty="0">
                <a:latin typeface="Courier New" pitchFamily="49" charset="0"/>
              </a:rPr>
              <a:t>tri   </a:t>
            </a:r>
            <a:r>
              <a:rPr lang="en-US" sz="1800" dirty="0">
                <a:latin typeface="Courier New" pitchFamily="49" charset="0"/>
                <a:cs typeface="Arial" charset="0"/>
              </a:rPr>
              <a:t>[3:0] y);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assign y = en ? a : 4'bz;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 err="1">
                <a:latin typeface="Courier New" pitchFamily="49" charset="0"/>
                <a:cs typeface="Arial" charset="0"/>
              </a:rPr>
              <a:t>endmodule</a:t>
            </a:r>
            <a:endParaRPr lang="en-US" sz="1800" dirty="0">
              <a:latin typeface="Courier New" pitchFamily="49" charset="0"/>
              <a:cs typeface="Arial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Z: Floating Output</a:t>
            </a:r>
          </a:p>
        </p:txBody>
      </p:sp>
      <p:sp>
        <p:nvSpPr>
          <p:cNvPr id="8" name="Text Box 6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914400" y="1081087"/>
            <a:ext cx="42672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 err="1">
                <a:solidFill>
                  <a:srgbClr val="0070C0"/>
                </a:solidFill>
              </a:rPr>
              <a:t>SystemVerilog</a:t>
            </a:r>
            <a:r>
              <a:rPr lang="en-US" sz="3200" b="1" dirty="0">
                <a:solidFill>
                  <a:srgbClr val="0070C0"/>
                </a:solidFill>
              </a:rPr>
              <a:t>:</a:t>
            </a:r>
          </a:p>
        </p:txBody>
      </p:sp>
      <p:sp>
        <p:nvSpPr>
          <p:cNvPr id="7" name="Text Box 6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3505200" y="3776554"/>
            <a:ext cx="21336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>
                <a:solidFill>
                  <a:srgbClr val="0070C0"/>
                </a:solidFill>
              </a:rPr>
              <a:t>Synthesis:</a:t>
            </a:r>
          </a:p>
        </p:txBody>
      </p:sp>
    </p:spTree>
    <p:extLst>
      <p:ext uri="{BB962C8B-B14F-4D97-AF65-F5344CB8AC3E}">
        <p14:creationId xmlns:p14="http://schemas.microsoft.com/office/powerpoint/2010/main" val="4260384911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88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90884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592015" y="914400"/>
            <a:ext cx="8229600" cy="4525963"/>
          </a:xfrm>
        </p:spPr>
        <p:txBody>
          <a:bodyPr>
            <a:normAutofit/>
          </a:bodyPr>
          <a:lstStyle/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module example(input  logic a, b, c,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             output logic y);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logic 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, bb,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, n1, n2, n3;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#1 {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, bb,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} = ~{a, b, c};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#2 n1 = 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 &amp; bb &amp;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#2 n2 = a &amp; bb &amp;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#2 n3 = a &amp; bb &amp; c;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#4 y = n1 | n2 | n3;</a:t>
            </a:r>
          </a:p>
          <a:p>
            <a:pPr>
              <a:buFontTx/>
              <a:buNone/>
            </a:pPr>
            <a:r>
              <a:rPr lang="en-US" sz="1600" dirty="0" err="1">
                <a:latin typeface="Courier New" pitchFamily="49" charset="0"/>
              </a:rPr>
              <a:t>endmodule</a:t>
            </a:r>
            <a:r>
              <a:rPr lang="en-US" sz="1600" dirty="0">
                <a:latin typeface="Courier New" pitchFamily="49" charset="0"/>
              </a:rPr>
              <a:t> </a:t>
            </a:r>
          </a:p>
        </p:txBody>
      </p:sp>
      <p:pic>
        <p:nvPicPr>
          <p:cNvPr id="890885" name="Picture 5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3581400"/>
            <a:ext cx="8001000" cy="2257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Delays</a:t>
            </a:r>
          </a:p>
        </p:txBody>
      </p:sp>
    </p:spTree>
    <p:extLst>
      <p:ext uri="{BB962C8B-B14F-4D97-AF65-F5344CB8AC3E}">
        <p14:creationId xmlns:p14="http://schemas.microsoft.com/office/powerpoint/2010/main" val="2765924769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90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91908" name="Rectangle 4"/>
          <p:cNvSpPr>
            <a:spLocks noGrp="1" noChangeArrowheads="1"/>
          </p:cNvSpPr>
          <p:nvPr>
            <p:ph sz="half" idx="4294967295"/>
            <p:custDataLst>
              <p:tags r:id="rId2"/>
            </p:custDataLst>
          </p:nvPr>
        </p:nvSpPr>
        <p:spPr>
          <a:xfrm>
            <a:off x="533400" y="1181100"/>
            <a:ext cx="4648200" cy="4953000"/>
          </a:xfrm>
        </p:spPr>
        <p:txBody>
          <a:bodyPr/>
          <a:lstStyle/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module example(input  logic a, b, c,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             output logic y);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logic 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, bb,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, n1, n2, n3;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#1 {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, bb,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} = 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                ~{a, b, c};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#2 n1 = 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 &amp; bb &amp;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#2 n2 = a &amp; bb &amp;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#2 n3 = a &amp; bb &amp; c;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#4 y = n1 | n2 | n3;</a:t>
            </a:r>
          </a:p>
          <a:p>
            <a:pPr>
              <a:buFontTx/>
              <a:buNone/>
            </a:pPr>
            <a:r>
              <a:rPr lang="en-US" sz="1600" dirty="0" err="1">
                <a:latin typeface="Courier New" pitchFamily="49" charset="0"/>
              </a:rPr>
              <a:t>endmodule</a:t>
            </a:r>
            <a:r>
              <a:rPr lang="en-US" sz="1600" dirty="0">
                <a:latin typeface="Courier New" pitchFamily="49" charset="0"/>
              </a:rPr>
              <a:t> </a:t>
            </a:r>
          </a:p>
        </p:txBody>
      </p:sp>
      <p:graphicFrame>
        <p:nvGraphicFramePr>
          <p:cNvPr id="891909" name="Object 5"/>
          <p:cNvGraphicFramePr>
            <a:graphicFrameLocks noGrp="1" noChangeAspect="1"/>
          </p:cNvGraphicFramePr>
          <p:nvPr>
            <p:ph sz="half" idx="4294967295"/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543268950"/>
              </p:ext>
            </p:extLst>
          </p:nvPr>
        </p:nvGraphicFramePr>
        <p:xfrm>
          <a:off x="5638800" y="1232694"/>
          <a:ext cx="2855912" cy="4392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2856281" imgH="4593946" progId="Visio.Drawing.11">
                  <p:embed/>
                </p:oleObj>
              </mc:Choice>
              <mc:Fallback>
                <p:oleObj name="Visio" r:id="rId6" imgW="2856281" imgH="4593946" progId="Visio.Drawing.1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38800" y="1232694"/>
                        <a:ext cx="2855912" cy="4392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Delays</a:t>
            </a:r>
          </a:p>
        </p:txBody>
      </p:sp>
    </p:spTree>
    <p:extLst>
      <p:ext uri="{BB962C8B-B14F-4D97-AF65-F5344CB8AC3E}">
        <p14:creationId xmlns:p14="http://schemas.microsoft.com/office/powerpoint/2010/main" val="4271932995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90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76200" y="838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91908" name="Rectangle 4"/>
          <p:cNvSpPr>
            <a:spLocks noGrp="1" noChangeArrowheads="1"/>
          </p:cNvSpPr>
          <p:nvPr>
            <p:ph sz="half" idx="4294967295"/>
            <p:custDataLst>
              <p:tags r:id="rId2"/>
            </p:custDataLst>
          </p:nvPr>
        </p:nvSpPr>
        <p:spPr>
          <a:xfrm>
            <a:off x="533400" y="1219200"/>
            <a:ext cx="4648200" cy="4953000"/>
          </a:xfrm>
        </p:spPr>
        <p:txBody>
          <a:bodyPr/>
          <a:lstStyle/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module example(input  logic a, b, c,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             output logic y);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logic 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, bb,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, n1, n2, n3;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assign #1 {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ab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, bb, 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cb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} = </a:t>
            </a:r>
          </a:p>
          <a:p>
            <a:pPr>
              <a:buFontTx/>
              <a:buNone/>
            </a:pP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                  ~{a, b, c};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#2 n1 = 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 &amp; bb &amp;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#2 n2 = a &amp; bb &amp;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#2 n3 = a &amp; bb &amp; c;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#4 y = n1 | n2 | n3;</a:t>
            </a:r>
          </a:p>
          <a:p>
            <a:pPr>
              <a:buFontTx/>
              <a:buNone/>
            </a:pPr>
            <a:r>
              <a:rPr lang="en-US" sz="1600" dirty="0" err="1">
                <a:latin typeface="Courier New" pitchFamily="49" charset="0"/>
              </a:rPr>
              <a:t>endmodule</a:t>
            </a:r>
            <a:r>
              <a:rPr lang="en-US" sz="1600" dirty="0">
                <a:latin typeface="Courier New" pitchFamily="49" charset="0"/>
              </a:rPr>
              <a:t> </a:t>
            </a:r>
          </a:p>
        </p:txBody>
      </p:sp>
      <p:graphicFrame>
        <p:nvGraphicFramePr>
          <p:cNvPr id="891909" name="Object 5"/>
          <p:cNvGraphicFramePr>
            <a:graphicFrameLocks noGrp="1" noChangeAspect="1"/>
          </p:cNvGraphicFramePr>
          <p:nvPr>
            <p:ph sz="half" idx="4294967295"/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812549094"/>
              </p:ext>
            </p:extLst>
          </p:nvPr>
        </p:nvGraphicFramePr>
        <p:xfrm>
          <a:off x="5373688" y="1246188"/>
          <a:ext cx="2855912" cy="4392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2856281" imgH="4593946" progId="Visio.Drawing.11">
                  <p:embed/>
                </p:oleObj>
              </mc:Choice>
              <mc:Fallback>
                <p:oleObj name="Visio" r:id="rId6" imgW="2856281" imgH="4593946" progId="Visio.Drawing.1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73688" y="1246188"/>
                        <a:ext cx="2855912" cy="4392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Delays</a:t>
            </a:r>
          </a:p>
        </p:txBody>
      </p:sp>
      <p:cxnSp>
        <p:nvCxnSpPr>
          <p:cNvPr id="3" name="Straight Connector 2"/>
          <p:cNvCxnSpPr/>
          <p:nvPr/>
        </p:nvCxnSpPr>
        <p:spPr>
          <a:xfrm flipV="1">
            <a:off x="6364288" y="990600"/>
            <a:ext cx="0" cy="21336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>
            <a:off x="6135688" y="1143000"/>
            <a:ext cx="228600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38802" y="8382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86745775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90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91908" name="Rectangle 4"/>
          <p:cNvSpPr>
            <a:spLocks noGrp="1" noChangeArrowheads="1"/>
          </p:cNvSpPr>
          <p:nvPr>
            <p:ph sz="half" idx="4294967295"/>
            <p:custDataLst>
              <p:tags r:id="rId2"/>
            </p:custDataLst>
          </p:nvPr>
        </p:nvSpPr>
        <p:spPr>
          <a:xfrm>
            <a:off x="914400" y="1181100"/>
            <a:ext cx="4648200" cy="4953000"/>
          </a:xfrm>
        </p:spPr>
        <p:txBody>
          <a:bodyPr/>
          <a:lstStyle/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module example(input  logic a, b, c,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             output logic y);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logic 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, bb,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, n1, n2, n3;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#1 {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, bb,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} = 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                ~{a, b, c};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#2 n1 = 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 &amp; bb &amp;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  assign #2 n2 = a </a:t>
            </a:r>
            <a:r>
              <a:rPr lang="en-US" sz="1600" dirty="0">
                <a:latin typeface="Courier New" pitchFamily="49" charset="0"/>
              </a:rPr>
              <a:t>&amp; bb &amp;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  assign #2 n3 = a </a:t>
            </a:r>
            <a:r>
              <a:rPr lang="en-US" sz="1600" dirty="0">
                <a:latin typeface="Courier New" pitchFamily="49" charset="0"/>
              </a:rPr>
              <a:t>&amp; bb &amp; c;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#4 y = n1 | n2 | n3;</a:t>
            </a:r>
          </a:p>
          <a:p>
            <a:pPr>
              <a:buFontTx/>
              <a:buNone/>
            </a:pPr>
            <a:r>
              <a:rPr lang="en-US" sz="1600" dirty="0" err="1">
                <a:latin typeface="Courier New" pitchFamily="49" charset="0"/>
              </a:rPr>
              <a:t>endmodule</a:t>
            </a:r>
            <a:r>
              <a:rPr lang="en-US" sz="1600" dirty="0">
                <a:latin typeface="Courier New" pitchFamily="49" charset="0"/>
              </a:rPr>
              <a:t> </a:t>
            </a:r>
          </a:p>
        </p:txBody>
      </p:sp>
      <p:graphicFrame>
        <p:nvGraphicFramePr>
          <p:cNvPr id="891909" name="Object 5"/>
          <p:cNvGraphicFramePr>
            <a:graphicFrameLocks noGrp="1" noChangeAspect="1"/>
          </p:cNvGraphicFramePr>
          <p:nvPr>
            <p:ph sz="half" idx="4294967295"/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671956896"/>
              </p:ext>
            </p:extLst>
          </p:nvPr>
        </p:nvGraphicFramePr>
        <p:xfrm>
          <a:off x="5602288" y="1398588"/>
          <a:ext cx="2855912" cy="4392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2856281" imgH="4593946" progId="Visio.Drawing.11">
                  <p:embed/>
                </p:oleObj>
              </mc:Choice>
              <mc:Fallback>
                <p:oleObj name="Visio" r:id="rId6" imgW="2856281" imgH="4593946" progId="Visio.Drawing.1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02288" y="1398588"/>
                        <a:ext cx="2855912" cy="4392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Delays</a:t>
            </a:r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6745288" y="1143000"/>
            <a:ext cx="0" cy="32766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>
            <a:off x="6364288" y="1295400"/>
            <a:ext cx="381000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43602" y="9906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14461694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90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91908" name="Rectangle 4"/>
          <p:cNvSpPr>
            <a:spLocks noGrp="1" noChangeArrowheads="1"/>
          </p:cNvSpPr>
          <p:nvPr>
            <p:ph sz="half" idx="4294967295"/>
            <p:custDataLst>
              <p:tags r:id="rId2"/>
            </p:custDataLst>
          </p:nvPr>
        </p:nvSpPr>
        <p:spPr>
          <a:xfrm>
            <a:off x="914400" y="1181100"/>
            <a:ext cx="4648200" cy="4953000"/>
          </a:xfrm>
        </p:spPr>
        <p:txBody>
          <a:bodyPr/>
          <a:lstStyle/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module example(input  logic a, b, c,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             output logic y);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logic 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, bb,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, n1, n2, n3;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#1 {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, bb,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} = 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                ~{a, b, c};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assign #2 n1 = 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ab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 &amp; bb &amp; 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cb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#2 n2 = a &amp; bb &amp;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#2 n3 = a &amp; bb &amp; c;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#4 y = n1 | n2 | n3;</a:t>
            </a:r>
          </a:p>
          <a:p>
            <a:pPr>
              <a:buFontTx/>
              <a:buNone/>
            </a:pPr>
            <a:r>
              <a:rPr lang="en-US" sz="1600" dirty="0" err="1">
                <a:latin typeface="Courier New" pitchFamily="49" charset="0"/>
              </a:rPr>
              <a:t>endmodule</a:t>
            </a:r>
            <a:r>
              <a:rPr lang="en-US" sz="1600" dirty="0">
                <a:latin typeface="Courier New" pitchFamily="49" charset="0"/>
              </a:rPr>
              <a:t> </a:t>
            </a:r>
          </a:p>
        </p:txBody>
      </p:sp>
      <p:graphicFrame>
        <p:nvGraphicFramePr>
          <p:cNvPr id="891909" name="Object 5"/>
          <p:cNvGraphicFramePr>
            <a:graphicFrameLocks noGrp="1" noChangeAspect="1"/>
          </p:cNvGraphicFramePr>
          <p:nvPr>
            <p:ph sz="half" idx="4294967295"/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540630950"/>
              </p:ext>
            </p:extLst>
          </p:nvPr>
        </p:nvGraphicFramePr>
        <p:xfrm>
          <a:off x="5602288" y="1295400"/>
          <a:ext cx="2855912" cy="4392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2856281" imgH="4593946" progId="Visio.Drawing.11">
                  <p:embed/>
                </p:oleObj>
              </mc:Choice>
              <mc:Fallback>
                <p:oleObj name="Visio" r:id="rId6" imgW="2856281" imgH="4593946" progId="Visio.Drawing.1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02288" y="1295400"/>
                        <a:ext cx="2855912" cy="4392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Delays</a:t>
            </a:r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6973888" y="2297112"/>
            <a:ext cx="0" cy="12573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>
            <a:off x="6592888" y="3261280"/>
            <a:ext cx="381000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672202" y="29564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41606265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90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91908" name="Rectangle 4"/>
          <p:cNvSpPr>
            <a:spLocks noGrp="1" noChangeArrowheads="1"/>
          </p:cNvSpPr>
          <p:nvPr>
            <p:ph sz="half" idx="4294967295"/>
            <p:custDataLst>
              <p:tags r:id="rId2"/>
            </p:custDataLst>
          </p:nvPr>
        </p:nvSpPr>
        <p:spPr>
          <a:xfrm>
            <a:off x="914400" y="1181100"/>
            <a:ext cx="4648200" cy="4953000"/>
          </a:xfrm>
        </p:spPr>
        <p:txBody>
          <a:bodyPr/>
          <a:lstStyle/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module example(input  logic a, b, c,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             output logic y);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logic 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, bb,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, n1, n2, n3;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#1 {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, bb,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} = 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                ~{a, b, c};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#2 n1 = </a:t>
            </a:r>
            <a:r>
              <a:rPr lang="en-US" sz="1600" dirty="0" err="1">
                <a:latin typeface="Courier New" pitchFamily="49" charset="0"/>
              </a:rPr>
              <a:t>ab</a:t>
            </a:r>
            <a:r>
              <a:rPr lang="en-US" sz="1600" dirty="0">
                <a:latin typeface="Courier New" pitchFamily="49" charset="0"/>
              </a:rPr>
              <a:t> &amp; bb &amp;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#2 n2 = a &amp; bb &amp; </a:t>
            </a:r>
            <a:r>
              <a:rPr lang="en-US" sz="1600" dirty="0" err="1">
                <a:latin typeface="Courier New" pitchFamily="49" charset="0"/>
              </a:rPr>
              <a:t>cb</a:t>
            </a:r>
            <a:r>
              <a:rPr lang="en-US" sz="1600" dirty="0"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assign #2 n3 = a &amp; bb &amp; c;</a:t>
            </a:r>
          </a:p>
          <a:p>
            <a:pPr>
              <a:buFontTx/>
              <a:buNone/>
            </a:pP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  assign #4 y = n1</a:t>
            </a:r>
            <a:r>
              <a:rPr lang="en-US" sz="1600" dirty="0">
                <a:latin typeface="Courier New" pitchFamily="49" charset="0"/>
              </a:rPr>
              <a:t> | n2 | n3;</a:t>
            </a:r>
          </a:p>
          <a:p>
            <a:pPr>
              <a:buFontTx/>
              <a:buNone/>
            </a:pPr>
            <a:r>
              <a:rPr lang="en-US" sz="1600" dirty="0" err="1">
                <a:latin typeface="Courier New" pitchFamily="49" charset="0"/>
              </a:rPr>
              <a:t>endmodule</a:t>
            </a:r>
            <a:r>
              <a:rPr lang="en-US" sz="1600" dirty="0">
                <a:latin typeface="Courier New" pitchFamily="49" charset="0"/>
              </a:rPr>
              <a:t> </a:t>
            </a:r>
          </a:p>
        </p:txBody>
      </p:sp>
      <p:graphicFrame>
        <p:nvGraphicFramePr>
          <p:cNvPr id="891909" name="Object 5"/>
          <p:cNvGraphicFramePr>
            <a:graphicFrameLocks noGrp="1" noChangeAspect="1"/>
          </p:cNvGraphicFramePr>
          <p:nvPr>
            <p:ph sz="half" idx="4294967295"/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473226640"/>
              </p:ext>
            </p:extLst>
          </p:nvPr>
        </p:nvGraphicFramePr>
        <p:xfrm>
          <a:off x="5678488" y="1219200"/>
          <a:ext cx="2855912" cy="4392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2856281" imgH="4593946" progId="Visio.Drawing.11">
                  <p:embed/>
                </p:oleObj>
              </mc:Choice>
              <mc:Fallback>
                <p:oleObj name="Visio" r:id="rId6" imgW="2856281" imgH="4593946" progId="Visio.Drawing.1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78488" y="1219200"/>
                        <a:ext cx="2855912" cy="4392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Delays</a:t>
            </a:r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7812088" y="3059112"/>
            <a:ext cx="0" cy="12573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>
            <a:off x="6973888" y="3173412"/>
            <a:ext cx="838200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58002" y="28686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02546667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18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6118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52500" y="1219200"/>
            <a:ext cx="76581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dirty="0" err="1">
                <a:latin typeface="+mj-lt"/>
                <a:cs typeface="Arial" charset="0"/>
              </a:rPr>
              <a:t>SystemVerilog</a:t>
            </a:r>
            <a:r>
              <a:rPr lang="en-US" sz="3200" dirty="0">
                <a:latin typeface="+mj-lt"/>
                <a:cs typeface="Arial" charset="0"/>
              </a:rPr>
              <a:t> uses </a:t>
            </a: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idioms</a:t>
            </a:r>
            <a:r>
              <a:rPr lang="en-US" sz="3200" dirty="0">
                <a:solidFill>
                  <a:srgbClr val="0070C0"/>
                </a:solidFill>
                <a:latin typeface="+mj-lt"/>
                <a:cs typeface="Arial" charset="0"/>
              </a:rPr>
              <a:t> </a:t>
            </a:r>
            <a:r>
              <a:rPr lang="en-US" sz="3200" dirty="0">
                <a:latin typeface="+mj-lt"/>
                <a:cs typeface="Arial" charset="0"/>
              </a:rPr>
              <a:t>to describe latches, flip-flops and FSMs</a:t>
            </a:r>
          </a:p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Other coding styles may simulate correctly but produce incorrect hardware</a:t>
            </a:r>
          </a:p>
        </p:txBody>
      </p:sp>
      <p:sp>
        <p:nvSpPr>
          <p:cNvPr id="861189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4669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Sequential Logic</a:t>
            </a:r>
          </a:p>
        </p:txBody>
      </p:sp>
    </p:spTree>
    <p:extLst>
      <p:ext uri="{BB962C8B-B14F-4D97-AF65-F5344CB8AC3E}">
        <p14:creationId xmlns:p14="http://schemas.microsoft.com/office/powerpoint/2010/main" val="1001961214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00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9600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3058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General Structure:</a:t>
            </a:r>
          </a:p>
          <a:p>
            <a:pPr marL="342900" indent="-342900">
              <a:spcBef>
                <a:spcPct val="20000"/>
              </a:spcBef>
            </a:pPr>
            <a:endParaRPr lang="en-US" sz="2400" b="1" dirty="0">
              <a:solidFill>
                <a:schemeClr val="accent2"/>
              </a:solidFill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	</a:t>
            </a:r>
            <a:r>
              <a:rPr lang="en-US" sz="2600" dirty="0">
                <a:latin typeface="Courier New" pitchFamily="49" charset="0"/>
                <a:cs typeface="Arial" charset="0"/>
              </a:rPr>
              <a:t>always @(sensitivity list)</a:t>
            </a:r>
          </a:p>
          <a:p>
            <a:pPr marL="342900" indent="-342900">
              <a:spcBef>
                <a:spcPct val="20000"/>
              </a:spcBef>
            </a:pPr>
            <a:r>
              <a:rPr lang="en-US" sz="2600" dirty="0">
                <a:latin typeface="Courier New" pitchFamily="49" charset="0"/>
                <a:cs typeface="Arial" charset="0"/>
              </a:rPr>
              <a:t>	  statement;</a:t>
            </a:r>
          </a:p>
          <a:p>
            <a:pPr marL="342900" indent="-342900"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2600" dirty="0">
                <a:latin typeface="+mj-lt"/>
                <a:cs typeface="Arial" charset="0"/>
              </a:rPr>
              <a:t>Whenever the event in </a:t>
            </a:r>
            <a:r>
              <a:rPr lang="en-US" sz="2600" dirty="0">
                <a:latin typeface="Courier New" pitchFamily="49" charset="0"/>
                <a:cs typeface="Arial" charset="0"/>
              </a:rPr>
              <a:t>sensitivity list</a:t>
            </a:r>
            <a:r>
              <a:rPr lang="en-US" sz="2600" dirty="0">
                <a:latin typeface="Times New Roman" pitchFamily="18" charset="0"/>
                <a:cs typeface="Arial" charset="0"/>
              </a:rPr>
              <a:t> </a:t>
            </a:r>
            <a:r>
              <a:rPr lang="en-US" sz="2600" dirty="0">
                <a:latin typeface="+mj-lt"/>
                <a:cs typeface="Arial" charset="0"/>
              </a:rPr>
              <a:t>occurs, </a:t>
            </a:r>
            <a:r>
              <a:rPr lang="en-US" sz="2600" dirty="0">
                <a:latin typeface="Courier New" pitchFamily="49" charset="0"/>
                <a:cs typeface="Arial" charset="0"/>
              </a:rPr>
              <a:t>statement</a:t>
            </a:r>
            <a:r>
              <a:rPr lang="en-US" sz="2600" dirty="0">
                <a:latin typeface="Times New Roman" pitchFamily="18" charset="0"/>
                <a:cs typeface="Arial" charset="0"/>
              </a:rPr>
              <a:t> </a:t>
            </a:r>
            <a:r>
              <a:rPr lang="en-US" sz="2600" dirty="0">
                <a:latin typeface="+mj-lt"/>
                <a:cs typeface="Arial" charset="0"/>
              </a:rPr>
              <a:t>is executed</a:t>
            </a:r>
          </a:p>
        </p:txBody>
      </p:sp>
      <p:sp>
        <p:nvSpPr>
          <p:cNvPr id="896005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0" y="2466975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always Statement</a:t>
            </a:r>
          </a:p>
        </p:txBody>
      </p:sp>
    </p:spTree>
    <p:extLst>
      <p:ext uri="{BB962C8B-B14F-4D97-AF65-F5344CB8AC3E}">
        <p14:creationId xmlns:p14="http://schemas.microsoft.com/office/powerpoint/2010/main" val="2829149395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212" name="Text Box 4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09600" y="1143000"/>
            <a:ext cx="7848600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1800" dirty="0">
                <a:latin typeface="Courier New" pitchFamily="49" charset="0"/>
              </a:rPr>
              <a:t>module flop(input  </a:t>
            </a:r>
            <a:r>
              <a:rPr lang="en-US" dirty="0">
                <a:latin typeface="Courier New" pitchFamily="49" charset="0"/>
              </a:rPr>
              <a:t>logic</a:t>
            </a:r>
            <a:r>
              <a:rPr lang="en-US" sz="1800" dirty="0">
                <a:latin typeface="Courier New" pitchFamily="49" charset="0"/>
              </a:rPr>
              <a:t>       </a:t>
            </a:r>
            <a:r>
              <a:rPr lang="en-US" sz="1800" dirty="0" err="1">
                <a:latin typeface="Courier New" pitchFamily="49" charset="0"/>
              </a:rPr>
              <a:t>clk</a:t>
            </a:r>
            <a:r>
              <a:rPr lang="en-US" sz="1800" dirty="0">
                <a:latin typeface="Courier New" pitchFamily="49" charset="0"/>
              </a:rPr>
              <a:t>, </a:t>
            </a:r>
          </a:p>
          <a:p>
            <a:r>
              <a:rPr lang="en-US" sz="1800" dirty="0">
                <a:latin typeface="Courier New" pitchFamily="49" charset="0"/>
              </a:rPr>
              <a:t>            input  </a:t>
            </a:r>
            <a:r>
              <a:rPr lang="en-US" dirty="0">
                <a:latin typeface="Courier New" pitchFamily="49" charset="0"/>
              </a:rPr>
              <a:t>logic</a:t>
            </a:r>
            <a:r>
              <a:rPr lang="en-US" sz="1800" dirty="0">
                <a:latin typeface="Courier New" pitchFamily="49" charset="0"/>
              </a:rPr>
              <a:t> [3:0] d, </a:t>
            </a:r>
          </a:p>
          <a:p>
            <a:r>
              <a:rPr lang="en-US" sz="1800" dirty="0">
                <a:latin typeface="Courier New" pitchFamily="49" charset="0"/>
              </a:rPr>
              <a:t>            output logic [3:0] q);</a:t>
            </a:r>
          </a:p>
          <a:p>
            <a:endParaRPr lang="en-US" sz="1800" dirty="0">
              <a:latin typeface="Courier New" pitchFamily="49" charset="0"/>
            </a:endParaRPr>
          </a:p>
          <a:p>
            <a:r>
              <a:rPr lang="en-US" sz="1800" dirty="0">
                <a:latin typeface="Courier New" pitchFamily="49" charset="0"/>
              </a:rPr>
              <a:t>  </a:t>
            </a:r>
            <a:r>
              <a:rPr lang="en-US" sz="1800" dirty="0" err="1">
                <a:latin typeface="Courier New" pitchFamily="49" charset="0"/>
              </a:rPr>
              <a:t>always_ff</a:t>
            </a:r>
            <a:r>
              <a:rPr lang="en-US" sz="1800" dirty="0">
                <a:latin typeface="Courier New" pitchFamily="49" charset="0"/>
              </a:rPr>
              <a:t> @(</a:t>
            </a:r>
            <a:r>
              <a:rPr lang="en-US" sz="1800" dirty="0" err="1">
                <a:latin typeface="Courier New" pitchFamily="49" charset="0"/>
              </a:rPr>
              <a:t>posedge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 err="1">
                <a:latin typeface="Courier New" pitchFamily="49" charset="0"/>
              </a:rPr>
              <a:t>clk</a:t>
            </a:r>
            <a:r>
              <a:rPr lang="en-US" sz="1800" dirty="0">
                <a:latin typeface="Courier New" pitchFamily="49" charset="0"/>
              </a:rPr>
              <a:t>)</a:t>
            </a:r>
          </a:p>
          <a:p>
            <a:r>
              <a:rPr lang="en-US" sz="1800" dirty="0">
                <a:latin typeface="Courier New" pitchFamily="49" charset="0"/>
              </a:rPr>
              <a:t>    q &lt;= d;                // pronounced “q gets d”</a:t>
            </a:r>
          </a:p>
          <a:p>
            <a:endParaRPr lang="en-US" sz="1800" dirty="0">
              <a:latin typeface="Courier New" pitchFamily="49" charset="0"/>
            </a:endParaRPr>
          </a:p>
          <a:p>
            <a:r>
              <a:rPr lang="en-US" sz="1800" dirty="0" err="1">
                <a:latin typeface="Courier New" pitchFamily="49" charset="0"/>
              </a:rPr>
              <a:t>endmodule</a:t>
            </a:r>
            <a:endParaRPr lang="en-US" sz="1800" dirty="0">
              <a:latin typeface="Courier New" pitchFamily="49" charset="0"/>
            </a:endParaRPr>
          </a:p>
          <a:p>
            <a:endParaRPr lang="en-US" sz="1800" dirty="0">
              <a:latin typeface="Courier New" pitchFamily="49" charset="0"/>
            </a:endParaRPr>
          </a:p>
          <a:p>
            <a:endParaRPr lang="en-US" sz="1800" dirty="0">
              <a:latin typeface="Courier New" pitchFamily="49" charset="0"/>
            </a:endParaRPr>
          </a:p>
          <a:p>
            <a:endParaRPr lang="en-US" sz="1800" dirty="0">
              <a:latin typeface="Courier New" pitchFamily="49" charset="0"/>
            </a:endParaRPr>
          </a:p>
        </p:txBody>
      </p:sp>
      <p:pic>
        <p:nvPicPr>
          <p:cNvPr id="862213" name="Picture 5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4168775"/>
            <a:ext cx="4808538" cy="1044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 Flip-Flop</a:t>
            </a:r>
          </a:p>
        </p:txBody>
      </p:sp>
      <p:sp>
        <p:nvSpPr>
          <p:cNvPr id="5" name="Text Box 6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810000" y="3682425"/>
            <a:ext cx="21336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>
                <a:solidFill>
                  <a:srgbClr val="0070C0"/>
                </a:solidFill>
              </a:rPr>
              <a:t>Synthesis:</a:t>
            </a:r>
          </a:p>
        </p:txBody>
      </p:sp>
    </p:spTree>
    <p:extLst>
      <p:ext uri="{BB962C8B-B14F-4D97-AF65-F5344CB8AC3E}">
        <p14:creationId xmlns:p14="http://schemas.microsoft.com/office/powerpoint/2010/main" val="1776606946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234" name="Text Box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09600" y="1154112"/>
            <a:ext cx="8458200" cy="3113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1800" dirty="0">
                <a:latin typeface="Courier New" pitchFamily="49" charset="0"/>
              </a:rPr>
              <a:t>module </a:t>
            </a:r>
            <a:r>
              <a:rPr lang="en-US" sz="1800" dirty="0" err="1">
                <a:latin typeface="Courier New" pitchFamily="49" charset="0"/>
              </a:rPr>
              <a:t>flopr</a:t>
            </a:r>
            <a:r>
              <a:rPr lang="en-US" sz="1800" dirty="0">
                <a:latin typeface="Courier New" pitchFamily="49" charset="0"/>
              </a:rPr>
              <a:t>(input  logic       </a:t>
            </a:r>
            <a:r>
              <a:rPr lang="en-US" sz="1800" dirty="0" err="1">
                <a:latin typeface="Courier New" pitchFamily="49" charset="0"/>
              </a:rPr>
              <a:t>clk</a:t>
            </a:r>
            <a:r>
              <a:rPr lang="en-US" sz="1800" dirty="0">
                <a:latin typeface="Courier New" pitchFamily="49" charset="0"/>
              </a:rPr>
              <a:t>,</a:t>
            </a:r>
          </a:p>
          <a:p>
            <a:r>
              <a:rPr lang="en-US" sz="1800" dirty="0">
                <a:latin typeface="Courier New" pitchFamily="49" charset="0"/>
              </a:rPr>
              <a:t>             input  logic       reset, </a:t>
            </a:r>
          </a:p>
          <a:p>
            <a:r>
              <a:rPr lang="en-US" sz="1800" dirty="0">
                <a:latin typeface="Courier New" pitchFamily="49" charset="0"/>
              </a:rPr>
              <a:t>             input  logic [3:0] d, </a:t>
            </a:r>
          </a:p>
          <a:p>
            <a:r>
              <a:rPr lang="en-US" sz="1800" dirty="0">
                <a:latin typeface="Courier New" pitchFamily="49" charset="0"/>
              </a:rPr>
              <a:t>             output logic [3:0] q);</a:t>
            </a:r>
          </a:p>
          <a:p>
            <a:r>
              <a:rPr lang="en-US" sz="1800" dirty="0">
                <a:latin typeface="Courier New" pitchFamily="49" charset="0"/>
              </a:rPr>
              <a:t> </a:t>
            </a:r>
          </a:p>
          <a:p>
            <a:r>
              <a:rPr lang="en-US" sz="1800" dirty="0">
                <a:latin typeface="Courier New" pitchFamily="49" charset="0"/>
              </a:rPr>
              <a:t>  </a:t>
            </a:r>
            <a:r>
              <a:rPr lang="en-US" sz="1800" b="1" dirty="0">
                <a:solidFill>
                  <a:srgbClr val="0070C0"/>
                </a:solidFill>
                <a:latin typeface="Courier New" pitchFamily="49" charset="0"/>
              </a:rPr>
              <a:t>// synchronous reset</a:t>
            </a:r>
          </a:p>
          <a:p>
            <a:r>
              <a:rPr lang="en-US" sz="1800" dirty="0">
                <a:latin typeface="Courier New" pitchFamily="49" charset="0"/>
              </a:rPr>
              <a:t>  </a:t>
            </a:r>
            <a:r>
              <a:rPr lang="en-US" sz="1800" dirty="0" err="1">
                <a:latin typeface="Courier New" pitchFamily="49" charset="0"/>
              </a:rPr>
              <a:t>always_ff</a:t>
            </a:r>
            <a:r>
              <a:rPr lang="en-US" sz="1800" dirty="0">
                <a:latin typeface="Courier New" pitchFamily="49" charset="0"/>
              </a:rPr>
              <a:t> @(</a:t>
            </a:r>
            <a:r>
              <a:rPr lang="en-US" sz="1800" dirty="0" err="1">
                <a:latin typeface="Courier New" pitchFamily="49" charset="0"/>
              </a:rPr>
              <a:t>posedge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 err="1">
                <a:latin typeface="Courier New" pitchFamily="49" charset="0"/>
              </a:rPr>
              <a:t>clk</a:t>
            </a:r>
            <a:r>
              <a:rPr lang="en-US" sz="1800" dirty="0">
                <a:latin typeface="Courier New" pitchFamily="49" charset="0"/>
              </a:rPr>
              <a:t>)</a:t>
            </a:r>
          </a:p>
          <a:p>
            <a:r>
              <a:rPr lang="en-US" sz="1800" dirty="0">
                <a:latin typeface="Courier New" pitchFamily="49" charset="0"/>
              </a:rPr>
              <a:t>    if (reset) q &lt;= 4'b0;</a:t>
            </a:r>
          </a:p>
          <a:p>
            <a:r>
              <a:rPr lang="en-US" sz="1800" dirty="0">
                <a:latin typeface="Courier New" pitchFamily="49" charset="0"/>
              </a:rPr>
              <a:t>    else       q &lt;= d;</a:t>
            </a:r>
          </a:p>
          <a:p>
            <a:endParaRPr lang="en-US" sz="1800" dirty="0">
              <a:latin typeface="Courier New" pitchFamily="49" charset="0"/>
            </a:endParaRPr>
          </a:p>
          <a:p>
            <a:r>
              <a:rPr lang="en-US" sz="1800" dirty="0" err="1">
                <a:latin typeface="Courier New" pitchFamily="49" charset="0"/>
              </a:rPr>
              <a:t>endmodule</a:t>
            </a:r>
            <a:endParaRPr lang="en-US" sz="1800" dirty="0">
              <a:latin typeface="Courier New" pitchFamily="49" charset="0"/>
            </a:endParaRPr>
          </a:p>
        </p:txBody>
      </p:sp>
      <p:graphicFrame>
        <p:nvGraphicFramePr>
          <p:cNvPr id="863237" name="Object 5"/>
          <p:cNvGraphicFramePr>
            <a:graphicFrameLocks noGrp="1" noChangeAspect="1"/>
          </p:cNvGraphicFramePr>
          <p:nvPr>
            <p:ph sz="quarter" idx="4294967295"/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19684199"/>
              </p:ext>
            </p:extLst>
          </p:nvPr>
        </p:nvGraphicFramePr>
        <p:xfrm>
          <a:off x="1905000" y="4343400"/>
          <a:ext cx="6400800" cy="1470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7" imgW="2332800" imgH="560520" progId="Visio.Drawing.6">
                  <p:embed/>
                </p:oleObj>
              </mc:Choice>
              <mc:Fallback>
                <p:oleObj name="VISIO" r:id="rId7" imgW="2332800" imgH="560520" progId="Visio.Drawing.6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05000" y="4343400"/>
                        <a:ext cx="6400800" cy="1470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63236" name="Rectangle 4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Resettable D Flip-Flop</a:t>
            </a:r>
          </a:p>
        </p:txBody>
      </p:sp>
      <p:sp>
        <p:nvSpPr>
          <p:cNvPr id="6" name="Text Box 6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191000" y="3834825"/>
            <a:ext cx="21336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>
                <a:solidFill>
                  <a:srgbClr val="0070C0"/>
                </a:solidFill>
              </a:rPr>
              <a:t>Synthesis:</a:t>
            </a:r>
          </a:p>
        </p:txBody>
      </p:sp>
    </p:spTree>
    <p:extLst>
      <p:ext uri="{BB962C8B-B14F-4D97-AF65-F5344CB8AC3E}">
        <p14:creationId xmlns:p14="http://schemas.microsoft.com/office/powerpoint/2010/main" val="3909094965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258" name="Text Box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09600" y="1108075"/>
            <a:ext cx="8458200" cy="3387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1800" dirty="0">
                <a:latin typeface="Courier New" pitchFamily="49" charset="0"/>
              </a:rPr>
              <a:t>module </a:t>
            </a:r>
            <a:r>
              <a:rPr lang="en-US" sz="1800" dirty="0" err="1">
                <a:latin typeface="Courier New" pitchFamily="49" charset="0"/>
              </a:rPr>
              <a:t>flopr</a:t>
            </a:r>
            <a:r>
              <a:rPr lang="en-US" sz="1800" dirty="0">
                <a:latin typeface="Courier New" pitchFamily="49" charset="0"/>
              </a:rPr>
              <a:t>(input  logic       </a:t>
            </a:r>
            <a:r>
              <a:rPr lang="en-US" sz="1800" dirty="0" err="1">
                <a:latin typeface="Courier New" pitchFamily="49" charset="0"/>
              </a:rPr>
              <a:t>clk</a:t>
            </a:r>
            <a:r>
              <a:rPr lang="en-US" sz="1800" dirty="0">
                <a:latin typeface="Courier New" pitchFamily="49" charset="0"/>
              </a:rPr>
              <a:t>,</a:t>
            </a:r>
          </a:p>
          <a:p>
            <a:r>
              <a:rPr lang="en-US" sz="1800" dirty="0">
                <a:latin typeface="Courier New" pitchFamily="49" charset="0"/>
              </a:rPr>
              <a:t>             input  logic       reset, </a:t>
            </a:r>
          </a:p>
          <a:p>
            <a:r>
              <a:rPr lang="en-US" sz="1800" dirty="0">
                <a:latin typeface="Courier New" pitchFamily="49" charset="0"/>
              </a:rPr>
              <a:t>             input  logic [3:0] d, </a:t>
            </a:r>
          </a:p>
          <a:p>
            <a:r>
              <a:rPr lang="en-US" sz="1800" dirty="0">
                <a:latin typeface="Courier New" pitchFamily="49" charset="0"/>
              </a:rPr>
              <a:t>             output logic [3:0] q);</a:t>
            </a:r>
          </a:p>
          <a:p>
            <a:r>
              <a:rPr lang="en-US" sz="1800" dirty="0">
                <a:latin typeface="Courier New" pitchFamily="49" charset="0"/>
              </a:rPr>
              <a:t>   </a:t>
            </a:r>
          </a:p>
          <a:p>
            <a:r>
              <a:rPr lang="en-US" sz="1800" dirty="0">
                <a:solidFill>
                  <a:srgbClr val="0070C0"/>
                </a:solidFill>
                <a:latin typeface="Courier New" pitchFamily="49" charset="0"/>
              </a:rPr>
              <a:t>  </a:t>
            </a:r>
            <a:r>
              <a:rPr lang="en-US" sz="1800" b="1" dirty="0">
                <a:solidFill>
                  <a:srgbClr val="0070C0"/>
                </a:solidFill>
                <a:latin typeface="Courier New" pitchFamily="49" charset="0"/>
              </a:rPr>
              <a:t>// asynchronous reset</a:t>
            </a:r>
          </a:p>
          <a:p>
            <a:r>
              <a:rPr lang="en-US" sz="1800" dirty="0">
                <a:latin typeface="Courier New" pitchFamily="49" charset="0"/>
              </a:rPr>
              <a:t>  </a:t>
            </a:r>
            <a:r>
              <a:rPr lang="en-US" sz="1800" dirty="0" err="1">
                <a:latin typeface="Courier New" pitchFamily="49" charset="0"/>
              </a:rPr>
              <a:t>always_ff</a:t>
            </a:r>
            <a:r>
              <a:rPr lang="en-US" sz="1800" dirty="0">
                <a:latin typeface="Courier New" pitchFamily="49" charset="0"/>
              </a:rPr>
              <a:t> @(</a:t>
            </a:r>
            <a:r>
              <a:rPr lang="en-US" sz="1800" dirty="0" err="1">
                <a:latin typeface="Courier New" pitchFamily="49" charset="0"/>
              </a:rPr>
              <a:t>posedge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 err="1">
                <a:latin typeface="Courier New" pitchFamily="49" charset="0"/>
              </a:rPr>
              <a:t>clk</a:t>
            </a:r>
            <a:r>
              <a:rPr lang="en-US" sz="1800" dirty="0">
                <a:latin typeface="Courier New" pitchFamily="49" charset="0"/>
              </a:rPr>
              <a:t>, </a:t>
            </a:r>
            <a:r>
              <a:rPr lang="en-US" sz="1800" dirty="0" err="1">
                <a:latin typeface="Courier New" pitchFamily="49" charset="0"/>
              </a:rPr>
              <a:t>posedge</a:t>
            </a:r>
            <a:r>
              <a:rPr lang="en-US" sz="1800" dirty="0">
                <a:latin typeface="Courier New" pitchFamily="49" charset="0"/>
              </a:rPr>
              <a:t> reset)</a:t>
            </a:r>
          </a:p>
          <a:p>
            <a:r>
              <a:rPr lang="en-US" sz="1800" dirty="0">
                <a:latin typeface="Courier New" pitchFamily="49" charset="0"/>
              </a:rPr>
              <a:t>    if (reset) q &lt;= 4'b0;</a:t>
            </a:r>
          </a:p>
          <a:p>
            <a:r>
              <a:rPr lang="en-US" sz="1800" dirty="0">
                <a:latin typeface="Courier New" pitchFamily="49" charset="0"/>
              </a:rPr>
              <a:t>    else       q &lt;= d;</a:t>
            </a:r>
          </a:p>
          <a:p>
            <a:endParaRPr lang="en-US" sz="1800" dirty="0">
              <a:latin typeface="Courier New" pitchFamily="49" charset="0"/>
            </a:endParaRPr>
          </a:p>
          <a:p>
            <a:r>
              <a:rPr lang="en-US" sz="1800" dirty="0" err="1">
                <a:latin typeface="Courier New" pitchFamily="49" charset="0"/>
              </a:rPr>
              <a:t>endmodule</a:t>
            </a:r>
            <a:endParaRPr lang="en-US" sz="1800" dirty="0">
              <a:latin typeface="Courier New" pitchFamily="49" charset="0"/>
            </a:endParaRPr>
          </a:p>
          <a:p>
            <a:endParaRPr lang="en-US" sz="1800" dirty="0">
              <a:latin typeface="Courier New" pitchFamily="49" charset="0"/>
            </a:endParaRPr>
          </a:p>
        </p:txBody>
      </p:sp>
      <p:graphicFrame>
        <p:nvGraphicFramePr>
          <p:cNvPr id="864260" name="Object 4"/>
          <p:cNvGraphicFramePr>
            <a:graphicFrameLocks noGrp="1" noChangeAspect="1"/>
          </p:cNvGraphicFramePr>
          <p:nvPr>
            <p:ph sz="quarter" idx="4294967295"/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1009656"/>
              </p:ext>
            </p:extLst>
          </p:nvPr>
        </p:nvGraphicFramePr>
        <p:xfrm>
          <a:off x="1600200" y="4267200"/>
          <a:ext cx="6248400" cy="167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7" imgW="2332800" imgH="653040" progId="Visio.Drawing.6">
                  <p:embed/>
                </p:oleObj>
              </mc:Choice>
              <mc:Fallback>
                <p:oleObj name="VISIO" r:id="rId7" imgW="2332800" imgH="653040" progId="Visio.Drawing.6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00200" y="4267200"/>
                        <a:ext cx="6248400" cy="167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64261" name="Rectangle 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Resettable D Flip-Flop</a:t>
            </a:r>
          </a:p>
        </p:txBody>
      </p:sp>
      <p:sp>
        <p:nvSpPr>
          <p:cNvPr id="6" name="Text Box 6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3886200" y="3834825"/>
            <a:ext cx="21336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>
                <a:solidFill>
                  <a:srgbClr val="0070C0"/>
                </a:solidFill>
              </a:rPr>
              <a:t>Synthesis:</a:t>
            </a:r>
          </a:p>
        </p:txBody>
      </p:sp>
    </p:spTree>
    <p:extLst>
      <p:ext uri="{BB962C8B-B14F-4D97-AF65-F5344CB8AC3E}">
        <p14:creationId xmlns:p14="http://schemas.microsoft.com/office/powerpoint/2010/main" val="3768019150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282" name="Text Box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458200" cy="36623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1800" dirty="0">
                <a:latin typeface="Courier New" pitchFamily="49" charset="0"/>
              </a:rPr>
              <a:t>module </a:t>
            </a:r>
            <a:r>
              <a:rPr lang="en-US" sz="1800" dirty="0" err="1">
                <a:latin typeface="Courier New" pitchFamily="49" charset="0"/>
              </a:rPr>
              <a:t>flopren</a:t>
            </a:r>
            <a:r>
              <a:rPr lang="en-US" sz="1800" dirty="0">
                <a:latin typeface="Courier New" pitchFamily="49" charset="0"/>
              </a:rPr>
              <a:t>(input </a:t>
            </a:r>
            <a:r>
              <a:rPr lang="en-US" dirty="0">
                <a:latin typeface="Courier New" pitchFamily="49" charset="0"/>
              </a:rPr>
              <a:t> logic</a:t>
            </a:r>
            <a:r>
              <a:rPr lang="en-US" sz="1800" dirty="0">
                <a:latin typeface="Courier New" pitchFamily="49" charset="0"/>
              </a:rPr>
              <a:t>       </a:t>
            </a:r>
            <a:r>
              <a:rPr lang="en-US" sz="1800" dirty="0" err="1">
                <a:latin typeface="Courier New" pitchFamily="49" charset="0"/>
              </a:rPr>
              <a:t>clk</a:t>
            </a:r>
            <a:r>
              <a:rPr lang="en-US" sz="1800" dirty="0">
                <a:latin typeface="Courier New" pitchFamily="49" charset="0"/>
              </a:rPr>
              <a:t>,</a:t>
            </a:r>
          </a:p>
          <a:p>
            <a:r>
              <a:rPr lang="en-US" sz="1800" dirty="0">
                <a:latin typeface="Courier New" pitchFamily="49" charset="0"/>
              </a:rPr>
              <a:t>               input  logic       reset, </a:t>
            </a:r>
          </a:p>
          <a:p>
            <a:r>
              <a:rPr lang="en-US" sz="1800" dirty="0">
                <a:latin typeface="Courier New" pitchFamily="49" charset="0"/>
              </a:rPr>
              <a:t>               input  logic       en, </a:t>
            </a:r>
          </a:p>
          <a:p>
            <a:r>
              <a:rPr lang="en-US" sz="1800" dirty="0">
                <a:latin typeface="Courier New" pitchFamily="49" charset="0"/>
              </a:rPr>
              <a:t>               input  logic [3:0] d, </a:t>
            </a:r>
          </a:p>
          <a:p>
            <a:r>
              <a:rPr lang="en-US" sz="1800" dirty="0">
                <a:latin typeface="Courier New" pitchFamily="49" charset="0"/>
              </a:rPr>
              <a:t>               output logic [3:0] q);</a:t>
            </a:r>
          </a:p>
          <a:p>
            <a:endParaRPr lang="en-US" sz="1800" dirty="0">
              <a:latin typeface="Courier New" pitchFamily="49" charset="0"/>
            </a:endParaRPr>
          </a:p>
          <a:p>
            <a:r>
              <a:rPr lang="en-US" sz="1800" dirty="0">
                <a:latin typeface="Courier New" pitchFamily="49" charset="0"/>
              </a:rPr>
              <a:t>  </a:t>
            </a:r>
            <a:r>
              <a:rPr lang="en-US" sz="1800" b="1" dirty="0">
                <a:solidFill>
                  <a:srgbClr val="0070C0"/>
                </a:solidFill>
                <a:latin typeface="Courier New" pitchFamily="49" charset="0"/>
              </a:rPr>
              <a:t>// enable and asynchronous reset</a:t>
            </a:r>
          </a:p>
          <a:p>
            <a:r>
              <a:rPr lang="en-US" sz="1800" dirty="0">
                <a:latin typeface="Courier New" pitchFamily="49" charset="0"/>
              </a:rPr>
              <a:t>  </a:t>
            </a:r>
            <a:r>
              <a:rPr lang="en-US" sz="1800" dirty="0" err="1">
                <a:latin typeface="Courier New" pitchFamily="49" charset="0"/>
              </a:rPr>
              <a:t>always_ff</a:t>
            </a:r>
            <a:r>
              <a:rPr lang="en-US" sz="1800" dirty="0">
                <a:latin typeface="Courier New" pitchFamily="49" charset="0"/>
              </a:rPr>
              <a:t> @(</a:t>
            </a:r>
            <a:r>
              <a:rPr lang="en-US" sz="1800" dirty="0" err="1">
                <a:latin typeface="Courier New" pitchFamily="49" charset="0"/>
              </a:rPr>
              <a:t>posedge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 err="1">
                <a:latin typeface="Courier New" pitchFamily="49" charset="0"/>
              </a:rPr>
              <a:t>clk</a:t>
            </a:r>
            <a:r>
              <a:rPr lang="en-US" sz="1800" dirty="0">
                <a:latin typeface="Courier New" pitchFamily="49" charset="0"/>
              </a:rPr>
              <a:t>, </a:t>
            </a:r>
            <a:r>
              <a:rPr lang="en-US" sz="1800" dirty="0" err="1">
                <a:latin typeface="Courier New" pitchFamily="49" charset="0"/>
              </a:rPr>
              <a:t>posedge</a:t>
            </a:r>
            <a:r>
              <a:rPr lang="en-US" sz="1800" dirty="0">
                <a:latin typeface="Courier New" pitchFamily="49" charset="0"/>
              </a:rPr>
              <a:t> reset)</a:t>
            </a:r>
          </a:p>
          <a:p>
            <a:r>
              <a:rPr lang="en-US" sz="1800" dirty="0">
                <a:latin typeface="Courier New" pitchFamily="49" charset="0"/>
              </a:rPr>
              <a:t>    if      (reset) q &lt;= 4'b0;</a:t>
            </a:r>
          </a:p>
          <a:p>
            <a:r>
              <a:rPr lang="en-US" sz="1800" dirty="0">
                <a:latin typeface="Courier New" pitchFamily="49" charset="0"/>
              </a:rPr>
              <a:t>    else if (en)    q &lt;= d;</a:t>
            </a:r>
          </a:p>
          <a:p>
            <a:endParaRPr lang="en-US" sz="1800" dirty="0">
              <a:latin typeface="Courier New" pitchFamily="49" charset="0"/>
            </a:endParaRPr>
          </a:p>
          <a:p>
            <a:r>
              <a:rPr lang="en-US" sz="1800" dirty="0" err="1">
                <a:latin typeface="Courier New" pitchFamily="49" charset="0"/>
              </a:rPr>
              <a:t>endmodule</a:t>
            </a:r>
            <a:r>
              <a:rPr lang="en-US" sz="1800" dirty="0">
                <a:latin typeface="Courier New" pitchFamily="49" charset="0"/>
              </a:rPr>
              <a:t> </a:t>
            </a:r>
          </a:p>
          <a:p>
            <a:endParaRPr lang="en-US" sz="1800" dirty="0">
              <a:latin typeface="Courier New" pitchFamily="49" charset="0"/>
            </a:endParaRPr>
          </a:p>
        </p:txBody>
      </p:sp>
      <p:sp>
        <p:nvSpPr>
          <p:cNvPr id="86528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pic>
        <p:nvPicPr>
          <p:cNvPr id="865285" name="Picture 5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488" y="4038600"/>
            <a:ext cx="6095312" cy="1782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D Flip-Flop with Enable</a:t>
            </a:r>
          </a:p>
        </p:txBody>
      </p:sp>
      <p:sp>
        <p:nvSpPr>
          <p:cNvPr id="6" name="Text Box 6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953000" y="3606225"/>
            <a:ext cx="21336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>
                <a:solidFill>
                  <a:srgbClr val="0070C0"/>
                </a:solidFill>
              </a:rPr>
              <a:t>Synthesis:</a:t>
            </a:r>
          </a:p>
        </p:txBody>
      </p:sp>
    </p:spTree>
    <p:extLst>
      <p:ext uri="{BB962C8B-B14F-4D97-AF65-F5344CB8AC3E}">
        <p14:creationId xmlns:p14="http://schemas.microsoft.com/office/powerpoint/2010/main" val="3161405844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306" name="Text Box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458200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1800" dirty="0">
                <a:latin typeface="Courier New" pitchFamily="49" charset="0"/>
              </a:rPr>
              <a:t>module latch(input  </a:t>
            </a:r>
            <a:r>
              <a:rPr lang="en-US" dirty="0">
                <a:latin typeface="Courier New" pitchFamily="49" charset="0"/>
              </a:rPr>
              <a:t>logic</a:t>
            </a:r>
            <a:r>
              <a:rPr lang="en-US" sz="1800" dirty="0">
                <a:latin typeface="Courier New" pitchFamily="49" charset="0"/>
              </a:rPr>
              <a:t>       </a:t>
            </a:r>
            <a:r>
              <a:rPr lang="en-US" sz="1800" dirty="0" err="1">
                <a:latin typeface="Courier New" pitchFamily="49" charset="0"/>
              </a:rPr>
              <a:t>clk</a:t>
            </a:r>
            <a:r>
              <a:rPr lang="en-US" sz="1800" dirty="0">
                <a:latin typeface="Courier New" pitchFamily="49" charset="0"/>
              </a:rPr>
              <a:t>, </a:t>
            </a:r>
          </a:p>
          <a:p>
            <a:r>
              <a:rPr lang="en-US" sz="1800" dirty="0">
                <a:latin typeface="Courier New" pitchFamily="49" charset="0"/>
              </a:rPr>
              <a:t>             input  </a:t>
            </a:r>
            <a:r>
              <a:rPr lang="en-US" dirty="0">
                <a:latin typeface="Courier New" pitchFamily="49" charset="0"/>
              </a:rPr>
              <a:t>logic </a:t>
            </a:r>
            <a:r>
              <a:rPr lang="en-US" sz="1800" dirty="0">
                <a:latin typeface="Courier New" pitchFamily="49" charset="0"/>
              </a:rPr>
              <a:t>[3:0] d, </a:t>
            </a:r>
          </a:p>
          <a:p>
            <a:r>
              <a:rPr lang="en-US" sz="1800" dirty="0">
                <a:latin typeface="Courier New" pitchFamily="49" charset="0"/>
              </a:rPr>
              <a:t>             output logic [3:0] q);</a:t>
            </a:r>
          </a:p>
          <a:p>
            <a:endParaRPr lang="en-US" sz="1800" dirty="0">
              <a:latin typeface="Courier New" pitchFamily="49" charset="0"/>
            </a:endParaRPr>
          </a:p>
          <a:p>
            <a:r>
              <a:rPr lang="en-US" sz="1800" dirty="0">
                <a:latin typeface="Courier New" pitchFamily="49" charset="0"/>
              </a:rPr>
              <a:t>  </a:t>
            </a:r>
            <a:r>
              <a:rPr lang="en-US" sz="1800" dirty="0" err="1">
                <a:latin typeface="Courier New" pitchFamily="49" charset="0"/>
              </a:rPr>
              <a:t>always_latch</a:t>
            </a:r>
            <a:endParaRPr lang="en-US" sz="1800" dirty="0">
              <a:latin typeface="Courier New" pitchFamily="49" charset="0"/>
            </a:endParaRPr>
          </a:p>
          <a:p>
            <a:r>
              <a:rPr lang="en-US" sz="1800" dirty="0">
                <a:latin typeface="Courier New" pitchFamily="49" charset="0"/>
              </a:rPr>
              <a:t>    if (</a:t>
            </a:r>
            <a:r>
              <a:rPr lang="en-US" sz="1800" dirty="0" err="1">
                <a:latin typeface="Courier New" pitchFamily="49" charset="0"/>
              </a:rPr>
              <a:t>clk</a:t>
            </a:r>
            <a:r>
              <a:rPr lang="en-US" sz="1800" dirty="0">
                <a:latin typeface="Courier New" pitchFamily="49" charset="0"/>
              </a:rPr>
              <a:t>) q &lt;= d;</a:t>
            </a:r>
          </a:p>
          <a:p>
            <a:endParaRPr lang="en-US" sz="1800" dirty="0">
              <a:latin typeface="Courier New" pitchFamily="49" charset="0"/>
            </a:endParaRPr>
          </a:p>
          <a:p>
            <a:r>
              <a:rPr lang="en-US" sz="1800" dirty="0" err="1">
                <a:latin typeface="Courier New" pitchFamily="49" charset="0"/>
              </a:rPr>
              <a:t>endmodule</a:t>
            </a:r>
            <a:endParaRPr lang="en-US" sz="2000" dirty="0">
              <a:latin typeface="Times New Roman" pitchFamily="18" charset="0"/>
            </a:endParaRPr>
          </a:p>
          <a:p>
            <a:endParaRPr lang="en-US" sz="1800" dirty="0">
              <a:latin typeface="Courier New" pitchFamily="49" charset="0"/>
            </a:endParaRPr>
          </a:p>
          <a:p>
            <a:endParaRPr lang="en-US" sz="1800" dirty="0">
              <a:latin typeface="Courier New" pitchFamily="49" charset="0"/>
            </a:endParaRPr>
          </a:p>
          <a:p>
            <a:endParaRPr lang="en-US" sz="1800" dirty="0">
              <a:latin typeface="Courier New" pitchFamily="49" charset="0"/>
            </a:endParaRPr>
          </a:p>
          <a:p>
            <a:endParaRPr lang="en-US" sz="1800" dirty="0">
              <a:latin typeface="+mj-lt"/>
            </a:endParaRPr>
          </a:p>
          <a:p>
            <a:endParaRPr lang="en-US" sz="1800" dirty="0">
              <a:latin typeface="+mj-lt"/>
            </a:endParaRPr>
          </a:p>
          <a:p>
            <a:r>
              <a:rPr lang="en-US" sz="2000" b="1" dirty="0">
                <a:solidFill>
                  <a:srgbClr val="0070C0"/>
                </a:solidFill>
                <a:latin typeface="+mj-lt"/>
              </a:rPr>
              <a:t>Warning</a:t>
            </a:r>
            <a:r>
              <a:rPr lang="en-US" sz="2000" dirty="0">
                <a:solidFill>
                  <a:srgbClr val="0070C0"/>
                </a:solidFill>
                <a:latin typeface="+mj-lt"/>
              </a:rPr>
              <a:t>: </a:t>
            </a:r>
            <a:r>
              <a:rPr lang="en-US" sz="2000" dirty="0">
                <a:latin typeface="+mj-lt"/>
              </a:rPr>
              <a:t>We don’t use latches in this text. But you might write code that inadvertently implies a latch. Check synthesized hardware – if it has latches</a:t>
            </a:r>
          </a:p>
          <a:p>
            <a:r>
              <a:rPr lang="en-US" sz="2000" dirty="0">
                <a:latin typeface="+mj-lt"/>
              </a:rPr>
              <a:t>in it, there’s an error.</a:t>
            </a:r>
          </a:p>
          <a:p>
            <a:endParaRPr lang="en-US" sz="1800" dirty="0">
              <a:latin typeface="Courier New" pitchFamily="49" charset="0"/>
            </a:endParaRPr>
          </a:p>
        </p:txBody>
      </p:sp>
      <p:graphicFrame>
        <p:nvGraphicFramePr>
          <p:cNvPr id="866308" name="Object 4"/>
          <p:cNvGraphicFramePr>
            <a:graphicFrameLocks noGrp="1" noChangeAspect="1"/>
          </p:cNvGraphicFramePr>
          <p:nvPr>
            <p:ph idx="4294967295"/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21783821"/>
              </p:ext>
            </p:extLst>
          </p:nvPr>
        </p:nvGraphicFramePr>
        <p:xfrm>
          <a:off x="3254375" y="3048000"/>
          <a:ext cx="5432425" cy="1441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2332800" imgH="648360" progId="Visio.Drawing.6">
                  <p:embed/>
                </p:oleObj>
              </mc:Choice>
              <mc:Fallback>
                <p:oleObj name="VISIO" r:id="rId6" imgW="2332800" imgH="648360" progId="Visio.Drawing.6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54375" y="3048000"/>
                        <a:ext cx="5432425" cy="1441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Latch</a:t>
            </a:r>
          </a:p>
        </p:txBody>
      </p:sp>
      <p:sp>
        <p:nvSpPr>
          <p:cNvPr id="5" name="Text Box 6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029200" y="2539425"/>
            <a:ext cx="21336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>
                <a:solidFill>
                  <a:srgbClr val="0070C0"/>
                </a:solidFill>
              </a:rPr>
              <a:t>Synthesis:</a:t>
            </a:r>
          </a:p>
        </p:txBody>
      </p:sp>
    </p:spTree>
    <p:extLst>
      <p:ext uri="{BB962C8B-B14F-4D97-AF65-F5344CB8AC3E}">
        <p14:creationId xmlns:p14="http://schemas.microsoft.com/office/powerpoint/2010/main" val="1593627125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Review</a:t>
            </a:r>
          </a:p>
        </p:txBody>
      </p:sp>
      <p:sp>
        <p:nvSpPr>
          <p:cNvPr id="6" name="Rectangle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3058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General Structure:</a:t>
            </a:r>
          </a:p>
          <a:p>
            <a:pPr marL="342900" indent="-342900">
              <a:spcBef>
                <a:spcPct val="20000"/>
              </a:spcBef>
            </a:pPr>
            <a:endParaRPr lang="en-US" sz="2400" b="1" dirty="0">
              <a:solidFill>
                <a:schemeClr val="accent2"/>
              </a:solidFill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	</a:t>
            </a:r>
            <a:r>
              <a:rPr lang="en-US" sz="2600" dirty="0">
                <a:latin typeface="Courier New" pitchFamily="49" charset="0"/>
                <a:cs typeface="Arial" charset="0"/>
              </a:rPr>
              <a:t>always @(sensitivity list)</a:t>
            </a:r>
          </a:p>
          <a:p>
            <a:pPr marL="342900" indent="-342900">
              <a:spcBef>
                <a:spcPct val="20000"/>
              </a:spcBef>
            </a:pPr>
            <a:r>
              <a:rPr lang="en-US" sz="2600" dirty="0">
                <a:latin typeface="Courier New" pitchFamily="49" charset="0"/>
                <a:cs typeface="Arial" charset="0"/>
              </a:rPr>
              <a:t>	  statement;</a:t>
            </a:r>
          </a:p>
          <a:p>
            <a:pPr marL="342900" indent="-342900">
              <a:spcBef>
                <a:spcPct val="20000"/>
              </a:spcBef>
            </a:pPr>
            <a:endParaRPr lang="en-US" sz="1800" dirty="0">
              <a:latin typeface="Courier New" pitchFamily="49" charset="0"/>
              <a:cs typeface="Arial" charset="0"/>
            </a:endParaRPr>
          </a:p>
          <a:p>
            <a:pPr marL="457200" indent="-457200">
              <a:spcBef>
                <a:spcPct val="20000"/>
              </a:spcBef>
              <a:buFont typeface="Arial" charset="0"/>
              <a:buChar char="•"/>
            </a:pPr>
            <a:r>
              <a:rPr lang="en-US" sz="2600" b="1" dirty="0">
                <a:latin typeface="+mj-lt"/>
                <a:cs typeface="Arial" charset="0"/>
              </a:rPr>
              <a:t>Flip-flop: 	</a:t>
            </a:r>
            <a:r>
              <a:rPr lang="en-US" sz="2600" dirty="0">
                <a:latin typeface="+mj-lt"/>
                <a:cs typeface="Arial" charset="0"/>
              </a:rPr>
              <a:t>	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always_ff</a:t>
            </a:r>
            <a:endParaRPr lang="en-US" sz="2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spcBef>
                <a:spcPct val="20000"/>
              </a:spcBef>
              <a:buFont typeface="Arial" charset="0"/>
              <a:buChar char="•"/>
            </a:pPr>
            <a:r>
              <a:rPr lang="en-US" sz="2600" b="1" dirty="0">
                <a:latin typeface="+mj-lt"/>
                <a:cs typeface="Arial" charset="0"/>
              </a:rPr>
              <a:t>Latch:</a:t>
            </a:r>
            <a:r>
              <a:rPr lang="en-US" sz="2600" dirty="0">
                <a:latin typeface="+mj-lt"/>
                <a:cs typeface="Arial" charset="0"/>
              </a:rPr>
              <a:t>		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always_latch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600" b="1" dirty="0">
                <a:solidFill>
                  <a:srgbClr val="C00000"/>
                </a:solidFill>
                <a:latin typeface="+mj-lt"/>
                <a:cs typeface="Courier New" panose="02070309020205020404" pitchFamily="49" charset="0"/>
              </a:rPr>
              <a:t>(don’t use)</a:t>
            </a:r>
          </a:p>
        </p:txBody>
      </p:sp>
    </p:spTree>
    <p:extLst>
      <p:ext uri="{BB962C8B-B14F-4D97-AF65-F5344CB8AC3E}">
        <p14:creationId xmlns:p14="http://schemas.microsoft.com/office/powerpoint/2010/main" val="269201370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33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67332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14400" y="12192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dirty="0">
                <a:latin typeface="+mj-lt"/>
                <a:cs typeface="Arial" charset="0"/>
              </a:rPr>
              <a:t>Statements that must be inside</a:t>
            </a:r>
            <a:r>
              <a:rPr lang="en-US" sz="3200" dirty="0">
                <a:latin typeface="Times New Roman" pitchFamily="18" charset="0"/>
                <a:cs typeface="Arial" charset="0"/>
              </a:rPr>
              <a:t> </a:t>
            </a:r>
            <a:r>
              <a:rPr lang="en-US" sz="3200" dirty="0">
                <a:latin typeface="Courier New" pitchFamily="49" charset="0"/>
                <a:cs typeface="Arial" charset="0"/>
              </a:rPr>
              <a:t>always</a:t>
            </a:r>
            <a:r>
              <a:rPr lang="en-US" sz="3200" dirty="0">
                <a:latin typeface="Times New Roman" pitchFamily="18" charset="0"/>
                <a:cs typeface="Arial" charset="0"/>
              </a:rPr>
              <a:t> </a:t>
            </a:r>
            <a:r>
              <a:rPr lang="en-US" sz="3200" dirty="0">
                <a:latin typeface="+mj-lt"/>
                <a:cs typeface="Arial" charset="0"/>
              </a:rPr>
              <a:t>statements:</a:t>
            </a: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r>
              <a:rPr lang="en-US" sz="2600" dirty="0">
                <a:latin typeface="Courier New" pitchFamily="49" charset="0"/>
                <a:cs typeface="Arial" charset="0"/>
              </a:rPr>
              <a:t>if</a:t>
            </a:r>
            <a:r>
              <a:rPr lang="en-US" sz="2600" dirty="0">
                <a:latin typeface="Times New Roman" pitchFamily="18" charset="0"/>
                <a:cs typeface="Arial" charset="0"/>
              </a:rPr>
              <a:t> / </a:t>
            </a:r>
            <a:r>
              <a:rPr lang="en-US" sz="2600" dirty="0">
                <a:latin typeface="Courier New" pitchFamily="49" charset="0"/>
                <a:cs typeface="Arial" charset="0"/>
              </a:rPr>
              <a:t>else</a:t>
            </a: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r>
              <a:rPr lang="en-US" sz="2600" dirty="0">
                <a:latin typeface="Courier New" pitchFamily="49" charset="0"/>
                <a:cs typeface="Arial" charset="0"/>
              </a:rPr>
              <a:t>case</a:t>
            </a:r>
            <a:r>
              <a:rPr lang="en-US" sz="2600" dirty="0">
                <a:latin typeface="Times New Roman" pitchFamily="18" charset="0"/>
                <a:cs typeface="Arial" charset="0"/>
              </a:rPr>
              <a:t>, </a:t>
            </a:r>
            <a:r>
              <a:rPr lang="en-US" sz="2600" dirty="0" err="1">
                <a:latin typeface="Courier New" pitchFamily="49" charset="0"/>
                <a:cs typeface="Arial" charset="0"/>
              </a:rPr>
              <a:t>casez</a:t>
            </a:r>
            <a:endParaRPr lang="en-US" sz="2600" dirty="0">
              <a:latin typeface="Courier New" pitchFamily="49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Other Behavioral Statements</a:t>
            </a:r>
          </a:p>
        </p:txBody>
      </p:sp>
    </p:spTree>
    <p:extLst>
      <p:ext uri="{BB962C8B-B14F-4D97-AF65-F5344CB8AC3E}">
        <p14:creationId xmlns:p14="http://schemas.microsoft.com/office/powerpoint/2010/main" val="1290370404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35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6835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81000" y="9906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// combinational logic using an always statement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module gates(input  logic [3:0] a, b, 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       output logic [3:0] y1, y2, y3, y4, y5);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always_comb</a:t>
            </a:r>
            <a:r>
              <a:rPr lang="en-US" sz="1800" dirty="0">
                <a:latin typeface="Courier New" pitchFamily="49" charset="0"/>
                <a:cs typeface="Arial" charset="0"/>
              </a:rPr>
              <a:t>        // need begin/end because there is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begin            // more than one statement in always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y1 = a &amp; b;    // AND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y2 = a | b;    // OR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y3 = a ^ b;    // XOR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y4 = ~(a &amp; b); // NAND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y5 = ~(a | b); // NOR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end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 err="1">
                <a:latin typeface="Courier New" pitchFamily="49" charset="0"/>
                <a:cs typeface="Arial" charset="0"/>
              </a:rPr>
              <a:t>endmodule</a:t>
            </a: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1000" dirty="0">
              <a:solidFill>
                <a:srgbClr val="0070C0"/>
              </a:solidFill>
              <a:latin typeface="+mj-lt"/>
              <a:cs typeface="Arial" charset="0"/>
            </a:endParaRPr>
          </a:p>
          <a:p>
            <a:pPr indent="-342900">
              <a:spcBef>
                <a:spcPct val="20000"/>
              </a:spcBef>
            </a:pPr>
            <a:r>
              <a:rPr lang="en-US" sz="2000" b="1" dirty="0">
                <a:solidFill>
                  <a:srgbClr val="0070C0"/>
                </a:solidFill>
                <a:latin typeface="+mj-lt"/>
                <a:cs typeface="Arial" charset="0"/>
              </a:rPr>
              <a:t>This hardware could be described with assign statements using fewer lines of code, so it’s better to use assign statements in this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Combinational Logic using always</a:t>
            </a:r>
          </a:p>
        </p:txBody>
      </p:sp>
    </p:spTree>
    <p:extLst>
      <p:ext uri="{BB962C8B-B14F-4D97-AF65-F5344CB8AC3E}">
        <p14:creationId xmlns:p14="http://schemas.microsoft.com/office/powerpoint/2010/main" val="2087159116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37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69380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09600" y="914400"/>
            <a:ext cx="8458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module </a:t>
            </a:r>
            <a:r>
              <a:rPr lang="en-US" sz="1500" dirty="0" err="1">
                <a:latin typeface="Courier New" pitchFamily="49" charset="0"/>
                <a:cs typeface="Arial" charset="0"/>
              </a:rPr>
              <a:t>sevenseg</a:t>
            </a:r>
            <a:r>
              <a:rPr lang="en-US" sz="1500" dirty="0">
                <a:latin typeface="Courier New" pitchFamily="49" charset="0"/>
                <a:cs typeface="Arial" charset="0"/>
              </a:rPr>
              <a:t>(input  logic [3:0] data, </a:t>
            </a: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              output logic [6:0] segments);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</a:t>
            </a:r>
            <a:r>
              <a:rPr lang="en-US" sz="1500" dirty="0" err="1">
                <a:latin typeface="Courier New" pitchFamily="49" charset="0"/>
                <a:cs typeface="Arial" charset="0"/>
              </a:rPr>
              <a:t>always_comb</a:t>
            </a:r>
            <a:endParaRPr lang="en-US" sz="15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  case (data)</a:t>
            </a: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    //                     </a:t>
            </a:r>
            <a:r>
              <a:rPr lang="en-US" sz="1500" dirty="0" err="1">
                <a:latin typeface="Courier New" pitchFamily="49" charset="0"/>
                <a:cs typeface="Arial" charset="0"/>
              </a:rPr>
              <a:t>abc_defg</a:t>
            </a:r>
            <a:r>
              <a:rPr lang="en-US" sz="1500" dirty="0">
                <a:latin typeface="Courier New" pitchFamily="49" charset="0"/>
                <a:cs typeface="Arial" charset="0"/>
              </a:rPr>
              <a:t>     </a:t>
            </a: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    0: segments =       7'b111_1110;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    1: segments =       7'b011_0000;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    2: segments =       7'b110_1101;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    3: segments =       7'b111_1001;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    4: segments =       7'b011_0011;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    5: segments =       7'b101_1011;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    6: segments =       7'b101_1111;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    7: segments =       7'b111_0000;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    8: segments =       7'b111_1111;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    9: segments =       7'b111_0011;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    default: segments = 7'b000_0000; </a:t>
            </a:r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Arial" charset="0"/>
              </a:rPr>
              <a:t>// required</a:t>
            </a:r>
          </a:p>
          <a:p>
            <a:pPr marL="342900" indent="-342900">
              <a:spcBef>
                <a:spcPct val="20000"/>
              </a:spcBef>
            </a:pPr>
            <a:r>
              <a:rPr lang="en-US" sz="1500" dirty="0">
                <a:latin typeface="Courier New" pitchFamily="49" charset="0"/>
                <a:cs typeface="Arial" charset="0"/>
              </a:rPr>
              <a:t>    </a:t>
            </a:r>
            <a:r>
              <a:rPr lang="en-US" sz="1500" dirty="0" err="1">
                <a:latin typeface="Courier New" pitchFamily="49" charset="0"/>
                <a:cs typeface="Arial" charset="0"/>
              </a:rPr>
              <a:t>endcase</a:t>
            </a:r>
            <a:endParaRPr lang="en-US" sz="15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1500" dirty="0" err="1">
                <a:latin typeface="Courier New" pitchFamily="49" charset="0"/>
                <a:cs typeface="Arial" charset="0"/>
              </a:rPr>
              <a:t>endmodule</a:t>
            </a:r>
            <a:r>
              <a:rPr lang="en-US" sz="1500" dirty="0">
                <a:latin typeface="Courier New" pitchFamily="49" charset="0"/>
                <a:cs typeface="Arial" charset="0"/>
              </a:rPr>
              <a:t>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Combinational Logic using case</a:t>
            </a:r>
          </a:p>
        </p:txBody>
      </p:sp>
    </p:spTree>
    <p:extLst>
      <p:ext uri="{BB962C8B-B14F-4D97-AF65-F5344CB8AC3E}">
        <p14:creationId xmlns:p14="http://schemas.microsoft.com/office/powerpoint/2010/main" val="3498111084"/>
      </p:ext>
    </p:extLst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02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9702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5800" y="1219200"/>
            <a:ext cx="7772400" cy="403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latin typeface="Courier New" pitchFamily="49" charset="0"/>
                <a:cs typeface="Arial" charset="0"/>
              </a:rPr>
              <a:t>case </a:t>
            </a:r>
            <a:r>
              <a:rPr lang="en-US" sz="2800" dirty="0">
                <a:latin typeface="+mj-lt"/>
                <a:cs typeface="Arial" charset="0"/>
              </a:rPr>
              <a:t>statement  implies combinational logic </a:t>
            </a:r>
            <a:r>
              <a:rPr lang="en-US" sz="2800" b="1" dirty="0">
                <a:latin typeface="+mj-lt"/>
                <a:cs typeface="Arial" charset="0"/>
              </a:rPr>
              <a:t>only if</a:t>
            </a:r>
            <a:r>
              <a:rPr lang="en-US" sz="2800" dirty="0">
                <a:latin typeface="+mj-lt"/>
                <a:cs typeface="Arial" charset="0"/>
              </a:rPr>
              <a:t> all possible input combinations described</a:t>
            </a:r>
          </a:p>
          <a:p>
            <a:pPr marL="457200" indent="-4572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  <a:cs typeface="Arial" charset="0"/>
              </a:rPr>
              <a:t>Remember to use </a:t>
            </a:r>
            <a:r>
              <a:rPr lang="en-US" sz="2800" b="1" dirty="0">
                <a:solidFill>
                  <a:schemeClr val="accent1"/>
                </a:solidFill>
                <a:latin typeface="Courier New" pitchFamily="49" charset="0"/>
                <a:cs typeface="Arial" charset="0"/>
              </a:rPr>
              <a:t>default</a:t>
            </a:r>
            <a:r>
              <a:rPr lang="en-US" sz="2800" dirty="0">
                <a:latin typeface="Times New Roman" pitchFamily="18" charset="0"/>
                <a:cs typeface="Arial" charset="0"/>
              </a:rPr>
              <a:t> </a:t>
            </a:r>
            <a:r>
              <a:rPr lang="en-US" sz="2800" dirty="0">
                <a:latin typeface="+mj-lt"/>
                <a:cs typeface="Arial" charset="0"/>
              </a:rPr>
              <a:t>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Combinational Logic using </a:t>
            </a:r>
            <a:r>
              <a:rPr lang="en-US" sz="4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case</a:t>
            </a:r>
          </a:p>
        </p:txBody>
      </p:sp>
    </p:spTree>
    <p:extLst>
      <p:ext uri="{BB962C8B-B14F-4D97-AF65-F5344CB8AC3E}">
        <p14:creationId xmlns:p14="http://schemas.microsoft.com/office/powerpoint/2010/main" val="2220932977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0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70404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810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module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priority_casez</a:t>
            </a:r>
            <a:r>
              <a:rPr lang="en-US" sz="1800" dirty="0">
                <a:latin typeface="Courier New" pitchFamily="49" charset="0"/>
                <a:cs typeface="Arial" charset="0"/>
              </a:rPr>
              <a:t>(input  </a:t>
            </a:r>
            <a:r>
              <a:rPr lang="en-US" dirty="0">
                <a:latin typeface="Courier New" pitchFamily="49" charset="0"/>
                <a:cs typeface="Arial" charset="0"/>
              </a:rPr>
              <a:t>logic</a:t>
            </a:r>
            <a:r>
              <a:rPr lang="en-US" sz="1800" dirty="0">
                <a:latin typeface="Courier New" pitchFamily="49" charset="0"/>
                <a:cs typeface="Arial" charset="0"/>
              </a:rPr>
              <a:t> [3:0] a, 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                output logic [3:0] y);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always_comb</a:t>
            </a: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  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casez</a:t>
            </a:r>
            <a:r>
              <a:rPr lang="en-US" sz="1800" dirty="0">
                <a:latin typeface="Courier New" pitchFamily="49" charset="0"/>
                <a:cs typeface="Arial" charset="0"/>
              </a:rPr>
              <a:t>(a)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4'b1???: y = 4'b1000; </a:t>
            </a:r>
            <a:r>
              <a:rPr lang="en-US" sz="1800" b="1" dirty="0">
                <a:solidFill>
                  <a:srgbClr val="0070C0"/>
                </a:solidFill>
                <a:latin typeface="Courier New" pitchFamily="49" charset="0"/>
                <a:cs typeface="Arial" charset="0"/>
              </a:rPr>
              <a:t>// ?=don’t care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4'b01??: y = 4'b0100;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4'b001?: y = 4'b0010;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4'b0001: y = 4'b0001;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   default: y = 4'b0000;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  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endcase</a:t>
            </a: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1800" dirty="0" err="1">
                <a:latin typeface="Courier New" pitchFamily="49" charset="0"/>
                <a:cs typeface="Arial" charset="0"/>
              </a:rPr>
              <a:t>endmodule</a:t>
            </a:r>
            <a:r>
              <a:rPr lang="en-US" sz="1800" dirty="0">
                <a:latin typeface="Courier New" pitchFamily="49" charset="0"/>
                <a:cs typeface="Arial" charset="0"/>
              </a:rPr>
              <a:t> </a:t>
            </a:r>
            <a:r>
              <a:rPr lang="en-US" sz="1700" dirty="0">
                <a:latin typeface="Courier New" pitchFamily="49" charset="0"/>
                <a:cs typeface="Arial" charset="0"/>
              </a:rPr>
              <a:t> </a:t>
            </a:r>
            <a:r>
              <a:rPr lang="en-US" sz="1800" dirty="0">
                <a:latin typeface="Courier New" pitchFamily="49" charset="0"/>
                <a:cs typeface="Arial" charset="0"/>
              </a:rPr>
              <a:t> </a:t>
            </a:r>
          </a:p>
        </p:txBody>
      </p:sp>
      <p:pic>
        <p:nvPicPr>
          <p:cNvPr id="870405" name="Picture 5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6350" y="2209800"/>
            <a:ext cx="2635250" cy="3382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Combinational Logic using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casez</a:t>
            </a:r>
            <a:endParaRPr lang="en-US" sz="4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6" name="Text Box 6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6781800" y="1752600"/>
            <a:ext cx="21336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3200" b="1" dirty="0">
                <a:solidFill>
                  <a:srgbClr val="0070C0"/>
                </a:solidFill>
              </a:rPr>
              <a:t>Synthesis:</a:t>
            </a:r>
          </a:p>
        </p:txBody>
      </p:sp>
    </p:spTree>
    <p:extLst>
      <p:ext uri="{BB962C8B-B14F-4D97-AF65-F5344CB8AC3E}">
        <p14:creationId xmlns:p14="http://schemas.microsoft.com/office/powerpoint/2010/main" val="387681209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755" name="Rectangle 3"/>
          <p:cNvSpPr>
            <a:spLocks noGrp="1" noChangeArrowheads="1"/>
          </p:cNvSpPr>
          <p:nvPr>
            <p:ph type="body" idx="4294967295"/>
            <p:custDataLst>
              <p:tags r:id="rId1"/>
            </p:custDataLst>
          </p:nvPr>
        </p:nvSpPr>
        <p:spPr>
          <a:xfrm>
            <a:off x="457200" y="914400"/>
            <a:ext cx="8229600" cy="4525963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3000" dirty="0"/>
              <a:t>&lt;= is </a:t>
            </a:r>
            <a:r>
              <a:rPr lang="en-US" sz="3000" b="1" dirty="0" err="1">
                <a:solidFill>
                  <a:srgbClr val="0070C0"/>
                </a:solidFill>
              </a:rPr>
              <a:t>nonblocking</a:t>
            </a:r>
            <a:r>
              <a:rPr lang="en-US" sz="3000" dirty="0">
                <a:solidFill>
                  <a:srgbClr val="0070C0"/>
                </a:solidFill>
              </a:rPr>
              <a:t> </a:t>
            </a:r>
            <a:r>
              <a:rPr lang="en-US" sz="3000" dirty="0"/>
              <a:t>assignment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Occurs simultaneously with others</a:t>
            </a:r>
          </a:p>
          <a:p>
            <a:pPr>
              <a:spcBef>
                <a:spcPts val="0"/>
              </a:spcBef>
            </a:pPr>
            <a:r>
              <a:rPr lang="en-US" sz="3000" dirty="0"/>
              <a:t>= is </a:t>
            </a:r>
            <a:r>
              <a:rPr lang="en-US" sz="3000" b="1" dirty="0">
                <a:solidFill>
                  <a:srgbClr val="0070C0"/>
                </a:solidFill>
              </a:rPr>
              <a:t>blocking</a:t>
            </a:r>
            <a:r>
              <a:rPr lang="en-US" sz="3000" dirty="0">
                <a:solidFill>
                  <a:srgbClr val="0070C0"/>
                </a:solidFill>
              </a:rPr>
              <a:t> </a:t>
            </a:r>
            <a:r>
              <a:rPr lang="en-US" sz="3000" dirty="0"/>
              <a:t>assignment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Occurs in order it appears in file</a:t>
            </a:r>
          </a:p>
        </p:txBody>
      </p:sp>
      <p:pic>
        <p:nvPicPr>
          <p:cNvPr id="970756" name="Picture 4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6162" y="4953000"/>
            <a:ext cx="2332038" cy="754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70758" name="Rectangle 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914400" y="2590800"/>
            <a:ext cx="3733800" cy="243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// Good synchronizer using 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// </a:t>
            </a:r>
            <a:r>
              <a:rPr lang="en-US" sz="1400" dirty="0" err="1">
                <a:latin typeface="Courier New"/>
                <a:cs typeface="Courier New"/>
              </a:rPr>
              <a:t>nonblocking</a:t>
            </a:r>
            <a:r>
              <a:rPr lang="en-US" sz="1400" dirty="0">
                <a:latin typeface="Courier New"/>
                <a:cs typeface="Courier New"/>
              </a:rPr>
              <a:t> assignments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module </a:t>
            </a:r>
            <a:r>
              <a:rPr lang="en-US" sz="1400" dirty="0" err="1">
                <a:latin typeface="Courier New"/>
                <a:cs typeface="Courier New"/>
              </a:rPr>
              <a:t>syncgood</a:t>
            </a:r>
            <a:r>
              <a:rPr lang="en-US" sz="1400" dirty="0">
                <a:latin typeface="Courier New"/>
                <a:cs typeface="Courier New"/>
              </a:rPr>
              <a:t>(input  logic </a:t>
            </a:r>
            <a:r>
              <a:rPr lang="en-US" sz="1400" dirty="0" err="1">
                <a:latin typeface="Courier New"/>
                <a:cs typeface="Courier New"/>
              </a:rPr>
              <a:t>clk</a:t>
            </a:r>
            <a:r>
              <a:rPr lang="en-US" sz="1400" dirty="0">
                <a:latin typeface="Courier New"/>
                <a:cs typeface="Courier New"/>
              </a:rPr>
              <a:t>,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              input  logic d,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              output logic q);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logic n1;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</a:t>
            </a:r>
            <a:r>
              <a:rPr lang="en-US" sz="1400" dirty="0" err="1">
                <a:latin typeface="Courier New"/>
                <a:cs typeface="Courier New"/>
              </a:rPr>
              <a:t>always_ff</a:t>
            </a:r>
            <a:r>
              <a:rPr lang="en-US" sz="1400" dirty="0">
                <a:latin typeface="Courier New"/>
                <a:cs typeface="Courier New"/>
              </a:rPr>
              <a:t> @(</a:t>
            </a:r>
            <a:r>
              <a:rPr lang="en-US" sz="1400" dirty="0" err="1">
                <a:latin typeface="Courier New"/>
                <a:cs typeface="Courier New"/>
              </a:rPr>
              <a:t>posedge</a:t>
            </a:r>
            <a:r>
              <a:rPr lang="en-US" sz="1400" dirty="0">
                <a:latin typeface="Courier New"/>
                <a:cs typeface="Courier New"/>
              </a:rPr>
              <a:t> </a:t>
            </a:r>
            <a:r>
              <a:rPr lang="en-US" sz="1400" dirty="0" err="1">
                <a:latin typeface="Courier New"/>
                <a:cs typeface="Courier New"/>
              </a:rPr>
              <a:t>clk</a:t>
            </a:r>
            <a:r>
              <a:rPr lang="en-US" sz="1400" dirty="0">
                <a:latin typeface="Courier New"/>
                <a:cs typeface="Courier New"/>
              </a:rPr>
              <a:t>)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  begin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    n1 &lt;= d;  // </a:t>
            </a:r>
            <a:r>
              <a:rPr lang="en-US" sz="1400" dirty="0" err="1">
                <a:latin typeface="Courier New"/>
                <a:cs typeface="Courier New"/>
              </a:rPr>
              <a:t>nonblocking</a:t>
            </a:r>
            <a:endParaRPr lang="en-US" sz="1400" dirty="0">
              <a:latin typeface="Courier New"/>
              <a:cs typeface="Courier New"/>
            </a:endParaRP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    q  &lt;= n1; // </a:t>
            </a:r>
            <a:r>
              <a:rPr lang="en-US" sz="1400" dirty="0" err="1">
                <a:latin typeface="Courier New"/>
                <a:cs typeface="Courier New"/>
              </a:rPr>
              <a:t>nonblocking</a:t>
            </a:r>
            <a:endParaRPr lang="en-US" sz="1400" dirty="0">
              <a:latin typeface="Courier New"/>
              <a:cs typeface="Courier New"/>
            </a:endParaRP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  end</a:t>
            </a:r>
          </a:p>
          <a:p>
            <a:pPr marL="342900" indent="-342900"/>
            <a:r>
              <a:rPr lang="en-US" sz="1400" dirty="0" err="1">
                <a:latin typeface="Courier New"/>
                <a:cs typeface="Courier New"/>
              </a:rPr>
              <a:t>endmodule</a:t>
            </a:r>
            <a:endParaRPr lang="en-US" sz="1800" dirty="0">
              <a:latin typeface="Courier New"/>
              <a:cs typeface="Courier New"/>
            </a:endParaRPr>
          </a:p>
        </p:txBody>
      </p:sp>
      <p:pic>
        <p:nvPicPr>
          <p:cNvPr id="970759" name="Picture 7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7562" y="4876800"/>
            <a:ext cx="2408238" cy="89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70760" name="Rectangle 8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4876800" y="2590800"/>
            <a:ext cx="3657600" cy="243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// Bad synchronizer using 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// blocking assignments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module </a:t>
            </a:r>
            <a:r>
              <a:rPr lang="en-US" sz="1400" dirty="0" err="1">
                <a:latin typeface="Courier New"/>
                <a:cs typeface="Courier New"/>
              </a:rPr>
              <a:t>syncbad</a:t>
            </a:r>
            <a:r>
              <a:rPr lang="en-US" sz="1400" dirty="0">
                <a:latin typeface="Courier New"/>
                <a:cs typeface="Courier New"/>
              </a:rPr>
              <a:t>(input logic  </a:t>
            </a:r>
            <a:r>
              <a:rPr lang="en-US" sz="1400" dirty="0" err="1">
                <a:latin typeface="Courier New"/>
                <a:cs typeface="Courier New"/>
              </a:rPr>
              <a:t>clk</a:t>
            </a:r>
            <a:r>
              <a:rPr lang="en-US" sz="1400" dirty="0">
                <a:latin typeface="Courier New"/>
                <a:cs typeface="Courier New"/>
              </a:rPr>
              <a:t>,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             input  logic d,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             output logic q);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logic n1;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</a:t>
            </a:r>
            <a:r>
              <a:rPr lang="en-US" sz="1400" dirty="0" err="1">
                <a:latin typeface="Courier New"/>
                <a:cs typeface="Courier New"/>
              </a:rPr>
              <a:t>always_ff</a:t>
            </a:r>
            <a:r>
              <a:rPr lang="en-US" sz="1400" dirty="0">
                <a:latin typeface="Courier New"/>
                <a:cs typeface="Courier New"/>
              </a:rPr>
              <a:t> @(</a:t>
            </a:r>
            <a:r>
              <a:rPr lang="en-US" sz="1400" dirty="0" err="1">
                <a:latin typeface="Courier New"/>
                <a:cs typeface="Courier New"/>
              </a:rPr>
              <a:t>posedge</a:t>
            </a:r>
            <a:r>
              <a:rPr lang="en-US" sz="1400" dirty="0">
                <a:latin typeface="Courier New"/>
                <a:cs typeface="Courier New"/>
              </a:rPr>
              <a:t> </a:t>
            </a:r>
            <a:r>
              <a:rPr lang="en-US" sz="1400" dirty="0" err="1">
                <a:latin typeface="Courier New"/>
                <a:cs typeface="Courier New"/>
              </a:rPr>
              <a:t>clk</a:t>
            </a:r>
            <a:r>
              <a:rPr lang="en-US" sz="1400" dirty="0">
                <a:latin typeface="Courier New"/>
                <a:cs typeface="Courier New"/>
              </a:rPr>
              <a:t>)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  begin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    n1 = d;  // blocking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    q  = n1; // blocking</a:t>
            </a:r>
          </a:p>
          <a:p>
            <a:pPr marL="342900" indent="-342900"/>
            <a:r>
              <a:rPr lang="en-US" sz="1400" dirty="0">
                <a:latin typeface="Courier New"/>
                <a:cs typeface="Courier New"/>
              </a:rPr>
              <a:t>    end</a:t>
            </a:r>
          </a:p>
          <a:p>
            <a:pPr marL="342900" indent="-342900"/>
            <a:r>
              <a:rPr lang="en-US" sz="1400" dirty="0" err="1">
                <a:latin typeface="Courier New"/>
                <a:cs typeface="Courier New"/>
              </a:rPr>
              <a:t>endmodule</a:t>
            </a:r>
            <a:endParaRPr lang="en-US" sz="1800" dirty="0">
              <a:latin typeface="Courier New"/>
              <a:cs typeface="Courier New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+mj-lt"/>
              </a:rPr>
              <a:t>Blocking vs. </a:t>
            </a:r>
            <a:r>
              <a:rPr lang="en-US" sz="4000" dirty="0" err="1">
                <a:solidFill>
                  <a:schemeClr val="bg1"/>
                </a:solidFill>
                <a:latin typeface="+mj-lt"/>
              </a:rPr>
              <a:t>Nonblocking</a:t>
            </a:r>
            <a:r>
              <a:rPr lang="en-US" sz="4000" dirty="0">
                <a:solidFill>
                  <a:schemeClr val="bg1"/>
                </a:solidFill>
                <a:latin typeface="+mj-lt"/>
              </a:rPr>
              <a:t> Assignment</a:t>
            </a:r>
          </a:p>
        </p:txBody>
      </p:sp>
    </p:spTree>
    <p:extLst>
      <p:ext uri="{BB962C8B-B14F-4D97-AF65-F5344CB8AC3E}">
        <p14:creationId xmlns:p14="http://schemas.microsoft.com/office/powerpoint/2010/main" val="28731864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42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71428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81000" y="990600"/>
            <a:ext cx="83820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2400" b="1" dirty="0">
                <a:latin typeface="+mj-lt"/>
                <a:cs typeface="Arial" charset="0"/>
              </a:rPr>
              <a:t>Synchronous sequential logic:</a:t>
            </a:r>
            <a:r>
              <a:rPr lang="en-US" sz="2400" dirty="0">
                <a:latin typeface="+mj-lt"/>
                <a:cs typeface="Arial" charset="0"/>
              </a:rPr>
              <a:t> use </a:t>
            </a:r>
            <a:r>
              <a:rPr lang="en-US" sz="24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always_ff</a:t>
            </a:r>
            <a:r>
              <a:rPr lang="en-US" sz="24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@(</a:t>
            </a:r>
            <a:r>
              <a:rPr lang="en-US" sz="24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posedge</a:t>
            </a:r>
            <a:r>
              <a:rPr lang="en-US" sz="24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clk</a:t>
            </a:r>
            <a:r>
              <a:rPr lang="en-US" sz="24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2400" dirty="0">
                <a:latin typeface="+mj-lt"/>
                <a:cs typeface="Arial" charset="0"/>
              </a:rPr>
              <a:t>and </a:t>
            </a:r>
            <a:r>
              <a:rPr lang="en-US" sz="2400" dirty="0" err="1">
                <a:latin typeface="+mj-lt"/>
                <a:cs typeface="Arial" charset="0"/>
              </a:rPr>
              <a:t>nonblocking</a:t>
            </a:r>
            <a:r>
              <a:rPr lang="en-US" sz="2400" dirty="0">
                <a:latin typeface="+mj-lt"/>
                <a:cs typeface="Arial" charset="0"/>
              </a:rPr>
              <a:t> assignments</a:t>
            </a:r>
            <a:r>
              <a:rPr lang="en-US" sz="2400" dirty="0">
                <a:latin typeface="Times New Roman" pitchFamily="18" charset="0"/>
                <a:cs typeface="Arial" charset="0"/>
              </a:rPr>
              <a:t> (</a:t>
            </a:r>
            <a:r>
              <a:rPr lang="en-US" sz="24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&lt;=</a:t>
            </a:r>
            <a:r>
              <a:rPr lang="en-US" sz="2400" dirty="0">
                <a:latin typeface="Times New Roman" pitchFamily="18" charset="0"/>
                <a:cs typeface="Arial" charset="0"/>
              </a:rPr>
              <a:t>)</a:t>
            </a:r>
            <a:r>
              <a:rPr lang="en-US" sz="1800" dirty="0">
                <a:latin typeface="Courier New" pitchFamily="49" charset="0"/>
                <a:cs typeface="Arial" charset="0"/>
              </a:rPr>
              <a:t>    </a:t>
            </a:r>
          </a:p>
          <a:p>
            <a:pPr>
              <a:spcBef>
                <a:spcPct val="20000"/>
              </a:spcBef>
            </a:pPr>
            <a:r>
              <a:rPr lang="en-US" dirty="0">
                <a:latin typeface="Courier New" pitchFamily="49" charset="0"/>
                <a:cs typeface="Arial" charset="0"/>
              </a:rPr>
              <a:t>       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always_ff</a:t>
            </a:r>
            <a:r>
              <a:rPr lang="en-US" sz="1800" dirty="0">
                <a:latin typeface="Courier New" pitchFamily="49" charset="0"/>
                <a:cs typeface="Arial" charset="0"/>
              </a:rPr>
              <a:t> @(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posedge</a:t>
            </a:r>
            <a:r>
              <a:rPr lang="en-US" sz="1800" dirty="0">
                <a:latin typeface="Courier New" pitchFamily="49" charset="0"/>
                <a:cs typeface="Arial" charset="0"/>
              </a:rPr>
              <a:t>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clk</a:t>
            </a:r>
            <a:r>
              <a:rPr lang="en-US" sz="1800" dirty="0">
                <a:latin typeface="Courier New" pitchFamily="49" charset="0"/>
                <a:cs typeface="Arial" charset="0"/>
              </a:rPr>
              <a:t>)</a:t>
            </a:r>
          </a:p>
          <a:p>
            <a:pPr marL="342900" indent="-342900">
              <a:spcBef>
                <a:spcPct val="20000"/>
              </a:spcBef>
            </a:pPr>
            <a:r>
              <a:rPr lang="en-US" sz="1800" dirty="0">
                <a:latin typeface="Courier New" pitchFamily="49" charset="0"/>
                <a:cs typeface="Arial" charset="0"/>
              </a:rPr>
              <a:t>		   q &lt;= d; // </a:t>
            </a:r>
            <a:r>
              <a:rPr lang="en-US" sz="1800" dirty="0" err="1">
                <a:latin typeface="Courier New" pitchFamily="49" charset="0"/>
                <a:cs typeface="Arial" charset="0"/>
              </a:rPr>
              <a:t>nonblocking</a:t>
            </a:r>
            <a:endParaRPr lang="en-US" sz="18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2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2400" b="1" dirty="0">
                <a:latin typeface="+mj-lt"/>
                <a:cs typeface="Arial" charset="0"/>
              </a:rPr>
              <a:t>Simple combinational logic:</a:t>
            </a:r>
            <a:r>
              <a:rPr lang="en-US" sz="2400" dirty="0">
                <a:latin typeface="+mj-lt"/>
                <a:cs typeface="Arial" charset="0"/>
              </a:rPr>
              <a:t> use continuous assignments </a:t>
            </a:r>
            <a:r>
              <a:rPr lang="en-US" sz="2400" dirty="0">
                <a:latin typeface="Times New Roman" pitchFamily="18" charset="0"/>
                <a:cs typeface="Arial" charset="0"/>
              </a:rPr>
              <a:t>(</a:t>
            </a:r>
            <a:r>
              <a:rPr lang="en-US" sz="24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assign…</a:t>
            </a:r>
            <a:r>
              <a:rPr lang="en-US" sz="2400" dirty="0">
                <a:latin typeface="Times New Roman" pitchFamily="18" charset="0"/>
                <a:cs typeface="Arial" charset="0"/>
              </a:rPr>
              <a:t>)</a:t>
            </a:r>
          </a:p>
          <a:p>
            <a:pPr>
              <a:spcBef>
                <a:spcPct val="20000"/>
              </a:spcBef>
            </a:pPr>
            <a:r>
              <a:rPr lang="en-US" sz="2400" dirty="0">
                <a:latin typeface="Times New Roman" pitchFamily="18" charset="0"/>
                <a:cs typeface="Arial" charset="0"/>
              </a:rPr>
              <a:t>            </a:t>
            </a:r>
            <a:r>
              <a:rPr lang="en-US" sz="1800" dirty="0">
                <a:latin typeface="Courier New" pitchFamily="49" charset="0"/>
                <a:cs typeface="Arial" charset="0"/>
              </a:rPr>
              <a:t> assign y = a &amp; b; </a:t>
            </a:r>
          </a:p>
          <a:p>
            <a:pPr marL="342900" indent="-342900">
              <a:spcBef>
                <a:spcPct val="20000"/>
              </a:spcBef>
            </a:pPr>
            <a:endParaRPr lang="en-US" sz="2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2400" b="1" dirty="0">
                <a:latin typeface="+mj-lt"/>
                <a:cs typeface="Arial" charset="0"/>
              </a:rPr>
              <a:t>More complicated combinational logic: </a:t>
            </a:r>
            <a:r>
              <a:rPr lang="en-US" sz="2400" dirty="0">
                <a:latin typeface="+mj-lt"/>
                <a:cs typeface="Arial" charset="0"/>
              </a:rPr>
              <a:t>use </a:t>
            </a:r>
            <a:r>
              <a:rPr lang="en-US" sz="2400" b="1" dirty="0" err="1">
                <a:solidFill>
                  <a:srgbClr val="0070C0"/>
                </a:solidFill>
                <a:latin typeface="Courier New" pitchFamily="49" charset="0"/>
                <a:cs typeface="Arial" charset="0"/>
              </a:rPr>
              <a:t>always_comb</a:t>
            </a:r>
            <a:r>
              <a:rPr lang="en-US" sz="2400" dirty="0">
                <a:latin typeface="Times New Roman" pitchFamily="18" charset="0"/>
                <a:cs typeface="Arial" charset="0"/>
              </a:rPr>
              <a:t> </a:t>
            </a:r>
            <a:r>
              <a:rPr lang="en-US" sz="2400" dirty="0">
                <a:latin typeface="+mj-lt"/>
                <a:cs typeface="Arial" charset="0"/>
              </a:rPr>
              <a:t>and blocking assignments </a:t>
            </a:r>
            <a:r>
              <a:rPr lang="en-US" sz="2400" dirty="0">
                <a:latin typeface="Times New Roman" pitchFamily="18" charset="0"/>
                <a:cs typeface="Arial" charset="0"/>
              </a:rPr>
              <a:t>(</a:t>
            </a:r>
            <a:r>
              <a:rPr lang="en-US" sz="24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2400" dirty="0">
                <a:latin typeface="Times New Roman" pitchFamily="18" charset="0"/>
                <a:cs typeface="Arial" charset="0"/>
              </a:rPr>
              <a:t>)</a:t>
            </a:r>
          </a:p>
          <a:p>
            <a:pPr>
              <a:spcBef>
                <a:spcPct val="20000"/>
              </a:spcBef>
            </a:pPr>
            <a:endParaRPr lang="en-US" sz="200" dirty="0">
              <a:latin typeface="Courier New" pitchFamily="49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2400" dirty="0">
                <a:latin typeface="+mj-lt"/>
                <a:cs typeface="Arial" charset="0"/>
              </a:rPr>
              <a:t>Assign a signal in </a:t>
            </a:r>
            <a:r>
              <a:rPr lang="en-US" sz="2400" b="1" dirty="0">
                <a:latin typeface="+mj-lt"/>
                <a:cs typeface="Arial" charset="0"/>
              </a:rPr>
              <a:t>only one</a:t>
            </a:r>
            <a:r>
              <a:rPr lang="en-US" sz="2400" dirty="0">
                <a:latin typeface="+mj-lt"/>
                <a:cs typeface="Arial" charset="0"/>
              </a:rPr>
              <a:t> </a:t>
            </a:r>
            <a:r>
              <a:rPr lang="en-US" sz="2400" dirty="0">
                <a:latin typeface="Courier New" pitchFamily="49" charset="0"/>
                <a:cs typeface="Arial" charset="0"/>
              </a:rPr>
              <a:t>always</a:t>
            </a:r>
            <a:r>
              <a:rPr lang="en-US" sz="2400" dirty="0">
                <a:latin typeface="Times New Roman" pitchFamily="18" charset="0"/>
                <a:cs typeface="Arial" charset="0"/>
              </a:rPr>
              <a:t> </a:t>
            </a:r>
            <a:r>
              <a:rPr lang="en-US" sz="2400" dirty="0">
                <a:latin typeface="+mj-lt"/>
                <a:cs typeface="Arial" charset="0"/>
              </a:rPr>
              <a:t>statement or continuous assignment statement.</a:t>
            </a:r>
          </a:p>
          <a:p>
            <a:pPr marL="342900" indent="-342900">
              <a:spcBef>
                <a:spcPct val="20000"/>
              </a:spcBef>
            </a:pPr>
            <a:endParaRPr lang="en-US" sz="2400" dirty="0">
              <a:latin typeface="Times New Roman" pitchFamily="18" charset="0"/>
              <a:cs typeface="Arial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Rules for Signal Assignment</a:t>
            </a:r>
          </a:p>
        </p:txBody>
      </p:sp>
    </p:spTree>
    <p:extLst>
      <p:ext uri="{BB962C8B-B14F-4D97-AF65-F5344CB8AC3E}">
        <p14:creationId xmlns:p14="http://schemas.microsoft.com/office/powerpoint/2010/main" val="3311733118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45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graphicFrame>
        <p:nvGraphicFramePr>
          <p:cNvPr id="872452" name="Object 4"/>
          <p:cNvGraphicFramePr>
            <a:graphicFrameLocks noGrp="1" noChangeAspect="1"/>
          </p:cNvGraphicFramePr>
          <p:nvPr>
            <p:ph idx="4294967295"/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04870151"/>
              </p:ext>
            </p:extLst>
          </p:nvPr>
        </p:nvGraphicFramePr>
        <p:xfrm>
          <a:off x="914400" y="3657600"/>
          <a:ext cx="7772400" cy="171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2606760" imgH="574560" progId="Visio.Drawing.11">
                  <p:embed/>
                </p:oleObj>
              </mc:Choice>
              <mc:Fallback>
                <p:oleObj name="VISIO" r:id="rId6" imgW="2606760" imgH="574560" progId="Visio.Drawing.1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57600"/>
                        <a:ext cx="7772400" cy="1714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72454" name="Rectangle 6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85800" y="1216269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FontTx/>
              <a:buChar char="•"/>
            </a:pPr>
            <a:r>
              <a:rPr lang="en-US" sz="3200" b="1" dirty="0">
                <a:solidFill>
                  <a:srgbClr val="0070C0"/>
                </a:solidFill>
                <a:latin typeface="+mj-lt"/>
                <a:cs typeface="Arial" charset="0"/>
              </a:rPr>
              <a:t>Three blocks:</a:t>
            </a: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r>
              <a:rPr lang="en-US" sz="2600" dirty="0">
                <a:latin typeface="+mj-lt"/>
                <a:cs typeface="Arial" charset="0"/>
              </a:rPr>
              <a:t>next state logic</a:t>
            </a: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r>
              <a:rPr lang="en-US" sz="2600" dirty="0">
                <a:latin typeface="+mj-lt"/>
                <a:cs typeface="Arial" charset="0"/>
              </a:rPr>
              <a:t>state register</a:t>
            </a:r>
          </a:p>
          <a:p>
            <a:pPr marL="742950" lvl="1" indent="-285750">
              <a:spcBef>
                <a:spcPct val="20000"/>
              </a:spcBef>
              <a:buFontTx/>
              <a:buChar char="–"/>
            </a:pPr>
            <a:r>
              <a:rPr lang="en-US" sz="2600" dirty="0">
                <a:latin typeface="+mj-lt"/>
                <a:cs typeface="Arial" charset="0"/>
              </a:rPr>
              <a:t>output logic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Finite State Machines (FSMs)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EBF3A5-5E4A-4024-A51C-D56F02717E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96597" y="1216269"/>
            <a:ext cx="5447403" cy="2110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665535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477" name="Rectangle 5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600200" y="914400"/>
            <a:ext cx="64008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2400" b="1" dirty="0">
              <a:solidFill>
                <a:srgbClr val="0070C0"/>
              </a:solidFill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2400" b="1" dirty="0">
              <a:solidFill>
                <a:srgbClr val="0070C0"/>
              </a:solidFill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2400" b="1" dirty="0">
              <a:solidFill>
                <a:srgbClr val="0070C0"/>
              </a:solidFill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2400" b="1" dirty="0">
              <a:solidFill>
                <a:srgbClr val="0070C0"/>
              </a:solidFill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2400" b="1" dirty="0">
              <a:solidFill>
                <a:srgbClr val="0070C0"/>
              </a:solidFill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2400" b="1" dirty="0">
              <a:solidFill>
                <a:srgbClr val="0070C0"/>
              </a:solidFill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2400" b="1" dirty="0">
              <a:solidFill>
                <a:srgbClr val="0070C0"/>
              </a:solidFill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2400" b="1" dirty="0">
              <a:solidFill>
                <a:srgbClr val="0070C0"/>
              </a:solidFill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2400" b="1" dirty="0">
              <a:solidFill>
                <a:srgbClr val="0070C0"/>
              </a:solidFill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2400" b="1" dirty="0">
              <a:solidFill>
                <a:srgbClr val="0070C0"/>
              </a:solidFill>
              <a:latin typeface="+mj-lt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r>
              <a:rPr lang="en-US" sz="2400" b="1" dirty="0">
                <a:solidFill>
                  <a:srgbClr val="0070C0"/>
                </a:solidFill>
                <a:latin typeface="+mj-lt"/>
                <a:cs typeface="Arial" charset="0"/>
              </a:rPr>
              <a:t>The double circle indicates the reset state</a:t>
            </a:r>
          </a:p>
        </p:txBody>
      </p:sp>
      <p:sp>
        <p:nvSpPr>
          <p:cNvPr id="873474" name="Rectangle 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graphicFrame>
        <p:nvGraphicFramePr>
          <p:cNvPr id="873476" name="Object 4"/>
          <p:cNvGraphicFramePr>
            <a:graphicFrameLocks noGrp="1" noChangeAspect="1"/>
          </p:cNvGraphicFramePr>
          <p:nvPr>
            <p:ph idx="4294967295"/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593187924"/>
              </p:ext>
            </p:extLst>
          </p:nvPr>
        </p:nvGraphicFramePr>
        <p:xfrm>
          <a:off x="2120900" y="949569"/>
          <a:ext cx="3987800" cy="4224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1072440" imgH="1189800" progId="Visio.Drawing.6">
                  <p:embed/>
                </p:oleObj>
              </mc:Choice>
              <mc:Fallback>
                <p:oleObj name="VISIO" r:id="rId6" imgW="1072440" imgH="1189800" progId="Visio.Drawing.6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0900" y="949569"/>
                        <a:ext cx="3987800" cy="42243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FSM Example: Divide by 3</a:t>
            </a:r>
          </a:p>
        </p:txBody>
      </p:sp>
    </p:spTree>
    <p:extLst>
      <p:ext uri="{BB962C8B-B14F-4D97-AF65-F5344CB8AC3E}">
        <p14:creationId xmlns:p14="http://schemas.microsoft.com/office/powerpoint/2010/main" val="2914310901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49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74500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533400" y="990600"/>
            <a:ext cx="5257800" cy="518160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module divideby3FSM(input  logic </a:t>
            </a:r>
            <a:r>
              <a:rPr lang="en-US" sz="1200" dirty="0" err="1">
                <a:latin typeface="Courier New"/>
                <a:cs typeface="Courier New"/>
              </a:rPr>
              <a:t>clk</a:t>
            </a:r>
            <a:r>
              <a:rPr lang="en-US" sz="1200" dirty="0">
                <a:latin typeface="Courier New"/>
                <a:cs typeface="Courier New"/>
              </a:rPr>
              <a:t>, 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           input  logic reset, 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           output logic q);</a:t>
            </a:r>
          </a:p>
          <a:p>
            <a:pPr>
              <a:spcBef>
                <a:spcPts val="0"/>
              </a:spcBef>
              <a:buFontTx/>
              <a:buNone/>
            </a:pPr>
            <a:endParaRPr lang="en-US" sz="1200" dirty="0">
              <a:latin typeface="Courier New"/>
              <a:cs typeface="Courier New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dirty="0" err="1">
                <a:latin typeface="Courier New"/>
                <a:cs typeface="Courier New"/>
              </a:rPr>
              <a:t>typedef</a:t>
            </a:r>
            <a:r>
              <a:rPr lang="en-US" sz="1200" dirty="0">
                <a:latin typeface="Courier New"/>
                <a:cs typeface="Courier New"/>
              </a:rPr>
              <a:t> </a:t>
            </a:r>
            <a:r>
              <a:rPr lang="en-US" sz="1200" dirty="0" err="1">
                <a:latin typeface="Courier New"/>
                <a:cs typeface="Courier New"/>
              </a:rPr>
              <a:t>enum</a:t>
            </a:r>
            <a:r>
              <a:rPr lang="en-US" sz="1200" dirty="0">
                <a:latin typeface="Courier New"/>
                <a:cs typeface="Courier New"/>
              </a:rPr>
              <a:t> logic [1:0] {S0, S1, S2} </a:t>
            </a:r>
            <a:r>
              <a:rPr lang="en-US" sz="1200" dirty="0" err="1">
                <a:latin typeface="Courier New"/>
                <a:cs typeface="Courier New"/>
              </a:rPr>
              <a:t>statetype</a:t>
            </a:r>
            <a:r>
              <a:rPr lang="en-US" sz="1200" dirty="0">
                <a:latin typeface="Courier New"/>
                <a:cs typeface="Courier New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dirty="0" err="1">
                <a:latin typeface="Courier New"/>
                <a:cs typeface="Courier New"/>
              </a:rPr>
              <a:t>statetype</a:t>
            </a:r>
            <a:r>
              <a:rPr lang="en-US" sz="1200" dirty="0">
                <a:latin typeface="Courier New"/>
                <a:cs typeface="Courier New"/>
              </a:rPr>
              <a:t> state,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;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200" dirty="0">
                <a:latin typeface="Courier New"/>
                <a:cs typeface="Courier New"/>
              </a:rPr>
              <a:t> 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solidFill>
                  <a:schemeClr val="accent2"/>
                </a:solidFill>
                <a:latin typeface="Courier New"/>
                <a:cs typeface="Courier New"/>
              </a:rPr>
              <a:t>   </a:t>
            </a:r>
            <a:r>
              <a:rPr lang="en-US" sz="1200" b="1" dirty="0">
                <a:solidFill>
                  <a:srgbClr val="0070C0"/>
                </a:solidFill>
                <a:latin typeface="Courier New"/>
                <a:cs typeface="Courier New"/>
              </a:rPr>
              <a:t>// state register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dirty="0" err="1">
                <a:latin typeface="Courier New"/>
                <a:cs typeface="Courier New"/>
              </a:rPr>
              <a:t>always_ff</a:t>
            </a:r>
            <a:r>
              <a:rPr lang="en-US" sz="1200" dirty="0">
                <a:latin typeface="Courier New"/>
                <a:cs typeface="Courier New"/>
              </a:rPr>
              <a:t> @(</a:t>
            </a:r>
            <a:r>
              <a:rPr lang="en-US" sz="1200" dirty="0" err="1">
                <a:latin typeface="Courier New"/>
                <a:cs typeface="Courier New"/>
              </a:rPr>
              <a:t>posedge</a:t>
            </a:r>
            <a:r>
              <a:rPr lang="en-US" sz="1200" dirty="0">
                <a:latin typeface="Courier New"/>
                <a:cs typeface="Courier New"/>
              </a:rPr>
              <a:t> </a:t>
            </a:r>
            <a:r>
              <a:rPr lang="en-US" sz="1200" dirty="0" err="1">
                <a:latin typeface="Courier New"/>
                <a:cs typeface="Courier New"/>
              </a:rPr>
              <a:t>clk</a:t>
            </a:r>
            <a:r>
              <a:rPr lang="en-US" sz="1200" dirty="0">
                <a:latin typeface="Courier New"/>
                <a:cs typeface="Courier New"/>
              </a:rPr>
              <a:t>, </a:t>
            </a:r>
            <a:r>
              <a:rPr lang="en-US" sz="1200" dirty="0" err="1">
                <a:latin typeface="Courier New"/>
                <a:cs typeface="Courier New"/>
              </a:rPr>
              <a:t>posedge</a:t>
            </a:r>
            <a:r>
              <a:rPr lang="en-US" sz="1200" dirty="0">
                <a:latin typeface="Courier New"/>
                <a:cs typeface="Courier New"/>
              </a:rPr>
              <a:t> reset)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if (reset) state &lt;= S0;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else       state &lt;=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;</a:t>
            </a:r>
          </a:p>
          <a:p>
            <a:pPr>
              <a:spcBef>
                <a:spcPts val="0"/>
              </a:spcBef>
              <a:buFontTx/>
              <a:buNone/>
            </a:pPr>
            <a:endParaRPr lang="en-US" sz="1200" dirty="0"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b="1" dirty="0">
                <a:solidFill>
                  <a:srgbClr val="0070C0"/>
                </a:solidFill>
                <a:latin typeface="Courier New"/>
                <a:cs typeface="Courier New"/>
              </a:rPr>
              <a:t>// next state logic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dirty="0" err="1">
                <a:latin typeface="Courier New"/>
                <a:cs typeface="Courier New"/>
              </a:rPr>
              <a:t>always_comb</a:t>
            </a:r>
            <a:endParaRPr lang="en-US" sz="1200" dirty="0"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case (state)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S0:     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S1;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S1:     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S2;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S2:     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default: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</a:t>
            </a:r>
            <a:r>
              <a:rPr lang="en-US" sz="1200" dirty="0" err="1">
                <a:latin typeface="Courier New"/>
                <a:cs typeface="Courier New"/>
              </a:rPr>
              <a:t>endcase</a:t>
            </a:r>
            <a:endParaRPr lang="en-US" sz="1200" dirty="0"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endParaRPr lang="en-US" sz="1200" dirty="0">
              <a:solidFill>
                <a:schemeClr val="accent2"/>
              </a:solidFill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solidFill>
                  <a:schemeClr val="accent2"/>
                </a:solidFill>
                <a:latin typeface="Courier New"/>
                <a:cs typeface="Courier New"/>
              </a:rPr>
              <a:t>   </a:t>
            </a:r>
            <a:r>
              <a:rPr lang="en-US" sz="1200" b="1" dirty="0">
                <a:solidFill>
                  <a:srgbClr val="0070C0"/>
                </a:solidFill>
                <a:latin typeface="Courier New"/>
                <a:cs typeface="Courier New"/>
              </a:rPr>
              <a:t>// output logic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assign q = (state == S0);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 err="1">
                <a:latin typeface="Courier New"/>
                <a:cs typeface="Courier New"/>
              </a:rPr>
              <a:t>endmodule</a:t>
            </a:r>
            <a:r>
              <a:rPr lang="en-US" sz="1200" dirty="0">
                <a:latin typeface="Courier New"/>
                <a:cs typeface="Courier New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FSM in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SystemVerilog</a:t>
            </a:r>
            <a:endParaRPr lang="en-US" sz="4400" dirty="0">
              <a:solidFill>
                <a:schemeClr val="bg1"/>
              </a:solidFill>
              <a:latin typeface="+mj-lt"/>
            </a:endParaRPr>
          </a:p>
        </p:txBody>
      </p:sp>
      <p:graphicFrame>
        <p:nvGraphicFramePr>
          <p:cNvPr id="2" name="Object 1"/>
          <p:cNvGraphicFramePr>
            <a:graphicFrameLocks noGrp="1" noChangeAspect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404689906"/>
              </p:ext>
            </p:extLst>
          </p:nvPr>
        </p:nvGraphicFramePr>
        <p:xfrm>
          <a:off x="4343400" y="2895600"/>
          <a:ext cx="4648200" cy="1025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2607338" imgH="573981" progId="Visio.Drawing.11">
                  <p:embed/>
                </p:oleObj>
              </mc:Choice>
              <mc:Fallback>
                <p:oleObj name="VISIO" r:id="rId6" imgW="2607338" imgH="573981" progId="Visio.Drawing.11">
                  <p:embed/>
                  <p:pic>
                    <p:nvPicPr>
                      <p:cNvPr id="0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43400" y="2895600"/>
                        <a:ext cx="4648200" cy="10253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36075023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49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74500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533400" y="914400"/>
            <a:ext cx="5257800" cy="518160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module </a:t>
            </a:r>
            <a:r>
              <a:rPr lang="en-US" sz="1200" dirty="0" err="1">
                <a:latin typeface="Courier New"/>
                <a:cs typeface="Courier New"/>
              </a:rPr>
              <a:t>fsmWithInputs</a:t>
            </a:r>
            <a:r>
              <a:rPr lang="en-US" sz="1200" dirty="0">
                <a:latin typeface="Courier New"/>
                <a:cs typeface="Courier New"/>
              </a:rPr>
              <a:t>(input  logic </a:t>
            </a:r>
            <a:r>
              <a:rPr lang="en-US" sz="1200" dirty="0" err="1">
                <a:latin typeface="Courier New"/>
                <a:cs typeface="Courier New"/>
              </a:rPr>
              <a:t>clk</a:t>
            </a:r>
            <a:r>
              <a:rPr lang="en-US" sz="1200" dirty="0">
                <a:latin typeface="Courier New"/>
                <a:cs typeface="Courier New"/>
              </a:rPr>
              <a:t>, 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           input  logic reset, 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			input  logic a,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           output logic q);</a:t>
            </a:r>
          </a:p>
          <a:p>
            <a:pPr>
              <a:spcBef>
                <a:spcPts val="0"/>
              </a:spcBef>
              <a:buFontTx/>
              <a:buNone/>
            </a:pPr>
            <a:endParaRPr lang="en-US" sz="1200" dirty="0">
              <a:latin typeface="Courier New"/>
              <a:cs typeface="Courier New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dirty="0" err="1">
                <a:latin typeface="Courier New"/>
                <a:cs typeface="Courier New"/>
              </a:rPr>
              <a:t>typedef</a:t>
            </a:r>
            <a:r>
              <a:rPr lang="en-US" sz="1200" dirty="0">
                <a:latin typeface="Courier New"/>
                <a:cs typeface="Courier New"/>
              </a:rPr>
              <a:t> </a:t>
            </a:r>
            <a:r>
              <a:rPr lang="en-US" sz="1200" dirty="0" err="1">
                <a:latin typeface="Courier New"/>
                <a:cs typeface="Courier New"/>
              </a:rPr>
              <a:t>enum</a:t>
            </a:r>
            <a:r>
              <a:rPr lang="en-US" sz="1200" dirty="0">
                <a:latin typeface="Courier New"/>
                <a:cs typeface="Courier New"/>
              </a:rPr>
              <a:t> logic [1:0] {S0, S1, S2} </a:t>
            </a:r>
            <a:r>
              <a:rPr lang="en-US" sz="1200" dirty="0" err="1">
                <a:latin typeface="Courier New"/>
                <a:cs typeface="Courier New"/>
              </a:rPr>
              <a:t>statetype</a:t>
            </a:r>
            <a:r>
              <a:rPr lang="en-US" sz="1200" dirty="0">
                <a:latin typeface="Courier New"/>
                <a:cs typeface="Courier New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dirty="0" err="1">
                <a:latin typeface="Courier New"/>
                <a:cs typeface="Courier New"/>
              </a:rPr>
              <a:t>statetype</a:t>
            </a:r>
            <a:r>
              <a:rPr lang="en-US" sz="1200" dirty="0">
                <a:latin typeface="Courier New"/>
                <a:cs typeface="Courier New"/>
              </a:rPr>
              <a:t> state,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;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200" dirty="0">
                <a:latin typeface="Courier New"/>
                <a:cs typeface="Courier New"/>
              </a:rPr>
              <a:t> 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solidFill>
                  <a:schemeClr val="accent2"/>
                </a:solidFill>
                <a:latin typeface="Courier New"/>
                <a:cs typeface="Courier New"/>
              </a:rPr>
              <a:t>   </a:t>
            </a:r>
            <a:r>
              <a:rPr lang="en-US" sz="1200" b="1" dirty="0">
                <a:solidFill>
                  <a:srgbClr val="0070C0"/>
                </a:solidFill>
                <a:latin typeface="Courier New"/>
                <a:cs typeface="Courier New"/>
              </a:rPr>
              <a:t>// state register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dirty="0" err="1">
                <a:latin typeface="Courier New"/>
                <a:cs typeface="Courier New"/>
              </a:rPr>
              <a:t>always_ff</a:t>
            </a:r>
            <a:r>
              <a:rPr lang="en-US" sz="1200" dirty="0">
                <a:latin typeface="Courier New"/>
                <a:cs typeface="Courier New"/>
              </a:rPr>
              <a:t> @(</a:t>
            </a:r>
            <a:r>
              <a:rPr lang="en-US" sz="1200" dirty="0" err="1">
                <a:latin typeface="Courier New"/>
                <a:cs typeface="Courier New"/>
              </a:rPr>
              <a:t>posedge</a:t>
            </a:r>
            <a:r>
              <a:rPr lang="en-US" sz="1200" dirty="0">
                <a:latin typeface="Courier New"/>
                <a:cs typeface="Courier New"/>
              </a:rPr>
              <a:t> </a:t>
            </a:r>
            <a:r>
              <a:rPr lang="en-US" sz="1200" dirty="0" err="1">
                <a:latin typeface="Courier New"/>
                <a:cs typeface="Courier New"/>
              </a:rPr>
              <a:t>clk</a:t>
            </a:r>
            <a:r>
              <a:rPr lang="en-US" sz="1200" dirty="0">
                <a:latin typeface="Courier New"/>
                <a:cs typeface="Courier New"/>
              </a:rPr>
              <a:t>, </a:t>
            </a:r>
            <a:r>
              <a:rPr lang="en-US" sz="1200" dirty="0" err="1">
                <a:latin typeface="Courier New"/>
                <a:cs typeface="Courier New"/>
              </a:rPr>
              <a:t>posedge</a:t>
            </a:r>
            <a:r>
              <a:rPr lang="en-US" sz="1200" dirty="0">
                <a:latin typeface="Courier New"/>
                <a:cs typeface="Courier New"/>
              </a:rPr>
              <a:t> reset)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if (reset) state &lt;= S0;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else       state &lt;=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;</a:t>
            </a:r>
          </a:p>
          <a:p>
            <a:pPr>
              <a:spcBef>
                <a:spcPts val="0"/>
              </a:spcBef>
              <a:buFontTx/>
              <a:buNone/>
            </a:pPr>
            <a:endParaRPr lang="en-US" sz="1200" dirty="0"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b="1" dirty="0">
                <a:solidFill>
                  <a:srgbClr val="0070C0"/>
                </a:solidFill>
                <a:latin typeface="Courier New"/>
                <a:cs typeface="Courier New"/>
              </a:rPr>
              <a:t>// next state logic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dirty="0" err="1">
                <a:latin typeface="Courier New"/>
                <a:cs typeface="Courier New"/>
              </a:rPr>
              <a:t>always_comb</a:t>
            </a:r>
            <a:endParaRPr lang="en-US" sz="1200" dirty="0"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case (state)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S0:      if (a)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S1;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         else  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S1:            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S2;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S2:      if (a)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S2;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         else  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default:       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</a:t>
            </a:r>
            <a:r>
              <a:rPr lang="en-US" sz="1200" dirty="0" err="1">
                <a:latin typeface="Courier New"/>
                <a:cs typeface="Courier New"/>
              </a:rPr>
              <a:t>endcase</a:t>
            </a:r>
            <a:endParaRPr lang="en-US" sz="1200" dirty="0"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endParaRPr lang="en-US" sz="1200" dirty="0">
              <a:solidFill>
                <a:schemeClr val="accent2"/>
              </a:solidFill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solidFill>
                  <a:schemeClr val="accent2"/>
                </a:solidFill>
                <a:latin typeface="Courier New"/>
                <a:cs typeface="Courier New"/>
              </a:rPr>
              <a:t>   </a:t>
            </a:r>
            <a:r>
              <a:rPr lang="en-US" sz="1200" b="1" dirty="0">
                <a:solidFill>
                  <a:srgbClr val="0070C0"/>
                </a:solidFill>
                <a:latin typeface="Courier New"/>
                <a:cs typeface="Courier New"/>
              </a:rPr>
              <a:t>// output logic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assign q = (state == S2);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 err="1">
                <a:latin typeface="Courier New"/>
                <a:cs typeface="Courier New"/>
              </a:rPr>
              <a:t>endmodule</a:t>
            </a:r>
            <a:r>
              <a:rPr lang="en-US" sz="1200" dirty="0">
                <a:latin typeface="Courier New"/>
                <a:cs typeface="Courier New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FSM with Inputs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31083"/>
            <a:ext cx="4419600" cy="166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366369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49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74500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533400" y="914400"/>
            <a:ext cx="5257800" cy="5181600"/>
          </a:xfrm>
        </p:spPr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module </a:t>
            </a:r>
            <a:r>
              <a:rPr lang="en-US" sz="1200" dirty="0" err="1">
                <a:latin typeface="Courier New"/>
                <a:cs typeface="Courier New"/>
              </a:rPr>
              <a:t>snail_Moore</a:t>
            </a:r>
            <a:r>
              <a:rPr lang="en-US" sz="1200" dirty="0">
                <a:latin typeface="Courier New"/>
                <a:cs typeface="Courier New"/>
              </a:rPr>
              <a:t>(input  logic </a:t>
            </a:r>
            <a:r>
              <a:rPr lang="en-US" sz="1200" dirty="0" err="1">
                <a:latin typeface="Courier New"/>
                <a:cs typeface="Courier New"/>
              </a:rPr>
              <a:t>clk</a:t>
            </a:r>
            <a:r>
              <a:rPr lang="en-US" sz="1200" dirty="0">
                <a:latin typeface="Courier New"/>
                <a:cs typeface="Courier New"/>
              </a:rPr>
              <a:t>, 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           input  logic reset, 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			input  logic a,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           output logic y);</a:t>
            </a:r>
          </a:p>
          <a:p>
            <a:pPr>
              <a:spcBef>
                <a:spcPts val="0"/>
              </a:spcBef>
              <a:buFontTx/>
              <a:buNone/>
            </a:pPr>
            <a:endParaRPr lang="en-US" sz="1200" dirty="0">
              <a:latin typeface="Courier New"/>
              <a:cs typeface="Courier New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dirty="0" err="1">
                <a:latin typeface="Courier New"/>
                <a:cs typeface="Courier New"/>
              </a:rPr>
              <a:t>typedef</a:t>
            </a:r>
            <a:r>
              <a:rPr lang="en-US" sz="1200" dirty="0">
                <a:latin typeface="Courier New"/>
                <a:cs typeface="Courier New"/>
              </a:rPr>
              <a:t> </a:t>
            </a:r>
            <a:r>
              <a:rPr lang="en-US" sz="1200" dirty="0" err="1">
                <a:latin typeface="Courier New"/>
                <a:cs typeface="Courier New"/>
              </a:rPr>
              <a:t>enum</a:t>
            </a:r>
            <a:r>
              <a:rPr lang="en-US" sz="1200" dirty="0">
                <a:latin typeface="Courier New"/>
                <a:cs typeface="Courier New"/>
              </a:rPr>
              <a:t> logic [1:0] {S0, S1, S2} </a:t>
            </a:r>
            <a:r>
              <a:rPr lang="en-US" sz="1200" dirty="0" err="1">
                <a:latin typeface="Courier New"/>
                <a:cs typeface="Courier New"/>
              </a:rPr>
              <a:t>statetype</a:t>
            </a:r>
            <a:r>
              <a:rPr lang="en-US" sz="1200" dirty="0">
                <a:latin typeface="Courier New"/>
                <a:cs typeface="Courier New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dirty="0" err="1">
                <a:latin typeface="Courier New"/>
                <a:cs typeface="Courier New"/>
              </a:rPr>
              <a:t>statetype</a:t>
            </a:r>
            <a:r>
              <a:rPr lang="en-US" sz="1200" dirty="0">
                <a:latin typeface="Courier New"/>
                <a:cs typeface="Courier New"/>
              </a:rPr>
              <a:t> state,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;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200" dirty="0">
                <a:latin typeface="Courier New"/>
                <a:cs typeface="Courier New"/>
              </a:rPr>
              <a:t> 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solidFill>
                  <a:schemeClr val="accent2"/>
                </a:solidFill>
                <a:latin typeface="Courier New"/>
                <a:cs typeface="Courier New"/>
              </a:rPr>
              <a:t>   </a:t>
            </a:r>
            <a:r>
              <a:rPr lang="en-US" sz="1200" b="1" dirty="0">
                <a:solidFill>
                  <a:srgbClr val="0070C0"/>
                </a:solidFill>
                <a:latin typeface="Courier New"/>
                <a:cs typeface="Courier New"/>
              </a:rPr>
              <a:t>// state register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dirty="0" err="1">
                <a:latin typeface="Courier New"/>
                <a:cs typeface="Courier New"/>
              </a:rPr>
              <a:t>always_ff</a:t>
            </a:r>
            <a:r>
              <a:rPr lang="en-US" sz="1200" dirty="0">
                <a:latin typeface="Courier New"/>
                <a:cs typeface="Courier New"/>
              </a:rPr>
              <a:t> @(</a:t>
            </a:r>
            <a:r>
              <a:rPr lang="en-US" sz="1200" dirty="0" err="1">
                <a:latin typeface="Courier New"/>
                <a:cs typeface="Courier New"/>
              </a:rPr>
              <a:t>posedge</a:t>
            </a:r>
            <a:r>
              <a:rPr lang="en-US" sz="1200" dirty="0">
                <a:latin typeface="Courier New"/>
                <a:cs typeface="Courier New"/>
              </a:rPr>
              <a:t> </a:t>
            </a:r>
            <a:r>
              <a:rPr lang="en-US" sz="1200" dirty="0" err="1">
                <a:latin typeface="Courier New"/>
                <a:cs typeface="Courier New"/>
              </a:rPr>
              <a:t>clk</a:t>
            </a:r>
            <a:r>
              <a:rPr lang="en-US" sz="1200" dirty="0">
                <a:latin typeface="Courier New"/>
                <a:cs typeface="Courier New"/>
              </a:rPr>
              <a:t>, </a:t>
            </a:r>
            <a:r>
              <a:rPr lang="en-US" sz="1200" dirty="0" err="1">
                <a:latin typeface="Courier New"/>
                <a:cs typeface="Courier New"/>
              </a:rPr>
              <a:t>posedge</a:t>
            </a:r>
            <a:r>
              <a:rPr lang="en-US" sz="1200" dirty="0">
                <a:latin typeface="Courier New"/>
                <a:cs typeface="Courier New"/>
              </a:rPr>
              <a:t> reset)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if (reset) state &lt;= S0;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else       state &lt;=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;</a:t>
            </a:r>
          </a:p>
          <a:p>
            <a:pPr>
              <a:spcBef>
                <a:spcPts val="0"/>
              </a:spcBef>
              <a:buFontTx/>
              <a:buNone/>
            </a:pPr>
            <a:endParaRPr lang="en-US" sz="1200" dirty="0"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b="1" dirty="0">
                <a:solidFill>
                  <a:srgbClr val="0070C0"/>
                </a:solidFill>
                <a:latin typeface="Courier New"/>
                <a:cs typeface="Courier New"/>
              </a:rPr>
              <a:t>// next state logic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dirty="0" err="1">
                <a:latin typeface="Courier New"/>
                <a:cs typeface="Courier New"/>
              </a:rPr>
              <a:t>always_comb</a:t>
            </a:r>
            <a:endParaRPr lang="en-US" sz="1200" dirty="0"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case (state)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S0:      if (a)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         else  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S1;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S1:      if (a)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S2;</a:t>
            </a:r>
            <a:br>
              <a:rPr lang="en-US" sz="1200" dirty="0">
                <a:latin typeface="Courier New"/>
                <a:cs typeface="Courier New"/>
              </a:rPr>
            </a:br>
            <a:r>
              <a:rPr lang="en-US" sz="1200" dirty="0">
                <a:latin typeface="Courier New"/>
                <a:cs typeface="Courier New"/>
              </a:rPr>
              <a:t>	        else  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S1;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S2:      if (a)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         else  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S1;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default:       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</a:t>
            </a:r>
            <a:r>
              <a:rPr lang="en-US" sz="1200" dirty="0" err="1">
                <a:latin typeface="Courier New"/>
                <a:cs typeface="Courier New"/>
              </a:rPr>
              <a:t>endcase</a:t>
            </a:r>
            <a:endParaRPr lang="en-US" sz="1200" dirty="0"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endParaRPr lang="en-US" sz="1200" dirty="0">
              <a:solidFill>
                <a:schemeClr val="accent2"/>
              </a:solidFill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solidFill>
                  <a:schemeClr val="accent2"/>
                </a:solidFill>
                <a:latin typeface="Courier New"/>
                <a:cs typeface="Courier New"/>
              </a:rPr>
              <a:t>   </a:t>
            </a:r>
            <a:r>
              <a:rPr lang="en-US" sz="1200" b="1" dirty="0">
                <a:solidFill>
                  <a:srgbClr val="0070C0"/>
                </a:solidFill>
                <a:latin typeface="Courier New"/>
                <a:cs typeface="Courier New"/>
              </a:rPr>
              <a:t>// output logic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assign y = (state == S2);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 err="1">
                <a:latin typeface="Courier New"/>
                <a:cs typeface="Courier New"/>
              </a:rPr>
              <a:t>endmodule</a:t>
            </a:r>
            <a:r>
              <a:rPr lang="en-US" sz="1200" dirty="0">
                <a:latin typeface="Courier New"/>
                <a:cs typeface="Courier New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FSM with Inputs</a:t>
            </a:r>
          </a:p>
        </p:txBody>
      </p:sp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47291556-2446-4C95-9B00-A3C9D14F86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28035729"/>
              </p:ext>
            </p:extLst>
          </p:nvPr>
        </p:nvGraphicFramePr>
        <p:xfrm>
          <a:off x="4495800" y="3124200"/>
          <a:ext cx="4476419" cy="24659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5" imgW="2339280" imgH="1289160" progId="Visio.Drawing.6">
                  <p:embed/>
                </p:oleObj>
              </mc:Choice>
              <mc:Fallback>
                <p:oleObj name="VISIO" r:id="rId5" imgW="2339280" imgH="1289160" progId="Visio.Drawing.6">
                  <p:embed/>
                  <p:pic>
                    <p:nvPicPr>
                      <p:cNvPr id="6" name="Object 5">
                        <a:extLst>
                          <a:ext uri="{FF2B5EF4-FFF2-40B4-BE49-F238E27FC236}">
                            <a16:creationId xmlns:a16="http://schemas.microsoft.com/office/drawing/2014/main" id="{47291556-2446-4C95-9B00-A3C9D14F86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495800" y="3124200"/>
                        <a:ext cx="4476419" cy="24659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35349DEC-F970-4DC8-A684-5A39E28680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32724">
            <a:off x="6990616" y="1079103"/>
            <a:ext cx="1328609" cy="24911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95655940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49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74500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304800" y="990600"/>
            <a:ext cx="5257800" cy="518160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module </a:t>
            </a:r>
            <a:r>
              <a:rPr lang="en-US" sz="1200" dirty="0" err="1">
                <a:latin typeface="Courier New"/>
                <a:cs typeface="Courier New"/>
              </a:rPr>
              <a:t>snail_Mealy</a:t>
            </a:r>
            <a:r>
              <a:rPr lang="en-US" sz="1200" dirty="0">
                <a:latin typeface="Courier New"/>
                <a:cs typeface="Courier New"/>
              </a:rPr>
              <a:t>(input  logic </a:t>
            </a:r>
            <a:r>
              <a:rPr lang="en-US" sz="1200" dirty="0" err="1">
                <a:latin typeface="Courier New"/>
                <a:cs typeface="Courier New"/>
              </a:rPr>
              <a:t>clk</a:t>
            </a:r>
            <a:r>
              <a:rPr lang="en-US" sz="1200" dirty="0">
                <a:latin typeface="Courier New"/>
                <a:cs typeface="Courier New"/>
              </a:rPr>
              <a:t>, 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           input  logic reset, 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			input  logic a,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           output logic y);</a:t>
            </a:r>
          </a:p>
          <a:p>
            <a:pPr>
              <a:spcBef>
                <a:spcPts val="0"/>
              </a:spcBef>
              <a:buFontTx/>
              <a:buNone/>
            </a:pPr>
            <a:endParaRPr lang="en-US" sz="1200" dirty="0">
              <a:latin typeface="Courier New"/>
              <a:cs typeface="Courier New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200" dirty="0">
                <a:latin typeface="Courier New"/>
                <a:cs typeface="Courier New"/>
              </a:rPr>
              <a:t>   typedef </a:t>
            </a:r>
            <a:r>
              <a:rPr lang="en-US" sz="1200" dirty="0" err="1">
                <a:latin typeface="Courier New"/>
                <a:cs typeface="Courier New"/>
              </a:rPr>
              <a:t>enum</a:t>
            </a:r>
            <a:r>
              <a:rPr lang="en-US" sz="1200" dirty="0">
                <a:latin typeface="Courier New"/>
                <a:cs typeface="Courier New"/>
              </a:rPr>
              <a:t> logic {S0, S1} </a:t>
            </a:r>
            <a:r>
              <a:rPr lang="en-US" sz="1200" dirty="0" err="1">
                <a:latin typeface="Courier New"/>
                <a:cs typeface="Courier New"/>
              </a:rPr>
              <a:t>statetype</a:t>
            </a:r>
            <a:r>
              <a:rPr lang="en-US" sz="1200" dirty="0">
                <a:latin typeface="Courier New"/>
                <a:cs typeface="Courier New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dirty="0" err="1">
                <a:latin typeface="Courier New"/>
                <a:cs typeface="Courier New"/>
              </a:rPr>
              <a:t>statetype</a:t>
            </a:r>
            <a:r>
              <a:rPr lang="en-US" sz="1200" dirty="0">
                <a:latin typeface="Courier New"/>
                <a:cs typeface="Courier New"/>
              </a:rPr>
              <a:t> state,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;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200" dirty="0">
                <a:latin typeface="Courier New"/>
                <a:cs typeface="Courier New"/>
              </a:rPr>
              <a:t> 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solidFill>
                  <a:schemeClr val="accent2"/>
                </a:solidFill>
                <a:latin typeface="Courier New"/>
                <a:cs typeface="Courier New"/>
              </a:rPr>
              <a:t>   </a:t>
            </a:r>
            <a:r>
              <a:rPr lang="en-US" sz="1200" b="1" dirty="0">
                <a:solidFill>
                  <a:srgbClr val="0070C0"/>
                </a:solidFill>
                <a:latin typeface="Courier New"/>
                <a:cs typeface="Courier New"/>
              </a:rPr>
              <a:t>// state register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dirty="0" err="1">
                <a:latin typeface="Courier New"/>
                <a:cs typeface="Courier New"/>
              </a:rPr>
              <a:t>always_ff</a:t>
            </a:r>
            <a:r>
              <a:rPr lang="en-US" sz="1200" dirty="0">
                <a:latin typeface="Courier New"/>
                <a:cs typeface="Courier New"/>
              </a:rPr>
              <a:t> @(</a:t>
            </a:r>
            <a:r>
              <a:rPr lang="en-US" sz="1200" dirty="0" err="1">
                <a:latin typeface="Courier New"/>
                <a:cs typeface="Courier New"/>
              </a:rPr>
              <a:t>posedge</a:t>
            </a:r>
            <a:r>
              <a:rPr lang="en-US" sz="1200" dirty="0">
                <a:latin typeface="Courier New"/>
                <a:cs typeface="Courier New"/>
              </a:rPr>
              <a:t> </a:t>
            </a:r>
            <a:r>
              <a:rPr lang="en-US" sz="1200" dirty="0" err="1">
                <a:latin typeface="Courier New"/>
                <a:cs typeface="Courier New"/>
              </a:rPr>
              <a:t>clk</a:t>
            </a:r>
            <a:r>
              <a:rPr lang="en-US" sz="1200" dirty="0">
                <a:latin typeface="Courier New"/>
                <a:cs typeface="Courier New"/>
              </a:rPr>
              <a:t>, </a:t>
            </a:r>
            <a:r>
              <a:rPr lang="en-US" sz="1200" dirty="0" err="1">
                <a:latin typeface="Courier New"/>
                <a:cs typeface="Courier New"/>
              </a:rPr>
              <a:t>posedge</a:t>
            </a:r>
            <a:r>
              <a:rPr lang="en-US" sz="1200" dirty="0">
                <a:latin typeface="Courier New"/>
                <a:cs typeface="Courier New"/>
              </a:rPr>
              <a:t> reset)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if (reset) state &lt;= S0;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else       state &lt;=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;</a:t>
            </a:r>
          </a:p>
          <a:p>
            <a:pPr>
              <a:spcBef>
                <a:spcPts val="0"/>
              </a:spcBef>
              <a:buFontTx/>
              <a:buNone/>
            </a:pPr>
            <a:endParaRPr lang="en-US" sz="1200" dirty="0"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b="1" dirty="0">
                <a:solidFill>
                  <a:srgbClr val="0070C0"/>
                </a:solidFill>
                <a:latin typeface="Courier New"/>
                <a:cs typeface="Courier New"/>
              </a:rPr>
              <a:t>// next state logic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</a:t>
            </a:r>
            <a:r>
              <a:rPr lang="en-US" sz="1200" dirty="0" err="1">
                <a:latin typeface="Courier New"/>
                <a:cs typeface="Courier New"/>
              </a:rPr>
              <a:t>always_comb</a:t>
            </a:r>
            <a:endParaRPr lang="en-US" sz="1200" dirty="0"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case (state)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S0:      if (a)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         else  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S1;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   S1:      if (a)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S0;</a:t>
            </a:r>
            <a:br>
              <a:rPr lang="en-US" sz="1200" dirty="0">
                <a:latin typeface="Courier New"/>
                <a:cs typeface="Courier New"/>
              </a:rPr>
            </a:br>
            <a:r>
              <a:rPr lang="en-US" sz="1200" dirty="0">
                <a:latin typeface="Courier New"/>
                <a:cs typeface="Courier New"/>
              </a:rPr>
              <a:t>	        else  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S1;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	     default:        </a:t>
            </a:r>
            <a:r>
              <a:rPr lang="en-US" sz="1200" dirty="0" err="1">
                <a:latin typeface="Courier New"/>
                <a:cs typeface="Courier New"/>
              </a:rPr>
              <a:t>nextstate</a:t>
            </a:r>
            <a:r>
              <a:rPr lang="en-US" sz="1200" dirty="0">
                <a:latin typeface="Courier New"/>
                <a:cs typeface="Courier New"/>
              </a:rPr>
              <a:t> = S0;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   </a:t>
            </a:r>
            <a:r>
              <a:rPr lang="en-US" sz="1200" dirty="0" err="1">
                <a:latin typeface="Courier New"/>
                <a:cs typeface="Courier New"/>
              </a:rPr>
              <a:t>endcase</a:t>
            </a:r>
            <a:endParaRPr lang="en-US" sz="1200" dirty="0"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endParaRPr lang="en-US" sz="1200" dirty="0">
              <a:solidFill>
                <a:schemeClr val="accent2"/>
              </a:solidFill>
              <a:latin typeface="Courier New"/>
              <a:cs typeface="Courier New"/>
            </a:endParaRP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solidFill>
                  <a:schemeClr val="accent2"/>
                </a:solidFill>
                <a:latin typeface="Courier New"/>
                <a:cs typeface="Courier New"/>
              </a:rPr>
              <a:t>   </a:t>
            </a:r>
            <a:r>
              <a:rPr lang="en-US" sz="1200" b="1" dirty="0">
                <a:solidFill>
                  <a:srgbClr val="0070C0"/>
                </a:solidFill>
                <a:latin typeface="Courier New"/>
                <a:cs typeface="Courier New"/>
              </a:rPr>
              <a:t>// output logic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>
                <a:latin typeface="Courier New"/>
                <a:cs typeface="Courier New"/>
              </a:rPr>
              <a:t>   assign y = (a &amp; state == S1);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200" dirty="0" err="1">
                <a:latin typeface="Courier New"/>
                <a:cs typeface="Courier New"/>
              </a:rPr>
              <a:t>endmodule</a:t>
            </a:r>
            <a:r>
              <a:rPr lang="en-US" sz="1200" dirty="0">
                <a:latin typeface="Courier New"/>
                <a:cs typeface="Courier New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FSM with Inputs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349DEC-F970-4DC8-A684-5A39E28680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32724">
            <a:off x="5806183" y="1079104"/>
            <a:ext cx="1328609" cy="24911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69701DD1-D4C0-476B-AFAB-415E87396F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5400" y="3429000"/>
            <a:ext cx="3051581" cy="2544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932322952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52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75524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533400" y="1066800"/>
            <a:ext cx="8229600" cy="4525963"/>
          </a:xfrm>
        </p:spPr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en-US" sz="2400" b="1" dirty="0">
                <a:solidFill>
                  <a:srgbClr val="0070C0"/>
                </a:solidFill>
              </a:rPr>
              <a:t>2:1 mux: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module mux2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#(parameter width = 8)  // name and default value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(input  logic [width-1:0] d0, d1, 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 input  logic             s,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 output logic [width-1:0] y);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assign y = s ? d1 : d0; </a:t>
            </a:r>
          </a:p>
          <a:p>
            <a:pPr>
              <a:buFontTx/>
              <a:buNone/>
            </a:pPr>
            <a:r>
              <a:rPr lang="en-US" sz="1800" dirty="0" err="1">
                <a:latin typeface="Courier New" pitchFamily="49" charset="0"/>
              </a:rPr>
              <a:t>endmodule</a:t>
            </a:r>
            <a:r>
              <a:rPr lang="en-US" sz="1800" dirty="0">
                <a:latin typeface="Courier New" pitchFamily="49" charset="0"/>
              </a:rPr>
              <a:t> </a:t>
            </a:r>
          </a:p>
          <a:p>
            <a:pPr>
              <a:buFontTx/>
              <a:buNone/>
            </a:pPr>
            <a:endParaRPr lang="en-US" sz="18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2400" b="1" dirty="0">
                <a:solidFill>
                  <a:srgbClr val="0070C0"/>
                </a:solidFill>
              </a:rPr>
              <a:t>Instance with 8-bit bus width (uses default):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mux2 </a:t>
            </a:r>
            <a:r>
              <a:rPr lang="en-US" sz="1800" dirty="0" err="1">
                <a:latin typeface="Courier New" pitchFamily="49" charset="0"/>
              </a:rPr>
              <a:t>myMux</a:t>
            </a:r>
            <a:r>
              <a:rPr lang="en-US" sz="1800" dirty="0">
                <a:latin typeface="Courier New" pitchFamily="49" charset="0"/>
              </a:rPr>
              <a:t>(d0, d1, s, out);</a:t>
            </a:r>
            <a:endParaRPr lang="en-US" dirty="0"/>
          </a:p>
          <a:p>
            <a:pPr>
              <a:buFontTx/>
              <a:buNone/>
            </a:pPr>
            <a:endParaRPr lang="en-US" sz="1400" dirty="0"/>
          </a:p>
          <a:p>
            <a:pPr>
              <a:buFontTx/>
              <a:buNone/>
            </a:pPr>
            <a:r>
              <a:rPr lang="en-US" sz="2400" b="1" dirty="0">
                <a:solidFill>
                  <a:srgbClr val="0070C0"/>
                </a:solidFill>
              </a:rPr>
              <a:t>Instance with 12-bit bus width: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	mux2 #(12) </a:t>
            </a:r>
            <a:r>
              <a:rPr lang="en-US" sz="1800" dirty="0" err="1">
                <a:latin typeface="Courier New" pitchFamily="49" charset="0"/>
              </a:rPr>
              <a:t>lowmux</a:t>
            </a:r>
            <a:r>
              <a:rPr lang="en-US" sz="1800" dirty="0">
                <a:latin typeface="Courier New" pitchFamily="49" charset="0"/>
              </a:rPr>
              <a:t>(d0, d1, s, out);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Parameterized Modules</a:t>
            </a:r>
          </a:p>
        </p:txBody>
      </p:sp>
    </p:spTree>
    <p:extLst>
      <p:ext uri="{BB962C8B-B14F-4D97-AF65-F5344CB8AC3E}">
        <p14:creationId xmlns:p14="http://schemas.microsoft.com/office/powerpoint/2010/main" val="3583739656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07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99076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609600" y="1219200"/>
            <a:ext cx="7772400" cy="5181600"/>
          </a:xfrm>
        </p:spPr>
        <p:txBody>
          <a:bodyPr/>
          <a:lstStyle/>
          <a:p>
            <a:r>
              <a:rPr lang="en-US" dirty="0"/>
              <a:t>HDL that tests another module: </a:t>
            </a:r>
            <a:r>
              <a:rPr lang="en-US" i="1" dirty="0"/>
              <a:t>device under test</a:t>
            </a:r>
            <a:r>
              <a:rPr lang="en-US" dirty="0"/>
              <a:t> (</a:t>
            </a:r>
            <a:r>
              <a:rPr lang="en-US" dirty="0" err="1"/>
              <a:t>dut</a:t>
            </a:r>
            <a:r>
              <a:rPr lang="en-US" dirty="0"/>
              <a:t>)</a:t>
            </a:r>
          </a:p>
          <a:p>
            <a:r>
              <a:rPr lang="en-US" dirty="0"/>
              <a:t>Not </a:t>
            </a:r>
            <a:r>
              <a:rPr lang="en-US" dirty="0" err="1"/>
              <a:t>synthesizeable</a:t>
            </a:r>
            <a:endParaRPr lang="en-US" dirty="0"/>
          </a:p>
          <a:p>
            <a:r>
              <a:rPr lang="en-US" dirty="0"/>
              <a:t>Uses different features of </a:t>
            </a:r>
            <a:r>
              <a:rPr lang="en-US"/>
              <a:t>SystemVerilog</a:t>
            </a:r>
            <a:endParaRPr lang="en-US" dirty="0"/>
          </a:p>
          <a:p>
            <a:r>
              <a:rPr lang="en-US" dirty="0"/>
              <a:t>Types:</a:t>
            </a:r>
          </a:p>
          <a:p>
            <a:pPr lvl="1"/>
            <a:r>
              <a:rPr lang="en-US" dirty="0"/>
              <a:t>Simple</a:t>
            </a:r>
          </a:p>
          <a:p>
            <a:pPr lvl="1"/>
            <a:r>
              <a:rPr lang="en-US" dirty="0"/>
              <a:t>Self-checking</a:t>
            </a:r>
          </a:p>
          <a:p>
            <a:pPr lvl="1"/>
            <a:r>
              <a:rPr lang="en-US" dirty="0"/>
              <a:t>Self-checking with </a:t>
            </a:r>
            <a:r>
              <a:rPr lang="en-US" dirty="0" err="1"/>
              <a:t>testvectors</a:t>
            </a:r>
            <a:r>
              <a:rPr lang="en-US" dirty="0"/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6200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Testbenches</a:t>
            </a:r>
            <a:endParaRPr lang="en-US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78331609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05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98052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609600" y="1295400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Write </a:t>
            </a:r>
            <a:r>
              <a:rPr lang="en-US" dirty="0" err="1"/>
              <a:t>SystemVerilog</a:t>
            </a:r>
            <a:r>
              <a:rPr lang="en-US" dirty="0"/>
              <a:t> code to implement the following function in hardware: </a:t>
            </a:r>
          </a:p>
          <a:p>
            <a:pPr>
              <a:buFontTx/>
              <a:buNone/>
            </a:pPr>
            <a:r>
              <a:rPr lang="en-US" dirty="0"/>
              <a:t>			</a:t>
            </a:r>
            <a:r>
              <a:rPr lang="en-US" sz="2600" dirty="0">
                <a:latin typeface="Courier New" pitchFamily="49" charset="0"/>
              </a:rPr>
              <a:t>y = </a:t>
            </a:r>
            <a:r>
              <a:rPr lang="en-US" sz="2600" dirty="0" err="1">
                <a:latin typeface="Courier New" pitchFamily="49" charset="0"/>
              </a:rPr>
              <a:t>bc</a:t>
            </a:r>
            <a:r>
              <a:rPr lang="en-US" sz="2600" dirty="0">
                <a:latin typeface="Courier New" pitchFamily="49" charset="0"/>
              </a:rPr>
              <a:t> + </a:t>
            </a:r>
            <a:r>
              <a:rPr lang="en-US" sz="2600" dirty="0" err="1">
                <a:latin typeface="Courier New" pitchFamily="49" charset="0"/>
              </a:rPr>
              <a:t>ab</a:t>
            </a:r>
            <a:endParaRPr lang="en-US" sz="2600" dirty="0">
              <a:latin typeface="Courier New" pitchFamily="49" charset="0"/>
            </a:endParaRPr>
          </a:p>
          <a:p>
            <a:r>
              <a:rPr lang="en-US" dirty="0"/>
              <a:t>Name the module </a:t>
            </a:r>
            <a:r>
              <a:rPr lang="en-US" dirty="0" err="1">
                <a:latin typeface="Courier New" pitchFamily="49" charset="0"/>
              </a:rPr>
              <a:t>sillyfunction</a:t>
            </a:r>
            <a:endParaRPr lang="en-US" dirty="0"/>
          </a:p>
        </p:txBody>
      </p:sp>
      <p:sp>
        <p:nvSpPr>
          <p:cNvPr id="898053" name="Line 5"/>
          <p:cNvSpPr>
            <a:spLocks noChangeShapeType="1"/>
          </p:cNvSpPr>
          <p:nvPr>
            <p:custDataLst>
              <p:tags r:id="rId3"/>
            </p:custDataLst>
          </p:nvPr>
        </p:nvSpPr>
        <p:spPr bwMode="auto">
          <a:xfrm>
            <a:off x="3276600" y="2514600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98054" name="Line 6"/>
          <p:cNvSpPr>
            <a:spLocks noChangeShapeType="1"/>
          </p:cNvSpPr>
          <p:nvPr>
            <p:custDataLst>
              <p:tags r:id="rId4"/>
            </p:custDataLst>
          </p:nvPr>
        </p:nvSpPr>
        <p:spPr bwMode="auto">
          <a:xfrm>
            <a:off x="3581400" y="2514600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98055" name="Line 7"/>
          <p:cNvSpPr>
            <a:spLocks noChangeShapeType="1"/>
          </p:cNvSpPr>
          <p:nvPr>
            <p:custDataLst>
              <p:tags r:id="rId5"/>
            </p:custDataLst>
          </p:nvPr>
        </p:nvSpPr>
        <p:spPr bwMode="auto">
          <a:xfrm>
            <a:off x="4495800" y="2514600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Testbench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Example</a:t>
            </a:r>
          </a:p>
        </p:txBody>
      </p:sp>
    </p:spTree>
    <p:extLst>
      <p:ext uri="{BB962C8B-B14F-4D97-AF65-F5344CB8AC3E}">
        <p14:creationId xmlns:p14="http://schemas.microsoft.com/office/powerpoint/2010/main" val="1514348240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05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898052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609600" y="1295400"/>
            <a:ext cx="8229600" cy="4953000"/>
          </a:xfrm>
        </p:spPr>
        <p:txBody>
          <a:bodyPr>
            <a:normAutofit/>
          </a:bodyPr>
          <a:lstStyle/>
          <a:p>
            <a:r>
              <a:rPr lang="en-US" dirty="0"/>
              <a:t>Write </a:t>
            </a:r>
            <a:r>
              <a:rPr lang="en-US" dirty="0" err="1"/>
              <a:t>SystemVerilog</a:t>
            </a:r>
            <a:r>
              <a:rPr lang="en-US" dirty="0"/>
              <a:t> code to implement the following function in hardware: </a:t>
            </a:r>
          </a:p>
          <a:p>
            <a:pPr>
              <a:buFontTx/>
              <a:buNone/>
            </a:pPr>
            <a:r>
              <a:rPr lang="en-US" dirty="0"/>
              <a:t>			</a:t>
            </a:r>
            <a:r>
              <a:rPr lang="en-US" sz="2600" dirty="0">
                <a:latin typeface="Courier New" pitchFamily="49" charset="0"/>
              </a:rPr>
              <a:t>y = </a:t>
            </a:r>
            <a:r>
              <a:rPr lang="en-US" sz="2600" dirty="0" err="1">
                <a:latin typeface="Courier New" pitchFamily="49" charset="0"/>
              </a:rPr>
              <a:t>bc</a:t>
            </a:r>
            <a:r>
              <a:rPr lang="en-US" sz="2600" dirty="0">
                <a:latin typeface="Courier New" pitchFamily="49" charset="0"/>
              </a:rPr>
              <a:t> + </a:t>
            </a:r>
            <a:r>
              <a:rPr lang="en-US" sz="2600" dirty="0" err="1">
                <a:latin typeface="Courier New" pitchFamily="49" charset="0"/>
              </a:rPr>
              <a:t>ab</a:t>
            </a:r>
            <a:endParaRPr lang="en-US" sz="2600" dirty="0">
              <a:latin typeface="Courier New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>
              <a:buFontTx/>
              <a:buNone/>
            </a:pPr>
            <a:r>
              <a:rPr lang="en-US" sz="2200" dirty="0">
                <a:latin typeface="Courier New" pitchFamily="49" charset="0"/>
              </a:rPr>
              <a:t>module </a:t>
            </a:r>
            <a:r>
              <a:rPr lang="en-US" sz="2200" dirty="0" err="1">
                <a:latin typeface="Courier New" pitchFamily="49" charset="0"/>
              </a:rPr>
              <a:t>sillyfunction</a:t>
            </a:r>
            <a:r>
              <a:rPr lang="en-US" sz="2200" dirty="0">
                <a:latin typeface="Courier New" pitchFamily="49" charset="0"/>
              </a:rPr>
              <a:t>(input  logic a, b, c, </a:t>
            </a:r>
          </a:p>
          <a:p>
            <a:pPr>
              <a:buFontTx/>
              <a:buNone/>
            </a:pPr>
            <a:r>
              <a:rPr lang="en-US" sz="2200" dirty="0">
                <a:latin typeface="Courier New" pitchFamily="49" charset="0"/>
              </a:rPr>
              <a:t>                     output logic y);</a:t>
            </a:r>
          </a:p>
          <a:p>
            <a:pPr>
              <a:buFontTx/>
              <a:buNone/>
            </a:pPr>
            <a:r>
              <a:rPr lang="en-US" sz="2200" dirty="0">
                <a:latin typeface="Courier New" pitchFamily="49" charset="0"/>
              </a:rPr>
              <a:t>  assign y = ~b &amp; ~c | a &amp; ~b;</a:t>
            </a:r>
          </a:p>
          <a:p>
            <a:pPr>
              <a:buFontTx/>
              <a:buNone/>
            </a:pPr>
            <a:r>
              <a:rPr lang="en-US" sz="2200" dirty="0" err="1">
                <a:latin typeface="Courier New" pitchFamily="49" charset="0"/>
              </a:rPr>
              <a:t>endmodule</a:t>
            </a:r>
            <a:endParaRPr lang="en-US" sz="2200" dirty="0">
              <a:latin typeface="Courier New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Testbench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Example</a:t>
            </a:r>
          </a:p>
        </p:txBody>
      </p:sp>
      <p:sp>
        <p:nvSpPr>
          <p:cNvPr id="8" name="Line 5"/>
          <p:cNvSpPr>
            <a:spLocks noChangeShapeType="1"/>
          </p:cNvSpPr>
          <p:nvPr>
            <p:custDataLst>
              <p:tags r:id="rId3"/>
            </p:custDataLst>
          </p:nvPr>
        </p:nvSpPr>
        <p:spPr bwMode="auto">
          <a:xfrm>
            <a:off x="3276600" y="2514600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6"/>
          <p:cNvSpPr>
            <a:spLocks noChangeShapeType="1"/>
          </p:cNvSpPr>
          <p:nvPr>
            <p:custDataLst>
              <p:tags r:id="rId4"/>
            </p:custDataLst>
          </p:nvPr>
        </p:nvSpPr>
        <p:spPr bwMode="auto">
          <a:xfrm>
            <a:off x="3581400" y="2514600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7"/>
          <p:cNvSpPr>
            <a:spLocks noChangeShapeType="1"/>
          </p:cNvSpPr>
          <p:nvPr>
            <p:custDataLst>
              <p:tags r:id="rId5"/>
            </p:custDataLst>
          </p:nvPr>
        </p:nvSpPr>
        <p:spPr bwMode="auto">
          <a:xfrm>
            <a:off x="4495800" y="2514600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20152"/>
      </p:ext>
    </p:extLst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9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00100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1371600" y="1072662"/>
            <a:ext cx="5486400" cy="518160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latin typeface="Courier New" pitchFamily="49" charset="0"/>
              </a:rPr>
              <a:t>module testbench1();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latin typeface="Courier New" pitchFamily="49" charset="0"/>
              </a:rPr>
              <a:t>  logic a, b, c;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latin typeface="Courier New" pitchFamily="49" charset="0"/>
              </a:rPr>
              <a:t>  logic y;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solidFill>
                  <a:srgbClr val="0070C0"/>
                </a:solidFill>
                <a:latin typeface="Courier New" pitchFamily="49" charset="0"/>
              </a:rPr>
              <a:t>  </a:t>
            </a:r>
            <a:r>
              <a:rPr lang="en-US" sz="1800" b="1" dirty="0">
                <a:solidFill>
                  <a:srgbClr val="0070C0"/>
                </a:solidFill>
                <a:latin typeface="Courier New" pitchFamily="49" charset="0"/>
              </a:rPr>
              <a:t>// instantiate device under test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latin typeface="Courier New" pitchFamily="49" charset="0"/>
              </a:rPr>
              <a:t>  </a:t>
            </a:r>
            <a:r>
              <a:rPr lang="en-US" sz="1800" dirty="0" err="1">
                <a:latin typeface="Courier New" pitchFamily="49" charset="0"/>
              </a:rPr>
              <a:t>sillyfunction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 err="1">
                <a:latin typeface="Courier New" pitchFamily="49" charset="0"/>
              </a:rPr>
              <a:t>dut</a:t>
            </a:r>
            <a:r>
              <a:rPr lang="en-US" sz="1800" dirty="0">
                <a:latin typeface="Courier New" pitchFamily="49" charset="0"/>
              </a:rPr>
              <a:t>(a, b, c, y);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latin typeface="Courier New" pitchFamily="49" charset="0"/>
              </a:rPr>
              <a:t>  </a:t>
            </a:r>
            <a:r>
              <a:rPr lang="en-US" sz="1800" b="1" dirty="0">
                <a:solidFill>
                  <a:srgbClr val="0070C0"/>
                </a:solidFill>
                <a:latin typeface="Courier New" pitchFamily="49" charset="0"/>
              </a:rPr>
              <a:t>// apply inputs one at a time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latin typeface="Courier New" pitchFamily="49" charset="0"/>
              </a:rPr>
              <a:t>  initial begin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latin typeface="Courier New" pitchFamily="49" charset="0"/>
              </a:rPr>
              <a:t>    a = 0; b = 0; c = 0;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latin typeface="Courier New" pitchFamily="49" charset="0"/>
              </a:rPr>
              <a:t>    c = 1;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latin typeface="Courier New" pitchFamily="49" charset="0"/>
              </a:rPr>
              <a:t>    b = 1; c = 0;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latin typeface="Courier New" pitchFamily="49" charset="0"/>
              </a:rPr>
              <a:t>    c = 1;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latin typeface="Courier New" pitchFamily="49" charset="0"/>
              </a:rPr>
              <a:t>    a = 1; b = 0; c = 0;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latin typeface="Courier New" pitchFamily="49" charset="0"/>
              </a:rPr>
              <a:t>    c = 1;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latin typeface="Courier New" pitchFamily="49" charset="0"/>
              </a:rPr>
              <a:t>    b = 1; c = 0;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latin typeface="Courier New" pitchFamily="49" charset="0"/>
              </a:rPr>
              <a:t>    c = 1;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>
                <a:latin typeface="Courier New" pitchFamily="49" charset="0"/>
              </a:rPr>
              <a:t>  end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800" dirty="0" err="1">
                <a:latin typeface="Courier New" pitchFamily="49" charset="0"/>
              </a:rPr>
              <a:t>endmodule</a:t>
            </a:r>
            <a:r>
              <a:rPr lang="en-US" sz="1800" dirty="0">
                <a:latin typeface="Courier New" pitchFamily="49" charset="0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Simple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Testbench</a:t>
            </a:r>
            <a:endParaRPr lang="en-US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13080192"/>
      </p:ext>
    </p:extLst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2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01124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1676400" y="990600"/>
            <a:ext cx="6553200" cy="518160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module testbench2();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logic  a, b, c;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logic y;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</a:t>
            </a:r>
            <a:r>
              <a:rPr lang="en-US" sz="1300" dirty="0" err="1">
                <a:latin typeface="Courier New" pitchFamily="49" charset="0"/>
              </a:rPr>
              <a:t>sillyfunction</a:t>
            </a:r>
            <a:r>
              <a:rPr lang="en-US" sz="1300" dirty="0">
                <a:latin typeface="Courier New" pitchFamily="49" charset="0"/>
              </a:rPr>
              <a:t> </a:t>
            </a:r>
            <a:r>
              <a:rPr lang="en-US" sz="1300" dirty="0" err="1">
                <a:latin typeface="Courier New" pitchFamily="49" charset="0"/>
              </a:rPr>
              <a:t>dut</a:t>
            </a:r>
            <a:r>
              <a:rPr lang="en-US" sz="1300" dirty="0">
                <a:latin typeface="Courier New" pitchFamily="49" charset="0"/>
              </a:rPr>
              <a:t>(a, b, c, y);  </a:t>
            </a:r>
            <a:r>
              <a:rPr lang="en-US" sz="1300" b="1" dirty="0">
                <a:solidFill>
                  <a:srgbClr val="0070C0"/>
                </a:solidFill>
                <a:latin typeface="Courier New" pitchFamily="49" charset="0"/>
              </a:rPr>
              <a:t>// instantiate </a:t>
            </a:r>
            <a:r>
              <a:rPr lang="en-US" sz="1300" b="1" dirty="0" err="1">
                <a:solidFill>
                  <a:srgbClr val="0070C0"/>
                </a:solidFill>
                <a:latin typeface="Courier New" pitchFamily="49" charset="0"/>
              </a:rPr>
              <a:t>dut</a:t>
            </a:r>
            <a:endParaRPr lang="en-US" sz="1300" b="1" dirty="0">
              <a:solidFill>
                <a:srgbClr val="0070C0"/>
              </a:solidFill>
              <a:latin typeface="Courier New" pitchFamily="49" charset="0"/>
            </a:endParaRP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initial begin </a:t>
            </a:r>
            <a:r>
              <a:rPr lang="en-US" sz="1300" b="1" dirty="0">
                <a:solidFill>
                  <a:srgbClr val="0070C0"/>
                </a:solidFill>
                <a:latin typeface="Courier New" pitchFamily="49" charset="0"/>
              </a:rPr>
              <a:t>// apply inputs, check results one at a time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a = 0; b = 0; c = 0;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if (y !== 1) $display("000 failed.");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c = 1;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if (y !== 0) $display("001 failed.");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b = 1; c = 0;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if (y !== 0) $display("010 failed.");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c = 1;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if (y !== 0) $display("011 failed.");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a = 1; b = 0; c = 0;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if (y !== 1) $display("100 failed.");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c = 1;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if (y !== 1) $display("101 failed.");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b = 1; c = 0;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if (y !== 0) $display("110 failed.");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c = 1; #10;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  if (y !== 0) $display("111 failed.");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>
                <a:latin typeface="Courier New" pitchFamily="49" charset="0"/>
              </a:rPr>
              <a:t>  end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sz="1300" dirty="0" err="1">
                <a:latin typeface="Courier New" pitchFamily="49" charset="0"/>
              </a:rPr>
              <a:t>endmodule</a:t>
            </a:r>
            <a:r>
              <a:rPr lang="en-US" sz="1300" dirty="0">
                <a:latin typeface="Courier New" pitchFamily="49" charset="0"/>
              </a:rPr>
              <a:t>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Self-checking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Testbench</a:t>
            </a:r>
            <a:endParaRPr lang="en-US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556558520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17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03172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457200" y="1066800"/>
            <a:ext cx="8458200" cy="5181600"/>
          </a:xfrm>
        </p:spPr>
        <p:txBody>
          <a:bodyPr/>
          <a:lstStyle/>
          <a:p>
            <a:pPr marL="533400" indent="-533400"/>
            <a:r>
              <a:rPr lang="en-US" dirty="0" err="1"/>
              <a:t>Testvector</a:t>
            </a:r>
            <a:r>
              <a:rPr lang="en-US" dirty="0"/>
              <a:t> file: inputs and expected outputs</a:t>
            </a:r>
          </a:p>
          <a:p>
            <a:pPr marL="533400" indent="-533400"/>
            <a:r>
              <a:rPr lang="en-US" dirty="0" err="1"/>
              <a:t>Testbench</a:t>
            </a:r>
            <a:r>
              <a:rPr lang="en-US" dirty="0"/>
              <a:t>:</a:t>
            </a:r>
          </a:p>
          <a:p>
            <a:pPr marL="914400" lvl="1" indent="-457200">
              <a:buFontTx/>
              <a:buAutoNum type="arabicPeriod"/>
            </a:pPr>
            <a:r>
              <a:rPr lang="en-US" sz="2600" dirty="0"/>
              <a:t>Generate clock for assigning inputs, reading outputs</a:t>
            </a:r>
          </a:p>
          <a:p>
            <a:pPr marL="914400" lvl="1" indent="-457200">
              <a:buFontTx/>
              <a:buAutoNum type="arabicPeriod"/>
            </a:pPr>
            <a:r>
              <a:rPr lang="en-US" sz="2600" dirty="0"/>
              <a:t>Read </a:t>
            </a:r>
            <a:r>
              <a:rPr lang="en-US" sz="2600" dirty="0" err="1"/>
              <a:t>testvectors</a:t>
            </a:r>
            <a:r>
              <a:rPr lang="en-US" sz="2600" dirty="0"/>
              <a:t> file into array</a:t>
            </a:r>
          </a:p>
          <a:p>
            <a:pPr marL="914400" lvl="1" indent="-457200">
              <a:buFontTx/>
              <a:buAutoNum type="arabicPeriod"/>
            </a:pPr>
            <a:r>
              <a:rPr lang="en-US" sz="2600" dirty="0"/>
              <a:t>Assign inputs, expected outputs</a:t>
            </a:r>
          </a:p>
          <a:p>
            <a:pPr marL="914400" lvl="1" indent="-457200">
              <a:buFontTx/>
              <a:buAutoNum type="arabicPeriod"/>
            </a:pPr>
            <a:r>
              <a:rPr lang="en-US" sz="2600" dirty="0"/>
              <a:t>Compare outputs with expected outputs and report errors</a:t>
            </a:r>
          </a:p>
          <a:p>
            <a:pPr marL="533400" indent="-533400">
              <a:buFontTx/>
              <a:buNone/>
            </a:pPr>
            <a:endParaRPr lang="en-US" dirty="0"/>
          </a:p>
          <a:p>
            <a:pPr marL="533400" indent="-533400">
              <a:buFontTx/>
              <a:buNone/>
            </a:pPr>
            <a:endParaRPr lang="en-US" sz="1800" dirty="0">
              <a:latin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Testbench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with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Testvectors</a:t>
            </a:r>
            <a:endParaRPr lang="en-US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49379761"/>
      </p:ext>
    </p:extLst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43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14436" name="Rectangle 4"/>
          <p:cNvSpPr>
            <a:spLocks noGrp="1" noChangeArrowheads="1"/>
          </p:cNvSpPr>
          <p:nvPr>
            <p:ph sz="half" idx="4294967295"/>
            <p:custDataLst>
              <p:tags r:id="rId2"/>
            </p:custDataLst>
          </p:nvPr>
        </p:nvSpPr>
        <p:spPr>
          <a:xfrm>
            <a:off x="609600" y="1181100"/>
            <a:ext cx="7543800" cy="4953000"/>
          </a:xfrm>
        </p:spPr>
        <p:txBody>
          <a:bodyPr/>
          <a:lstStyle/>
          <a:p>
            <a:pPr marL="533400" indent="-533400"/>
            <a:r>
              <a:rPr lang="en-US" dirty="0" err="1"/>
              <a:t>Testbench</a:t>
            </a:r>
            <a:r>
              <a:rPr lang="en-US" dirty="0"/>
              <a:t> clock: </a:t>
            </a:r>
          </a:p>
          <a:p>
            <a:pPr marL="933450" lvl="1" indent="-533400"/>
            <a:r>
              <a:rPr lang="en-US" sz="2400" dirty="0"/>
              <a:t>assign inputs (on rising edge)</a:t>
            </a:r>
          </a:p>
          <a:p>
            <a:pPr marL="933450" lvl="1" indent="-533400"/>
            <a:r>
              <a:rPr lang="en-US" sz="2400" dirty="0"/>
              <a:t>compare outputs with expected outputs (on falling edge).</a:t>
            </a:r>
          </a:p>
          <a:p>
            <a:pPr marL="533400" indent="-533400"/>
            <a:endParaRPr lang="en-US" sz="2400" dirty="0"/>
          </a:p>
          <a:p>
            <a:pPr marL="533400" indent="-533400"/>
            <a:endParaRPr lang="en-US" sz="2400" dirty="0"/>
          </a:p>
          <a:p>
            <a:pPr marL="533400" indent="-533400"/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533400" indent="-533400"/>
            <a:r>
              <a:rPr lang="en-US" sz="2400" dirty="0" err="1"/>
              <a:t>Testbench</a:t>
            </a:r>
            <a:r>
              <a:rPr lang="en-US" sz="2400" dirty="0"/>
              <a:t> clock also used as clock for synchronous sequential circuits</a:t>
            </a:r>
          </a:p>
        </p:txBody>
      </p:sp>
      <p:graphicFrame>
        <p:nvGraphicFramePr>
          <p:cNvPr id="914437" name="Object 5"/>
          <p:cNvGraphicFramePr>
            <a:graphicFrameLocks noGrp="1" noChangeAspect="1"/>
          </p:cNvGraphicFramePr>
          <p:nvPr>
            <p:ph sz="half" idx="4294967295"/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893917114"/>
              </p:ext>
            </p:extLst>
          </p:nvPr>
        </p:nvGraphicFramePr>
        <p:xfrm>
          <a:off x="1905000" y="2914650"/>
          <a:ext cx="4876800" cy="180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6" imgW="2437920" imgH="905040" progId="Visio.Drawing.6">
                  <p:embed/>
                </p:oleObj>
              </mc:Choice>
              <mc:Fallback>
                <p:oleObj name="VISIO" r:id="rId6" imgW="2437920" imgH="905040" progId="Visio.Drawing.6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05000" y="2914650"/>
                        <a:ext cx="4876800" cy="1809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Testbench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with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Testvectors</a:t>
            </a:r>
            <a:endParaRPr lang="en-US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058649542"/>
      </p:ext>
    </p:extLst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194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04196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914400" y="1295400"/>
            <a:ext cx="7772400" cy="5181600"/>
          </a:xfrm>
        </p:spPr>
        <p:txBody>
          <a:bodyPr/>
          <a:lstStyle/>
          <a:p>
            <a:r>
              <a:rPr lang="en-US" dirty="0"/>
              <a:t>File: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2600" dirty="0">
                <a:latin typeface="Courier New" pitchFamily="49" charset="0"/>
              </a:rPr>
              <a:t>example.tv </a:t>
            </a:r>
          </a:p>
          <a:p>
            <a:r>
              <a:rPr lang="en-US" dirty="0">
                <a:latin typeface="+mj-lt"/>
              </a:rPr>
              <a:t>contains vectors of </a:t>
            </a:r>
            <a:r>
              <a:rPr lang="en-US" dirty="0" err="1">
                <a:latin typeface="+mj-lt"/>
              </a:rPr>
              <a:t>abc_yexpected</a:t>
            </a:r>
            <a:endParaRPr lang="en-US" dirty="0">
              <a:latin typeface="+mj-lt"/>
            </a:endParaRPr>
          </a:p>
          <a:p>
            <a:pPr>
              <a:buFontTx/>
              <a:buNone/>
            </a:pPr>
            <a:endParaRPr lang="en-US" sz="18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000_1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001_0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010_0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011_0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100_1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101_1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110_0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111_0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  <a:latin typeface="+mj-lt"/>
              </a:rPr>
              <a:t>Testvectors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File</a:t>
            </a:r>
          </a:p>
        </p:txBody>
      </p:sp>
    </p:spTree>
    <p:extLst>
      <p:ext uri="{BB962C8B-B14F-4D97-AF65-F5344CB8AC3E}">
        <p14:creationId xmlns:p14="http://schemas.microsoft.com/office/powerpoint/2010/main" val="906845381"/>
      </p:ext>
    </p:extLst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218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05220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914400" y="1295400"/>
            <a:ext cx="8534400" cy="5181600"/>
          </a:xfrm>
        </p:spPr>
        <p:txBody>
          <a:bodyPr>
            <a:normAutofit/>
          </a:bodyPr>
          <a:lstStyle/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module testbench3();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logic        </a:t>
            </a:r>
            <a:r>
              <a:rPr lang="en-US" sz="1600" dirty="0" err="1">
                <a:latin typeface="Courier New" pitchFamily="49" charset="0"/>
              </a:rPr>
              <a:t>clk</a:t>
            </a:r>
            <a:r>
              <a:rPr lang="en-US" sz="1600" dirty="0">
                <a:latin typeface="Courier New" pitchFamily="49" charset="0"/>
              </a:rPr>
              <a:t>, reset;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logic        a, b, c, </a:t>
            </a:r>
            <a:r>
              <a:rPr lang="en-US" sz="1600" dirty="0" err="1">
                <a:latin typeface="Courier New" pitchFamily="49" charset="0"/>
              </a:rPr>
              <a:t>yexpected</a:t>
            </a:r>
            <a:r>
              <a:rPr lang="en-US" sz="1600" dirty="0"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logic        y;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logic [31:0] </a:t>
            </a:r>
            <a:r>
              <a:rPr lang="en-US" sz="1600" dirty="0" err="1">
                <a:latin typeface="Courier New" pitchFamily="49" charset="0"/>
              </a:rPr>
              <a:t>vectornum</a:t>
            </a:r>
            <a:r>
              <a:rPr lang="en-US" sz="1600" dirty="0">
                <a:latin typeface="Courier New" pitchFamily="49" charset="0"/>
              </a:rPr>
              <a:t>, errors;    // bookkeeping variables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logic [3:0]  </a:t>
            </a:r>
            <a:r>
              <a:rPr lang="en-US" sz="1600" dirty="0" err="1">
                <a:latin typeface="Courier New" pitchFamily="49" charset="0"/>
              </a:rPr>
              <a:t>testvectors</a:t>
            </a:r>
            <a:r>
              <a:rPr lang="en-US" sz="1600" dirty="0">
                <a:latin typeface="Courier New" pitchFamily="49" charset="0"/>
              </a:rPr>
              <a:t>[10000:0]; // array of </a:t>
            </a:r>
            <a:r>
              <a:rPr lang="en-US" sz="1600" dirty="0" err="1">
                <a:latin typeface="Courier New" pitchFamily="49" charset="0"/>
              </a:rPr>
              <a:t>testvectors</a:t>
            </a:r>
            <a:endParaRPr lang="en-US" sz="16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</a:t>
            </a:r>
          </a:p>
          <a:p>
            <a:pPr>
              <a:buFontTx/>
              <a:buNone/>
            </a:pPr>
            <a:r>
              <a:rPr lang="en-US" sz="1600" dirty="0">
                <a:solidFill>
                  <a:srgbClr val="0070C0"/>
                </a:solidFill>
                <a:latin typeface="Courier New" pitchFamily="49" charset="0"/>
              </a:rPr>
              <a:t>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</a:rPr>
              <a:t>// instantiate device under test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</a:t>
            </a:r>
            <a:r>
              <a:rPr lang="en-US" sz="1600" dirty="0" err="1">
                <a:latin typeface="Courier New" pitchFamily="49" charset="0"/>
              </a:rPr>
              <a:t>sillyfunction</a:t>
            </a:r>
            <a:r>
              <a:rPr lang="en-US" sz="1600" dirty="0">
                <a:latin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</a:rPr>
              <a:t>dut</a:t>
            </a:r>
            <a:r>
              <a:rPr lang="en-US" sz="1600" dirty="0">
                <a:latin typeface="Courier New" pitchFamily="49" charset="0"/>
              </a:rPr>
              <a:t>(a, b, c, y);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</a:t>
            </a:r>
          </a:p>
          <a:p>
            <a:pPr>
              <a:buFontTx/>
              <a:buNone/>
            </a:pPr>
            <a:r>
              <a:rPr lang="en-US" sz="1600" dirty="0">
                <a:solidFill>
                  <a:srgbClr val="0070C0"/>
                </a:solidFill>
                <a:latin typeface="Courier New" pitchFamily="49" charset="0"/>
              </a:rPr>
              <a:t>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</a:rPr>
              <a:t>// generate clock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always     // no sensitivity list, so it always executes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  begin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    </a:t>
            </a:r>
            <a:r>
              <a:rPr lang="en-US" sz="1600" dirty="0" err="1">
                <a:latin typeface="Courier New" pitchFamily="49" charset="0"/>
              </a:rPr>
              <a:t>clk</a:t>
            </a:r>
            <a:r>
              <a:rPr lang="en-US" sz="1600" dirty="0">
                <a:latin typeface="Courier New" pitchFamily="49" charset="0"/>
              </a:rPr>
              <a:t> = 1; #5; </a:t>
            </a:r>
            <a:r>
              <a:rPr lang="en-US" sz="1600" dirty="0" err="1">
                <a:latin typeface="Courier New" pitchFamily="49" charset="0"/>
              </a:rPr>
              <a:t>clk</a:t>
            </a:r>
            <a:r>
              <a:rPr lang="en-US" sz="1600" dirty="0">
                <a:latin typeface="Courier New" pitchFamily="49" charset="0"/>
              </a:rPr>
              <a:t> = 0; #5;</a:t>
            </a:r>
          </a:p>
          <a:p>
            <a:pPr>
              <a:buFontTx/>
              <a:buNone/>
            </a:pPr>
            <a:r>
              <a:rPr lang="en-US" sz="1600" dirty="0">
                <a:latin typeface="Courier New" pitchFamily="49" charset="0"/>
              </a:rPr>
              <a:t>   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1. Generate Clock</a:t>
            </a:r>
          </a:p>
        </p:txBody>
      </p:sp>
    </p:spTree>
    <p:extLst>
      <p:ext uri="{BB962C8B-B14F-4D97-AF65-F5344CB8AC3E}">
        <p14:creationId xmlns:p14="http://schemas.microsoft.com/office/powerpoint/2010/main" val="2387234490"/>
      </p:ext>
    </p:extLst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24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06244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914400" y="1295400"/>
            <a:ext cx="7772400" cy="5181600"/>
          </a:xfrm>
        </p:spPr>
        <p:txBody>
          <a:bodyPr/>
          <a:lstStyle/>
          <a:p>
            <a:pPr>
              <a:buFontTx/>
              <a:buNone/>
            </a:pPr>
            <a:r>
              <a:rPr lang="en-US" sz="1800" dirty="0">
                <a:solidFill>
                  <a:schemeClr val="accent2"/>
                </a:solidFill>
                <a:latin typeface="Courier New" pitchFamily="49" charset="0"/>
              </a:rPr>
              <a:t> </a:t>
            </a:r>
            <a:r>
              <a:rPr lang="en-US" sz="1800" b="1" dirty="0">
                <a:solidFill>
                  <a:srgbClr val="0070C0"/>
                </a:solidFill>
                <a:latin typeface="Courier New" pitchFamily="49" charset="0"/>
              </a:rPr>
              <a:t>// at start of test, load vectors and pulse reset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initial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 begin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   $</a:t>
            </a:r>
            <a:r>
              <a:rPr lang="en-US" sz="1800" dirty="0" err="1">
                <a:latin typeface="Courier New" pitchFamily="49" charset="0"/>
              </a:rPr>
              <a:t>readmemb</a:t>
            </a:r>
            <a:r>
              <a:rPr lang="en-US" sz="1800" dirty="0">
                <a:latin typeface="Courier New" pitchFamily="49" charset="0"/>
              </a:rPr>
              <a:t>("example.tv", </a:t>
            </a:r>
            <a:r>
              <a:rPr lang="en-US" sz="1800" dirty="0" err="1">
                <a:latin typeface="Courier New" pitchFamily="49" charset="0"/>
              </a:rPr>
              <a:t>testvectors</a:t>
            </a:r>
            <a:r>
              <a:rPr lang="en-US" sz="1800" dirty="0">
                <a:latin typeface="Courier New" pitchFamily="49" charset="0"/>
              </a:rPr>
              <a:t>);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   </a:t>
            </a:r>
            <a:r>
              <a:rPr lang="en-US" sz="1800" dirty="0" err="1">
                <a:latin typeface="Courier New" pitchFamily="49" charset="0"/>
              </a:rPr>
              <a:t>vectornum</a:t>
            </a:r>
            <a:r>
              <a:rPr lang="en-US" sz="1800" dirty="0">
                <a:latin typeface="Courier New" pitchFamily="49" charset="0"/>
              </a:rPr>
              <a:t> = 0; errors = 0;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   reset = 1; #27; reset = 0;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 end</a:t>
            </a:r>
          </a:p>
          <a:p>
            <a:pPr>
              <a:buFontTx/>
              <a:buNone/>
            </a:pPr>
            <a:endParaRPr lang="en-US" sz="1800" dirty="0">
              <a:latin typeface="Courier New" pitchFamily="49" charset="0"/>
            </a:endParaRPr>
          </a:p>
          <a:p>
            <a:pPr>
              <a:buFontTx/>
              <a:buNone/>
            </a:pPr>
            <a:endParaRPr lang="en-US" sz="18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// </a:t>
            </a:r>
            <a:r>
              <a:rPr lang="en-US" sz="1800" b="1" dirty="0">
                <a:solidFill>
                  <a:srgbClr val="0070C0"/>
                </a:solidFill>
                <a:latin typeface="Courier New" pitchFamily="49" charset="0"/>
              </a:rPr>
              <a:t>Note: </a:t>
            </a:r>
            <a:r>
              <a:rPr lang="en-US" sz="1800" dirty="0">
                <a:latin typeface="Courier New" pitchFamily="49" charset="0"/>
              </a:rPr>
              <a:t>$</a:t>
            </a:r>
            <a:r>
              <a:rPr lang="en-US" sz="1800" dirty="0" err="1">
                <a:latin typeface="Courier New" pitchFamily="49" charset="0"/>
              </a:rPr>
              <a:t>readmemh</a:t>
            </a:r>
            <a:r>
              <a:rPr lang="en-US" sz="1800" dirty="0">
                <a:latin typeface="Courier New" pitchFamily="49" charset="0"/>
              </a:rPr>
              <a:t> reads </a:t>
            </a:r>
            <a:r>
              <a:rPr lang="en-US" sz="1800" dirty="0" err="1">
                <a:latin typeface="Courier New" pitchFamily="49" charset="0"/>
              </a:rPr>
              <a:t>testvector</a:t>
            </a:r>
            <a:r>
              <a:rPr lang="en-US" sz="1800" dirty="0">
                <a:latin typeface="Courier New" pitchFamily="49" charset="0"/>
              </a:rPr>
              <a:t> files written in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// hexadecimal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2. Read </a:t>
            </a:r>
            <a:r>
              <a:rPr lang="en-US" sz="4400" dirty="0" err="1">
                <a:solidFill>
                  <a:schemeClr val="bg1"/>
                </a:solidFill>
                <a:latin typeface="+mj-lt"/>
              </a:rPr>
              <a:t>Testvectors</a:t>
            </a:r>
            <a:r>
              <a:rPr lang="en-US" sz="4400" dirty="0">
                <a:solidFill>
                  <a:schemeClr val="bg1"/>
                </a:solidFill>
                <a:latin typeface="+mj-lt"/>
              </a:rPr>
              <a:t> into Array</a:t>
            </a:r>
          </a:p>
        </p:txBody>
      </p:sp>
    </p:spTree>
    <p:extLst>
      <p:ext uri="{BB962C8B-B14F-4D97-AF65-F5344CB8AC3E}">
        <p14:creationId xmlns:p14="http://schemas.microsoft.com/office/powerpoint/2010/main" val="898630193"/>
      </p:ext>
    </p:extLst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266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07268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914400" y="1371600"/>
            <a:ext cx="8001000" cy="4953000"/>
          </a:xfrm>
        </p:spPr>
        <p:txBody>
          <a:bodyPr/>
          <a:lstStyle/>
          <a:p>
            <a:pPr>
              <a:buFontTx/>
              <a:buNone/>
            </a:pPr>
            <a:r>
              <a:rPr lang="en-US" sz="1800" b="1" dirty="0">
                <a:solidFill>
                  <a:srgbClr val="0070C0"/>
                </a:solidFill>
                <a:latin typeface="Courier New" pitchFamily="49" charset="0"/>
              </a:rPr>
              <a:t>  // apply test vectors on rising edge of </a:t>
            </a:r>
            <a:r>
              <a:rPr lang="en-US" sz="1800" b="1" dirty="0" err="1">
                <a:solidFill>
                  <a:srgbClr val="0070C0"/>
                </a:solidFill>
                <a:latin typeface="Courier New" pitchFamily="49" charset="0"/>
              </a:rPr>
              <a:t>clk</a:t>
            </a:r>
            <a:endParaRPr lang="en-US" sz="1800" b="1" dirty="0">
              <a:solidFill>
                <a:srgbClr val="0070C0"/>
              </a:solidFill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always @(</a:t>
            </a:r>
            <a:r>
              <a:rPr lang="en-US" sz="1800" dirty="0" err="1">
                <a:latin typeface="Courier New" pitchFamily="49" charset="0"/>
              </a:rPr>
              <a:t>posedge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 err="1">
                <a:latin typeface="Courier New" pitchFamily="49" charset="0"/>
              </a:rPr>
              <a:t>clk</a:t>
            </a:r>
            <a:r>
              <a:rPr lang="en-US" sz="1800" dirty="0">
                <a:latin typeface="Courier New" pitchFamily="49" charset="0"/>
              </a:rPr>
              <a:t>)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 begin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   #1; {a, b, c, </a:t>
            </a:r>
            <a:r>
              <a:rPr lang="en-US" sz="1800" dirty="0" err="1">
                <a:latin typeface="Courier New" pitchFamily="49" charset="0"/>
              </a:rPr>
              <a:t>yexpected</a:t>
            </a:r>
            <a:r>
              <a:rPr lang="en-US" sz="1800" dirty="0">
                <a:latin typeface="Courier New" pitchFamily="49" charset="0"/>
              </a:rPr>
              <a:t>} = </a:t>
            </a:r>
            <a:r>
              <a:rPr lang="en-US" sz="1800" dirty="0" err="1">
                <a:latin typeface="Courier New" pitchFamily="49" charset="0"/>
              </a:rPr>
              <a:t>testvectors</a:t>
            </a:r>
            <a:r>
              <a:rPr lang="en-US" sz="1800" dirty="0">
                <a:latin typeface="Courier New" pitchFamily="49" charset="0"/>
              </a:rPr>
              <a:t>[</a:t>
            </a:r>
            <a:r>
              <a:rPr lang="en-US" sz="1800" dirty="0" err="1">
                <a:latin typeface="Courier New" pitchFamily="49" charset="0"/>
              </a:rPr>
              <a:t>vectornum</a:t>
            </a:r>
            <a:r>
              <a:rPr lang="en-US" sz="1800" dirty="0">
                <a:latin typeface="Courier New" pitchFamily="49" charset="0"/>
              </a:rPr>
              <a:t>];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   end</a:t>
            </a:r>
          </a:p>
          <a:p>
            <a:pPr>
              <a:buFontTx/>
              <a:buNone/>
            </a:pPr>
            <a:r>
              <a:rPr lang="en-US" sz="1800" dirty="0">
                <a:latin typeface="Courier New" pitchFamily="49" charset="0"/>
              </a:rPr>
              <a:t> </a:t>
            </a:r>
            <a:endParaRPr lang="en-US" sz="1800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+mj-lt"/>
              </a:rPr>
              <a:t>3. Assign Inputs &amp; Expected Outputs</a:t>
            </a:r>
          </a:p>
        </p:txBody>
      </p:sp>
    </p:spTree>
    <p:extLst>
      <p:ext uri="{BB962C8B-B14F-4D97-AF65-F5344CB8AC3E}">
        <p14:creationId xmlns:p14="http://schemas.microsoft.com/office/powerpoint/2010/main" val="1711480641"/>
      </p:ext>
    </p:extLst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290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08292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914400" y="1295400"/>
            <a:ext cx="8153400" cy="5181600"/>
          </a:xfrm>
        </p:spPr>
        <p:txBody>
          <a:bodyPr/>
          <a:lstStyle/>
          <a:p>
            <a:pPr>
              <a:buFontTx/>
              <a:buNone/>
            </a:pPr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// check results on falling edge of </a:t>
            </a:r>
            <a:r>
              <a:rPr lang="en-US" sz="1700" b="1" dirty="0" err="1">
                <a:solidFill>
                  <a:srgbClr val="0070C0"/>
                </a:solidFill>
                <a:latin typeface="Courier New" pitchFamily="49" charset="0"/>
              </a:rPr>
              <a:t>clk</a:t>
            </a:r>
            <a:endParaRPr lang="en-US" sz="1700" b="1" dirty="0">
              <a:solidFill>
                <a:srgbClr val="0070C0"/>
              </a:solidFill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   always @(</a:t>
            </a:r>
            <a:r>
              <a:rPr lang="en-US" sz="1700" dirty="0" err="1">
                <a:latin typeface="Courier New" pitchFamily="49" charset="0"/>
              </a:rPr>
              <a:t>negedge</a:t>
            </a:r>
            <a:r>
              <a:rPr lang="en-US" sz="1700" dirty="0">
                <a:latin typeface="Courier New" pitchFamily="49" charset="0"/>
              </a:rPr>
              <a:t> </a:t>
            </a:r>
            <a:r>
              <a:rPr lang="en-US" sz="1700" dirty="0" err="1">
                <a:latin typeface="Courier New" pitchFamily="49" charset="0"/>
              </a:rPr>
              <a:t>clk</a:t>
            </a:r>
            <a:r>
              <a:rPr lang="en-US" sz="1700" dirty="0">
                <a:latin typeface="Courier New" pitchFamily="49" charset="0"/>
              </a:rPr>
              <a:t>)</a:t>
            </a: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    if (~reset) begin // skip during reset</a:t>
            </a: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      if (y !== </a:t>
            </a:r>
            <a:r>
              <a:rPr lang="en-US" sz="1700" dirty="0" err="1">
                <a:latin typeface="Courier New" pitchFamily="49" charset="0"/>
              </a:rPr>
              <a:t>yexpected</a:t>
            </a:r>
            <a:r>
              <a:rPr lang="en-US" sz="1700" dirty="0">
                <a:latin typeface="Courier New" pitchFamily="49" charset="0"/>
              </a:rPr>
              <a:t>) begin  </a:t>
            </a: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        $display("Error: inputs = %b", {a, b, c});</a:t>
            </a: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        $display("  outputs = %b (%b expected)",</a:t>
            </a:r>
            <a:r>
              <a:rPr lang="en-US" sz="1700" dirty="0" err="1">
                <a:latin typeface="Courier New" pitchFamily="49" charset="0"/>
              </a:rPr>
              <a:t>y,yexpected</a:t>
            </a:r>
            <a:r>
              <a:rPr lang="en-US" sz="1700" dirty="0">
                <a:latin typeface="Courier New" pitchFamily="49" charset="0"/>
              </a:rPr>
              <a:t>);</a:t>
            </a: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        errors = errors + 1;</a:t>
            </a: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      end</a:t>
            </a:r>
          </a:p>
          <a:p>
            <a:pPr>
              <a:buFontTx/>
              <a:buNone/>
            </a:pPr>
            <a:endParaRPr lang="en-US" sz="17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// </a:t>
            </a:r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Note:</a:t>
            </a:r>
            <a:r>
              <a:rPr lang="en-US" sz="1700" dirty="0">
                <a:solidFill>
                  <a:srgbClr val="0070C0"/>
                </a:solidFill>
                <a:latin typeface="Courier New" pitchFamily="49" charset="0"/>
              </a:rPr>
              <a:t> </a:t>
            </a:r>
            <a:r>
              <a:rPr lang="en-US" sz="1700" dirty="0">
                <a:latin typeface="Courier New" pitchFamily="49" charset="0"/>
              </a:rPr>
              <a:t>to print in hexadecimal, use %h. For example,</a:t>
            </a: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//       $display(“Error: inputs = %h”, {a, b, c});</a:t>
            </a:r>
          </a:p>
          <a:p>
            <a:pPr>
              <a:buFontTx/>
              <a:buNone/>
            </a:pPr>
            <a:r>
              <a:rPr lang="en-US" sz="1700" dirty="0"/>
              <a:t>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  <a:latin typeface="+mj-lt"/>
              </a:rPr>
              <a:t>4. Compare with Expected Outputs</a:t>
            </a:r>
          </a:p>
        </p:txBody>
      </p:sp>
    </p:spTree>
    <p:extLst>
      <p:ext uri="{BB962C8B-B14F-4D97-AF65-F5344CB8AC3E}">
        <p14:creationId xmlns:p14="http://schemas.microsoft.com/office/powerpoint/2010/main" val="3829134849"/>
      </p:ext>
    </p:extLst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48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334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  <a:p>
            <a:pPr marL="342900" indent="-342900">
              <a:spcBef>
                <a:spcPct val="20000"/>
              </a:spcBef>
            </a:pPr>
            <a:endParaRPr lang="en-US" sz="3200">
              <a:latin typeface="Times New Roman" pitchFamily="18" charset="0"/>
              <a:cs typeface="Arial" charset="0"/>
            </a:endParaRPr>
          </a:p>
        </p:txBody>
      </p:sp>
      <p:sp>
        <p:nvSpPr>
          <p:cNvPr id="916484" name="Rectangle 4"/>
          <p:cNvSpPr>
            <a:spLocks noGrp="1" noChangeArrowheads="1"/>
          </p:cNvSpPr>
          <p:nvPr>
            <p:ph idx="4294967295"/>
            <p:custDataLst>
              <p:tags r:id="rId2"/>
            </p:custDataLst>
          </p:nvPr>
        </p:nvSpPr>
        <p:spPr>
          <a:xfrm>
            <a:off x="914400" y="1371600"/>
            <a:ext cx="7772400" cy="5181600"/>
          </a:xfrm>
        </p:spPr>
        <p:txBody>
          <a:bodyPr/>
          <a:lstStyle/>
          <a:p>
            <a:pPr>
              <a:buFontTx/>
              <a:buNone/>
            </a:pPr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// increment array index and read next </a:t>
            </a:r>
            <a:r>
              <a:rPr lang="en-US" sz="1700" b="1" dirty="0" err="1">
                <a:solidFill>
                  <a:srgbClr val="0070C0"/>
                </a:solidFill>
                <a:latin typeface="Courier New" pitchFamily="49" charset="0"/>
              </a:rPr>
              <a:t>testvector</a:t>
            </a:r>
            <a:endParaRPr lang="en-US" sz="1700" b="1" dirty="0">
              <a:solidFill>
                <a:srgbClr val="0070C0"/>
              </a:solidFill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      </a:t>
            </a:r>
            <a:r>
              <a:rPr lang="en-US" sz="1700" dirty="0" err="1">
                <a:latin typeface="Courier New" pitchFamily="49" charset="0"/>
              </a:rPr>
              <a:t>vectornum</a:t>
            </a:r>
            <a:r>
              <a:rPr lang="en-US" sz="1700" dirty="0">
                <a:latin typeface="Courier New" pitchFamily="49" charset="0"/>
              </a:rPr>
              <a:t> = </a:t>
            </a:r>
            <a:r>
              <a:rPr lang="en-US" sz="1700" dirty="0" err="1">
                <a:latin typeface="Courier New" pitchFamily="49" charset="0"/>
              </a:rPr>
              <a:t>vectornum</a:t>
            </a:r>
            <a:r>
              <a:rPr lang="en-US" sz="1700" dirty="0">
                <a:latin typeface="Courier New" pitchFamily="49" charset="0"/>
              </a:rPr>
              <a:t> + 1;</a:t>
            </a: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      if (</a:t>
            </a:r>
            <a:r>
              <a:rPr lang="en-US" sz="1700" dirty="0" err="1">
                <a:latin typeface="Courier New" pitchFamily="49" charset="0"/>
              </a:rPr>
              <a:t>testvectors</a:t>
            </a:r>
            <a:r>
              <a:rPr lang="en-US" sz="1700" dirty="0">
                <a:latin typeface="Courier New" pitchFamily="49" charset="0"/>
              </a:rPr>
              <a:t>[</a:t>
            </a:r>
            <a:r>
              <a:rPr lang="en-US" sz="1700" dirty="0" err="1">
                <a:latin typeface="Courier New" pitchFamily="49" charset="0"/>
              </a:rPr>
              <a:t>vectornum</a:t>
            </a:r>
            <a:r>
              <a:rPr lang="en-US" sz="1700" dirty="0">
                <a:latin typeface="Courier New" pitchFamily="49" charset="0"/>
              </a:rPr>
              <a:t>] === 4'bx) begin </a:t>
            </a: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          $display("%d tests completed with %d errors", </a:t>
            </a: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                </a:t>
            </a:r>
            <a:r>
              <a:rPr lang="en-US" sz="1700" dirty="0" err="1">
                <a:latin typeface="Courier New" pitchFamily="49" charset="0"/>
              </a:rPr>
              <a:t>vectornum</a:t>
            </a:r>
            <a:r>
              <a:rPr lang="en-US" sz="1700" dirty="0">
                <a:latin typeface="Courier New" pitchFamily="49" charset="0"/>
              </a:rPr>
              <a:t>, errors);</a:t>
            </a: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        $stop;</a:t>
            </a: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      end</a:t>
            </a:r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    end</a:t>
            </a:r>
          </a:p>
          <a:p>
            <a:pPr>
              <a:buFontTx/>
              <a:buNone/>
            </a:pPr>
            <a:r>
              <a:rPr lang="en-US" sz="1700" dirty="0" err="1">
                <a:latin typeface="Courier New" pitchFamily="49" charset="0"/>
              </a:rPr>
              <a:t>endmodule</a:t>
            </a:r>
            <a:endParaRPr lang="en-US" sz="1700" dirty="0">
              <a:latin typeface="Courier New" pitchFamily="49" charset="0"/>
            </a:endParaRPr>
          </a:p>
          <a:p>
            <a:pPr>
              <a:buFontTx/>
              <a:buNone/>
            </a:pPr>
            <a:endParaRPr lang="en-US" sz="1700" dirty="0"/>
          </a:p>
          <a:p>
            <a:pPr>
              <a:buFontTx/>
              <a:buNone/>
            </a:pPr>
            <a:endParaRPr lang="en-US" sz="1700" dirty="0"/>
          </a:p>
          <a:p>
            <a:pPr>
              <a:buFontTx/>
              <a:buNone/>
            </a:pPr>
            <a:r>
              <a:rPr lang="en-US" sz="1700" dirty="0">
                <a:latin typeface="Courier New" pitchFamily="49" charset="0"/>
              </a:rPr>
              <a:t>// </a:t>
            </a:r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===</a:t>
            </a:r>
            <a:r>
              <a:rPr lang="en-US" sz="1700" dirty="0">
                <a:solidFill>
                  <a:schemeClr val="accent1"/>
                </a:solidFill>
                <a:latin typeface="Courier New" pitchFamily="49" charset="0"/>
              </a:rPr>
              <a:t> </a:t>
            </a:r>
            <a:r>
              <a:rPr lang="en-US" sz="1700" dirty="0">
                <a:latin typeface="Courier New" pitchFamily="49" charset="0"/>
              </a:rPr>
              <a:t>and </a:t>
            </a:r>
            <a:r>
              <a:rPr lang="en-US" sz="1700" b="1" dirty="0">
                <a:solidFill>
                  <a:srgbClr val="0070C0"/>
                </a:solidFill>
                <a:latin typeface="Courier New" pitchFamily="49" charset="0"/>
              </a:rPr>
              <a:t>!==</a:t>
            </a:r>
            <a:r>
              <a:rPr lang="en-US" sz="1700" dirty="0">
                <a:latin typeface="Courier New" pitchFamily="49" charset="0"/>
              </a:rPr>
              <a:t> can compare values that are 1, 0, x, or 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8759"/>
            <a:ext cx="7924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  <a:latin typeface="+mj-lt"/>
              </a:rPr>
              <a:t>4. Compare with Expected Outputs</a:t>
            </a:r>
          </a:p>
        </p:txBody>
      </p:sp>
    </p:spTree>
    <p:extLst>
      <p:ext uri="{BB962C8B-B14F-4D97-AF65-F5344CB8AC3E}">
        <p14:creationId xmlns:p14="http://schemas.microsoft.com/office/powerpoint/2010/main" val="2811653317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21138</TotalTime>
  <Words>4668</Words>
  <Application>Microsoft Office PowerPoint</Application>
  <PresentationFormat>On-screen Show (4:3)</PresentationFormat>
  <Paragraphs>923</Paragraphs>
  <Slides>62</Slides>
  <Notes>61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0" baseType="lpstr">
      <vt:lpstr>Arial</vt:lpstr>
      <vt:lpstr>Calibri</vt:lpstr>
      <vt:lpstr>Courier New</vt:lpstr>
      <vt:lpstr>Times</vt:lpstr>
      <vt:lpstr>Times New Roman</vt:lpstr>
      <vt:lpstr>Office Theme</vt:lpstr>
      <vt:lpstr>Visio</vt:lpstr>
      <vt:lpstr>VISIO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Harvey Mudd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sharris</dc:creator>
  <cp:lastModifiedBy>An</cp:lastModifiedBy>
  <cp:revision>144</cp:revision>
  <cp:lastPrinted>2018-01-21T21:57:41Z</cp:lastPrinted>
  <dcterms:created xsi:type="dcterms:W3CDTF">2012-08-07T04:56:47Z</dcterms:created>
  <dcterms:modified xsi:type="dcterms:W3CDTF">2022-10-26T03:01:20Z</dcterms:modified>
</cp:coreProperties>
</file>