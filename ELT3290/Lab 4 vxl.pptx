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1" r:id="rId1"/>
  </p:sldMasterIdLst>
  <p:notesMasterIdLst>
    <p:notesMasterId r:id="rId15"/>
  </p:notesMasterIdLst>
  <p:sldIdLst>
    <p:sldId id="256" r:id="rId2"/>
    <p:sldId id="372" r:id="rId3"/>
    <p:sldId id="379" r:id="rId4"/>
    <p:sldId id="374" r:id="rId5"/>
    <p:sldId id="378" r:id="rId6"/>
    <p:sldId id="381" r:id="rId7"/>
    <p:sldId id="380" r:id="rId8"/>
    <p:sldId id="382" r:id="rId9"/>
    <p:sldId id="377" r:id="rId10"/>
    <p:sldId id="383" r:id="rId11"/>
    <p:sldId id="384" r:id="rId12"/>
    <p:sldId id="376" r:id="rId13"/>
    <p:sldId id="373" r:id="rId1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Montserrat" panose="000005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971DDEE-25E1-4FD0-9271-24F5402C3206}">
  <a:tblStyle styleId="{D971DDEE-25E1-4FD0-9271-24F5402C320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8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99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263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8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951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34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5400000">
            <a:off x="-1515884" y="-1719378"/>
            <a:ext cx="3679200" cy="3679200"/>
          </a:xfrm>
          <a:prstGeom prst="blockArc">
            <a:avLst>
              <a:gd name="adj1" fmla="val 15904124"/>
              <a:gd name="adj2" fmla="val 722519"/>
              <a:gd name="adj3" fmla="val 7278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 rot="10800000">
            <a:off x="708000" y="399750"/>
            <a:ext cx="7728000" cy="4344000"/>
          </a:xfrm>
          <a:prstGeom prst="round1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rot="-2175913">
            <a:off x="6501213" y="3908853"/>
            <a:ext cx="1705595" cy="1705595"/>
          </a:xfrm>
          <a:prstGeom prst="blockArc">
            <a:avLst>
              <a:gd name="adj1" fmla="val 13003178"/>
              <a:gd name="adj2" fmla="val 2121832"/>
              <a:gd name="adj3" fmla="val 25028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/>
          <p:nvPr/>
        </p:nvSpPr>
        <p:spPr>
          <a:xfrm>
            <a:off x="1355650" y="744575"/>
            <a:ext cx="6261600" cy="23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 b="1"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Google Shape;13;p2"/>
          <p:cNvSpPr txBox="1"/>
          <p:nvPr/>
        </p:nvSpPr>
        <p:spPr>
          <a:xfrm>
            <a:off x="1355650" y="3396875"/>
            <a:ext cx="4048500" cy="5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1080000" y="2834125"/>
            <a:ext cx="6840000" cy="14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41200" y="1455663"/>
            <a:ext cx="6261600" cy="136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solidFill>
                  <a:schemeClr val="accen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2649875" y="3207913"/>
            <a:ext cx="38238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 rot="10800000">
            <a:off x="7843922" y="-1058801"/>
            <a:ext cx="2481900" cy="2481900"/>
          </a:xfrm>
          <a:prstGeom prst="blockArc">
            <a:avLst>
              <a:gd name="adj1" fmla="val 15904124"/>
              <a:gd name="adj2" fmla="val 722519"/>
              <a:gd name="adj3" fmla="val 7278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-154350" y="389075"/>
            <a:ext cx="9452700" cy="66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4"/>
          <p:cNvSpPr/>
          <p:nvPr/>
        </p:nvSpPr>
        <p:spPr>
          <a:xfrm rot="4458820">
            <a:off x="-1488663" y="4124021"/>
            <a:ext cx="2387832" cy="2387832"/>
          </a:xfrm>
          <a:prstGeom prst="blockArc">
            <a:avLst>
              <a:gd name="adj1" fmla="val 12582103"/>
              <a:gd name="adj2" fmla="val 16685375"/>
              <a:gd name="adj3" fmla="val 10255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4"/>
          <p:cNvSpPr txBox="1"/>
          <p:nvPr/>
        </p:nvSpPr>
        <p:spPr>
          <a:xfrm>
            <a:off x="909825" y="1507250"/>
            <a:ext cx="7315200" cy="335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1094125" y="541475"/>
            <a:ext cx="6825900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4125" y="434070"/>
            <a:ext cx="773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ubTitle" idx="1"/>
          </p:nvPr>
        </p:nvSpPr>
        <p:spPr>
          <a:xfrm>
            <a:off x="702925" y="1057150"/>
            <a:ext cx="7738200" cy="5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1"/>
              </a:solidFill>
            </a:endParaRPr>
          </a:p>
        </p:txBody>
      </p:sp>
      <p:sp>
        <p:nvSpPr>
          <p:cNvPr id="60" name="Google Shape;60;p9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000">
                <a:solidFill>
                  <a:srgbClr val="595959"/>
                </a:solidFill>
              </a:rPr>
              <a:t>‹#›</a:t>
            </a:fld>
            <a:endParaRPr sz="1000">
              <a:solidFill>
                <a:schemeClr val="dk2"/>
              </a:solidFill>
            </a:endParaRPr>
          </a:p>
        </p:txBody>
      </p:sp>
      <p:sp>
        <p:nvSpPr>
          <p:cNvPr id="61" name="Google Shape;61;p9"/>
          <p:cNvSpPr/>
          <p:nvPr/>
        </p:nvSpPr>
        <p:spPr>
          <a:xfrm rot="-900094">
            <a:off x="3798381" y="4368678"/>
            <a:ext cx="1783690" cy="1783980"/>
          </a:xfrm>
          <a:prstGeom prst="blockArc">
            <a:avLst>
              <a:gd name="adj1" fmla="val 12085351"/>
              <a:gd name="adj2" fmla="val 16819483"/>
              <a:gd name="adj3" fmla="val 1755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9"/>
          <p:cNvSpPr/>
          <p:nvPr/>
        </p:nvSpPr>
        <p:spPr>
          <a:xfrm>
            <a:off x="4572000" y="-73925"/>
            <a:ext cx="4572000" cy="5308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9"/>
          <p:cNvSpPr txBox="1"/>
          <p:nvPr/>
        </p:nvSpPr>
        <p:spPr>
          <a:xfrm>
            <a:off x="5298300" y="2567075"/>
            <a:ext cx="31194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5298300" y="4049375"/>
            <a:ext cx="31194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316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" name="Google Shape;65;p9"/>
          <p:cNvSpPr txBox="1"/>
          <p:nvPr/>
        </p:nvSpPr>
        <p:spPr>
          <a:xfrm>
            <a:off x="5208725" y="4049375"/>
            <a:ext cx="31194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9"/>
          <p:cNvSpPr txBox="1"/>
          <p:nvPr/>
        </p:nvSpPr>
        <p:spPr>
          <a:xfrm>
            <a:off x="5387850" y="3299075"/>
            <a:ext cx="3119400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5021275" y="810000"/>
            <a:ext cx="3549600" cy="385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602400" y="862850"/>
            <a:ext cx="3549600" cy="318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4_1_1_1_1_2">
    <p:bg>
      <p:bgPr>
        <a:solidFill>
          <a:schemeClr val="accent2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"/>
              <a:buNone/>
              <a:defRPr sz="3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5" r:id="rId3"/>
    <p:sldLayoutId id="2147483658" r:id="rId4"/>
    <p:sldLayoutId id="2147483697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57"/>
          <p:cNvSpPr txBox="1">
            <a:spLocks noGrp="1"/>
          </p:cNvSpPr>
          <p:nvPr>
            <p:ph type="title"/>
          </p:nvPr>
        </p:nvSpPr>
        <p:spPr>
          <a:xfrm>
            <a:off x="771525" y="1691969"/>
            <a:ext cx="7282229" cy="136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/>
              <a:t>Lab 4: </a:t>
            </a:r>
            <a:r>
              <a:rPr lang="en-US" sz="3200" dirty="0"/>
              <a:t>Introduction to hardware description language (</a:t>
            </a:r>
            <a:r>
              <a:rPr lang="en-US" sz="3200" dirty="0" err="1"/>
              <a:t>cont</a:t>
            </a:r>
            <a:r>
              <a:rPr lang="en-US" sz="3200" dirty="0"/>
              <a:t>)</a:t>
            </a:r>
            <a:endParaRPr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F6FFC-B146-45D5-DCEB-5C54FB0C9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159" y="397907"/>
            <a:ext cx="7738200" cy="572700"/>
          </a:xfrm>
        </p:spPr>
        <p:txBody>
          <a:bodyPr/>
          <a:lstStyle/>
          <a:p>
            <a:r>
              <a:rPr lang="en-US" dirty="0"/>
              <a:t>Assignments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A128B1-4661-672C-5930-BA855B1B4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794" y="970607"/>
            <a:ext cx="8420411" cy="988626"/>
          </a:xfrm>
        </p:spPr>
        <p:txBody>
          <a:bodyPr/>
          <a:lstStyle/>
          <a:p>
            <a:r>
              <a:rPr lang="en-US" b="1" dirty="0" err="1">
                <a:latin typeface="Montserrat" panose="00000500000000000000" pitchFamily="2" charset="0"/>
              </a:rPr>
              <a:t>Continous</a:t>
            </a:r>
            <a:r>
              <a:rPr lang="en-US" b="1" dirty="0">
                <a:latin typeface="Montserrat" panose="00000500000000000000" pitchFamily="2" charset="0"/>
              </a:rPr>
              <a:t> assignment:</a:t>
            </a:r>
          </a:p>
          <a:p>
            <a:endParaRPr lang="en-US" dirty="0">
              <a:latin typeface="Montserrat" panose="00000500000000000000" pitchFamily="2" charset="0"/>
            </a:endParaRPr>
          </a:p>
          <a:p>
            <a:pPr marL="87313" indent="0"/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- Continuous assignments continuously monitor the </a:t>
            </a:r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RHS (right – hand side)</a:t>
            </a:r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 and update the LHS (left –   hand side) immediately when the </a:t>
            </a:r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RHS</a:t>
            </a:r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 change, does not introduce any timing delays.</a:t>
            </a:r>
            <a:endParaRPr lang="en-US" b="0" i="0" dirty="0">
              <a:effectLst/>
              <a:latin typeface="Montserrat" panose="00000500000000000000" pitchFamily="2" charset="0"/>
            </a:endParaRPr>
          </a:p>
          <a:p>
            <a:pPr marL="258763" indent="-171450">
              <a:buFontTx/>
              <a:buChar char="-"/>
            </a:pPr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Multiple </a:t>
            </a:r>
            <a:r>
              <a:rPr lang="en-US" dirty="0" err="1">
                <a:solidFill>
                  <a:srgbClr val="374151"/>
                </a:solidFill>
                <a:latin typeface="Montserrat" panose="00000500000000000000" pitchFamily="2" charset="0"/>
              </a:rPr>
              <a:t>c</a:t>
            </a:r>
            <a:r>
              <a:rPr lang="en-US" dirty="0" err="1">
                <a:latin typeface="Montserrat" panose="00000500000000000000" pitchFamily="2" charset="0"/>
              </a:rPr>
              <a:t>ontinous</a:t>
            </a:r>
            <a:r>
              <a:rPr lang="en-US" dirty="0">
                <a:latin typeface="Montserrat" panose="00000500000000000000" pitchFamily="2" charset="0"/>
              </a:rPr>
              <a:t> assignment </a:t>
            </a:r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executes concurrently, order of statements is not important.</a:t>
            </a:r>
          </a:p>
          <a:p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Used outside </a:t>
            </a:r>
            <a:r>
              <a:rPr lang="en-US" b="1" dirty="0">
                <a:solidFill>
                  <a:srgbClr val="374151"/>
                </a:solidFill>
                <a:latin typeface="Montserrat" panose="00000500000000000000" pitchFamily="2" charset="0"/>
              </a:rPr>
              <a:t>always</a:t>
            </a:r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 statement to design </a:t>
            </a:r>
            <a:r>
              <a:rPr lang="en-US" b="1" dirty="0">
                <a:solidFill>
                  <a:srgbClr val="374151"/>
                </a:solidFill>
                <a:latin typeface="Montserrat" panose="00000500000000000000" pitchFamily="2" charset="0"/>
              </a:rPr>
              <a:t>simple combinational circuit.</a:t>
            </a:r>
          </a:p>
          <a:p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</a:t>
            </a:r>
            <a:r>
              <a:rPr lang="en-US" i="1" dirty="0">
                <a:solidFill>
                  <a:srgbClr val="374151"/>
                </a:solidFill>
                <a:latin typeface="Montserrat" panose="00000500000000000000" pitchFamily="2" charset="0"/>
              </a:rPr>
              <a:t>Syntax: assign LHS = RHS;</a:t>
            </a:r>
            <a:endParaRPr lang="en-US" b="0" i="1" dirty="0">
              <a:solidFill>
                <a:srgbClr val="374151"/>
              </a:solidFill>
              <a:effectLst/>
              <a:latin typeface="Montserrat" panose="00000500000000000000" pitchFamily="2" charset="0"/>
            </a:endParaRPr>
          </a:p>
          <a:p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 </a:t>
            </a:r>
            <a:endParaRPr lang="en-US" dirty="0">
              <a:latin typeface="Montserrat" panose="00000500000000000000" pitchFamily="2" charset="0"/>
            </a:endParaRPr>
          </a:p>
          <a:p>
            <a:r>
              <a:rPr lang="en-US" b="1" dirty="0">
                <a:latin typeface="Montserrat" panose="00000500000000000000" pitchFamily="2" charset="0"/>
              </a:rPr>
              <a:t>Blocking assignment:</a:t>
            </a:r>
          </a:p>
          <a:p>
            <a:endParaRPr lang="en-US" dirty="0">
              <a:latin typeface="Montserrat" panose="00000500000000000000" pitchFamily="2" charset="0"/>
            </a:endParaRPr>
          </a:p>
          <a:p>
            <a:pPr marL="180975" indent="-41275"/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C</a:t>
            </a:r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ause the RHS expression to be evaluated immediately, and the LHS variable is updated before moving to the next statement. </a:t>
            </a:r>
            <a:endParaRPr lang="en-US" dirty="0">
              <a:solidFill>
                <a:srgbClr val="374151"/>
              </a:solidFill>
              <a:latin typeface="Montserrat" panose="00000500000000000000" pitchFamily="2" charset="0"/>
            </a:endParaRPr>
          </a:p>
          <a:p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Multiple</a:t>
            </a:r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 blocking assignments are executed sequentially in the order they appear in the code, order of statements is important.</a:t>
            </a:r>
            <a:endParaRPr lang="en-US" dirty="0">
              <a:latin typeface="Montserrat" panose="00000500000000000000" pitchFamily="2" charset="0"/>
            </a:endParaRPr>
          </a:p>
          <a:p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Used inside </a:t>
            </a:r>
            <a:r>
              <a:rPr lang="en-US" b="1" i="1" dirty="0">
                <a:solidFill>
                  <a:srgbClr val="374151"/>
                </a:solidFill>
                <a:latin typeface="Montserrat" panose="00000500000000000000" pitchFamily="2" charset="0"/>
              </a:rPr>
              <a:t>always</a:t>
            </a:r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 statement to design </a:t>
            </a:r>
            <a:r>
              <a:rPr lang="en-US" b="1" dirty="0">
                <a:solidFill>
                  <a:srgbClr val="374151"/>
                </a:solidFill>
                <a:latin typeface="Montserrat" panose="00000500000000000000" pitchFamily="2" charset="0"/>
              </a:rPr>
              <a:t>combinational circuit.</a:t>
            </a:r>
          </a:p>
          <a:p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</a:t>
            </a:r>
            <a:r>
              <a:rPr lang="en-US" i="1" dirty="0">
                <a:solidFill>
                  <a:srgbClr val="374151"/>
                </a:solidFill>
                <a:latin typeface="Montserrat" panose="00000500000000000000" pitchFamily="2" charset="0"/>
              </a:rPr>
              <a:t>Syntax: LHS = RHS;</a:t>
            </a:r>
            <a:endParaRPr lang="en-US" i="1" dirty="0">
              <a:latin typeface="Montserrat" panose="00000500000000000000" pitchFamily="2" charset="0"/>
            </a:endParaRPr>
          </a:p>
          <a:p>
            <a:endParaRPr lang="en-US" dirty="0">
              <a:latin typeface="Montserrat" panose="00000500000000000000" pitchFamily="2" charset="0"/>
            </a:endParaRPr>
          </a:p>
          <a:p>
            <a:r>
              <a:rPr lang="en-US" b="1" dirty="0">
                <a:latin typeface="Montserrat" panose="00000500000000000000" pitchFamily="2" charset="0"/>
              </a:rPr>
              <a:t>Non – blocking assignment:</a:t>
            </a:r>
          </a:p>
          <a:p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U</a:t>
            </a:r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pdating for the variables on the LHS occur at the end of current time step, typically on a clock edge.</a:t>
            </a:r>
          </a:p>
          <a:p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M</a:t>
            </a:r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ultiple non-blocking assignments executes concurrently, order of statements is not important.</a:t>
            </a:r>
          </a:p>
          <a:p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- Used inside </a:t>
            </a:r>
            <a:r>
              <a:rPr lang="en-US" b="1" i="1" dirty="0">
                <a:solidFill>
                  <a:srgbClr val="374151"/>
                </a:solidFill>
                <a:latin typeface="Montserrat" panose="00000500000000000000" pitchFamily="2" charset="0"/>
              </a:rPr>
              <a:t>always</a:t>
            </a:r>
            <a:r>
              <a:rPr lang="en-US" dirty="0">
                <a:solidFill>
                  <a:srgbClr val="374151"/>
                </a:solidFill>
                <a:latin typeface="Montserrat" panose="00000500000000000000" pitchFamily="2" charset="0"/>
              </a:rPr>
              <a:t> statement to design  more </a:t>
            </a:r>
            <a:r>
              <a:rPr lang="en-US" b="1" dirty="0">
                <a:solidFill>
                  <a:srgbClr val="374151"/>
                </a:solidFill>
                <a:latin typeface="Montserrat" panose="00000500000000000000" pitchFamily="2" charset="0"/>
              </a:rPr>
              <a:t>complex sequential circuit.</a:t>
            </a:r>
            <a:endParaRPr lang="en-US" b="1" dirty="0">
              <a:latin typeface="Montserrat" panose="00000500000000000000" pitchFamily="2" charset="0"/>
            </a:endParaRPr>
          </a:p>
          <a:p>
            <a:r>
              <a:rPr lang="en-US" b="0" i="0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- </a:t>
            </a:r>
            <a:r>
              <a:rPr lang="en-US" b="0" i="1" dirty="0">
                <a:solidFill>
                  <a:srgbClr val="374151"/>
                </a:solidFill>
                <a:effectLst/>
                <a:latin typeface="Montserrat" panose="00000500000000000000" pitchFamily="2" charset="0"/>
              </a:rPr>
              <a:t>Syntax: LHS &lt;= RHS;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228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4D175-7E9A-D4FD-1C9D-AB7497CF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275" y="434070"/>
            <a:ext cx="8295050" cy="572700"/>
          </a:xfrm>
        </p:spPr>
        <p:txBody>
          <a:bodyPr/>
          <a:lstStyle/>
          <a:p>
            <a:r>
              <a:rPr lang="en-US" dirty="0"/>
              <a:t>Compare between types of assignments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BD6532-7521-4ADD-832C-2DBCCDA703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456238"/>
              </p:ext>
            </p:extLst>
          </p:nvPr>
        </p:nvGraphicFramePr>
        <p:xfrm>
          <a:off x="665453" y="1273046"/>
          <a:ext cx="7809259" cy="3388360"/>
        </p:xfrm>
        <a:graphic>
          <a:graphicData uri="http://schemas.openxmlformats.org/drawingml/2006/table">
            <a:tbl>
              <a:tblPr firstRow="1" bandRow="1">
                <a:tableStyleId>{D971DDEE-25E1-4FD0-9271-24F5402C3206}</a:tableStyleId>
              </a:tblPr>
              <a:tblGrid>
                <a:gridCol w="2520340">
                  <a:extLst>
                    <a:ext uri="{9D8B030D-6E8A-4147-A177-3AD203B41FA5}">
                      <a16:colId xmlns:a16="http://schemas.microsoft.com/office/drawing/2014/main" val="2080631371"/>
                    </a:ext>
                  </a:extLst>
                </a:gridCol>
                <a:gridCol w="1762973">
                  <a:extLst>
                    <a:ext uri="{9D8B030D-6E8A-4147-A177-3AD203B41FA5}">
                      <a16:colId xmlns:a16="http://schemas.microsoft.com/office/drawing/2014/main" val="2464465386"/>
                    </a:ext>
                  </a:extLst>
                </a:gridCol>
                <a:gridCol w="1762973">
                  <a:extLst>
                    <a:ext uri="{9D8B030D-6E8A-4147-A177-3AD203B41FA5}">
                      <a16:colId xmlns:a16="http://schemas.microsoft.com/office/drawing/2014/main" val="3858310560"/>
                    </a:ext>
                  </a:extLst>
                </a:gridCol>
                <a:gridCol w="1762973">
                  <a:extLst>
                    <a:ext uri="{9D8B030D-6E8A-4147-A177-3AD203B41FA5}">
                      <a16:colId xmlns:a16="http://schemas.microsoft.com/office/drawing/2014/main" val="20413510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err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Continous</a:t>
                      </a: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Blocking 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Non-blocking</a:t>
                      </a:r>
                    </a:p>
                    <a:p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assignment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0041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Update LHS to RHS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Immediately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Immediately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At the end of current time step, typically on a clock edge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9371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Order of execution statements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In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Concurrently</a:t>
                      </a:r>
                    </a:p>
                    <a:p>
                      <a:endParaRPr lang="en-US" sz="1200" dirty="0">
                        <a:solidFill>
                          <a:schemeClr val="accent1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6127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Using to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Simple combinational circuit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Combinational circuit</a:t>
                      </a:r>
                    </a:p>
                    <a:p>
                      <a:endParaRPr lang="en-US" sz="1200" dirty="0">
                        <a:solidFill>
                          <a:schemeClr val="accent1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Sequential circuit</a:t>
                      </a:r>
                    </a:p>
                    <a:p>
                      <a:endParaRPr lang="en-US" sz="1200" dirty="0">
                        <a:solidFill>
                          <a:schemeClr val="accent1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0701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Inside or outside</a:t>
                      </a:r>
                    </a:p>
                    <a:p>
                      <a:r>
                        <a:rPr lang="en-US" sz="1200" b="1" i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always </a:t>
                      </a:r>
                    </a:p>
                    <a:p>
                      <a:endParaRPr lang="en-US" sz="1200" dirty="0">
                        <a:solidFill>
                          <a:schemeClr val="accent1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Outside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Inside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Inside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9700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assign a 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 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 &lt;=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8700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5527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DB404-222C-F2E3-F23C-9AB6FE6B5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21" y="418572"/>
            <a:ext cx="7738200" cy="572700"/>
          </a:xfrm>
        </p:spPr>
        <p:txBody>
          <a:bodyPr/>
          <a:lstStyle/>
          <a:p>
            <a:r>
              <a:rPr lang="en-US" i="1" dirty="0"/>
              <a:t>Always</a:t>
            </a:r>
            <a:r>
              <a:rPr lang="en-US" dirty="0"/>
              <a:t>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A2B103-CE9E-9964-8F6C-D321ED0FBF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 dirty="0"/>
              <a:t>Syntax:   </a:t>
            </a:r>
          </a:p>
          <a:p>
            <a:r>
              <a:rPr lang="en-US" b="1" dirty="0"/>
              <a:t>always @(sensitivity list)</a:t>
            </a:r>
          </a:p>
          <a:p>
            <a:r>
              <a:rPr lang="en-US" b="1" dirty="0"/>
              <a:t>    statement;</a:t>
            </a:r>
          </a:p>
          <a:p>
            <a:r>
              <a:rPr lang="en-US" dirty="0"/>
              <a:t>- Statements in </a:t>
            </a:r>
            <a:r>
              <a:rPr lang="en-US" i="1" dirty="0"/>
              <a:t>always</a:t>
            </a:r>
            <a:r>
              <a:rPr lang="en-US" dirty="0"/>
              <a:t> statement is executed only when the event specified in sensitivity list occurs.</a:t>
            </a:r>
          </a:p>
          <a:p>
            <a:endParaRPr lang="en-US" dirty="0"/>
          </a:p>
          <a:p>
            <a:r>
              <a:rPr lang="en-US" dirty="0"/>
              <a:t>- </a:t>
            </a:r>
            <a:r>
              <a:rPr lang="en-US" i="1" dirty="0"/>
              <a:t>always</a:t>
            </a:r>
            <a:r>
              <a:rPr lang="en-US" dirty="0"/>
              <a:t> statement can be used to design flip-flop, latches or combinational circuit depend on the sensitivity list and statement.</a:t>
            </a:r>
          </a:p>
          <a:p>
            <a:endParaRPr lang="en-US" dirty="0"/>
          </a:p>
          <a:p>
            <a:r>
              <a:rPr lang="en-US" b="1" dirty="0"/>
              <a:t>- Types of always statement:</a:t>
            </a:r>
          </a:p>
          <a:p>
            <a:endParaRPr lang="en-US" b="1" dirty="0"/>
          </a:p>
          <a:p>
            <a:r>
              <a:rPr lang="en-US" dirty="0"/>
              <a:t>  + </a:t>
            </a:r>
            <a:r>
              <a:rPr lang="en-US" b="1" dirty="0"/>
              <a:t>always @(sensitivity list) </a:t>
            </a:r>
            <a:r>
              <a:rPr lang="en-US" dirty="0"/>
              <a:t>can be used to design sequential or combinational circuit based on sensitivity list</a:t>
            </a:r>
          </a:p>
          <a:p>
            <a:r>
              <a:rPr lang="en-US" dirty="0"/>
              <a:t>Ex: To design full adder: always@(a, b, </a:t>
            </a:r>
            <a:r>
              <a:rPr lang="en-US" dirty="0" err="1"/>
              <a:t>cin</a:t>
            </a:r>
            <a:r>
              <a:rPr lang="en-US" dirty="0"/>
              <a:t>)</a:t>
            </a:r>
          </a:p>
          <a:p>
            <a:r>
              <a:rPr lang="en-US" dirty="0"/>
              <a:t>       To design D flip-flop: always@(</a:t>
            </a:r>
            <a:r>
              <a:rPr lang="en-US" dirty="0" err="1"/>
              <a:t>posedge</a:t>
            </a:r>
            <a:r>
              <a:rPr lang="en-US" dirty="0"/>
              <a:t> </a:t>
            </a:r>
            <a:r>
              <a:rPr lang="en-US" dirty="0" err="1"/>
              <a:t>clk</a:t>
            </a:r>
            <a:r>
              <a:rPr lang="en-US" dirty="0"/>
              <a:t>)</a:t>
            </a:r>
          </a:p>
          <a:p>
            <a:r>
              <a:rPr lang="en-US" dirty="0"/>
              <a:t>  + </a:t>
            </a:r>
            <a:r>
              <a:rPr lang="en-US" b="1" dirty="0" err="1"/>
              <a:t>always_comb</a:t>
            </a:r>
            <a:r>
              <a:rPr lang="en-US" b="1" dirty="0"/>
              <a:t>: </a:t>
            </a:r>
            <a:r>
              <a:rPr lang="en-US" dirty="0"/>
              <a:t>is dedicated for designing combinational circuit; reevaluates the statements inside </a:t>
            </a:r>
            <a:r>
              <a:rPr lang="en-US" i="1" dirty="0" err="1"/>
              <a:t>always_comb</a:t>
            </a:r>
            <a:r>
              <a:rPr lang="en-US" i="1" dirty="0"/>
              <a:t> </a:t>
            </a:r>
            <a:r>
              <a:rPr lang="en-US" dirty="0"/>
              <a:t>any time the signal on RHS of statement changes.</a:t>
            </a:r>
          </a:p>
          <a:p>
            <a:r>
              <a:rPr lang="en-US" dirty="0"/>
              <a:t>+ </a:t>
            </a:r>
            <a:r>
              <a:rPr lang="en-US" b="1" dirty="0" err="1"/>
              <a:t>always_latch</a:t>
            </a:r>
            <a:r>
              <a:rPr lang="en-US" b="1" dirty="0"/>
              <a:t> </a:t>
            </a:r>
            <a:r>
              <a:rPr lang="en-US" dirty="0"/>
              <a:t>is dedicated for design latch</a:t>
            </a:r>
          </a:p>
          <a:p>
            <a:r>
              <a:rPr lang="en-US" dirty="0"/>
              <a:t>+ </a:t>
            </a:r>
            <a:r>
              <a:rPr lang="en-US" b="1" dirty="0" err="1"/>
              <a:t>always_ff</a:t>
            </a:r>
            <a:r>
              <a:rPr lang="en-US" b="1" dirty="0"/>
              <a:t> </a:t>
            </a:r>
            <a:r>
              <a:rPr lang="en-US" dirty="0"/>
              <a:t>is dedicated for design flip flop</a:t>
            </a:r>
          </a:p>
          <a:p>
            <a:r>
              <a:rPr lang="en-US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2511104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35908-876D-E077-6BA0-4F38086B1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885" y="421552"/>
            <a:ext cx="7738200" cy="572700"/>
          </a:xfrm>
        </p:spPr>
        <p:txBody>
          <a:bodyPr/>
          <a:lstStyle/>
          <a:p>
            <a:r>
              <a:rPr lang="en-US" dirty="0"/>
              <a:t>Example on </a:t>
            </a:r>
            <a:r>
              <a:rPr lang="en-US" i="1" dirty="0" err="1"/>
              <a:t>fulladder</a:t>
            </a:r>
            <a:endParaRPr lang="en-US" i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BC5CCA-EB2B-F3A6-C563-6BF21128CA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Example: design a </a:t>
            </a:r>
            <a:r>
              <a:rPr lang="en-US" dirty="0" err="1"/>
              <a:t>fulladder</a:t>
            </a:r>
            <a:r>
              <a:rPr lang="en-US" dirty="0"/>
              <a:t> using </a:t>
            </a:r>
            <a:r>
              <a:rPr lang="en-US" dirty="0" err="1"/>
              <a:t>always_comb</a:t>
            </a:r>
            <a:r>
              <a:rPr lang="en-US" dirty="0"/>
              <a:t>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4CF7A7-91CC-1A73-F1C0-12F87411CC38}"/>
              </a:ext>
            </a:extLst>
          </p:cNvPr>
          <p:cNvSpPr txBox="1"/>
          <p:nvPr/>
        </p:nvSpPr>
        <p:spPr>
          <a:xfrm flipH="1">
            <a:off x="1094125" y="1779782"/>
            <a:ext cx="6639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</a:b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25158F4-D12B-89AD-7D07-076FBEE575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579605"/>
              </p:ext>
            </p:extLst>
          </p:nvPr>
        </p:nvGraphicFramePr>
        <p:xfrm>
          <a:off x="555342" y="1698479"/>
          <a:ext cx="8276983" cy="2656840"/>
        </p:xfrm>
        <a:graphic>
          <a:graphicData uri="http://schemas.openxmlformats.org/drawingml/2006/table">
            <a:tbl>
              <a:tblPr firstRow="1" bandRow="1">
                <a:tableStyleId>{D971DDEE-25E1-4FD0-9271-24F5402C3206}</a:tableStyleId>
              </a:tblPr>
              <a:tblGrid>
                <a:gridCol w="4251242">
                  <a:extLst>
                    <a:ext uri="{9D8B030D-6E8A-4147-A177-3AD203B41FA5}">
                      <a16:colId xmlns:a16="http://schemas.microsoft.com/office/drawing/2014/main" val="3869080105"/>
                    </a:ext>
                  </a:extLst>
                </a:gridCol>
                <a:gridCol w="4025741">
                  <a:extLst>
                    <a:ext uri="{9D8B030D-6E8A-4147-A177-3AD203B41FA5}">
                      <a16:colId xmlns:a16="http://schemas.microsoft.com/office/drawing/2014/main" val="1701441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       Using </a:t>
                      </a:r>
                      <a:r>
                        <a:rPr lang="en-US" sz="1200" b="1" dirty="0" err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always_comb</a:t>
                      </a: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and blocking 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             Using continuous assignment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390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module </a:t>
                      </a:r>
                      <a:r>
                        <a:rPr lang="en-US" sz="1200" b="0" i="0" dirty="0" err="1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fulladder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(input 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logic A,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C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</a:p>
                    <a:p>
                      <a:pPr lvl="2"/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              output 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logic S,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C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 lvl="2"/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logic P,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G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endParaRPr lang="en-US" sz="1200" b="0" i="0" dirty="0">
                        <a:solidFill>
                          <a:schemeClr val="accent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lvl="2"/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n-US" sz="1200" b="0" i="0" dirty="0" err="1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always_comb</a:t>
                      </a:r>
                      <a:endParaRPr lang="en-US" sz="1200" b="0" i="0" dirty="0">
                        <a:solidFill>
                          <a:schemeClr val="accent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lvl="2"/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 begin</a:t>
                      </a:r>
                    </a:p>
                    <a:p>
                      <a:pPr lvl="2"/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    P = A ^ B;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// blocking</a:t>
                      </a:r>
                    </a:p>
                    <a:p>
                      <a:pPr lvl="2"/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    G = A &amp; B;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// blocking</a:t>
                      </a:r>
                    </a:p>
                    <a:p>
                      <a:pPr lvl="2"/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    S = P ^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C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; // blocking</a:t>
                      </a:r>
                    </a:p>
                    <a:p>
                      <a:pPr lvl="2"/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  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C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out = G | (P &amp; 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C</a:t>
                      </a:r>
                      <a:r>
                        <a:rPr lang="en-US" sz="1200" b="0" i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); // blocking</a:t>
                      </a:r>
                    </a:p>
                    <a:p>
                      <a:pPr lvl="2"/>
                      <a:r>
                        <a:rPr lang="en-US" sz="1200" b="0" i="0" dirty="0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   end</a:t>
                      </a:r>
                    </a:p>
                    <a:p>
                      <a:r>
                        <a:rPr lang="en-US" sz="1200" b="0" i="0" dirty="0" err="1">
                          <a:solidFill>
                            <a:schemeClr val="accent1"/>
                          </a:solidFill>
                          <a:effectLst/>
                          <a:latin typeface="Consolas" panose="020B0609020204030204" pitchFamily="49" charset="0"/>
                        </a:rPr>
                        <a:t>endmodule</a:t>
                      </a: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module </a:t>
                      </a:r>
                      <a:r>
                        <a:rPr lang="en-US" sz="1200" dirty="0" err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full_adder</a:t>
                      </a: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(input logic </a:t>
                      </a:r>
                      <a:r>
                        <a:rPr lang="en-US" sz="1200" dirty="0" err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A,B,Cin</a:t>
                      </a: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,</a:t>
                      </a: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                  output logic S, </a:t>
                      </a:r>
                      <a:r>
                        <a:rPr lang="en-US" sz="1200" dirty="0" err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						</a:t>
                      </a: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	logic P, G;</a:t>
                      </a: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	</a:t>
                      </a: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	assign P = A ^ B;</a:t>
                      </a: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	assign G = A &amp; B;</a:t>
                      </a: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	assign S = P ^ Cin;</a:t>
                      </a:r>
                    </a:p>
                    <a:p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	assign </a:t>
                      </a:r>
                      <a:r>
                        <a:rPr lang="en-US" sz="1200" dirty="0" err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Cout</a:t>
                      </a: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 = G | (P &amp; Cin);</a:t>
                      </a:r>
                    </a:p>
                    <a:p>
                      <a:endParaRPr lang="en-US" sz="1200" dirty="0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 err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endmodule</a:t>
                      </a:r>
                      <a:endParaRPr lang="en-US" sz="1200" dirty="0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3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1092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EC8EF-1816-B81F-0C06-FD1F93A3B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11ED-7B8C-59C3-29FA-0526D728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556" y="442216"/>
            <a:ext cx="7738200" cy="572700"/>
          </a:xfrm>
        </p:spPr>
        <p:txBody>
          <a:bodyPr/>
          <a:lstStyle/>
          <a:p>
            <a:r>
              <a:rPr lang="en-US"/>
              <a:t>Packed array and unpacked array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4C2161-2831-3D23-2400-E45AFC60077D}"/>
              </a:ext>
            </a:extLst>
          </p:cNvPr>
          <p:cNvSpPr txBox="1"/>
          <p:nvPr/>
        </p:nvSpPr>
        <p:spPr>
          <a:xfrm flipH="1">
            <a:off x="1094125" y="1779782"/>
            <a:ext cx="6639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dirty="0">
                <a:solidFill>
                  <a:schemeClr val="accent1"/>
                </a:solidFill>
                <a:latin typeface="Consolas" panose="020B0609020204030204" pitchFamily="49" charset="0"/>
              </a:rPr>
            </a:br>
            <a:endParaRPr lang="en-US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81E02ED-1921-2D36-A0F5-E5E038972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736832"/>
              </p:ext>
            </p:extLst>
          </p:nvPr>
        </p:nvGraphicFramePr>
        <p:xfrm>
          <a:off x="467530" y="1374671"/>
          <a:ext cx="8495656" cy="2508550"/>
        </p:xfrm>
        <a:graphic>
          <a:graphicData uri="http://schemas.openxmlformats.org/drawingml/2006/table">
            <a:tbl>
              <a:tblPr firstRow="1" bandRow="1">
                <a:tableStyleId>{D971DDEE-25E1-4FD0-9271-24F5402C3206}</a:tableStyleId>
              </a:tblPr>
              <a:tblGrid>
                <a:gridCol w="1133962">
                  <a:extLst>
                    <a:ext uri="{9D8B030D-6E8A-4147-A177-3AD203B41FA5}">
                      <a16:colId xmlns:a16="http://schemas.microsoft.com/office/drawing/2014/main" val="3844843296"/>
                    </a:ext>
                  </a:extLst>
                </a:gridCol>
                <a:gridCol w="3518113">
                  <a:extLst>
                    <a:ext uri="{9D8B030D-6E8A-4147-A177-3AD203B41FA5}">
                      <a16:colId xmlns:a16="http://schemas.microsoft.com/office/drawing/2014/main" val="632487947"/>
                    </a:ext>
                  </a:extLst>
                </a:gridCol>
                <a:gridCol w="3843581">
                  <a:extLst>
                    <a:ext uri="{9D8B030D-6E8A-4147-A177-3AD203B41FA5}">
                      <a16:colId xmlns:a16="http://schemas.microsoft.com/office/drawing/2014/main" val="3479600880"/>
                    </a:ext>
                  </a:extLst>
                </a:gridCol>
              </a:tblGrid>
              <a:tr h="371449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Packed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Unpacked array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0050"/>
                  </a:ext>
                </a:extLst>
              </a:tr>
              <a:tr h="396890"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Declaration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Size/dimension to the </a:t>
                      </a:r>
                      <a:r>
                        <a:rPr lang="en-US" sz="10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left</a:t>
                      </a:r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of variable name</a:t>
                      </a:r>
                    </a:p>
                    <a:p>
                      <a:r>
                        <a:rPr lang="en-US" sz="1000" i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Ex:  logic [3:0] </a:t>
                      </a:r>
                      <a:r>
                        <a:rPr lang="en-US" sz="1000" i="1" dirty="0" err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data_bus</a:t>
                      </a:r>
                      <a:r>
                        <a:rPr lang="en-US" sz="1000" i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; // 4 bits packed together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Size/dimension to the </a:t>
                      </a:r>
                      <a:r>
                        <a:rPr lang="en-US" sz="1000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right</a:t>
                      </a:r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of variable name</a:t>
                      </a:r>
                    </a:p>
                    <a:p>
                      <a:r>
                        <a:rPr lang="en-US" sz="1000" i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Ex: logic flag[3:0]; // 4 independent 1-bit logic variables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1602646"/>
                  </a:ext>
                </a:extLst>
              </a:tr>
              <a:tr h="396890">
                <a:tc>
                  <a:txBody>
                    <a:bodyPr/>
                    <a:lstStyle/>
                    <a:p>
                      <a:r>
                        <a:rPr lang="en-US" sz="100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Contiguous block of bits (compact in memory)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Independent elements (not contiguous in memory)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4016352"/>
                  </a:ext>
                </a:extLst>
              </a:tr>
              <a:tr h="396890">
                <a:tc>
                  <a:txBody>
                    <a:bodyPr/>
                    <a:lstStyle/>
                    <a:p>
                      <a:r>
                        <a:rPr lang="en-US" sz="100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Represents multi-bit data like vectors, buses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Represents independent variables (like arrays)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988117"/>
                  </a:ext>
                </a:extLst>
              </a:tr>
              <a:tr h="549541">
                <a:tc>
                  <a:txBody>
                    <a:bodyPr/>
                    <a:lstStyle/>
                    <a:p>
                      <a:r>
                        <a:rPr lang="en-US" sz="100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Bitwise 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Supported (since elements are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Not directly supported (need to access each element individually)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2902295"/>
                  </a:ext>
                </a:extLst>
              </a:tr>
              <a:tr h="396890">
                <a:tc>
                  <a:txBody>
                    <a:bodyPr/>
                    <a:lstStyle/>
                    <a:p>
                      <a:r>
                        <a:rPr lang="en-US" sz="100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Arithmetic 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Supported (treats entire array as a number)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Not directly supported for the entire array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323917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948934B-23B3-7363-D28D-88154577CDA3}"/>
              </a:ext>
            </a:extLst>
          </p:cNvPr>
          <p:cNvSpPr txBox="1"/>
          <p:nvPr/>
        </p:nvSpPr>
        <p:spPr>
          <a:xfrm>
            <a:off x="1176473" y="4017446"/>
            <a:ext cx="631954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>
                <a:solidFill>
                  <a:schemeClr val="accent1"/>
                </a:solidFill>
                <a:latin typeface="Montserrat" panose="00000500000000000000" pitchFamily="2" charset="0"/>
              </a:rPr>
              <a:t>Example:</a:t>
            </a:r>
          </a:p>
          <a:p>
            <a:r>
              <a:rPr lang="en-US" sz="1000">
                <a:solidFill>
                  <a:schemeClr val="accent1"/>
                </a:solidFill>
                <a:latin typeface="Montserrat" panose="00000500000000000000" pitchFamily="2" charset="0"/>
              </a:rPr>
              <a:t>// Packed Array: Represents a 4-bit bus or vector</a:t>
            </a:r>
          </a:p>
          <a:p>
            <a:r>
              <a:rPr lang="en-US" sz="1000">
                <a:solidFill>
                  <a:schemeClr val="accent1"/>
                </a:solidFill>
                <a:latin typeface="Montserrat" panose="00000500000000000000" pitchFamily="2" charset="0"/>
              </a:rPr>
              <a:t>     logic [3:0] data_bus; // 4 bits packed together</a:t>
            </a:r>
          </a:p>
          <a:p>
            <a:r>
              <a:rPr lang="en-US" sz="1000">
                <a:solidFill>
                  <a:schemeClr val="accent1"/>
                </a:solidFill>
                <a:latin typeface="Montserrat" panose="00000500000000000000" pitchFamily="2" charset="0"/>
              </a:rPr>
              <a:t>     module inverter(input logic [3:0] a, output logic [3:0] b);</a:t>
            </a:r>
          </a:p>
          <a:p>
            <a:r>
              <a:rPr lang="en-US" sz="1000">
                <a:solidFill>
                  <a:schemeClr val="accent1"/>
                </a:solidFill>
                <a:latin typeface="Montserrat" panose="00000500000000000000" pitchFamily="2" charset="0"/>
              </a:rPr>
              <a:t>// Unpacked Array: Array of independent variables </a:t>
            </a:r>
          </a:p>
          <a:p>
            <a:r>
              <a:rPr lang="en-US" sz="1000">
                <a:solidFill>
                  <a:schemeClr val="accent1"/>
                </a:solidFill>
                <a:latin typeface="Montserrat" panose="00000500000000000000" pitchFamily="2" charset="0"/>
              </a:rPr>
              <a:t>    logic flag[3:0]; // 4 independent 1-bit logic variables</a:t>
            </a:r>
          </a:p>
        </p:txBody>
      </p:sp>
    </p:spTree>
    <p:extLst>
      <p:ext uri="{BB962C8B-B14F-4D97-AF65-F5344CB8AC3E}">
        <p14:creationId xmlns:p14="http://schemas.microsoft.com/office/powerpoint/2010/main" val="1673418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94B10-7179-DA15-DAAF-2FB409192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037" y="418572"/>
            <a:ext cx="7738200" cy="572700"/>
          </a:xfrm>
        </p:spPr>
        <p:txBody>
          <a:bodyPr/>
          <a:lstStyle/>
          <a:p>
            <a:r>
              <a:rPr lang="en-US"/>
              <a:t>SystemVerilog numbers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48E6DA-2DF6-0BD9-84E5-3D4D493354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781" y="1186266"/>
            <a:ext cx="3850716" cy="36130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702E5A-5B77-8927-8C24-C8C96214B1D9}"/>
              </a:ext>
            </a:extLst>
          </p:cNvPr>
          <p:cNvSpPr txBox="1"/>
          <p:nvPr/>
        </p:nvSpPr>
        <p:spPr>
          <a:xfrm>
            <a:off x="118821" y="1268158"/>
            <a:ext cx="513473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- The format for declaring constants is </a:t>
            </a:r>
            <a:r>
              <a:rPr lang="en-US" sz="1200" b="0" i="0" dirty="0" err="1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N'Bvalue</a:t>
            </a:r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, where N is the</a:t>
            </a:r>
          </a:p>
          <a:p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size in bits, B is a letter indicating the base, and value gives the</a:t>
            </a:r>
          </a:p>
          <a:p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value. </a:t>
            </a:r>
          </a:p>
          <a:p>
            <a:endParaRPr lang="en-US" sz="1200" b="0" i="0" dirty="0">
              <a:solidFill>
                <a:schemeClr val="accent1"/>
              </a:solidFill>
              <a:effectLst/>
              <a:latin typeface="Montserrat" panose="00000500000000000000" pitchFamily="2" charset="0"/>
            </a:endParaRPr>
          </a:p>
          <a:p>
            <a:r>
              <a:rPr lang="en-US" sz="1200" dirty="0">
                <a:solidFill>
                  <a:schemeClr val="accent1"/>
                </a:solidFill>
                <a:latin typeface="Montserrat" panose="00000500000000000000" pitchFamily="2" charset="0"/>
              </a:rPr>
              <a:t>E</a:t>
            </a:r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xample, 9'h25 indicates a 9-bit number with </a:t>
            </a:r>
            <a:r>
              <a:rPr lang="en-US" sz="1200" b="0" i="0" dirty="0" err="1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avalue</a:t>
            </a:r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 of </a:t>
            </a:r>
          </a:p>
          <a:p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25(base 16) = 37(base 10) = 0001001012 (base 2). </a:t>
            </a:r>
          </a:p>
          <a:p>
            <a:endParaRPr lang="en-US" sz="1200" b="0" i="0" dirty="0">
              <a:solidFill>
                <a:schemeClr val="accent1"/>
              </a:solidFill>
              <a:effectLst/>
              <a:latin typeface="Montserrat" panose="00000500000000000000" pitchFamily="2" charset="0"/>
            </a:endParaRPr>
          </a:p>
          <a:p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- </a:t>
            </a:r>
            <a:r>
              <a:rPr lang="en-US" sz="1200" b="0" i="0" dirty="0" err="1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SystemVerilog</a:t>
            </a:r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 supports 'b for binary, 'o for octal, 'd for decimal, </a:t>
            </a:r>
          </a:p>
          <a:p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and ‘h for hexadecimal. If the base is omitted, it defaults </a:t>
            </a:r>
          </a:p>
          <a:p>
            <a:r>
              <a:rPr lang="en-US" sz="1200" b="0" i="0" dirty="0">
                <a:solidFill>
                  <a:schemeClr val="accent1"/>
                </a:solidFill>
                <a:effectLst/>
                <a:latin typeface="Montserrat" panose="00000500000000000000" pitchFamily="2" charset="0"/>
              </a:rPr>
              <a:t>to decimal.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106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64FA6-5A8B-8619-255E-F96B9E896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22F85-144E-39DE-5852-738B59661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708" y="362247"/>
            <a:ext cx="7738200" cy="572700"/>
          </a:xfrm>
        </p:spPr>
        <p:txBody>
          <a:bodyPr/>
          <a:lstStyle/>
          <a:p>
            <a:r>
              <a:rPr lang="en-US"/>
              <a:t>If-else </a:t>
            </a:r>
            <a:r>
              <a:rPr lang="en-US" dirty="0"/>
              <a:t>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8746C4-A199-E835-093C-E84D25963379}"/>
              </a:ext>
            </a:extLst>
          </p:cNvPr>
          <p:cNvSpPr txBox="1"/>
          <p:nvPr/>
        </p:nvSpPr>
        <p:spPr>
          <a:xfrm>
            <a:off x="443195" y="1790973"/>
            <a:ext cx="58181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chemeClr val="accent1"/>
                </a:solidFill>
                <a:latin typeface="Consolas" panose="020B0609020204030204" pitchFamily="49" charset="0"/>
              </a:rPr>
              <a:t>Syntax:</a:t>
            </a:r>
          </a:p>
          <a:p>
            <a:r>
              <a:rPr lang="en-US" sz="1200">
                <a:solidFill>
                  <a:schemeClr val="accent1"/>
                </a:solidFill>
                <a:latin typeface="Consolas" panose="020B0609020204030204" pitchFamily="49" charset="0"/>
              </a:rPr>
              <a:t>if (condition) begin</a:t>
            </a:r>
          </a:p>
          <a:p>
            <a:r>
              <a:rPr lang="en-US" sz="1200">
                <a:solidFill>
                  <a:schemeClr val="accent1"/>
                </a:solidFill>
                <a:latin typeface="Consolas" panose="020B0609020204030204" pitchFamily="49" charset="0"/>
              </a:rPr>
              <a:t>    // Code to execute if condition is true</a:t>
            </a:r>
          </a:p>
          <a:p>
            <a:r>
              <a:rPr lang="en-US" sz="1200">
                <a:solidFill>
                  <a:schemeClr val="accent1"/>
                </a:solidFill>
                <a:latin typeface="Consolas" panose="020B0609020204030204" pitchFamily="49" charset="0"/>
              </a:rPr>
              <a:t>end else begin</a:t>
            </a:r>
          </a:p>
          <a:p>
            <a:r>
              <a:rPr lang="en-US" sz="1200">
                <a:solidFill>
                  <a:schemeClr val="accent1"/>
                </a:solidFill>
                <a:latin typeface="Consolas" panose="020B0609020204030204" pitchFamily="49" charset="0"/>
              </a:rPr>
              <a:t>    // Code to execute if condition is false</a:t>
            </a:r>
          </a:p>
          <a:p>
            <a:r>
              <a:rPr lang="en-US" sz="1200">
                <a:solidFill>
                  <a:schemeClr val="accent1"/>
                </a:solidFill>
                <a:latin typeface="Consolas" panose="020B0609020204030204" pitchFamily="49" charset="0"/>
              </a:rPr>
              <a:t>end</a:t>
            </a:r>
          </a:p>
          <a:p>
            <a:endParaRPr lang="en-US" sz="1200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E5A7D-E18D-2C0D-0F0E-62ED5FCCA92A}"/>
              </a:ext>
            </a:extLst>
          </p:cNvPr>
          <p:cNvSpPr txBox="1"/>
          <p:nvPr/>
        </p:nvSpPr>
        <p:spPr>
          <a:xfrm>
            <a:off x="210722" y="1201688"/>
            <a:ext cx="79047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200">
                <a:solidFill>
                  <a:schemeClr val="accent1"/>
                </a:solidFill>
                <a:latin typeface="Montserrat" panose="00000500000000000000" pitchFamily="2" charset="0"/>
              </a:rPr>
              <a:t>The syntax for an if-else statement in SystemVerilog is very similar to other programming languages</a:t>
            </a:r>
          </a:p>
          <a:p>
            <a:r>
              <a:rPr lang="en-US" altLang="en-US" sz="1200">
                <a:solidFill>
                  <a:schemeClr val="accent1"/>
                </a:solidFill>
                <a:latin typeface="Montserrat" panose="00000500000000000000" pitchFamily="2" charset="0"/>
              </a:rPr>
              <a:t> like C or Verilog. It is used to execute different blocks of code based on a conditional expression.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BF44BC-2B37-1C9D-4012-D6996C3093EB}"/>
              </a:ext>
            </a:extLst>
          </p:cNvPr>
          <p:cNvSpPr txBox="1"/>
          <p:nvPr/>
        </p:nvSpPr>
        <p:spPr>
          <a:xfrm>
            <a:off x="377126" y="3149699"/>
            <a:ext cx="6288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>
                <a:solidFill>
                  <a:schemeClr val="accent1"/>
                </a:solidFill>
                <a:latin typeface="Montserrat" panose="00000500000000000000" pitchFamily="2" charset="0"/>
              </a:rPr>
              <a:t>Note: </a:t>
            </a:r>
            <a:r>
              <a:rPr lang="en-US" sz="1200">
                <a:solidFill>
                  <a:schemeClr val="accent1"/>
                </a:solidFill>
                <a:latin typeface="Montserrat" panose="00000500000000000000" pitchFamily="2" charset="0"/>
              </a:rPr>
              <a:t>In SystemVerilog, </a:t>
            </a:r>
            <a:r>
              <a:rPr lang="en-US" sz="1200" i="1">
                <a:solidFill>
                  <a:schemeClr val="accent1"/>
                </a:solidFill>
                <a:latin typeface="Montserrat" panose="00000500000000000000" pitchFamily="2" charset="0"/>
              </a:rPr>
              <a:t>if-else</a:t>
            </a:r>
            <a:r>
              <a:rPr lang="en-US" sz="1200">
                <a:solidFill>
                  <a:schemeClr val="accent1"/>
                </a:solidFill>
                <a:latin typeface="Montserrat" panose="00000500000000000000" pitchFamily="2" charset="0"/>
              </a:rPr>
              <a:t> statement must appear inside </a:t>
            </a:r>
            <a:r>
              <a:rPr lang="en-US" sz="1200" i="1">
                <a:solidFill>
                  <a:schemeClr val="accent1"/>
                </a:solidFill>
                <a:latin typeface="Montserrat" panose="00000500000000000000" pitchFamily="2" charset="0"/>
              </a:rPr>
              <a:t>always</a:t>
            </a:r>
            <a:r>
              <a:rPr lang="en-US" sz="1200">
                <a:solidFill>
                  <a:schemeClr val="accent1"/>
                </a:solidFill>
                <a:latin typeface="Montserrat" panose="00000500000000000000" pitchFamily="2" charset="0"/>
              </a:rPr>
              <a:t> statement.</a:t>
            </a:r>
          </a:p>
        </p:txBody>
      </p:sp>
    </p:spTree>
    <p:extLst>
      <p:ext uri="{BB962C8B-B14F-4D97-AF65-F5344CB8AC3E}">
        <p14:creationId xmlns:p14="http://schemas.microsoft.com/office/powerpoint/2010/main" val="2613253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94B10-7179-DA15-DAAF-2FB409192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546" y="439236"/>
            <a:ext cx="7738200" cy="572700"/>
          </a:xfrm>
        </p:spPr>
        <p:txBody>
          <a:bodyPr/>
          <a:lstStyle/>
          <a:p>
            <a:r>
              <a:rPr lang="en-US" dirty="0"/>
              <a:t>Case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5C829C-8E1E-E8E6-D51F-0873757C4D75}"/>
              </a:ext>
            </a:extLst>
          </p:cNvPr>
          <p:cNvSpPr txBox="1"/>
          <p:nvPr/>
        </p:nvSpPr>
        <p:spPr>
          <a:xfrm>
            <a:off x="1094125" y="1385443"/>
            <a:ext cx="681517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case (expression)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value1: begin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// Code block to execute when expression == value1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//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end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value2: begin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// Code block to execute when expression == value2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//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end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// More value cases can be added here</a:t>
            </a:r>
          </a:p>
          <a:p>
            <a:endParaRPr lang="en-US" sz="1200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default: 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begin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// Code block to execute when expression doesn't match any value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// ...</a:t>
            </a:r>
          </a:p>
          <a:p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    end</a:t>
            </a:r>
          </a:p>
          <a:p>
            <a:r>
              <a:rPr lang="en-US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endcase</a:t>
            </a:r>
            <a:endParaRPr lang="en-US" sz="1200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EC170E6D-5FFE-98EA-E19B-009C43DD66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Syntax: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6F0515-F515-BC64-C68E-236A3FD80B25}"/>
              </a:ext>
            </a:extLst>
          </p:cNvPr>
          <p:cNvSpPr txBox="1"/>
          <p:nvPr/>
        </p:nvSpPr>
        <p:spPr>
          <a:xfrm>
            <a:off x="253140" y="4801763"/>
            <a:ext cx="62424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>
                <a:solidFill>
                  <a:schemeClr val="accent1"/>
                </a:solidFill>
                <a:latin typeface="Montserrat" panose="00000500000000000000" pitchFamily="2" charset="0"/>
              </a:rPr>
              <a:t>Note: </a:t>
            </a:r>
            <a:r>
              <a:rPr lang="en-US" sz="1200">
                <a:solidFill>
                  <a:schemeClr val="accent1"/>
                </a:solidFill>
                <a:latin typeface="Montserrat" panose="00000500000000000000" pitchFamily="2" charset="0"/>
              </a:rPr>
              <a:t>In SystemVerilog, </a:t>
            </a:r>
            <a:r>
              <a:rPr lang="en-US" sz="1200" i="1">
                <a:solidFill>
                  <a:schemeClr val="accent1"/>
                </a:solidFill>
                <a:latin typeface="Montserrat" panose="00000500000000000000" pitchFamily="2" charset="0"/>
              </a:rPr>
              <a:t>case</a:t>
            </a:r>
            <a:r>
              <a:rPr lang="en-US" sz="1200">
                <a:solidFill>
                  <a:schemeClr val="accent1"/>
                </a:solidFill>
                <a:latin typeface="Montserrat" panose="00000500000000000000" pitchFamily="2" charset="0"/>
              </a:rPr>
              <a:t> statement must appear inside </a:t>
            </a:r>
            <a:r>
              <a:rPr lang="en-US" sz="1200" i="1">
                <a:solidFill>
                  <a:schemeClr val="accent1"/>
                </a:solidFill>
                <a:latin typeface="Montserrat" panose="00000500000000000000" pitchFamily="2" charset="0"/>
              </a:rPr>
              <a:t>always</a:t>
            </a:r>
            <a:r>
              <a:rPr lang="en-US" sz="1200">
                <a:solidFill>
                  <a:schemeClr val="accent1"/>
                </a:solidFill>
                <a:latin typeface="Montserrat" panose="00000500000000000000" pitchFamily="2" charset="0"/>
              </a:rPr>
              <a:t> statement.</a:t>
            </a:r>
          </a:p>
        </p:txBody>
      </p:sp>
    </p:spTree>
    <p:extLst>
      <p:ext uri="{BB962C8B-B14F-4D97-AF65-F5344CB8AC3E}">
        <p14:creationId xmlns:p14="http://schemas.microsoft.com/office/powerpoint/2010/main" val="4158396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FF0A4-05AF-F5E7-A158-27D7E02A6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D305-A353-F6B6-5AC8-313284714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376" y="381827"/>
            <a:ext cx="7738200" cy="572700"/>
          </a:xfrm>
        </p:spPr>
        <p:txBody>
          <a:bodyPr/>
          <a:lstStyle/>
          <a:p>
            <a:r>
              <a:rPr lang="en-US"/>
              <a:t>Exercise 1: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F2F83-347F-09A9-3829-B2D55A74E4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Design </a:t>
            </a:r>
            <a:r>
              <a:rPr lang="en-US"/>
              <a:t>an 2-4 decoder  </a:t>
            </a:r>
            <a:r>
              <a:rPr lang="en-US" dirty="0"/>
              <a:t>using in </a:t>
            </a:r>
            <a:r>
              <a:rPr lang="en-US" dirty="0" err="1"/>
              <a:t>SystemVerilog</a:t>
            </a:r>
            <a:r>
              <a:rPr lang="en-US" dirty="0"/>
              <a:t>, simulate on </a:t>
            </a:r>
            <a:r>
              <a:rPr lang="en-US" dirty="0" err="1"/>
              <a:t>ModelSim</a:t>
            </a:r>
            <a:r>
              <a:rPr lang="en-US" dirty="0"/>
              <a:t> and test operations of design </a:t>
            </a:r>
            <a:r>
              <a:rPr lang="en-US"/>
              <a:t>in STEP MAX10 </a:t>
            </a:r>
            <a:r>
              <a:rPr lang="en-US" dirty="0"/>
              <a:t>board.</a:t>
            </a:r>
          </a:p>
          <a:p>
            <a:r>
              <a:rPr lang="en-US" i="1" dirty="0"/>
              <a:t>Hint:</a:t>
            </a:r>
            <a:r>
              <a:rPr lang="en-US" dirty="0"/>
              <a:t> using </a:t>
            </a:r>
            <a:r>
              <a:rPr lang="en-US" i="1" dirty="0" err="1"/>
              <a:t>always_comb</a:t>
            </a:r>
            <a:r>
              <a:rPr lang="en-US" i="1" dirty="0"/>
              <a:t> </a:t>
            </a:r>
            <a:r>
              <a:rPr lang="en-US" dirty="0"/>
              <a:t>statement, blocking assignment </a:t>
            </a:r>
            <a:r>
              <a:rPr lang="en-US"/>
              <a:t>and if-else or case </a:t>
            </a:r>
            <a:r>
              <a:rPr lang="en-US" dirty="0"/>
              <a:t>structure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28F84C-1CEC-E92C-3810-3F26D87B2F87}"/>
              </a:ext>
            </a:extLst>
          </p:cNvPr>
          <p:cNvSpPr txBox="1"/>
          <p:nvPr/>
        </p:nvSpPr>
        <p:spPr>
          <a:xfrm>
            <a:off x="1131375" y="4299275"/>
            <a:ext cx="48974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Montserrat" panose="00000500000000000000" pitchFamily="2" charset="0"/>
              </a:rPr>
              <a:t>Example: module decoder2_4 (input logic [1:0] A,</a:t>
            </a:r>
          </a:p>
          <a:p>
            <a:r>
              <a:rPr lang="en-US">
                <a:solidFill>
                  <a:schemeClr val="accent1"/>
                </a:solidFill>
                <a:latin typeface="Montserrat" panose="00000500000000000000" pitchFamily="2" charset="0"/>
              </a:rPr>
              <a:t>                                                           output logic [3:0] B);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6C5427-96F3-AE36-B799-219B408ED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4259" y="1897350"/>
            <a:ext cx="3838575" cy="206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2206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280D-DB75-B52D-2D1B-C12BCD57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9098B-A870-52EB-F0E8-672280988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376" y="381827"/>
            <a:ext cx="7738200" cy="572700"/>
          </a:xfrm>
        </p:spPr>
        <p:txBody>
          <a:bodyPr/>
          <a:lstStyle/>
          <a:p>
            <a:r>
              <a:rPr lang="en-US"/>
              <a:t>Exercise 1: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EAC094-330D-612C-8973-F744DB4C1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810" y="1054173"/>
            <a:ext cx="7738200" cy="505200"/>
          </a:xfrm>
        </p:spPr>
        <p:txBody>
          <a:bodyPr/>
          <a:lstStyle/>
          <a:p>
            <a:r>
              <a:rPr lang="en-US" dirty="0"/>
              <a:t>Design </a:t>
            </a:r>
            <a:r>
              <a:rPr lang="en-US"/>
              <a:t>an 2-4 decoder  </a:t>
            </a:r>
            <a:r>
              <a:rPr lang="en-US" dirty="0"/>
              <a:t>using in </a:t>
            </a:r>
            <a:r>
              <a:rPr lang="en-US" dirty="0" err="1"/>
              <a:t>SystemVerilog</a:t>
            </a:r>
            <a:r>
              <a:rPr lang="en-US" dirty="0"/>
              <a:t>, simulate on </a:t>
            </a:r>
            <a:r>
              <a:rPr lang="en-US" dirty="0" err="1"/>
              <a:t>ModelSim</a:t>
            </a:r>
            <a:r>
              <a:rPr lang="en-US" dirty="0"/>
              <a:t> and test operations of design </a:t>
            </a:r>
            <a:r>
              <a:rPr lang="en-US"/>
              <a:t>in STEP MAX10 </a:t>
            </a:r>
            <a:r>
              <a:rPr lang="en-US" dirty="0"/>
              <a:t>board.</a:t>
            </a:r>
          </a:p>
          <a:p>
            <a:r>
              <a:rPr lang="en-US" i="1" dirty="0"/>
              <a:t>Hint:</a:t>
            </a:r>
            <a:r>
              <a:rPr lang="en-US" dirty="0"/>
              <a:t> using </a:t>
            </a:r>
            <a:r>
              <a:rPr lang="en-US" i="1" dirty="0" err="1"/>
              <a:t>always_comb</a:t>
            </a:r>
            <a:r>
              <a:rPr lang="en-US" i="1" dirty="0"/>
              <a:t> </a:t>
            </a:r>
            <a:r>
              <a:rPr lang="en-US" dirty="0"/>
              <a:t>statement, blocking assignment </a:t>
            </a:r>
            <a:r>
              <a:rPr lang="en-US"/>
              <a:t>and if-else or case </a:t>
            </a:r>
            <a:r>
              <a:rPr lang="en-US" dirty="0"/>
              <a:t>structure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838D4D-53C8-0431-3FCE-0DCAEA2EC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893438"/>
              </p:ext>
            </p:extLst>
          </p:nvPr>
        </p:nvGraphicFramePr>
        <p:xfrm>
          <a:off x="361627" y="1802505"/>
          <a:ext cx="8285808" cy="3022600"/>
        </p:xfrm>
        <a:graphic>
          <a:graphicData uri="http://schemas.openxmlformats.org/drawingml/2006/table">
            <a:tbl>
              <a:tblPr firstRow="1" bandRow="1">
                <a:tableStyleId>{D971DDEE-25E1-4FD0-9271-24F5402C3206}</a:tableStyleId>
              </a:tblPr>
              <a:tblGrid>
                <a:gridCol w="4142904">
                  <a:extLst>
                    <a:ext uri="{9D8B030D-6E8A-4147-A177-3AD203B41FA5}">
                      <a16:colId xmlns:a16="http://schemas.microsoft.com/office/drawing/2014/main" val="2567382117"/>
                    </a:ext>
                  </a:extLst>
                </a:gridCol>
                <a:gridCol w="4142904">
                  <a:extLst>
                    <a:ext uri="{9D8B030D-6E8A-4147-A177-3AD203B41FA5}">
                      <a16:colId xmlns:a16="http://schemas.microsoft.com/office/drawing/2014/main" val="4216083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Case 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  If-else statement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241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  <a:p>
                      <a:endParaRPr 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623777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FE56474C-1261-656F-CC87-CA3E2F52B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70" y="2311023"/>
            <a:ext cx="3870133" cy="18971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CA35B1-6604-33A7-A748-C01A3221F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558" y="2250000"/>
            <a:ext cx="2939771" cy="257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389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D89C-57DA-14FF-171C-04E7948F9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053" y="381827"/>
            <a:ext cx="7738200" cy="572700"/>
          </a:xfrm>
        </p:spPr>
        <p:txBody>
          <a:bodyPr/>
          <a:lstStyle/>
          <a:p>
            <a:r>
              <a:rPr lang="en-US" dirty="0"/>
              <a:t>Exercise 2: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822A99-8EB0-9B9A-8778-DE5818B6F6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Design an ALU  using in </a:t>
            </a:r>
            <a:r>
              <a:rPr lang="en-US" dirty="0" err="1"/>
              <a:t>SystemVerilog</a:t>
            </a:r>
            <a:r>
              <a:rPr lang="en-US" dirty="0"/>
              <a:t>, simulate on </a:t>
            </a:r>
            <a:r>
              <a:rPr lang="en-US" dirty="0" err="1"/>
              <a:t>ModelSim</a:t>
            </a:r>
            <a:r>
              <a:rPr lang="en-US" dirty="0"/>
              <a:t> and test operations of design </a:t>
            </a:r>
            <a:r>
              <a:rPr lang="en-US"/>
              <a:t>in STEP MAX10 </a:t>
            </a:r>
            <a:r>
              <a:rPr lang="en-US" dirty="0"/>
              <a:t>board.</a:t>
            </a:r>
          </a:p>
          <a:p>
            <a:r>
              <a:rPr lang="en-US" i="1" dirty="0"/>
              <a:t>Hint:</a:t>
            </a:r>
            <a:r>
              <a:rPr lang="en-US" dirty="0"/>
              <a:t> using </a:t>
            </a:r>
            <a:r>
              <a:rPr lang="en-US" i="1" dirty="0" err="1"/>
              <a:t>always_comb</a:t>
            </a:r>
            <a:r>
              <a:rPr lang="en-US" i="1" dirty="0"/>
              <a:t> </a:t>
            </a:r>
            <a:r>
              <a:rPr lang="en-US" dirty="0"/>
              <a:t>statement, blocking assignment and case structure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799532F-319B-8CE9-1D4D-112C9C512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250666"/>
              </p:ext>
            </p:extLst>
          </p:nvPr>
        </p:nvGraphicFramePr>
        <p:xfrm>
          <a:off x="1384516" y="1960428"/>
          <a:ext cx="5780868" cy="2133600"/>
        </p:xfrm>
        <a:graphic>
          <a:graphicData uri="http://schemas.openxmlformats.org/drawingml/2006/table">
            <a:tbl>
              <a:tblPr firstRow="1" bandRow="1">
                <a:tableStyleId>{D971DDEE-25E1-4FD0-9271-24F5402C3206}</a:tableStyleId>
              </a:tblPr>
              <a:tblGrid>
                <a:gridCol w="2890434">
                  <a:extLst>
                    <a:ext uri="{9D8B030D-6E8A-4147-A177-3AD203B41FA5}">
                      <a16:colId xmlns:a16="http://schemas.microsoft.com/office/drawing/2014/main" val="3973768617"/>
                    </a:ext>
                  </a:extLst>
                </a:gridCol>
                <a:gridCol w="2890434">
                  <a:extLst>
                    <a:ext uri="{9D8B030D-6E8A-4147-A177-3AD203B41FA5}">
                      <a16:colId xmlns:a16="http://schemas.microsoft.com/office/drawing/2014/main" val="129064743"/>
                    </a:ext>
                  </a:extLst>
                </a:gridCol>
              </a:tblGrid>
              <a:tr h="29116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      Opcode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    Operation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51492"/>
                  </a:ext>
                </a:extLst>
              </a:tr>
              <a:tr h="29116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Add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29031"/>
                  </a:ext>
                </a:extLst>
              </a:tr>
              <a:tr h="29116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  </a:t>
                      </a:r>
                      <a:r>
                        <a:rPr lang="en-US" dirty="0" err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Substract</a:t>
                      </a:r>
                      <a:endParaRPr lang="en-US" dirty="0">
                        <a:solidFill>
                          <a:schemeClr val="accent1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432698"/>
                  </a:ext>
                </a:extLst>
              </a:tr>
              <a:tr h="29116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530904"/>
                  </a:ext>
                </a:extLst>
              </a:tr>
              <a:tr h="29116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343306"/>
                  </a:ext>
                </a:extLst>
              </a:tr>
              <a:tr h="29116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Xor</a:t>
                      </a:r>
                      <a:endParaRPr lang="en-US" dirty="0">
                        <a:solidFill>
                          <a:schemeClr val="accent1"/>
                        </a:solidFill>
                        <a:latin typeface="Montserrat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92294"/>
                  </a:ext>
                </a:extLst>
              </a:tr>
              <a:tr h="29116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1"/>
                          </a:solidFill>
                          <a:latin typeface="Montserrat" panose="00000500000000000000" pitchFamily="2" charset="0"/>
                        </a:rPr>
                        <a:t>Equal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96986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24F9E0E-9C9A-9362-483B-C200B9D7055C}"/>
              </a:ext>
            </a:extLst>
          </p:cNvPr>
          <p:cNvSpPr txBox="1"/>
          <p:nvPr/>
        </p:nvSpPr>
        <p:spPr>
          <a:xfrm>
            <a:off x="1131376" y="4299275"/>
            <a:ext cx="405271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Montserrat" panose="00000500000000000000" pitchFamily="2" charset="0"/>
              </a:rPr>
              <a:t>Example: module ALU(input logic A, B,</a:t>
            </a:r>
          </a:p>
          <a:p>
            <a:r>
              <a:rPr lang="en-US">
                <a:solidFill>
                  <a:schemeClr val="accent1"/>
                </a:solidFill>
                <a:latin typeface="Montserrat" panose="00000500000000000000" pitchFamily="2" charset="0"/>
              </a:rPr>
              <a:t>                                     input logic [2:0] opcode,</a:t>
            </a:r>
          </a:p>
          <a:p>
            <a:r>
              <a:rPr lang="en-US">
                <a:solidFill>
                  <a:schemeClr val="accent1"/>
                </a:solidFill>
                <a:latin typeface="Montserrat" panose="00000500000000000000" pitchFamily="2" charset="0"/>
              </a:rPr>
              <a:t>                                     output logic out);</a:t>
            </a:r>
          </a:p>
        </p:txBody>
      </p:sp>
    </p:spTree>
    <p:extLst>
      <p:ext uri="{BB962C8B-B14F-4D97-AF65-F5344CB8AC3E}">
        <p14:creationId xmlns:p14="http://schemas.microsoft.com/office/powerpoint/2010/main" val="3653979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D930E-49D9-3285-FE43-1BBDA6411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61" y="381249"/>
            <a:ext cx="7738200" cy="572700"/>
          </a:xfrm>
        </p:spPr>
        <p:txBody>
          <a:bodyPr/>
          <a:lstStyle/>
          <a:p>
            <a:r>
              <a:rPr lang="en-US" dirty="0"/>
              <a:t>Exercise 3: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52393-B6F2-C934-DB4C-D75BC2E590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925" y="1057150"/>
            <a:ext cx="7738200" cy="869806"/>
          </a:xfrm>
        </p:spPr>
        <p:txBody>
          <a:bodyPr/>
          <a:lstStyle/>
          <a:p>
            <a:pPr marL="180975" indent="-41275"/>
            <a:r>
              <a:rPr lang="en-US" dirty="0"/>
              <a:t>Design a seven segment decoder using </a:t>
            </a:r>
            <a:r>
              <a:rPr lang="en-US" dirty="0" err="1"/>
              <a:t>always_comb</a:t>
            </a:r>
            <a:r>
              <a:rPr lang="en-US" dirty="0"/>
              <a:t> statement and case structure in </a:t>
            </a:r>
            <a:r>
              <a:rPr lang="en-US" dirty="0" err="1"/>
              <a:t>SystemVerilog</a:t>
            </a:r>
            <a:r>
              <a:rPr lang="en-US" dirty="0"/>
              <a:t>, simulate on </a:t>
            </a:r>
            <a:r>
              <a:rPr lang="en-US" dirty="0" err="1"/>
              <a:t>ModelSim</a:t>
            </a:r>
            <a:r>
              <a:rPr lang="en-US" dirty="0"/>
              <a:t> and test operations of design </a:t>
            </a:r>
            <a:r>
              <a:rPr lang="en-US"/>
              <a:t>in STEP MAX-10 </a:t>
            </a:r>
            <a:r>
              <a:rPr lang="en-US" dirty="0"/>
              <a:t>board.</a:t>
            </a:r>
          </a:p>
          <a:p>
            <a:pPr marL="180975" indent="-41275"/>
            <a:r>
              <a:rPr lang="en-US" i="1" dirty="0"/>
              <a:t>Hint:</a:t>
            </a:r>
            <a:r>
              <a:rPr lang="en-US" dirty="0"/>
              <a:t> using </a:t>
            </a:r>
            <a:r>
              <a:rPr lang="en-US" dirty="0" err="1"/>
              <a:t>always_comb</a:t>
            </a:r>
            <a:r>
              <a:rPr lang="en-US" dirty="0"/>
              <a:t> statement and case 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B51863-CD91-BCB3-D100-3CB38C41F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828" y="1699963"/>
            <a:ext cx="6429375" cy="14001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6E1C71-4578-E7E5-5DFA-426A89B24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911" y="3037710"/>
            <a:ext cx="3088048" cy="21593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4977AE-14A7-B162-202A-5FB5BE47F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7761" y="2400051"/>
            <a:ext cx="20574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571577"/>
      </p:ext>
    </p:extLst>
  </p:cSld>
  <p:clrMapOvr>
    <a:masterClrMapping/>
  </p:clrMapOvr>
</p:sld>
</file>

<file path=ppt/theme/theme1.xml><?xml version="1.0" encoding="utf-8"?>
<a:theme xmlns:a="http://schemas.openxmlformats.org/drawingml/2006/main" name="Livine Meeting XL by Slidesgo">
  <a:themeElements>
    <a:clrScheme name="Simple Light">
      <a:dk1>
        <a:srgbClr val="FFFFFF"/>
      </a:dk1>
      <a:lt1>
        <a:srgbClr val="FFFFFF"/>
      </a:lt1>
      <a:dk2>
        <a:srgbClr val="595959"/>
      </a:dk2>
      <a:lt2>
        <a:srgbClr val="EEEEEE"/>
      </a:lt2>
      <a:accent1>
        <a:srgbClr val="27316F"/>
      </a:accent1>
      <a:accent2>
        <a:srgbClr val="75C4C0"/>
      </a:accent2>
      <a:accent3>
        <a:srgbClr val="FFC800"/>
      </a:accent3>
      <a:accent4>
        <a:srgbClr val="FFFFFF"/>
      </a:accent4>
      <a:accent5>
        <a:srgbClr val="C2C2C2"/>
      </a:accent5>
      <a:accent6>
        <a:srgbClr val="F2F2F2"/>
      </a:accent6>
      <a:hlink>
        <a:srgbClr val="27316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8265</TotalTime>
  <Words>1274</Words>
  <Application>Microsoft Office PowerPoint</Application>
  <PresentationFormat>On-screen Show (16:9)</PresentationFormat>
  <Paragraphs>203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Montserrat</vt:lpstr>
      <vt:lpstr>Consolas</vt:lpstr>
      <vt:lpstr>Livine Meeting XL by Slidesgo</vt:lpstr>
      <vt:lpstr>Lab 4: Introduction to hardware description language (cont)</vt:lpstr>
      <vt:lpstr>Assignments </vt:lpstr>
      <vt:lpstr>Compare between types of assignments</vt:lpstr>
      <vt:lpstr>Always statement</vt:lpstr>
      <vt:lpstr>Example on fulladder</vt:lpstr>
      <vt:lpstr>Packed array and unpacked array</vt:lpstr>
      <vt:lpstr>SystemVerilog numbers</vt:lpstr>
      <vt:lpstr>If-else statement</vt:lpstr>
      <vt:lpstr>Case statement</vt:lpstr>
      <vt:lpstr>Exercise 1:</vt:lpstr>
      <vt:lpstr>Exercise 1:</vt:lpstr>
      <vt:lpstr>Exercise 2:</vt:lpstr>
      <vt:lpstr>Exercise 3: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SOLUTION</dc:title>
  <dc:creator>Minh Ngoc Duong</dc:creator>
  <cp:lastModifiedBy>Minh Đình</cp:lastModifiedBy>
  <cp:revision>64</cp:revision>
  <dcterms:modified xsi:type="dcterms:W3CDTF">2025-12-02T00:38:00Z</dcterms:modified>
</cp:coreProperties>
</file>