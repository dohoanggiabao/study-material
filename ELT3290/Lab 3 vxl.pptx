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1" r:id="rId1"/>
  </p:sldMasterIdLst>
  <p:notesMasterIdLst>
    <p:notesMasterId r:id="rId8"/>
  </p:notesMasterIdLst>
  <p:sldIdLst>
    <p:sldId id="256" r:id="rId2"/>
    <p:sldId id="370" r:id="rId3"/>
    <p:sldId id="371" r:id="rId4"/>
    <p:sldId id="367" r:id="rId5"/>
    <p:sldId id="368" r:id="rId6"/>
    <p:sldId id="369" r:id="rId7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9"/>
      <p:bold r:id="rId10"/>
      <p:italic r:id="rId11"/>
      <p:boldItalic r:id="rId12"/>
    </p:embeddedFont>
    <p:embeddedFont>
      <p:font typeface="Montserrat" panose="00000500000000000000" pitchFamily="2" charset="0"/>
      <p:regular r:id="rId13"/>
      <p:bold r:id="rId14"/>
      <p:italic r:id="rId15"/>
      <p:bold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971DDEE-25E1-4FD0-9271-24F5402C3206}">
  <a:tblStyle styleId="{D971DDEE-25E1-4FD0-9271-24F5402C320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9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26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0" name="Google Shape;47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 rot="5400000">
            <a:off x="-1515884" y="-1719378"/>
            <a:ext cx="3679200" cy="3679200"/>
          </a:xfrm>
          <a:prstGeom prst="blockArc">
            <a:avLst>
              <a:gd name="adj1" fmla="val 15904124"/>
              <a:gd name="adj2" fmla="val 722519"/>
              <a:gd name="adj3" fmla="val 7278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 rot="10800000">
            <a:off x="708000" y="399750"/>
            <a:ext cx="7728000" cy="4344000"/>
          </a:xfrm>
          <a:prstGeom prst="round1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rot="-2175913">
            <a:off x="6501213" y="3908853"/>
            <a:ext cx="1705595" cy="1705595"/>
          </a:xfrm>
          <a:prstGeom prst="blockArc">
            <a:avLst>
              <a:gd name="adj1" fmla="val 13003178"/>
              <a:gd name="adj2" fmla="val 2121832"/>
              <a:gd name="adj3" fmla="val 25028"/>
            </a:avLst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/>
          <p:nvPr/>
        </p:nvSpPr>
        <p:spPr>
          <a:xfrm>
            <a:off x="1355650" y="744575"/>
            <a:ext cx="6261600" cy="23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800" b="1">
              <a:solidFill>
                <a:srgbClr val="27316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" name="Google Shape;13;p2"/>
          <p:cNvSpPr txBox="1"/>
          <p:nvPr/>
        </p:nvSpPr>
        <p:spPr>
          <a:xfrm>
            <a:off x="1355650" y="3396875"/>
            <a:ext cx="4048500" cy="53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7316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" name="Google Shape;14;p2"/>
          <p:cNvSpPr txBox="1"/>
          <p:nvPr/>
        </p:nvSpPr>
        <p:spPr>
          <a:xfrm>
            <a:off x="1080000" y="2834125"/>
            <a:ext cx="6840000" cy="14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7316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1441200" y="1455663"/>
            <a:ext cx="6261600" cy="136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solidFill>
                  <a:schemeClr val="accen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ubTitle" idx="1"/>
          </p:nvPr>
        </p:nvSpPr>
        <p:spPr>
          <a:xfrm>
            <a:off x="2649875" y="3207913"/>
            <a:ext cx="3823800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 rot="10800000">
            <a:off x="7843922" y="-1058801"/>
            <a:ext cx="2481900" cy="2481900"/>
          </a:xfrm>
          <a:prstGeom prst="blockArc">
            <a:avLst>
              <a:gd name="adj1" fmla="val 15904124"/>
              <a:gd name="adj2" fmla="val 722519"/>
              <a:gd name="adj3" fmla="val 7278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-154350" y="389075"/>
            <a:ext cx="9452700" cy="661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4"/>
          <p:cNvSpPr/>
          <p:nvPr/>
        </p:nvSpPr>
        <p:spPr>
          <a:xfrm rot="4458820">
            <a:off x="-1488663" y="4124021"/>
            <a:ext cx="2387832" cy="2387832"/>
          </a:xfrm>
          <a:prstGeom prst="blockArc">
            <a:avLst>
              <a:gd name="adj1" fmla="val 12582103"/>
              <a:gd name="adj2" fmla="val 16685375"/>
              <a:gd name="adj3" fmla="val 10255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4"/>
          <p:cNvSpPr txBox="1"/>
          <p:nvPr/>
        </p:nvSpPr>
        <p:spPr>
          <a:xfrm>
            <a:off x="909825" y="1507250"/>
            <a:ext cx="7315200" cy="335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endParaRPr>
              <a:solidFill>
                <a:srgbClr val="27316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" name="Google Shape;31;p4"/>
          <p:cNvSpPr txBox="1"/>
          <p:nvPr/>
        </p:nvSpPr>
        <p:spPr>
          <a:xfrm>
            <a:off x="1094125" y="541475"/>
            <a:ext cx="6825900" cy="7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4125" y="434070"/>
            <a:ext cx="773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subTitle" idx="1"/>
          </p:nvPr>
        </p:nvSpPr>
        <p:spPr>
          <a:xfrm>
            <a:off x="702925" y="1057150"/>
            <a:ext cx="7738200" cy="5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chemeClr val="dk1"/>
              </a:solidFill>
            </a:endParaRPr>
          </a:p>
        </p:txBody>
      </p:sp>
      <p:sp>
        <p:nvSpPr>
          <p:cNvPr id="60" name="Google Shape;60;p9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000">
                <a:solidFill>
                  <a:srgbClr val="595959"/>
                </a:solidFill>
              </a:rPr>
              <a:t>‹#›</a:t>
            </a:fld>
            <a:endParaRPr sz="1000">
              <a:solidFill>
                <a:schemeClr val="dk2"/>
              </a:solidFill>
            </a:endParaRPr>
          </a:p>
        </p:txBody>
      </p:sp>
      <p:sp>
        <p:nvSpPr>
          <p:cNvPr id="61" name="Google Shape;61;p9"/>
          <p:cNvSpPr/>
          <p:nvPr/>
        </p:nvSpPr>
        <p:spPr>
          <a:xfrm rot="-900094">
            <a:off x="3798381" y="4368678"/>
            <a:ext cx="1783690" cy="1783980"/>
          </a:xfrm>
          <a:prstGeom prst="blockArc">
            <a:avLst>
              <a:gd name="adj1" fmla="val 12085351"/>
              <a:gd name="adj2" fmla="val 16819483"/>
              <a:gd name="adj3" fmla="val 1755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9"/>
          <p:cNvSpPr/>
          <p:nvPr/>
        </p:nvSpPr>
        <p:spPr>
          <a:xfrm>
            <a:off x="4572000" y="-73925"/>
            <a:ext cx="4572000" cy="5308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9"/>
          <p:cNvSpPr txBox="1"/>
          <p:nvPr/>
        </p:nvSpPr>
        <p:spPr>
          <a:xfrm>
            <a:off x="5298300" y="2567075"/>
            <a:ext cx="31194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27316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4" name="Google Shape;64;p9"/>
          <p:cNvSpPr txBox="1"/>
          <p:nvPr/>
        </p:nvSpPr>
        <p:spPr>
          <a:xfrm>
            <a:off x="5298300" y="4049375"/>
            <a:ext cx="31194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7316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5" name="Google Shape;65;p9"/>
          <p:cNvSpPr txBox="1"/>
          <p:nvPr/>
        </p:nvSpPr>
        <p:spPr>
          <a:xfrm>
            <a:off x="5208725" y="4049375"/>
            <a:ext cx="31194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" name="Google Shape;66;p9"/>
          <p:cNvSpPr txBox="1"/>
          <p:nvPr/>
        </p:nvSpPr>
        <p:spPr>
          <a:xfrm>
            <a:off x="5387850" y="3299075"/>
            <a:ext cx="3119400" cy="7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5021275" y="810000"/>
            <a:ext cx="3549600" cy="385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602400" y="862850"/>
            <a:ext cx="3549600" cy="318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4_1_1_1_1_2">
    <p:bg>
      <p:bgPr>
        <a:solidFill>
          <a:schemeClr val="accent2"/>
        </a:soli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●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○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■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●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○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■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●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○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■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5" r:id="rId3"/>
    <p:sldLayoutId id="2147483658" r:id="rId4"/>
    <p:sldLayoutId id="2147483697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57"/>
          <p:cNvSpPr txBox="1">
            <a:spLocks noGrp="1"/>
          </p:cNvSpPr>
          <p:nvPr>
            <p:ph type="title"/>
          </p:nvPr>
        </p:nvSpPr>
        <p:spPr>
          <a:xfrm>
            <a:off x="771525" y="1691969"/>
            <a:ext cx="7282229" cy="136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/>
              <a:t>Lab 3: Introduction to hardware description language (</a:t>
            </a:r>
            <a:r>
              <a:rPr lang="en-US" sz="3200" dirty="0" err="1"/>
              <a:t>cont</a:t>
            </a:r>
            <a:r>
              <a:rPr lang="en-US" sz="3200" dirty="0"/>
              <a:t>)</a:t>
            </a:r>
            <a:endParaRPr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2110F-EF60-EE1F-2B43-FB031ACAB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Structural modeling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99BA49-4176-5C2C-B667-66A7E731A3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981" y="1124309"/>
            <a:ext cx="8218933" cy="505200"/>
          </a:xfrm>
        </p:spPr>
        <p:txBody>
          <a:bodyPr/>
          <a:lstStyle/>
          <a:p>
            <a:r>
              <a:rPr lang="en-US" dirty="0"/>
              <a:t>- Previous section discuss behavioral modeling</a:t>
            </a:r>
          </a:p>
          <a:p>
            <a:r>
              <a:rPr lang="en-US" dirty="0"/>
              <a:t>- Behavioral modeling: describing a module in terms of relationships between inputs and outputs</a:t>
            </a:r>
          </a:p>
          <a:p>
            <a:r>
              <a:rPr lang="en-US" dirty="0"/>
              <a:t>- Complex circuit  -&gt; Using structural modeling</a:t>
            </a:r>
          </a:p>
          <a:p>
            <a:r>
              <a:rPr lang="en-US" dirty="0"/>
              <a:t>- </a:t>
            </a:r>
            <a:r>
              <a:rPr lang="en-US" dirty="0" err="1"/>
              <a:t>Strutural</a:t>
            </a:r>
            <a:r>
              <a:rPr lang="en-US" dirty="0"/>
              <a:t> modeling: describing a module in terms of how it is combined from simpler module.</a:t>
            </a:r>
          </a:p>
          <a:p>
            <a:endParaRPr lang="en-US" dirty="0"/>
          </a:p>
          <a:p>
            <a:r>
              <a:rPr lang="en-US" dirty="0"/>
              <a:t>Ex:  Design a 4: 1 multiplexer using 2:1 multiplexer</a:t>
            </a:r>
          </a:p>
          <a:p>
            <a:endParaRPr lang="en-US" dirty="0"/>
          </a:p>
          <a:p>
            <a:r>
              <a:rPr lang="en-US" dirty="0"/>
              <a:t> 4:1 multiplexer:</a:t>
            </a:r>
          </a:p>
          <a:p>
            <a:r>
              <a:rPr lang="en-US" dirty="0"/>
              <a:t> 4 data input: in1, in2, in3, in4</a:t>
            </a:r>
          </a:p>
          <a:p>
            <a:r>
              <a:rPr lang="en-US" dirty="0"/>
              <a:t> 2 control input: ctr1, ctr2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=&gt; Write a 4: 1 multiplexer using 3    2:1 multiplexer.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5CBFBCC-D887-C6F0-75DA-2C4AF7DD46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621367"/>
              </p:ext>
            </p:extLst>
          </p:nvPr>
        </p:nvGraphicFramePr>
        <p:xfrm>
          <a:off x="573437" y="3281012"/>
          <a:ext cx="7909302" cy="1066800"/>
        </p:xfrm>
        <a:graphic>
          <a:graphicData uri="http://schemas.openxmlformats.org/drawingml/2006/table">
            <a:tbl>
              <a:tblPr firstRow="1" bandRow="1">
                <a:tableStyleId>{D971DDEE-25E1-4FD0-9271-24F5402C3206}</a:tableStyleId>
              </a:tblPr>
              <a:tblGrid>
                <a:gridCol w="4624805">
                  <a:extLst>
                    <a:ext uri="{9D8B030D-6E8A-4147-A177-3AD203B41FA5}">
                      <a16:colId xmlns:a16="http://schemas.microsoft.com/office/drawing/2014/main" val="4197650600"/>
                    </a:ext>
                  </a:extLst>
                </a:gridCol>
                <a:gridCol w="3284497">
                  <a:extLst>
                    <a:ext uri="{9D8B030D-6E8A-4147-A177-3AD203B41FA5}">
                      <a16:colId xmlns:a16="http://schemas.microsoft.com/office/drawing/2014/main" val="1044124472"/>
                    </a:ext>
                  </a:extLst>
                </a:gridCol>
              </a:tblGrid>
              <a:tr h="772064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module mux4(input logic in1,in2,in3,in4,</a:t>
                      </a:r>
                    </a:p>
                    <a:p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            input logic ctr1, ctr2,</a:t>
                      </a:r>
                    </a:p>
                    <a:p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            output logic out);</a:t>
                      </a:r>
                    </a:p>
                    <a:p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assign out = ctr1 ? (ctr2 ? in4 : in3) : (ctr2 ? in2 : in1);</a:t>
                      </a:r>
                    </a:p>
                    <a:p>
                      <a:r>
                        <a:rPr lang="en-US" sz="1000" dirty="0" err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endmodule</a:t>
                      </a:r>
                      <a:endParaRPr lang="en-US" sz="1000" dirty="0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module   mux2(input logic in1, in2, ctr</a:t>
                      </a:r>
                    </a:p>
                    <a:p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                     output logic out);</a:t>
                      </a:r>
                    </a:p>
                    <a:p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        </a:t>
                      </a:r>
                    </a:p>
                    <a:p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         assign out = ctr ? in1 : in2;</a:t>
                      </a:r>
                    </a:p>
                    <a:p>
                      <a:r>
                        <a:rPr lang="en-US" sz="1000" dirty="0" err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endmodule</a:t>
                      </a:r>
                      <a:endParaRPr lang="en-US" sz="1000" dirty="0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260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278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CCAD5-A3F2-2D91-1E43-ED57E959D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Exercise 1: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75C2D3-3AF0-4914-BDAB-6D8BD80E6E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180975" indent="-41275"/>
            <a:r>
              <a:rPr lang="en-US" dirty="0"/>
              <a:t>Design a 4:1 multiplexer using 2:1 multiplexer in </a:t>
            </a:r>
            <a:r>
              <a:rPr lang="en-US" dirty="0" err="1"/>
              <a:t>SystemVerilog</a:t>
            </a:r>
            <a:r>
              <a:rPr lang="en-US" dirty="0"/>
              <a:t>, simulate on </a:t>
            </a:r>
            <a:r>
              <a:rPr lang="en-US" dirty="0" err="1"/>
              <a:t>ModelSim</a:t>
            </a:r>
            <a:r>
              <a:rPr lang="en-US" dirty="0"/>
              <a:t> and test operations of design in DE-10 board.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919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00DA3-5AFA-515C-33E8-DD3BC9FED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variables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D0F90C-B513-B03B-4F2E-B7D2C4857A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695" y="1057149"/>
            <a:ext cx="8624512" cy="3948804"/>
          </a:xfrm>
        </p:spPr>
        <p:txBody>
          <a:bodyPr/>
          <a:lstStyle/>
          <a:p>
            <a:r>
              <a:rPr lang="en-US" dirty="0"/>
              <a:t>Design complex circuit with complex function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en-US" dirty="0"/>
              <a:t>Break a function into intermediate steps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en-US" dirty="0"/>
              <a:t>Using </a:t>
            </a:r>
            <a:r>
              <a:rPr lang="en-US" b="1" dirty="0"/>
              <a:t>internal variables </a:t>
            </a:r>
          </a:p>
          <a:p>
            <a:endParaRPr lang="en-US" dirty="0"/>
          </a:p>
          <a:p>
            <a:pPr marL="180975" indent="-41275"/>
            <a:r>
              <a:rPr lang="en-US" dirty="0"/>
              <a:t>Internal variables are neither inputs nor outputs but are used only internal to module; similar to local   variables in programming languages</a:t>
            </a:r>
          </a:p>
          <a:p>
            <a:pPr marL="180975" indent="-41275"/>
            <a:endParaRPr lang="en-US" dirty="0"/>
          </a:p>
          <a:p>
            <a:pPr marL="180975" indent="-41275"/>
            <a:r>
              <a:rPr lang="en-US" dirty="0"/>
              <a:t>Example: Full-adder </a:t>
            </a:r>
          </a:p>
          <a:p>
            <a:pPr marL="180975" indent="-41275"/>
            <a:r>
              <a:rPr lang="en-US" dirty="0"/>
              <a:t> 3 inputs: A, B, Cin</a:t>
            </a:r>
          </a:p>
          <a:p>
            <a:pPr marL="180975" indent="-41275"/>
            <a:r>
              <a:rPr lang="en-US" dirty="0"/>
              <a:t> 2 outputs:  Sum, Carry</a:t>
            </a:r>
          </a:p>
          <a:p>
            <a:pPr marL="180975" indent="-41275"/>
            <a:endParaRPr lang="en-US" dirty="0"/>
          </a:p>
          <a:p>
            <a:pPr marL="180975" indent="-41275"/>
            <a:r>
              <a:rPr lang="en-US" dirty="0"/>
              <a:t>Boolean equations:</a:t>
            </a:r>
          </a:p>
          <a:p>
            <a:pPr marL="180975" indent="-41275"/>
            <a:r>
              <a:rPr lang="en-US" dirty="0"/>
              <a:t> </a:t>
            </a:r>
          </a:p>
          <a:p>
            <a:pPr marL="180975" indent="-41275"/>
            <a:endParaRPr lang="en-US" dirty="0"/>
          </a:p>
          <a:p>
            <a:pPr marL="180975" indent="-41275"/>
            <a:r>
              <a:rPr lang="en-US" dirty="0"/>
              <a:t>Define intermediate signals P and G:</a:t>
            </a:r>
          </a:p>
          <a:p>
            <a:pPr marL="180975" indent="-41275"/>
            <a:endParaRPr lang="en-US" dirty="0"/>
          </a:p>
          <a:p>
            <a:pPr marL="180975" indent="-41275"/>
            <a:endParaRPr lang="en-US" dirty="0"/>
          </a:p>
          <a:p>
            <a:pPr marL="180975" indent="-41275"/>
            <a:endParaRPr lang="en-US" dirty="0"/>
          </a:p>
          <a:p>
            <a:r>
              <a:rPr lang="en-US" dirty="0"/>
              <a:t>Rewrite full adder as follow:</a:t>
            </a:r>
          </a:p>
          <a:p>
            <a:endParaRPr lang="en-US" dirty="0"/>
          </a:p>
          <a:p>
            <a:r>
              <a:rPr lang="en-US" dirty="0"/>
              <a:t>                                                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C11CA4D-72D6-7F5B-DDE6-4F2534C35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3495" y="2264691"/>
            <a:ext cx="2031569" cy="25018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D774D73-F607-38E2-87E6-54F7076051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448" y="3181186"/>
            <a:ext cx="1800467" cy="49393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CBD3387-254E-BA2A-431D-19D9E85C54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5799" y="3932142"/>
            <a:ext cx="902534" cy="38961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4D8FC6D-2EB0-54C7-60A1-D79B0C353C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22448" y="4647302"/>
            <a:ext cx="1094972" cy="44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119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00DA3-5AFA-515C-33E8-DD3BC9FED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variables (</a:t>
            </a:r>
            <a:r>
              <a:rPr lang="en-US" dirty="0" err="1"/>
              <a:t>cont</a:t>
            </a:r>
            <a:r>
              <a:rPr lang="en-US" dirty="0"/>
              <a:t>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D0F90C-B513-B03B-4F2E-B7D2C4857A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695" y="1057149"/>
            <a:ext cx="8624512" cy="3948804"/>
          </a:xfrm>
        </p:spPr>
        <p:txBody>
          <a:bodyPr/>
          <a:lstStyle/>
          <a:p>
            <a:pPr marL="180975" indent="-41275"/>
            <a:r>
              <a:rPr lang="en-US" dirty="0"/>
              <a:t>Example: Full-adder </a:t>
            </a:r>
          </a:p>
          <a:p>
            <a:pPr marL="180975" indent="-41275"/>
            <a:r>
              <a:rPr lang="en-US" dirty="0"/>
              <a:t> 3 inputs: A, B, Cin</a:t>
            </a:r>
          </a:p>
          <a:p>
            <a:pPr marL="180975" indent="-41275"/>
            <a:r>
              <a:rPr lang="en-US" dirty="0"/>
              <a:t> 2 outputs:  Sum, Carry</a:t>
            </a:r>
          </a:p>
          <a:p>
            <a:pPr marL="180975" indent="-41275"/>
            <a:endParaRPr lang="en-US" dirty="0"/>
          </a:p>
          <a:p>
            <a:pPr marL="180975" indent="-41275"/>
            <a:r>
              <a:rPr lang="en-US" dirty="0"/>
              <a:t>Boolean equations:</a:t>
            </a:r>
          </a:p>
          <a:p>
            <a:pPr marL="180975" indent="-41275"/>
            <a:r>
              <a:rPr lang="en-US" dirty="0"/>
              <a:t> </a:t>
            </a:r>
          </a:p>
          <a:p>
            <a:pPr marL="180975" indent="-41275"/>
            <a:endParaRPr lang="en-US" dirty="0"/>
          </a:p>
          <a:p>
            <a:pPr marL="180975" indent="-41275"/>
            <a:r>
              <a:rPr lang="en-US" dirty="0"/>
              <a:t>Define intermediate signals P and G:</a:t>
            </a:r>
          </a:p>
          <a:p>
            <a:pPr marL="180975" indent="-41275"/>
            <a:endParaRPr lang="en-US" dirty="0"/>
          </a:p>
          <a:p>
            <a:pPr marL="180975" indent="-41275"/>
            <a:endParaRPr lang="en-US" dirty="0"/>
          </a:p>
          <a:p>
            <a:pPr marL="180975" indent="-41275"/>
            <a:endParaRPr lang="en-US" dirty="0"/>
          </a:p>
          <a:p>
            <a:r>
              <a:rPr lang="en-US" dirty="0"/>
              <a:t>Rewrite full adder as follow:</a:t>
            </a:r>
          </a:p>
          <a:p>
            <a:endParaRPr lang="en-US" dirty="0"/>
          </a:p>
          <a:p>
            <a:r>
              <a:rPr lang="en-US" dirty="0"/>
              <a:t>                                                 </a:t>
            </a:r>
          </a:p>
          <a:p>
            <a:endParaRPr lang="en-US" dirty="0"/>
          </a:p>
          <a:p>
            <a:r>
              <a:rPr lang="en-US" dirty="0"/>
              <a:t>Using internal variables:</a:t>
            </a:r>
          </a:p>
          <a:p>
            <a:r>
              <a:rPr lang="en-US" dirty="0"/>
              <a:t>- Declaration</a:t>
            </a:r>
          </a:p>
          <a:p>
            <a:r>
              <a:rPr lang="en-US" dirty="0"/>
              <a:t>           Ex: logic P;</a:t>
            </a:r>
          </a:p>
          <a:p>
            <a:r>
              <a:rPr lang="en-US" dirty="0"/>
              <a:t>- Assignment</a:t>
            </a:r>
          </a:p>
          <a:p>
            <a:r>
              <a:rPr lang="en-US" dirty="0"/>
              <a:t>           Ex:  assign P = A ^ B;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C11CA4D-72D6-7F5B-DDE6-4F2534C35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503" y="1320830"/>
            <a:ext cx="2031569" cy="25018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D774D73-F607-38E2-87E6-54F7076051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2109" y="1875843"/>
            <a:ext cx="1800467" cy="49393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CBD3387-254E-BA2A-431D-19D9E85C54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9239" y="2641932"/>
            <a:ext cx="902534" cy="38961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4D8FC6D-2EB0-54C7-60A1-D79B0C353C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3020" y="3391939"/>
            <a:ext cx="1094972" cy="44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192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E8826-5D64-63BB-A014-DFD58279D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Exercise 2: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23BE51-3ACD-E749-58A1-1DEB6E58E1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180975" indent="-41275"/>
            <a:r>
              <a:rPr lang="en-US" dirty="0"/>
              <a:t>Design a full adder using </a:t>
            </a:r>
            <a:r>
              <a:rPr lang="en-US" i="1" dirty="0"/>
              <a:t>internal </a:t>
            </a:r>
            <a:r>
              <a:rPr lang="en-US" i="1"/>
              <a:t>variables </a:t>
            </a:r>
            <a:r>
              <a:rPr lang="en-US"/>
              <a:t>and </a:t>
            </a:r>
            <a:r>
              <a:rPr lang="en-US" i="1"/>
              <a:t>continuous assignment statement </a:t>
            </a:r>
            <a:r>
              <a:rPr lang="en-US"/>
              <a:t>in </a:t>
            </a:r>
            <a:r>
              <a:rPr lang="en-US" dirty="0" err="1"/>
              <a:t>SystemVerilog</a:t>
            </a:r>
            <a:r>
              <a:rPr lang="en-US" dirty="0"/>
              <a:t>, simulate on </a:t>
            </a:r>
            <a:r>
              <a:rPr lang="en-US" dirty="0" err="1"/>
              <a:t>ModelSim</a:t>
            </a:r>
            <a:r>
              <a:rPr lang="en-US" dirty="0"/>
              <a:t> and test operations of design </a:t>
            </a:r>
            <a:r>
              <a:rPr lang="en-US"/>
              <a:t>in STEP MAX-10 </a:t>
            </a:r>
            <a:r>
              <a:rPr lang="en-US" dirty="0"/>
              <a:t>board.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1040520"/>
      </p:ext>
    </p:extLst>
  </p:cSld>
  <p:clrMapOvr>
    <a:masterClrMapping/>
  </p:clrMapOvr>
</p:sld>
</file>

<file path=ppt/theme/theme1.xml><?xml version="1.0" encoding="utf-8"?>
<a:theme xmlns:a="http://schemas.openxmlformats.org/drawingml/2006/main" name="Livine Meeting XL by Slidesgo">
  <a:themeElements>
    <a:clrScheme name="Simple Light">
      <a:dk1>
        <a:srgbClr val="FFFFFF"/>
      </a:dk1>
      <a:lt1>
        <a:srgbClr val="FFFFFF"/>
      </a:lt1>
      <a:dk2>
        <a:srgbClr val="595959"/>
      </a:dk2>
      <a:lt2>
        <a:srgbClr val="EEEEEE"/>
      </a:lt2>
      <a:accent1>
        <a:srgbClr val="27316F"/>
      </a:accent1>
      <a:accent2>
        <a:srgbClr val="75C4C0"/>
      </a:accent2>
      <a:accent3>
        <a:srgbClr val="FFC800"/>
      </a:accent3>
      <a:accent4>
        <a:srgbClr val="FFFFFF"/>
      </a:accent4>
      <a:accent5>
        <a:srgbClr val="C2C2C2"/>
      </a:accent5>
      <a:accent6>
        <a:srgbClr val="F2F2F2"/>
      </a:accent6>
      <a:hlink>
        <a:srgbClr val="27316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7118</TotalTime>
  <Words>378</Words>
  <Application>Microsoft Office PowerPoint</Application>
  <PresentationFormat>On-screen Show (16:9)</PresentationFormat>
  <Paragraphs>79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Consolas</vt:lpstr>
      <vt:lpstr>Arial</vt:lpstr>
      <vt:lpstr>Montserrat</vt:lpstr>
      <vt:lpstr>Wingdings</vt:lpstr>
      <vt:lpstr>Livine Meeting XL by Slidesgo</vt:lpstr>
      <vt:lpstr>Lab 3: Introduction to hardware description language (cont)</vt:lpstr>
      <vt:lpstr>Structural modeling</vt:lpstr>
      <vt:lpstr>Exercise 1:</vt:lpstr>
      <vt:lpstr>Internal variables</vt:lpstr>
      <vt:lpstr>Internal variables (cont)</vt:lpstr>
      <vt:lpstr>Exercise 2: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SOLUTION</dc:title>
  <dc:creator>Minh Ngoc Duong</dc:creator>
  <cp:lastModifiedBy>Minh Ngọc Dương</cp:lastModifiedBy>
  <cp:revision>48</cp:revision>
  <dcterms:modified xsi:type="dcterms:W3CDTF">2024-09-30T17:43:23Z</dcterms:modified>
</cp:coreProperties>
</file>