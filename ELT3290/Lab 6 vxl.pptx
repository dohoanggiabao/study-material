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01" r:id="rId1"/>
  </p:sldMasterIdLst>
  <p:notesMasterIdLst>
    <p:notesMasterId r:id="rId17"/>
  </p:notesMasterIdLst>
  <p:sldIdLst>
    <p:sldId id="256" r:id="rId2"/>
    <p:sldId id="265" r:id="rId3"/>
    <p:sldId id="263" r:id="rId4"/>
    <p:sldId id="257" r:id="rId5"/>
    <p:sldId id="266" r:id="rId6"/>
    <p:sldId id="258" r:id="rId7"/>
    <p:sldId id="264" r:id="rId8"/>
    <p:sldId id="259" r:id="rId9"/>
    <p:sldId id="267" r:id="rId10"/>
    <p:sldId id="260" r:id="rId11"/>
    <p:sldId id="262" r:id="rId12"/>
    <p:sldId id="268" r:id="rId13"/>
    <p:sldId id="261" r:id="rId14"/>
    <p:sldId id="269" r:id="rId15"/>
    <p:sldId id="270" r:id="rId16"/>
  </p:sldIdLst>
  <p:sldSz cx="9144000" cy="5143500" type="screen16x9"/>
  <p:notesSz cx="6858000" cy="9144000"/>
  <p:embeddedFontLst>
    <p:embeddedFont>
      <p:font typeface="Montserrat" panose="00000500000000000000" pitchFamily="2" charset="0"/>
      <p:regular r:id="rId18"/>
      <p:bold r:id="rId19"/>
      <p:italic r:id="rId20"/>
      <p:boldItalic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971DDEE-25E1-4FD0-9271-24F5402C3206}">
  <a:tblStyle styleId="{D971DDEE-25E1-4FD0-9271-24F5402C3206}"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778" autoAdjust="0"/>
    <p:restoredTop sz="94660"/>
  </p:normalViewPr>
  <p:slideViewPr>
    <p:cSldViewPr snapToGrid="0">
      <p:cViewPr varScale="1">
        <p:scale>
          <a:sx n="123" d="100"/>
          <a:sy n="123" d="100"/>
        </p:scale>
        <p:origin x="308"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8"/>
        <p:cNvGrpSpPr/>
        <p:nvPr/>
      </p:nvGrpSpPr>
      <p:grpSpPr>
        <a:xfrm>
          <a:off x="0" y="0"/>
          <a:ext cx="0" cy="0"/>
          <a:chOff x="0" y="0"/>
          <a:chExt cx="0" cy="0"/>
        </a:xfrm>
      </p:grpSpPr>
      <p:sp>
        <p:nvSpPr>
          <p:cNvPr id="469" name="Google Shape;469;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0" name="Google Shape;470;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10ED68-D566-F1C3-AAD8-2EBEDBB58E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110415-9544-5F58-D095-79657A231D8F}"/>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5BED2A78-27D0-1B0C-FC72-225F6ABFB186}"/>
              </a:ext>
            </a:extLst>
          </p:cNvPr>
          <p:cNvSpPr>
            <a:spLocks noGrp="1"/>
          </p:cNvSpPr>
          <p:nvPr>
            <p:ph type="body" idx="1"/>
          </p:nvPr>
        </p:nvSpPr>
        <p:spPr/>
        <p:txBody>
          <a:bodyPr/>
          <a:lstStyle/>
          <a:p>
            <a:pPr marL="158750" indent="0">
              <a:buNone/>
            </a:pPr>
            <a:endParaRPr lang="en-US"/>
          </a:p>
        </p:txBody>
      </p:sp>
    </p:spTree>
    <p:extLst>
      <p:ext uri="{BB962C8B-B14F-4D97-AF65-F5344CB8AC3E}">
        <p14:creationId xmlns:p14="http://schemas.microsoft.com/office/powerpoint/2010/main" val="42557140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fa</a:t>
            </a:r>
          </a:p>
        </p:txBody>
      </p:sp>
    </p:spTree>
    <p:extLst>
      <p:ext uri="{BB962C8B-B14F-4D97-AF65-F5344CB8AC3E}">
        <p14:creationId xmlns:p14="http://schemas.microsoft.com/office/powerpoint/2010/main" val="28210057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4"/>
        <p:cNvGrpSpPr/>
        <p:nvPr/>
      </p:nvGrpSpPr>
      <p:grpSpPr>
        <a:xfrm>
          <a:off x="0" y="0"/>
          <a:ext cx="0" cy="0"/>
          <a:chOff x="0" y="0"/>
          <a:chExt cx="0" cy="0"/>
        </a:xfrm>
      </p:grpSpPr>
      <p:sp>
        <p:nvSpPr>
          <p:cNvPr id="475" name="Google Shape;475;g87664a200f_0_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6" name="Google Shape;476;g87664a200f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accent2"/>
        </a:solidFill>
        <a:effectLst/>
      </p:bgPr>
    </p:bg>
    <p:spTree>
      <p:nvGrpSpPr>
        <p:cNvPr id="1" name="Shape 8"/>
        <p:cNvGrpSpPr/>
        <p:nvPr/>
      </p:nvGrpSpPr>
      <p:grpSpPr>
        <a:xfrm>
          <a:off x="0" y="0"/>
          <a:ext cx="0" cy="0"/>
          <a:chOff x="0" y="0"/>
          <a:chExt cx="0" cy="0"/>
        </a:xfrm>
      </p:grpSpPr>
      <p:sp>
        <p:nvSpPr>
          <p:cNvPr id="9" name="Google Shape;9;p2"/>
          <p:cNvSpPr/>
          <p:nvPr/>
        </p:nvSpPr>
        <p:spPr>
          <a:xfrm rot="5400000">
            <a:off x="-1515884" y="-1719378"/>
            <a:ext cx="3679200" cy="3679200"/>
          </a:xfrm>
          <a:prstGeom prst="blockArc">
            <a:avLst>
              <a:gd name="adj1" fmla="val 15904124"/>
              <a:gd name="adj2" fmla="val 722519"/>
              <a:gd name="adj3" fmla="val 7278"/>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0;p2"/>
          <p:cNvSpPr/>
          <p:nvPr/>
        </p:nvSpPr>
        <p:spPr>
          <a:xfrm rot="10800000">
            <a:off x="708000" y="399750"/>
            <a:ext cx="7728000" cy="4344000"/>
          </a:xfrm>
          <a:prstGeom prst="round1Rect">
            <a:avLst>
              <a:gd name="adj" fmla="val 16667"/>
            </a:avLst>
          </a:prstGeom>
          <a:solidFill>
            <a:schemeClr val="lt2"/>
          </a:solid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endParaRPr/>
          </a:p>
        </p:txBody>
      </p:sp>
      <p:sp>
        <p:nvSpPr>
          <p:cNvPr id="11" name="Google Shape;11;p2"/>
          <p:cNvSpPr/>
          <p:nvPr/>
        </p:nvSpPr>
        <p:spPr>
          <a:xfrm rot="-2175913">
            <a:off x="6501213" y="3908853"/>
            <a:ext cx="1705595" cy="1705595"/>
          </a:xfrm>
          <a:prstGeom prst="blockArc">
            <a:avLst>
              <a:gd name="adj1" fmla="val 13003178"/>
              <a:gd name="adj2" fmla="val 2121832"/>
              <a:gd name="adj3" fmla="val 25028"/>
            </a:avLst>
          </a:prstGeom>
          <a:solidFill>
            <a:schemeClr val="accent5"/>
          </a:solid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endParaRPr/>
          </a:p>
        </p:txBody>
      </p:sp>
      <p:sp>
        <p:nvSpPr>
          <p:cNvPr id="12" name="Google Shape;12;p2"/>
          <p:cNvSpPr txBox="1"/>
          <p:nvPr/>
        </p:nvSpPr>
        <p:spPr>
          <a:xfrm>
            <a:off x="1355650" y="744575"/>
            <a:ext cx="6261600" cy="2395500"/>
          </a:xfrm>
          <a:prstGeom prst="rect">
            <a:avLst/>
          </a:prstGeom>
          <a:noFill/>
          <a:ln>
            <a:noFill/>
          </a:ln>
        </p:spPr>
        <p:txBody>
          <a:bodyPr spcFirstLastPara="1" wrap="square" lIns="91425" tIns="91425" rIns="91425" bIns="91425" anchor="b" anchorCtr="0">
            <a:noAutofit/>
          </a:bodyPr>
          <a:lstStyle/>
          <a:p>
            <a:pPr marL="0" lvl="0" indent="0" algn="ctr" rtl="0">
              <a:lnSpc>
                <a:spcPct val="100000"/>
              </a:lnSpc>
              <a:spcBef>
                <a:spcPts val="0"/>
              </a:spcBef>
              <a:spcAft>
                <a:spcPts val="0"/>
              </a:spcAft>
              <a:buNone/>
            </a:pPr>
            <a:endParaRPr sz="4800" b="1">
              <a:solidFill>
                <a:srgbClr val="27316F"/>
              </a:solidFill>
              <a:latin typeface="Montserrat"/>
              <a:ea typeface="Montserrat"/>
              <a:cs typeface="Montserrat"/>
              <a:sym typeface="Montserrat"/>
            </a:endParaRPr>
          </a:p>
        </p:txBody>
      </p:sp>
      <p:sp>
        <p:nvSpPr>
          <p:cNvPr id="13" name="Google Shape;13;p2"/>
          <p:cNvSpPr txBox="1"/>
          <p:nvPr/>
        </p:nvSpPr>
        <p:spPr>
          <a:xfrm>
            <a:off x="1355650" y="3396875"/>
            <a:ext cx="4048500" cy="5358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endParaRPr>
              <a:solidFill>
                <a:srgbClr val="27316F"/>
              </a:solidFill>
              <a:latin typeface="Montserrat"/>
              <a:ea typeface="Montserrat"/>
              <a:cs typeface="Montserrat"/>
              <a:sym typeface="Montserrat"/>
            </a:endParaRPr>
          </a:p>
        </p:txBody>
      </p:sp>
      <p:sp>
        <p:nvSpPr>
          <p:cNvPr id="14" name="Google Shape;14;p2"/>
          <p:cNvSpPr txBox="1"/>
          <p:nvPr/>
        </p:nvSpPr>
        <p:spPr>
          <a:xfrm>
            <a:off x="1080000" y="2834125"/>
            <a:ext cx="6840000" cy="14859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endParaRPr>
              <a:solidFill>
                <a:srgbClr val="27316F"/>
              </a:solidFill>
              <a:latin typeface="Montserrat"/>
              <a:ea typeface="Montserrat"/>
              <a:cs typeface="Montserrat"/>
              <a:sym typeface="Montserrat"/>
            </a:endParaRPr>
          </a:p>
        </p:txBody>
      </p:sp>
      <p:sp>
        <p:nvSpPr>
          <p:cNvPr id="15" name="Google Shape;15;p2"/>
          <p:cNvSpPr txBox="1">
            <a:spLocks noGrp="1"/>
          </p:cNvSpPr>
          <p:nvPr>
            <p:ph type="title"/>
          </p:nvPr>
        </p:nvSpPr>
        <p:spPr>
          <a:xfrm>
            <a:off x="1441200" y="1455663"/>
            <a:ext cx="6261600" cy="13620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None/>
              <a:defRPr sz="6000">
                <a:solidFill>
                  <a:schemeClr val="accent1"/>
                </a:solidFill>
              </a:defRPr>
            </a:lvl1pPr>
            <a:lvl2pPr lvl="1">
              <a:lnSpc>
                <a:spcPct val="100000"/>
              </a:lnSpc>
              <a:spcBef>
                <a:spcPts val="0"/>
              </a:spcBef>
              <a:spcAft>
                <a:spcPts val="0"/>
              </a:spcAft>
              <a:buNone/>
              <a:defRPr sz="6000"/>
            </a:lvl2pPr>
            <a:lvl3pPr lvl="2">
              <a:lnSpc>
                <a:spcPct val="100000"/>
              </a:lnSpc>
              <a:spcBef>
                <a:spcPts val="0"/>
              </a:spcBef>
              <a:spcAft>
                <a:spcPts val="0"/>
              </a:spcAft>
              <a:buNone/>
              <a:defRPr sz="6000"/>
            </a:lvl3pPr>
            <a:lvl4pPr lvl="3">
              <a:lnSpc>
                <a:spcPct val="100000"/>
              </a:lnSpc>
              <a:spcBef>
                <a:spcPts val="0"/>
              </a:spcBef>
              <a:spcAft>
                <a:spcPts val="0"/>
              </a:spcAft>
              <a:buNone/>
              <a:defRPr sz="6000"/>
            </a:lvl4pPr>
            <a:lvl5pPr lvl="4">
              <a:lnSpc>
                <a:spcPct val="100000"/>
              </a:lnSpc>
              <a:spcBef>
                <a:spcPts val="0"/>
              </a:spcBef>
              <a:spcAft>
                <a:spcPts val="0"/>
              </a:spcAft>
              <a:buNone/>
              <a:defRPr sz="6000"/>
            </a:lvl5pPr>
            <a:lvl6pPr lvl="5">
              <a:lnSpc>
                <a:spcPct val="100000"/>
              </a:lnSpc>
              <a:spcBef>
                <a:spcPts val="0"/>
              </a:spcBef>
              <a:spcAft>
                <a:spcPts val="0"/>
              </a:spcAft>
              <a:buNone/>
              <a:defRPr sz="6000"/>
            </a:lvl6pPr>
            <a:lvl7pPr lvl="6">
              <a:lnSpc>
                <a:spcPct val="100000"/>
              </a:lnSpc>
              <a:spcBef>
                <a:spcPts val="0"/>
              </a:spcBef>
              <a:spcAft>
                <a:spcPts val="0"/>
              </a:spcAft>
              <a:buNone/>
              <a:defRPr sz="6000"/>
            </a:lvl7pPr>
            <a:lvl8pPr lvl="7">
              <a:lnSpc>
                <a:spcPct val="100000"/>
              </a:lnSpc>
              <a:spcBef>
                <a:spcPts val="0"/>
              </a:spcBef>
              <a:spcAft>
                <a:spcPts val="0"/>
              </a:spcAft>
              <a:buNone/>
              <a:defRPr sz="6000"/>
            </a:lvl8pPr>
            <a:lvl9pPr lvl="8">
              <a:lnSpc>
                <a:spcPct val="100000"/>
              </a:lnSpc>
              <a:spcBef>
                <a:spcPts val="0"/>
              </a:spcBef>
              <a:spcAft>
                <a:spcPts val="0"/>
              </a:spcAft>
              <a:buNone/>
              <a:defRPr sz="6000"/>
            </a:lvl9pPr>
          </a:lstStyle>
          <a:p>
            <a:endParaRPr/>
          </a:p>
        </p:txBody>
      </p:sp>
      <p:sp>
        <p:nvSpPr>
          <p:cNvPr id="16" name="Google Shape;16;p2"/>
          <p:cNvSpPr txBox="1">
            <a:spLocks noGrp="1"/>
          </p:cNvSpPr>
          <p:nvPr>
            <p:ph type="subTitle" idx="1"/>
          </p:nvPr>
        </p:nvSpPr>
        <p:spPr>
          <a:xfrm>
            <a:off x="2649875" y="3207913"/>
            <a:ext cx="3823800" cy="6201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None/>
              <a:defRPr sz="2000"/>
            </a:lvl1pPr>
            <a:lvl2pPr lvl="1">
              <a:lnSpc>
                <a:spcPct val="100000"/>
              </a:lnSpc>
              <a:spcBef>
                <a:spcPts val="0"/>
              </a:spcBef>
              <a:spcAft>
                <a:spcPts val="0"/>
              </a:spcAft>
              <a:buNone/>
              <a:defRPr sz="2000"/>
            </a:lvl2pPr>
            <a:lvl3pPr lvl="2">
              <a:lnSpc>
                <a:spcPct val="100000"/>
              </a:lnSpc>
              <a:spcBef>
                <a:spcPts val="0"/>
              </a:spcBef>
              <a:spcAft>
                <a:spcPts val="0"/>
              </a:spcAft>
              <a:buNone/>
              <a:defRPr sz="2000"/>
            </a:lvl3pPr>
            <a:lvl4pPr lvl="3">
              <a:lnSpc>
                <a:spcPct val="100000"/>
              </a:lnSpc>
              <a:spcBef>
                <a:spcPts val="0"/>
              </a:spcBef>
              <a:spcAft>
                <a:spcPts val="0"/>
              </a:spcAft>
              <a:buNone/>
              <a:defRPr sz="2000"/>
            </a:lvl4pPr>
            <a:lvl5pPr lvl="4">
              <a:lnSpc>
                <a:spcPct val="100000"/>
              </a:lnSpc>
              <a:spcBef>
                <a:spcPts val="0"/>
              </a:spcBef>
              <a:spcAft>
                <a:spcPts val="0"/>
              </a:spcAft>
              <a:buNone/>
              <a:defRPr sz="2000"/>
            </a:lvl5pPr>
            <a:lvl6pPr lvl="5">
              <a:lnSpc>
                <a:spcPct val="100000"/>
              </a:lnSpc>
              <a:spcBef>
                <a:spcPts val="0"/>
              </a:spcBef>
              <a:spcAft>
                <a:spcPts val="0"/>
              </a:spcAft>
              <a:buNone/>
              <a:defRPr sz="2000"/>
            </a:lvl6pPr>
            <a:lvl7pPr lvl="6">
              <a:lnSpc>
                <a:spcPct val="100000"/>
              </a:lnSpc>
              <a:spcBef>
                <a:spcPts val="0"/>
              </a:spcBef>
              <a:spcAft>
                <a:spcPts val="0"/>
              </a:spcAft>
              <a:buNone/>
              <a:defRPr sz="2000"/>
            </a:lvl7pPr>
            <a:lvl8pPr lvl="7">
              <a:lnSpc>
                <a:spcPct val="100000"/>
              </a:lnSpc>
              <a:spcBef>
                <a:spcPts val="0"/>
              </a:spcBef>
              <a:spcAft>
                <a:spcPts val="0"/>
              </a:spcAft>
              <a:buNone/>
              <a:defRPr sz="2000"/>
            </a:lvl8pPr>
            <a:lvl9pPr lvl="8">
              <a:lnSpc>
                <a:spcPct val="100000"/>
              </a:lnSpc>
              <a:spcBef>
                <a:spcPts val="0"/>
              </a:spcBef>
              <a:spcAft>
                <a:spcPts val="0"/>
              </a:spcAft>
              <a:buNone/>
              <a:defRPr sz="20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6"/>
        <p:cNvGrpSpPr/>
        <p:nvPr/>
      </p:nvGrpSpPr>
      <p:grpSpPr>
        <a:xfrm>
          <a:off x="0" y="0"/>
          <a:ext cx="0" cy="0"/>
          <a:chOff x="0" y="0"/>
          <a:chExt cx="0" cy="0"/>
        </a:xfrm>
      </p:grpSpPr>
      <p:sp>
        <p:nvSpPr>
          <p:cNvPr id="27" name="Google Shape;27;p4"/>
          <p:cNvSpPr/>
          <p:nvPr/>
        </p:nvSpPr>
        <p:spPr>
          <a:xfrm rot="10800000">
            <a:off x="7843922" y="-1058801"/>
            <a:ext cx="2481900" cy="2481900"/>
          </a:xfrm>
          <a:prstGeom prst="blockArc">
            <a:avLst>
              <a:gd name="adj1" fmla="val 15904124"/>
              <a:gd name="adj2" fmla="val 722519"/>
              <a:gd name="adj3" fmla="val 7278"/>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4"/>
          <p:cNvSpPr/>
          <p:nvPr/>
        </p:nvSpPr>
        <p:spPr>
          <a:xfrm>
            <a:off x="-154350" y="389075"/>
            <a:ext cx="9452700" cy="6615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4"/>
          <p:cNvSpPr/>
          <p:nvPr/>
        </p:nvSpPr>
        <p:spPr>
          <a:xfrm rot="4458820">
            <a:off x="-1488663" y="4124021"/>
            <a:ext cx="2387832" cy="2387832"/>
          </a:xfrm>
          <a:prstGeom prst="blockArc">
            <a:avLst>
              <a:gd name="adj1" fmla="val 12582103"/>
              <a:gd name="adj2" fmla="val 16685375"/>
              <a:gd name="adj3" fmla="val 10255"/>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4"/>
          <p:cNvSpPr txBox="1"/>
          <p:nvPr/>
        </p:nvSpPr>
        <p:spPr>
          <a:xfrm>
            <a:off x="909825" y="1507250"/>
            <a:ext cx="7315200" cy="3358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endParaRPr>
              <a:solidFill>
                <a:srgbClr val="27316F"/>
              </a:solidFill>
              <a:latin typeface="Montserrat"/>
              <a:ea typeface="Montserrat"/>
              <a:cs typeface="Montserrat"/>
              <a:sym typeface="Montserrat"/>
            </a:endParaRPr>
          </a:p>
        </p:txBody>
      </p:sp>
      <p:sp>
        <p:nvSpPr>
          <p:cNvPr id="31" name="Google Shape;31;p4"/>
          <p:cNvSpPr txBox="1"/>
          <p:nvPr/>
        </p:nvSpPr>
        <p:spPr>
          <a:xfrm>
            <a:off x="1094125" y="541475"/>
            <a:ext cx="6825900" cy="75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b="1">
              <a:solidFill>
                <a:srgbClr val="FFFFFF"/>
              </a:solidFill>
              <a:latin typeface="Montserrat"/>
              <a:ea typeface="Montserrat"/>
              <a:cs typeface="Montserrat"/>
              <a:sym typeface="Montserrat"/>
            </a:endParaRPr>
          </a:p>
        </p:txBody>
      </p:sp>
      <p:sp>
        <p:nvSpPr>
          <p:cNvPr id="32" name="Google Shape;32;p4"/>
          <p:cNvSpPr txBox="1">
            <a:spLocks noGrp="1"/>
          </p:cNvSpPr>
          <p:nvPr>
            <p:ph type="title"/>
          </p:nvPr>
        </p:nvSpPr>
        <p:spPr>
          <a:xfrm>
            <a:off x="1094125" y="434070"/>
            <a:ext cx="7738200" cy="5727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sz="30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3" name="Google Shape;33;p4"/>
          <p:cNvSpPr txBox="1">
            <a:spLocks noGrp="1"/>
          </p:cNvSpPr>
          <p:nvPr>
            <p:ph type="subTitle" idx="1"/>
          </p:nvPr>
        </p:nvSpPr>
        <p:spPr>
          <a:xfrm>
            <a:off x="702925" y="1057150"/>
            <a:ext cx="7738200" cy="5052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None/>
              <a:defRPr sz="1200"/>
            </a:lvl1pPr>
            <a:lvl2pPr lvl="1">
              <a:lnSpc>
                <a:spcPct val="100000"/>
              </a:lnSpc>
              <a:spcBef>
                <a:spcPts val="0"/>
              </a:spcBef>
              <a:spcAft>
                <a:spcPts val="0"/>
              </a:spcAft>
              <a:buNone/>
              <a:defRPr sz="1200"/>
            </a:lvl2pPr>
            <a:lvl3pPr lvl="2">
              <a:lnSpc>
                <a:spcPct val="100000"/>
              </a:lnSpc>
              <a:spcBef>
                <a:spcPts val="0"/>
              </a:spcBef>
              <a:spcAft>
                <a:spcPts val="0"/>
              </a:spcAft>
              <a:buNone/>
              <a:defRPr sz="1200"/>
            </a:lvl3pPr>
            <a:lvl4pPr lvl="3">
              <a:lnSpc>
                <a:spcPct val="100000"/>
              </a:lnSpc>
              <a:spcBef>
                <a:spcPts val="0"/>
              </a:spcBef>
              <a:spcAft>
                <a:spcPts val="0"/>
              </a:spcAft>
              <a:buNone/>
              <a:defRPr sz="1200"/>
            </a:lvl4pPr>
            <a:lvl5pPr lvl="4">
              <a:lnSpc>
                <a:spcPct val="100000"/>
              </a:lnSpc>
              <a:spcBef>
                <a:spcPts val="0"/>
              </a:spcBef>
              <a:spcAft>
                <a:spcPts val="0"/>
              </a:spcAft>
              <a:buNone/>
              <a:defRPr sz="1200"/>
            </a:lvl5pPr>
            <a:lvl6pPr lvl="5">
              <a:lnSpc>
                <a:spcPct val="100000"/>
              </a:lnSpc>
              <a:spcBef>
                <a:spcPts val="0"/>
              </a:spcBef>
              <a:spcAft>
                <a:spcPts val="0"/>
              </a:spcAft>
              <a:buNone/>
              <a:defRPr sz="1200"/>
            </a:lvl6pPr>
            <a:lvl7pPr lvl="6">
              <a:lnSpc>
                <a:spcPct val="100000"/>
              </a:lnSpc>
              <a:spcBef>
                <a:spcPts val="0"/>
              </a:spcBef>
              <a:spcAft>
                <a:spcPts val="0"/>
              </a:spcAft>
              <a:buNone/>
              <a:defRPr sz="1200"/>
            </a:lvl7pPr>
            <a:lvl8pPr lvl="7">
              <a:lnSpc>
                <a:spcPct val="100000"/>
              </a:lnSpc>
              <a:spcBef>
                <a:spcPts val="0"/>
              </a:spcBef>
              <a:spcAft>
                <a:spcPts val="0"/>
              </a:spcAft>
              <a:buNone/>
              <a:defRPr sz="1200"/>
            </a:lvl8pPr>
            <a:lvl9pPr lvl="8">
              <a:lnSpc>
                <a:spcPct val="100000"/>
              </a:lnSpc>
              <a:spcBef>
                <a:spcPts val="0"/>
              </a:spcBef>
              <a:spcAft>
                <a:spcPts val="0"/>
              </a:spcAft>
              <a:buNone/>
              <a:defRPr sz="12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8"/>
        <p:cNvGrpSpPr/>
        <p:nvPr/>
      </p:nvGrpSpPr>
      <p:grpSpPr>
        <a:xfrm>
          <a:off x="0" y="0"/>
          <a:ext cx="0" cy="0"/>
          <a:chOff x="0" y="0"/>
          <a:chExt cx="0" cy="0"/>
        </a:xfrm>
      </p:grpSpPr>
      <p:sp>
        <p:nvSpPr>
          <p:cNvPr id="59" name="Google Shape;59;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en"/>
              <a:t>‹#›</a:t>
            </a:fld>
            <a:endParaRPr>
              <a:solidFill>
                <a:schemeClr val="dk1"/>
              </a:solidFill>
            </a:endParaRPr>
          </a:p>
        </p:txBody>
      </p:sp>
      <p:sp>
        <p:nvSpPr>
          <p:cNvPr id="60" name="Google Shape;60;p9"/>
          <p:cNvSpPr txBox="1"/>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sz="1000">
                <a:solidFill>
                  <a:srgbClr val="595959"/>
                </a:solidFill>
              </a:rPr>
              <a:t>‹#›</a:t>
            </a:fld>
            <a:endParaRPr sz="1000">
              <a:solidFill>
                <a:schemeClr val="dk2"/>
              </a:solidFill>
            </a:endParaRPr>
          </a:p>
        </p:txBody>
      </p:sp>
      <p:sp>
        <p:nvSpPr>
          <p:cNvPr id="61" name="Google Shape;61;p9"/>
          <p:cNvSpPr/>
          <p:nvPr/>
        </p:nvSpPr>
        <p:spPr>
          <a:xfrm rot="-900094">
            <a:off x="3798381" y="4368678"/>
            <a:ext cx="1783690" cy="1783980"/>
          </a:xfrm>
          <a:prstGeom prst="blockArc">
            <a:avLst>
              <a:gd name="adj1" fmla="val 12085351"/>
              <a:gd name="adj2" fmla="val 16819483"/>
              <a:gd name="adj3" fmla="val 17550"/>
            </a:avLst>
          </a:prstGeom>
          <a:solidFill>
            <a:srgbClr val="D9D9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9"/>
          <p:cNvSpPr/>
          <p:nvPr/>
        </p:nvSpPr>
        <p:spPr>
          <a:xfrm>
            <a:off x="4572000" y="-73925"/>
            <a:ext cx="4572000" cy="53088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endParaRPr/>
          </a:p>
        </p:txBody>
      </p:sp>
      <p:sp>
        <p:nvSpPr>
          <p:cNvPr id="63" name="Google Shape;63;p9"/>
          <p:cNvSpPr txBox="1"/>
          <p:nvPr/>
        </p:nvSpPr>
        <p:spPr>
          <a:xfrm>
            <a:off x="5298300" y="2567075"/>
            <a:ext cx="3119400" cy="1482300"/>
          </a:xfrm>
          <a:prstGeom prst="rect">
            <a:avLst/>
          </a:prstGeom>
          <a:noFill/>
          <a:ln>
            <a:noFill/>
          </a:ln>
        </p:spPr>
        <p:txBody>
          <a:bodyPr spcFirstLastPara="1" wrap="square" lIns="91425" tIns="91425" rIns="91425" bIns="91425" anchor="b" anchorCtr="0">
            <a:noAutofit/>
          </a:bodyPr>
          <a:lstStyle/>
          <a:p>
            <a:pPr marL="0" lvl="0" indent="0" algn="ctr" rtl="0">
              <a:lnSpc>
                <a:spcPct val="100000"/>
              </a:lnSpc>
              <a:spcBef>
                <a:spcPts val="0"/>
              </a:spcBef>
              <a:spcAft>
                <a:spcPts val="0"/>
              </a:spcAft>
              <a:buNone/>
            </a:pPr>
            <a:endParaRPr sz="2400" b="1">
              <a:solidFill>
                <a:srgbClr val="27316F"/>
              </a:solidFill>
              <a:latin typeface="Montserrat"/>
              <a:ea typeface="Montserrat"/>
              <a:cs typeface="Montserrat"/>
              <a:sym typeface="Montserrat"/>
            </a:endParaRPr>
          </a:p>
        </p:txBody>
      </p:sp>
      <p:sp>
        <p:nvSpPr>
          <p:cNvPr id="64" name="Google Shape;64;p9"/>
          <p:cNvSpPr txBox="1"/>
          <p:nvPr/>
        </p:nvSpPr>
        <p:spPr>
          <a:xfrm>
            <a:off x="5298300" y="4049375"/>
            <a:ext cx="3119400" cy="12351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endParaRPr>
              <a:solidFill>
                <a:srgbClr val="27316F"/>
              </a:solidFill>
              <a:latin typeface="Montserrat"/>
              <a:ea typeface="Montserrat"/>
              <a:cs typeface="Montserrat"/>
              <a:sym typeface="Montserrat"/>
            </a:endParaRPr>
          </a:p>
        </p:txBody>
      </p:sp>
      <p:sp>
        <p:nvSpPr>
          <p:cNvPr id="65" name="Google Shape;65;p9"/>
          <p:cNvSpPr txBox="1"/>
          <p:nvPr/>
        </p:nvSpPr>
        <p:spPr>
          <a:xfrm>
            <a:off x="5208725" y="4049375"/>
            <a:ext cx="3119400" cy="12351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endParaRPr>
              <a:solidFill>
                <a:srgbClr val="FFFFFF"/>
              </a:solidFill>
              <a:latin typeface="Montserrat"/>
              <a:ea typeface="Montserrat"/>
              <a:cs typeface="Montserrat"/>
              <a:sym typeface="Montserrat"/>
            </a:endParaRPr>
          </a:p>
        </p:txBody>
      </p:sp>
      <p:sp>
        <p:nvSpPr>
          <p:cNvPr id="66" name="Google Shape;66;p9"/>
          <p:cNvSpPr txBox="1"/>
          <p:nvPr/>
        </p:nvSpPr>
        <p:spPr>
          <a:xfrm>
            <a:off x="5387850" y="3299075"/>
            <a:ext cx="3119400" cy="7503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endParaRPr sz="2400" b="1">
              <a:solidFill>
                <a:srgbClr val="FFFFFF"/>
              </a:solidFill>
              <a:latin typeface="Montserrat"/>
              <a:ea typeface="Montserrat"/>
              <a:cs typeface="Montserrat"/>
              <a:sym typeface="Montserrat"/>
            </a:endParaRPr>
          </a:p>
        </p:txBody>
      </p:sp>
      <p:sp>
        <p:nvSpPr>
          <p:cNvPr id="67" name="Google Shape;67;p9"/>
          <p:cNvSpPr txBox="1">
            <a:spLocks noGrp="1"/>
          </p:cNvSpPr>
          <p:nvPr>
            <p:ph type="subTitle" idx="1"/>
          </p:nvPr>
        </p:nvSpPr>
        <p:spPr>
          <a:xfrm>
            <a:off x="5021275" y="810000"/>
            <a:ext cx="3549600" cy="38568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None/>
              <a:defRPr/>
            </a:lvl1pPr>
            <a:lvl2pPr lvl="1" algn="ctr">
              <a:lnSpc>
                <a:spcPct val="100000"/>
              </a:lnSpc>
              <a:spcBef>
                <a:spcPts val="0"/>
              </a:spcBef>
              <a:spcAft>
                <a:spcPts val="0"/>
              </a:spcAft>
              <a:buNone/>
              <a:defRPr/>
            </a:lvl2pPr>
            <a:lvl3pPr lvl="2" algn="ctr">
              <a:lnSpc>
                <a:spcPct val="100000"/>
              </a:lnSpc>
              <a:spcBef>
                <a:spcPts val="0"/>
              </a:spcBef>
              <a:spcAft>
                <a:spcPts val="0"/>
              </a:spcAft>
              <a:buNone/>
              <a:defRPr/>
            </a:lvl3pPr>
            <a:lvl4pPr lvl="3" algn="ctr">
              <a:lnSpc>
                <a:spcPct val="100000"/>
              </a:lnSpc>
              <a:spcBef>
                <a:spcPts val="0"/>
              </a:spcBef>
              <a:spcAft>
                <a:spcPts val="0"/>
              </a:spcAft>
              <a:buNone/>
              <a:defRPr/>
            </a:lvl4pPr>
            <a:lvl5pPr lvl="4" algn="ctr">
              <a:lnSpc>
                <a:spcPct val="100000"/>
              </a:lnSpc>
              <a:spcBef>
                <a:spcPts val="0"/>
              </a:spcBef>
              <a:spcAft>
                <a:spcPts val="0"/>
              </a:spcAft>
              <a:buNone/>
              <a:defRPr/>
            </a:lvl5pPr>
            <a:lvl6pPr lvl="5" algn="ctr">
              <a:lnSpc>
                <a:spcPct val="100000"/>
              </a:lnSpc>
              <a:spcBef>
                <a:spcPts val="0"/>
              </a:spcBef>
              <a:spcAft>
                <a:spcPts val="0"/>
              </a:spcAft>
              <a:buNone/>
              <a:defRPr/>
            </a:lvl6pPr>
            <a:lvl7pPr lvl="6" algn="ctr">
              <a:lnSpc>
                <a:spcPct val="100000"/>
              </a:lnSpc>
              <a:spcBef>
                <a:spcPts val="0"/>
              </a:spcBef>
              <a:spcAft>
                <a:spcPts val="0"/>
              </a:spcAft>
              <a:buNone/>
              <a:defRPr/>
            </a:lvl7pPr>
            <a:lvl8pPr lvl="7" algn="ctr">
              <a:lnSpc>
                <a:spcPct val="100000"/>
              </a:lnSpc>
              <a:spcBef>
                <a:spcPts val="0"/>
              </a:spcBef>
              <a:spcAft>
                <a:spcPts val="0"/>
              </a:spcAft>
              <a:buNone/>
              <a:defRPr/>
            </a:lvl8pPr>
            <a:lvl9pPr lvl="8" algn="ctr">
              <a:lnSpc>
                <a:spcPct val="100000"/>
              </a:lnSpc>
              <a:spcBef>
                <a:spcPts val="0"/>
              </a:spcBef>
              <a:spcAft>
                <a:spcPts val="0"/>
              </a:spcAft>
              <a:buNone/>
              <a:defRPr/>
            </a:lvl9pPr>
          </a:lstStyle>
          <a:p>
            <a:endParaRPr/>
          </a:p>
        </p:txBody>
      </p:sp>
      <p:sp>
        <p:nvSpPr>
          <p:cNvPr id="68" name="Google Shape;68;p9"/>
          <p:cNvSpPr txBox="1">
            <a:spLocks noGrp="1"/>
          </p:cNvSpPr>
          <p:nvPr>
            <p:ph type="title"/>
          </p:nvPr>
        </p:nvSpPr>
        <p:spPr>
          <a:xfrm>
            <a:off x="602400" y="862850"/>
            <a:ext cx="3549600" cy="31866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None/>
              <a:defRPr sz="3600">
                <a:solidFill>
                  <a:schemeClr val="accent1"/>
                </a:solidFill>
              </a:defRPr>
            </a:lvl1pPr>
            <a:lvl2pPr lvl="1" algn="ctr" rtl="0">
              <a:lnSpc>
                <a:spcPct val="100000"/>
              </a:lnSpc>
              <a:spcBef>
                <a:spcPts val="0"/>
              </a:spcBef>
              <a:spcAft>
                <a:spcPts val="0"/>
              </a:spcAft>
              <a:buNone/>
              <a:defRPr/>
            </a:lvl2pPr>
            <a:lvl3pPr lvl="2" algn="ctr" rtl="0">
              <a:lnSpc>
                <a:spcPct val="100000"/>
              </a:lnSpc>
              <a:spcBef>
                <a:spcPts val="0"/>
              </a:spcBef>
              <a:spcAft>
                <a:spcPts val="0"/>
              </a:spcAft>
              <a:buNone/>
              <a:defRPr/>
            </a:lvl3pPr>
            <a:lvl4pPr lvl="3" algn="ctr" rtl="0">
              <a:lnSpc>
                <a:spcPct val="100000"/>
              </a:lnSpc>
              <a:spcBef>
                <a:spcPts val="0"/>
              </a:spcBef>
              <a:spcAft>
                <a:spcPts val="0"/>
              </a:spcAft>
              <a:buNone/>
              <a:defRPr/>
            </a:lvl4pPr>
            <a:lvl5pPr lvl="4" algn="ctr" rtl="0">
              <a:lnSpc>
                <a:spcPct val="100000"/>
              </a:lnSpc>
              <a:spcBef>
                <a:spcPts val="0"/>
              </a:spcBef>
              <a:spcAft>
                <a:spcPts val="0"/>
              </a:spcAft>
              <a:buNone/>
              <a:defRPr/>
            </a:lvl5pPr>
            <a:lvl6pPr lvl="5" algn="ctr" rtl="0">
              <a:lnSpc>
                <a:spcPct val="100000"/>
              </a:lnSpc>
              <a:spcBef>
                <a:spcPts val="0"/>
              </a:spcBef>
              <a:spcAft>
                <a:spcPts val="0"/>
              </a:spcAft>
              <a:buNone/>
              <a:defRPr/>
            </a:lvl6pPr>
            <a:lvl7pPr lvl="6" algn="ctr" rtl="0">
              <a:lnSpc>
                <a:spcPct val="100000"/>
              </a:lnSpc>
              <a:spcBef>
                <a:spcPts val="0"/>
              </a:spcBef>
              <a:spcAft>
                <a:spcPts val="0"/>
              </a:spcAft>
              <a:buNone/>
              <a:defRPr/>
            </a:lvl7pPr>
            <a:lvl8pPr lvl="7" algn="ctr" rtl="0">
              <a:lnSpc>
                <a:spcPct val="100000"/>
              </a:lnSpc>
              <a:spcBef>
                <a:spcPts val="0"/>
              </a:spcBef>
              <a:spcAft>
                <a:spcPts val="0"/>
              </a:spcAft>
              <a:buNone/>
              <a:defRPr/>
            </a:lvl8pPr>
            <a:lvl9pPr lvl="8" algn="ctr" rtl="0">
              <a:lnSpc>
                <a:spcPct val="100000"/>
              </a:lnSpc>
              <a:spcBef>
                <a:spcPts val="0"/>
              </a:spcBef>
              <a:spcAft>
                <a:spcPts val="0"/>
              </a:spcAft>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7"/>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ackground">
  <p:cSld name="CUSTOM_4_1_1_1_1_2">
    <p:bg>
      <p:bgPr>
        <a:solidFill>
          <a:schemeClr val="accent2"/>
        </a:solidFill>
        <a:effectLst/>
      </p:bgPr>
    </p:bg>
    <p:spTree>
      <p:nvGrpSpPr>
        <p:cNvPr id="1" name="Shape 457"/>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1"/>
              </a:buClr>
              <a:buSzPts val="3000"/>
              <a:buFont typeface="Montserrat"/>
              <a:buNone/>
              <a:defRPr sz="3000" b="1">
                <a:solidFill>
                  <a:schemeClr val="lt1"/>
                </a:solidFill>
                <a:latin typeface="Montserrat"/>
                <a:ea typeface="Montserrat"/>
                <a:cs typeface="Montserrat"/>
                <a:sym typeface="Montserrat"/>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7500">
              <a:lnSpc>
                <a:spcPct val="100000"/>
              </a:lnSpc>
              <a:spcBef>
                <a:spcPts val="0"/>
              </a:spcBef>
              <a:spcAft>
                <a:spcPts val="0"/>
              </a:spcAft>
              <a:buClr>
                <a:schemeClr val="accent1"/>
              </a:buClr>
              <a:buSzPts val="1400"/>
              <a:buFont typeface="Montserrat"/>
              <a:buChar char="●"/>
              <a:defRPr>
                <a:solidFill>
                  <a:schemeClr val="accent1"/>
                </a:solidFill>
                <a:latin typeface="Montserrat"/>
                <a:ea typeface="Montserrat"/>
                <a:cs typeface="Montserrat"/>
                <a:sym typeface="Montserrat"/>
              </a:defRPr>
            </a:lvl1pPr>
            <a:lvl2pPr marL="914400" lvl="1" indent="-317500">
              <a:lnSpc>
                <a:spcPct val="100000"/>
              </a:lnSpc>
              <a:spcBef>
                <a:spcPts val="0"/>
              </a:spcBef>
              <a:spcAft>
                <a:spcPts val="0"/>
              </a:spcAft>
              <a:buClr>
                <a:schemeClr val="accent1"/>
              </a:buClr>
              <a:buSzPts val="1400"/>
              <a:buFont typeface="Montserrat"/>
              <a:buChar char="○"/>
              <a:defRPr>
                <a:solidFill>
                  <a:schemeClr val="accent1"/>
                </a:solidFill>
                <a:latin typeface="Montserrat"/>
                <a:ea typeface="Montserrat"/>
                <a:cs typeface="Montserrat"/>
                <a:sym typeface="Montserrat"/>
              </a:defRPr>
            </a:lvl2pPr>
            <a:lvl3pPr marL="1371600" lvl="2" indent="-317500">
              <a:lnSpc>
                <a:spcPct val="100000"/>
              </a:lnSpc>
              <a:spcBef>
                <a:spcPts val="0"/>
              </a:spcBef>
              <a:spcAft>
                <a:spcPts val="0"/>
              </a:spcAft>
              <a:buClr>
                <a:schemeClr val="accent1"/>
              </a:buClr>
              <a:buSzPts val="1400"/>
              <a:buFont typeface="Montserrat"/>
              <a:buChar char="■"/>
              <a:defRPr>
                <a:solidFill>
                  <a:schemeClr val="accent1"/>
                </a:solidFill>
                <a:latin typeface="Montserrat"/>
                <a:ea typeface="Montserrat"/>
                <a:cs typeface="Montserrat"/>
                <a:sym typeface="Montserrat"/>
              </a:defRPr>
            </a:lvl3pPr>
            <a:lvl4pPr marL="1828800" lvl="3" indent="-317500">
              <a:lnSpc>
                <a:spcPct val="100000"/>
              </a:lnSpc>
              <a:spcBef>
                <a:spcPts val="0"/>
              </a:spcBef>
              <a:spcAft>
                <a:spcPts val="0"/>
              </a:spcAft>
              <a:buClr>
                <a:schemeClr val="accent1"/>
              </a:buClr>
              <a:buSzPts val="1400"/>
              <a:buFont typeface="Montserrat"/>
              <a:buChar char="●"/>
              <a:defRPr>
                <a:solidFill>
                  <a:schemeClr val="accent1"/>
                </a:solidFill>
                <a:latin typeface="Montserrat"/>
                <a:ea typeface="Montserrat"/>
                <a:cs typeface="Montserrat"/>
                <a:sym typeface="Montserrat"/>
              </a:defRPr>
            </a:lvl4pPr>
            <a:lvl5pPr marL="2286000" lvl="4" indent="-317500">
              <a:lnSpc>
                <a:spcPct val="100000"/>
              </a:lnSpc>
              <a:spcBef>
                <a:spcPts val="0"/>
              </a:spcBef>
              <a:spcAft>
                <a:spcPts val="0"/>
              </a:spcAft>
              <a:buClr>
                <a:schemeClr val="accent1"/>
              </a:buClr>
              <a:buSzPts val="1400"/>
              <a:buFont typeface="Montserrat"/>
              <a:buChar char="○"/>
              <a:defRPr>
                <a:solidFill>
                  <a:schemeClr val="accent1"/>
                </a:solidFill>
                <a:latin typeface="Montserrat"/>
                <a:ea typeface="Montserrat"/>
                <a:cs typeface="Montserrat"/>
                <a:sym typeface="Montserrat"/>
              </a:defRPr>
            </a:lvl5pPr>
            <a:lvl6pPr marL="2743200" lvl="5" indent="-317500">
              <a:lnSpc>
                <a:spcPct val="100000"/>
              </a:lnSpc>
              <a:spcBef>
                <a:spcPts val="0"/>
              </a:spcBef>
              <a:spcAft>
                <a:spcPts val="0"/>
              </a:spcAft>
              <a:buClr>
                <a:schemeClr val="accent1"/>
              </a:buClr>
              <a:buSzPts val="1400"/>
              <a:buFont typeface="Montserrat"/>
              <a:buChar char="■"/>
              <a:defRPr>
                <a:solidFill>
                  <a:schemeClr val="accent1"/>
                </a:solidFill>
                <a:latin typeface="Montserrat"/>
                <a:ea typeface="Montserrat"/>
                <a:cs typeface="Montserrat"/>
                <a:sym typeface="Montserrat"/>
              </a:defRPr>
            </a:lvl6pPr>
            <a:lvl7pPr marL="3200400" lvl="6" indent="-317500">
              <a:lnSpc>
                <a:spcPct val="100000"/>
              </a:lnSpc>
              <a:spcBef>
                <a:spcPts val="0"/>
              </a:spcBef>
              <a:spcAft>
                <a:spcPts val="0"/>
              </a:spcAft>
              <a:buClr>
                <a:schemeClr val="accent1"/>
              </a:buClr>
              <a:buSzPts val="1400"/>
              <a:buFont typeface="Montserrat"/>
              <a:buChar char="●"/>
              <a:defRPr>
                <a:solidFill>
                  <a:schemeClr val="accent1"/>
                </a:solidFill>
                <a:latin typeface="Montserrat"/>
                <a:ea typeface="Montserrat"/>
                <a:cs typeface="Montserrat"/>
                <a:sym typeface="Montserrat"/>
              </a:defRPr>
            </a:lvl7pPr>
            <a:lvl8pPr marL="3657600" lvl="7" indent="-317500">
              <a:lnSpc>
                <a:spcPct val="100000"/>
              </a:lnSpc>
              <a:spcBef>
                <a:spcPts val="0"/>
              </a:spcBef>
              <a:spcAft>
                <a:spcPts val="0"/>
              </a:spcAft>
              <a:buClr>
                <a:schemeClr val="accent1"/>
              </a:buClr>
              <a:buSzPts val="1400"/>
              <a:buFont typeface="Montserrat"/>
              <a:buChar char="○"/>
              <a:defRPr>
                <a:solidFill>
                  <a:schemeClr val="accent1"/>
                </a:solidFill>
                <a:latin typeface="Montserrat"/>
                <a:ea typeface="Montserrat"/>
                <a:cs typeface="Montserrat"/>
                <a:sym typeface="Montserrat"/>
              </a:defRPr>
            </a:lvl8pPr>
            <a:lvl9pPr marL="4114800" lvl="8" indent="-317500">
              <a:lnSpc>
                <a:spcPct val="100000"/>
              </a:lnSpc>
              <a:spcBef>
                <a:spcPts val="0"/>
              </a:spcBef>
              <a:spcAft>
                <a:spcPts val="0"/>
              </a:spcAft>
              <a:buClr>
                <a:schemeClr val="accent1"/>
              </a:buClr>
              <a:buSzPts val="1400"/>
              <a:buFont typeface="Montserrat"/>
              <a:buChar char="■"/>
              <a:defRPr>
                <a:solidFill>
                  <a:schemeClr val="accent1"/>
                </a:solidFill>
                <a:latin typeface="Montserrat"/>
                <a:ea typeface="Montserrat"/>
                <a:cs typeface="Montserrat"/>
                <a:sym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5" r:id="rId3"/>
    <p:sldLayoutId id="2147483658" r:id="rId4"/>
    <p:sldLayoutId id="2147483697"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71"/>
        <p:cNvGrpSpPr/>
        <p:nvPr/>
      </p:nvGrpSpPr>
      <p:grpSpPr>
        <a:xfrm>
          <a:off x="0" y="0"/>
          <a:ext cx="0" cy="0"/>
          <a:chOff x="0" y="0"/>
          <a:chExt cx="0" cy="0"/>
        </a:xfrm>
      </p:grpSpPr>
      <p:sp>
        <p:nvSpPr>
          <p:cNvPr id="473" name="Google Shape;473;p57"/>
          <p:cNvSpPr txBox="1">
            <a:spLocks noGrp="1"/>
          </p:cNvSpPr>
          <p:nvPr>
            <p:ph type="title"/>
          </p:nvPr>
        </p:nvSpPr>
        <p:spPr>
          <a:xfrm>
            <a:off x="-123986" y="1691969"/>
            <a:ext cx="9200827" cy="1362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3200" dirty="0"/>
              <a:t>  </a:t>
            </a:r>
            <a:r>
              <a:rPr lang="en-US" sz="3200"/>
              <a:t>Lab 6: Design finite state machine</a:t>
            </a:r>
            <a:endParaRPr sz="3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9C1A2-5339-4C44-5C57-2477199E7B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73B3D4-96DF-0545-CBB9-3E608EABC079}"/>
              </a:ext>
            </a:extLst>
          </p:cNvPr>
          <p:cNvSpPr>
            <a:spLocks noGrp="1"/>
          </p:cNvSpPr>
          <p:nvPr>
            <p:ph type="title"/>
          </p:nvPr>
        </p:nvSpPr>
        <p:spPr>
          <a:xfrm>
            <a:off x="138397" y="382409"/>
            <a:ext cx="7738200" cy="572700"/>
          </a:xfrm>
        </p:spPr>
        <p:txBody>
          <a:bodyPr/>
          <a:lstStyle/>
          <a:p>
            <a:r>
              <a:rPr lang="en-US" sz="2600">
                <a:solidFill>
                  <a:schemeClr val="tx1"/>
                </a:solidFill>
                <a:latin typeface="Montserrat" panose="00000500000000000000" pitchFamily="2" charset="0"/>
              </a:rPr>
              <a:t>What is finite state machine?</a:t>
            </a:r>
            <a:endParaRPr lang="en-US" sz="2600" dirty="0">
              <a:solidFill>
                <a:schemeClr val="tx1"/>
              </a:solidFill>
              <a:latin typeface="Montserrat" panose="00000500000000000000" pitchFamily="2" charset="0"/>
            </a:endParaRPr>
          </a:p>
        </p:txBody>
      </p:sp>
      <p:sp>
        <p:nvSpPr>
          <p:cNvPr id="6" name="TextBox 5">
            <a:extLst>
              <a:ext uri="{FF2B5EF4-FFF2-40B4-BE49-F238E27FC236}">
                <a16:creationId xmlns:a16="http://schemas.microsoft.com/office/drawing/2014/main" id="{8D0D2080-515B-3233-0910-76BF0097A58A}"/>
              </a:ext>
            </a:extLst>
          </p:cNvPr>
          <p:cNvSpPr txBox="1"/>
          <p:nvPr/>
        </p:nvSpPr>
        <p:spPr>
          <a:xfrm>
            <a:off x="222143" y="1177871"/>
            <a:ext cx="8161209" cy="461665"/>
          </a:xfrm>
          <a:prstGeom prst="rect">
            <a:avLst/>
          </a:prstGeom>
          <a:noFill/>
        </p:spPr>
        <p:txBody>
          <a:bodyPr wrap="none" rtlCol="0">
            <a:spAutoFit/>
          </a:bodyPr>
          <a:lstStyle/>
          <a:p>
            <a:r>
              <a:rPr lang="en-US" sz="1200">
                <a:solidFill>
                  <a:schemeClr val="accent1"/>
                </a:solidFill>
                <a:latin typeface="Montserrat" panose="00000500000000000000" pitchFamily="2" charset="0"/>
              </a:rPr>
              <a:t>A </a:t>
            </a:r>
            <a:r>
              <a:rPr lang="en-US" sz="1200" b="1">
                <a:solidFill>
                  <a:schemeClr val="accent1"/>
                </a:solidFill>
                <a:latin typeface="Montserrat" panose="00000500000000000000" pitchFamily="2" charset="0"/>
              </a:rPr>
              <a:t>Finite State Machine</a:t>
            </a:r>
            <a:r>
              <a:rPr lang="en-US" sz="1200">
                <a:solidFill>
                  <a:schemeClr val="accent1"/>
                </a:solidFill>
                <a:latin typeface="Montserrat" panose="00000500000000000000" pitchFamily="2" charset="0"/>
              </a:rPr>
              <a:t> (FSM) is a computational model used to design systems that transition through</a:t>
            </a:r>
          </a:p>
          <a:p>
            <a:r>
              <a:rPr lang="en-US" sz="1200">
                <a:solidFill>
                  <a:schemeClr val="accent1"/>
                </a:solidFill>
                <a:latin typeface="Montserrat" panose="00000500000000000000" pitchFamily="2" charset="0"/>
              </a:rPr>
              <a:t>a predefined set of states based on inputs. </a:t>
            </a:r>
          </a:p>
        </p:txBody>
      </p:sp>
      <p:sp>
        <p:nvSpPr>
          <p:cNvPr id="7" name="TextBox 6">
            <a:extLst>
              <a:ext uri="{FF2B5EF4-FFF2-40B4-BE49-F238E27FC236}">
                <a16:creationId xmlns:a16="http://schemas.microsoft.com/office/drawing/2014/main" id="{E932F826-E907-BE81-9600-4ED546A3751C}"/>
              </a:ext>
            </a:extLst>
          </p:cNvPr>
          <p:cNvSpPr txBox="1"/>
          <p:nvPr/>
        </p:nvSpPr>
        <p:spPr>
          <a:xfrm>
            <a:off x="222143" y="1701091"/>
            <a:ext cx="3381054" cy="276999"/>
          </a:xfrm>
          <a:prstGeom prst="rect">
            <a:avLst/>
          </a:prstGeom>
          <a:noFill/>
        </p:spPr>
        <p:txBody>
          <a:bodyPr wrap="none" rtlCol="0">
            <a:spAutoFit/>
          </a:bodyPr>
          <a:lstStyle/>
          <a:p>
            <a:r>
              <a:rPr lang="en-US" sz="1200" b="1">
                <a:solidFill>
                  <a:schemeClr val="accent1"/>
                </a:solidFill>
                <a:latin typeface="Montserrat" panose="00000500000000000000" pitchFamily="2" charset="0"/>
              </a:rPr>
              <a:t>Key Concepts of a Finite State Machine:</a:t>
            </a:r>
          </a:p>
        </p:txBody>
      </p:sp>
      <p:sp>
        <p:nvSpPr>
          <p:cNvPr id="9" name="TextBox 8">
            <a:extLst>
              <a:ext uri="{FF2B5EF4-FFF2-40B4-BE49-F238E27FC236}">
                <a16:creationId xmlns:a16="http://schemas.microsoft.com/office/drawing/2014/main" id="{F5FA373C-CC60-ED82-414D-04B5E1BF7CC5}"/>
              </a:ext>
            </a:extLst>
          </p:cNvPr>
          <p:cNvSpPr txBox="1"/>
          <p:nvPr/>
        </p:nvSpPr>
        <p:spPr>
          <a:xfrm>
            <a:off x="222143" y="2008868"/>
            <a:ext cx="5476067" cy="461665"/>
          </a:xfrm>
          <a:prstGeom prst="rect">
            <a:avLst/>
          </a:prstGeom>
          <a:noFill/>
        </p:spPr>
        <p:txBody>
          <a:bodyPr wrap="square">
            <a:spAutoFit/>
          </a:bodyPr>
          <a:lstStyle/>
          <a:p>
            <a:r>
              <a:rPr lang="en-US" sz="1200" b="1">
                <a:solidFill>
                  <a:schemeClr val="accent1"/>
                </a:solidFill>
                <a:latin typeface="Montserrat" panose="00000500000000000000" pitchFamily="2" charset="0"/>
              </a:rPr>
              <a:t>States</a:t>
            </a:r>
            <a:r>
              <a:rPr lang="en-US" sz="1200">
                <a:solidFill>
                  <a:schemeClr val="accent1"/>
                </a:solidFill>
                <a:latin typeface="Montserrat" panose="00000500000000000000" pitchFamily="2" charset="0"/>
              </a:rPr>
              <a:t>: An FSM consists of a finite number of </a:t>
            </a:r>
            <a:r>
              <a:rPr lang="en-US" sz="1200" b="1">
                <a:solidFill>
                  <a:schemeClr val="accent1"/>
                </a:solidFill>
                <a:latin typeface="Montserrat" panose="00000500000000000000" pitchFamily="2" charset="0"/>
              </a:rPr>
              <a:t>states</a:t>
            </a:r>
            <a:r>
              <a:rPr lang="en-US" sz="1200">
                <a:solidFill>
                  <a:schemeClr val="accent1"/>
                </a:solidFill>
                <a:latin typeface="Montserrat" panose="00000500000000000000" pitchFamily="2" charset="0"/>
              </a:rPr>
              <a:t>. Each state represents a unique condition or configuration of the system.</a:t>
            </a:r>
          </a:p>
        </p:txBody>
      </p:sp>
      <p:sp>
        <p:nvSpPr>
          <p:cNvPr id="11" name="TextBox 10">
            <a:extLst>
              <a:ext uri="{FF2B5EF4-FFF2-40B4-BE49-F238E27FC236}">
                <a16:creationId xmlns:a16="http://schemas.microsoft.com/office/drawing/2014/main" id="{AC5F7F1A-87AB-AC64-6701-5A7737B635CD}"/>
              </a:ext>
            </a:extLst>
          </p:cNvPr>
          <p:cNvSpPr txBox="1"/>
          <p:nvPr/>
        </p:nvSpPr>
        <p:spPr>
          <a:xfrm>
            <a:off x="222143" y="2609727"/>
            <a:ext cx="5357247" cy="646331"/>
          </a:xfrm>
          <a:prstGeom prst="rect">
            <a:avLst/>
          </a:prstGeom>
          <a:noFill/>
        </p:spPr>
        <p:txBody>
          <a:bodyPr wrap="square">
            <a:spAutoFit/>
          </a:bodyPr>
          <a:lstStyle/>
          <a:p>
            <a:r>
              <a:rPr lang="en-US" sz="1200" b="1">
                <a:solidFill>
                  <a:schemeClr val="accent1"/>
                </a:solidFill>
                <a:latin typeface="Montserrat" panose="00000500000000000000" pitchFamily="2" charset="0"/>
              </a:rPr>
              <a:t>Transitions</a:t>
            </a:r>
            <a:r>
              <a:rPr lang="en-US" sz="1200">
                <a:solidFill>
                  <a:schemeClr val="accent1"/>
                </a:solidFill>
                <a:latin typeface="Montserrat" panose="00000500000000000000" pitchFamily="2" charset="0"/>
              </a:rPr>
              <a:t>: define the rules for moving from one state to another.</a:t>
            </a:r>
          </a:p>
          <a:p>
            <a:r>
              <a:rPr lang="en-US" sz="1200">
                <a:solidFill>
                  <a:schemeClr val="accent1"/>
                </a:solidFill>
                <a:latin typeface="Montserrat" panose="00000500000000000000" pitchFamily="2" charset="0"/>
              </a:rPr>
              <a:t>Transitions are triggered by </a:t>
            </a:r>
            <a:r>
              <a:rPr lang="en-US" sz="1200" b="1">
                <a:solidFill>
                  <a:schemeClr val="accent1"/>
                </a:solidFill>
                <a:latin typeface="Montserrat" panose="00000500000000000000" pitchFamily="2" charset="0"/>
              </a:rPr>
              <a:t>inputs</a:t>
            </a:r>
            <a:r>
              <a:rPr lang="en-US" sz="1200">
                <a:solidFill>
                  <a:schemeClr val="accent1"/>
                </a:solidFill>
                <a:latin typeface="Montserrat" panose="00000500000000000000" pitchFamily="2" charset="0"/>
              </a:rPr>
              <a:t> (events or signals) and often depend on both </a:t>
            </a:r>
            <a:r>
              <a:rPr lang="en-US" sz="1200" b="1">
                <a:solidFill>
                  <a:schemeClr val="accent1"/>
                </a:solidFill>
                <a:latin typeface="Montserrat" panose="00000500000000000000" pitchFamily="2" charset="0"/>
              </a:rPr>
              <a:t>the current state </a:t>
            </a:r>
            <a:r>
              <a:rPr lang="en-US" sz="1200">
                <a:solidFill>
                  <a:schemeClr val="accent1"/>
                </a:solidFill>
                <a:latin typeface="Montserrat" panose="00000500000000000000" pitchFamily="2" charset="0"/>
              </a:rPr>
              <a:t>and </a:t>
            </a:r>
            <a:r>
              <a:rPr lang="en-US" sz="1200" b="1">
                <a:solidFill>
                  <a:schemeClr val="accent1"/>
                </a:solidFill>
                <a:latin typeface="Montserrat" panose="00000500000000000000" pitchFamily="2" charset="0"/>
              </a:rPr>
              <a:t>the input values</a:t>
            </a:r>
            <a:r>
              <a:rPr lang="en-US" sz="1200">
                <a:solidFill>
                  <a:schemeClr val="accent1"/>
                </a:solidFill>
                <a:latin typeface="Montserrat" panose="00000500000000000000" pitchFamily="2" charset="0"/>
              </a:rPr>
              <a:t>.</a:t>
            </a:r>
          </a:p>
        </p:txBody>
      </p:sp>
      <p:sp>
        <p:nvSpPr>
          <p:cNvPr id="13" name="TextBox 12">
            <a:extLst>
              <a:ext uri="{FF2B5EF4-FFF2-40B4-BE49-F238E27FC236}">
                <a16:creationId xmlns:a16="http://schemas.microsoft.com/office/drawing/2014/main" id="{1CBF65CF-0E76-7C66-8985-A1CA96A01840}"/>
              </a:ext>
            </a:extLst>
          </p:cNvPr>
          <p:cNvSpPr txBox="1"/>
          <p:nvPr/>
        </p:nvSpPr>
        <p:spPr>
          <a:xfrm>
            <a:off x="242806" y="3522344"/>
            <a:ext cx="8689383" cy="276999"/>
          </a:xfrm>
          <a:prstGeom prst="rect">
            <a:avLst/>
          </a:prstGeom>
          <a:noFill/>
        </p:spPr>
        <p:txBody>
          <a:bodyPr wrap="square">
            <a:spAutoFit/>
          </a:bodyPr>
          <a:lstStyle/>
          <a:p>
            <a:r>
              <a:rPr lang="en-US" sz="1200" b="1">
                <a:solidFill>
                  <a:schemeClr val="accent1"/>
                </a:solidFill>
                <a:latin typeface="Montserrat" panose="00000500000000000000" pitchFamily="2" charset="0"/>
              </a:rPr>
              <a:t>Inputs</a:t>
            </a:r>
            <a:r>
              <a:rPr lang="en-US" sz="1200">
                <a:solidFill>
                  <a:schemeClr val="accent1"/>
                </a:solidFill>
                <a:latin typeface="Montserrat" panose="00000500000000000000" pitchFamily="2" charset="0"/>
              </a:rPr>
              <a:t>: Inputs are external signals or events that influence the FSM's transitions and determine its behavior.</a:t>
            </a:r>
          </a:p>
        </p:txBody>
      </p:sp>
      <p:sp>
        <p:nvSpPr>
          <p:cNvPr id="15" name="TextBox 14">
            <a:extLst>
              <a:ext uri="{FF2B5EF4-FFF2-40B4-BE49-F238E27FC236}">
                <a16:creationId xmlns:a16="http://schemas.microsoft.com/office/drawing/2014/main" id="{C49EF84B-E384-F84C-3795-4D0FDD4D36E4}"/>
              </a:ext>
            </a:extLst>
          </p:cNvPr>
          <p:cNvSpPr txBox="1"/>
          <p:nvPr/>
        </p:nvSpPr>
        <p:spPr>
          <a:xfrm>
            <a:off x="222143" y="4065630"/>
            <a:ext cx="8730710" cy="646331"/>
          </a:xfrm>
          <a:prstGeom prst="rect">
            <a:avLst/>
          </a:prstGeom>
          <a:noFill/>
        </p:spPr>
        <p:txBody>
          <a:bodyPr wrap="square">
            <a:spAutoFit/>
          </a:bodyPr>
          <a:lstStyle/>
          <a:p>
            <a:r>
              <a:rPr lang="en-US" sz="1200" b="1">
                <a:solidFill>
                  <a:schemeClr val="accent1"/>
                </a:solidFill>
                <a:latin typeface="Montserrat" panose="00000500000000000000" pitchFamily="2" charset="0"/>
              </a:rPr>
              <a:t>Outputs</a:t>
            </a:r>
            <a:r>
              <a:rPr lang="en-US" sz="1200">
                <a:solidFill>
                  <a:schemeClr val="accent1"/>
                </a:solidFill>
                <a:latin typeface="Montserrat" panose="00000500000000000000" pitchFamily="2" charset="0"/>
              </a:rPr>
              <a:t>: are signals or actions produced by the FSM.</a:t>
            </a:r>
          </a:p>
          <a:p>
            <a:r>
              <a:rPr lang="en-US" sz="1200">
                <a:solidFill>
                  <a:schemeClr val="accent1"/>
                </a:solidFill>
                <a:latin typeface="Montserrat" panose="00000500000000000000" pitchFamily="2" charset="0"/>
              </a:rPr>
              <a:t>Outputs can either depend solely </a:t>
            </a:r>
            <a:r>
              <a:rPr lang="en-US" sz="1200" b="1">
                <a:solidFill>
                  <a:schemeClr val="accent1"/>
                </a:solidFill>
                <a:latin typeface="Montserrat" panose="00000500000000000000" pitchFamily="2" charset="0"/>
              </a:rPr>
              <a:t>on the current state (Moore FSM) </a:t>
            </a:r>
            <a:r>
              <a:rPr lang="en-US" sz="1200">
                <a:solidFill>
                  <a:schemeClr val="accent1"/>
                </a:solidFill>
                <a:latin typeface="Montserrat" panose="00000500000000000000" pitchFamily="2" charset="0"/>
              </a:rPr>
              <a:t>or on both the </a:t>
            </a:r>
            <a:r>
              <a:rPr lang="en-US" sz="1200" b="1">
                <a:solidFill>
                  <a:schemeClr val="accent1"/>
                </a:solidFill>
                <a:latin typeface="Montserrat" panose="00000500000000000000" pitchFamily="2" charset="0"/>
              </a:rPr>
              <a:t>current state and inputs (Mealy FSM).</a:t>
            </a:r>
          </a:p>
        </p:txBody>
      </p:sp>
      <p:pic>
        <p:nvPicPr>
          <p:cNvPr id="16" name="Picture 15">
            <a:extLst>
              <a:ext uri="{FF2B5EF4-FFF2-40B4-BE49-F238E27FC236}">
                <a16:creationId xmlns:a16="http://schemas.microsoft.com/office/drawing/2014/main" id="{208919CF-DC60-98C9-05A1-511A246DB989}"/>
              </a:ext>
            </a:extLst>
          </p:cNvPr>
          <p:cNvPicPr>
            <a:picLocks noChangeAspect="1"/>
          </p:cNvPicPr>
          <p:nvPr/>
        </p:nvPicPr>
        <p:blipFill>
          <a:blip r:embed="rId3"/>
          <a:stretch>
            <a:fillRect/>
          </a:stretch>
        </p:blipFill>
        <p:spPr>
          <a:xfrm>
            <a:off x="5579390" y="1584089"/>
            <a:ext cx="2725547" cy="1221980"/>
          </a:xfrm>
          <a:prstGeom prst="rect">
            <a:avLst/>
          </a:prstGeom>
        </p:spPr>
      </p:pic>
      <p:sp>
        <p:nvSpPr>
          <p:cNvPr id="17" name="TextBox 16">
            <a:extLst>
              <a:ext uri="{FF2B5EF4-FFF2-40B4-BE49-F238E27FC236}">
                <a16:creationId xmlns:a16="http://schemas.microsoft.com/office/drawing/2014/main" id="{E38896F6-EE25-7480-6485-514A21ADDA44}"/>
              </a:ext>
            </a:extLst>
          </p:cNvPr>
          <p:cNvSpPr txBox="1"/>
          <p:nvPr/>
        </p:nvSpPr>
        <p:spPr>
          <a:xfrm>
            <a:off x="5979924" y="2926698"/>
            <a:ext cx="2157963" cy="307777"/>
          </a:xfrm>
          <a:prstGeom prst="rect">
            <a:avLst/>
          </a:prstGeom>
          <a:noFill/>
        </p:spPr>
        <p:txBody>
          <a:bodyPr wrap="none" rtlCol="0">
            <a:spAutoFit/>
          </a:bodyPr>
          <a:lstStyle/>
          <a:p>
            <a:r>
              <a:rPr lang="en-US">
                <a:solidFill>
                  <a:schemeClr val="accent1"/>
                </a:solidFill>
                <a:latin typeface="Montserrat" panose="00000500000000000000" pitchFamily="2" charset="0"/>
              </a:rPr>
              <a:t>A finite state machine</a:t>
            </a:r>
          </a:p>
        </p:txBody>
      </p:sp>
    </p:spTree>
    <p:extLst>
      <p:ext uri="{BB962C8B-B14F-4D97-AF65-F5344CB8AC3E}">
        <p14:creationId xmlns:p14="http://schemas.microsoft.com/office/powerpoint/2010/main" val="16565230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B521EA5D-ACB4-41A7-5600-C805FAE779B4}"/>
              </a:ext>
            </a:extLst>
          </p:cNvPr>
          <p:cNvSpPr>
            <a:spLocks noGrp="1"/>
          </p:cNvSpPr>
          <p:nvPr>
            <p:ph type="subTitle" idx="1"/>
          </p:nvPr>
        </p:nvSpPr>
        <p:spPr>
          <a:xfrm>
            <a:off x="377459" y="1217300"/>
            <a:ext cx="8833699" cy="2853588"/>
          </a:xfrm>
        </p:spPr>
        <p:txBody>
          <a:bodyPr/>
          <a:lstStyle/>
          <a:p>
            <a:r>
              <a:rPr lang="en-US" sz="1400" dirty="0"/>
              <a:t>Finite state machine consists of:</a:t>
            </a:r>
          </a:p>
          <a:p>
            <a:r>
              <a:rPr lang="en-US" sz="1400" dirty="0"/>
              <a:t>- </a:t>
            </a:r>
            <a:r>
              <a:rPr lang="en-US" sz="1400" b="1" dirty="0"/>
              <a:t>Two blocks of combinational circuit</a:t>
            </a:r>
            <a:r>
              <a:rPr lang="en-US" sz="1400" dirty="0"/>
              <a:t>: next state logic and output logic</a:t>
            </a:r>
          </a:p>
          <a:p>
            <a:r>
              <a:rPr lang="en-US" sz="1400" dirty="0"/>
              <a:t>   + </a:t>
            </a:r>
            <a:r>
              <a:rPr lang="en-US" sz="1400" b="1"/>
              <a:t>Next state </a:t>
            </a:r>
            <a:r>
              <a:rPr lang="en-US" sz="1400" b="1" dirty="0"/>
              <a:t>logic: </a:t>
            </a:r>
            <a:r>
              <a:rPr lang="en-US" sz="1400" dirty="0"/>
              <a:t>determine next state base on current state and current inputs.</a:t>
            </a:r>
          </a:p>
          <a:p>
            <a:r>
              <a:rPr lang="en-US" sz="1400" dirty="0"/>
              <a:t>   + </a:t>
            </a:r>
            <a:r>
              <a:rPr lang="en-US" sz="1400" b="1" dirty="0"/>
              <a:t>Output logic:  </a:t>
            </a:r>
          </a:p>
          <a:p>
            <a:r>
              <a:rPr lang="en-US" sz="1400" dirty="0"/>
              <a:t>           </a:t>
            </a:r>
            <a:r>
              <a:rPr lang="en-US" sz="1400" i="1" dirty="0"/>
              <a:t>Moore machines:</a:t>
            </a:r>
            <a:r>
              <a:rPr lang="en-US" sz="1400" dirty="0"/>
              <a:t> outputs depend only on current state of machine.</a:t>
            </a:r>
          </a:p>
          <a:p>
            <a:r>
              <a:rPr lang="en-US" sz="1400" dirty="0"/>
              <a:t>           </a:t>
            </a:r>
            <a:r>
              <a:rPr lang="en-US" sz="1400" i="1" dirty="0"/>
              <a:t>Mealy machines: </a:t>
            </a:r>
            <a:r>
              <a:rPr lang="en-US" sz="1400" dirty="0"/>
              <a:t>outputs depend on both current state of machine and current inputs. </a:t>
            </a:r>
          </a:p>
          <a:p>
            <a:r>
              <a:rPr lang="en-US" sz="1400"/>
              <a:t>- </a:t>
            </a:r>
            <a:r>
              <a:rPr lang="en-US" sz="1400" b="1"/>
              <a:t>Sequential circuit: Register</a:t>
            </a:r>
            <a:r>
              <a:rPr lang="en-US" sz="1400"/>
              <a:t> that store current states, </a:t>
            </a:r>
            <a:r>
              <a:rPr lang="en-US" sz="1400" b="1"/>
              <a:t>on every clock cycle</a:t>
            </a:r>
            <a:r>
              <a:rPr lang="en-US" sz="1400"/>
              <a:t> register </a:t>
            </a:r>
            <a:r>
              <a:rPr lang="en-US" sz="1400" b="1"/>
              <a:t>moves </a:t>
            </a:r>
            <a:r>
              <a:rPr lang="en-US" sz="1400"/>
              <a:t>from </a:t>
            </a:r>
            <a:r>
              <a:rPr lang="en-US" sz="1400" b="1"/>
              <a:t>current state </a:t>
            </a:r>
            <a:r>
              <a:rPr lang="en-US" sz="1400"/>
              <a:t>to </a:t>
            </a:r>
            <a:r>
              <a:rPr lang="en-US" sz="1400" b="1"/>
              <a:t>next state.</a:t>
            </a:r>
            <a:endParaRPr lang="en-US" sz="1400" b="1" dirty="0"/>
          </a:p>
          <a:p>
            <a:endParaRPr lang="en-US" sz="1400" dirty="0"/>
          </a:p>
          <a:p>
            <a:endParaRPr lang="en-US" dirty="0"/>
          </a:p>
        </p:txBody>
      </p:sp>
      <p:sp>
        <p:nvSpPr>
          <p:cNvPr id="7" name="Google Shape;478;p58">
            <a:extLst>
              <a:ext uri="{FF2B5EF4-FFF2-40B4-BE49-F238E27FC236}">
                <a16:creationId xmlns:a16="http://schemas.microsoft.com/office/drawing/2014/main" id="{87C9F93C-F8F9-D502-9EB6-E1F365B784F6}"/>
              </a:ext>
            </a:extLst>
          </p:cNvPr>
          <p:cNvSpPr txBox="1">
            <a:spLocks/>
          </p:cNvSpPr>
          <p:nvPr/>
        </p:nvSpPr>
        <p:spPr>
          <a:xfrm>
            <a:off x="0" y="419506"/>
            <a:ext cx="8721468"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000"/>
              <a:buFont typeface="Montserrat"/>
              <a:buNone/>
              <a:defRPr sz="30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2400">
                <a:solidFill>
                  <a:schemeClr val="tx1"/>
                </a:solidFill>
                <a:latin typeface="Montserrat" panose="00000500000000000000" pitchFamily="2" charset="0"/>
              </a:rPr>
              <a:t>How to design FSM using SystemVerilog?</a:t>
            </a:r>
            <a:endParaRPr lang="en-US" sz="2400" dirty="0">
              <a:solidFill>
                <a:schemeClr val="tx1"/>
              </a:solidFill>
              <a:latin typeface="Montserrat" panose="00000500000000000000" pitchFamily="2" charset="0"/>
            </a:endParaRPr>
          </a:p>
        </p:txBody>
      </p:sp>
    </p:spTree>
    <p:extLst>
      <p:ext uri="{BB962C8B-B14F-4D97-AF65-F5344CB8AC3E}">
        <p14:creationId xmlns:p14="http://schemas.microsoft.com/office/powerpoint/2010/main" val="3728277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77"/>
        <p:cNvGrpSpPr/>
        <p:nvPr/>
      </p:nvGrpSpPr>
      <p:grpSpPr>
        <a:xfrm>
          <a:off x="0" y="0"/>
          <a:ext cx="0" cy="0"/>
          <a:chOff x="0" y="0"/>
          <a:chExt cx="0" cy="0"/>
        </a:xfrm>
      </p:grpSpPr>
      <p:sp>
        <p:nvSpPr>
          <p:cNvPr id="478" name="Google Shape;478;p58"/>
          <p:cNvSpPr txBox="1">
            <a:spLocks noGrp="1"/>
          </p:cNvSpPr>
          <p:nvPr>
            <p:ph type="title"/>
          </p:nvPr>
        </p:nvSpPr>
        <p:spPr>
          <a:xfrm>
            <a:off x="370871" y="428904"/>
            <a:ext cx="8721468"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a:solidFill>
                  <a:schemeClr val="tx1"/>
                </a:solidFill>
                <a:latin typeface="Montserrat" panose="00000500000000000000" pitchFamily="2" charset="0"/>
              </a:rPr>
              <a:t>How to design FSM using SystemVerilog?</a:t>
            </a:r>
            <a:endParaRPr sz="2400" dirty="0">
              <a:solidFill>
                <a:schemeClr val="tx1"/>
              </a:solidFill>
              <a:latin typeface="Montserrat" panose="00000500000000000000" pitchFamily="2" charset="0"/>
            </a:endParaRPr>
          </a:p>
        </p:txBody>
      </p:sp>
      <p:pic>
        <p:nvPicPr>
          <p:cNvPr id="3" name="Picture 2">
            <a:extLst>
              <a:ext uri="{FF2B5EF4-FFF2-40B4-BE49-F238E27FC236}">
                <a16:creationId xmlns:a16="http://schemas.microsoft.com/office/drawing/2014/main" id="{1154F042-E4A4-2E9D-894D-6D50A0158B8A}"/>
              </a:ext>
            </a:extLst>
          </p:cNvPr>
          <p:cNvPicPr>
            <a:picLocks noChangeAspect="1"/>
          </p:cNvPicPr>
          <p:nvPr/>
        </p:nvPicPr>
        <p:blipFill>
          <a:blip r:embed="rId3"/>
          <a:stretch>
            <a:fillRect/>
          </a:stretch>
        </p:blipFill>
        <p:spPr>
          <a:xfrm>
            <a:off x="224322" y="1269813"/>
            <a:ext cx="4445015" cy="715442"/>
          </a:xfrm>
          <a:prstGeom prst="rect">
            <a:avLst/>
          </a:prstGeom>
        </p:spPr>
      </p:pic>
      <p:pic>
        <p:nvPicPr>
          <p:cNvPr id="5" name="Picture 4">
            <a:extLst>
              <a:ext uri="{FF2B5EF4-FFF2-40B4-BE49-F238E27FC236}">
                <a16:creationId xmlns:a16="http://schemas.microsoft.com/office/drawing/2014/main" id="{D1757B59-813F-6DF9-5947-FCCAACE22D07}"/>
              </a:ext>
            </a:extLst>
          </p:cNvPr>
          <p:cNvPicPr>
            <a:picLocks noChangeAspect="1"/>
          </p:cNvPicPr>
          <p:nvPr/>
        </p:nvPicPr>
        <p:blipFill>
          <a:blip r:embed="rId4"/>
          <a:stretch>
            <a:fillRect/>
          </a:stretch>
        </p:blipFill>
        <p:spPr>
          <a:xfrm>
            <a:off x="5093453" y="1214458"/>
            <a:ext cx="3296295" cy="815820"/>
          </a:xfrm>
          <a:prstGeom prst="rect">
            <a:avLst/>
          </a:prstGeom>
        </p:spPr>
      </p:pic>
      <p:sp>
        <p:nvSpPr>
          <p:cNvPr id="6" name="TextBox 5">
            <a:extLst>
              <a:ext uri="{FF2B5EF4-FFF2-40B4-BE49-F238E27FC236}">
                <a16:creationId xmlns:a16="http://schemas.microsoft.com/office/drawing/2014/main" id="{328BD0CE-F50E-85D7-16A9-4D3B1B3C3347}"/>
              </a:ext>
            </a:extLst>
          </p:cNvPr>
          <p:cNvSpPr txBox="1"/>
          <p:nvPr/>
        </p:nvSpPr>
        <p:spPr>
          <a:xfrm>
            <a:off x="906637" y="1929093"/>
            <a:ext cx="2492990" cy="276999"/>
          </a:xfrm>
          <a:prstGeom prst="rect">
            <a:avLst/>
          </a:prstGeom>
          <a:noFill/>
        </p:spPr>
        <p:txBody>
          <a:bodyPr wrap="none" rtlCol="0">
            <a:spAutoFit/>
          </a:bodyPr>
          <a:lstStyle/>
          <a:p>
            <a:r>
              <a:rPr lang="en-US" sz="1200" dirty="0">
                <a:solidFill>
                  <a:schemeClr val="accent1"/>
                </a:solidFill>
                <a:latin typeface="Montserrat" panose="00000500000000000000" pitchFamily="2" charset="0"/>
              </a:rPr>
              <a:t>Divide by 3 counter waveform</a:t>
            </a:r>
          </a:p>
        </p:txBody>
      </p:sp>
      <p:sp>
        <p:nvSpPr>
          <p:cNvPr id="7" name="TextBox 6">
            <a:extLst>
              <a:ext uri="{FF2B5EF4-FFF2-40B4-BE49-F238E27FC236}">
                <a16:creationId xmlns:a16="http://schemas.microsoft.com/office/drawing/2014/main" id="{460643C8-06ED-D39C-CE78-A3C631B9C57A}"/>
              </a:ext>
            </a:extLst>
          </p:cNvPr>
          <p:cNvSpPr txBox="1"/>
          <p:nvPr/>
        </p:nvSpPr>
        <p:spPr>
          <a:xfrm>
            <a:off x="5070906" y="1985255"/>
            <a:ext cx="3262432" cy="276999"/>
          </a:xfrm>
          <a:prstGeom prst="rect">
            <a:avLst/>
          </a:prstGeom>
          <a:noFill/>
        </p:spPr>
        <p:txBody>
          <a:bodyPr wrap="none" rtlCol="0">
            <a:spAutoFit/>
          </a:bodyPr>
          <a:lstStyle/>
          <a:p>
            <a:r>
              <a:rPr lang="en-US" sz="1200" dirty="0">
                <a:solidFill>
                  <a:schemeClr val="accent1"/>
                </a:solidFill>
                <a:latin typeface="Montserrat" panose="00000500000000000000" pitchFamily="2" charset="0"/>
              </a:rPr>
              <a:t>Divide by 3 </a:t>
            </a:r>
            <a:r>
              <a:rPr lang="en-US" sz="1200">
                <a:solidFill>
                  <a:schemeClr val="accent1"/>
                </a:solidFill>
                <a:latin typeface="Montserrat" panose="00000500000000000000" pitchFamily="2" charset="0"/>
              </a:rPr>
              <a:t>counter finite state machine</a:t>
            </a:r>
            <a:endParaRPr lang="en-US" sz="1200" dirty="0">
              <a:solidFill>
                <a:schemeClr val="accent1"/>
              </a:solidFill>
              <a:latin typeface="Montserrat" panose="00000500000000000000" pitchFamily="2" charset="0"/>
            </a:endParaRPr>
          </a:p>
        </p:txBody>
      </p:sp>
      <p:pic>
        <p:nvPicPr>
          <p:cNvPr id="9" name="Picture 8">
            <a:extLst>
              <a:ext uri="{FF2B5EF4-FFF2-40B4-BE49-F238E27FC236}">
                <a16:creationId xmlns:a16="http://schemas.microsoft.com/office/drawing/2014/main" id="{979E7E18-FF20-ED07-CA56-4996E7071556}"/>
              </a:ext>
            </a:extLst>
          </p:cNvPr>
          <p:cNvPicPr>
            <a:picLocks noChangeAspect="1"/>
          </p:cNvPicPr>
          <p:nvPr/>
        </p:nvPicPr>
        <p:blipFill>
          <a:blip r:embed="rId5"/>
          <a:stretch>
            <a:fillRect/>
          </a:stretch>
        </p:blipFill>
        <p:spPr>
          <a:xfrm>
            <a:off x="1025828" y="2448362"/>
            <a:ext cx="2662768" cy="1804587"/>
          </a:xfrm>
          <a:prstGeom prst="rect">
            <a:avLst/>
          </a:prstGeom>
        </p:spPr>
      </p:pic>
      <p:pic>
        <p:nvPicPr>
          <p:cNvPr id="11" name="Picture 10">
            <a:extLst>
              <a:ext uri="{FF2B5EF4-FFF2-40B4-BE49-F238E27FC236}">
                <a16:creationId xmlns:a16="http://schemas.microsoft.com/office/drawing/2014/main" id="{6AF97CB7-29F6-1B0F-E589-6D12D90AF166}"/>
              </a:ext>
            </a:extLst>
          </p:cNvPr>
          <p:cNvPicPr>
            <a:picLocks noChangeAspect="1"/>
          </p:cNvPicPr>
          <p:nvPr/>
        </p:nvPicPr>
        <p:blipFill>
          <a:blip r:embed="rId6"/>
          <a:stretch>
            <a:fillRect/>
          </a:stretch>
        </p:blipFill>
        <p:spPr>
          <a:xfrm>
            <a:off x="5340976" y="2397962"/>
            <a:ext cx="2777196" cy="1766196"/>
          </a:xfrm>
          <a:prstGeom prst="rect">
            <a:avLst/>
          </a:prstGeom>
        </p:spPr>
      </p:pic>
      <p:sp>
        <p:nvSpPr>
          <p:cNvPr id="12" name="TextBox 11">
            <a:extLst>
              <a:ext uri="{FF2B5EF4-FFF2-40B4-BE49-F238E27FC236}">
                <a16:creationId xmlns:a16="http://schemas.microsoft.com/office/drawing/2014/main" id="{082FB222-91E1-13D1-7DC9-FA919ECA8B68}"/>
              </a:ext>
            </a:extLst>
          </p:cNvPr>
          <p:cNvSpPr txBox="1"/>
          <p:nvPr/>
        </p:nvSpPr>
        <p:spPr>
          <a:xfrm>
            <a:off x="1538568" y="4082931"/>
            <a:ext cx="1404552" cy="276999"/>
          </a:xfrm>
          <a:prstGeom prst="rect">
            <a:avLst/>
          </a:prstGeom>
          <a:noFill/>
        </p:spPr>
        <p:txBody>
          <a:bodyPr wrap="none" rtlCol="0">
            <a:spAutoFit/>
          </a:bodyPr>
          <a:lstStyle/>
          <a:p>
            <a:r>
              <a:rPr lang="en-US" sz="1200">
                <a:solidFill>
                  <a:schemeClr val="accent1"/>
                </a:solidFill>
                <a:latin typeface="Montserrat" panose="00000500000000000000" pitchFamily="2" charset="0"/>
              </a:rPr>
              <a:t>Next state </a:t>
            </a:r>
            <a:r>
              <a:rPr lang="en-US" sz="1200" dirty="0">
                <a:solidFill>
                  <a:schemeClr val="accent1"/>
                </a:solidFill>
                <a:latin typeface="Montserrat" panose="00000500000000000000" pitchFamily="2" charset="0"/>
              </a:rPr>
              <a:t>table</a:t>
            </a:r>
          </a:p>
        </p:txBody>
      </p:sp>
      <p:sp>
        <p:nvSpPr>
          <p:cNvPr id="13" name="TextBox 12">
            <a:extLst>
              <a:ext uri="{FF2B5EF4-FFF2-40B4-BE49-F238E27FC236}">
                <a16:creationId xmlns:a16="http://schemas.microsoft.com/office/drawing/2014/main" id="{F846DB5D-5BA0-A252-1BC4-8594473B5001}"/>
              </a:ext>
            </a:extLst>
          </p:cNvPr>
          <p:cNvSpPr txBox="1"/>
          <p:nvPr/>
        </p:nvSpPr>
        <p:spPr>
          <a:xfrm>
            <a:off x="6137104" y="3975950"/>
            <a:ext cx="1184940" cy="276999"/>
          </a:xfrm>
          <a:prstGeom prst="rect">
            <a:avLst/>
          </a:prstGeom>
          <a:noFill/>
        </p:spPr>
        <p:txBody>
          <a:bodyPr wrap="none" rtlCol="0">
            <a:spAutoFit/>
          </a:bodyPr>
          <a:lstStyle/>
          <a:p>
            <a:r>
              <a:rPr lang="en-US" sz="1200" dirty="0">
                <a:solidFill>
                  <a:schemeClr val="accent1"/>
                </a:solidFill>
                <a:latin typeface="Montserrat" panose="00000500000000000000" pitchFamily="2" charset="0"/>
              </a:rPr>
              <a:t>Output table</a:t>
            </a:r>
          </a:p>
        </p:txBody>
      </p:sp>
      <p:sp>
        <p:nvSpPr>
          <p:cNvPr id="2" name="TextBox 1">
            <a:extLst>
              <a:ext uri="{FF2B5EF4-FFF2-40B4-BE49-F238E27FC236}">
                <a16:creationId xmlns:a16="http://schemas.microsoft.com/office/drawing/2014/main" id="{610418C7-4BE5-A5CE-34AC-FF5F1BC05910}"/>
              </a:ext>
            </a:extLst>
          </p:cNvPr>
          <p:cNvSpPr txBox="1"/>
          <p:nvPr/>
        </p:nvSpPr>
        <p:spPr>
          <a:xfrm>
            <a:off x="378187" y="1060569"/>
            <a:ext cx="7391630" cy="276999"/>
          </a:xfrm>
          <a:prstGeom prst="rect">
            <a:avLst/>
          </a:prstGeom>
          <a:noFill/>
        </p:spPr>
        <p:txBody>
          <a:bodyPr wrap="square" rtlCol="0">
            <a:spAutoFit/>
          </a:bodyPr>
          <a:lstStyle/>
          <a:p>
            <a:r>
              <a:rPr lang="en-US" sz="1200" b="1">
                <a:solidFill>
                  <a:schemeClr val="accent1"/>
                </a:solidFill>
                <a:latin typeface="Montserrat" panose="00000500000000000000" pitchFamily="2" charset="0"/>
              </a:rPr>
              <a:t>Step 1: </a:t>
            </a:r>
            <a:r>
              <a:rPr lang="en-US" sz="1200">
                <a:solidFill>
                  <a:schemeClr val="accent1"/>
                </a:solidFill>
                <a:latin typeface="Montserrat" panose="00000500000000000000" pitchFamily="2" charset="0"/>
              </a:rPr>
              <a:t>Based on requirements, determine finite state machine </a:t>
            </a:r>
          </a:p>
        </p:txBody>
      </p:sp>
      <p:sp>
        <p:nvSpPr>
          <p:cNvPr id="4" name="TextBox 3">
            <a:extLst>
              <a:ext uri="{FF2B5EF4-FFF2-40B4-BE49-F238E27FC236}">
                <a16:creationId xmlns:a16="http://schemas.microsoft.com/office/drawing/2014/main" id="{4C5E8EB9-4FBD-7EA6-6A12-C34C5D993222}"/>
              </a:ext>
            </a:extLst>
          </p:cNvPr>
          <p:cNvSpPr txBox="1"/>
          <p:nvPr/>
        </p:nvSpPr>
        <p:spPr>
          <a:xfrm>
            <a:off x="368253" y="2186280"/>
            <a:ext cx="7391630" cy="276999"/>
          </a:xfrm>
          <a:prstGeom prst="rect">
            <a:avLst/>
          </a:prstGeom>
          <a:noFill/>
        </p:spPr>
        <p:txBody>
          <a:bodyPr wrap="square" rtlCol="0">
            <a:spAutoFit/>
          </a:bodyPr>
          <a:lstStyle/>
          <a:p>
            <a:r>
              <a:rPr lang="en-US" sz="1200" b="1">
                <a:solidFill>
                  <a:schemeClr val="accent1"/>
                </a:solidFill>
                <a:latin typeface="Montserrat" panose="00000500000000000000" pitchFamily="2" charset="0"/>
              </a:rPr>
              <a:t>Step 2: </a:t>
            </a:r>
            <a:r>
              <a:rPr lang="en-US" sz="1200">
                <a:solidFill>
                  <a:schemeClr val="accent1"/>
                </a:solidFill>
                <a:latin typeface="Montserrat" panose="00000500000000000000" pitchFamily="2" charset="0"/>
              </a:rPr>
              <a:t>Based on requirements, determine next state table and output table. </a:t>
            </a:r>
          </a:p>
        </p:txBody>
      </p:sp>
      <p:sp>
        <p:nvSpPr>
          <p:cNvPr id="8" name="TextBox 7">
            <a:extLst>
              <a:ext uri="{FF2B5EF4-FFF2-40B4-BE49-F238E27FC236}">
                <a16:creationId xmlns:a16="http://schemas.microsoft.com/office/drawing/2014/main" id="{A5BA36CA-C626-1BAE-DB90-B43A0083B91A}"/>
              </a:ext>
            </a:extLst>
          </p:cNvPr>
          <p:cNvSpPr txBox="1"/>
          <p:nvPr/>
        </p:nvSpPr>
        <p:spPr>
          <a:xfrm>
            <a:off x="288292" y="4391430"/>
            <a:ext cx="8664562" cy="646331"/>
          </a:xfrm>
          <a:prstGeom prst="rect">
            <a:avLst/>
          </a:prstGeom>
          <a:noFill/>
        </p:spPr>
        <p:txBody>
          <a:bodyPr wrap="square" rtlCol="0">
            <a:spAutoFit/>
          </a:bodyPr>
          <a:lstStyle/>
          <a:p>
            <a:r>
              <a:rPr lang="en-US" sz="1200" b="1">
                <a:solidFill>
                  <a:schemeClr val="accent1"/>
                </a:solidFill>
                <a:latin typeface="Montserrat" panose="00000500000000000000" pitchFamily="2" charset="0"/>
              </a:rPr>
              <a:t>Step 3: </a:t>
            </a:r>
            <a:r>
              <a:rPr lang="en-US" sz="1200">
                <a:solidFill>
                  <a:schemeClr val="accent1"/>
                </a:solidFill>
                <a:latin typeface="Montserrat" panose="00000500000000000000" pitchFamily="2" charset="0"/>
              </a:rPr>
              <a:t>Design on SystemVerilog</a:t>
            </a:r>
          </a:p>
          <a:p>
            <a:r>
              <a:rPr lang="en-US" sz="1200">
                <a:solidFill>
                  <a:schemeClr val="accent1"/>
                </a:solidFill>
                <a:latin typeface="Montserrat" panose="00000500000000000000" pitchFamily="2" charset="0"/>
              </a:rPr>
              <a:t>Design next state logic (using next state table) and output logic (using output table) by combinational circuit.</a:t>
            </a:r>
          </a:p>
          <a:p>
            <a:r>
              <a:rPr lang="en-US" sz="1200">
                <a:solidFill>
                  <a:schemeClr val="accent1"/>
                </a:solidFill>
                <a:latin typeface="Montserrat" panose="00000500000000000000" pitchFamily="2" charset="0"/>
              </a:rPr>
              <a:t>Design register to store current state and update to next state every clock cycle.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2B91C4-86C4-7606-4B0D-B2090C07C0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A691EF-AD47-4FFA-E93A-42330B4D7FD0}"/>
              </a:ext>
            </a:extLst>
          </p:cNvPr>
          <p:cNvSpPr>
            <a:spLocks noGrp="1"/>
          </p:cNvSpPr>
          <p:nvPr>
            <p:ph type="title"/>
          </p:nvPr>
        </p:nvSpPr>
        <p:spPr>
          <a:xfrm>
            <a:off x="184891" y="346529"/>
            <a:ext cx="7738200" cy="572700"/>
          </a:xfrm>
        </p:spPr>
        <p:txBody>
          <a:bodyPr/>
          <a:lstStyle/>
          <a:p>
            <a:r>
              <a:rPr lang="en-US" dirty="0"/>
              <a:t>Finite state machine</a:t>
            </a:r>
          </a:p>
        </p:txBody>
      </p:sp>
      <p:pic>
        <p:nvPicPr>
          <p:cNvPr id="5" name="Picture 4">
            <a:extLst>
              <a:ext uri="{FF2B5EF4-FFF2-40B4-BE49-F238E27FC236}">
                <a16:creationId xmlns:a16="http://schemas.microsoft.com/office/drawing/2014/main" id="{B6012C88-B1CE-640C-C65E-4DE04D7B07FC}"/>
              </a:ext>
            </a:extLst>
          </p:cNvPr>
          <p:cNvPicPr>
            <a:picLocks noChangeAspect="1"/>
          </p:cNvPicPr>
          <p:nvPr/>
        </p:nvPicPr>
        <p:blipFill>
          <a:blip r:embed="rId2"/>
          <a:stretch>
            <a:fillRect/>
          </a:stretch>
        </p:blipFill>
        <p:spPr>
          <a:xfrm>
            <a:off x="439119" y="1122284"/>
            <a:ext cx="7785315" cy="3875702"/>
          </a:xfrm>
          <a:prstGeom prst="rect">
            <a:avLst/>
          </a:prstGeom>
        </p:spPr>
      </p:pic>
    </p:spTree>
    <p:extLst>
      <p:ext uri="{BB962C8B-B14F-4D97-AF65-F5344CB8AC3E}">
        <p14:creationId xmlns:p14="http://schemas.microsoft.com/office/powerpoint/2010/main" val="23760935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BC5BF0-396E-3C4D-7586-C2E5381A2A70}"/>
              </a:ext>
            </a:extLst>
          </p:cNvPr>
          <p:cNvSpPr>
            <a:spLocks noGrp="1"/>
          </p:cNvSpPr>
          <p:nvPr>
            <p:ph type="title"/>
          </p:nvPr>
        </p:nvSpPr>
        <p:spPr>
          <a:xfrm>
            <a:off x="184891" y="346529"/>
            <a:ext cx="7738200" cy="572700"/>
          </a:xfrm>
        </p:spPr>
        <p:txBody>
          <a:bodyPr/>
          <a:lstStyle/>
          <a:p>
            <a:r>
              <a:rPr lang="en-US" dirty="0"/>
              <a:t>Finite state machine</a:t>
            </a:r>
          </a:p>
        </p:txBody>
      </p:sp>
      <p:graphicFrame>
        <p:nvGraphicFramePr>
          <p:cNvPr id="4" name="Table 3">
            <a:extLst>
              <a:ext uri="{FF2B5EF4-FFF2-40B4-BE49-F238E27FC236}">
                <a16:creationId xmlns:a16="http://schemas.microsoft.com/office/drawing/2014/main" id="{30CD9793-5E28-BF60-FA9B-A3F9C8AE696B}"/>
              </a:ext>
            </a:extLst>
          </p:cNvPr>
          <p:cNvGraphicFramePr>
            <a:graphicFrameLocks noGrp="1"/>
          </p:cNvGraphicFramePr>
          <p:nvPr>
            <p:extLst>
              <p:ext uri="{D42A27DB-BD31-4B8C-83A1-F6EECF244321}">
                <p14:modId xmlns:p14="http://schemas.microsoft.com/office/powerpoint/2010/main" val="1284981209"/>
              </p:ext>
            </p:extLst>
          </p:nvPr>
        </p:nvGraphicFramePr>
        <p:xfrm>
          <a:off x="565688" y="1105209"/>
          <a:ext cx="8012624" cy="4248375"/>
        </p:xfrm>
        <a:graphic>
          <a:graphicData uri="http://schemas.openxmlformats.org/drawingml/2006/table">
            <a:tbl>
              <a:tblPr firstRow="1" bandRow="1">
                <a:tableStyleId>{D971DDEE-25E1-4FD0-9271-24F5402C3206}</a:tableStyleId>
              </a:tblPr>
              <a:tblGrid>
                <a:gridCol w="4543587">
                  <a:extLst>
                    <a:ext uri="{9D8B030D-6E8A-4147-A177-3AD203B41FA5}">
                      <a16:colId xmlns:a16="http://schemas.microsoft.com/office/drawing/2014/main" val="4226337346"/>
                    </a:ext>
                  </a:extLst>
                </a:gridCol>
                <a:gridCol w="3469037">
                  <a:extLst>
                    <a:ext uri="{9D8B030D-6E8A-4147-A177-3AD203B41FA5}">
                      <a16:colId xmlns:a16="http://schemas.microsoft.com/office/drawing/2014/main" val="3689571537"/>
                    </a:ext>
                  </a:extLst>
                </a:gridCol>
              </a:tblGrid>
              <a:tr h="205480">
                <a:tc>
                  <a:txBody>
                    <a:bodyPr/>
                    <a:lstStyle/>
                    <a:p>
                      <a:endParaRPr lang="en-US" sz="800" b="1" dirty="0">
                        <a:solidFill>
                          <a:schemeClr val="accent1"/>
                        </a:solidFill>
                        <a:latin typeface="Montserrat" panose="00000500000000000000" pitchFamily="2" charset="0"/>
                      </a:endParaRPr>
                    </a:p>
                    <a:p>
                      <a:r>
                        <a:rPr lang="en-US" sz="800" b="1">
                          <a:solidFill>
                            <a:schemeClr val="accent1"/>
                          </a:solidFill>
                          <a:latin typeface="Montserrat" panose="00000500000000000000" pitchFamily="2" charset="0"/>
                        </a:rPr>
                        <a:t>                                         divideby3FSM</a:t>
                      </a:r>
                      <a:r>
                        <a:rPr lang="en-US" sz="800" b="1" dirty="0">
                          <a:solidFill>
                            <a:schemeClr val="accent1"/>
                          </a:solidFill>
                          <a:latin typeface="Montserrat" panose="00000500000000000000" pitchFamily="2" charset="0"/>
                        </a:rPr>
                        <a:t>.sv</a:t>
                      </a:r>
                    </a:p>
                  </a:txBody>
                  <a:tcPr/>
                </a:tc>
                <a:tc>
                  <a:txBody>
                    <a:bodyPr/>
                    <a:lstStyle/>
                    <a:p>
                      <a:r>
                        <a:rPr lang="en-US" sz="800" b="1" dirty="0">
                          <a:solidFill>
                            <a:schemeClr val="accent1"/>
                          </a:solidFill>
                          <a:latin typeface="Montserrat" panose="00000500000000000000" pitchFamily="2" charset="0"/>
                        </a:rPr>
                        <a:t>                                                </a:t>
                      </a:r>
                    </a:p>
                    <a:p>
                      <a:r>
                        <a:rPr lang="en-US" sz="800" b="1" dirty="0">
                          <a:solidFill>
                            <a:schemeClr val="accent1"/>
                          </a:solidFill>
                          <a:latin typeface="Montserrat" panose="00000500000000000000" pitchFamily="2" charset="0"/>
                        </a:rPr>
                        <a:t>                                                   divideby3FSM_tb.sv</a:t>
                      </a:r>
                    </a:p>
                  </a:txBody>
                  <a:tcPr/>
                </a:tc>
                <a:extLst>
                  <a:ext uri="{0D108BD9-81ED-4DB2-BD59-A6C34878D82A}">
                    <a16:rowId xmlns:a16="http://schemas.microsoft.com/office/drawing/2014/main" val="819782382"/>
                  </a:ext>
                </a:extLst>
              </a:tr>
              <a:tr h="3913095">
                <a:tc>
                  <a:txBody>
                    <a:bodyPr/>
                    <a:lstStyle/>
                    <a:p>
                      <a:r>
                        <a:rPr lang="en-US" sz="800" dirty="0">
                          <a:solidFill>
                            <a:schemeClr val="accent1"/>
                          </a:solidFill>
                          <a:latin typeface="Montserrat" panose="00000500000000000000" pitchFamily="2" charset="0"/>
                        </a:rPr>
                        <a:t>module divideby3FSM(input logic </a:t>
                      </a:r>
                      <a:r>
                        <a:rPr lang="en-US" sz="800" dirty="0" err="1">
                          <a:solidFill>
                            <a:schemeClr val="accent1"/>
                          </a:solidFill>
                          <a:latin typeface="Montserrat" panose="00000500000000000000" pitchFamily="2" charset="0"/>
                        </a:rPr>
                        <a:t>clk</a:t>
                      </a:r>
                      <a:r>
                        <a:rPr lang="en-US" sz="800" dirty="0">
                          <a:solidFill>
                            <a:schemeClr val="accent1"/>
                          </a:solidFill>
                          <a:latin typeface="Montserrat" panose="00000500000000000000" pitchFamily="2" charset="0"/>
                        </a:rPr>
                        <a:t>,</a:t>
                      </a:r>
                    </a:p>
                    <a:p>
                      <a:r>
                        <a:rPr lang="en-US" sz="800">
                          <a:solidFill>
                            <a:schemeClr val="accent1"/>
                          </a:solidFill>
                          <a:latin typeface="Montserrat" panose="00000500000000000000" pitchFamily="2" charset="0"/>
                        </a:rPr>
                        <a:t>                                           </a:t>
                      </a:r>
                      <a:r>
                        <a:rPr lang="en-US" sz="800" dirty="0">
                          <a:solidFill>
                            <a:schemeClr val="accent1"/>
                          </a:solidFill>
                          <a:latin typeface="Montserrat" panose="00000500000000000000" pitchFamily="2" charset="0"/>
                        </a:rPr>
                        <a:t>input logic reset,</a:t>
                      </a:r>
                    </a:p>
                    <a:p>
                      <a:r>
                        <a:rPr lang="en-US" sz="800">
                          <a:solidFill>
                            <a:schemeClr val="accent1"/>
                          </a:solidFill>
                          <a:latin typeface="Montserrat" panose="00000500000000000000" pitchFamily="2" charset="0"/>
                        </a:rPr>
                        <a:t>                                            </a:t>
                      </a:r>
                      <a:r>
                        <a:rPr lang="en-US" sz="800" dirty="0">
                          <a:solidFill>
                            <a:schemeClr val="accent1"/>
                          </a:solidFill>
                          <a:latin typeface="Montserrat" panose="00000500000000000000" pitchFamily="2" charset="0"/>
                        </a:rPr>
                        <a:t>output logic y);</a:t>
                      </a:r>
                    </a:p>
                    <a:p>
                      <a:r>
                        <a:rPr lang="en-US" sz="800">
                          <a:solidFill>
                            <a:schemeClr val="accent1"/>
                          </a:solidFill>
                          <a:latin typeface="Montserrat" panose="00000500000000000000" pitchFamily="2" charset="0"/>
                        </a:rPr>
                        <a:t>	 </a:t>
                      </a:r>
                      <a:r>
                        <a:rPr lang="en-US" sz="800" dirty="0">
                          <a:solidFill>
                            <a:schemeClr val="accent1"/>
                          </a:solidFill>
                          <a:latin typeface="Montserrat" panose="00000500000000000000" pitchFamily="2" charset="0"/>
                        </a:rPr>
                        <a:t>	</a:t>
                      </a:r>
                      <a:r>
                        <a:rPr lang="en-US" sz="800">
                          <a:solidFill>
                            <a:schemeClr val="accent1"/>
                          </a:solidFill>
                          <a:latin typeface="Montserrat" panose="00000500000000000000" pitchFamily="2" charset="0"/>
                        </a:rPr>
                        <a:t> </a:t>
                      </a:r>
                    </a:p>
                    <a:p>
                      <a:r>
                        <a:rPr lang="en-US" sz="800">
                          <a:solidFill>
                            <a:schemeClr val="accent1"/>
                          </a:solidFill>
                          <a:latin typeface="Montserrat" panose="00000500000000000000" pitchFamily="2" charset="0"/>
                        </a:rPr>
                        <a:t>                                typedef </a:t>
                      </a:r>
                      <a:r>
                        <a:rPr lang="en-US" sz="800" dirty="0" err="1">
                          <a:solidFill>
                            <a:schemeClr val="accent1"/>
                          </a:solidFill>
                          <a:latin typeface="Montserrat" panose="00000500000000000000" pitchFamily="2" charset="0"/>
                        </a:rPr>
                        <a:t>enum</a:t>
                      </a:r>
                      <a:r>
                        <a:rPr lang="en-US" sz="800" dirty="0">
                          <a:solidFill>
                            <a:schemeClr val="accent1"/>
                          </a:solidFill>
                          <a:latin typeface="Montserrat" panose="00000500000000000000" pitchFamily="2" charset="0"/>
                        </a:rPr>
                        <a:t> logic [1:0] </a:t>
                      </a:r>
                      <a:r>
                        <a:rPr lang="en-US" sz="800">
                          <a:solidFill>
                            <a:schemeClr val="accent1"/>
                          </a:solidFill>
                          <a:latin typeface="Montserrat" panose="00000500000000000000" pitchFamily="2" charset="0"/>
                        </a:rPr>
                        <a:t>{S0 = 2’b00, S1 = 2’b01, S2 = 2’b10} </a:t>
                      </a:r>
                      <a:r>
                        <a:rPr lang="en-US" sz="800" dirty="0" err="1">
                          <a:solidFill>
                            <a:schemeClr val="accent1"/>
                          </a:solidFill>
                          <a:latin typeface="Montserrat" panose="00000500000000000000" pitchFamily="2" charset="0"/>
                        </a:rPr>
                        <a:t>statetype</a:t>
                      </a:r>
                      <a:r>
                        <a:rPr lang="en-US" sz="800" dirty="0">
                          <a:solidFill>
                            <a:schemeClr val="accent1"/>
                          </a:solidFill>
                          <a:latin typeface="Montserrat" panose="00000500000000000000" pitchFamily="2" charset="0"/>
                        </a:rPr>
                        <a:t>;</a:t>
                      </a:r>
                    </a:p>
                    <a:p>
                      <a:r>
                        <a:rPr lang="en-US" sz="800" dirty="0">
                          <a:solidFill>
                            <a:schemeClr val="accent1"/>
                          </a:solidFill>
                          <a:latin typeface="Montserrat" panose="00000500000000000000" pitchFamily="2" charset="0"/>
                        </a:rPr>
                        <a:t>	</a:t>
                      </a:r>
                      <a:r>
                        <a:rPr lang="en-US" sz="800" dirty="0" err="1">
                          <a:solidFill>
                            <a:schemeClr val="accent1"/>
                          </a:solidFill>
                          <a:latin typeface="Montserrat" panose="00000500000000000000" pitchFamily="2" charset="0"/>
                        </a:rPr>
                        <a:t>statetype</a:t>
                      </a:r>
                      <a:r>
                        <a:rPr lang="en-US" sz="800" dirty="0">
                          <a:solidFill>
                            <a:schemeClr val="accent1"/>
                          </a:solidFill>
                          <a:latin typeface="Montserrat" panose="00000500000000000000" pitchFamily="2" charset="0"/>
                        </a:rPr>
                        <a:t> state, </a:t>
                      </a:r>
                      <a:r>
                        <a:rPr lang="en-US" sz="800" dirty="0" err="1">
                          <a:solidFill>
                            <a:schemeClr val="accent1"/>
                          </a:solidFill>
                          <a:latin typeface="Montserrat" panose="00000500000000000000" pitchFamily="2" charset="0"/>
                        </a:rPr>
                        <a:t>nextstate</a:t>
                      </a:r>
                      <a:r>
                        <a:rPr lang="en-US" sz="800" dirty="0">
                          <a:solidFill>
                            <a:schemeClr val="accent1"/>
                          </a:solidFill>
                          <a:latin typeface="Montserrat" panose="00000500000000000000" pitchFamily="2" charset="0"/>
                        </a:rPr>
                        <a:t>;</a:t>
                      </a:r>
                    </a:p>
                    <a:p>
                      <a:r>
                        <a:rPr lang="en-US" sz="800">
                          <a:solidFill>
                            <a:schemeClr val="accent1"/>
                          </a:solidFill>
                          <a:latin typeface="Montserrat" panose="00000500000000000000" pitchFamily="2" charset="0"/>
                        </a:rPr>
                        <a:t>	</a:t>
                      </a:r>
                    </a:p>
                    <a:p>
                      <a:r>
                        <a:rPr lang="en-US" sz="800">
                          <a:solidFill>
                            <a:schemeClr val="accent1"/>
                          </a:solidFill>
                          <a:latin typeface="Montserrat" panose="00000500000000000000" pitchFamily="2" charset="0"/>
                        </a:rPr>
                        <a:t>                                 // Register stores current state and move to next state</a:t>
                      </a:r>
                    </a:p>
                    <a:p>
                      <a:r>
                        <a:rPr lang="en-US" sz="800">
                          <a:solidFill>
                            <a:schemeClr val="accent1"/>
                          </a:solidFill>
                          <a:latin typeface="Montserrat" panose="00000500000000000000" pitchFamily="2" charset="0"/>
                        </a:rPr>
                        <a:t>                                 // on every positive edge of clock</a:t>
                      </a:r>
                      <a:endParaRPr lang="en-US" sz="800" dirty="0">
                        <a:solidFill>
                          <a:schemeClr val="accent1"/>
                        </a:solidFill>
                        <a:latin typeface="Montserrat" panose="00000500000000000000" pitchFamily="2" charset="0"/>
                      </a:endParaRPr>
                    </a:p>
                    <a:p>
                      <a:r>
                        <a:rPr lang="en-US" sz="800" dirty="0">
                          <a:solidFill>
                            <a:schemeClr val="accent1"/>
                          </a:solidFill>
                          <a:latin typeface="Montserrat" panose="00000500000000000000" pitchFamily="2" charset="0"/>
                        </a:rPr>
                        <a:t>	</a:t>
                      </a:r>
                      <a:r>
                        <a:rPr lang="en-US" sz="800" dirty="0" err="1">
                          <a:solidFill>
                            <a:schemeClr val="accent1"/>
                          </a:solidFill>
                          <a:latin typeface="Montserrat" panose="00000500000000000000" pitchFamily="2" charset="0"/>
                        </a:rPr>
                        <a:t>always_ff</a:t>
                      </a:r>
                      <a:r>
                        <a:rPr lang="en-US" sz="800" dirty="0">
                          <a:solidFill>
                            <a:schemeClr val="accent1"/>
                          </a:solidFill>
                          <a:latin typeface="Montserrat" panose="00000500000000000000" pitchFamily="2" charset="0"/>
                        </a:rPr>
                        <a:t> @(posedge </a:t>
                      </a:r>
                      <a:r>
                        <a:rPr lang="en-US" sz="800" dirty="0" err="1">
                          <a:solidFill>
                            <a:schemeClr val="accent1"/>
                          </a:solidFill>
                          <a:latin typeface="Montserrat" panose="00000500000000000000" pitchFamily="2" charset="0"/>
                        </a:rPr>
                        <a:t>clk</a:t>
                      </a:r>
                      <a:r>
                        <a:rPr lang="en-US" sz="800" dirty="0">
                          <a:solidFill>
                            <a:schemeClr val="accent1"/>
                          </a:solidFill>
                          <a:latin typeface="Montserrat" panose="00000500000000000000" pitchFamily="2" charset="0"/>
                        </a:rPr>
                        <a:t>, </a:t>
                      </a:r>
                      <a:r>
                        <a:rPr lang="en-US" sz="800" dirty="0" err="1">
                          <a:solidFill>
                            <a:schemeClr val="accent1"/>
                          </a:solidFill>
                          <a:latin typeface="Montserrat" panose="00000500000000000000" pitchFamily="2" charset="0"/>
                        </a:rPr>
                        <a:t>posedge</a:t>
                      </a:r>
                      <a:r>
                        <a:rPr lang="en-US" sz="800" dirty="0">
                          <a:solidFill>
                            <a:schemeClr val="accent1"/>
                          </a:solidFill>
                          <a:latin typeface="Montserrat" panose="00000500000000000000" pitchFamily="2" charset="0"/>
                        </a:rPr>
                        <a:t> reset)</a:t>
                      </a:r>
                    </a:p>
                    <a:p>
                      <a:r>
                        <a:rPr lang="en-US" sz="800" dirty="0">
                          <a:solidFill>
                            <a:schemeClr val="accent1"/>
                          </a:solidFill>
                          <a:latin typeface="Montserrat" panose="00000500000000000000" pitchFamily="2" charset="0"/>
                        </a:rPr>
                        <a:t>	if (reset) state &lt;= S0;</a:t>
                      </a:r>
                    </a:p>
                    <a:p>
                      <a:r>
                        <a:rPr lang="en-US" sz="800" dirty="0">
                          <a:solidFill>
                            <a:schemeClr val="accent1"/>
                          </a:solidFill>
                          <a:latin typeface="Montserrat" panose="00000500000000000000" pitchFamily="2" charset="0"/>
                        </a:rPr>
                        <a:t>	else state &lt;= </a:t>
                      </a:r>
                      <a:r>
                        <a:rPr lang="en-US" sz="800" dirty="0" err="1">
                          <a:solidFill>
                            <a:schemeClr val="accent1"/>
                          </a:solidFill>
                          <a:latin typeface="Montserrat" panose="00000500000000000000" pitchFamily="2" charset="0"/>
                        </a:rPr>
                        <a:t>nextstate</a:t>
                      </a:r>
                      <a:r>
                        <a:rPr lang="en-US" sz="800" dirty="0">
                          <a:solidFill>
                            <a:schemeClr val="accent1"/>
                          </a:solidFill>
                          <a:latin typeface="Montserrat" panose="00000500000000000000" pitchFamily="2" charset="0"/>
                        </a:rPr>
                        <a:t>;</a:t>
                      </a:r>
                    </a:p>
                    <a:p>
                      <a:r>
                        <a:rPr lang="en-US" sz="800" dirty="0">
                          <a:solidFill>
                            <a:schemeClr val="accent1"/>
                          </a:solidFill>
                          <a:latin typeface="Montserrat" panose="00000500000000000000" pitchFamily="2" charset="0"/>
                        </a:rPr>
                        <a:t>	</a:t>
                      </a:r>
                    </a:p>
                    <a:p>
                      <a:r>
                        <a:rPr lang="en-US" sz="800" dirty="0">
                          <a:solidFill>
                            <a:schemeClr val="accent1"/>
                          </a:solidFill>
                          <a:latin typeface="Montserrat" panose="00000500000000000000" pitchFamily="2" charset="0"/>
                        </a:rPr>
                        <a:t>	// next </a:t>
                      </a:r>
                      <a:r>
                        <a:rPr lang="en-US" sz="800">
                          <a:solidFill>
                            <a:schemeClr val="accent1"/>
                          </a:solidFill>
                          <a:latin typeface="Montserrat" panose="00000500000000000000" pitchFamily="2" charset="0"/>
                        </a:rPr>
                        <a:t>state logic to determine what is next state</a:t>
                      </a:r>
                      <a:endParaRPr lang="en-US" sz="800" dirty="0">
                        <a:solidFill>
                          <a:schemeClr val="accent1"/>
                        </a:solidFill>
                        <a:latin typeface="Montserrat" panose="00000500000000000000" pitchFamily="2" charset="0"/>
                      </a:endParaRPr>
                    </a:p>
                    <a:p>
                      <a:r>
                        <a:rPr lang="en-US" sz="800" dirty="0">
                          <a:solidFill>
                            <a:schemeClr val="accent1"/>
                          </a:solidFill>
                          <a:latin typeface="Montserrat" panose="00000500000000000000" pitchFamily="2" charset="0"/>
                        </a:rPr>
                        <a:t>	</a:t>
                      </a:r>
                      <a:r>
                        <a:rPr lang="en-US" sz="800" dirty="0" err="1">
                          <a:solidFill>
                            <a:schemeClr val="accent1"/>
                          </a:solidFill>
                          <a:latin typeface="Montserrat" panose="00000500000000000000" pitchFamily="2" charset="0"/>
                        </a:rPr>
                        <a:t>always_comb</a:t>
                      </a:r>
                      <a:endParaRPr lang="en-US" sz="800" dirty="0">
                        <a:solidFill>
                          <a:schemeClr val="accent1"/>
                        </a:solidFill>
                        <a:latin typeface="Montserrat" panose="00000500000000000000" pitchFamily="2" charset="0"/>
                      </a:endParaRPr>
                    </a:p>
                    <a:p>
                      <a:r>
                        <a:rPr lang="en-US" sz="800" dirty="0">
                          <a:solidFill>
                            <a:schemeClr val="accent1"/>
                          </a:solidFill>
                          <a:latin typeface="Montserrat" panose="00000500000000000000" pitchFamily="2" charset="0"/>
                        </a:rPr>
                        <a:t>	case (state)</a:t>
                      </a:r>
                    </a:p>
                    <a:p>
                      <a:r>
                        <a:rPr lang="en-US" sz="800" dirty="0">
                          <a:solidFill>
                            <a:schemeClr val="accent1"/>
                          </a:solidFill>
                          <a:latin typeface="Montserrat" panose="00000500000000000000" pitchFamily="2" charset="0"/>
                        </a:rPr>
                        <a:t>	S0: </a:t>
                      </a:r>
                      <a:r>
                        <a:rPr lang="en-US" sz="800" dirty="0" err="1">
                          <a:solidFill>
                            <a:schemeClr val="accent1"/>
                          </a:solidFill>
                          <a:latin typeface="Montserrat" panose="00000500000000000000" pitchFamily="2" charset="0"/>
                        </a:rPr>
                        <a:t>nextstate</a:t>
                      </a:r>
                      <a:r>
                        <a:rPr lang="en-US" sz="800" dirty="0">
                          <a:solidFill>
                            <a:schemeClr val="accent1"/>
                          </a:solidFill>
                          <a:latin typeface="Montserrat" panose="00000500000000000000" pitchFamily="2" charset="0"/>
                        </a:rPr>
                        <a:t> = S1;</a:t>
                      </a:r>
                    </a:p>
                    <a:p>
                      <a:r>
                        <a:rPr lang="en-US" sz="800" dirty="0">
                          <a:solidFill>
                            <a:schemeClr val="accent1"/>
                          </a:solidFill>
                          <a:latin typeface="Montserrat" panose="00000500000000000000" pitchFamily="2" charset="0"/>
                        </a:rPr>
                        <a:t>	S1: </a:t>
                      </a:r>
                      <a:r>
                        <a:rPr lang="en-US" sz="800" dirty="0" err="1">
                          <a:solidFill>
                            <a:schemeClr val="accent1"/>
                          </a:solidFill>
                          <a:latin typeface="Montserrat" panose="00000500000000000000" pitchFamily="2" charset="0"/>
                        </a:rPr>
                        <a:t>nextstate</a:t>
                      </a:r>
                      <a:r>
                        <a:rPr lang="en-US" sz="800" dirty="0">
                          <a:solidFill>
                            <a:schemeClr val="accent1"/>
                          </a:solidFill>
                          <a:latin typeface="Montserrat" panose="00000500000000000000" pitchFamily="2" charset="0"/>
                        </a:rPr>
                        <a:t> = S2;</a:t>
                      </a:r>
                    </a:p>
                    <a:p>
                      <a:r>
                        <a:rPr lang="en-US" sz="800" dirty="0">
                          <a:solidFill>
                            <a:schemeClr val="accent1"/>
                          </a:solidFill>
                          <a:latin typeface="Montserrat" panose="00000500000000000000" pitchFamily="2" charset="0"/>
                        </a:rPr>
                        <a:t>	S2: </a:t>
                      </a:r>
                      <a:r>
                        <a:rPr lang="en-US" sz="800" dirty="0" err="1">
                          <a:solidFill>
                            <a:schemeClr val="accent1"/>
                          </a:solidFill>
                          <a:latin typeface="Montserrat" panose="00000500000000000000" pitchFamily="2" charset="0"/>
                        </a:rPr>
                        <a:t>nextstate</a:t>
                      </a:r>
                      <a:r>
                        <a:rPr lang="en-US" sz="800" dirty="0">
                          <a:solidFill>
                            <a:schemeClr val="accent1"/>
                          </a:solidFill>
                          <a:latin typeface="Montserrat" panose="00000500000000000000" pitchFamily="2" charset="0"/>
                        </a:rPr>
                        <a:t> = S0;</a:t>
                      </a:r>
                    </a:p>
                    <a:p>
                      <a:r>
                        <a:rPr lang="en-US" sz="800" dirty="0">
                          <a:solidFill>
                            <a:schemeClr val="accent1"/>
                          </a:solidFill>
                          <a:latin typeface="Montserrat" panose="00000500000000000000" pitchFamily="2" charset="0"/>
                        </a:rPr>
                        <a:t>	default: </a:t>
                      </a:r>
                      <a:r>
                        <a:rPr lang="en-US" sz="800" dirty="0" err="1">
                          <a:solidFill>
                            <a:schemeClr val="accent1"/>
                          </a:solidFill>
                          <a:latin typeface="Montserrat" panose="00000500000000000000" pitchFamily="2" charset="0"/>
                        </a:rPr>
                        <a:t>nextstate</a:t>
                      </a:r>
                      <a:r>
                        <a:rPr lang="en-US" sz="800" dirty="0">
                          <a:solidFill>
                            <a:schemeClr val="accent1"/>
                          </a:solidFill>
                          <a:latin typeface="Montserrat" panose="00000500000000000000" pitchFamily="2" charset="0"/>
                        </a:rPr>
                        <a:t> = S0;</a:t>
                      </a:r>
                    </a:p>
                    <a:p>
                      <a:r>
                        <a:rPr lang="en-US" sz="800" dirty="0">
                          <a:solidFill>
                            <a:schemeClr val="accent1"/>
                          </a:solidFill>
                          <a:latin typeface="Montserrat" panose="00000500000000000000" pitchFamily="2" charset="0"/>
                        </a:rPr>
                        <a:t>	</a:t>
                      </a:r>
                      <a:r>
                        <a:rPr lang="en-US" sz="800" dirty="0" err="1">
                          <a:solidFill>
                            <a:schemeClr val="accent1"/>
                          </a:solidFill>
                          <a:latin typeface="Montserrat" panose="00000500000000000000" pitchFamily="2" charset="0"/>
                        </a:rPr>
                        <a:t>endcase</a:t>
                      </a:r>
                      <a:endParaRPr lang="en-US" sz="800" dirty="0">
                        <a:solidFill>
                          <a:schemeClr val="accent1"/>
                        </a:solidFill>
                        <a:latin typeface="Montserrat" panose="00000500000000000000" pitchFamily="2" charset="0"/>
                      </a:endParaRPr>
                    </a:p>
                    <a:p>
                      <a:r>
                        <a:rPr lang="en-US" sz="800" dirty="0">
                          <a:solidFill>
                            <a:schemeClr val="accent1"/>
                          </a:solidFill>
                          <a:latin typeface="Montserrat" panose="00000500000000000000" pitchFamily="2" charset="0"/>
                        </a:rPr>
                        <a:t>	</a:t>
                      </a:r>
                    </a:p>
                    <a:p>
                      <a:r>
                        <a:rPr lang="en-US" sz="800" dirty="0">
                          <a:solidFill>
                            <a:schemeClr val="accent1"/>
                          </a:solidFill>
                          <a:latin typeface="Montserrat" panose="00000500000000000000" pitchFamily="2" charset="0"/>
                        </a:rPr>
                        <a:t>	// </a:t>
                      </a:r>
                      <a:r>
                        <a:rPr lang="en-US" sz="800">
                          <a:solidFill>
                            <a:schemeClr val="accent1"/>
                          </a:solidFill>
                          <a:latin typeface="Montserrat" panose="00000500000000000000" pitchFamily="2" charset="0"/>
                        </a:rPr>
                        <a:t>output logic to determine output value</a:t>
                      </a:r>
                      <a:endParaRPr lang="en-US" sz="800" dirty="0">
                        <a:solidFill>
                          <a:schemeClr val="accent1"/>
                        </a:solidFill>
                        <a:latin typeface="Montserrat" panose="00000500000000000000" pitchFamily="2" charset="0"/>
                      </a:endParaRPr>
                    </a:p>
                    <a:p>
                      <a:r>
                        <a:rPr lang="en-US" sz="800" dirty="0">
                          <a:solidFill>
                            <a:schemeClr val="accent1"/>
                          </a:solidFill>
                          <a:latin typeface="Montserrat" panose="00000500000000000000" pitchFamily="2" charset="0"/>
                        </a:rPr>
                        <a:t>	assign y = (state == S0);</a:t>
                      </a:r>
                    </a:p>
                    <a:p>
                      <a:r>
                        <a:rPr lang="en-US" sz="800">
                          <a:solidFill>
                            <a:schemeClr val="accent1"/>
                          </a:solidFill>
                          <a:latin typeface="Montserrat" panose="00000500000000000000" pitchFamily="2" charset="0"/>
                        </a:rPr>
                        <a:t>Endmodule</a:t>
                      </a:r>
                      <a:endParaRPr lang="en-US" sz="800" dirty="0">
                        <a:solidFill>
                          <a:schemeClr val="accent1"/>
                        </a:solidFill>
                        <a:latin typeface="Montserrat" panose="00000500000000000000" pitchFamily="2" charset="0"/>
                      </a:endParaRPr>
                    </a:p>
                  </a:txBody>
                  <a:tcPr/>
                </a:tc>
                <a:tc>
                  <a:txBody>
                    <a:bodyPr/>
                    <a:lstStyle/>
                    <a:p>
                      <a:r>
                        <a:rPr lang="en-US" sz="800" dirty="0">
                          <a:solidFill>
                            <a:schemeClr val="accent1"/>
                          </a:solidFill>
                          <a:latin typeface="Montserrat" panose="00000500000000000000" pitchFamily="2" charset="0"/>
                        </a:rPr>
                        <a:t>module divideby3FSM_tb();</a:t>
                      </a:r>
                    </a:p>
                    <a:p>
                      <a:r>
                        <a:rPr lang="en-US" sz="800" dirty="0">
                          <a:solidFill>
                            <a:schemeClr val="accent1"/>
                          </a:solidFill>
                          <a:latin typeface="Montserrat" panose="00000500000000000000" pitchFamily="2" charset="0"/>
                        </a:rPr>
                        <a:t>  logic </a:t>
                      </a:r>
                      <a:r>
                        <a:rPr lang="en-US" sz="800" dirty="0" err="1">
                          <a:solidFill>
                            <a:schemeClr val="accent1"/>
                          </a:solidFill>
                          <a:latin typeface="Montserrat" panose="00000500000000000000" pitchFamily="2" charset="0"/>
                        </a:rPr>
                        <a:t>clk</a:t>
                      </a:r>
                      <a:r>
                        <a:rPr lang="en-US" sz="800" dirty="0">
                          <a:solidFill>
                            <a:schemeClr val="accent1"/>
                          </a:solidFill>
                          <a:latin typeface="Montserrat" panose="00000500000000000000" pitchFamily="2" charset="0"/>
                        </a:rPr>
                        <a:t>;     // Clock signal</a:t>
                      </a:r>
                    </a:p>
                    <a:p>
                      <a:r>
                        <a:rPr lang="en-US" sz="800" dirty="0">
                          <a:solidFill>
                            <a:schemeClr val="accent1"/>
                          </a:solidFill>
                          <a:latin typeface="Montserrat" panose="00000500000000000000" pitchFamily="2" charset="0"/>
                        </a:rPr>
                        <a:t>  logic reset;   // Reset signal</a:t>
                      </a:r>
                    </a:p>
                    <a:p>
                      <a:r>
                        <a:rPr lang="en-US" sz="800" dirty="0">
                          <a:solidFill>
                            <a:schemeClr val="accent1"/>
                          </a:solidFill>
                          <a:latin typeface="Montserrat" panose="00000500000000000000" pitchFamily="2" charset="0"/>
                        </a:rPr>
                        <a:t>  logic y;      // Output signal</a:t>
                      </a:r>
                    </a:p>
                    <a:p>
                      <a:endParaRPr lang="en-US" sz="800" dirty="0">
                        <a:solidFill>
                          <a:schemeClr val="accent1"/>
                        </a:solidFill>
                        <a:latin typeface="Montserrat" panose="00000500000000000000" pitchFamily="2" charset="0"/>
                      </a:endParaRPr>
                    </a:p>
                    <a:p>
                      <a:r>
                        <a:rPr lang="en-US" sz="800" dirty="0">
                          <a:solidFill>
                            <a:schemeClr val="accent1"/>
                          </a:solidFill>
                          <a:latin typeface="Montserrat" panose="00000500000000000000" pitchFamily="2" charset="0"/>
                        </a:rPr>
                        <a:t>  // Instantiate the module under test</a:t>
                      </a:r>
                    </a:p>
                    <a:p>
                      <a:r>
                        <a:rPr lang="en-US" sz="800" dirty="0">
                          <a:solidFill>
                            <a:schemeClr val="accent1"/>
                          </a:solidFill>
                          <a:latin typeface="Montserrat" panose="00000500000000000000" pitchFamily="2" charset="0"/>
                        </a:rPr>
                        <a:t>  divideby3FSM DUT(</a:t>
                      </a:r>
                      <a:r>
                        <a:rPr lang="en-US" sz="800" dirty="0" err="1">
                          <a:solidFill>
                            <a:schemeClr val="accent1"/>
                          </a:solidFill>
                          <a:latin typeface="Montserrat" panose="00000500000000000000" pitchFamily="2" charset="0"/>
                        </a:rPr>
                        <a:t>clk</a:t>
                      </a:r>
                      <a:r>
                        <a:rPr lang="en-US" sz="800" dirty="0">
                          <a:solidFill>
                            <a:schemeClr val="accent1"/>
                          </a:solidFill>
                          <a:latin typeface="Montserrat" panose="00000500000000000000" pitchFamily="2" charset="0"/>
                        </a:rPr>
                        <a:t>, reset, y);</a:t>
                      </a:r>
                    </a:p>
                    <a:p>
                      <a:endParaRPr lang="en-US" sz="800" dirty="0">
                        <a:solidFill>
                          <a:schemeClr val="accent1"/>
                        </a:solidFill>
                        <a:latin typeface="Montserrat" panose="00000500000000000000" pitchFamily="2" charset="0"/>
                      </a:endParaRPr>
                    </a:p>
                    <a:p>
                      <a:r>
                        <a:rPr lang="en-US" sz="800" dirty="0">
                          <a:solidFill>
                            <a:schemeClr val="accent1"/>
                          </a:solidFill>
                          <a:latin typeface="Montserrat" panose="00000500000000000000" pitchFamily="2" charset="0"/>
                        </a:rPr>
                        <a:t>  // Clock generation</a:t>
                      </a:r>
                    </a:p>
                    <a:p>
                      <a:r>
                        <a:rPr lang="en-US" sz="800" dirty="0">
                          <a:solidFill>
                            <a:schemeClr val="accent1"/>
                          </a:solidFill>
                          <a:latin typeface="Montserrat" panose="00000500000000000000" pitchFamily="2" charset="0"/>
                        </a:rPr>
                        <a:t>  always begin</a:t>
                      </a:r>
                    </a:p>
                    <a:p>
                      <a:r>
                        <a:rPr lang="en-US" sz="800" dirty="0">
                          <a:solidFill>
                            <a:schemeClr val="accent1"/>
                          </a:solidFill>
                          <a:latin typeface="Montserrat" panose="00000500000000000000" pitchFamily="2" charset="0"/>
                        </a:rPr>
                        <a:t>    #5 </a:t>
                      </a:r>
                      <a:r>
                        <a:rPr lang="en-US" sz="800" dirty="0" err="1">
                          <a:solidFill>
                            <a:schemeClr val="accent1"/>
                          </a:solidFill>
                          <a:latin typeface="Montserrat" panose="00000500000000000000" pitchFamily="2" charset="0"/>
                        </a:rPr>
                        <a:t>clk</a:t>
                      </a:r>
                      <a:r>
                        <a:rPr lang="en-US" sz="800" dirty="0">
                          <a:solidFill>
                            <a:schemeClr val="accent1"/>
                          </a:solidFill>
                          <a:latin typeface="Montserrat" panose="00000500000000000000" pitchFamily="2" charset="0"/>
                        </a:rPr>
                        <a:t> = ~</a:t>
                      </a:r>
                      <a:r>
                        <a:rPr lang="en-US" sz="800" dirty="0" err="1">
                          <a:solidFill>
                            <a:schemeClr val="accent1"/>
                          </a:solidFill>
                          <a:latin typeface="Montserrat" panose="00000500000000000000" pitchFamily="2" charset="0"/>
                        </a:rPr>
                        <a:t>clk</a:t>
                      </a:r>
                      <a:r>
                        <a:rPr lang="en-US" sz="800" dirty="0">
                          <a:solidFill>
                            <a:schemeClr val="accent1"/>
                          </a:solidFill>
                          <a:latin typeface="Montserrat" panose="00000500000000000000" pitchFamily="2" charset="0"/>
                        </a:rPr>
                        <a:t>; // Toggle the clock every 5 time units</a:t>
                      </a:r>
                    </a:p>
                    <a:p>
                      <a:r>
                        <a:rPr lang="en-US" sz="800" dirty="0">
                          <a:solidFill>
                            <a:schemeClr val="accent1"/>
                          </a:solidFill>
                          <a:latin typeface="Montserrat" panose="00000500000000000000" pitchFamily="2" charset="0"/>
                        </a:rPr>
                        <a:t>  end</a:t>
                      </a:r>
                    </a:p>
                    <a:p>
                      <a:endParaRPr lang="en-US" sz="800" dirty="0">
                        <a:solidFill>
                          <a:schemeClr val="accent1"/>
                        </a:solidFill>
                        <a:latin typeface="Montserrat" panose="00000500000000000000" pitchFamily="2" charset="0"/>
                      </a:endParaRPr>
                    </a:p>
                    <a:p>
                      <a:r>
                        <a:rPr lang="en-US" sz="800" dirty="0">
                          <a:solidFill>
                            <a:schemeClr val="accent1"/>
                          </a:solidFill>
                          <a:latin typeface="Montserrat" panose="00000500000000000000" pitchFamily="2" charset="0"/>
                        </a:rPr>
                        <a:t>  // Initialize signals</a:t>
                      </a:r>
                    </a:p>
                    <a:p>
                      <a:r>
                        <a:rPr lang="en-US" sz="800" dirty="0">
                          <a:solidFill>
                            <a:schemeClr val="accent1"/>
                          </a:solidFill>
                          <a:latin typeface="Montserrat" panose="00000500000000000000" pitchFamily="2" charset="0"/>
                        </a:rPr>
                        <a:t>  initial begin</a:t>
                      </a:r>
                    </a:p>
                    <a:p>
                      <a:r>
                        <a:rPr lang="en-US" sz="800" dirty="0">
                          <a:solidFill>
                            <a:schemeClr val="accent1"/>
                          </a:solidFill>
                          <a:latin typeface="Montserrat" panose="00000500000000000000" pitchFamily="2" charset="0"/>
                        </a:rPr>
                        <a:t>    </a:t>
                      </a:r>
                      <a:r>
                        <a:rPr lang="en-US" sz="800" dirty="0" err="1">
                          <a:solidFill>
                            <a:schemeClr val="accent1"/>
                          </a:solidFill>
                          <a:latin typeface="Montserrat" panose="00000500000000000000" pitchFamily="2" charset="0"/>
                        </a:rPr>
                        <a:t>clk</a:t>
                      </a:r>
                      <a:r>
                        <a:rPr lang="en-US" sz="800" dirty="0">
                          <a:solidFill>
                            <a:schemeClr val="accent1"/>
                          </a:solidFill>
                          <a:latin typeface="Montserrat" panose="00000500000000000000" pitchFamily="2" charset="0"/>
                        </a:rPr>
                        <a:t> = 0;</a:t>
                      </a:r>
                    </a:p>
                    <a:p>
                      <a:r>
                        <a:rPr lang="en-US" sz="800" dirty="0">
                          <a:solidFill>
                            <a:schemeClr val="accent1"/>
                          </a:solidFill>
                          <a:latin typeface="Montserrat" panose="00000500000000000000" pitchFamily="2" charset="0"/>
                        </a:rPr>
                        <a:t>    reset = 1;</a:t>
                      </a:r>
                    </a:p>
                    <a:p>
                      <a:r>
                        <a:rPr lang="en-US" sz="800" dirty="0">
                          <a:solidFill>
                            <a:schemeClr val="accent1"/>
                          </a:solidFill>
                          <a:latin typeface="Montserrat" panose="00000500000000000000" pitchFamily="2" charset="0"/>
                        </a:rPr>
                        <a:t>    #10 reset = 0; // Release reset</a:t>
                      </a:r>
                    </a:p>
                    <a:p>
                      <a:endParaRPr lang="en-US" sz="800" dirty="0">
                        <a:solidFill>
                          <a:schemeClr val="accent1"/>
                        </a:solidFill>
                        <a:latin typeface="Montserrat" panose="00000500000000000000" pitchFamily="2" charset="0"/>
                      </a:endParaRPr>
                    </a:p>
                    <a:p>
                      <a:r>
                        <a:rPr lang="en-US" sz="800" dirty="0">
                          <a:solidFill>
                            <a:schemeClr val="accent1"/>
                          </a:solidFill>
                          <a:latin typeface="Montserrat" panose="00000500000000000000" pitchFamily="2" charset="0"/>
                        </a:rPr>
                        <a:t>    // Test sequence  </a:t>
                      </a:r>
                    </a:p>
                    <a:p>
                      <a:r>
                        <a:rPr lang="en-US" sz="800" dirty="0">
                          <a:solidFill>
                            <a:schemeClr val="accent1"/>
                          </a:solidFill>
                          <a:latin typeface="Montserrat" panose="00000500000000000000" pitchFamily="2" charset="0"/>
                        </a:rPr>
                        <a:t>    $display("Time   State   </a:t>
                      </a:r>
                      <a:r>
                        <a:rPr lang="en-US" sz="800" dirty="0" err="1">
                          <a:solidFill>
                            <a:schemeClr val="accent1"/>
                          </a:solidFill>
                          <a:latin typeface="Montserrat" panose="00000500000000000000" pitchFamily="2" charset="0"/>
                        </a:rPr>
                        <a:t>Nextstate</a:t>
                      </a:r>
                      <a:r>
                        <a:rPr lang="en-US" sz="800" dirty="0">
                          <a:solidFill>
                            <a:schemeClr val="accent1"/>
                          </a:solidFill>
                          <a:latin typeface="Montserrat" panose="00000500000000000000" pitchFamily="2" charset="0"/>
                        </a:rPr>
                        <a:t>   Output");</a:t>
                      </a:r>
                    </a:p>
                    <a:p>
                      <a:r>
                        <a:rPr lang="en-US" sz="800" dirty="0">
                          <a:solidFill>
                            <a:schemeClr val="accent1"/>
                          </a:solidFill>
                          <a:latin typeface="Montserrat" panose="00000500000000000000" pitchFamily="2" charset="0"/>
                        </a:rPr>
                        <a:t>    for (int </a:t>
                      </a:r>
                      <a:r>
                        <a:rPr lang="en-US" sz="800" dirty="0" err="1">
                          <a:solidFill>
                            <a:schemeClr val="accent1"/>
                          </a:solidFill>
                          <a:latin typeface="Montserrat" panose="00000500000000000000" pitchFamily="2" charset="0"/>
                        </a:rPr>
                        <a:t>i</a:t>
                      </a:r>
                      <a:r>
                        <a:rPr lang="en-US" sz="800" dirty="0">
                          <a:solidFill>
                            <a:schemeClr val="accent1"/>
                          </a:solidFill>
                          <a:latin typeface="Montserrat" panose="00000500000000000000" pitchFamily="2" charset="0"/>
                        </a:rPr>
                        <a:t> = 0; </a:t>
                      </a:r>
                      <a:r>
                        <a:rPr lang="en-US" sz="800" dirty="0" err="1">
                          <a:solidFill>
                            <a:schemeClr val="accent1"/>
                          </a:solidFill>
                          <a:latin typeface="Montserrat" panose="00000500000000000000" pitchFamily="2" charset="0"/>
                        </a:rPr>
                        <a:t>i</a:t>
                      </a:r>
                      <a:r>
                        <a:rPr lang="en-US" sz="800" dirty="0">
                          <a:solidFill>
                            <a:schemeClr val="accent1"/>
                          </a:solidFill>
                          <a:latin typeface="Montserrat" panose="00000500000000000000" pitchFamily="2" charset="0"/>
                        </a:rPr>
                        <a:t> &lt; 15; </a:t>
                      </a:r>
                      <a:r>
                        <a:rPr lang="en-US" sz="800" dirty="0" err="1">
                          <a:solidFill>
                            <a:schemeClr val="accent1"/>
                          </a:solidFill>
                          <a:latin typeface="Montserrat" panose="00000500000000000000" pitchFamily="2" charset="0"/>
                        </a:rPr>
                        <a:t>i</a:t>
                      </a:r>
                      <a:r>
                        <a:rPr lang="en-US" sz="800" dirty="0">
                          <a:solidFill>
                            <a:schemeClr val="accent1"/>
                          </a:solidFill>
                          <a:latin typeface="Montserrat" panose="00000500000000000000" pitchFamily="2" charset="0"/>
                        </a:rPr>
                        <a:t> = </a:t>
                      </a:r>
                      <a:r>
                        <a:rPr lang="en-US" sz="800" dirty="0" err="1">
                          <a:solidFill>
                            <a:schemeClr val="accent1"/>
                          </a:solidFill>
                          <a:latin typeface="Montserrat" panose="00000500000000000000" pitchFamily="2" charset="0"/>
                        </a:rPr>
                        <a:t>i</a:t>
                      </a:r>
                      <a:r>
                        <a:rPr lang="en-US" sz="800" dirty="0">
                          <a:solidFill>
                            <a:schemeClr val="accent1"/>
                          </a:solidFill>
                          <a:latin typeface="Montserrat" panose="00000500000000000000" pitchFamily="2" charset="0"/>
                        </a:rPr>
                        <a:t> + 1) begin</a:t>
                      </a:r>
                    </a:p>
                    <a:p>
                      <a:r>
                        <a:rPr lang="en-US" sz="800" dirty="0">
                          <a:solidFill>
                            <a:schemeClr val="accent1"/>
                          </a:solidFill>
                          <a:latin typeface="Montserrat" panose="00000500000000000000" pitchFamily="2" charset="0"/>
                        </a:rPr>
                        <a:t>      #5; // Advance time</a:t>
                      </a:r>
                    </a:p>
                    <a:p>
                      <a:endParaRPr lang="en-US" sz="800" dirty="0">
                        <a:solidFill>
                          <a:schemeClr val="accent1"/>
                        </a:solidFill>
                        <a:latin typeface="Montserrat" panose="00000500000000000000" pitchFamily="2" charset="0"/>
                      </a:endParaRPr>
                    </a:p>
                    <a:p>
                      <a:r>
                        <a:rPr lang="en-US" sz="800" dirty="0">
                          <a:solidFill>
                            <a:schemeClr val="accent1"/>
                          </a:solidFill>
                          <a:latin typeface="Montserrat" panose="00000500000000000000" pitchFamily="2" charset="0"/>
                        </a:rPr>
                        <a:t>      // Display the current state and output</a:t>
                      </a:r>
                    </a:p>
                    <a:p>
                      <a:r>
                        <a:rPr lang="en-US" sz="800" dirty="0">
                          <a:solidFill>
                            <a:schemeClr val="accent1"/>
                          </a:solidFill>
                          <a:latin typeface="Montserrat" panose="00000500000000000000" pitchFamily="2" charset="0"/>
                        </a:rPr>
                        <a:t>      $display("%0d    %0s    %0s    %b", $time, </a:t>
                      </a:r>
                      <a:r>
                        <a:rPr lang="en-US" sz="800" dirty="0" err="1">
                          <a:solidFill>
                            <a:schemeClr val="accent1"/>
                          </a:solidFill>
                          <a:latin typeface="Montserrat" panose="00000500000000000000" pitchFamily="2" charset="0"/>
                        </a:rPr>
                        <a:t>DUT.state</a:t>
                      </a:r>
                      <a:r>
                        <a:rPr lang="en-US" sz="800" dirty="0">
                          <a:solidFill>
                            <a:schemeClr val="accent1"/>
                          </a:solidFill>
                          <a:latin typeface="Montserrat" panose="00000500000000000000" pitchFamily="2" charset="0"/>
                        </a:rPr>
                        <a:t>, </a:t>
                      </a:r>
                      <a:r>
                        <a:rPr lang="en-US" sz="800" dirty="0" err="1">
                          <a:solidFill>
                            <a:schemeClr val="accent1"/>
                          </a:solidFill>
                          <a:latin typeface="Montserrat" panose="00000500000000000000" pitchFamily="2" charset="0"/>
                        </a:rPr>
                        <a:t>DUT.nextstate</a:t>
                      </a:r>
                      <a:r>
                        <a:rPr lang="en-US" sz="800" dirty="0">
                          <a:solidFill>
                            <a:schemeClr val="accent1"/>
                          </a:solidFill>
                          <a:latin typeface="Montserrat" panose="00000500000000000000" pitchFamily="2" charset="0"/>
                        </a:rPr>
                        <a:t>, y);</a:t>
                      </a:r>
                    </a:p>
                    <a:p>
                      <a:r>
                        <a:rPr lang="en-US" sz="800" dirty="0">
                          <a:solidFill>
                            <a:schemeClr val="accent1"/>
                          </a:solidFill>
                          <a:latin typeface="Montserrat" panose="00000500000000000000" pitchFamily="2" charset="0"/>
                        </a:rPr>
                        <a:t>    end</a:t>
                      </a:r>
                    </a:p>
                    <a:p>
                      <a:r>
                        <a:rPr lang="en-US" sz="800">
                          <a:solidFill>
                            <a:schemeClr val="accent1"/>
                          </a:solidFill>
                          <a:latin typeface="Montserrat" panose="00000500000000000000" pitchFamily="2" charset="0"/>
                        </a:rPr>
                        <a:t> end</a:t>
                      </a:r>
                      <a:endParaRPr lang="en-US" sz="800" dirty="0">
                        <a:solidFill>
                          <a:schemeClr val="accent1"/>
                        </a:solidFill>
                        <a:latin typeface="Montserrat" panose="00000500000000000000" pitchFamily="2" charset="0"/>
                      </a:endParaRPr>
                    </a:p>
                    <a:p>
                      <a:r>
                        <a:rPr lang="en-US" sz="800" dirty="0" err="1">
                          <a:solidFill>
                            <a:schemeClr val="accent1"/>
                          </a:solidFill>
                          <a:latin typeface="Montserrat" panose="00000500000000000000" pitchFamily="2" charset="0"/>
                        </a:rPr>
                        <a:t>endmodule</a:t>
                      </a:r>
                      <a:endParaRPr lang="en-US" sz="800" dirty="0">
                        <a:solidFill>
                          <a:schemeClr val="accent1"/>
                        </a:solidFill>
                        <a:latin typeface="Montserrat" panose="00000500000000000000" pitchFamily="2" charset="0"/>
                      </a:endParaRPr>
                    </a:p>
                    <a:p>
                      <a:endParaRPr lang="en-US" sz="800" dirty="0">
                        <a:solidFill>
                          <a:schemeClr val="accent1"/>
                        </a:solidFill>
                        <a:latin typeface="Montserrat" panose="00000500000000000000" pitchFamily="2" charset="0"/>
                      </a:endParaRPr>
                    </a:p>
                  </a:txBody>
                  <a:tcPr/>
                </a:tc>
                <a:extLst>
                  <a:ext uri="{0D108BD9-81ED-4DB2-BD59-A6C34878D82A}">
                    <a16:rowId xmlns:a16="http://schemas.microsoft.com/office/drawing/2014/main" val="3032487667"/>
                  </a:ext>
                </a:extLst>
              </a:tr>
            </a:tbl>
          </a:graphicData>
        </a:graphic>
      </p:graphicFrame>
    </p:spTree>
    <p:extLst>
      <p:ext uri="{BB962C8B-B14F-4D97-AF65-F5344CB8AC3E}">
        <p14:creationId xmlns:p14="http://schemas.microsoft.com/office/powerpoint/2010/main" val="22002469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D7052-CE15-8FB8-7CA4-308B8FA11A30}"/>
              </a:ext>
            </a:extLst>
          </p:cNvPr>
          <p:cNvSpPr>
            <a:spLocks noGrp="1"/>
          </p:cNvSpPr>
          <p:nvPr>
            <p:ph type="title"/>
          </p:nvPr>
        </p:nvSpPr>
        <p:spPr>
          <a:xfrm>
            <a:off x="237975" y="377243"/>
            <a:ext cx="7738200" cy="572700"/>
          </a:xfrm>
        </p:spPr>
        <p:txBody>
          <a:bodyPr/>
          <a:lstStyle/>
          <a:p>
            <a:r>
              <a:rPr lang="en-US" dirty="0"/>
              <a:t>Explain syntax</a:t>
            </a:r>
          </a:p>
        </p:txBody>
      </p:sp>
      <p:sp>
        <p:nvSpPr>
          <p:cNvPr id="3" name="Subtitle 2">
            <a:extLst>
              <a:ext uri="{FF2B5EF4-FFF2-40B4-BE49-F238E27FC236}">
                <a16:creationId xmlns:a16="http://schemas.microsoft.com/office/drawing/2014/main" id="{2CB7C44C-1C02-D255-227B-B0FF51C4D16F}"/>
              </a:ext>
            </a:extLst>
          </p:cNvPr>
          <p:cNvSpPr>
            <a:spLocks noGrp="1"/>
          </p:cNvSpPr>
          <p:nvPr>
            <p:ph type="subTitle" idx="1"/>
          </p:nvPr>
        </p:nvSpPr>
        <p:spPr>
          <a:xfrm>
            <a:off x="237975" y="1236790"/>
            <a:ext cx="9001718" cy="3716328"/>
          </a:xfrm>
        </p:spPr>
        <p:txBody>
          <a:bodyPr/>
          <a:lstStyle/>
          <a:p>
            <a:pPr marL="90488" indent="49213"/>
            <a:r>
              <a:rPr lang="en-US" sz="1400" b="1" i="0" dirty="0" err="1">
                <a:effectLst/>
                <a:latin typeface="Montserrat" panose="00000500000000000000" pitchFamily="2" charset="0"/>
              </a:rPr>
              <a:t>enum</a:t>
            </a:r>
            <a:r>
              <a:rPr lang="en-US" sz="1400" b="0" i="0" dirty="0">
                <a:effectLst/>
                <a:latin typeface="Montserrat" panose="00000500000000000000" pitchFamily="2" charset="0"/>
              </a:rPr>
              <a:t> is a user-defined data type used to giving meaningful names to constant values.</a:t>
            </a:r>
          </a:p>
          <a:p>
            <a:pPr marL="90488" indent="49213"/>
            <a:r>
              <a:rPr lang="en-US" sz="1400" dirty="0" err="1">
                <a:latin typeface="Montserrat" panose="00000500000000000000" pitchFamily="2" charset="0"/>
              </a:rPr>
              <a:t>e</a:t>
            </a:r>
            <a:r>
              <a:rPr lang="en-US" sz="1400" b="0" i="0" dirty="0" err="1">
                <a:effectLst/>
                <a:latin typeface="Montserrat" panose="00000500000000000000" pitchFamily="2" charset="0"/>
              </a:rPr>
              <a:t>nums</a:t>
            </a:r>
            <a:r>
              <a:rPr lang="en-US" sz="1400" b="0" i="0" dirty="0">
                <a:effectLst/>
                <a:latin typeface="Montserrat" panose="00000500000000000000" pitchFamily="2" charset="0"/>
              </a:rPr>
              <a:t> are often used to improve code readability and </a:t>
            </a:r>
            <a:r>
              <a:rPr lang="en-US" sz="1400" b="0" i="0">
                <a:effectLst/>
                <a:latin typeface="Montserrat" panose="00000500000000000000" pitchFamily="2" charset="0"/>
              </a:rPr>
              <a:t>maintainability.</a:t>
            </a:r>
          </a:p>
          <a:p>
            <a:r>
              <a:rPr lang="en-US" sz="1400" b="1">
                <a:latin typeface="Montserrat" panose="00000500000000000000" pitchFamily="2" charset="0"/>
              </a:rPr>
              <a:t>Syntax: </a:t>
            </a:r>
          </a:p>
          <a:p>
            <a:pPr lvl="1"/>
            <a:r>
              <a:rPr lang="en-US" sz="1400">
                <a:latin typeface="Montserrat" panose="00000500000000000000" pitchFamily="2" charset="0"/>
              </a:rPr>
              <a:t>typedef </a:t>
            </a:r>
            <a:r>
              <a:rPr lang="en-US" sz="1400" dirty="0" err="1">
                <a:latin typeface="Montserrat" panose="00000500000000000000" pitchFamily="2" charset="0"/>
              </a:rPr>
              <a:t>enum</a:t>
            </a:r>
            <a:r>
              <a:rPr lang="en-US" sz="1400" dirty="0">
                <a:latin typeface="Montserrat" panose="00000500000000000000" pitchFamily="2" charset="0"/>
              </a:rPr>
              <a:t> datatype [bitwidth:0] {</a:t>
            </a:r>
          </a:p>
          <a:p>
            <a:pPr lvl="1"/>
            <a:r>
              <a:rPr lang="en-US" sz="1400" dirty="0">
                <a:latin typeface="Montserrat" panose="00000500000000000000" pitchFamily="2" charset="0"/>
              </a:rPr>
              <a:t>    enumerator1 = constant1,</a:t>
            </a:r>
          </a:p>
          <a:p>
            <a:pPr lvl="1"/>
            <a:r>
              <a:rPr lang="en-US" sz="1400" dirty="0">
                <a:latin typeface="Montserrat" panose="00000500000000000000" pitchFamily="2" charset="0"/>
              </a:rPr>
              <a:t>    enumerator2 = constant2,</a:t>
            </a:r>
          </a:p>
          <a:p>
            <a:pPr lvl="1"/>
            <a:r>
              <a:rPr lang="en-US" sz="1400" dirty="0">
                <a:latin typeface="Montserrat" panose="00000500000000000000" pitchFamily="2" charset="0"/>
              </a:rPr>
              <a:t>    // More enumerators...</a:t>
            </a:r>
          </a:p>
          <a:p>
            <a:pPr lvl="1"/>
            <a:r>
              <a:rPr lang="en-US" sz="1400" dirty="0">
                <a:latin typeface="Montserrat" panose="00000500000000000000" pitchFamily="2" charset="0"/>
              </a:rPr>
              <a:t>} </a:t>
            </a:r>
            <a:r>
              <a:rPr lang="en-US" sz="1400" dirty="0" err="1">
                <a:latin typeface="Montserrat" panose="00000500000000000000" pitchFamily="2" charset="0"/>
              </a:rPr>
              <a:t>enum_type</a:t>
            </a:r>
            <a:r>
              <a:rPr lang="en-US" sz="1400" dirty="0">
                <a:latin typeface="Montserrat" panose="00000500000000000000" pitchFamily="2" charset="0"/>
              </a:rPr>
              <a:t>;</a:t>
            </a:r>
          </a:p>
          <a:p>
            <a:endParaRPr lang="en-US" dirty="0"/>
          </a:p>
        </p:txBody>
      </p:sp>
      <p:sp>
        <p:nvSpPr>
          <p:cNvPr id="5" name="TextBox 4">
            <a:extLst>
              <a:ext uri="{FF2B5EF4-FFF2-40B4-BE49-F238E27FC236}">
                <a16:creationId xmlns:a16="http://schemas.microsoft.com/office/drawing/2014/main" id="{22CA34C4-0648-1A13-F7AC-5BD4AE702750}"/>
              </a:ext>
            </a:extLst>
          </p:cNvPr>
          <p:cNvSpPr txBox="1"/>
          <p:nvPr/>
        </p:nvSpPr>
        <p:spPr>
          <a:xfrm>
            <a:off x="121253" y="3460418"/>
            <a:ext cx="9219190" cy="1169551"/>
          </a:xfrm>
          <a:prstGeom prst="rect">
            <a:avLst/>
          </a:prstGeom>
          <a:noFill/>
        </p:spPr>
        <p:txBody>
          <a:bodyPr wrap="none" rtlCol="0">
            <a:spAutoFit/>
          </a:bodyPr>
          <a:lstStyle/>
          <a:p>
            <a:r>
              <a:rPr lang="en-US" altLang="en-US" b="1" dirty="0">
                <a:solidFill>
                  <a:schemeClr val="accent1"/>
                </a:solidFill>
                <a:latin typeface="Montserrat" panose="00000500000000000000" pitchFamily="2" charset="0"/>
              </a:rPr>
              <a:t>$display </a:t>
            </a:r>
            <a:r>
              <a:rPr lang="en-US" altLang="en-US" dirty="0">
                <a:solidFill>
                  <a:schemeClr val="accent1"/>
                </a:solidFill>
                <a:latin typeface="Montserrat" panose="00000500000000000000" pitchFamily="2" charset="0"/>
              </a:rPr>
              <a:t>is a system function is used for displaying text messages and variable values in a simulation </a:t>
            </a:r>
          </a:p>
          <a:p>
            <a:r>
              <a:rPr lang="en-US" altLang="en-US" dirty="0">
                <a:solidFill>
                  <a:schemeClr val="accent1"/>
                </a:solidFill>
                <a:latin typeface="Montserrat" panose="00000500000000000000" pitchFamily="2" charset="0"/>
              </a:rPr>
              <a:t>environment.</a:t>
            </a:r>
          </a:p>
          <a:p>
            <a:r>
              <a:rPr lang="en-US" b="1" dirty="0">
                <a:solidFill>
                  <a:schemeClr val="accent1"/>
                </a:solidFill>
                <a:latin typeface="Montserrat" panose="00000500000000000000" pitchFamily="2" charset="0"/>
              </a:rPr>
              <a:t>Syntax:</a:t>
            </a:r>
          </a:p>
          <a:p>
            <a:r>
              <a:rPr lang="en-US" dirty="0">
                <a:solidFill>
                  <a:schemeClr val="accent1"/>
                </a:solidFill>
                <a:latin typeface="Montserrat" panose="00000500000000000000" pitchFamily="2" charset="0"/>
              </a:rPr>
              <a:t>       $display("format string", expression1, expression2, ...);</a:t>
            </a:r>
          </a:p>
          <a:p>
            <a:endParaRPr lang="en-US" dirty="0"/>
          </a:p>
        </p:txBody>
      </p:sp>
    </p:spTree>
    <p:extLst>
      <p:ext uri="{BB962C8B-B14F-4D97-AF65-F5344CB8AC3E}">
        <p14:creationId xmlns:p14="http://schemas.microsoft.com/office/powerpoint/2010/main" val="11526751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DDEC51-EDE4-8422-B3AB-E8653DD4470B}"/>
              </a:ext>
            </a:extLst>
          </p:cNvPr>
          <p:cNvSpPr>
            <a:spLocks noGrp="1"/>
          </p:cNvSpPr>
          <p:nvPr>
            <p:ph type="title"/>
          </p:nvPr>
        </p:nvSpPr>
        <p:spPr>
          <a:xfrm>
            <a:off x="401868" y="484450"/>
            <a:ext cx="7738200" cy="572700"/>
          </a:xfrm>
        </p:spPr>
        <p:txBody>
          <a:bodyPr/>
          <a:lstStyle/>
          <a:p>
            <a:r>
              <a:rPr lang="en-US" dirty="0"/>
              <a:t>Simulation result</a:t>
            </a:r>
          </a:p>
        </p:txBody>
      </p:sp>
      <p:pic>
        <p:nvPicPr>
          <p:cNvPr id="5" name="Picture 4">
            <a:extLst>
              <a:ext uri="{FF2B5EF4-FFF2-40B4-BE49-F238E27FC236}">
                <a16:creationId xmlns:a16="http://schemas.microsoft.com/office/drawing/2014/main" id="{457FFF4D-448F-41B2-FDF8-240CFD87468E}"/>
              </a:ext>
            </a:extLst>
          </p:cNvPr>
          <p:cNvPicPr>
            <a:picLocks noChangeAspect="1"/>
          </p:cNvPicPr>
          <p:nvPr/>
        </p:nvPicPr>
        <p:blipFill>
          <a:blip r:embed="rId2"/>
          <a:stretch>
            <a:fillRect/>
          </a:stretch>
        </p:blipFill>
        <p:spPr>
          <a:xfrm>
            <a:off x="599268" y="1291786"/>
            <a:ext cx="8234766" cy="1279964"/>
          </a:xfrm>
          <a:prstGeom prst="rect">
            <a:avLst/>
          </a:prstGeom>
        </p:spPr>
      </p:pic>
      <p:pic>
        <p:nvPicPr>
          <p:cNvPr id="7" name="Picture 6">
            <a:extLst>
              <a:ext uri="{FF2B5EF4-FFF2-40B4-BE49-F238E27FC236}">
                <a16:creationId xmlns:a16="http://schemas.microsoft.com/office/drawing/2014/main" id="{9D953F02-3089-B65E-C29B-005B4A685E52}"/>
              </a:ext>
            </a:extLst>
          </p:cNvPr>
          <p:cNvPicPr>
            <a:picLocks noChangeAspect="1"/>
          </p:cNvPicPr>
          <p:nvPr/>
        </p:nvPicPr>
        <p:blipFill>
          <a:blip r:embed="rId3"/>
          <a:stretch>
            <a:fillRect/>
          </a:stretch>
        </p:blipFill>
        <p:spPr>
          <a:xfrm>
            <a:off x="1397431" y="2954633"/>
            <a:ext cx="4600413" cy="2081437"/>
          </a:xfrm>
          <a:prstGeom prst="rect">
            <a:avLst/>
          </a:prstGeom>
        </p:spPr>
      </p:pic>
    </p:spTree>
    <p:extLst>
      <p:ext uri="{BB962C8B-B14F-4D97-AF65-F5344CB8AC3E}">
        <p14:creationId xmlns:p14="http://schemas.microsoft.com/office/powerpoint/2010/main" val="39434256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78C4C5-124A-8295-9BBC-944D903724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6E0EA0-76AA-926B-2634-D2D7B2B60455}"/>
              </a:ext>
            </a:extLst>
          </p:cNvPr>
          <p:cNvSpPr>
            <a:spLocks noGrp="1"/>
          </p:cNvSpPr>
          <p:nvPr>
            <p:ph type="title"/>
          </p:nvPr>
        </p:nvSpPr>
        <p:spPr>
          <a:xfrm>
            <a:off x="133231" y="391460"/>
            <a:ext cx="7738200" cy="572700"/>
          </a:xfrm>
        </p:spPr>
        <p:txBody>
          <a:bodyPr/>
          <a:lstStyle/>
          <a:p>
            <a:r>
              <a:rPr lang="en-US"/>
              <a:t>Test design on STEP-MAX 10 board</a:t>
            </a:r>
            <a:endParaRPr lang="en-US" dirty="0"/>
          </a:p>
        </p:txBody>
      </p:sp>
      <p:pic>
        <p:nvPicPr>
          <p:cNvPr id="4" name="Picture 3">
            <a:extLst>
              <a:ext uri="{FF2B5EF4-FFF2-40B4-BE49-F238E27FC236}">
                <a16:creationId xmlns:a16="http://schemas.microsoft.com/office/drawing/2014/main" id="{74DBB2DF-F126-55F2-0E67-56DAFD8CC42C}"/>
              </a:ext>
            </a:extLst>
          </p:cNvPr>
          <p:cNvPicPr>
            <a:picLocks noChangeAspect="1"/>
          </p:cNvPicPr>
          <p:nvPr/>
        </p:nvPicPr>
        <p:blipFill>
          <a:blip r:embed="rId2"/>
          <a:stretch>
            <a:fillRect/>
          </a:stretch>
        </p:blipFill>
        <p:spPr>
          <a:xfrm>
            <a:off x="1120050" y="1110030"/>
            <a:ext cx="6127991" cy="3993737"/>
          </a:xfrm>
          <a:prstGeom prst="rect">
            <a:avLst/>
          </a:prstGeom>
        </p:spPr>
      </p:pic>
    </p:spTree>
    <p:extLst>
      <p:ext uri="{BB962C8B-B14F-4D97-AF65-F5344CB8AC3E}">
        <p14:creationId xmlns:p14="http://schemas.microsoft.com/office/powerpoint/2010/main" val="32982242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8F755-4446-C185-E910-BBD342FE7973}"/>
              </a:ext>
            </a:extLst>
          </p:cNvPr>
          <p:cNvSpPr>
            <a:spLocks noGrp="1"/>
          </p:cNvSpPr>
          <p:nvPr>
            <p:ph type="title"/>
          </p:nvPr>
        </p:nvSpPr>
        <p:spPr>
          <a:xfrm>
            <a:off x="308877" y="428904"/>
            <a:ext cx="7738200" cy="572700"/>
          </a:xfrm>
        </p:spPr>
        <p:txBody>
          <a:bodyPr/>
          <a:lstStyle/>
          <a:p>
            <a:r>
              <a:rPr lang="en-US" dirty="0"/>
              <a:t>Exercise 1</a:t>
            </a:r>
          </a:p>
        </p:txBody>
      </p:sp>
      <p:pic>
        <p:nvPicPr>
          <p:cNvPr id="5" name="Picture 4">
            <a:extLst>
              <a:ext uri="{FF2B5EF4-FFF2-40B4-BE49-F238E27FC236}">
                <a16:creationId xmlns:a16="http://schemas.microsoft.com/office/drawing/2014/main" id="{F3A3089F-759A-5D04-C20A-A24DB3D56B27}"/>
              </a:ext>
            </a:extLst>
          </p:cNvPr>
          <p:cNvPicPr>
            <a:picLocks noChangeAspect="1"/>
          </p:cNvPicPr>
          <p:nvPr/>
        </p:nvPicPr>
        <p:blipFill>
          <a:blip r:embed="rId2"/>
          <a:stretch>
            <a:fillRect/>
          </a:stretch>
        </p:blipFill>
        <p:spPr>
          <a:xfrm>
            <a:off x="3209225" y="1408441"/>
            <a:ext cx="2725547" cy="1221980"/>
          </a:xfrm>
          <a:prstGeom prst="rect">
            <a:avLst/>
          </a:prstGeom>
        </p:spPr>
      </p:pic>
      <p:sp>
        <p:nvSpPr>
          <p:cNvPr id="6" name="TextBox 5">
            <a:extLst>
              <a:ext uri="{FF2B5EF4-FFF2-40B4-BE49-F238E27FC236}">
                <a16:creationId xmlns:a16="http://schemas.microsoft.com/office/drawing/2014/main" id="{B5869931-C69E-1CA8-7117-E3D5E3B64635}"/>
              </a:ext>
            </a:extLst>
          </p:cNvPr>
          <p:cNvSpPr txBox="1"/>
          <p:nvPr/>
        </p:nvSpPr>
        <p:spPr>
          <a:xfrm>
            <a:off x="3028869" y="2686651"/>
            <a:ext cx="4105578" cy="307777"/>
          </a:xfrm>
          <a:prstGeom prst="rect">
            <a:avLst/>
          </a:prstGeom>
          <a:noFill/>
        </p:spPr>
        <p:txBody>
          <a:bodyPr wrap="square" rtlCol="0">
            <a:spAutoFit/>
          </a:bodyPr>
          <a:lstStyle/>
          <a:p>
            <a:r>
              <a:rPr lang="en-US" dirty="0">
                <a:solidFill>
                  <a:schemeClr val="accent1"/>
                </a:solidFill>
                <a:latin typeface="Montserrat" panose="00000500000000000000" pitchFamily="2" charset="0"/>
              </a:rPr>
              <a:t>Moore machine state transition diagram</a:t>
            </a:r>
          </a:p>
        </p:txBody>
      </p:sp>
      <p:pic>
        <p:nvPicPr>
          <p:cNvPr id="8" name="Picture 7">
            <a:extLst>
              <a:ext uri="{FF2B5EF4-FFF2-40B4-BE49-F238E27FC236}">
                <a16:creationId xmlns:a16="http://schemas.microsoft.com/office/drawing/2014/main" id="{B0459D1B-F964-6A78-3CF4-8B9DF74641A3}"/>
              </a:ext>
            </a:extLst>
          </p:cNvPr>
          <p:cNvPicPr>
            <a:picLocks noChangeAspect="1"/>
          </p:cNvPicPr>
          <p:nvPr/>
        </p:nvPicPr>
        <p:blipFill>
          <a:blip r:embed="rId3"/>
          <a:stretch>
            <a:fillRect/>
          </a:stretch>
        </p:blipFill>
        <p:spPr>
          <a:xfrm>
            <a:off x="400776" y="2857587"/>
            <a:ext cx="2628093" cy="1898341"/>
          </a:xfrm>
          <a:prstGeom prst="rect">
            <a:avLst/>
          </a:prstGeom>
        </p:spPr>
      </p:pic>
      <p:pic>
        <p:nvPicPr>
          <p:cNvPr id="10" name="Picture 9">
            <a:extLst>
              <a:ext uri="{FF2B5EF4-FFF2-40B4-BE49-F238E27FC236}">
                <a16:creationId xmlns:a16="http://schemas.microsoft.com/office/drawing/2014/main" id="{D4FF0116-8D75-AC38-2D91-EBD3385D0A79}"/>
              </a:ext>
            </a:extLst>
          </p:cNvPr>
          <p:cNvPicPr>
            <a:picLocks noChangeAspect="1"/>
          </p:cNvPicPr>
          <p:nvPr/>
        </p:nvPicPr>
        <p:blipFill>
          <a:blip r:embed="rId4"/>
          <a:stretch>
            <a:fillRect/>
          </a:stretch>
        </p:blipFill>
        <p:spPr>
          <a:xfrm>
            <a:off x="5877953" y="2949957"/>
            <a:ext cx="2352183" cy="1771875"/>
          </a:xfrm>
          <a:prstGeom prst="rect">
            <a:avLst/>
          </a:prstGeom>
        </p:spPr>
      </p:pic>
      <p:sp>
        <p:nvSpPr>
          <p:cNvPr id="11" name="TextBox 10">
            <a:extLst>
              <a:ext uri="{FF2B5EF4-FFF2-40B4-BE49-F238E27FC236}">
                <a16:creationId xmlns:a16="http://schemas.microsoft.com/office/drawing/2014/main" id="{B492B9EE-5D6E-5006-312B-774A96875D3A}"/>
              </a:ext>
            </a:extLst>
          </p:cNvPr>
          <p:cNvSpPr txBox="1"/>
          <p:nvPr/>
        </p:nvSpPr>
        <p:spPr>
          <a:xfrm>
            <a:off x="507807" y="4772975"/>
            <a:ext cx="2204450" cy="307777"/>
          </a:xfrm>
          <a:prstGeom prst="rect">
            <a:avLst/>
          </a:prstGeom>
          <a:noFill/>
        </p:spPr>
        <p:txBody>
          <a:bodyPr wrap="none" rtlCol="0">
            <a:spAutoFit/>
          </a:bodyPr>
          <a:lstStyle/>
          <a:p>
            <a:r>
              <a:rPr lang="en-US">
                <a:solidFill>
                  <a:schemeClr val="accent1"/>
                </a:solidFill>
                <a:latin typeface="Montserrat" panose="00000500000000000000" pitchFamily="2" charset="0"/>
              </a:rPr>
              <a:t>Moore next state </a:t>
            </a:r>
            <a:r>
              <a:rPr lang="en-US" dirty="0">
                <a:solidFill>
                  <a:schemeClr val="accent1"/>
                </a:solidFill>
                <a:latin typeface="Montserrat" panose="00000500000000000000" pitchFamily="2" charset="0"/>
              </a:rPr>
              <a:t>table</a:t>
            </a:r>
          </a:p>
        </p:txBody>
      </p:sp>
      <p:sp>
        <p:nvSpPr>
          <p:cNvPr id="12" name="TextBox 11">
            <a:extLst>
              <a:ext uri="{FF2B5EF4-FFF2-40B4-BE49-F238E27FC236}">
                <a16:creationId xmlns:a16="http://schemas.microsoft.com/office/drawing/2014/main" id="{322175AD-F8F2-24B4-2146-D377AC2F875D}"/>
              </a:ext>
            </a:extLst>
          </p:cNvPr>
          <p:cNvSpPr txBox="1"/>
          <p:nvPr/>
        </p:nvSpPr>
        <p:spPr>
          <a:xfrm>
            <a:off x="6399268" y="4755928"/>
            <a:ext cx="1345240" cy="307777"/>
          </a:xfrm>
          <a:prstGeom prst="rect">
            <a:avLst/>
          </a:prstGeom>
          <a:noFill/>
        </p:spPr>
        <p:txBody>
          <a:bodyPr wrap="none" rtlCol="0">
            <a:spAutoFit/>
          </a:bodyPr>
          <a:lstStyle/>
          <a:p>
            <a:r>
              <a:rPr lang="en-US" dirty="0">
                <a:solidFill>
                  <a:schemeClr val="accent1"/>
                </a:solidFill>
                <a:latin typeface="Montserrat" panose="00000500000000000000" pitchFamily="2" charset="0"/>
              </a:rPr>
              <a:t>Output table</a:t>
            </a:r>
          </a:p>
        </p:txBody>
      </p:sp>
      <p:sp>
        <p:nvSpPr>
          <p:cNvPr id="13" name="TextBox 12">
            <a:extLst>
              <a:ext uri="{FF2B5EF4-FFF2-40B4-BE49-F238E27FC236}">
                <a16:creationId xmlns:a16="http://schemas.microsoft.com/office/drawing/2014/main" id="{A91E17FD-DDD2-09A7-CC1D-AB023D0133B9}"/>
              </a:ext>
            </a:extLst>
          </p:cNvPr>
          <p:cNvSpPr txBox="1"/>
          <p:nvPr/>
        </p:nvSpPr>
        <p:spPr>
          <a:xfrm>
            <a:off x="173274" y="1146831"/>
            <a:ext cx="8898401" cy="523220"/>
          </a:xfrm>
          <a:prstGeom prst="rect">
            <a:avLst/>
          </a:prstGeom>
          <a:noFill/>
        </p:spPr>
        <p:txBody>
          <a:bodyPr wrap="square" rtlCol="0">
            <a:spAutoFit/>
          </a:bodyPr>
          <a:lstStyle/>
          <a:p>
            <a:r>
              <a:rPr lang="en-US" dirty="0"/>
              <a:t> </a:t>
            </a:r>
            <a:r>
              <a:rPr lang="en-US" dirty="0">
                <a:solidFill>
                  <a:schemeClr val="accent1"/>
                </a:solidFill>
                <a:latin typeface="Montserrat" panose="00000500000000000000" pitchFamily="2" charset="0"/>
              </a:rPr>
              <a:t>Design a digital circuit based on following Moore state transition diagram using </a:t>
            </a:r>
            <a:r>
              <a:rPr lang="en-US" dirty="0" err="1">
                <a:solidFill>
                  <a:schemeClr val="accent1"/>
                </a:solidFill>
                <a:latin typeface="Montserrat" panose="00000500000000000000" pitchFamily="2" charset="0"/>
              </a:rPr>
              <a:t>SystemVerilog</a:t>
            </a:r>
            <a:r>
              <a:rPr lang="en-US" dirty="0">
                <a:solidFill>
                  <a:schemeClr val="accent1"/>
                </a:solidFill>
                <a:latin typeface="Montserrat" panose="00000500000000000000" pitchFamily="2" charset="0"/>
              </a:rPr>
              <a:t> and simulate on </a:t>
            </a:r>
            <a:r>
              <a:rPr lang="en-US" dirty="0" err="1">
                <a:solidFill>
                  <a:schemeClr val="accent1"/>
                </a:solidFill>
                <a:latin typeface="Montserrat" panose="00000500000000000000" pitchFamily="2" charset="0"/>
              </a:rPr>
              <a:t>ModelSim</a:t>
            </a:r>
            <a:r>
              <a:rPr lang="en-US" dirty="0">
                <a:solidFill>
                  <a:schemeClr val="accent1"/>
                </a:solidFill>
                <a:latin typeface="Montserrat" panose="00000500000000000000" pitchFamily="2" charset="0"/>
              </a:rPr>
              <a:t>.</a:t>
            </a:r>
          </a:p>
        </p:txBody>
      </p:sp>
    </p:spTree>
    <p:extLst>
      <p:ext uri="{BB962C8B-B14F-4D97-AF65-F5344CB8AC3E}">
        <p14:creationId xmlns:p14="http://schemas.microsoft.com/office/powerpoint/2010/main" val="4798615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8F755-4446-C185-E910-BBD342FE7973}"/>
              </a:ext>
            </a:extLst>
          </p:cNvPr>
          <p:cNvSpPr>
            <a:spLocks noGrp="1"/>
          </p:cNvSpPr>
          <p:nvPr>
            <p:ph type="title"/>
          </p:nvPr>
        </p:nvSpPr>
        <p:spPr>
          <a:xfrm>
            <a:off x="308877" y="428904"/>
            <a:ext cx="7738200" cy="572700"/>
          </a:xfrm>
        </p:spPr>
        <p:txBody>
          <a:bodyPr/>
          <a:lstStyle/>
          <a:p>
            <a:r>
              <a:rPr lang="en-US" dirty="0"/>
              <a:t>Exercise 2</a:t>
            </a:r>
          </a:p>
        </p:txBody>
      </p:sp>
      <p:sp>
        <p:nvSpPr>
          <p:cNvPr id="6" name="TextBox 5">
            <a:extLst>
              <a:ext uri="{FF2B5EF4-FFF2-40B4-BE49-F238E27FC236}">
                <a16:creationId xmlns:a16="http://schemas.microsoft.com/office/drawing/2014/main" id="{B5869931-C69E-1CA8-7117-E3D5E3B64635}"/>
              </a:ext>
            </a:extLst>
          </p:cNvPr>
          <p:cNvSpPr txBox="1"/>
          <p:nvPr/>
        </p:nvSpPr>
        <p:spPr>
          <a:xfrm>
            <a:off x="3028869" y="2686651"/>
            <a:ext cx="3487118" cy="523220"/>
          </a:xfrm>
          <a:prstGeom prst="rect">
            <a:avLst/>
          </a:prstGeom>
          <a:noFill/>
        </p:spPr>
        <p:txBody>
          <a:bodyPr wrap="square" rtlCol="0">
            <a:spAutoFit/>
          </a:bodyPr>
          <a:lstStyle/>
          <a:p>
            <a:r>
              <a:rPr lang="en-US" dirty="0">
                <a:solidFill>
                  <a:schemeClr val="accent1"/>
                </a:solidFill>
                <a:latin typeface="Montserrat" panose="00000500000000000000" pitchFamily="2" charset="0"/>
              </a:rPr>
              <a:t>Mealy machine state transition diagram</a:t>
            </a:r>
          </a:p>
        </p:txBody>
      </p:sp>
      <p:sp>
        <p:nvSpPr>
          <p:cNvPr id="11" name="TextBox 10">
            <a:extLst>
              <a:ext uri="{FF2B5EF4-FFF2-40B4-BE49-F238E27FC236}">
                <a16:creationId xmlns:a16="http://schemas.microsoft.com/office/drawing/2014/main" id="{B492B9EE-5D6E-5006-312B-774A96875D3A}"/>
              </a:ext>
            </a:extLst>
          </p:cNvPr>
          <p:cNvSpPr txBox="1"/>
          <p:nvPr/>
        </p:nvSpPr>
        <p:spPr>
          <a:xfrm>
            <a:off x="2851537" y="4793581"/>
            <a:ext cx="3220753" cy="307777"/>
          </a:xfrm>
          <a:prstGeom prst="rect">
            <a:avLst/>
          </a:prstGeom>
          <a:noFill/>
        </p:spPr>
        <p:txBody>
          <a:bodyPr wrap="none" rtlCol="0">
            <a:spAutoFit/>
          </a:bodyPr>
          <a:lstStyle/>
          <a:p>
            <a:r>
              <a:rPr lang="en-US">
                <a:solidFill>
                  <a:schemeClr val="accent1"/>
                </a:solidFill>
                <a:latin typeface="Montserrat" panose="00000500000000000000" pitchFamily="2" charset="0"/>
              </a:rPr>
              <a:t>Mealy next state </a:t>
            </a:r>
            <a:r>
              <a:rPr lang="en-US" dirty="0">
                <a:solidFill>
                  <a:schemeClr val="accent1"/>
                </a:solidFill>
                <a:latin typeface="Montserrat" panose="00000500000000000000" pitchFamily="2" charset="0"/>
              </a:rPr>
              <a:t>and output table</a:t>
            </a:r>
          </a:p>
        </p:txBody>
      </p:sp>
      <p:sp>
        <p:nvSpPr>
          <p:cNvPr id="13" name="TextBox 12">
            <a:extLst>
              <a:ext uri="{FF2B5EF4-FFF2-40B4-BE49-F238E27FC236}">
                <a16:creationId xmlns:a16="http://schemas.microsoft.com/office/drawing/2014/main" id="{A91E17FD-DDD2-09A7-CC1D-AB023D0133B9}"/>
              </a:ext>
            </a:extLst>
          </p:cNvPr>
          <p:cNvSpPr txBox="1"/>
          <p:nvPr/>
        </p:nvSpPr>
        <p:spPr>
          <a:xfrm>
            <a:off x="173274" y="1146831"/>
            <a:ext cx="8898401" cy="523220"/>
          </a:xfrm>
          <a:prstGeom prst="rect">
            <a:avLst/>
          </a:prstGeom>
          <a:noFill/>
        </p:spPr>
        <p:txBody>
          <a:bodyPr wrap="square" rtlCol="0">
            <a:spAutoFit/>
          </a:bodyPr>
          <a:lstStyle/>
          <a:p>
            <a:r>
              <a:rPr lang="en-US" dirty="0">
                <a:solidFill>
                  <a:schemeClr val="accent1"/>
                </a:solidFill>
                <a:latin typeface="Montserrat" panose="00000500000000000000" pitchFamily="2" charset="0"/>
              </a:rPr>
              <a:t>Design a circuit based on following Mealy state transition diagram using </a:t>
            </a:r>
            <a:r>
              <a:rPr lang="en-US" dirty="0" err="1">
                <a:solidFill>
                  <a:schemeClr val="accent1"/>
                </a:solidFill>
                <a:latin typeface="Montserrat" panose="00000500000000000000" pitchFamily="2" charset="0"/>
              </a:rPr>
              <a:t>SystemVerilog</a:t>
            </a:r>
            <a:r>
              <a:rPr lang="en-US" dirty="0">
                <a:solidFill>
                  <a:schemeClr val="accent1"/>
                </a:solidFill>
                <a:latin typeface="Montserrat" panose="00000500000000000000" pitchFamily="2" charset="0"/>
              </a:rPr>
              <a:t> and simulate on </a:t>
            </a:r>
            <a:r>
              <a:rPr lang="en-US" dirty="0" err="1">
                <a:solidFill>
                  <a:schemeClr val="accent1"/>
                </a:solidFill>
                <a:latin typeface="Montserrat" panose="00000500000000000000" pitchFamily="2" charset="0"/>
              </a:rPr>
              <a:t>ModelSim</a:t>
            </a:r>
            <a:r>
              <a:rPr lang="en-US" dirty="0">
                <a:solidFill>
                  <a:schemeClr val="accent1"/>
                </a:solidFill>
                <a:latin typeface="Montserrat" panose="00000500000000000000" pitchFamily="2" charset="0"/>
              </a:rPr>
              <a:t>.</a:t>
            </a:r>
          </a:p>
        </p:txBody>
      </p:sp>
      <p:pic>
        <p:nvPicPr>
          <p:cNvPr id="4" name="Picture 3">
            <a:extLst>
              <a:ext uri="{FF2B5EF4-FFF2-40B4-BE49-F238E27FC236}">
                <a16:creationId xmlns:a16="http://schemas.microsoft.com/office/drawing/2014/main" id="{60B90D78-FE35-8808-C818-AC38F13BBB73}"/>
              </a:ext>
            </a:extLst>
          </p:cNvPr>
          <p:cNvPicPr>
            <a:picLocks noChangeAspect="1"/>
          </p:cNvPicPr>
          <p:nvPr/>
        </p:nvPicPr>
        <p:blipFill>
          <a:blip r:embed="rId2"/>
          <a:stretch>
            <a:fillRect/>
          </a:stretch>
        </p:blipFill>
        <p:spPr>
          <a:xfrm>
            <a:off x="3471140" y="1654800"/>
            <a:ext cx="1753175" cy="1047102"/>
          </a:xfrm>
          <a:prstGeom prst="rect">
            <a:avLst/>
          </a:prstGeom>
        </p:spPr>
      </p:pic>
      <p:pic>
        <p:nvPicPr>
          <p:cNvPr id="9" name="Picture 8">
            <a:extLst>
              <a:ext uri="{FF2B5EF4-FFF2-40B4-BE49-F238E27FC236}">
                <a16:creationId xmlns:a16="http://schemas.microsoft.com/office/drawing/2014/main" id="{2FAB1E57-6DE0-AEA3-5B9B-CB37B65265A4}"/>
              </a:ext>
            </a:extLst>
          </p:cNvPr>
          <p:cNvPicPr>
            <a:picLocks noChangeAspect="1"/>
          </p:cNvPicPr>
          <p:nvPr/>
        </p:nvPicPr>
        <p:blipFill>
          <a:blip r:embed="rId3"/>
          <a:stretch>
            <a:fillRect/>
          </a:stretch>
        </p:blipFill>
        <p:spPr>
          <a:xfrm>
            <a:off x="2591445" y="2948833"/>
            <a:ext cx="3840351" cy="1736455"/>
          </a:xfrm>
          <a:prstGeom prst="rect">
            <a:avLst/>
          </a:prstGeom>
        </p:spPr>
      </p:pic>
    </p:spTree>
    <p:extLst>
      <p:ext uri="{BB962C8B-B14F-4D97-AF65-F5344CB8AC3E}">
        <p14:creationId xmlns:p14="http://schemas.microsoft.com/office/powerpoint/2010/main" val="42534438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3F5A2-B3DB-0AB9-9777-872ADB2D5A9B}"/>
              </a:ext>
            </a:extLst>
          </p:cNvPr>
          <p:cNvSpPr>
            <a:spLocks noGrp="1"/>
          </p:cNvSpPr>
          <p:nvPr>
            <p:ph type="title"/>
          </p:nvPr>
        </p:nvSpPr>
        <p:spPr>
          <a:xfrm>
            <a:off x="443197" y="443121"/>
            <a:ext cx="7738200" cy="572700"/>
          </a:xfrm>
        </p:spPr>
        <p:txBody>
          <a:bodyPr/>
          <a:lstStyle/>
          <a:p>
            <a:r>
              <a:rPr lang="en-US"/>
              <a:t>Exercise 3: Traffic </a:t>
            </a:r>
            <a:r>
              <a:rPr lang="en-US" dirty="0"/>
              <a:t>light controller</a:t>
            </a:r>
          </a:p>
        </p:txBody>
      </p:sp>
      <p:sp>
        <p:nvSpPr>
          <p:cNvPr id="3" name="Subtitle 2">
            <a:extLst>
              <a:ext uri="{FF2B5EF4-FFF2-40B4-BE49-F238E27FC236}">
                <a16:creationId xmlns:a16="http://schemas.microsoft.com/office/drawing/2014/main" id="{31AA61D5-41EB-F82F-8BCD-FE1F51CFB374}"/>
              </a:ext>
            </a:extLst>
          </p:cNvPr>
          <p:cNvSpPr>
            <a:spLocks noGrp="1"/>
          </p:cNvSpPr>
          <p:nvPr>
            <p:ph type="subTitle" idx="1"/>
          </p:nvPr>
        </p:nvSpPr>
        <p:spPr>
          <a:xfrm>
            <a:off x="396701" y="1086711"/>
            <a:ext cx="8380505" cy="505200"/>
          </a:xfrm>
        </p:spPr>
        <p:txBody>
          <a:bodyPr/>
          <a:lstStyle/>
          <a:p>
            <a:pPr marL="180975" indent="-41275"/>
            <a:r>
              <a:rPr lang="en-US" dirty="0"/>
              <a:t>Students move from Labs to Dorms on Academic street.</a:t>
            </a:r>
          </a:p>
          <a:p>
            <a:pPr marL="180975" indent="-41275"/>
            <a:r>
              <a:rPr lang="en-US" dirty="0"/>
              <a:t>Football players move from Dining hall to Athletic Fields on Bravado street.</a:t>
            </a:r>
          </a:p>
          <a:p>
            <a:pPr marL="180975" indent="-41275"/>
            <a:endParaRPr lang="en-US" dirty="0"/>
          </a:p>
          <a:p>
            <a:pPr marL="180975" indent="-41275"/>
            <a:r>
              <a:rPr lang="en-US" b="1" dirty="0"/>
              <a:t>Input: </a:t>
            </a:r>
            <a:r>
              <a:rPr lang="en-US" dirty="0"/>
              <a:t>Two traffic sensors, TA and TB. TA indicates true if students are present and false if Academic street is empty. TB indicates true if football player are present and false if Bravado street is empty.</a:t>
            </a:r>
          </a:p>
          <a:p>
            <a:pPr marL="180975" indent="-41275"/>
            <a:endParaRPr lang="en-US" dirty="0"/>
          </a:p>
          <a:p>
            <a:pPr marL="180975" indent="-41275"/>
            <a:r>
              <a:rPr lang="en-US" b="1" dirty="0"/>
              <a:t>Output:</a:t>
            </a:r>
            <a:r>
              <a:rPr lang="en-US" dirty="0"/>
              <a:t> Two traffic lights LA and LB to control traffic.  Each lights receives digital inputs to specify whether it should be yellow, red, green.</a:t>
            </a:r>
          </a:p>
          <a:p>
            <a:endParaRPr lang="en-US" dirty="0"/>
          </a:p>
        </p:txBody>
      </p:sp>
      <p:pic>
        <p:nvPicPr>
          <p:cNvPr id="5" name="Picture 4">
            <a:extLst>
              <a:ext uri="{FF2B5EF4-FFF2-40B4-BE49-F238E27FC236}">
                <a16:creationId xmlns:a16="http://schemas.microsoft.com/office/drawing/2014/main" id="{ED3C6AA7-A49D-F766-C238-A874BB3CD2F9}"/>
              </a:ext>
            </a:extLst>
          </p:cNvPr>
          <p:cNvPicPr>
            <a:picLocks noChangeAspect="1"/>
          </p:cNvPicPr>
          <p:nvPr/>
        </p:nvPicPr>
        <p:blipFill>
          <a:blip r:embed="rId2"/>
          <a:stretch>
            <a:fillRect/>
          </a:stretch>
        </p:blipFill>
        <p:spPr>
          <a:xfrm>
            <a:off x="3438767" y="2815612"/>
            <a:ext cx="2266466" cy="1933434"/>
          </a:xfrm>
          <a:prstGeom prst="rect">
            <a:avLst/>
          </a:prstGeom>
        </p:spPr>
      </p:pic>
      <p:pic>
        <p:nvPicPr>
          <p:cNvPr id="6" name="Picture 5">
            <a:extLst>
              <a:ext uri="{FF2B5EF4-FFF2-40B4-BE49-F238E27FC236}">
                <a16:creationId xmlns:a16="http://schemas.microsoft.com/office/drawing/2014/main" id="{DC421661-E99C-4316-7093-D81286F3D6CA}"/>
              </a:ext>
            </a:extLst>
          </p:cNvPr>
          <p:cNvPicPr>
            <a:picLocks noChangeAspect="1"/>
          </p:cNvPicPr>
          <p:nvPr/>
        </p:nvPicPr>
        <p:blipFill>
          <a:blip r:embed="rId3"/>
          <a:stretch>
            <a:fillRect/>
          </a:stretch>
        </p:blipFill>
        <p:spPr>
          <a:xfrm>
            <a:off x="157656" y="2766945"/>
            <a:ext cx="2643825" cy="1933434"/>
          </a:xfrm>
          <a:prstGeom prst="rect">
            <a:avLst/>
          </a:prstGeom>
        </p:spPr>
      </p:pic>
      <p:pic>
        <p:nvPicPr>
          <p:cNvPr id="9" name="Picture 8">
            <a:extLst>
              <a:ext uri="{FF2B5EF4-FFF2-40B4-BE49-F238E27FC236}">
                <a16:creationId xmlns:a16="http://schemas.microsoft.com/office/drawing/2014/main" id="{34DE92BB-B40B-7C55-6FE1-4BD2EAEBE2D2}"/>
              </a:ext>
            </a:extLst>
          </p:cNvPr>
          <p:cNvPicPr>
            <a:picLocks noChangeAspect="1"/>
          </p:cNvPicPr>
          <p:nvPr/>
        </p:nvPicPr>
        <p:blipFill>
          <a:blip r:embed="rId4"/>
          <a:stretch>
            <a:fillRect/>
          </a:stretch>
        </p:blipFill>
        <p:spPr>
          <a:xfrm>
            <a:off x="6383849" y="2801587"/>
            <a:ext cx="2647950" cy="1952625"/>
          </a:xfrm>
          <a:prstGeom prst="rect">
            <a:avLst/>
          </a:prstGeom>
        </p:spPr>
      </p:pic>
    </p:spTree>
    <p:extLst>
      <p:ext uri="{BB962C8B-B14F-4D97-AF65-F5344CB8AC3E}">
        <p14:creationId xmlns:p14="http://schemas.microsoft.com/office/powerpoint/2010/main" val="15574035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3F5A2-B3DB-0AB9-9777-872ADB2D5A9B}"/>
              </a:ext>
            </a:extLst>
          </p:cNvPr>
          <p:cNvSpPr>
            <a:spLocks noGrp="1"/>
          </p:cNvSpPr>
          <p:nvPr>
            <p:ph type="title"/>
          </p:nvPr>
        </p:nvSpPr>
        <p:spPr>
          <a:xfrm>
            <a:off x="443197" y="443121"/>
            <a:ext cx="7738200" cy="572700"/>
          </a:xfrm>
        </p:spPr>
        <p:txBody>
          <a:bodyPr/>
          <a:lstStyle/>
          <a:p>
            <a:r>
              <a:rPr lang="en-US" dirty="0"/>
              <a:t>Traffic light controller</a:t>
            </a:r>
          </a:p>
        </p:txBody>
      </p:sp>
      <p:sp>
        <p:nvSpPr>
          <p:cNvPr id="3" name="Subtitle 2">
            <a:extLst>
              <a:ext uri="{FF2B5EF4-FFF2-40B4-BE49-F238E27FC236}">
                <a16:creationId xmlns:a16="http://schemas.microsoft.com/office/drawing/2014/main" id="{31AA61D5-41EB-F82F-8BCD-FE1F51CFB374}"/>
              </a:ext>
            </a:extLst>
          </p:cNvPr>
          <p:cNvSpPr>
            <a:spLocks noGrp="1"/>
          </p:cNvSpPr>
          <p:nvPr>
            <p:ph type="subTitle" idx="1"/>
          </p:nvPr>
        </p:nvSpPr>
        <p:spPr>
          <a:xfrm>
            <a:off x="396702" y="1086711"/>
            <a:ext cx="7738200" cy="505200"/>
          </a:xfrm>
        </p:spPr>
        <p:txBody>
          <a:bodyPr/>
          <a:lstStyle/>
          <a:p>
            <a:pPr marL="180975" indent="-41275"/>
            <a:r>
              <a:rPr lang="en-US" dirty="0"/>
              <a:t>Design a light traffic controller digital circuit based on following state transition diagram using </a:t>
            </a:r>
            <a:r>
              <a:rPr lang="en-US" dirty="0" err="1"/>
              <a:t>SystemVerilog</a:t>
            </a:r>
            <a:r>
              <a:rPr lang="en-US" dirty="0"/>
              <a:t> and simulate on </a:t>
            </a:r>
            <a:r>
              <a:rPr lang="en-US" dirty="0" err="1"/>
              <a:t>ModelSim</a:t>
            </a:r>
            <a:r>
              <a:rPr lang="en-US" dirty="0"/>
              <a:t>.</a:t>
            </a:r>
          </a:p>
          <a:p>
            <a:endParaRPr lang="en-US" dirty="0"/>
          </a:p>
        </p:txBody>
      </p:sp>
      <p:pic>
        <p:nvPicPr>
          <p:cNvPr id="5" name="Picture 4">
            <a:extLst>
              <a:ext uri="{FF2B5EF4-FFF2-40B4-BE49-F238E27FC236}">
                <a16:creationId xmlns:a16="http://schemas.microsoft.com/office/drawing/2014/main" id="{ED3C6AA7-A49D-F766-C238-A874BB3CD2F9}"/>
              </a:ext>
            </a:extLst>
          </p:cNvPr>
          <p:cNvPicPr>
            <a:picLocks noChangeAspect="1"/>
          </p:cNvPicPr>
          <p:nvPr/>
        </p:nvPicPr>
        <p:blipFill>
          <a:blip r:embed="rId2"/>
          <a:stretch>
            <a:fillRect/>
          </a:stretch>
        </p:blipFill>
        <p:spPr>
          <a:xfrm>
            <a:off x="-16143" y="1662801"/>
            <a:ext cx="2266466" cy="1933434"/>
          </a:xfrm>
          <a:prstGeom prst="rect">
            <a:avLst/>
          </a:prstGeom>
        </p:spPr>
      </p:pic>
      <p:pic>
        <p:nvPicPr>
          <p:cNvPr id="7" name="Picture 6">
            <a:extLst>
              <a:ext uri="{FF2B5EF4-FFF2-40B4-BE49-F238E27FC236}">
                <a16:creationId xmlns:a16="http://schemas.microsoft.com/office/drawing/2014/main" id="{B82E786C-E8C5-3A38-9445-068123F3D4FE}"/>
              </a:ext>
            </a:extLst>
          </p:cNvPr>
          <p:cNvPicPr>
            <a:picLocks noChangeAspect="1"/>
          </p:cNvPicPr>
          <p:nvPr/>
        </p:nvPicPr>
        <p:blipFill>
          <a:blip r:embed="rId3"/>
          <a:stretch>
            <a:fillRect/>
          </a:stretch>
        </p:blipFill>
        <p:spPr>
          <a:xfrm>
            <a:off x="2304737" y="1687751"/>
            <a:ext cx="2777951" cy="2331813"/>
          </a:xfrm>
          <a:prstGeom prst="rect">
            <a:avLst/>
          </a:prstGeom>
        </p:spPr>
      </p:pic>
      <p:pic>
        <p:nvPicPr>
          <p:cNvPr id="11" name="Picture 10">
            <a:extLst>
              <a:ext uri="{FF2B5EF4-FFF2-40B4-BE49-F238E27FC236}">
                <a16:creationId xmlns:a16="http://schemas.microsoft.com/office/drawing/2014/main" id="{50526F30-A122-FD7B-36B4-5EA9350C7906}"/>
              </a:ext>
            </a:extLst>
          </p:cNvPr>
          <p:cNvPicPr>
            <a:picLocks noChangeAspect="1"/>
          </p:cNvPicPr>
          <p:nvPr/>
        </p:nvPicPr>
        <p:blipFill>
          <a:blip r:embed="rId4"/>
          <a:stretch>
            <a:fillRect/>
          </a:stretch>
        </p:blipFill>
        <p:spPr>
          <a:xfrm>
            <a:off x="5216678" y="1376423"/>
            <a:ext cx="2700733" cy="1708627"/>
          </a:xfrm>
          <a:prstGeom prst="rect">
            <a:avLst/>
          </a:prstGeom>
        </p:spPr>
      </p:pic>
      <p:sp>
        <p:nvSpPr>
          <p:cNvPr id="12" name="TextBox 11">
            <a:extLst>
              <a:ext uri="{FF2B5EF4-FFF2-40B4-BE49-F238E27FC236}">
                <a16:creationId xmlns:a16="http://schemas.microsoft.com/office/drawing/2014/main" id="{5C831F3B-7E92-4B67-5F08-653F32937E56}"/>
              </a:ext>
            </a:extLst>
          </p:cNvPr>
          <p:cNvSpPr txBox="1"/>
          <p:nvPr/>
        </p:nvSpPr>
        <p:spPr>
          <a:xfrm>
            <a:off x="2841230" y="4056789"/>
            <a:ext cx="1604927" cy="307777"/>
          </a:xfrm>
          <a:prstGeom prst="rect">
            <a:avLst/>
          </a:prstGeom>
          <a:noFill/>
        </p:spPr>
        <p:txBody>
          <a:bodyPr wrap="none" rtlCol="0">
            <a:spAutoFit/>
          </a:bodyPr>
          <a:lstStyle/>
          <a:p>
            <a:r>
              <a:rPr lang="en-US">
                <a:solidFill>
                  <a:schemeClr val="accent1"/>
                </a:solidFill>
                <a:latin typeface="Montserrat" panose="00000500000000000000" pitchFamily="2" charset="0"/>
              </a:rPr>
              <a:t>Next state </a:t>
            </a:r>
            <a:r>
              <a:rPr lang="en-US" dirty="0">
                <a:solidFill>
                  <a:schemeClr val="accent1"/>
                </a:solidFill>
                <a:latin typeface="Montserrat" panose="00000500000000000000" pitchFamily="2" charset="0"/>
              </a:rPr>
              <a:t>table</a:t>
            </a:r>
          </a:p>
        </p:txBody>
      </p:sp>
      <p:sp>
        <p:nvSpPr>
          <p:cNvPr id="13" name="TextBox 12">
            <a:extLst>
              <a:ext uri="{FF2B5EF4-FFF2-40B4-BE49-F238E27FC236}">
                <a16:creationId xmlns:a16="http://schemas.microsoft.com/office/drawing/2014/main" id="{9B6BB3A8-6517-7F5A-3278-040FD9F9619C}"/>
              </a:ext>
            </a:extLst>
          </p:cNvPr>
          <p:cNvSpPr txBox="1"/>
          <p:nvPr/>
        </p:nvSpPr>
        <p:spPr>
          <a:xfrm>
            <a:off x="6128488" y="4827882"/>
            <a:ext cx="1345240" cy="307777"/>
          </a:xfrm>
          <a:prstGeom prst="rect">
            <a:avLst/>
          </a:prstGeom>
          <a:noFill/>
        </p:spPr>
        <p:txBody>
          <a:bodyPr wrap="none" rtlCol="0">
            <a:spAutoFit/>
          </a:bodyPr>
          <a:lstStyle/>
          <a:p>
            <a:r>
              <a:rPr lang="en-US" dirty="0">
                <a:solidFill>
                  <a:schemeClr val="accent1"/>
                </a:solidFill>
                <a:latin typeface="Montserrat" panose="00000500000000000000" pitchFamily="2" charset="0"/>
              </a:rPr>
              <a:t>Output table</a:t>
            </a:r>
          </a:p>
        </p:txBody>
      </p:sp>
      <p:graphicFrame>
        <p:nvGraphicFramePr>
          <p:cNvPr id="4" name="Table 3">
            <a:extLst>
              <a:ext uri="{FF2B5EF4-FFF2-40B4-BE49-F238E27FC236}">
                <a16:creationId xmlns:a16="http://schemas.microsoft.com/office/drawing/2014/main" id="{EB41022B-11CE-2FCE-5D57-091E929A7FBB}"/>
              </a:ext>
            </a:extLst>
          </p:cNvPr>
          <p:cNvGraphicFramePr>
            <a:graphicFrameLocks noGrp="1"/>
          </p:cNvGraphicFramePr>
          <p:nvPr/>
        </p:nvGraphicFramePr>
        <p:xfrm>
          <a:off x="5137102" y="3258275"/>
          <a:ext cx="3673098" cy="1528091"/>
        </p:xfrm>
        <a:graphic>
          <a:graphicData uri="http://schemas.openxmlformats.org/drawingml/2006/table">
            <a:tbl>
              <a:tblPr firstRow="1" bandRow="1">
                <a:tableStyleId>{D971DDEE-25E1-4FD0-9271-24F5402C3206}</a:tableStyleId>
              </a:tblPr>
              <a:tblGrid>
                <a:gridCol w="1126209">
                  <a:extLst>
                    <a:ext uri="{9D8B030D-6E8A-4147-A177-3AD203B41FA5}">
                      <a16:colId xmlns:a16="http://schemas.microsoft.com/office/drawing/2014/main" val="796418723"/>
                    </a:ext>
                  </a:extLst>
                </a:gridCol>
                <a:gridCol w="2546889">
                  <a:extLst>
                    <a:ext uri="{9D8B030D-6E8A-4147-A177-3AD203B41FA5}">
                      <a16:colId xmlns:a16="http://schemas.microsoft.com/office/drawing/2014/main" val="529925103"/>
                    </a:ext>
                  </a:extLst>
                </a:gridCol>
              </a:tblGrid>
              <a:tr h="343662">
                <a:tc>
                  <a:txBody>
                    <a:bodyPr/>
                    <a:lstStyle/>
                    <a:p>
                      <a:r>
                        <a:rPr lang="en-US" sz="1200" b="1" dirty="0">
                          <a:solidFill>
                            <a:schemeClr val="accent1"/>
                          </a:solidFill>
                          <a:effectLst>
                            <a:outerShdw blurRad="38100" dist="38100" dir="2700000" algn="tl">
                              <a:srgbClr val="000000">
                                <a:alpha val="43137"/>
                              </a:srgbClr>
                            </a:outerShdw>
                          </a:effectLst>
                          <a:latin typeface="Montserrat" panose="00000500000000000000" pitchFamily="2" charset="0"/>
                        </a:rPr>
                        <a:t>        State</a:t>
                      </a:r>
                    </a:p>
                  </a:txBody>
                  <a:tcPr/>
                </a:tc>
                <a:tc>
                  <a:txBody>
                    <a:bodyPr/>
                    <a:lstStyle/>
                    <a:p>
                      <a:r>
                        <a:rPr lang="en-US" sz="1200" b="1" dirty="0">
                          <a:solidFill>
                            <a:schemeClr val="accent1"/>
                          </a:solidFill>
                          <a:effectLst>
                            <a:outerShdw blurRad="38100" dist="38100" dir="2700000" algn="tl">
                              <a:srgbClr val="000000">
                                <a:alpha val="43137"/>
                              </a:srgbClr>
                            </a:outerShdw>
                          </a:effectLst>
                          <a:latin typeface="Montserrat" panose="00000500000000000000" pitchFamily="2" charset="0"/>
                        </a:rPr>
                        <a:t>                  Output</a:t>
                      </a:r>
                    </a:p>
                  </a:txBody>
                  <a:tcPr/>
                </a:tc>
                <a:extLst>
                  <a:ext uri="{0D108BD9-81ED-4DB2-BD59-A6C34878D82A}">
                    <a16:rowId xmlns:a16="http://schemas.microsoft.com/office/drawing/2014/main" val="2459238716"/>
                  </a:ext>
                </a:extLst>
              </a:tr>
              <a:tr h="296047">
                <a:tc>
                  <a:txBody>
                    <a:bodyPr/>
                    <a:lstStyle/>
                    <a:p>
                      <a:r>
                        <a:rPr lang="en-US" sz="1200" dirty="0">
                          <a:solidFill>
                            <a:schemeClr val="accent1"/>
                          </a:solidFill>
                          <a:latin typeface="Montserrat" panose="00000500000000000000" pitchFamily="2" charset="0"/>
                        </a:rPr>
                        <a:t>        S0</a:t>
                      </a:r>
                    </a:p>
                  </a:txBody>
                  <a:tcPr/>
                </a:tc>
                <a:tc>
                  <a:txBody>
                    <a:bodyPr/>
                    <a:lstStyle/>
                    <a:p>
                      <a:r>
                        <a:rPr lang="en-US" sz="1200" dirty="0">
                          <a:solidFill>
                            <a:schemeClr val="accent1"/>
                          </a:solidFill>
                          <a:latin typeface="Montserrat" panose="00000500000000000000" pitchFamily="2" charset="0"/>
                        </a:rPr>
                        <a:t>LA: green, LB: red</a:t>
                      </a:r>
                    </a:p>
                  </a:txBody>
                  <a:tcPr/>
                </a:tc>
                <a:extLst>
                  <a:ext uri="{0D108BD9-81ED-4DB2-BD59-A6C34878D82A}">
                    <a16:rowId xmlns:a16="http://schemas.microsoft.com/office/drawing/2014/main" val="111495669"/>
                  </a:ext>
                </a:extLst>
              </a:tr>
              <a:tr h="311545">
                <a:tc>
                  <a:txBody>
                    <a:bodyPr/>
                    <a:lstStyle/>
                    <a:p>
                      <a:r>
                        <a:rPr lang="en-US" sz="1200" dirty="0">
                          <a:solidFill>
                            <a:schemeClr val="accent1"/>
                          </a:solidFill>
                          <a:latin typeface="Montserrat" panose="00000500000000000000" pitchFamily="2" charset="0"/>
                        </a:rPr>
                        <a:t>        S1</a:t>
                      </a:r>
                    </a:p>
                  </a:txBody>
                  <a:tcPr/>
                </a:tc>
                <a:tc>
                  <a:txBody>
                    <a:bodyPr/>
                    <a:lstStyle/>
                    <a:p>
                      <a:r>
                        <a:rPr lang="en-US" sz="1200" dirty="0">
                          <a:solidFill>
                            <a:schemeClr val="accent1"/>
                          </a:solidFill>
                          <a:latin typeface="Montserrat" panose="00000500000000000000" pitchFamily="2" charset="0"/>
                        </a:rPr>
                        <a:t>LA: yellow, LB: red</a:t>
                      </a:r>
                    </a:p>
                  </a:txBody>
                  <a:tcPr/>
                </a:tc>
                <a:extLst>
                  <a:ext uri="{0D108BD9-81ED-4DB2-BD59-A6C34878D82A}">
                    <a16:rowId xmlns:a16="http://schemas.microsoft.com/office/drawing/2014/main" val="3466792328"/>
                  </a:ext>
                </a:extLst>
              </a:tr>
              <a:tr h="0">
                <a:tc>
                  <a:txBody>
                    <a:bodyPr/>
                    <a:lstStyle/>
                    <a:p>
                      <a:r>
                        <a:rPr lang="en-US" sz="1200" dirty="0">
                          <a:solidFill>
                            <a:schemeClr val="accent1"/>
                          </a:solidFill>
                          <a:latin typeface="Montserrat" panose="00000500000000000000" pitchFamily="2" charset="0"/>
                        </a:rPr>
                        <a:t>        S2</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solidFill>
                            <a:schemeClr val="accent1"/>
                          </a:solidFill>
                          <a:latin typeface="Montserrat" panose="00000500000000000000" pitchFamily="2" charset="0"/>
                        </a:rPr>
                        <a:t>LA: red, LB: green</a:t>
                      </a:r>
                    </a:p>
                  </a:txBody>
                  <a:tcPr/>
                </a:tc>
                <a:extLst>
                  <a:ext uri="{0D108BD9-81ED-4DB2-BD59-A6C34878D82A}">
                    <a16:rowId xmlns:a16="http://schemas.microsoft.com/office/drawing/2014/main" val="1635055439"/>
                  </a:ext>
                </a:extLst>
              </a:tr>
              <a:tr h="302517">
                <a:tc>
                  <a:txBody>
                    <a:bodyPr/>
                    <a:lstStyle/>
                    <a:p>
                      <a:r>
                        <a:rPr lang="en-US" sz="1200" dirty="0">
                          <a:solidFill>
                            <a:schemeClr val="accent1"/>
                          </a:solidFill>
                          <a:latin typeface="Montserrat" panose="00000500000000000000" pitchFamily="2" charset="0"/>
                        </a:rPr>
                        <a:t>        S3</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solidFill>
                            <a:schemeClr val="accent1"/>
                          </a:solidFill>
                          <a:latin typeface="Montserrat" panose="00000500000000000000" pitchFamily="2" charset="0"/>
                        </a:rPr>
                        <a:t>LA: red, LB: yellow</a:t>
                      </a:r>
                    </a:p>
                  </a:txBody>
                  <a:tcPr/>
                </a:tc>
                <a:extLst>
                  <a:ext uri="{0D108BD9-81ED-4DB2-BD59-A6C34878D82A}">
                    <a16:rowId xmlns:a16="http://schemas.microsoft.com/office/drawing/2014/main" val="2747927805"/>
                  </a:ext>
                </a:extLst>
              </a:tr>
            </a:tbl>
          </a:graphicData>
        </a:graphic>
      </p:graphicFrame>
      <p:sp>
        <p:nvSpPr>
          <p:cNvPr id="8" name="TextBox 7">
            <a:extLst>
              <a:ext uri="{FF2B5EF4-FFF2-40B4-BE49-F238E27FC236}">
                <a16:creationId xmlns:a16="http://schemas.microsoft.com/office/drawing/2014/main" id="{E0F7F209-E1D7-D516-CB1E-1A611917A86D}"/>
              </a:ext>
            </a:extLst>
          </p:cNvPr>
          <p:cNvSpPr txBox="1"/>
          <p:nvPr/>
        </p:nvSpPr>
        <p:spPr>
          <a:xfrm>
            <a:off x="5605221" y="2931161"/>
            <a:ext cx="2529681" cy="307777"/>
          </a:xfrm>
          <a:prstGeom prst="rect">
            <a:avLst/>
          </a:prstGeom>
          <a:noFill/>
        </p:spPr>
        <p:txBody>
          <a:bodyPr wrap="square" rtlCol="0">
            <a:spAutoFit/>
          </a:bodyPr>
          <a:lstStyle/>
          <a:p>
            <a:r>
              <a:rPr lang="en-US" dirty="0"/>
              <a:t>     </a:t>
            </a:r>
            <a:r>
              <a:rPr lang="en-US" sz="1200" dirty="0">
                <a:solidFill>
                  <a:schemeClr val="accent1"/>
                </a:solidFill>
                <a:latin typeface="Montserrat" panose="00000500000000000000" pitchFamily="2" charset="0"/>
              </a:rPr>
              <a:t>Output encoding</a:t>
            </a:r>
          </a:p>
        </p:txBody>
      </p:sp>
    </p:spTree>
    <p:extLst>
      <p:ext uri="{BB962C8B-B14F-4D97-AF65-F5344CB8AC3E}">
        <p14:creationId xmlns:p14="http://schemas.microsoft.com/office/powerpoint/2010/main" val="3446692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7CD3F7-5777-3DF1-D39D-B9615C4106F5}"/>
              </a:ext>
            </a:extLst>
          </p:cNvPr>
          <p:cNvSpPr>
            <a:spLocks noGrp="1"/>
          </p:cNvSpPr>
          <p:nvPr>
            <p:ph type="title"/>
          </p:nvPr>
        </p:nvSpPr>
        <p:spPr>
          <a:xfrm>
            <a:off x="360539" y="434070"/>
            <a:ext cx="7738200" cy="572700"/>
          </a:xfrm>
        </p:spPr>
        <p:txBody>
          <a:bodyPr/>
          <a:lstStyle/>
          <a:p>
            <a:r>
              <a:rPr lang="en-US"/>
              <a:t>Exercise 4: </a:t>
            </a:r>
            <a:r>
              <a:rPr lang="en-US" dirty="0"/>
              <a:t>Improved traffic light controller</a:t>
            </a:r>
          </a:p>
        </p:txBody>
      </p:sp>
      <p:sp>
        <p:nvSpPr>
          <p:cNvPr id="3" name="Subtitle 2">
            <a:extLst>
              <a:ext uri="{FF2B5EF4-FFF2-40B4-BE49-F238E27FC236}">
                <a16:creationId xmlns:a16="http://schemas.microsoft.com/office/drawing/2014/main" id="{142954F0-A178-1451-1A66-9E176E9146DC}"/>
              </a:ext>
            </a:extLst>
          </p:cNvPr>
          <p:cNvSpPr>
            <a:spLocks noGrp="1"/>
          </p:cNvSpPr>
          <p:nvPr>
            <p:ph type="subTitle" idx="1"/>
          </p:nvPr>
        </p:nvSpPr>
        <p:spPr>
          <a:xfrm>
            <a:off x="56828" y="1181137"/>
            <a:ext cx="9087172" cy="3060232"/>
          </a:xfrm>
        </p:spPr>
        <p:txBody>
          <a:bodyPr/>
          <a:lstStyle/>
          <a:p>
            <a:pPr marL="180975" indent="-41275"/>
            <a:r>
              <a:rPr lang="en-US" b="0" i="0" dirty="0">
                <a:effectLst/>
                <a:latin typeface="Montserrat" panose="00000500000000000000" pitchFamily="2" charset="0"/>
              </a:rPr>
              <a:t>Accidents are still occurring at the intersection of Academic Avenue and Bravado Boulevard. The football team is rushing into the intersection the</a:t>
            </a:r>
            <a:r>
              <a:rPr lang="en-US" dirty="0">
                <a:latin typeface="Montserrat" panose="00000500000000000000" pitchFamily="2" charset="0"/>
              </a:rPr>
              <a:t> </a:t>
            </a:r>
            <a:r>
              <a:rPr lang="en-US" b="0" i="0" dirty="0">
                <a:effectLst/>
                <a:latin typeface="Montserrat" panose="00000500000000000000" pitchFamily="2" charset="0"/>
              </a:rPr>
              <a:t>moment light B turns green. They are colliding with students who enter into the intersection just before light A turns red. Extend the traffic light controller from </a:t>
            </a:r>
            <a:r>
              <a:rPr lang="en-US" dirty="0">
                <a:latin typeface="Montserrat" panose="00000500000000000000" pitchFamily="2" charset="0"/>
              </a:rPr>
              <a:t>previous exercises</a:t>
            </a:r>
            <a:r>
              <a:rPr lang="en-US" b="0" i="0" dirty="0">
                <a:effectLst/>
                <a:latin typeface="Montserrat" panose="00000500000000000000" pitchFamily="2" charset="0"/>
              </a:rPr>
              <a:t> so that both lights are red for 5 seconds before either light turns green again. </a:t>
            </a:r>
          </a:p>
          <a:p>
            <a:pPr marL="180975" indent="-41275"/>
            <a:r>
              <a:rPr lang="en-US" b="0" i="0" dirty="0">
                <a:effectLst/>
                <a:latin typeface="Montserrat" panose="00000500000000000000" pitchFamily="2" charset="0"/>
              </a:rPr>
              <a:t>- Sketch your improved Moore machine state</a:t>
            </a:r>
            <a:r>
              <a:rPr lang="en-US" dirty="0">
                <a:latin typeface="Montserrat" panose="00000500000000000000" pitchFamily="2" charset="0"/>
              </a:rPr>
              <a:t> </a:t>
            </a:r>
            <a:r>
              <a:rPr lang="en-US" b="0" i="0" dirty="0">
                <a:effectLst/>
                <a:latin typeface="Montserrat" panose="00000500000000000000" pitchFamily="2" charset="0"/>
              </a:rPr>
              <a:t>transition diagram</a:t>
            </a:r>
            <a:r>
              <a:rPr lang="en-US" b="0" i="0">
                <a:effectLst/>
                <a:latin typeface="Montserrat" panose="00000500000000000000" pitchFamily="2" charset="0"/>
              </a:rPr>
              <a:t>, next state </a:t>
            </a:r>
            <a:r>
              <a:rPr lang="en-US" b="0" i="0" dirty="0">
                <a:effectLst/>
                <a:latin typeface="Montserrat" panose="00000500000000000000" pitchFamily="2" charset="0"/>
              </a:rPr>
              <a:t>table, output table .</a:t>
            </a:r>
          </a:p>
          <a:p>
            <a:pPr marL="180975" indent="-41275"/>
            <a:r>
              <a:rPr lang="en-US" dirty="0">
                <a:latin typeface="Montserrat" panose="00000500000000000000" pitchFamily="2" charset="0"/>
              </a:rPr>
              <a:t>- Design a digital circuit based on above diagram and tables using </a:t>
            </a:r>
            <a:r>
              <a:rPr lang="en-US" dirty="0" err="1">
                <a:latin typeface="Montserrat" panose="00000500000000000000" pitchFamily="2" charset="0"/>
              </a:rPr>
              <a:t>SystemVerilog</a:t>
            </a:r>
            <a:r>
              <a:rPr lang="en-US" dirty="0">
                <a:latin typeface="Montserrat" panose="00000500000000000000" pitchFamily="2" charset="0"/>
              </a:rPr>
              <a:t> and simulate on </a:t>
            </a:r>
            <a:r>
              <a:rPr lang="en-US" dirty="0" err="1">
                <a:latin typeface="Montserrat" panose="00000500000000000000" pitchFamily="2" charset="0"/>
              </a:rPr>
              <a:t>ModelSim</a:t>
            </a:r>
            <a:r>
              <a:rPr lang="en-US" dirty="0">
                <a:latin typeface="Montserrat" panose="00000500000000000000" pitchFamily="2" charset="0"/>
              </a:rPr>
              <a:t>.</a:t>
            </a:r>
          </a:p>
        </p:txBody>
      </p:sp>
    </p:spTree>
    <p:extLst>
      <p:ext uri="{BB962C8B-B14F-4D97-AF65-F5344CB8AC3E}">
        <p14:creationId xmlns:p14="http://schemas.microsoft.com/office/powerpoint/2010/main" val="28887346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24D24-30E0-F189-DB3B-F20B83D217F0}"/>
              </a:ext>
            </a:extLst>
          </p:cNvPr>
          <p:cNvSpPr>
            <a:spLocks noGrp="1"/>
          </p:cNvSpPr>
          <p:nvPr>
            <p:ph type="title"/>
          </p:nvPr>
        </p:nvSpPr>
        <p:spPr>
          <a:xfrm>
            <a:off x="298546" y="484450"/>
            <a:ext cx="7738200" cy="572700"/>
          </a:xfrm>
        </p:spPr>
        <p:txBody>
          <a:bodyPr/>
          <a:lstStyle/>
          <a:p>
            <a:r>
              <a:rPr lang="en-US"/>
              <a:t>Exercise 5: </a:t>
            </a:r>
            <a:r>
              <a:rPr lang="en-US" dirty="0"/>
              <a:t>Modulo 8 counter</a:t>
            </a:r>
          </a:p>
        </p:txBody>
      </p:sp>
      <p:sp>
        <p:nvSpPr>
          <p:cNvPr id="3" name="Subtitle 2">
            <a:extLst>
              <a:ext uri="{FF2B5EF4-FFF2-40B4-BE49-F238E27FC236}">
                <a16:creationId xmlns:a16="http://schemas.microsoft.com/office/drawing/2014/main" id="{71645745-48A5-0211-3E2C-BB436C24B73F}"/>
              </a:ext>
            </a:extLst>
          </p:cNvPr>
          <p:cNvSpPr>
            <a:spLocks noGrp="1"/>
          </p:cNvSpPr>
          <p:nvPr>
            <p:ph type="subTitle" idx="1"/>
          </p:nvPr>
        </p:nvSpPr>
        <p:spPr>
          <a:xfrm>
            <a:off x="227308" y="1103645"/>
            <a:ext cx="8834033" cy="1918524"/>
          </a:xfrm>
        </p:spPr>
        <p:txBody>
          <a:bodyPr/>
          <a:lstStyle/>
          <a:p>
            <a:pPr marL="0" indent="0"/>
            <a:r>
              <a:rPr lang="en-US" b="0" i="0" dirty="0">
                <a:effectLst/>
                <a:latin typeface="Montserrat" panose="00000500000000000000" pitchFamily="2" charset="0"/>
              </a:rPr>
              <a:t>Gray codes have a useful property in that consecutive numbers differ in only a single bit position. </a:t>
            </a:r>
            <a:r>
              <a:rPr lang="en-US" dirty="0">
                <a:latin typeface="Montserrat" panose="00000500000000000000" pitchFamily="2" charset="0"/>
              </a:rPr>
              <a:t>Below table</a:t>
            </a:r>
            <a:r>
              <a:rPr lang="en-US" b="0" i="0" dirty="0">
                <a:effectLst/>
                <a:latin typeface="Montserrat" panose="00000500000000000000" pitchFamily="2" charset="0"/>
              </a:rPr>
              <a:t> lists a 3-bit Gray code representing</a:t>
            </a:r>
            <a:r>
              <a:rPr lang="en-US" dirty="0">
                <a:latin typeface="Montserrat" panose="00000500000000000000" pitchFamily="2" charset="0"/>
              </a:rPr>
              <a:t> </a:t>
            </a:r>
            <a:r>
              <a:rPr lang="en-US" b="0" i="0" dirty="0">
                <a:effectLst/>
                <a:latin typeface="Montserrat" panose="00000500000000000000" pitchFamily="2" charset="0"/>
              </a:rPr>
              <a:t>the numbers 0 to 7</a:t>
            </a:r>
            <a:r>
              <a:rPr lang="en-US" b="0" i="0">
                <a:effectLst/>
                <a:latin typeface="Montserrat" panose="00000500000000000000" pitchFamily="2" charset="0"/>
              </a:rPr>
              <a:t>. Counter has an input signal: Up signal. If  UP = 1, the counter advances to the next number. If UP = 0, the counter retreats to the previous number. Design </a:t>
            </a:r>
            <a:r>
              <a:rPr lang="en-US" b="0" i="0" dirty="0">
                <a:effectLst/>
                <a:latin typeface="Montserrat" panose="00000500000000000000" pitchFamily="2" charset="0"/>
              </a:rPr>
              <a:t>a 3-bit modulo 8 Gray code counter FSM has  </a:t>
            </a:r>
            <a:r>
              <a:rPr lang="en-US" b="0" i="0">
                <a:effectLst/>
                <a:latin typeface="Montserrat" panose="00000500000000000000" pitchFamily="2" charset="0"/>
              </a:rPr>
              <a:t>three outputs as table below:</a:t>
            </a:r>
            <a:endParaRPr lang="en-US" b="0" i="0" dirty="0">
              <a:effectLst/>
              <a:latin typeface="Montserrat" panose="00000500000000000000" pitchFamily="2" charset="0"/>
            </a:endParaRPr>
          </a:p>
          <a:p>
            <a:pPr marL="0" indent="0"/>
            <a:r>
              <a:rPr lang="en-US" b="0" i="0" dirty="0">
                <a:effectLst/>
                <a:latin typeface="Montserrat" panose="00000500000000000000" pitchFamily="2" charset="0"/>
              </a:rPr>
              <a:t>- Sketch your Moore machine state</a:t>
            </a:r>
            <a:r>
              <a:rPr lang="en-US" dirty="0">
                <a:latin typeface="Montserrat" panose="00000500000000000000" pitchFamily="2" charset="0"/>
              </a:rPr>
              <a:t> </a:t>
            </a:r>
            <a:r>
              <a:rPr lang="en-US" b="0" i="0" dirty="0">
                <a:effectLst/>
                <a:latin typeface="Montserrat" panose="00000500000000000000" pitchFamily="2" charset="0"/>
              </a:rPr>
              <a:t>transition diagram</a:t>
            </a:r>
            <a:r>
              <a:rPr lang="en-US" b="0" i="0">
                <a:effectLst/>
                <a:latin typeface="Montserrat" panose="00000500000000000000" pitchFamily="2" charset="0"/>
              </a:rPr>
              <a:t>, next state </a:t>
            </a:r>
            <a:r>
              <a:rPr lang="en-US" b="0" i="0" dirty="0">
                <a:effectLst/>
                <a:latin typeface="Montserrat" panose="00000500000000000000" pitchFamily="2" charset="0"/>
              </a:rPr>
              <a:t>table, output table .</a:t>
            </a:r>
          </a:p>
          <a:p>
            <a:pPr marL="0" indent="0"/>
            <a:r>
              <a:rPr lang="en-US" dirty="0">
                <a:latin typeface="Montserrat" panose="00000500000000000000" pitchFamily="2" charset="0"/>
              </a:rPr>
              <a:t>- Design a digital circuit based on above diagram and tables using </a:t>
            </a:r>
            <a:r>
              <a:rPr lang="en-US" dirty="0" err="1">
                <a:latin typeface="Montserrat" panose="00000500000000000000" pitchFamily="2" charset="0"/>
              </a:rPr>
              <a:t>SystemVerilog</a:t>
            </a:r>
            <a:r>
              <a:rPr lang="en-US" dirty="0">
                <a:latin typeface="Montserrat" panose="00000500000000000000" pitchFamily="2" charset="0"/>
              </a:rPr>
              <a:t> and simulate on </a:t>
            </a:r>
            <a:r>
              <a:rPr lang="en-US" dirty="0" err="1">
                <a:latin typeface="Montserrat" panose="00000500000000000000" pitchFamily="2" charset="0"/>
              </a:rPr>
              <a:t>Modelsim</a:t>
            </a:r>
            <a:r>
              <a:rPr lang="en-US" dirty="0">
                <a:latin typeface="Montserrat" panose="00000500000000000000" pitchFamily="2" charset="0"/>
              </a:rPr>
              <a:t>.</a:t>
            </a:r>
          </a:p>
          <a:p>
            <a:endParaRPr lang="en-US" sz="1800" dirty="0">
              <a:solidFill>
                <a:srgbClr val="242021"/>
              </a:solidFill>
              <a:latin typeface="AdvOTbc475f09"/>
            </a:endParaRPr>
          </a:p>
          <a:p>
            <a:r>
              <a:rPr lang="en-US" b="0" i="0" dirty="0">
                <a:effectLst/>
                <a:latin typeface="Montserrat" panose="00000500000000000000" pitchFamily="2" charset="0"/>
              </a:rPr>
              <a:t>(A modulo N counter counts from 0 to N - 1, then</a:t>
            </a:r>
            <a:r>
              <a:rPr lang="en-US" dirty="0">
                <a:latin typeface="Montserrat" panose="00000500000000000000" pitchFamily="2" charset="0"/>
              </a:rPr>
              <a:t> repeats with 0.)</a:t>
            </a:r>
            <a:br>
              <a:rPr lang="en-US" dirty="0">
                <a:latin typeface="Montserrat" panose="00000500000000000000" pitchFamily="2" charset="0"/>
              </a:rPr>
            </a:br>
            <a:endParaRPr lang="en-US" dirty="0">
              <a:latin typeface="Montserrat" panose="00000500000000000000" pitchFamily="2" charset="0"/>
            </a:endParaRPr>
          </a:p>
        </p:txBody>
      </p:sp>
      <p:pic>
        <p:nvPicPr>
          <p:cNvPr id="5" name="Picture 4">
            <a:extLst>
              <a:ext uri="{FF2B5EF4-FFF2-40B4-BE49-F238E27FC236}">
                <a16:creationId xmlns:a16="http://schemas.microsoft.com/office/drawing/2014/main" id="{3C32B31A-3D2F-AAA8-13CC-440A77D9E4A4}"/>
              </a:ext>
            </a:extLst>
          </p:cNvPr>
          <p:cNvPicPr>
            <a:picLocks noChangeAspect="1"/>
          </p:cNvPicPr>
          <p:nvPr/>
        </p:nvPicPr>
        <p:blipFill>
          <a:blip r:embed="rId2"/>
          <a:stretch>
            <a:fillRect/>
          </a:stretch>
        </p:blipFill>
        <p:spPr>
          <a:xfrm>
            <a:off x="6396362" y="2442518"/>
            <a:ext cx="1754867" cy="2470444"/>
          </a:xfrm>
          <a:prstGeom prst="rect">
            <a:avLst/>
          </a:prstGeom>
        </p:spPr>
      </p:pic>
    </p:spTree>
    <p:extLst>
      <p:ext uri="{BB962C8B-B14F-4D97-AF65-F5344CB8AC3E}">
        <p14:creationId xmlns:p14="http://schemas.microsoft.com/office/powerpoint/2010/main" val="3853742425"/>
      </p:ext>
    </p:extLst>
  </p:cSld>
  <p:clrMapOvr>
    <a:masterClrMapping/>
  </p:clrMapOvr>
</p:sld>
</file>

<file path=ppt/theme/theme1.xml><?xml version="1.0" encoding="utf-8"?>
<a:theme xmlns:a="http://schemas.openxmlformats.org/drawingml/2006/main" name="Livine Meeting XL by Slidesgo">
  <a:themeElements>
    <a:clrScheme name="Simple Light">
      <a:dk1>
        <a:srgbClr val="FFFFFF"/>
      </a:dk1>
      <a:lt1>
        <a:srgbClr val="FFFFFF"/>
      </a:lt1>
      <a:dk2>
        <a:srgbClr val="595959"/>
      </a:dk2>
      <a:lt2>
        <a:srgbClr val="EEEEEE"/>
      </a:lt2>
      <a:accent1>
        <a:srgbClr val="27316F"/>
      </a:accent1>
      <a:accent2>
        <a:srgbClr val="75C4C0"/>
      </a:accent2>
      <a:accent3>
        <a:srgbClr val="FFC800"/>
      </a:accent3>
      <a:accent4>
        <a:srgbClr val="FFFFFF"/>
      </a:accent4>
      <a:accent5>
        <a:srgbClr val="C2C2C2"/>
      </a:accent5>
      <a:accent6>
        <a:srgbClr val="F2F2F2"/>
      </a:accent6>
      <a:hlink>
        <a:srgbClr val="27316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2554</TotalTime>
  <Words>1302</Words>
  <Application>Microsoft Office PowerPoint</Application>
  <PresentationFormat>On-screen Show (16:9)</PresentationFormat>
  <Paragraphs>147</Paragraphs>
  <Slides>15</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Montserrat</vt:lpstr>
      <vt:lpstr>AdvOTbc475f09</vt:lpstr>
      <vt:lpstr>Livine Meeting XL by Slidesgo</vt:lpstr>
      <vt:lpstr>  Lab 6: Design finite state machine</vt:lpstr>
      <vt:lpstr>What is finite state machine?</vt:lpstr>
      <vt:lpstr>PowerPoint Presentation</vt:lpstr>
      <vt:lpstr>How to design FSM using SystemVerilog?</vt:lpstr>
      <vt:lpstr>Finite state machine</vt:lpstr>
      <vt:lpstr>Finite state machine</vt:lpstr>
      <vt:lpstr>Explain syntax</vt:lpstr>
      <vt:lpstr>Simulation result</vt:lpstr>
      <vt:lpstr>Test design on STEP-MAX 10 board</vt:lpstr>
      <vt:lpstr>Exercise 1</vt:lpstr>
      <vt:lpstr>Exercise 2</vt:lpstr>
      <vt:lpstr>Exercise 3: Traffic light controller</vt:lpstr>
      <vt:lpstr>Traffic light controller</vt:lpstr>
      <vt:lpstr>Exercise 4: Improved traffic light controller</vt:lpstr>
      <vt:lpstr>Exercise 5: Modulo 8 counter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MIDTERM EXAM SOLUTION</dc:title>
  <cp:lastModifiedBy>Minh Ngọc Dương</cp:lastModifiedBy>
  <cp:revision>41</cp:revision>
  <dcterms:modified xsi:type="dcterms:W3CDTF">2024-11-20T07:22:47Z</dcterms:modified>
</cp:coreProperties>
</file>