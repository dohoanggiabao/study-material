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7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8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9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0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1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3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4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5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6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7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8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9.xml" ContentType="application/vnd.openxmlformats-officedocument.presentationml.notesSlide+xml"/>
  <Override PartName="/ppt/tags/tag77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27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28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29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30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31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32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33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4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35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40.xml" ContentType="application/vnd.openxmlformats-officedocument.presentationml.notesSlide+xml"/>
  <Override PartName="/ppt/tags/tag111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tags/tag112.xml" ContentType="application/vnd.openxmlformats-officedocument.presentationml.tags+xml"/>
  <Override PartName="/ppt/notesSlides/notesSlide48.xml" ContentType="application/vnd.openxmlformats-officedocument.presentationml.notesSlide+xml"/>
  <Override PartName="/ppt/tags/tag113.xml" ContentType="application/vnd.openxmlformats-officedocument.presentationml.tags+xml"/>
  <Override PartName="/ppt/notesSlides/notesSlide49.xml" ContentType="application/vnd.openxmlformats-officedocument.presentationml.notesSlide+xml"/>
  <Override PartName="/ppt/tags/tag114.xml" ContentType="application/vnd.openxmlformats-officedocument.presentationml.tags+xml"/>
  <Override PartName="/ppt/notesSlides/notesSlide50.xml" ContentType="application/vnd.openxmlformats-officedocument.presentationml.notesSlide+xml"/>
  <Override PartName="/ppt/tags/tag115.xml" ContentType="application/vnd.openxmlformats-officedocument.presentationml.tags+xml"/>
  <Override PartName="/ppt/notesSlides/notesSlide51.xml" ContentType="application/vnd.openxmlformats-officedocument.presentationml.notesSlide+xml"/>
  <Override PartName="/ppt/tags/tag116.xml" ContentType="application/vnd.openxmlformats-officedocument.presentationml.tags+xml"/>
  <Override PartName="/ppt/notesSlides/notesSlide52.xml" ContentType="application/vnd.openxmlformats-officedocument.presentationml.notesSlide+xml"/>
  <Override PartName="/ppt/tags/tag117.xml" ContentType="application/vnd.openxmlformats-officedocument.presentationml.tags+xml"/>
  <Override PartName="/ppt/notesSlides/notesSlide53.xml" ContentType="application/vnd.openxmlformats-officedocument.presentationml.notesSlide+xml"/>
  <Override PartName="/ppt/tags/tag118.xml" ContentType="application/vnd.openxmlformats-officedocument.presentationml.tags+xml"/>
  <Override PartName="/ppt/notesSlides/notesSlide54.xml" ContentType="application/vnd.openxmlformats-officedocument.presentationml.notesSlide+xml"/>
  <Override PartName="/ppt/tags/tag119.xml" ContentType="application/vnd.openxmlformats-officedocument.presentationml.tags+xml"/>
  <Override PartName="/ppt/notesSlides/notesSlide55.xml" ContentType="application/vnd.openxmlformats-officedocument.presentationml.notesSlide+xml"/>
  <Override PartName="/ppt/tags/tag120.xml" ContentType="application/vnd.openxmlformats-officedocument.presentationml.tags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62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63.xml" ContentType="application/vnd.openxmlformats-officedocument.presentationml.notesSlide+xml"/>
  <Override PartName="/ppt/tags/tag133.xml" ContentType="application/vnd.openxmlformats-officedocument.presentationml.tags+xml"/>
  <Override PartName="/ppt/notesSlides/notesSlide64.xml" ContentType="application/vnd.openxmlformats-officedocument.presentationml.notesSlide+xml"/>
  <Override PartName="/ppt/tags/tag134.xml" ContentType="application/vnd.openxmlformats-officedocument.presentationml.tags+xml"/>
  <Override PartName="/ppt/notesSlides/notesSlide65.xml" ContentType="application/vnd.openxmlformats-officedocument.presentationml.notesSlide+xml"/>
  <Override PartName="/ppt/tags/tag135.xml" ContentType="application/vnd.openxmlformats-officedocument.presentationml.tags+xml"/>
  <Override PartName="/ppt/notesSlides/notesSlide66.xml" ContentType="application/vnd.openxmlformats-officedocument.presentationml.notesSlide+xml"/>
  <Override PartName="/ppt/tags/tag136.xml" ContentType="application/vnd.openxmlformats-officedocument.presentationml.tags+xml"/>
  <Override PartName="/ppt/notesSlides/notesSlide67.xml" ContentType="application/vnd.openxmlformats-officedocument.presentationml.notesSlide+xml"/>
  <Override PartName="/ppt/tags/tag137.xml" ContentType="application/vnd.openxmlformats-officedocument.presentationml.tags+xml"/>
  <Override PartName="/ppt/notesSlides/notesSlide68.xml" ContentType="application/vnd.openxmlformats-officedocument.presentationml.notesSlide+xml"/>
  <Override PartName="/ppt/tags/tag138.xml" ContentType="application/vnd.openxmlformats-officedocument.presentationml.tags+xml"/>
  <Override PartName="/ppt/notesSlides/notesSlide69.xml" ContentType="application/vnd.openxmlformats-officedocument.presentationml.notesSlide+xml"/>
  <Override PartName="/ppt/tags/tag139.xml" ContentType="application/vnd.openxmlformats-officedocument.presentationml.tags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tags/tag140.xml" ContentType="application/vnd.openxmlformats-officedocument.presentationml.tags+xml"/>
  <Override PartName="/ppt/notesSlides/notesSlide72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73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74.xml" ContentType="application/vnd.openxmlformats-officedocument.presentationml.notesSlide+xml"/>
  <Override PartName="/ppt/tags/tag146.xml" ContentType="application/vnd.openxmlformats-officedocument.presentationml.tags+xml"/>
  <Override PartName="/ppt/notesSlides/notesSlide75.xml" ContentType="application/vnd.openxmlformats-officedocument.presentationml.notesSlide+xml"/>
  <Override PartName="/ppt/tags/tag147.xml" ContentType="application/vnd.openxmlformats-officedocument.presentationml.tags+xml"/>
  <Override PartName="/ppt/notesSlides/notesSlide76.xml" ContentType="application/vnd.openxmlformats-officedocument.presentationml.notesSlide+xml"/>
  <Override PartName="/ppt/tags/tag148.xml" ContentType="application/vnd.openxmlformats-officedocument.presentationml.tags+xml"/>
  <Override PartName="/ppt/notesSlides/notesSlide77.xml" ContentType="application/vnd.openxmlformats-officedocument.presentationml.notesSlide+xml"/>
  <Override PartName="/ppt/tags/tag149.xml" ContentType="application/vnd.openxmlformats-officedocument.presentationml.tags+xml"/>
  <Override PartName="/ppt/notesSlides/notesSlide78.xml" ContentType="application/vnd.openxmlformats-officedocument.presentationml.notesSlide+xml"/>
  <Override PartName="/ppt/tags/tag150.xml" ContentType="application/vnd.openxmlformats-officedocument.presentationml.tags+xml"/>
  <Override PartName="/ppt/notesSlides/notesSlide79.xml" ContentType="application/vnd.openxmlformats-officedocument.presentationml.notesSlide+xml"/>
  <Override PartName="/ppt/tags/tag151.xml" ContentType="application/vnd.openxmlformats-officedocument.presentationml.tags+xml"/>
  <Override PartName="/ppt/notesSlides/notesSlide80.xml" ContentType="application/vnd.openxmlformats-officedocument.presentationml.notesSlide+xml"/>
  <Override PartName="/ppt/tags/tag152.xml" ContentType="application/vnd.openxmlformats-officedocument.presentationml.tags+xml"/>
  <Override PartName="/ppt/notesSlides/notesSlide81.xml" ContentType="application/vnd.openxmlformats-officedocument.presentationml.notesSlide+xml"/>
  <Override PartName="/ppt/tags/tag153.xml" ContentType="application/vnd.openxmlformats-officedocument.presentationml.tags+xml"/>
  <Override PartName="/ppt/notesSlides/notesSlide82.xml" ContentType="application/vnd.openxmlformats-officedocument.presentationml.notesSlide+xml"/>
  <Override PartName="/ppt/tags/tag154.xml" ContentType="application/vnd.openxmlformats-officedocument.presentationml.tags+xml"/>
  <Override PartName="/ppt/notesSlides/notesSlide83.xml" ContentType="application/vnd.openxmlformats-officedocument.presentationml.notesSlide+xml"/>
  <Override PartName="/ppt/tags/tag155.xml" ContentType="application/vnd.openxmlformats-officedocument.presentationml.tags+xml"/>
  <Override PartName="/ppt/notesSlides/notesSlide84.xml" ContentType="application/vnd.openxmlformats-officedocument.presentationml.notesSlide+xml"/>
  <Override PartName="/ppt/tags/tag156.xml" ContentType="application/vnd.openxmlformats-officedocument.presentationml.tags+xml"/>
  <Override PartName="/ppt/notesSlides/notesSlide85.xml" ContentType="application/vnd.openxmlformats-officedocument.presentationml.notesSlide+xml"/>
  <Override PartName="/ppt/tags/tag157.xml" ContentType="application/vnd.openxmlformats-officedocument.presentationml.tags+xml"/>
  <Override PartName="/ppt/notesSlides/notesSlide86.xml" ContentType="application/vnd.openxmlformats-officedocument.presentationml.notesSlide+xml"/>
  <Override PartName="/ppt/tags/tag158.xml" ContentType="application/vnd.openxmlformats-officedocument.presentationml.tags+xml"/>
  <Override PartName="/ppt/notesSlides/notesSlide87.xml" ContentType="application/vnd.openxmlformats-officedocument.presentationml.notesSlide+xml"/>
  <Override PartName="/ppt/tags/tag159.xml" ContentType="application/vnd.openxmlformats-officedocument.presentationml.tags+xml"/>
  <Override PartName="/ppt/notesSlides/notesSlide88.xml" ContentType="application/vnd.openxmlformats-officedocument.presentationml.notesSlide+xml"/>
  <Override PartName="/ppt/tags/tag160.xml" ContentType="application/vnd.openxmlformats-officedocument.presentationml.tags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tags/tag161.xml" ContentType="application/vnd.openxmlformats-officedocument.presentationml.tags+xml"/>
  <Override PartName="/ppt/notesSlides/notesSlide91.xml" ContentType="application/vnd.openxmlformats-officedocument.presentationml.notesSlide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tags/tag171.xml" ContentType="application/vnd.openxmlformats-officedocument.presentationml.tags+xml"/>
  <Override PartName="/ppt/notesSlides/notesSlide94.xml" ContentType="application/vnd.openxmlformats-officedocument.presentationml.notesSlide+xml"/>
  <Override PartName="/ppt/tags/tag172.xml" ContentType="application/vnd.openxmlformats-officedocument.presentationml.tags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101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102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notesSlides/notesSlide103.xml" ContentType="application/vnd.openxmlformats-officedocument.presentationml.notesSlide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notesSlides/notesSlide104.xml" ContentType="application/vnd.openxmlformats-officedocument.presentationml.notesSlid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notesSlides/notesSlide105.xml" ContentType="application/vnd.openxmlformats-officedocument.presentationml.notesSlide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notesSlides/notesSlide106.xml" ContentType="application/vnd.openxmlformats-officedocument.presentationml.notesSlide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notesSlides/notesSlide107.xml" ContentType="application/vnd.openxmlformats-officedocument.presentationml.notesSlide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108.xml" ContentType="application/vnd.openxmlformats-officedocument.presentationml.notesSlide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notesSlides/notesSlide109.xml" ContentType="application/vnd.openxmlformats-officedocument.presentationml.notesSlide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notesSlides/notesSlide110.xml" ContentType="application/vnd.openxmlformats-officedocument.presentationml.notesSlide+xml"/>
  <Override PartName="/ppt/tags/tag248.xml" ContentType="application/vnd.openxmlformats-officedocument.presentationml.tags+xml"/>
  <Override PartName="/ppt/notesSlides/notesSlide111.xml" ContentType="application/vnd.openxmlformats-officedocument.presentationml.notesSlide+xml"/>
  <Override PartName="/ppt/tags/tag249.xml" ContentType="application/vnd.openxmlformats-officedocument.presentationml.tags+xml"/>
  <Override PartName="/ppt/notesSlides/notesSlide112.xml" ContentType="application/vnd.openxmlformats-officedocument.presentationml.notesSlide+xml"/>
  <Override PartName="/ppt/tags/tag250.xml" ContentType="application/vnd.openxmlformats-officedocument.presentationml.tags+xml"/>
  <Override PartName="/ppt/notesSlides/notesSlide113.xml" ContentType="application/vnd.openxmlformats-officedocument.presentationml.notesSlide+xml"/>
  <Override PartName="/ppt/tags/tag251.xml" ContentType="application/vnd.openxmlformats-officedocument.presentationml.tags+xml"/>
  <Override PartName="/ppt/notesSlides/notesSlide114.xml" ContentType="application/vnd.openxmlformats-officedocument.presentationml.notesSlide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notesSlides/notesSlide115.xml" ContentType="application/vnd.openxmlformats-officedocument.presentationml.notesSlide+xml"/>
  <Override PartName="/ppt/tags/tag260.xml" ContentType="application/vnd.openxmlformats-officedocument.presentationml.tags+xml"/>
  <Override PartName="/ppt/notesSlides/notesSlide116.xml" ContentType="application/vnd.openxmlformats-officedocument.presentationml.notesSlide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notesSlides/notesSlide117.xml" ContentType="application/vnd.openxmlformats-officedocument.presentationml.notesSlide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notesSlides/notesSlide118.xml" ContentType="application/vnd.openxmlformats-officedocument.presentationml.notesSlide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notesSlides/notesSlide119.xml" ContentType="application/vnd.openxmlformats-officedocument.presentationml.notesSlide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notesSlides/notesSlide120.xml" ContentType="application/vnd.openxmlformats-officedocument.presentationml.notesSlide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notesSlides/notesSlide121.xml" ContentType="application/vnd.openxmlformats-officedocument.presentationml.notesSlide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notesSlides/notesSlide122.xml" ContentType="application/vnd.openxmlformats-officedocument.presentationml.notesSlide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notesSlides/notesSlide123.xml" ContentType="application/vnd.openxmlformats-officedocument.presentationml.notesSlide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notesSlides/notesSlide124.xml" ContentType="application/vnd.openxmlformats-officedocument.presentationml.notesSlide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notesSlides/notesSlide125.xml" ContentType="application/vnd.openxmlformats-officedocument.presentationml.notesSlide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notesSlides/notesSlide126.xml" ContentType="application/vnd.openxmlformats-officedocument.presentationml.notesSlide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notesSlides/notesSlide127.xml" ContentType="application/vnd.openxmlformats-officedocument.presentationml.notesSlide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notesSlides/notesSlide128.xml" ContentType="application/vnd.openxmlformats-officedocument.presentationml.notesSlide+xml"/>
  <Override PartName="/ppt/tags/tag298.xml" ContentType="application/vnd.openxmlformats-officedocument.presentationml.tags+xml"/>
  <Override PartName="/ppt/notesSlides/notesSlide129.xml" ContentType="application/vnd.openxmlformats-officedocument.presentationml.notesSlide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notesSlides/notesSlide130.xml" ContentType="application/vnd.openxmlformats-officedocument.presentationml.notesSlide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notesSlides/notesSlide131.xml" ContentType="application/vnd.openxmlformats-officedocument.presentationml.notesSlide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notesSlides/notesSlide132.xml" ContentType="application/vnd.openxmlformats-officedocument.presentationml.notesSlide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notesSlides/notesSlide133.xml" ContentType="application/vnd.openxmlformats-officedocument.presentationml.notesSlide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notesSlides/notesSlide134.xml" ContentType="application/vnd.openxmlformats-officedocument.presentationml.notesSlide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notesSlides/notesSlide135.xml" ContentType="application/vnd.openxmlformats-officedocument.presentationml.notesSlide+xml"/>
  <Override PartName="/ppt/tags/tag311.xml" ContentType="application/vnd.openxmlformats-officedocument.presentationml.tags+xml"/>
  <Override PartName="/ppt/notesSlides/notesSlide136.xml" ContentType="application/vnd.openxmlformats-officedocument.presentationml.notesSlide+xml"/>
  <Override PartName="/ppt/tags/tag312.xml" ContentType="application/vnd.openxmlformats-officedocument.presentationml.tags+xml"/>
  <Override PartName="/ppt/notesSlides/notesSlide137.xml" ContentType="application/vnd.openxmlformats-officedocument.presentationml.notesSlide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notesSlides/notesSlide138.xml" ContentType="application/vnd.openxmlformats-officedocument.presentationml.notesSlide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notesSlides/notesSlide139.xml" ContentType="application/vnd.openxmlformats-officedocument.presentationml.notesSlide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notesSlides/notesSlide140.xml" ContentType="application/vnd.openxmlformats-officedocument.presentationml.notesSlide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notesSlides/notesSlide141.xml" ContentType="application/vnd.openxmlformats-officedocument.presentationml.notesSlide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notesSlides/notesSlide142.xml" ContentType="application/vnd.openxmlformats-officedocument.presentationml.notesSlide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notesSlides/notesSlide143.xml" ContentType="application/vnd.openxmlformats-officedocument.presentationml.notesSlide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notesSlides/notesSlide144.xml" ContentType="application/vnd.openxmlformats-officedocument.presentationml.notesSlid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145.xml" ContentType="application/vnd.openxmlformats-officedocument.presentationml.notesSlide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notesSlides/notesSlide146.xml" ContentType="application/vnd.openxmlformats-officedocument.presentationml.notesSlide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notesSlides/notesSlide147.xml" ContentType="application/vnd.openxmlformats-officedocument.presentationml.notesSlide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notesSlides/notesSlide148.xml" ContentType="application/vnd.openxmlformats-officedocument.presentationml.notesSlide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notesSlides/notesSlide149.xml" ContentType="application/vnd.openxmlformats-officedocument.presentationml.notesSlide+xml"/>
  <Override PartName="/ppt/tags/tag342.xml" ContentType="application/vnd.openxmlformats-officedocument.presentationml.tags+xml"/>
  <Override PartName="/ppt/notesSlides/notesSlide150.xml" ContentType="application/vnd.openxmlformats-officedocument.presentationml.notesSlide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notesSlides/notesSlide151.xml" ContentType="application/vnd.openxmlformats-officedocument.presentationml.notesSlide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notesSlides/notesSlide1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5"/>
  </p:notesMasterIdLst>
  <p:handoutMasterIdLst>
    <p:handoutMasterId r:id="rId156"/>
  </p:handoutMasterIdLst>
  <p:sldIdLst>
    <p:sldId id="256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542" r:id="rId11"/>
    <p:sldId id="543" r:id="rId12"/>
    <p:sldId id="369" r:id="rId13"/>
    <p:sldId id="443" r:id="rId14"/>
    <p:sldId id="371" r:id="rId15"/>
    <p:sldId id="544" r:id="rId16"/>
    <p:sldId id="545" r:id="rId17"/>
    <p:sldId id="372" r:id="rId18"/>
    <p:sldId id="373" r:id="rId19"/>
    <p:sldId id="374" r:id="rId20"/>
    <p:sldId id="375" r:id="rId21"/>
    <p:sldId id="376" r:id="rId22"/>
    <p:sldId id="557" r:id="rId23"/>
    <p:sldId id="562" r:id="rId24"/>
    <p:sldId id="561" r:id="rId25"/>
    <p:sldId id="558" r:id="rId26"/>
    <p:sldId id="560" r:id="rId27"/>
    <p:sldId id="559" r:id="rId28"/>
    <p:sldId id="379" r:id="rId29"/>
    <p:sldId id="444" r:id="rId30"/>
    <p:sldId id="381" r:id="rId31"/>
    <p:sldId id="445" r:id="rId32"/>
    <p:sldId id="383" r:id="rId33"/>
    <p:sldId id="446" r:id="rId34"/>
    <p:sldId id="385" r:id="rId35"/>
    <p:sldId id="447" r:id="rId36"/>
    <p:sldId id="387" r:id="rId37"/>
    <p:sldId id="448" r:id="rId38"/>
    <p:sldId id="563" r:id="rId39"/>
    <p:sldId id="458" r:id="rId40"/>
    <p:sldId id="524" r:id="rId41"/>
    <p:sldId id="460" r:id="rId42"/>
    <p:sldId id="461" r:id="rId43"/>
    <p:sldId id="462" r:id="rId44"/>
    <p:sldId id="463" r:id="rId45"/>
    <p:sldId id="564" r:id="rId46"/>
    <p:sldId id="465" r:id="rId47"/>
    <p:sldId id="466" r:id="rId48"/>
    <p:sldId id="467" r:id="rId49"/>
    <p:sldId id="468" r:id="rId50"/>
    <p:sldId id="469" r:id="rId51"/>
    <p:sldId id="470" r:id="rId52"/>
    <p:sldId id="572" r:id="rId53"/>
    <p:sldId id="471" r:id="rId54"/>
    <p:sldId id="472" r:id="rId55"/>
    <p:sldId id="474" r:id="rId56"/>
    <p:sldId id="525" r:id="rId57"/>
    <p:sldId id="475" r:id="rId58"/>
    <p:sldId id="566" r:id="rId59"/>
    <p:sldId id="477" r:id="rId60"/>
    <p:sldId id="567" r:id="rId61"/>
    <p:sldId id="568" r:id="rId62"/>
    <p:sldId id="480" r:id="rId63"/>
    <p:sldId id="481" r:id="rId64"/>
    <p:sldId id="546" r:id="rId65"/>
    <p:sldId id="548" r:id="rId66"/>
    <p:sldId id="530" r:id="rId67"/>
    <p:sldId id="547" r:id="rId68"/>
    <p:sldId id="486" r:id="rId69"/>
    <p:sldId id="531" r:id="rId70"/>
    <p:sldId id="532" r:id="rId71"/>
    <p:sldId id="533" r:id="rId72"/>
    <p:sldId id="569" r:id="rId73"/>
    <p:sldId id="549" r:id="rId74"/>
    <p:sldId id="491" r:id="rId75"/>
    <p:sldId id="492" r:id="rId76"/>
    <p:sldId id="550" r:id="rId77"/>
    <p:sldId id="494" r:id="rId78"/>
    <p:sldId id="495" r:id="rId79"/>
    <p:sldId id="551" r:id="rId80"/>
    <p:sldId id="497" r:id="rId81"/>
    <p:sldId id="498" r:id="rId82"/>
    <p:sldId id="500" r:id="rId83"/>
    <p:sldId id="552" r:id="rId84"/>
    <p:sldId id="501" r:id="rId85"/>
    <p:sldId id="553" r:id="rId86"/>
    <p:sldId id="503" r:id="rId87"/>
    <p:sldId id="554" r:id="rId88"/>
    <p:sldId id="506" r:id="rId89"/>
    <p:sldId id="540" r:id="rId90"/>
    <p:sldId id="541" r:id="rId91"/>
    <p:sldId id="508" r:id="rId92"/>
    <p:sldId id="509" r:id="rId93"/>
    <p:sldId id="510" r:id="rId94"/>
    <p:sldId id="511" r:id="rId95"/>
    <p:sldId id="512" r:id="rId96"/>
    <p:sldId id="513" r:id="rId97"/>
    <p:sldId id="514" r:id="rId98"/>
    <p:sldId id="515" r:id="rId99"/>
    <p:sldId id="518" r:id="rId100"/>
    <p:sldId id="570" r:id="rId101"/>
    <p:sldId id="571" r:id="rId102"/>
    <p:sldId id="519" r:id="rId103"/>
    <p:sldId id="520" r:id="rId104"/>
    <p:sldId id="521" r:id="rId105"/>
    <p:sldId id="522" r:id="rId106"/>
    <p:sldId id="523" r:id="rId107"/>
    <p:sldId id="394" r:id="rId108"/>
    <p:sldId id="395" r:id="rId109"/>
    <p:sldId id="396" r:id="rId110"/>
    <p:sldId id="397" r:id="rId111"/>
    <p:sldId id="398" r:id="rId112"/>
    <p:sldId id="399" r:id="rId113"/>
    <p:sldId id="402" r:id="rId114"/>
    <p:sldId id="451" r:id="rId115"/>
    <p:sldId id="452" r:id="rId116"/>
    <p:sldId id="403" r:id="rId117"/>
    <p:sldId id="404" r:id="rId118"/>
    <p:sldId id="405" r:id="rId119"/>
    <p:sldId id="453" r:id="rId120"/>
    <p:sldId id="454" r:id="rId121"/>
    <p:sldId id="408" r:id="rId122"/>
    <p:sldId id="409" r:id="rId123"/>
    <p:sldId id="410" r:id="rId124"/>
    <p:sldId id="411" r:id="rId125"/>
    <p:sldId id="412" r:id="rId126"/>
    <p:sldId id="413" r:id="rId127"/>
    <p:sldId id="414" r:id="rId128"/>
    <p:sldId id="415" r:id="rId129"/>
    <p:sldId id="417" r:id="rId130"/>
    <p:sldId id="418" r:id="rId131"/>
    <p:sldId id="419" r:id="rId132"/>
    <p:sldId id="420" r:id="rId133"/>
    <p:sldId id="421" r:id="rId134"/>
    <p:sldId id="424" r:id="rId135"/>
    <p:sldId id="455" r:id="rId136"/>
    <p:sldId id="456" r:id="rId137"/>
    <p:sldId id="425" r:id="rId138"/>
    <p:sldId id="427" r:id="rId139"/>
    <p:sldId id="428" r:id="rId140"/>
    <p:sldId id="429" r:id="rId141"/>
    <p:sldId id="430" r:id="rId142"/>
    <p:sldId id="431" r:id="rId143"/>
    <p:sldId id="432" r:id="rId144"/>
    <p:sldId id="433" r:id="rId145"/>
    <p:sldId id="434" r:id="rId146"/>
    <p:sldId id="435" r:id="rId147"/>
    <p:sldId id="436" r:id="rId148"/>
    <p:sldId id="437" r:id="rId149"/>
    <p:sldId id="438" r:id="rId150"/>
    <p:sldId id="439" r:id="rId151"/>
    <p:sldId id="440" r:id="rId152"/>
    <p:sldId id="441" r:id="rId153"/>
    <p:sldId id="442" r:id="rId15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40" autoAdjust="0"/>
  </p:normalViewPr>
  <p:slideViewPr>
    <p:cSldViewPr snapToGrid="0">
      <p:cViewPr varScale="1">
        <p:scale>
          <a:sx n="75" d="100"/>
          <a:sy n="75" d="100"/>
        </p:scale>
        <p:origin x="1574" y="48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DF70C4-D2BE-D646-96E2-530753D59E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9B918-85AF-8940-8A85-D7E29549D8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5EC66-1B74-A941-99F2-AEA8372B8513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F0D38-F95D-F343-8E29-2AD44CDAE6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21B7B-28D5-EA40-A3D1-334D3E7896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16043-7F20-2449-B757-22395B66E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03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D5E47-F045-4C01-A154-66E3997AD16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C52C-64D1-4EF5-AC14-14AF6A3F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1AAD16-29C4-4B0D-9509-B54CCCEEDE43}" type="slidenum">
              <a:rPr lang="en-US"/>
              <a:pPr/>
              <a:t>2</a:t>
            </a:fld>
            <a:endParaRPr lang="en-US"/>
          </a:p>
        </p:txBody>
      </p:sp>
      <p:sp>
        <p:nvSpPr>
          <p:cNvPr id="96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9F5EE0-56FA-4BE8-8AFE-4060AAC94837}" type="slidenum">
              <a:rPr lang="en-US"/>
              <a:pPr/>
              <a:t>3</a:t>
            </a:fld>
            <a:endParaRPr lang="en-US"/>
          </a:p>
        </p:txBody>
      </p:sp>
      <p:sp>
        <p:nvSpPr>
          <p:cNvPr id="963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D37E0B-3DAB-475B-8FC7-B1D69D97DB55}" type="slidenum">
              <a:rPr lang="en-US"/>
              <a:pPr/>
              <a:t>4</a:t>
            </a:fld>
            <a:endParaRPr lang="en-US"/>
          </a:p>
        </p:txBody>
      </p:sp>
      <p:sp>
        <p:nvSpPr>
          <p:cNvPr id="96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3D87C6-1B3F-4CCB-ACC2-0B5CA304ECE9}" type="slidenum">
              <a:rPr lang="en-US"/>
              <a:pPr/>
              <a:t>5</a:t>
            </a:fld>
            <a:endParaRPr lang="en-US"/>
          </a:p>
        </p:txBody>
      </p:sp>
      <p:sp>
        <p:nvSpPr>
          <p:cNvPr id="965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5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5EC506-4CB4-4D2F-AA5C-3B96B8A4D501}" type="slidenum">
              <a:rPr lang="en-US"/>
              <a:pPr/>
              <a:t>6</a:t>
            </a:fld>
            <a:endParaRPr lang="en-US"/>
          </a:p>
        </p:txBody>
      </p:sp>
      <p:sp>
        <p:nvSpPr>
          <p:cNvPr id="96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6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D5204-050E-4BB4-9CAD-069BB89B7376}" type="slidenum">
              <a:rPr lang="en-US"/>
              <a:pPr/>
              <a:t>7</a:t>
            </a:fld>
            <a:endParaRPr lang="en-US"/>
          </a:p>
        </p:txBody>
      </p:sp>
      <p:sp>
        <p:nvSpPr>
          <p:cNvPr id="967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7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75B791-7938-4EF5-B09A-81FCA0ECAB92}" type="slidenum">
              <a:rPr lang="en-US"/>
              <a:pPr/>
              <a:t>8</a:t>
            </a:fld>
            <a:endParaRPr lang="en-US"/>
          </a:p>
        </p:txBody>
      </p:sp>
      <p:sp>
        <p:nvSpPr>
          <p:cNvPr id="111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2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24C310-BF5B-4BC1-A177-BFC7FD1CF577}" type="slidenum">
              <a:rPr lang="en-US"/>
              <a:pPr/>
              <a:t>9</a:t>
            </a:fld>
            <a:endParaRPr lang="en-US"/>
          </a:p>
        </p:txBody>
      </p:sp>
      <p:sp>
        <p:nvSpPr>
          <p:cNvPr id="96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24C310-BF5B-4BC1-A177-BFC7FD1CF577}" type="slidenum">
              <a:rPr lang="en-US"/>
              <a:pPr/>
              <a:t>10</a:t>
            </a:fld>
            <a:endParaRPr lang="en-US"/>
          </a:p>
        </p:txBody>
      </p:sp>
      <p:sp>
        <p:nvSpPr>
          <p:cNvPr id="96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24C310-BF5B-4BC1-A177-BFC7FD1CF577}" type="slidenum">
              <a:rPr lang="en-US"/>
              <a:pPr/>
              <a:t>11</a:t>
            </a:fld>
            <a:endParaRPr lang="en-US"/>
          </a:p>
        </p:txBody>
      </p:sp>
      <p:sp>
        <p:nvSpPr>
          <p:cNvPr id="96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8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2990E3-3D55-410D-A227-5F474A298FBB}" type="slidenum">
              <a:rPr lang="en-US"/>
              <a:pPr/>
              <a:t>12</a:t>
            </a:fld>
            <a:endParaRPr lang="en-US"/>
          </a:p>
        </p:txBody>
      </p:sp>
      <p:sp>
        <p:nvSpPr>
          <p:cNvPr id="1024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2990E3-3D55-410D-A227-5F474A298FBB}" type="slidenum">
              <a:rPr lang="en-US"/>
              <a:pPr/>
              <a:t>13</a:t>
            </a:fld>
            <a:endParaRPr lang="en-US"/>
          </a:p>
        </p:txBody>
      </p:sp>
      <p:sp>
        <p:nvSpPr>
          <p:cNvPr id="1024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7FECA-8382-46E7-8BB7-9AD0B36C0195}" type="slidenum">
              <a:rPr lang="en-US"/>
              <a:pPr/>
              <a:t>14</a:t>
            </a:fld>
            <a:endParaRPr lang="en-US"/>
          </a:p>
        </p:txBody>
      </p:sp>
      <p:sp>
        <p:nvSpPr>
          <p:cNvPr id="969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7FECA-8382-46E7-8BB7-9AD0B36C0195}" type="slidenum">
              <a:rPr lang="en-US"/>
              <a:pPr/>
              <a:t>15</a:t>
            </a:fld>
            <a:endParaRPr lang="en-US"/>
          </a:p>
        </p:txBody>
      </p:sp>
      <p:sp>
        <p:nvSpPr>
          <p:cNvPr id="969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17FECA-8382-46E7-8BB7-9AD0B36C0195}" type="slidenum">
              <a:rPr lang="en-US"/>
              <a:pPr/>
              <a:t>16</a:t>
            </a:fld>
            <a:endParaRPr lang="en-US"/>
          </a:p>
        </p:txBody>
      </p:sp>
      <p:sp>
        <p:nvSpPr>
          <p:cNvPr id="969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9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009647-BF47-4C08-85D8-20F4CC8944FF}" type="slidenum">
              <a:rPr lang="en-US"/>
              <a:pPr/>
              <a:t>17</a:t>
            </a:fld>
            <a:endParaRPr lang="en-US"/>
          </a:p>
        </p:txBody>
      </p:sp>
      <p:sp>
        <p:nvSpPr>
          <p:cNvPr id="97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0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3C8260-E6FC-4FC9-9129-393CDEFF3025}" type="slidenum">
              <a:rPr lang="en-US"/>
              <a:pPr/>
              <a:t>18</a:t>
            </a:fld>
            <a:endParaRPr lang="en-US"/>
          </a:p>
        </p:txBody>
      </p:sp>
      <p:sp>
        <p:nvSpPr>
          <p:cNvPr id="1026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C775D4-B030-4C40-AC4B-94EF3C37A5AD}" type="slidenum">
              <a:rPr lang="en-US"/>
              <a:pPr/>
              <a:t>19</a:t>
            </a:fld>
            <a:endParaRPr lang="en-US"/>
          </a:p>
        </p:txBody>
      </p:sp>
      <p:sp>
        <p:nvSpPr>
          <p:cNvPr id="111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031BD-F81F-4889-9B4B-8220F6CC56E3}" type="slidenum">
              <a:rPr lang="en-US"/>
              <a:pPr/>
              <a:t>20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20F679-6A4D-4609-BE32-9BD48A7FABB3}" type="slidenum">
              <a:rPr lang="en-US"/>
              <a:pPr/>
              <a:t>21</a:t>
            </a:fld>
            <a:endParaRPr lang="en-US"/>
          </a:p>
        </p:txBody>
      </p:sp>
      <p:sp>
        <p:nvSpPr>
          <p:cNvPr id="97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22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23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24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25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26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27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878C3B-3C10-463C-90F4-47086DE2C62A}" type="slidenum">
              <a:rPr lang="en-US"/>
              <a:pPr/>
              <a:t>28</a:t>
            </a:fld>
            <a:endParaRPr lang="en-US"/>
          </a:p>
        </p:txBody>
      </p:sp>
      <p:sp>
        <p:nvSpPr>
          <p:cNvPr id="102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878C3B-3C10-463C-90F4-47086DE2C62A}" type="slidenum">
              <a:rPr lang="en-US"/>
              <a:pPr/>
              <a:t>29</a:t>
            </a:fld>
            <a:endParaRPr lang="en-US"/>
          </a:p>
        </p:txBody>
      </p:sp>
      <p:sp>
        <p:nvSpPr>
          <p:cNvPr id="102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36891A-AFE6-4A33-85FD-C38964C21F99}" type="slidenum">
              <a:rPr lang="en-US"/>
              <a:pPr/>
              <a:t>30</a:t>
            </a:fld>
            <a:endParaRPr lang="en-US"/>
          </a:p>
        </p:txBody>
      </p:sp>
      <p:sp>
        <p:nvSpPr>
          <p:cNvPr id="1038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8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36891A-AFE6-4A33-85FD-C38964C21F99}" type="slidenum">
              <a:rPr lang="en-US"/>
              <a:pPr/>
              <a:t>31</a:t>
            </a:fld>
            <a:endParaRPr lang="en-US"/>
          </a:p>
        </p:txBody>
      </p:sp>
      <p:sp>
        <p:nvSpPr>
          <p:cNvPr id="1038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8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2F9A22-37A2-4620-9F9D-88AF73FCF4CD}" type="slidenum">
              <a:rPr lang="en-US"/>
              <a:pPr/>
              <a:t>32</a:t>
            </a:fld>
            <a:endParaRPr lang="en-US"/>
          </a:p>
        </p:txBody>
      </p:sp>
      <p:sp>
        <p:nvSpPr>
          <p:cNvPr id="1040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2F9A22-37A2-4620-9F9D-88AF73FCF4CD}" type="slidenum">
              <a:rPr lang="en-US"/>
              <a:pPr/>
              <a:t>33</a:t>
            </a:fld>
            <a:endParaRPr lang="en-US"/>
          </a:p>
        </p:txBody>
      </p:sp>
      <p:sp>
        <p:nvSpPr>
          <p:cNvPr id="1040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310F9D-3A68-4B10-9B41-9893A9FD386B}" type="slidenum">
              <a:rPr lang="en-US"/>
              <a:pPr/>
              <a:t>34</a:t>
            </a:fld>
            <a:endParaRPr lang="en-US"/>
          </a:p>
        </p:txBody>
      </p:sp>
      <p:sp>
        <p:nvSpPr>
          <p:cNvPr id="1042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2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310F9D-3A68-4B10-9B41-9893A9FD386B}" type="slidenum">
              <a:rPr lang="en-US"/>
              <a:pPr/>
              <a:t>35</a:t>
            </a:fld>
            <a:endParaRPr lang="en-US"/>
          </a:p>
        </p:txBody>
      </p:sp>
      <p:sp>
        <p:nvSpPr>
          <p:cNvPr id="1042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2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5935C4-55E1-46AE-B7A8-3527592A7AC7}" type="slidenum">
              <a:rPr lang="en-US"/>
              <a:pPr/>
              <a:t>36</a:t>
            </a:fld>
            <a:endParaRPr lang="en-US"/>
          </a:p>
        </p:txBody>
      </p:sp>
      <p:sp>
        <p:nvSpPr>
          <p:cNvPr id="104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5935C4-55E1-46AE-B7A8-3527592A7AC7}" type="slidenum">
              <a:rPr lang="en-US"/>
              <a:pPr/>
              <a:t>37</a:t>
            </a:fld>
            <a:endParaRPr lang="en-US"/>
          </a:p>
        </p:txBody>
      </p:sp>
      <p:sp>
        <p:nvSpPr>
          <p:cNvPr id="104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DC6CD8-E8E2-45E0-8BB1-A2E08383FDE6}" type="slidenum">
              <a:rPr lang="en-US"/>
              <a:pPr/>
              <a:t>38</a:t>
            </a:fld>
            <a:endParaRPr lang="en-US"/>
          </a:p>
        </p:txBody>
      </p:sp>
      <p:sp>
        <p:nvSpPr>
          <p:cNvPr id="973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39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40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41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42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43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44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45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46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47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48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49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50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51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52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53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54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55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56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57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58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59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60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61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62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63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64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65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66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67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68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69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70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71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72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73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74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F87D45-BF21-4E75-B5C4-EC8ED64405C5}" type="slidenum">
              <a:rPr lang="en-US"/>
              <a:pPr/>
              <a:t>75</a:t>
            </a:fld>
            <a:endParaRPr lang="en-US"/>
          </a:p>
        </p:txBody>
      </p:sp>
      <p:sp>
        <p:nvSpPr>
          <p:cNvPr id="104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6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76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77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78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79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80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81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82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83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84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85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86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87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88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89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90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91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92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A031BD-F81F-4889-9B4B-8220F6CC56E3}" type="slidenum">
              <a:rPr lang="en-US"/>
              <a:pPr/>
              <a:t>93</a:t>
            </a:fld>
            <a:endParaRPr lang="en-US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94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95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25BA7D-21A9-470D-80A1-A68F80B05348}" type="slidenum">
              <a:rPr lang="en-US"/>
              <a:pPr/>
              <a:t>96</a:t>
            </a:fld>
            <a:endParaRPr 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97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98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99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100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C77EE-D763-4A76-845B-5F2BC173BDBB}" type="slidenum">
              <a:rPr lang="en-US"/>
              <a:pPr/>
              <a:t>101</a:t>
            </a:fld>
            <a:endParaRPr lang="en-US"/>
          </a:p>
        </p:txBody>
      </p:sp>
      <p:sp>
        <p:nvSpPr>
          <p:cNvPr id="979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102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103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104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105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106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7AEC4D-A006-43B6-B4FD-9827175F4B51}" type="slidenum">
              <a:rPr lang="en-US"/>
              <a:pPr/>
              <a:t>107</a:t>
            </a:fld>
            <a:endParaRPr lang="en-US"/>
          </a:p>
        </p:txBody>
      </p:sp>
      <p:sp>
        <p:nvSpPr>
          <p:cNvPr id="983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457AF8-CBE3-4774-8F45-08852C2DF296}" type="slidenum">
              <a:rPr lang="en-US"/>
              <a:pPr/>
              <a:t>108</a:t>
            </a:fld>
            <a:endParaRPr lang="en-US"/>
          </a:p>
        </p:txBody>
      </p:sp>
      <p:sp>
        <p:nvSpPr>
          <p:cNvPr id="984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4A0E3C-FE7D-46F2-A3FA-F9402B1CFFCF}" type="slidenum">
              <a:rPr lang="en-US"/>
              <a:pPr/>
              <a:t>109</a:t>
            </a:fld>
            <a:endParaRPr lang="en-US"/>
          </a:p>
        </p:txBody>
      </p:sp>
      <p:sp>
        <p:nvSpPr>
          <p:cNvPr id="98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4B3656-CEDE-4908-861A-E5D9BC9DCB30}" type="slidenum">
              <a:rPr lang="en-US"/>
              <a:pPr/>
              <a:t>110</a:t>
            </a:fld>
            <a:endParaRPr lang="en-US"/>
          </a:p>
        </p:txBody>
      </p:sp>
      <p:sp>
        <p:nvSpPr>
          <p:cNvPr id="98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CE26E5-1FF9-4B6E-ABC4-48A24A646364}" type="slidenum">
              <a:rPr lang="en-US"/>
              <a:pPr/>
              <a:t>111</a:t>
            </a:fld>
            <a:endParaRPr lang="en-US"/>
          </a:p>
        </p:txBody>
      </p:sp>
      <p:sp>
        <p:nvSpPr>
          <p:cNvPr id="98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54DF54-CBDA-46DA-89C3-5B1365E808E1}" type="slidenum">
              <a:rPr lang="en-US"/>
              <a:pPr/>
              <a:t>112</a:t>
            </a:fld>
            <a:endParaRPr lang="en-US"/>
          </a:p>
        </p:txBody>
      </p:sp>
      <p:sp>
        <p:nvSpPr>
          <p:cNvPr id="988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A395CB-B906-4D0D-BECD-0835704B3ED7}" type="slidenum">
              <a:rPr lang="en-US"/>
              <a:pPr/>
              <a:t>113</a:t>
            </a:fld>
            <a:endParaRPr lang="en-US"/>
          </a:p>
        </p:txBody>
      </p:sp>
      <p:sp>
        <p:nvSpPr>
          <p:cNvPr id="105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A395CB-B906-4D0D-BECD-0835704B3ED7}" type="slidenum">
              <a:rPr lang="en-US"/>
              <a:pPr/>
              <a:t>114</a:t>
            </a:fld>
            <a:endParaRPr lang="en-US"/>
          </a:p>
        </p:txBody>
      </p:sp>
      <p:sp>
        <p:nvSpPr>
          <p:cNvPr id="105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A395CB-B906-4D0D-BECD-0835704B3ED7}" type="slidenum">
              <a:rPr lang="en-US"/>
              <a:pPr/>
              <a:t>115</a:t>
            </a:fld>
            <a:endParaRPr lang="en-US"/>
          </a:p>
        </p:txBody>
      </p:sp>
      <p:sp>
        <p:nvSpPr>
          <p:cNvPr id="105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261A8-65ED-410E-973A-345C4130B197}" type="slidenum">
              <a:rPr lang="en-US"/>
              <a:pPr/>
              <a:t>116</a:t>
            </a:fld>
            <a:endParaRPr lang="en-US"/>
          </a:p>
        </p:txBody>
      </p:sp>
      <p:sp>
        <p:nvSpPr>
          <p:cNvPr id="98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AED704-C661-4772-A638-AF47A6F1FAD0}" type="slidenum">
              <a:rPr lang="en-US"/>
              <a:pPr/>
              <a:t>117</a:t>
            </a:fld>
            <a:endParaRPr lang="en-US"/>
          </a:p>
        </p:txBody>
      </p:sp>
      <p:sp>
        <p:nvSpPr>
          <p:cNvPr id="99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D89123-87E4-4C2B-81D5-9EEE6DF63E2D}" type="slidenum">
              <a:rPr lang="en-US"/>
              <a:pPr/>
              <a:t>118</a:t>
            </a:fld>
            <a:endParaRPr lang="en-US"/>
          </a:p>
        </p:txBody>
      </p:sp>
      <p:sp>
        <p:nvSpPr>
          <p:cNvPr id="99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36AC56-9C0C-4A4B-A190-5BB108F95972}" type="slidenum">
              <a:rPr lang="en-US"/>
              <a:pPr/>
              <a:t>119</a:t>
            </a:fld>
            <a:endParaRPr lang="en-US"/>
          </a:p>
        </p:txBody>
      </p:sp>
      <p:sp>
        <p:nvSpPr>
          <p:cNvPr id="105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36AC56-9C0C-4A4B-A190-5BB108F95972}" type="slidenum">
              <a:rPr lang="en-US"/>
              <a:pPr/>
              <a:t>120</a:t>
            </a:fld>
            <a:endParaRPr lang="en-US"/>
          </a:p>
        </p:txBody>
      </p:sp>
      <p:sp>
        <p:nvSpPr>
          <p:cNvPr id="105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B2BE79-137C-48FC-A69C-42DD13B43902}" type="slidenum">
              <a:rPr lang="en-US"/>
              <a:pPr/>
              <a:t>121</a:t>
            </a:fld>
            <a:endParaRPr lang="en-US"/>
          </a:p>
        </p:txBody>
      </p:sp>
      <p:sp>
        <p:nvSpPr>
          <p:cNvPr id="99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31C689-9B4B-4C58-92C8-6098F7B78CD9}" type="slidenum">
              <a:rPr lang="en-US"/>
              <a:pPr/>
              <a:t>122</a:t>
            </a:fld>
            <a:endParaRPr lang="en-US"/>
          </a:p>
        </p:txBody>
      </p:sp>
      <p:sp>
        <p:nvSpPr>
          <p:cNvPr id="99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7A5650-B954-431F-BC9D-AF5C892F4EA4}" type="slidenum">
              <a:rPr lang="en-US"/>
              <a:pPr/>
              <a:t>123</a:t>
            </a:fld>
            <a:endParaRPr lang="en-US"/>
          </a:p>
        </p:txBody>
      </p:sp>
      <p:sp>
        <p:nvSpPr>
          <p:cNvPr id="99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24B1C5-B02C-4267-9730-3C06857664A8}" type="slidenum">
              <a:rPr lang="en-US"/>
              <a:pPr/>
              <a:t>124</a:t>
            </a:fld>
            <a:endParaRPr lang="en-US"/>
          </a:p>
        </p:txBody>
      </p:sp>
      <p:sp>
        <p:nvSpPr>
          <p:cNvPr id="99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300E77-0698-40BD-8209-D26986EB6F56}" type="slidenum">
              <a:rPr lang="en-US"/>
              <a:pPr/>
              <a:t>125</a:t>
            </a:fld>
            <a:endParaRPr lang="en-US"/>
          </a:p>
        </p:txBody>
      </p:sp>
      <p:sp>
        <p:nvSpPr>
          <p:cNvPr id="1059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D0D880-5E42-413F-8304-55CEB24A0ADC}" type="slidenum">
              <a:rPr lang="en-US"/>
              <a:pPr/>
              <a:t>126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1BF315-DAD1-4AEC-AFA4-5AD972D61A28}" type="slidenum">
              <a:rPr lang="en-US"/>
              <a:pPr/>
              <a:t>127</a:t>
            </a:fld>
            <a:endParaRPr lang="en-US"/>
          </a:p>
        </p:txBody>
      </p:sp>
      <p:sp>
        <p:nvSpPr>
          <p:cNvPr id="99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194518-ED2A-4FE1-9A2F-282A916F9132}" type="slidenum">
              <a:rPr lang="en-US"/>
              <a:pPr/>
              <a:t>128</a:t>
            </a:fld>
            <a:endParaRPr lang="en-US"/>
          </a:p>
        </p:txBody>
      </p:sp>
      <p:sp>
        <p:nvSpPr>
          <p:cNvPr id="107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1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7C3BA6-32FA-4004-987D-6B1385B80AD8}" type="slidenum">
              <a:rPr lang="en-US"/>
              <a:pPr/>
              <a:t>129</a:t>
            </a:fld>
            <a:endParaRPr lang="en-US"/>
          </a:p>
        </p:txBody>
      </p:sp>
      <p:sp>
        <p:nvSpPr>
          <p:cNvPr id="100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3BA3D7-4C80-4787-A38D-282410CAE6F1}" type="slidenum">
              <a:rPr lang="en-US"/>
              <a:pPr/>
              <a:t>130</a:t>
            </a:fld>
            <a:endParaRPr lang="en-US"/>
          </a:p>
        </p:txBody>
      </p:sp>
      <p:sp>
        <p:nvSpPr>
          <p:cNvPr id="1002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49A230-1CEE-4365-98E5-E5D8D1CB7A0D}" type="slidenum">
              <a:rPr lang="en-US"/>
              <a:pPr/>
              <a:t>131</a:t>
            </a:fld>
            <a:endParaRPr lang="en-US"/>
          </a:p>
        </p:txBody>
      </p:sp>
      <p:sp>
        <p:nvSpPr>
          <p:cNvPr id="107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C0D040-7A13-4572-BBEB-899D3F78339D}" type="slidenum">
              <a:rPr lang="en-US"/>
              <a:pPr/>
              <a:t>132</a:t>
            </a:fld>
            <a:endParaRPr lang="en-US"/>
          </a:p>
        </p:txBody>
      </p:sp>
      <p:sp>
        <p:nvSpPr>
          <p:cNvPr id="107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56CE4F-088A-4127-841E-97C4EBD66B79}" type="slidenum">
              <a:rPr lang="en-US"/>
              <a:pPr/>
              <a:t>133</a:t>
            </a:fld>
            <a:endParaRPr lang="en-US"/>
          </a:p>
        </p:txBody>
      </p:sp>
      <p:sp>
        <p:nvSpPr>
          <p:cNvPr id="107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8471D6-9FAA-4144-972A-6465665D2280}" type="slidenum">
              <a:rPr lang="en-US"/>
              <a:pPr/>
              <a:t>134</a:t>
            </a:fld>
            <a:endParaRPr lang="en-US"/>
          </a:p>
        </p:txBody>
      </p:sp>
      <p:sp>
        <p:nvSpPr>
          <p:cNvPr id="108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8471D6-9FAA-4144-972A-6465665D2280}" type="slidenum">
              <a:rPr lang="en-US"/>
              <a:pPr/>
              <a:t>135</a:t>
            </a:fld>
            <a:endParaRPr lang="en-US"/>
          </a:p>
        </p:txBody>
      </p:sp>
      <p:sp>
        <p:nvSpPr>
          <p:cNvPr id="108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8471D6-9FAA-4144-972A-6465665D2280}" type="slidenum">
              <a:rPr lang="en-US"/>
              <a:pPr/>
              <a:t>136</a:t>
            </a:fld>
            <a:endParaRPr lang="en-US"/>
          </a:p>
        </p:txBody>
      </p:sp>
      <p:sp>
        <p:nvSpPr>
          <p:cNvPr id="108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A47163-3C85-455D-974E-FC7970630275}" type="slidenum">
              <a:rPr lang="en-US"/>
              <a:pPr/>
              <a:t>137</a:t>
            </a:fld>
            <a:endParaRPr lang="en-US"/>
          </a:p>
        </p:txBody>
      </p:sp>
      <p:sp>
        <p:nvSpPr>
          <p:cNvPr id="100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2A010-D8B5-4956-AD77-7CB697F294E6}" type="slidenum">
              <a:rPr lang="en-US"/>
              <a:pPr/>
              <a:t>138</a:t>
            </a:fld>
            <a:endParaRPr lang="en-US"/>
          </a:p>
        </p:txBody>
      </p:sp>
      <p:sp>
        <p:nvSpPr>
          <p:cNvPr id="1006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6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3FED2E-1D6C-44A0-85F6-4B7E5EC7291D}" type="slidenum">
              <a:rPr lang="en-US"/>
              <a:pPr/>
              <a:t>139</a:t>
            </a:fld>
            <a:endParaRPr lang="en-US"/>
          </a:p>
        </p:txBody>
      </p:sp>
      <p:sp>
        <p:nvSpPr>
          <p:cNvPr id="109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985811-86C3-430D-A2C0-E389873C63E0}" type="slidenum">
              <a:rPr lang="en-US"/>
              <a:pPr/>
              <a:t>140</a:t>
            </a:fld>
            <a:endParaRPr lang="en-US"/>
          </a:p>
        </p:txBody>
      </p:sp>
      <p:sp>
        <p:nvSpPr>
          <p:cNvPr id="100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F9EDCC-B73F-4303-9888-A34FB7DF2A0D}" type="slidenum">
              <a:rPr lang="en-US"/>
              <a:pPr/>
              <a:t>141</a:t>
            </a:fld>
            <a:endParaRPr lang="en-US"/>
          </a:p>
        </p:txBody>
      </p:sp>
      <p:sp>
        <p:nvSpPr>
          <p:cNvPr id="1008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8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1463B4-C7E6-4230-BF4B-6A95DDDD3D17}" type="slidenum">
              <a:rPr lang="en-US"/>
              <a:pPr/>
              <a:t>142</a:t>
            </a:fld>
            <a:endParaRPr lang="en-US"/>
          </a:p>
        </p:txBody>
      </p:sp>
      <p:sp>
        <p:nvSpPr>
          <p:cNvPr id="100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C8E213-DB51-472C-9866-EB9716505CA4}" type="slidenum">
              <a:rPr lang="en-US"/>
              <a:pPr/>
              <a:t>143</a:t>
            </a:fld>
            <a:endParaRPr lang="en-US"/>
          </a:p>
        </p:txBody>
      </p:sp>
      <p:sp>
        <p:nvSpPr>
          <p:cNvPr id="1097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02706F-ED4F-4262-84D0-62C0EEC2865D}" type="slidenum">
              <a:rPr lang="en-US"/>
              <a:pPr/>
              <a:t>144</a:t>
            </a:fld>
            <a:endParaRPr lang="en-US"/>
          </a:p>
        </p:txBody>
      </p:sp>
      <p:sp>
        <p:nvSpPr>
          <p:cNvPr id="1010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E05186-FCC2-4A2D-A400-07B1D3379528}" type="slidenum">
              <a:rPr lang="en-US"/>
              <a:pPr/>
              <a:t>145</a:t>
            </a:fld>
            <a:endParaRPr lang="en-US"/>
          </a:p>
        </p:txBody>
      </p:sp>
      <p:sp>
        <p:nvSpPr>
          <p:cNvPr id="101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B0DA16-AD53-4042-9247-495EB0C84AF1}" type="slidenum">
              <a:rPr lang="en-US"/>
              <a:pPr/>
              <a:t>146</a:t>
            </a:fld>
            <a:endParaRPr lang="en-US"/>
          </a:p>
        </p:txBody>
      </p:sp>
      <p:sp>
        <p:nvSpPr>
          <p:cNvPr id="101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3252E0-C543-453A-A3CD-7D3E22E429E1}" type="slidenum">
              <a:rPr lang="en-US"/>
              <a:pPr/>
              <a:t>147</a:t>
            </a:fld>
            <a:endParaRPr lang="en-US"/>
          </a:p>
        </p:txBody>
      </p:sp>
      <p:sp>
        <p:nvSpPr>
          <p:cNvPr id="101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116A2-289C-46C5-9D36-D6AE93CCD44C}" type="slidenum">
              <a:rPr lang="en-US"/>
              <a:pPr/>
              <a:t>148</a:t>
            </a:fld>
            <a:endParaRPr lang="en-US"/>
          </a:p>
        </p:txBody>
      </p:sp>
      <p:sp>
        <p:nvSpPr>
          <p:cNvPr id="101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D9EDBB-1C0D-423E-BD1A-31C54EAD9EC4}" type="slidenum">
              <a:rPr lang="en-US"/>
              <a:pPr/>
              <a:t>149</a:t>
            </a:fld>
            <a:endParaRPr lang="en-US"/>
          </a:p>
        </p:txBody>
      </p:sp>
      <p:sp>
        <p:nvSpPr>
          <p:cNvPr id="101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F9E32-A147-4A89-84FC-CDED79CE5E5A}" type="slidenum">
              <a:rPr lang="en-US"/>
              <a:pPr/>
              <a:t>150</a:t>
            </a:fld>
            <a:endParaRPr lang="en-US"/>
          </a:p>
        </p:txBody>
      </p:sp>
      <p:sp>
        <p:nvSpPr>
          <p:cNvPr id="101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2EA0A7-C596-4378-9E3B-264C02717B05}" type="slidenum">
              <a:rPr lang="en-US"/>
              <a:pPr/>
              <a:t>151</a:t>
            </a:fld>
            <a:endParaRPr lang="en-US"/>
          </a:p>
        </p:txBody>
      </p:sp>
      <p:sp>
        <p:nvSpPr>
          <p:cNvPr id="101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157202-96F5-4EC5-94AB-A335E1449AAB}" type="slidenum">
              <a:rPr lang="en-US"/>
              <a:pPr/>
              <a:t>152</a:t>
            </a:fld>
            <a:endParaRPr lang="en-US"/>
          </a:p>
        </p:txBody>
      </p:sp>
      <p:sp>
        <p:nvSpPr>
          <p:cNvPr id="101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CFF6C5-8D54-44FA-ADEE-D1E2AA125DCC}" type="slidenum">
              <a:rPr lang="en-US"/>
              <a:pPr/>
              <a:t>153</a:t>
            </a:fld>
            <a:endParaRPr lang="en-US"/>
          </a:p>
        </p:txBody>
      </p:sp>
      <p:sp>
        <p:nvSpPr>
          <p:cNvPr id="101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928846"/>
            <a:ext cx="9144000" cy="929154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919089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72064"/>
            <a:ext cx="990600" cy="88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943600"/>
            <a:ext cx="773569" cy="864310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6477000" y="624840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/>
                </a:solidFill>
              </a:rPr>
              <a:t>Chapter 2&lt;</a:t>
            </a:r>
            <a:fld id="{D1B2EFE9-D440-4A3B-858C-5FEDF5DD0E10}" type="slidenum">
              <a:rPr lang="en-US" sz="1400" smtClean="0">
                <a:solidFill>
                  <a:schemeClr val="bg1"/>
                </a:solidFill>
              </a:rPr>
              <a:pPr/>
              <a:t>‹#›</a:t>
            </a:fld>
            <a:r>
              <a:rPr lang="en-US" sz="1400" dirty="0">
                <a:solidFill>
                  <a:schemeClr val="bg1"/>
                </a:solidFill>
              </a:rPr>
              <a:t>&gt; 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295400" y="6248400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Digital Design and Computer Architecture:</a:t>
            </a:r>
            <a:r>
              <a:rPr lang="en-US" sz="1400" baseline="0" dirty="0">
                <a:solidFill>
                  <a:schemeClr val="bg1"/>
                </a:solidFill>
              </a:rPr>
              <a:t> ARM® Edition © 2015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139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5928846"/>
            <a:ext cx="9144000" cy="929154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919089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72064"/>
            <a:ext cx="990600" cy="88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943600"/>
            <a:ext cx="773569" cy="86431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6477000" y="624840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/>
                </a:solidFill>
              </a:rPr>
              <a:t>Chapter 2 &lt;</a:t>
            </a:r>
            <a:fld id="{D1B2EFE9-D440-4A3B-858C-5FEDF5DD0E10}" type="slidenum">
              <a:rPr lang="en-US" sz="1400" smtClean="0">
                <a:solidFill>
                  <a:schemeClr val="bg1"/>
                </a:solidFill>
              </a:rPr>
              <a:pPr/>
              <a:t>‹#›</a:t>
            </a:fld>
            <a:r>
              <a:rPr lang="en-US" sz="1400" dirty="0">
                <a:solidFill>
                  <a:schemeClr val="bg1"/>
                </a:solidFill>
              </a:rPr>
              <a:t>&gt; 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6248400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Digital Design and Computer Architecture:</a:t>
            </a:r>
            <a:r>
              <a:rPr lang="en-US" sz="1400" baseline="0" dirty="0">
                <a:solidFill>
                  <a:schemeClr val="bg1"/>
                </a:solidFill>
              </a:rPr>
              <a:t> ARM® Edition © 2015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8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Copyright © 2012 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1-&lt;</a:t>
            </a:r>
            <a:fld id="{68946159-E475-47D9-8550-A9F0B445C791}" type="slidenum">
              <a:rPr lang="en-US"/>
              <a:pPr>
                <a:defRPr/>
              </a:pPr>
              <a:t>‹#›</a:t>
            </a:fld>
            <a:r>
              <a:rPr lang="en-US"/>
              <a:t>&gt;</a:t>
            </a:r>
          </a:p>
          <a:p>
            <a:pPr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56772E6B-5AA2-4C5F-A7F8-95F9D4354597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82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77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96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3D7F715D-3209-482A-ABCD-4F9C0036FCD6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99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77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096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DD0BCF35-A1C1-47C4-BF2B-8B9B8D4EBCAE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24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C0FBBB96-A630-4B05-BA47-6FDCC80A2530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668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77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096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B8D13B05-696B-43F3-A133-03DEFFF24850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700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01600" y="101600"/>
            <a:ext cx="7772400" cy="889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719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77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2007 Elsevier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096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2-&lt;</a:t>
            </a:r>
            <a:fld id="{ABE97F21-FF4B-4B80-811E-C7802C99A8A5}" type="slidenum">
              <a:rPr lang="en-US"/>
              <a:pPr/>
              <a:t>‹#›</a:t>
            </a:fld>
            <a:r>
              <a:rPr lang="en-US"/>
              <a:t>&gt;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51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46080-453C-4BEF-9A1F-F094B996EB79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2EFE9-D440-4A3B-858C-5FEDF5DD0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8.xml"/><Relationship Id="rId13" Type="http://schemas.openxmlformats.org/officeDocument/2006/relationships/image" Target="../media/image4.jpeg"/><Relationship Id="rId3" Type="http://schemas.openxmlformats.org/officeDocument/2006/relationships/notesSlide" Target="../notesSlides/notesSlide1.xml"/><Relationship Id="rId7" Type="http://schemas.openxmlformats.org/officeDocument/2006/relationships/slide" Target="slide107.xml"/><Relationship Id="rId12" Type="http://schemas.openxmlformats.org/officeDocument/2006/relationships/slide" Target="slide1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slide" Target="slide21.xml"/><Relationship Id="rId11" Type="http://schemas.openxmlformats.org/officeDocument/2006/relationships/slide" Target="slide137.xml"/><Relationship Id="rId5" Type="http://schemas.openxmlformats.org/officeDocument/2006/relationships/slide" Target="slide7.xml"/><Relationship Id="rId10" Type="http://schemas.openxmlformats.org/officeDocument/2006/relationships/slide" Target="slide126.xml"/><Relationship Id="rId4" Type="http://schemas.openxmlformats.org/officeDocument/2006/relationships/slide" Target="slide3.xml"/><Relationship Id="rId9" Type="http://schemas.openxmlformats.org/officeDocument/2006/relationships/slide" Target="slide1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3" Type="http://schemas.openxmlformats.org/officeDocument/2006/relationships/tags" Target="../tags/tag14.xml"/><Relationship Id="rId21" Type="http://schemas.openxmlformats.org/officeDocument/2006/relationships/hyperlink" Target="https://www.geeksforgeeks.org/canonical-and-standard-form/" TargetMode="Externa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notesSlide" Target="../notesSlides/notesSlide7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10" Type="http://schemas.openxmlformats.org/officeDocument/2006/relationships/tags" Target="../tags/tag21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9.emf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oleObject" Target="../embeddings/oleObject6.bin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9.emf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oleObject" Target="../embeddings/oleObject7.bin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image" Target="../media/image9.emf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tags" Target="../tags/tag41.xml"/><Relationship Id="rId7" Type="http://schemas.openxmlformats.org/officeDocument/2006/relationships/oleObject" Target="../embeddings/oleObject9.bin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45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1.bin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2.bin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54.xml"/><Relationship Id="rId7" Type="http://schemas.openxmlformats.org/officeDocument/2006/relationships/oleObject" Target="../embeddings/oleObject13.bin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tags" Target="../tags/tag5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tags" Target="../tags/tag62.xml"/><Relationship Id="rId7" Type="http://schemas.openxmlformats.org/officeDocument/2006/relationships/oleObject" Target="../embeddings/oleObject15.bin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tags" Target="../tags/tag66.xml"/><Relationship Id="rId7" Type="http://schemas.openxmlformats.org/officeDocument/2006/relationships/oleObject" Target="../embeddings/oleObject16.bin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5.emf"/><Relationship Id="rId4" Type="http://schemas.openxmlformats.org/officeDocument/2006/relationships/tags" Target="../tags/tag67.xml"/><Relationship Id="rId9" Type="http://schemas.openxmlformats.org/officeDocument/2006/relationships/oleObject" Target="../embeddings/oleObject1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image" Target="../media/image16.wmf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oleObject" Target="../embeddings/oleObject18.bin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notesSlide" Target="../notesSlides/notesSlide19.xml"/><Relationship Id="rId5" Type="http://schemas.openxmlformats.org/officeDocument/2006/relationships/tags" Target="../tags/tag72.xml"/><Relationship Id="rId15" Type="http://schemas.openxmlformats.org/officeDocument/2006/relationships/image" Target="../media/image17.wmf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oleObject" Target="../embeddings/oleObject1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4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7" Type="http://schemas.openxmlformats.org/officeDocument/2006/relationships/image" Target="../media/image18.wmf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oleObject" Target="../embeddings/oleObject20.bin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image" Target="../media/image19.wmf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oleObject" Target="../embeddings/oleObject21.bin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7" Type="http://schemas.openxmlformats.org/officeDocument/2006/relationships/image" Target="../media/image20.wmf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oleObject" Target="../embeddings/oleObject22.bin"/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tags" Target="../tags/tag98.xml"/><Relationship Id="rId7" Type="http://schemas.openxmlformats.org/officeDocument/2006/relationships/oleObject" Target="../embeddings/oleObject23.bin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tags" Target="../tags/tag106.xml"/><Relationship Id="rId7" Type="http://schemas.openxmlformats.org/officeDocument/2006/relationships/notesSlide" Target="../notesSlides/notesSlide3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9" Type="http://schemas.openxmlformats.org/officeDocument/2006/relationships/image" Target="../media/image22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notesSlide" Target="../notesSlides/notesSlide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2.xml"/><Relationship Id="rId3" Type="http://schemas.openxmlformats.org/officeDocument/2006/relationships/tags" Target="../tags/tag12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3.xml"/><Relationship Id="rId3" Type="http://schemas.openxmlformats.org/officeDocument/2006/relationships/tags" Target="../tags/tag12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4" Type="http://schemas.openxmlformats.org/officeDocument/2006/relationships/notesSlide" Target="../notesSlides/notesSlide7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5" Type="http://schemas.openxmlformats.org/officeDocument/2006/relationships/notesSlide" Target="../notesSlides/notesSlide74.xml"/><Relationship Id="rId4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tags" Target="../tags/tag169.xml"/><Relationship Id="rId13" Type="http://schemas.openxmlformats.org/officeDocument/2006/relationships/image" Target="../media/image16.wmf"/><Relationship Id="rId3" Type="http://schemas.openxmlformats.org/officeDocument/2006/relationships/tags" Target="../tags/tag164.xml"/><Relationship Id="rId7" Type="http://schemas.openxmlformats.org/officeDocument/2006/relationships/tags" Target="../tags/tag168.xml"/><Relationship Id="rId12" Type="http://schemas.openxmlformats.org/officeDocument/2006/relationships/oleObject" Target="../embeddings/oleObject25.bin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notesSlide" Target="../notesSlides/notesSlide92.xml"/><Relationship Id="rId5" Type="http://schemas.openxmlformats.org/officeDocument/2006/relationships/tags" Target="../tags/tag166.xml"/><Relationship Id="rId15" Type="http://schemas.openxmlformats.org/officeDocument/2006/relationships/image" Target="../media/image17.wmf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4" Type="http://schemas.openxmlformats.org/officeDocument/2006/relationships/oleObject" Target="../embeddings/oleObject26.bin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oleObject" Target="../embeddings/oleObject27.bin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notesSlide" Target="../notesSlides/notesSlide101.xml"/><Relationship Id="rId2" Type="http://schemas.openxmlformats.org/officeDocument/2006/relationships/tags" Target="../tags/tag174.xml"/><Relationship Id="rId16" Type="http://schemas.openxmlformats.org/officeDocument/2006/relationships/image" Target="../media/image24.wmf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77.xml"/><Relationship Id="rId15" Type="http://schemas.openxmlformats.org/officeDocument/2006/relationships/oleObject" Target="../embeddings/oleObject28.bin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Relationship Id="rId14" Type="http://schemas.openxmlformats.org/officeDocument/2006/relationships/image" Target="../media/image23.w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notesSlide" Target="../notesSlides/notesSlide10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6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13" Type="http://schemas.openxmlformats.org/officeDocument/2006/relationships/tags" Target="../tags/tag199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12" Type="http://schemas.openxmlformats.org/officeDocument/2006/relationships/tags" Target="../tags/tag198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11" Type="http://schemas.openxmlformats.org/officeDocument/2006/relationships/tags" Target="../tags/tag197.xml"/><Relationship Id="rId5" Type="http://schemas.openxmlformats.org/officeDocument/2006/relationships/tags" Target="../tags/tag191.xml"/><Relationship Id="rId15" Type="http://schemas.openxmlformats.org/officeDocument/2006/relationships/notesSlide" Target="../notesSlides/notesSlide103.xml"/><Relationship Id="rId10" Type="http://schemas.openxmlformats.org/officeDocument/2006/relationships/tags" Target="../tags/tag196.xml"/><Relationship Id="rId4" Type="http://schemas.openxmlformats.org/officeDocument/2006/relationships/tags" Target="../tags/tag190.xml"/><Relationship Id="rId9" Type="http://schemas.openxmlformats.org/officeDocument/2006/relationships/tags" Target="../tags/tag195.xml"/><Relationship Id="rId14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tags" Target="../tags/tag200.xml"/><Relationship Id="rId6" Type="http://schemas.openxmlformats.org/officeDocument/2006/relationships/notesSlide" Target="../notesSlides/notesSlide10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3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13" Type="http://schemas.openxmlformats.org/officeDocument/2006/relationships/tags" Target="../tags/tag216.xml"/><Relationship Id="rId18" Type="http://schemas.openxmlformats.org/officeDocument/2006/relationships/tags" Target="../tags/tag221.xml"/><Relationship Id="rId26" Type="http://schemas.openxmlformats.org/officeDocument/2006/relationships/notesSlide" Target="../notesSlides/notesSlide105.xml"/><Relationship Id="rId3" Type="http://schemas.openxmlformats.org/officeDocument/2006/relationships/tags" Target="../tags/tag206.xml"/><Relationship Id="rId21" Type="http://schemas.openxmlformats.org/officeDocument/2006/relationships/tags" Target="../tags/tag224.xml"/><Relationship Id="rId7" Type="http://schemas.openxmlformats.org/officeDocument/2006/relationships/tags" Target="../tags/tag210.xml"/><Relationship Id="rId12" Type="http://schemas.openxmlformats.org/officeDocument/2006/relationships/tags" Target="../tags/tag215.xml"/><Relationship Id="rId17" Type="http://schemas.openxmlformats.org/officeDocument/2006/relationships/tags" Target="../tags/tag220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205.xml"/><Relationship Id="rId16" Type="http://schemas.openxmlformats.org/officeDocument/2006/relationships/tags" Target="../tags/tag219.xml"/><Relationship Id="rId20" Type="http://schemas.openxmlformats.org/officeDocument/2006/relationships/tags" Target="../tags/tag223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11" Type="http://schemas.openxmlformats.org/officeDocument/2006/relationships/tags" Target="../tags/tag214.xml"/><Relationship Id="rId24" Type="http://schemas.openxmlformats.org/officeDocument/2006/relationships/tags" Target="../tags/tag227.xml"/><Relationship Id="rId5" Type="http://schemas.openxmlformats.org/officeDocument/2006/relationships/tags" Target="../tags/tag208.xml"/><Relationship Id="rId15" Type="http://schemas.openxmlformats.org/officeDocument/2006/relationships/tags" Target="../tags/tag218.xml"/><Relationship Id="rId23" Type="http://schemas.openxmlformats.org/officeDocument/2006/relationships/tags" Target="../tags/tag226.xml"/><Relationship Id="rId10" Type="http://schemas.openxmlformats.org/officeDocument/2006/relationships/tags" Target="../tags/tag213.xml"/><Relationship Id="rId19" Type="http://schemas.openxmlformats.org/officeDocument/2006/relationships/tags" Target="../tags/tag222.xml"/><Relationship Id="rId4" Type="http://schemas.openxmlformats.org/officeDocument/2006/relationships/tags" Target="../tags/tag207.xml"/><Relationship Id="rId9" Type="http://schemas.openxmlformats.org/officeDocument/2006/relationships/tags" Target="../tags/tag212.xml"/><Relationship Id="rId14" Type="http://schemas.openxmlformats.org/officeDocument/2006/relationships/tags" Target="../tags/tag217.xml"/><Relationship Id="rId22" Type="http://schemas.openxmlformats.org/officeDocument/2006/relationships/tags" Target="../tags/tag225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tags" Target="../tags/tag235.xml"/><Relationship Id="rId13" Type="http://schemas.openxmlformats.org/officeDocument/2006/relationships/oleObject" Target="../embeddings/oleObject29.bin"/><Relationship Id="rId3" Type="http://schemas.openxmlformats.org/officeDocument/2006/relationships/tags" Target="../tags/tag230.xml"/><Relationship Id="rId7" Type="http://schemas.openxmlformats.org/officeDocument/2006/relationships/tags" Target="../tags/tag234.xml"/><Relationship Id="rId12" Type="http://schemas.openxmlformats.org/officeDocument/2006/relationships/notesSlide" Target="../notesSlides/notesSlide106.xml"/><Relationship Id="rId2" Type="http://schemas.openxmlformats.org/officeDocument/2006/relationships/tags" Target="../tags/tag229.xml"/><Relationship Id="rId16" Type="http://schemas.openxmlformats.org/officeDocument/2006/relationships/image" Target="../media/image24.wmf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32.xml"/><Relationship Id="rId15" Type="http://schemas.openxmlformats.org/officeDocument/2006/relationships/oleObject" Target="../embeddings/oleObject30.bin"/><Relationship Id="rId10" Type="http://schemas.openxmlformats.org/officeDocument/2006/relationships/tags" Target="../tags/tag237.xml"/><Relationship Id="rId4" Type="http://schemas.openxmlformats.org/officeDocument/2006/relationships/tags" Target="../tags/tag231.xml"/><Relationship Id="rId9" Type="http://schemas.openxmlformats.org/officeDocument/2006/relationships/tags" Target="../tags/tag236.xml"/><Relationship Id="rId14" Type="http://schemas.openxmlformats.org/officeDocument/2006/relationships/image" Target="../media/image23.wmf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tags" Target="../tags/tag240.xml"/><Relationship Id="rId7" Type="http://schemas.openxmlformats.org/officeDocument/2006/relationships/image" Target="../media/image25.wmf"/><Relationship Id="rId2" Type="http://schemas.openxmlformats.org/officeDocument/2006/relationships/tags" Target="../tags/tag239.xml"/><Relationship Id="rId1" Type="http://schemas.openxmlformats.org/officeDocument/2006/relationships/tags" Target="../tags/tag238.xml"/><Relationship Id="rId6" Type="http://schemas.openxmlformats.org/officeDocument/2006/relationships/oleObject" Target="../embeddings/oleObject31.bin"/><Relationship Id="rId5" Type="http://schemas.openxmlformats.org/officeDocument/2006/relationships/notesSlide" Target="../notesSlides/notesSlide107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6.wmf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2.xml"/><Relationship Id="rId1" Type="http://schemas.openxmlformats.org/officeDocument/2006/relationships/tags" Target="../tags/tag241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3.bin"/><Relationship Id="rId4" Type="http://schemas.openxmlformats.org/officeDocument/2006/relationships/notesSlide" Target="../notesSlides/notesSlide108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tags" Target="../tags/tag245.xml"/><Relationship Id="rId7" Type="http://schemas.openxmlformats.org/officeDocument/2006/relationships/image" Target="../media/image28.wmf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oleObject" Target="../embeddings/oleObject34.bin"/><Relationship Id="rId5" Type="http://schemas.openxmlformats.org/officeDocument/2006/relationships/notesSlide" Target="../notesSlides/notesSlide109.xml"/><Relationship Id="rId4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7.xml"/><Relationship Id="rId1" Type="http://schemas.openxmlformats.org/officeDocument/2006/relationships/tags" Target="../tags/tag246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5.bin"/><Relationship Id="rId4" Type="http://schemas.openxmlformats.org/officeDocument/2006/relationships/notesSlide" Target="../notesSlides/notesSlide110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8.x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36.bin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9.xml"/><Relationship Id="rId5" Type="http://schemas.openxmlformats.org/officeDocument/2006/relationships/image" Target="../media/image31.emf"/><Relationship Id="rId4" Type="http://schemas.openxmlformats.org/officeDocument/2006/relationships/oleObject" Target="../embeddings/oleObject37.bin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0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38.bin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1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9.bin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tags" Target="../tags/tag259.xml"/><Relationship Id="rId3" Type="http://schemas.openxmlformats.org/officeDocument/2006/relationships/tags" Target="../tags/tag254.xml"/><Relationship Id="rId7" Type="http://schemas.openxmlformats.org/officeDocument/2006/relationships/tags" Target="../tags/tag258.xml"/><Relationship Id="rId12" Type="http://schemas.openxmlformats.org/officeDocument/2006/relationships/image" Target="../media/image34.wmf"/><Relationship Id="rId2" Type="http://schemas.openxmlformats.org/officeDocument/2006/relationships/tags" Target="../tags/tag253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11" Type="http://schemas.openxmlformats.org/officeDocument/2006/relationships/oleObject" Target="../embeddings/oleObject40.bin"/><Relationship Id="rId5" Type="http://schemas.openxmlformats.org/officeDocument/2006/relationships/tags" Target="../tags/tag256.xml"/><Relationship Id="rId10" Type="http://schemas.openxmlformats.org/officeDocument/2006/relationships/notesSlide" Target="../notesSlides/notesSlide115.xml"/><Relationship Id="rId4" Type="http://schemas.openxmlformats.org/officeDocument/2006/relationships/tags" Target="../tags/tag255.xml"/><Relationship Id="rId9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0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41.bin"/><Relationship Id="rId4" Type="http://schemas.openxmlformats.org/officeDocument/2006/relationships/notesSlide" Target="../notesSlides/notesSlide117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tags" Target="../tags/tag265.xml"/><Relationship Id="rId7" Type="http://schemas.openxmlformats.org/officeDocument/2006/relationships/image" Target="../media/image36.emf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6" Type="http://schemas.openxmlformats.org/officeDocument/2006/relationships/oleObject" Target="../embeddings/oleObject42.bin"/><Relationship Id="rId5" Type="http://schemas.openxmlformats.org/officeDocument/2006/relationships/notesSlide" Target="../notesSlides/notesSlide118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7.wmf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tags" Target="../tags/tag268.xml"/><Relationship Id="rId7" Type="http://schemas.openxmlformats.org/officeDocument/2006/relationships/image" Target="../media/image38.wmf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oleObject" Target="../embeddings/oleObject44.bin"/><Relationship Id="rId5" Type="http://schemas.openxmlformats.org/officeDocument/2006/relationships/notesSlide" Target="../notesSlides/notesSlide119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7.wmf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47.bin"/><Relationship Id="rId2" Type="http://schemas.openxmlformats.org/officeDocument/2006/relationships/tags" Target="../tags/tag270.xml"/><Relationship Id="rId1" Type="http://schemas.openxmlformats.org/officeDocument/2006/relationships/tags" Target="../tags/tag269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6.bin"/><Relationship Id="rId4" Type="http://schemas.openxmlformats.org/officeDocument/2006/relationships/notesSlide" Target="../notesSlides/notesSlide120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49.bin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8.bin"/><Relationship Id="rId4" Type="http://schemas.openxmlformats.org/officeDocument/2006/relationships/notesSlide" Target="../notesSlides/notesSlide12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4.xml"/><Relationship Id="rId1" Type="http://schemas.openxmlformats.org/officeDocument/2006/relationships/tags" Target="../tags/tag273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50.bin"/><Relationship Id="rId4" Type="http://schemas.openxmlformats.org/officeDocument/2006/relationships/notesSlide" Target="../notesSlides/notesSlide12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51.bin"/><Relationship Id="rId4" Type="http://schemas.openxmlformats.org/officeDocument/2006/relationships/notesSlide" Target="../notesSlides/notesSlide123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8.xml"/><Relationship Id="rId1" Type="http://schemas.openxmlformats.org/officeDocument/2006/relationships/tags" Target="../tags/tag277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52.bin"/><Relationship Id="rId4" Type="http://schemas.openxmlformats.org/officeDocument/2006/relationships/notesSlide" Target="../notesSlides/notesSlide124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tags" Target="../tags/tag281.xml"/><Relationship Id="rId7" Type="http://schemas.openxmlformats.org/officeDocument/2006/relationships/image" Target="../media/image45.wmf"/><Relationship Id="rId2" Type="http://schemas.openxmlformats.org/officeDocument/2006/relationships/tags" Target="../tags/tag280.xml"/><Relationship Id="rId1" Type="http://schemas.openxmlformats.org/officeDocument/2006/relationships/tags" Target="../tags/tag279.xml"/><Relationship Id="rId6" Type="http://schemas.openxmlformats.org/officeDocument/2006/relationships/oleObject" Target="../embeddings/oleObject53.bin"/><Relationship Id="rId5" Type="http://schemas.openxmlformats.org/officeDocument/2006/relationships/notesSlide" Target="../notesSlides/notesSlide125.xml"/><Relationship Id="rId4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tags" Target="../tags/tag284.xml"/><Relationship Id="rId7" Type="http://schemas.openxmlformats.org/officeDocument/2006/relationships/notesSlide" Target="../notesSlides/notesSlide126.xml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7.wmf"/><Relationship Id="rId5" Type="http://schemas.openxmlformats.org/officeDocument/2006/relationships/tags" Target="../tags/tag286.xml"/><Relationship Id="rId10" Type="http://schemas.openxmlformats.org/officeDocument/2006/relationships/oleObject" Target="../embeddings/oleObject55.bin"/><Relationship Id="rId4" Type="http://schemas.openxmlformats.org/officeDocument/2006/relationships/tags" Target="../tags/tag285.xml"/><Relationship Id="rId9" Type="http://schemas.openxmlformats.org/officeDocument/2006/relationships/image" Target="../media/image46.wmf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57.bin"/><Relationship Id="rId2" Type="http://schemas.openxmlformats.org/officeDocument/2006/relationships/tags" Target="../tags/tag288.xml"/><Relationship Id="rId1" Type="http://schemas.openxmlformats.org/officeDocument/2006/relationships/tags" Target="../tags/tag287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56.bin"/><Relationship Id="rId4" Type="http://schemas.openxmlformats.org/officeDocument/2006/relationships/notesSlide" Target="../notesSlides/notesSlide127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tags" Target="../tags/tag296.xml"/><Relationship Id="rId3" Type="http://schemas.openxmlformats.org/officeDocument/2006/relationships/tags" Target="../tags/tag291.xml"/><Relationship Id="rId7" Type="http://schemas.openxmlformats.org/officeDocument/2006/relationships/tags" Target="../tags/tag295.xml"/><Relationship Id="rId2" Type="http://schemas.openxmlformats.org/officeDocument/2006/relationships/tags" Target="../tags/tag290.xml"/><Relationship Id="rId1" Type="http://schemas.openxmlformats.org/officeDocument/2006/relationships/tags" Target="../tags/tag289.xml"/><Relationship Id="rId6" Type="http://schemas.openxmlformats.org/officeDocument/2006/relationships/tags" Target="../tags/tag294.xml"/><Relationship Id="rId11" Type="http://schemas.openxmlformats.org/officeDocument/2006/relationships/notesSlide" Target="../notesSlides/notesSlide128.xml"/><Relationship Id="rId5" Type="http://schemas.openxmlformats.org/officeDocument/2006/relationships/tags" Target="../tags/tag29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92.xml"/><Relationship Id="rId9" Type="http://schemas.openxmlformats.org/officeDocument/2006/relationships/tags" Target="../tags/tag29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8.xml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59.bin"/><Relationship Id="rId2" Type="http://schemas.openxmlformats.org/officeDocument/2006/relationships/tags" Target="../tags/tag300.xml"/><Relationship Id="rId1" Type="http://schemas.openxmlformats.org/officeDocument/2006/relationships/tags" Target="../tags/tag299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8.bin"/><Relationship Id="rId4" Type="http://schemas.openxmlformats.org/officeDocument/2006/relationships/notesSlide" Target="../notesSlides/notesSlide130.xml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61.bin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60.bin"/><Relationship Id="rId4" Type="http://schemas.openxmlformats.org/officeDocument/2006/relationships/notesSlide" Target="../notesSlides/notesSlide131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63.bin"/><Relationship Id="rId2" Type="http://schemas.openxmlformats.org/officeDocument/2006/relationships/tags" Target="../tags/tag304.xml"/><Relationship Id="rId1" Type="http://schemas.openxmlformats.org/officeDocument/2006/relationships/tags" Target="../tags/tag303.x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62.bin"/><Relationship Id="rId4" Type="http://schemas.openxmlformats.org/officeDocument/2006/relationships/notesSlide" Target="../notesSlides/notesSlide132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65.bin"/><Relationship Id="rId2" Type="http://schemas.openxmlformats.org/officeDocument/2006/relationships/tags" Target="../tags/tag306.xml"/><Relationship Id="rId1" Type="http://schemas.openxmlformats.org/officeDocument/2006/relationships/tags" Target="../tags/tag305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4.bin"/><Relationship Id="rId4" Type="http://schemas.openxmlformats.org/officeDocument/2006/relationships/notesSlide" Target="../notesSlides/notesSlide133.xml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67.bin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6.bin"/><Relationship Id="rId4" Type="http://schemas.openxmlformats.org/officeDocument/2006/relationships/notesSlide" Target="../notesSlides/notesSlide134.xml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69.bin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8.bin"/><Relationship Id="rId4" Type="http://schemas.openxmlformats.org/officeDocument/2006/relationships/notesSlide" Target="../notesSlides/notesSlide135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1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2.xml"/><Relationship Id="rId5" Type="http://schemas.openxmlformats.org/officeDocument/2006/relationships/image" Target="../media/image58.emf"/><Relationship Id="rId4" Type="http://schemas.openxmlformats.org/officeDocument/2006/relationships/oleObject" Target="../embeddings/oleObject70.bin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tags" Target="../tags/tag315.xml"/><Relationship Id="rId7" Type="http://schemas.openxmlformats.org/officeDocument/2006/relationships/oleObject" Target="../embeddings/oleObject71.bin"/><Relationship Id="rId2" Type="http://schemas.openxmlformats.org/officeDocument/2006/relationships/tags" Target="../tags/tag314.xml"/><Relationship Id="rId1" Type="http://schemas.openxmlformats.org/officeDocument/2006/relationships/tags" Target="../tags/tag313.xml"/><Relationship Id="rId6" Type="http://schemas.openxmlformats.org/officeDocument/2006/relationships/notesSlide" Target="../notesSlides/notesSlide138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60.wmf"/><Relationship Id="rId4" Type="http://schemas.openxmlformats.org/officeDocument/2006/relationships/tags" Target="../tags/tag316.xml"/><Relationship Id="rId9" Type="http://schemas.openxmlformats.org/officeDocument/2006/relationships/oleObject" Target="../embeddings/oleObject72.bin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8.xml"/><Relationship Id="rId1" Type="http://schemas.openxmlformats.org/officeDocument/2006/relationships/tags" Target="../tags/tag317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73.bin"/><Relationship Id="rId4" Type="http://schemas.openxmlformats.org/officeDocument/2006/relationships/notesSlide" Target="../notesSlides/notesSlide139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0.xml"/><Relationship Id="rId1" Type="http://schemas.openxmlformats.org/officeDocument/2006/relationships/tags" Target="../tags/tag319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74.bin"/><Relationship Id="rId4" Type="http://schemas.openxmlformats.org/officeDocument/2006/relationships/notesSlide" Target="../notesSlides/notesSlide140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2.xml"/><Relationship Id="rId1" Type="http://schemas.openxmlformats.org/officeDocument/2006/relationships/tags" Target="../tags/tag321.x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75.bin"/><Relationship Id="rId4" Type="http://schemas.openxmlformats.org/officeDocument/2006/relationships/notesSlide" Target="../notesSlides/notesSlide141.xml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tags" Target="../tags/tag325.xml"/><Relationship Id="rId7" Type="http://schemas.openxmlformats.org/officeDocument/2006/relationships/image" Target="../media/image64.wmf"/><Relationship Id="rId2" Type="http://schemas.openxmlformats.org/officeDocument/2006/relationships/tags" Target="../tags/tag324.xml"/><Relationship Id="rId1" Type="http://schemas.openxmlformats.org/officeDocument/2006/relationships/tags" Target="../tags/tag323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66.wmf"/><Relationship Id="rId5" Type="http://schemas.openxmlformats.org/officeDocument/2006/relationships/notesSlide" Target="../notesSlides/notesSlide142.xml"/><Relationship Id="rId10" Type="http://schemas.openxmlformats.org/officeDocument/2006/relationships/oleObject" Target="../embeddings/oleObject78.bin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65.wmf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9.bin"/><Relationship Id="rId4" Type="http://schemas.openxmlformats.org/officeDocument/2006/relationships/notesSlide" Target="../notesSlides/notesSlide143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9.xml"/><Relationship Id="rId1" Type="http://schemas.openxmlformats.org/officeDocument/2006/relationships/tags" Target="../tags/tag328.x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80.bin"/><Relationship Id="rId4" Type="http://schemas.openxmlformats.org/officeDocument/2006/relationships/notesSlide" Target="../notesSlides/notesSlide144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81.bin"/><Relationship Id="rId4" Type="http://schemas.openxmlformats.org/officeDocument/2006/relationships/notesSlide" Target="../notesSlides/notesSlide145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3.xml"/><Relationship Id="rId1" Type="http://schemas.openxmlformats.org/officeDocument/2006/relationships/tags" Target="../tags/tag332.xml"/><Relationship Id="rId4" Type="http://schemas.openxmlformats.org/officeDocument/2006/relationships/notesSlide" Target="../notesSlides/notesSlide146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tags" Target="../tags/tag336.xml"/><Relationship Id="rId7" Type="http://schemas.openxmlformats.org/officeDocument/2006/relationships/image" Target="../media/image70.wmf"/><Relationship Id="rId2" Type="http://schemas.openxmlformats.org/officeDocument/2006/relationships/tags" Target="../tags/tag335.xml"/><Relationship Id="rId1" Type="http://schemas.openxmlformats.org/officeDocument/2006/relationships/tags" Target="../tags/tag334.xml"/><Relationship Id="rId6" Type="http://schemas.openxmlformats.org/officeDocument/2006/relationships/oleObject" Target="../embeddings/oleObject82.bin"/><Relationship Id="rId5" Type="http://schemas.openxmlformats.org/officeDocument/2006/relationships/notesSlide" Target="../notesSlides/notesSlide147.xml"/><Relationship Id="rId4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8.xml"/><Relationship Id="rId1" Type="http://schemas.openxmlformats.org/officeDocument/2006/relationships/tags" Target="../tags/tag337.xml"/><Relationship Id="rId4" Type="http://schemas.openxmlformats.org/officeDocument/2006/relationships/notesSlide" Target="../notesSlides/notesSlide148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tags" Target="../tags/tag341.xml"/><Relationship Id="rId7" Type="http://schemas.openxmlformats.org/officeDocument/2006/relationships/image" Target="../media/image71.wmf"/><Relationship Id="rId2" Type="http://schemas.openxmlformats.org/officeDocument/2006/relationships/tags" Target="../tags/tag340.xml"/><Relationship Id="rId1" Type="http://schemas.openxmlformats.org/officeDocument/2006/relationships/tags" Target="../tags/tag339.xml"/><Relationship Id="rId6" Type="http://schemas.openxmlformats.org/officeDocument/2006/relationships/oleObject" Target="../embeddings/oleObject83.bin"/><Relationship Id="rId5" Type="http://schemas.openxmlformats.org/officeDocument/2006/relationships/notesSlide" Target="../notesSlides/notesSlide149.xml"/><Relationship Id="rId4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2.xml"/><Relationship Id="rId5" Type="http://schemas.openxmlformats.org/officeDocument/2006/relationships/image" Target="../media/image72.wmf"/><Relationship Id="rId4" Type="http://schemas.openxmlformats.org/officeDocument/2006/relationships/oleObject" Target="../embeddings/oleObject84.bin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tags" Target="../tags/tag345.xml"/><Relationship Id="rId7" Type="http://schemas.openxmlformats.org/officeDocument/2006/relationships/image" Target="../media/image73.wmf"/><Relationship Id="rId2" Type="http://schemas.openxmlformats.org/officeDocument/2006/relationships/tags" Target="../tags/tag344.xml"/><Relationship Id="rId1" Type="http://schemas.openxmlformats.org/officeDocument/2006/relationships/tags" Target="../tags/tag343.xml"/><Relationship Id="rId6" Type="http://schemas.openxmlformats.org/officeDocument/2006/relationships/oleObject" Target="../embeddings/oleObject85.bin"/><Relationship Id="rId5" Type="http://schemas.openxmlformats.org/officeDocument/2006/relationships/notesSlide" Target="../notesSlides/notesSlide151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74.wmf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tags" Target="../tags/tag348.xml"/><Relationship Id="rId2" Type="http://schemas.openxmlformats.org/officeDocument/2006/relationships/tags" Target="../tags/tag347.xml"/><Relationship Id="rId1" Type="http://schemas.openxmlformats.org/officeDocument/2006/relationships/tags" Target="../tags/tag346.xml"/><Relationship Id="rId5" Type="http://schemas.openxmlformats.org/officeDocument/2006/relationships/notesSlide" Target="../notesSlides/notesSlide152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43200"/>
            <a:ext cx="8077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i="1" dirty="0"/>
              <a:t>Digital Design and Computer Architecture</a:t>
            </a:r>
            <a:r>
              <a:rPr lang="en-US" sz="2600" b="1" dirty="0"/>
              <a:t>: ARM® Edition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3226713"/>
            <a:ext cx="8077200" cy="8930"/>
          </a:xfrm>
          <a:prstGeom prst="line">
            <a:avLst/>
          </a:prstGeom>
          <a:ln w="349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91000" y="3226713"/>
            <a:ext cx="472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Sarah L. Harris and David Money Harris</a:t>
            </a:r>
          </a:p>
        </p:txBody>
      </p:sp>
    </p:spTree>
    <p:extLst>
      <p:ext uri="{BB962C8B-B14F-4D97-AF65-F5344CB8AC3E}">
        <p14:creationId xmlns:p14="http://schemas.microsoft.com/office/powerpoint/2010/main" val="53468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295400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hlinkClick r:id="rId4" action="ppaction://hlinksldjump"/>
              </a:rPr>
              <a:t>Introduction</a:t>
            </a:r>
            <a:endParaRPr lang="en-US" b="1" dirty="0"/>
          </a:p>
          <a:p>
            <a:r>
              <a:rPr lang="en-US" b="1" dirty="0">
                <a:hlinkClick r:id="rId5" action="ppaction://hlinksldjump"/>
              </a:rPr>
              <a:t>Boolean Equations</a:t>
            </a:r>
            <a:endParaRPr lang="en-US" b="1" dirty="0"/>
          </a:p>
          <a:p>
            <a:r>
              <a:rPr lang="en-US" b="1" dirty="0">
                <a:hlinkClick r:id="rId6" action="ppaction://hlinksldjump"/>
              </a:rPr>
              <a:t>Boolean Algebra</a:t>
            </a:r>
            <a:endParaRPr lang="en-US" b="1" dirty="0"/>
          </a:p>
          <a:p>
            <a:pPr lvl="1"/>
            <a:r>
              <a:rPr lang="en-US" b="1" dirty="0">
                <a:hlinkClick r:id="rId7" action="ppaction://hlinksldjump"/>
              </a:rPr>
              <a:t>De Morgan Theorem</a:t>
            </a:r>
            <a:endParaRPr lang="en-US" b="1" dirty="0"/>
          </a:p>
          <a:p>
            <a:pPr lvl="1"/>
            <a:r>
              <a:rPr lang="en-US" b="1" dirty="0" err="1">
                <a:hlinkClick r:id="rId8" action="ppaction://hlinksldjump"/>
              </a:rPr>
              <a:t>Buble</a:t>
            </a:r>
            <a:r>
              <a:rPr lang="en-US" b="1" dirty="0">
                <a:hlinkClick r:id="rId8" action="ppaction://hlinksldjump"/>
              </a:rPr>
              <a:t> Pushing</a:t>
            </a:r>
            <a:endParaRPr lang="en-US" b="1" dirty="0"/>
          </a:p>
          <a:p>
            <a:r>
              <a:rPr lang="en-US" b="1" dirty="0">
                <a:hlinkClick r:id="rId9" action="ppaction://hlinksldjump"/>
              </a:rPr>
              <a:t>From Logic to Gates</a:t>
            </a:r>
            <a:endParaRPr lang="en-US" b="1" dirty="0"/>
          </a:p>
          <a:p>
            <a:r>
              <a:rPr lang="en-US" b="1" dirty="0"/>
              <a:t>Multilevel Combinational Logic</a:t>
            </a:r>
          </a:p>
          <a:p>
            <a:r>
              <a:rPr lang="en-US" b="1" dirty="0">
                <a:solidFill>
                  <a:srgbClr val="FF0000"/>
                </a:solidFill>
              </a:rPr>
              <a:t>X’s and Z’s</a:t>
            </a:r>
            <a:r>
              <a:rPr lang="en-US" b="1" dirty="0"/>
              <a:t>, Oh My</a:t>
            </a:r>
          </a:p>
          <a:p>
            <a:r>
              <a:rPr lang="en-US" b="1" dirty="0">
                <a:solidFill>
                  <a:srgbClr val="FF0000"/>
                </a:solidFill>
                <a:hlinkClick r:id="rId10" action="ppaction://hlinksldjump"/>
              </a:rPr>
              <a:t>Karnaugh Maps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hlinkClick r:id="rId11" action="ppaction://hlinksldjump"/>
              </a:rPr>
              <a:t>Combinational Building Blocks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  <a:hlinkClick r:id="rId12" action="ppaction://hlinksldjump"/>
              </a:rPr>
              <a:t>Timing</a:t>
            </a:r>
            <a:endParaRPr lang="en-US" dirty="0">
              <a:solidFill>
                <a:srgbClr val="FF0000"/>
              </a:solidFill>
            </a:endParaRPr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Chapter 2 :: Topics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491" y="1066800"/>
            <a:ext cx="1732109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81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63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1219200"/>
            <a:ext cx="7620000" cy="49530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dirty="0"/>
              <a:t>A logic circuit is composed of:</a:t>
            </a:r>
          </a:p>
          <a:p>
            <a:pPr>
              <a:spcBef>
                <a:spcPts val="0"/>
              </a:spcBef>
            </a:pPr>
            <a:r>
              <a:rPr lang="en-US" dirty="0"/>
              <a:t>Inputs</a:t>
            </a:r>
          </a:p>
          <a:p>
            <a:pPr>
              <a:spcBef>
                <a:spcPts val="0"/>
              </a:spcBef>
            </a:pPr>
            <a:r>
              <a:rPr lang="en-US" dirty="0"/>
              <a:t>Outputs</a:t>
            </a:r>
          </a:p>
          <a:p>
            <a:pPr>
              <a:spcBef>
                <a:spcPts val="0"/>
              </a:spcBef>
            </a:pPr>
            <a:r>
              <a:rPr lang="en-US" dirty="0"/>
              <a:t>Functional specification</a:t>
            </a:r>
          </a:p>
          <a:p>
            <a:pPr>
              <a:spcBef>
                <a:spcPts val="0"/>
              </a:spcBef>
            </a:pPr>
            <a:r>
              <a:rPr lang="en-US" dirty="0"/>
              <a:t>Timing specification</a:t>
            </a:r>
          </a:p>
        </p:txBody>
      </p:sp>
      <p:graphicFrame>
        <p:nvGraphicFramePr>
          <p:cNvPr id="757764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01001834"/>
              </p:ext>
            </p:extLst>
          </p:nvPr>
        </p:nvGraphicFramePr>
        <p:xfrm>
          <a:off x="1371600" y="3886200"/>
          <a:ext cx="6585172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890000" imgH="504000" progId="Visio.Drawing.6">
                  <p:embed/>
                </p:oleObj>
              </mc:Choice>
              <mc:Fallback>
                <p:oleObj name="VISIO" r:id="rId5" imgW="1890000" imgH="504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886200"/>
                        <a:ext cx="6585172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893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39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609600" y="1143000"/>
            <a:ext cx="7620000" cy="4953000"/>
          </a:xfrm>
        </p:spPr>
        <p:txBody>
          <a:bodyPr/>
          <a:lstStyle/>
          <a:p>
            <a:r>
              <a:rPr lang="en-US" dirty="0"/>
              <a:t>Nodes</a:t>
            </a:r>
          </a:p>
          <a:p>
            <a:pPr lvl="1"/>
            <a:r>
              <a:rPr lang="en-US" dirty="0"/>
              <a:t>Inputs: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</a:p>
          <a:p>
            <a:pPr lvl="1"/>
            <a:r>
              <a:rPr lang="en-US" dirty="0"/>
              <a:t>Outputs: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</a:p>
          <a:p>
            <a:pPr lvl="1"/>
            <a:r>
              <a:rPr lang="en-US" dirty="0"/>
              <a:t>Internal: n1</a:t>
            </a:r>
          </a:p>
          <a:p>
            <a:r>
              <a:rPr lang="en-US" dirty="0"/>
              <a:t>Circuit elements</a:t>
            </a:r>
          </a:p>
          <a:p>
            <a:pPr lvl="1"/>
            <a:r>
              <a:rPr lang="en-US" dirty="0"/>
              <a:t>E1, E2, E3</a:t>
            </a:r>
          </a:p>
          <a:p>
            <a:pPr lvl="1"/>
            <a:r>
              <a:rPr lang="en-US" dirty="0"/>
              <a:t>Each a circuit</a:t>
            </a:r>
          </a:p>
        </p:txBody>
      </p:sp>
      <p:graphicFrame>
        <p:nvGraphicFramePr>
          <p:cNvPr id="859141" name="Object 5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902572"/>
              </p:ext>
            </p:extLst>
          </p:nvPr>
        </p:nvGraphicFramePr>
        <p:xfrm>
          <a:off x="4267200" y="1981200"/>
          <a:ext cx="4495800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990080" imgH="847080" progId="Visio.Drawing.6">
                  <p:embed/>
                </p:oleObj>
              </mc:Choice>
              <mc:Fallback>
                <p:oleObj name="VISIO" r:id="rId5" imgW="1990080" imgH="847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981200"/>
                        <a:ext cx="4495800" cy="1914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Circuits</a:t>
            </a:r>
          </a:p>
        </p:txBody>
      </p:sp>
    </p:spTree>
    <p:extLst>
      <p:ext uri="{BB962C8B-B14F-4D97-AF65-F5344CB8AC3E}">
        <p14:creationId xmlns:p14="http://schemas.microsoft.com/office/powerpoint/2010/main" val="2257296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63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1066800"/>
            <a:ext cx="7620000" cy="4953000"/>
          </a:xfrm>
        </p:spPr>
        <p:txBody>
          <a:bodyPr/>
          <a:lstStyle/>
          <a:p>
            <a:r>
              <a:rPr lang="en-US" b="1" dirty="0"/>
              <a:t>Combinational Logic</a:t>
            </a:r>
          </a:p>
          <a:p>
            <a:pPr lvl="1"/>
            <a:r>
              <a:rPr lang="en-US" sz="2400" dirty="0" err="1"/>
              <a:t>Memoryless</a:t>
            </a:r>
            <a:endParaRPr lang="en-US" sz="2400" dirty="0"/>
          </a:p>
          <a:p>
            <a:pPr lvl="1"/>
            <a:r>
              <a:rPr lang="en-US" sz="2400" dirty="0"/>
              <a:t>Outputs determined by current values of inputs</a:t>
            </a:r>
          </a:p>
          <a:p>
            <a:r>
              <a:rPr lang="en-US" b="1" dirty="0"/>
              <a:t>Sequential Logic</a:t>
            </a:r>
          </a:p>
          <a:p>
            <a:pPr lvl="1"/>
            <a:r>
              <a:rPr lang="en-US" sz="2400" dirty="0"/>
              <a:t>Has memory</a:t>
            </a:r>
          </a:p>
          <a:p>
            <a:pPr lvl="1"/>
            <a:r>
              <a:rPr lang="en-US" sz="2400" dirty="0"/>
              <a:t>Outputs determined by previous and current values of inputs</a:t>
            </a:r>
          </a:p>
        </p:txBody>
      </p:sp>
      <p:graphicFrame>
        <p:nvGraphicFramePr>
          <p:cNvPr id="860164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93894380"/>
              </p:ext>
            </p:extLst>
          </p:nvPr>
        </p:nvGraphicFramePr>
        <p:xfrm>
          <a:off x="2461419" y="4230688"/>
          <a:ext cx="5287962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890000" imgH="504000" progId="Visio.Drawing.6">
                  <p:embed/>
                </p:oleObj>
              </mc:Choice>
              <mc:Fallback>
                <p:oleObj name="VISIO" r:id="rId5" imgW="1890000" imgH="504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419" y="4230688"/>
                        <a:ext cx="5287962" cy="14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Types of Logic Circuits</a:t>
            </a:r>
          </a:p>
        </p:txBody>
      </p:sp>
    </p:spTree>
    <p:extLst>
      <p:ext uri="{BB962C8B-B14F-4D97-AF65-F5344CB8AC3E}">
        <p14:creationId xmlns:p14="http://schemas.microsoft.com/office/powerpoint/2010/main" val="349065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9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685800" y="1066800"/>
            <a:ext cx="7696200" cy="4953000"/>
          </a:xfrm>
        </p:spPr>
        <p:txBody>
          <a:bodyPr/>
          <a:lstStyle/>
          <a:p>
            <a:r>
              <a:rPr lang="en-US" dirty="0"/>
              <a:t>Every element is combinational</a:t>
            </a:r>
          </a:p>
          <a:p>
            <a:r>
              <a:rPr lang="en-US" dirty="0"/>
              <a:t>Every node is either an input or connects to </a:t>
            </a:r>
            <a:r>
              <a:rPr lang="en-US" i="1" dirty="0"/>
              <a:t>exactly one </a:t>
            </a:r>
            <a:r>
              <a:rPr lang="en-US" dirty="0"/>
              <a:t>output</a:t>
            </a:r>
          </a:p>
          <a:p>
            <a:r>
              <a:rPr lang="en-US" dirty="0"/>
              <a:t>The circuit contains no cyclic paths</a:t>
            </a:r>
          </a:p>
          <a:p>
            <a:r>
              <a:rPr lang="en-US" b="1" dirty="0"/>
              <a:t>Example:</a:t>
            </a:r>
          </a:p>
          <a:p>
            <a:pPr>
              <a:spcAft>
                <a:spcPts val="800"/>
              </a:spcAft>
              <a:buFontTx/>
              <a:buNone/>
            </a:pPr>
            <a:endParaRPr lang="en-US" sz="2400" dirty="0">
              <a:solidFill>
                <a:schemeClr val="accent2"/>
              </a:solidFill>
            </a:endParaRPr>
          </a:p>
        </p:txBody>
      </p:sp>
      <p:graphicFrame>
        <p:nvGraphicFramePr>
          <p:cNvPr id="766980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09907821"/>
              </p:ext>
            </p:extLst>
          </p:nvPr>
        </p:nvGraphicFramePr>
        <p:xfrm>
          <a:off x="3468687" y="3657600"/>
          <a:ext cx="3084513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834840" imgH="549000" progId="Visio.Drawing.6">
                  <p:embed/>
                </p:oleObj>
              </mc:Choice>
              <mc:Fallback>
                <p:oleObj name="VISIO" r:id="rId5" imgW="834840" imgH="549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687" y="3657600"/>
                        <a:ext cx="3084513" cy="202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8229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chemeClr val="bg1"/>
                </a:solidFill>
                <a:latin typeface="+mj-lt"/>
              </a:rPr>
              <a:t>Rules of Combinational Composition</a:t>
            </a:r>
          </a:p>
        </p:txBody>
      </p:sp>
    </p:spTree>
    <p:extLst>
      <p:ext uri="{BB962C8B-B14F-4D97-AF65-F5344CB8AC3E}">
        <p14:creationId xmlns:p14="http://schemas.microsoft.com/office/powerpoint/2010/main" val="1667510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1143000"/>
            <a:ext cx="7772400" cy="4953000"/>
          </a:xfrm>
        </p:spPr>
        <p:txBody>
          <a:bodyPr>
            <a:normAutofit/>
          </a:bodyPr>
          <a:lstStyle/>
          <a:p>
            <a:r>
              <a:rPr lang="en-US" dirty="0"/>
              <a:t>Functional specification of outputs in terms of inputs</a:t>
            </a:r>
          </a:p>
          <a:p>
            <a:r>
              <a:rPr lang="en-US" b="1" dirty="0">
                <a:solidFill>
                  <a:srgbClr val="0070C0"/>
                </a:solidFill>
              </a:rPr>
              <a:t>Example:    </a:t>
            </a:r>
            <a:r>
              <a:rPr lang="en-US" sz="2800" i="1" dirty="0"/>
              <a:t>S</a:t>
            </a:r>
            <a:r>
              <a:rPr lang="en-US" sz="2800" dirty="0"/>
              <a:t>     = F(</a:t>
            </a:r>
            <a:r>
              <a:rPr lang="en-US" sz="2800" i="1" dirty="0"/>
              <a:t>A</a:t>
            </a:r>
            <a:r>
              <a:rPr lang="en-US" sz="2800" dirty="0"/>
              <a:t>, </a:t>
            </a:r>
            <a:r>
              <a:rPr lang="en-US" sz="2800" i="1" dirty="0"/>
              <a:t>B</a:t>
            </a:r>
            <a:r>
              <a:rPr lang="en-US" sz="2800" dirty="0"/>
              <a:t>, </a:t>
            </a:r>
            <a:r>
              <a:rPr lang="en-US" sz="2800" i="1" dirty="0" err="1"/>
              <a:t>C</a:t>
            </a:r>
            <a:r>
              <a:rPr lang="en-US" sz="2800" baseline="-25000" dirty="0" err="1"/>
              <a:t>in</a:t>
            </a:r>
            <a:r>
              <a:rPr lang="en-US" sz="2800" dirty="0"/>
              <a:t>)</a:t>
            </a:r>
          </a:p>
          <a:p>
            <a:pPr>
              <a:buFontTx/>
              <a:buNone/>
            </a:pPr>
            <a:r>
              <a:rPr lang="en-US" sz="2800" i="1" dirty="0"/>
              <a:t>                  	     </a:t>
            </a:r>
            <a:r>
              <a:rPr lang="en-US" sz="2800" i="1" dirty="0" err="1"/>
              <a:t>C</a:t>
            </a:r>
            <a:r>
              <a:rPr lang="en-US" sz="2800" baseline="-25000" dirty="0" err="1"/>
              <a:t>out</a:t>
            </a:r>
            <a:r>
              <a:rPr lang="en-US" sz="2800" dirty="0"/>
              <a:t> = F(</a:t>
            </a:r>
            <a:r>
              <a:rPr lang="en-US" sz="2800" i="1" dirty="0"/>
              <a:t>A</a:t>
            </a:r>
            <a:r>
              <a:rPr lang="en-US" sz="2800" dirty="0"/>
              <a:t>, </a:t>
            </a:r>
            <a:r>
              <a:rPr lang="en-US" sz="2800" i="1" dirty="0"/>
              <a:t>B</a:t>
            </a:r>
            <a:r>
              <a:rPr lang="en-US" sz="2800" dirty="0"/>
              <a:t>, </a:t>
            </a:r>
            <a:r>
              <a:rPr lang="en-US" sz="2800" i="1" dirty="0" err="1"/>
              <a:t>C</a:t>
            </a:r>
            <a:r>
              <a:rPr lang="en-US" sz="2800" baseline="-25000" dirty="0" err="1"/>
              <a:t>in</a:t>
            </a:r>
            <a:r>
              <a:rPr lang="en-US" sz="2800" dirty="0"/>
              <a:t>) </a:t>
            </a:r>
          </a:p>
        </p:txBody>
      </p:sp>
      <p:graphicFrame>
        <p:nvGraphicFramePr>
          <p:cNvPr id="888836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9969951"/>
              </p:ext>
            </p:extLst>
          </p:nvPr>
        </p:nvGraphicFramePr>
        <p:xfrm>
          <a:off x="2362200" y="3240405"/>
          <a:ext cx="4191000" cy="2703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247040" imgH="805320" progId="Visio.Drawing.6">
                  <p:embed/>
                </p:oleObj>
              </mc:Choice>
              <mc:Fallback>
                <p:oleObj name="VISIO" r:id="rId5" imgW="1247040" imgH="8053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240405"/>
                        <a:ext cx="4191000" cy="2703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Equations</a:t>
            </a:r>
          </a:p>
        </p:txBody>
      </p:sp>
    </p:spTree>
    <p:extLst>
      <p:ext uri="{BB962C8B-B14F-4D97-AF65-F5344CB8AC3E}">
        <p14:creationId xmlns:p14="http://schemas.microsoft.com/office/powerpoint/2010/main" val="4137612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043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609600" y="938984"/>
            <a:ext cx="8308258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Complement</a:t>
            </a:r>
            <a:r>
              <a:rPr lang="en-US" sz="2800" dirty="0"/>
              <a:t>: variable with a bar over it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dirty="0">
                <a:solidFill>
                  <a:schemeClr val="accent1"/>
                </a:solidFill>
              </a:rPr>
              <a:t>    </a:t>
            </a:r>
            <a:r>
              <a:rPr lang="en-US" sz="2800" b="1" i="1" dirty="0">
                <a:solidFill>
                  <a:schemeClr val="accent1"/>
                </a:solidFill>
              </a:rPr>
              <a:t>A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B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C</a:t>
            </a:r>
          </a:p>
          <a:p>
            <a:pPr>
              <a:lnSpc>
                <a:spcPct val="90000"/>
              </a:lnSpc>
            </a:pPr>
            <a:r>
              <a:rPr lang="en-US" sz="2800" b="1" dirty="0"/>
              <a:t>Literal</a:t>
            </a:r>
            <a:r>
              <a:rPr lang="en-US" sz="2800" dirty="0"/>
              <a:t>: variable or its complement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b="1" dirty="0">
                <a:solidFill>
                  <a:schemeClr val="accent1"/>
                </a:solidFill>
              </a:rPr>
              <a:t>    </a:t>
            </a:r>
            <a:r>
              <a:rPr lang="en-US" sz="2800" b="1" i="1" dirty="0">
                <a:solidFill>
                  <a:schemeClr val="accent1"/>
                </a:solidFill>
              </a:rPr>
              <a:t>A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A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B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B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C</a:t>
            </a:r>
            <a:endParaRPr lang="en-US" sz="2800" b="1" dirty="0">
              <a:solidFill>
                <a:schemeClr val="accent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b="1" dirty="0" err="1"/>
              <a:t>Implicant</a:t>
            </a:r>
            <a:r>
              <a:rPr lang="en-US" sz="2800" dirty="0"/>
              <a:t>: product of literals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   </a:t>
            </a:r>
            <a:r>
              <a:rPr lang="en-US" sz="2800" b="1" i="1" dirty="0">
                <a:solidFill>
                  <a:schemeClr val="accent1"/>
                </a:solidFill>
              </a:rPr>
              <a:t>ABC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AC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BC</a:t>
            </a:r>
          </a:p>
          <a:p>
            <a:pPr>
              <a:lnSpc>
                <a:spcPct val="90000"/>
              </a:lnSpc>
            </a:pPr>
            <a:r>
              <a:rPr lang="en-US" sz="2800" b="1" dirty="0" err="1"/>
              <a:t>Minterm</a:t>
            </a:r>
            <a:r>
              <a:rPr lang="en-US" sz="2800" dirty="0"/>
              <a:t>: product that includes all input variables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   </a:t>
            </a:r>
            <a:r>
              <a:rPr lang="en-US" sz="2800" b="1" i="1" dirty="0">
                <a:solidFill>
                  <a:schemeClr val="accent1"/>
                </a:solidFill>
              </a:rPr>
              <a:t>ABC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ABC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ABC</a:t>
            </a:r>
          </a:p>
          <a:p>
            <a:pPr>
              <a:lnSpc>
                <a:spcPct val="90000"/>
              </a:lnSpc>
            </a:pPr>
            <a:r>
              <a:rPr lang="en-US" sz="2800" b="1" dirty="0" err="1"/>
              <a:t>Maxterm</a:t>
            </a:r>
            <a:r>
              <a:rPr lang="en-US" sz="2800" dirty="0"/>
              <a:t>: sum that includes all input variables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</a:t>
            </a:r>
            <a:r>
              <a:rPr lang="en-US" sz="2800" b="1" dirty="0">
                <a:solidFill>
                  <a:schemeClr val="accent1"/>
                </a:solidFill>
              </a:rPr>
              <a:t>   </a:t>
            </a:r>
            <a:r>
              <a:rPr lang="en-US" sz="2800" b="1" i="1" dirty="0">
                <a:solidFill>
                  <a:schemeClr val="accent1"/>
                </a:solidFill>
              </a:rPr>
              <a:t>(A+B+C)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(A+B+C)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(A+B+C)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900" b="1" i="1" dirty="0">
              <a:solidFill>
                <a:schemeClr val="accent1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1900" b="1" i="1" dirty="0" err="1">
                <a:solidFill>
                  <a:schemeClr val="accent1"/>
                </a:solidFill>
              </a:rPr>
              <a:t>Tham</a:t>
            </a:r>
            <a:r>
              <a:rPr lang="en-US" sz="1900" b="1" i="1" dirty="0">
                <a:solidFill>
                  <a:schemeClr val="accent1"/>
                </a:solidFill>
              </a:rPr>
              <a:t> </a:t>
            </a:r>
            <a:r>
              <a:rPr lang="en-US" sz="1900" b="1" i="1" dirty="0" err="1">
                <a:solidFill>
                  <a:schemeClr val="accent1"/>
                </a:solidFill>
              </a:rPr>
              <a:t>khảo</a:t>
            </a:r>
            <a:r>
              <a:rPr lang="en-US" sz="1900" b="1" i="1" dirty="0">
                <a:solidFill>
                  <a:schemeClr val="accent1"/>
                </a:solidFill>
              </a:rPr>
              <a:t>:</a:t>
            </a:r>
            <a:r>
              <a:rPr lang="en-US" sz="1900" b="1" i="1" dirty="0">
                <a:solidFill>
                  <a:schemeClr val="accent1"/>
                </a:solidFill>
                <a:hlinkClick r:id="rId21"/>
              </a:rPr>
              <a:t> https://www.geeksforgeeks.org/canonical-and-standard-form/</a:t>
            </a:r>
            <a:endParaRPr lang="en-US" sz="1900" b="1" i="1" dirty="0">
              <a:solidFill>
                <a:schemeClr val="accent1"/>
              </a:solidFill>
            </a:endParaRPr>
          </a:p>
        </p:txBody>
      </p:sp>
      <p:sp>
        <p:nvSpPr>
          <p:cNvPr id="1111044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1839683" y="1409283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066800" y="16002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447800" y="1409286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954690" y="2263393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447800" y="2263393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49" name="Line 9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209800" y="2263393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0" name="Line 10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513952" y="3107453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1" name="Line 11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874856" y="3107453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2" name="Line 12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457848" y="3957377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3" name="Line 13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067448" y="3957377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4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2296048" y="3957377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5" name="Line 1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1600200" y="4811489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6" name="Line 16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2514600" y="4811489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7" name="Line 17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3276600" y="4811489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8" name="Line 18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3886200" y="4811489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1059" name="Line 19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4267200" y="4811489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Some Definitions</a:t>
            </a:r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26C24D65-7BD3-46C5-860A-4AFD6AF4A6ED}"/>
              </a:ext>
            </a:extLst>
          </p:cNvPr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1077683" y="1421012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6326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210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62214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38400" y="6019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F(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 =</a:t>
            </a:r>
            <a:endParaRPr lang="en-US" sz="2400" b="1" i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Sum-of-Products (SOP) Form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679891"/>
              </p:ext>
            </p:extLst>
          </p:nvPr>
        </p:nvGraphicFramePr>
        <p:xfrm>
          <a:off x="2514600" y="3962400"/>
          <a:ext cx="4332174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766520" imgH="808560" progId="Visio.Drawing.6">
                  <p:embed/>
                </p:oleObj>
              </mc:Choice>
              <mc:Fallback>
                <p:oleObj name="VISIO" r:id="rId6" imgW="1766520" imgH="808560" progId="Visio.Drawing.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14600" y="3962400"/>
                        <a:ext cx="4332174" cy="198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" y="9144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equations can be written in SOP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minterm</a:t>
            </a:r>
            <a:endParaRPr lang="en-US" sz="2800" b="1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03439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210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62214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38400" y="6019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F(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 =</a:t>
            </a:r>
            <a:endParaRPr lang="en-US" sz="2400" b="1" i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Sum-of-Products (SOP) Form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085388"/>
              </p:ext>
            </p:extLst>
          </p:nvPr>
        </p:nvGraphicFramePr>
        <p:xfrm>
          <a:off x="2514600" y="3962400"/>
          <a:ext cx="4332174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766520" imgH="808560" progId="Visio.Drawing.6">
                  <p:embed/>
                </p:oleObj>
              </mc:Choice>
              <mc:Fallback>
                <p:oleObj name="VISIO" r:id="rId6" imgW="1766520" imgH="808560" progId="Visio.Drawing.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14600" y="3962400"/>
                        <a:ext cx="4332174" cy="198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" y="9144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equations can be written in SOP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minterm</a:t>
            </a:r>
            <a:endParaRPr lang="en-US" sz="2800" b="1" dirty="0">
              <a:latin typeface="+mj-lt"/>
              <a:cs typeface="Arial" charset="0"/>
            </a:endParaRP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a product (AND) of literals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TRUE for that row (and only that row)</a:t>
            </a:r>
          </a:p>
        </p:txBody>
      </p:sp>
    </p:spTree>
    <p:extLst>
      <p:ext uri="{BB962C8B-B14F-4D97-AF65-F5344CB8AC3E}">
        <p14:creationId xmlns:p14="http://schemas.microsoft.com/office/powerpoint/2010/main" val="217409529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210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62214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38400" y="6019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F(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 =</a:t>
            </a:r>
            <a:endParaRPr lang="en-US" sz="2400" b="1" i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Sum-of-Products (SOP) Form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996139"/>
              </p:ext>
            </p:extLst>
          </p:nvPr>
        </p:nvGraphicFramePr>
        <p:xfrm>
          <a:off x="2514600" y="3962400"/>
          <a:ext cx="4332174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766520" imgH="808560" progId="Visio.Drawing.6">
                  <p:embed/>
                </p:oleObj>
              </mc:Choice>
              <mc:Fallback>
                <p:oleObj name="VISIO" r:id="rId6" imgW="1766520" imgH="808560" progId="Visio.Drawing.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14600" y="3962400"/>
                        <a:ext cx="4332174" cy="198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7200" y="9144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equations can be written in SOP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minterm</a:t>
            </a:r>
            <a:endParaRPr lang="en-US" sz="2800" b="1" dirty="0">
              <a:latin typeface="+mj-lt"/>
              <a:cs typeface="Arial" charset="0"/>
            </a:endParaRP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a product (AND) of literals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TRUE for that row (and only that row)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Form function by </a:t>
            </a:r>
            <a:r>
              <a:rPr lang="en-US" sz="2800" dirty="0" err="1">
                <a:latin typeface="+mj-lt"/>
                <a:cs typeface="Arial" charset="0"/>
              </a:rPr>
              <a:t>ORing</a:t>
            </a:r>
            <a:r>
              <a:rPr lang="en-US" sz="2800" dirty="0">
                <a:latin typeface="+mj-lt"/>
                <a:cs typeface="Arial" charset="0"/>
              </a:rPr>
              <a:t> </a:t>
            </a:r>
            <a:r>
              <a:rPr lang="en-US" sz="2800" dirty="0" err="1">
                <a:latin typeface="+mj-lt"/>
                <a:cs typeface="Arial" charset="0"/>
              </a:rPr>
              <a:t>minterms</a:t>
            </a:r>
            <a:r>
              <a:rPr lang="en-US" sz="2800" dirty="0">
                <a:latin typeface="+mj-lt"/>
                <a:cs typeface="Arial" charset="0"/>
              </a:rPr>
              <a:t> where output is 1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Thus, a sum (OR) of products (AND terms)</a:t>
            </a:r>
          </a:p>
        </p:txBody>
      </p:sp>
    </p:spTree>
    <p:extLst>
      <p:ext uri="{BB962C8B-B14F-4D97-AF65-F5344CB8AC3E}">
        <p14:creationId xmlns:p14="http://schemas.microsoft.com/office/powerpoint/2010/main" val="119696195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979" name="Rectangle 3" hidden="1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/>
              <a:t>Sum-of-Products Form</a:t>
            </a:r>
          </a:p>
        </p:txBody>
      </p:sp>
      <p:sp>
        <p:nvSpPr>
          <p:cNvPr id="1022978" name="Rectangle 2" hidden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298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8400" y="6019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F(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 =</a:t>
            </a:r>
            <a:endParaRPr lang="en-US" sz="2400" b="1" i="1" dirty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854369"/>
              </p:ext>
            </p:extLst>
          </p:nvPr>
        </p:nvGraphicFramePr>
        <p:xfrm>
          <a:off x="2514600" y="3962400"/>
          <a:ext cx="433228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766520" imgH="808560" progId="Visio.Drawing.6">
                  <p:embed/>
                </p:oleObj>
              </mc:Choice>
              <mc:Fallback>
                <p:oleObj name="VISIO" r:id="rId7" imgW="1766520" imgH="808560" progId="Visio.Drawing.6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962400"/>
                        <a:ext cx="4332288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Sum-of-Products (SOP) Form</a:t>
            </a: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7200" y="9144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equations can be written in SOP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minterm</a:t>
            </a:r>
            <a:endParaRPr lang="en-US" sz="2800" b="1" dirty="0">
              <a:latin typeface="+mj-lt"/>
              <a:cs typeface="Arial" charset="0"/>
            </a:endParaRP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a product (AND) of literals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TRUE for that row (and only that row)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Form function by </a:t>
            </a:r>
            <a:r>
              <a:rPr lang="en-US" sz="2800" dirty="0" err="1">
                <a:latin typeface="+mj-lt"/>
                <a:cs typeface="Arial" charset="0"/>
              </a:rPr>
              <a:t>ORing</a:t>
            </a:r>
            <a:r>
              <a:rPr lang="en-US" sz="2800" dirty="0">
                <a:latin typeface="+mj-lt"/>
                <a:cs typeface="Arial" charset="0"/>
              </a:rPr>
              <a:t> </a:t>
            </a:r>
            <a:r>
              <a:rPr lang="en-US" sz="2800" dirty="0" err="1">
                <a:latin typeface="+mj-lt"/>
                <a:cs typeface="Arial" charset="0"/>
              </a:rPr>
              <a:t>minterms</a:t>
            </a:r>
            <a:r>
              <a:rPr lang="en-US" sz="2800" dirty="0">
                <a:latin typeface="+mj-lt"/>
                <a:cs typeface="Arial" charset="0"/>
              </a:rPr>
              <a:t> where output is 1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Thus, a sum (OR) of products (AND terms)</a:t>
            </a:r>
          </a:p>
        </p:txBody>
      </p:sp>
    </p:spTree>
    <p:extLst>
      <p:ext uri="{BB962C8B-B14F-4D97-AF65-F5344CB8AC3E}">
        <p14:creationId xmlns:p14="http://schemas.microsoft.com/office/powerpoint/2010/main" val="320111157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979" name="Rectangle 3" hidden="1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/>
              <a:t>Sum-of-Products Form</a:t>
            </a:r>
          </a:p>
        </p:txBody>
      </p:sp>
      <p:sp>
        <p:nvSpPr>
          <p:cNvPr id="1022978" name="Rectangle 2" hidden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102298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62200" y="54102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F(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 = AB + AB = </a:t>
            </a:r>
            <a:r>
              <a:rPr lang="el-GR" sz="2400" b="1" dirty="0">
                <a:latin typeface="Times New Roman" pitchFamily="18" charset="0"/>
                <a:cs typeface="Arial" charset="0"/>
              </a:rPr>
              <a:t>Σ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(1, 3)</a:t>
            </a:r>
            <a:endParaRPr lang="en-US" sz="2400" b="1" i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2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191000" y="5486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780390"/>
              </p:ext>
            </p:extLst>
          </p:nvPr>
        </p:nvGraphicFramePr>
        <p:xfrm>
          <a:off x="2514600" y="3581400"/>
          <a:ext cx="4332288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766520" imgH="808560" progId="Visio.Drawing.6">
                  <p:embed/>
                </p:oleObj>
              </mc:Choice>
              <mc:Fallback>
                <p:oleObj name="VISIO" r:id="rId8" imgW="1766520" imgH="808560" progId="Visio.Drawing.6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81400"/>
                        <a:ext cx="4332288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7200" y="9144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equations can be written in SOP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minterm</a:t>
            </a:r>
            <a:endParaRPr lang="en-US" sz="2800" b="1" dirty="0">
              <a:latin typeface="+mj-lt"/>
              <a:cs typeface="Arial" charset="0"/>
            </a:endParaRP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a product (AND) of literals </a:t>
            </a:r>
            <a:r>
              <a:rPr lang="en-US" sz="1600" b="1" dirty="0">
                <a:latin typeface="+mj-lt"/>
                <a:cs typeface="Arial" charset="0"/>
              </a:rPr>
              <a:t>(direct conversion of input)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</a:t>
            </a:r>
            <a:r>
              <a:rPr lang="en-US" sz="2800" dirty="0" err="1">
                <a:latin typeface="+mj-lt"/>
                <a:cs typeface="Arial" charset="0"/>
              </a:rPr>
              <a:t>minterm</a:t>
            </a:r>
            <a:r>
              <a:rPr lang="en-US" sz="2800" dirty="0">
                <a:latin typeface="+mj-lt"/>
                <a:cs typeface="Arial" charset="0"/>
              </a:rPr>
              <a:t> is TRUE for that row (and only that row)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Form function by </a:t>
            </a:r>
            <a:r>
              <a:rPr lang="en-US" sz="2800" dirty="0" err="1">
                <a:latin typeface="+mj-lt"/>
                <a:cs typeface="Arial" charset="0"/>
              </a:rPr>
              <a:t>ORing</a:t>
            </a:r>
            <a:r>
              <a:rPr lang="en-US" sz="2800" dirty="0">
                <a:latin typeface="+mj-lt"/>
                <a:cs typeface="Arial" charset="0"/>
              </a:rPr>
              <a:t> </a:t>
            </a:r>
            <a:r>
              <a:rPr lang="en-US" sz="2800" dirty="0" err="1">
                <a:latin typeface="+mj-lt"/>
                <a:cs typeface="Arial" charset="0"/>
              </a:rPr>
              <a:t>minterms</a:t>
            </a:r>
            <a:r>
              <a:rPr lang="en-US" sz="2800" dirty="0">
                <a:latin typeface="+mj-lt"/>
                <a:cs typeface="Arial" charset="0"/>
              </a:rPr>
              <a:t> where output is 1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Thus, a sum (OR) of products (AND terms)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Sum-of-Products (SOP) Form</a:t>
            </a:r>
          </a:p>
        </p:txBody>
      </p:sp>
    </p:spTree>
    <p:extLst>
      <p:ext uri="{BB962C8B-B14F-4D97-AF65-F5344CB8AC3E}">
        <p14:creationId xmlns:p14="http://schemas.microsoft.com/office/powerpoint/2010/main" val="155105363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93959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9906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Boolean equations can be written in POS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maxterm</a:t>
            </a:r>
            <a:endParaRPr lang="en-US" sz="2800" b="1" dirty="0">
              <a:latin typeface="+mj-lt"/>
              <a:cs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Product-of-Sums (POS) Form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259496"/>
              </p:ext>
            </p:extLst>
          </p:nvPr>
        </p:nvGraphicFramePr>
        <p:xfrm>
          <a:off x="2133600" y="3505200"/>
          <a:ext cx="4572000" cy="2150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94960" imgH="844560" progId="Visio.Drawing.6">
                  <p:embed/>
                </p:oleObj>
              </mc:Choice>
              <mc:Fallback>
                <p:oleObj name="VISIO" r:id="rId5" imgW="1794960" imgH="844560" progId="Visio.Drawing.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3600" y="3505200"/>
                        <a:ext cx="4572000" cy="2150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642909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93959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7200" y="9906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Boolean equations can be written in POS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maxterm</a:t>
            </a:r>
            <a:endParaRPr lang="en-US" sz="2800" b="1" dirty="0">
              <a:latin typeface="+mj-lt"/>
              <a:cs typeface="Arial" charset="0"/>
            </a:endParaRP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 </a:t>
            </a:r>
            <a:r>
              <a:rPr lang="en-US" sz="2800" dirty="0" err="1">
                <a:latin typeface="+mj-lt"/>
                <a:cs typeface="Arial" charset="0"/>
              </a:rPr>
              <a:t>maxterm</a:t>
            </a:r>
            <a:r>
              <a:rPr lang="en-US" sz="2800" dirty="0">
                <a:latin typeface="+mj-lt"/>
                <a:cs typeface="Arial" charset="0"/>
              </a:rPr>
              <a:t> is a sum (OR) of literals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</a:t>
            </a:r>
            <a:r>
              <a:rPr lang="en-US" sz="2800" dirty="0" err="1">
                <a:latin typeface="+mj-lt"/>
                <a:cs typeface="Arial" charset="0"/>
              </a:rPr>
              <a:t>maxterm</a:t>
            </a:r>
            <a:r>
              <a:rPr lang="en-US" sz="2800" dirty="0">
                <a:latin typeface="+mj-lt"/>
                <a:cs typeface="Arial" charset="0"/>
              </a:rPr>
              <a:t> is </a:t>
            </a:r>
            <a:r>
              <a:rPr lang="en-US" sz="2800" b="1" dirty="0">
                <a:latin typeface="+mj-lt"/>
                <a:cs typeface="Arial" charset="0"/>
              </a:rPr>
              <a:t>FALSE</a:t>
            </a:r>
            <a:r>
              <a:rPr lang="en-US" sz="2800" dirty="0">
                <a:latin typeface="+mj-lt"/>
                <a:cs typeface="Arial" charset="0"/>
              </a:rPr>
              <a:t> for that row (and only that row)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Product-of-Sums (POS) Form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911800"/>
              </p:ext>
            </p:extLst>
          </p:nvPr>
        </p:nvGraphicFramePr>
        <p:xfrm>
          <a:off x="2133600" y="3505200"/>
          <a:ext cx="4572000" cy="2150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94960" imgH="844560" progId="Visio.Drawing.6">
                  <p:embed/>
                </p:oleObj>
              </mc:Choice>
              <mc:Fallback>
                <p:oleObj name="VISIO" r:id="rId5" imgW="1794960" imgH="844560" progId="Visio.Drawing.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3600" y="3505200"/>
                        <a:ext cx="4572000" cy="2150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04967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93957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28800" y="54102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F(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,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 = 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 + 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A + B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= </a:t>
            </a:r>
            <a:r>
              <a:rPr lang="el-GR" sz="2400" b="1" dirty="0">
                <a:latin typeface="Times New Roman" pitchFamily="18" charset="0"/>
                <a:cs typeface="Arial" charset="0"/>
              </a:rPr>
              <a:t>Π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(0, 2)</a:t>
            </a:r>
          </a:p>
        </p:txBody>
      </p:sp>
      <p:sp>
        <p:nvSpPr>
          <p:cNvPr id="893958" name="Line 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744595" y="5486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3959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7200" y="9906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All Boolean equations can be written in POS form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row has a </a:t>
            </a:r>
            <a:r>
              <a:rPr lang="en-US" sz="2800" b="1" dirty="0" err="1">
                <a:latin typeface="+mj-lt"/>
                <a:cs typeface="Arial" charset="0"/>
              </a:rPr>
              <a:t>maxterm</a:t>
            </a:r>
            <a:endParaRPr lang="en-US" sz="2800" b="1" dirty="0">
              <a:latin typeface="+mj-lt"/>
              <a:cs typeface="Arial" charset="0"/>
            </a:endParaRP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A maxterm is a sum (OR) of literals </a:t>
            </a:r>
            <a:r>
              <a:rPr lang="en-US" dirty="0">
                <a:latin typeface="+mj-lt"/>
                <a:cs typeface="Arial" charset="0"/>
              </a:rPr>
              <a:t>(</a:t>
            </a:r>
            <a:r>
              <a:rPr lang="en-US" b="1" dirty="0">
                <a:latin typeface="+mj-lt"/>
                <a:cs typeface="Arial" charset="0"/>
              </a:rPr>
              <a:t>complement of inputs</a:t>
            </a:r>
            <a:r>
              <a:rPr lang="en-US" dirty="0">
                <a:latin typeface="+mj-lt"/>
                <a:cs typeface="Arial" charset="0"/>
              </a:rPr>
              <a:t>)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Each </a:t>
            </a:r>
            <a:r>
              <a:rPr lang="en-US" sz="2800" dirty="0" err="1">
                <a:latin typeface="+mj-lt"/>
                <a:cs typeface="Arial" charset="0"/>
              </a:rPr>
              <a:t>maxterm</a:t>
            </a:r>
            <a:r>
              <a:rPr lang="en-US" sz="2800" dirty="0">
                <a:latin typeface="+mj-lt"/>
                <a:cs typeface="Arial" charset="0"/>
              </a:rPr>
              <a:t> is </a:t>
            </a:r>
            <a:r>
              <a:rPr lang="en-US" sz="2800" b="1" dirty="0">
                <a:latin typeface="+mj-lt"/>
                <a:cs typeface="Arial" charset="0"/>
              </a:rPr>
              <a:t>FALSE</a:t>
            </a:r>
            <a:r>
              <a:rPr lang="en-US" sz="2800" dirty="0">
                <a:latin typeface="+mj-lt"/>
                <a:cs typeface="Arial" charset="0"/>
              </a:rPr>
              <a:t> for that row (and only that row)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Form function by </a:t>
            </a:r>
            <a:r>
              <a:rPr lang="en-US" sz="2800" dirty="0" err="1">
                <a:latin typeface="+mj-lt"/>
                <a:cs typeface="Arial" charset="0"/>
              </a:rPr>
              <a:t>ANDing</a:t>
            </a:r>
            <a:r>
              <a:rPr lang="en-US" sz="2800" dirty="0">
                <a:latin typeface="+mj-lt"/>
                <a:cs typeface="Arial" charset="0"/>
              </a:rPr>
              <a:t> </a:t>
            </a:r>
            <a:r>
              <a:rPr lang="en-US" sz="2800" dirty="0" err="1">
                <a:latin typeface="+mj-lt"/>
                <a:cs typeface="Arial" charset="0"/>
              </a:rPr>
              <a:t>maxterms</a:t>
            </a:r>
            <a:r>
              <a:rPr lang="en-US" sz="2800" dirty="0">
                <a:latin typeface="+mj-lt"/>
                <a:cs typeface="Arial" charset="0"/>
              </a:rPr>
              <a:t> where output is </a:t>
            </a:r>
            <a:r>
              <a:rPr lang="en-US" sz="2800" b="1" dirty="0">
                <a:latin typeface="+mj-lt"/>
                <a:cs typeface="Arial" charset="0"/>
              </a:rPr>
              <a:t>0</a:t>
            </a:r>
          </a:p>
          <a:p>
            <a:pPr marL="342900" indent="-342900">
              <a:buFontTx/>
              <a:buChar char="•"/>
            </a:pPr>
            <a:r>
              <a:rPr lang="en-US" sz="2800" dirty="0">
                <a:latin typeface="+mj-lt"/>
                <a:cs typeface="Arial" charset="0"/>
              </a:rPr>
              <a:t>Thus, a product (AND) of sums (OR terms)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Product-of-Sums (POS) Form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911800"/>
              </p:ext>
            </p:extLst>
          </p:nvPr>
        </p:nvGraphicFramePr>
        <p:xfrm>
          <a:off x="2133600" y="3505200"/>
          <a:ext cx="4572000" cy="2150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794960" imgH="844560" progId="Visio.Drawing.6">
                  <p:embed/>
                </p:oleObj>
              </mc:Choice>
              <mc:Fallback>
                <p:oleObj name="VISIO" r:id="rId7" imgW="1794960" imgH="844560" progId="Visio.Drawing.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3600" y="3505200"/>
                        <a:ext cx="4572000" cy="21505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04967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5292" name="Object 12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2876998"/>
              </p:ext>
            </p:extLst>
          </p:nvPr>
        </p:nvGraphicFramePr>
        <p:xfrm>
          <a:off x="4343400" y="3505200"/>
          <a:ext cx="2446337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732600" imgH="752040" progId="Visio.Drawing.6">
                  <p:embed/>
                </p:oleObj>
              </mc:Choice>
              <mc:Fallback>
                <p:oleObj name="VISIO" r:id="rId7" imgW="732600" imgH="752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505200"/>
                        <a:ext cx="2446337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5284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657600" y="2133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528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4419600" y="1676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Equations Example</a:t>
            </a:r>
          </a:p>
        </p:txBody>
      </p:sp>
      <p:sp>
        <p:nvSpPr>
          <p:cNvPr id="7" name="Rectangle 3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533400" y="990600"/>
            <a:ext cx="7924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You are going to the cafeteria for lunch</a:t>
            </a:r>
          </a:p>
          <a:p>
            <a:pPr lvl="1"/>
            <a:r>
              <a:rPr lang="en-US"/>
              <a:t>You won’t eat lunch (E) </a:t>
            </a:r>
          </a:p>
          <a:p>
            <a:pPr lvl="1"/>
            <a:r>
              <a:rPr lang="en-US"/>
              <a:t>If it’s not open (O) or</a:t>
            </a:r>
          </a:p>
          <a:p>
            <a:pPr lvl="1"/>
            <a:r>
              <a:rPr lang="en-US"/>
              <a:t>If they only serve corndogs (C)</a:t>
            </a:r>
          </a:p>
          <a:p>
            <a:r>
              <a:rPr lang="en-US"/>
              <a:t>Write a truth table for determining if you will eat lunch (E).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25191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2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990600"/>
            <a:ext cx="7924800" cy="4953000"/>
          </a:xfrm>
        </p:spPr>
        <p:txBody>
          <a:bodyPr/>
          <a:lstStyle/>
          <a:p>
            <a:r>
              <a:rPr lang="en-US" dirty="0"/>
              <a:t>You are going to the cafeteria for lunch</a:t>
            </a:r>
          </a:p>
          <a:p>
            <a:pPr lvl="1"/>
            <a:r>
              <a:rPr lang="en-US" dirty="0"/>
              <a:t>You won’t eat lunch (E) </a:t>
            </a:r>
          </a:p>
          <a:p>
            <a:pPr lvl="1"/>
            <a:r>
              <a:rPr lang="en-US" dirty="0"/>
              <a:t>If it’s not open (O) or</a:t>
            </a:r>
          </a:p>
          <a:p>
            <a:pPr lvl="1"/>
            <a:r>
              <a:rPr lang="en-US" dirty="0"/>
              <a:t>If they only serve corndogs (C)</a:t>
            </a:r>
          </a:p>
          <a:p>
            <a:r>
              <a:rPr lang="en-US" dirty="0"/>
              <a:t>Write a truth table for determining if you will eat lunch (E).</a:t>
            </a:r>
          </a:p>
        </p:txBody>
      </p:sp>
      <p:graphicFrame>
        <p:nvGraphicFramePr>
          <p:cNvPr id="1025030" name="Object 6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19801324"/>
              </p:ext>
            </p:extLst>
          </p:nvPr>
        </p:nvGraphicFramePr>
        <p:xfrm>
          <a:off x="4335463" y="3505200"/>
          <a:ext cx="2446337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732600" imgH="752040" progId="Visio.Drawing.6">
                  <p:embed/>
                </p:oleObj>
              </mc:Choice>
              <mc:Fallback>
                <p:oleObj name="VISIO" r:id="rId7" imgW="732600" imgH="752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463" y="3505200"/>
                        <a:ext cx="2446337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28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657600" y="2133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2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419600" y="1600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Equations Example</a:t>
            </a:r>
          </a:p>
        </p:txBody>
      </p:sp>
    </p:spTree>
    <p:extLst>
      <p:ext uri="{BB962C8B-B14F-4D97-AF65-F5344CB8AC3E}">
        <p14:creationId xmlns:p14="http://schemas.microsoft.com/office/powerpoint/2010/main" val="279627617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94" name="Rectangle 2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457200" y="0"/>
            <a:ext cx="7010400" cy="889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SOP &amp; POS Form</a:t>
            </a:r>
          </a:p>
        </p:txBody>
      </p:sp>
      <p:sp>
        <p:nvSpPr>
          <p:cNvPr id="1108995" name="Rectangle 3"/>
          <p:cNvSpPr>
            <a:spLocks noGrp="1" noChangeArrowheads="1"/>
          </p:cNvSpPr>
          <p:nvPr>
            <p:ph type="body" sz="half" idx="4294967295"/>
            <p:custDataLst>
              <p:tags r:id="rId2"/>
            </p:custDataLst>
          </p:nvPr>
        </p:nvSpPr>
        <p:spPr>
          <a:xfrm>
            <a:off x="914400" y="990600"/>
            <a:ext cx="5638800" cy="4953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SOP – sum-of-products</a:t>
            </a:r>
          </a:p>
          <a:p>
            <a:endParaRPr lang="en-US" sz="2400" b="1" dirty="0">
              <a:solidFill>
                <a:srgbClr val="0070C0"/>
              </a:solidFill>
            </a:endParaRPr>
          </a:p>
          <a:p>
            <a:endParaRPr lang="en-US" sz="2400" b="1" dirty="0">
              <a:solidFill>
                <a:srgbClr val="0070C0"/>
              </a:solidFill>
            </a:endParaRPr>
          </a:p>
          <a:p>
            <a:endParaRPr lang="en-US" sz="2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POS – product-of-sums</a:t>
            </a:r>
          </a:p>
        </p:txBody>
      </p:sp>
      <p:graphicFrame>
        <p:nvGraphicFramePr>
          <p:cNvPr id="1109000" name="Object 8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59321570"/>
              </p:ext>
            </p:extLst>
          </p:nvPr>
        </p:nvGraphicFramePr>
        <p:xfrm>
          <a:off x="1371600" y="1371600"/>
          <a:ext cx="3810000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280880" imgH="737640" progId="Visio.Drawing.6">
                  <p:embed/>
                </p:oleObj>
              </mc:Choice>
              <mc:Fallback>
                <p:oleObj name="VISIO" r:id="rId7" imgW="1280880" imgH="737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371600"/>
                        <a:ext cx="3810000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9001" name="Object 9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42381878"/>
              </p:ext>
            </p:extLst>
          </p:nvPr>
        </p:nvGraphicFramePr>
        <p:xfrm>
          <a:off x="1371600" y="3733800"/>
          <a:ext cx="381000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287720" imgH="757080" progId="Visio.Drawing.6">
                  <p:embed/>
                </p:oleObj>
              </mc:Choice>
              <mc:Fallback>
                <p:oleObj name="VISIO" r:id="rId9" imgW="1287720" imgH="757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733800"/>
                        <a:ext cx="3810000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042238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6962" name="Object 18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1467628"/>
              </p:ext>
            </p:extLst>
          </p:nvPr>
        </p:nvGraphicFramePr>
        <p:xfrm>
          <a:off x="1524000" y="3810000"/>
          <a:ext cx="3386138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1287720" imgH="757080" progId="Visio.Drawing.6">
                  <p:embed/>
                </p:oleObj>
              </mc:Choice>
              <mc:Fallback>
                <p:oleObj name="VISIO" r:id="rId12" imgW="1287720" imgH="757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10000"/>
                        <a:ext cx="3386138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63" name="Object 19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9667334"/>
              </p:ext>
            </p:extLst>
          </p:nvPr>
        </p:nvGraphicFramePr>
        <p:xfrm>
          <a:off x="1447800" y="1355725"/>
          <a:ext cx="3657600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1280880" imgH="752040" progId="Visio.Drawing.6">
                  <p:embed/>
                </p:oleObj>
              </mc:Choice>
              <mc:Fallback>
                <p:oleObj name="VISIO" r:id="rId14" imgW="1280880" imgH="752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355725"/>
                        <a:ext cx="3657600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964" name="Rectangle 2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29200" y="45720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E 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= 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O + C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O + C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)(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O + C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dirty="0">
                <a:latin typeface="Times New Roman" pitchFamily="18" charset="0"/>
                <a:cs typeface="Arial" charset="0"/>
              </a:rPr>
              <a:t>   = </a:t>
            </a:r>
            <a:r>
              <a:rPr lang="el-GR" sz="2400" b="1" dirty="0">
                <a:latin typeface="Times New Roman" pitchFamily="18" charset="0"/>
                <a:cs typeface="Arial" charset="0"/>
              </a:rPr>
              <a:t>Π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(0, 1, 3)</a:t>
            </a:r>
          </a:p>
        </p:txBody>
      </p:sp>
      <p:sp>
        <p:nvSpPr>
          <p:cNvPr id="1106965" name="Line 21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7315200" y="4648200"/>
            <a:ext cx="1619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6" name="Line 22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7696200" y="4648200"/>
            <a:ext cx="1619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7" name="Line 23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8305800" y="4648200"/>
            <a:ext cx="1619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8" name="Rectangle 2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715000" y="2133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E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 = </a:t>
            </a:r>
            <a:r>
              <a:rPr lang="en-US" sz="2400" b="1" i="1" dirty="0">
                <a:latin typeface="Times New Roman" pitchFamily="18" charset="0"/>
                <a:cs typeface="Arial" charset="0"/>
              </a:rPr>
              <a:t>OC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Times New Roman" pitchFamily="18" charset="0"/>
                <a:cs typeface="Arial" charset="0"/>
              </a:rPr>
              <a:t>   = </a:t>
            </a:r>
            <a:r>
              <a:rPr lang="el-GR" sz="2400" b="1" dirty="0">
                <a:latin typeface="Times New Roman" pitchFamily="18" charset="0"/>
                <a:cs typeface="Arial" charset="0"/>
              </a:rPr>
              <a:t>Σ</a:t>
            </a:r>
            <a:r>
              <a:rPr lang="en-US" sz="2400" b="1" dirty="0">
                <a:latin typeface="Times New Roman" pitchFamily="18" charset="0"/>
                <a:cs typeface="Arial" charset="0"/>
              </a:rPr>
              <a:t>(2)</a:t>
            </a:r>
            <a:endParaRPr lang="en-US" sz="2400" b="1" i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106969" name="Line 25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6553200" y="2209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SOP &amp; POS Form</a:t>
            </a:r>
          </a:p>
        </p:txBody>
      </p:sp>
      <p:sp>
        <p:nvSpPr>
          <p:cNvPr id="13" name="Rectangle 3"/>
          <p:cNvSpPr txBox="1">
            <a:spLocks noChangeArrowheads="1"/>
          </p:cNvSpPr>
          <p:nvPr>
            <p:custDataLst>
              <p:tags r:id="rId9"/>
            </p:custDataLst>
          </p:nvPr>
        </p:nvSpPr>
        <p:spPr>
          <a:xfrm>
            <a:off x="914400" y="990600"/>
            <a:ext cx="5638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>
                <a:solidFill>
                  <a:srgbClr val="0070C0"/>
                </a:solidFill>
              </a:rPr>
              <a:t>SOP – sum-of-products</a:t>
            </a:r>
          </a:p>
          <a:p>
            <a:endParaRPr lang="en-US" sz="2400" b="1">
              <a:solidFill>
                <a:srgbClr val="0070C0"/>
              </a:solidFill>
            </a:endParaRPr>
          </a:p>
          <a:p>
            <a:endParaRPr lang="en-US" sz="2400" b="1">
              <a:solidFill>
                <a:srgbClr val="0070C0"/>
              </a:solidFill>
            </a:endParaRPr>
          </a:p>
          <a:p>
            <a:endParaRPr lang="en-US" sz="2400" b="1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400" b="1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sz="200" b="1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b="1">
                <a:solidFill>
                  <a:srgbClr val="0070C0"/>
                </a:solidFill>
              </a:rPr>
              <a:t>POS – product-of-sums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173928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3" name="Rectangle 5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533400" y="1143000"/>
            <a:ext cx="7924800" cy="4953000"/>
          </a:xfrm>
        </p:spPr>
        <p:txBody>
          <a:bodyPr>
            <a:normAutofit/>
          </a:bodyPr>
          <a:lstStyle/>
          <a:p>
            <a:r>
              <a:rPr lang="en-US" dirty="0"/>
              <a:t>Axioms (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) and theorems (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) to </a:t>
            </a:r>
            <a:r>
              <a:rPr lang="en-US" b="1" dirty="0"/>
              <a:t>simplify</a:t>
            </a:r>
            <a:r>
              <a:rPr lang="en-US" dirty="0"/>
              <a:t> Boolean equations</a:t>
            </a:r>
          </a:p>
          <a:p>
            <a:r>
              <a:rPr lang="en-US" dirty="0"/>
              <a:t>Like regular algebra, but simpler: variables have only two values (1 or 0)</a:t>
            </a:r>
          </a:p>
          <a:p>
            <a:r>
              <a:rPr lang="en-US" b="1" dirty="0"/>
              <a:t>Duality </a:t>
            </a:r>
            <a:r>
              <a:rPr lang="en-US" dirty="0"/>
              <a:t>(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) in axioms and theorems:</a:t>
            </a:r>
          </a:p>
          <a:p>
            <a:pPr lvl="1"/>
            <a:r>
              <a:rPr lang="en-US" sz="3200" dirty="0"/>
              <a:t>ANDs and ORs, 0’s and 1’s interchanged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Algebra</a:t>
            </a:r>
          </a:p>
        </p:txBody>
      </p:sp>
    </p:spTree>
    <p:extLst>
      <p:ext uri="{BB962C8B-B14F-4D97-AF65-F5344CB8AC3E}">
        <p14:creationId xmlns:p14="http://schemas.microsoft.com/office/powerpoint/2010/main" val="223658266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Axioms (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các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tiên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đề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780335"/>
              </p:ext>
            </p:extLst>
          </p:nvPr>
        </p:nvGraphicFramePr>
        <p:xfrm>
          <a:off x="304801" y="1356360"/>
          <a:ext cx="83819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Axiom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= 0 if B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≠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Binary Field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  <a:r>
                        <a:rPr lang="en-US" sz="2400" baseline="0" dirty="0"/>
                        <a:t>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0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</a:t>
                      </a:r>
                      <a:r>
                        <a:rPr lang="en-US" sz="2400" dirty="0"/>
                        <a:t>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</a:t>
                      </a:r>
                      <a:r>
                        <a:rPr lang="en-US" sz="2400" dirty="0"/>
                        <a:t> = 1 • 0</a:t>
                      </a:r>
                      <a:r>
                        <a:rPr lang="en-US" sz="2400" baseline="0" dirty="0"/>
                        <a:t>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2002536" y="2465832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76915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Axioms (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các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tiên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đề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688899"/>
              </p:ext>
            </p:extLst>
          </p:nvPr>
        </p:nvGraphicFramePr>
        <p:xfrm>
          <a:off x="304801" y="1356360"/>
          <a:ext cx="83819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Axiom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= 0 if B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≠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Binary Field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  <a:r>
                        <a:rPr lang="en-US" sz="2400" baseline="0" dirty="0"/>
                        <a:t>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0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</a:t>
                      </a:r>
                      <a:r>
                        <a:rPr lang="en-US" sz="2400" dirty="0"/>
                        <a:t>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</a:t>
                      </a:r>
                      <a:r>
                        <a:rPr lang="en-US" sz="2400" dirty="0"/>
                        <a:t> = 1 • 0</a:t>
                      </a:r>
                      <a:r>
                        <a:rPr lang="en-US" sz="2400" baseline="0" dirty="0"/>
                        <a:t>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62200" y="4495800"/>
            <a:ext cx="43861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Dual:</a:t>
            </a:r>
            <a:r>
              <a:rPr lang="en-US" sz="3200" dirty="0"/>
              <a:t>  Replace:	• with + </a:t>
            </a:r>
          </a:p>
          <a:p>
            <a:r>
              <a:rPr lang="en-US" sz="3200" dirty="0"/>
              <a:t>	  		0 with 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002536" y="2465832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76814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Axioms (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các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tiên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đề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628679"/>
              </p:ext>
            </p:extLst>
          </p:nvPr>
        </p:nvGraphicFramePr>
        <p:xfrm>
          <a:off x="304801" y="1356360"/>
          <a:ext cx="83819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Axiom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= 0 if B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≠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= 1 if B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≠</a:t>
                      </a:r>
                      <a:r>
                        <a:rPr lang="en-US" sz="240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Binary Field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  <a:r>
                        <a:rPr lang="en-US" sz="2400" baseline="0" dirty="0"/>
                        <a:t>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1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0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1 + 1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</a:t>
                      </a:r>
                      <a:r>
                        <a:rPr lang="en-US" sz="2400" dirty="0"/>
                        <a:t>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0 + 0</a:t>
                      </a:r>
                      <a:r>
                        <a:rPr lang="en-US" sz="2400" dirty="0"/>
                        <a:t>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A5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</a:t>
                      </a:r>
                      <a:r>
                        <a:rPr lang="en-US" sz="2400" dirty="0"/>
                        <a:t> = 1 • 0</a:t>
                      </a:r>
                      <a:r>
                        <a:rPr lang="en-US" sz="2400" baseline="0" dirty="0"/>
                        <a:t>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1 + 0</a:t>
                      </a:r>
                      <a:r>
                        <a:rPr lang="en-US" sz="2400" dirty="0"/>
                        <a:t> = 0 + 1</a:t>
                      </a:r>
                      <a:r>
                        <a:rPr lang="en-US" sz="2400" baseline="0" dirty="0"/>
                        <a:t>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AND/OR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62200" y="4495800"/>
            <a:ext cx="43861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Dual:</a:t>
            </a:r>
            <a:r>
              <a:rPr lang="en-US" sz="3200" dirty="0"/>
              <a:t>  Replace:	• with + </a:t>
            </a:r>
          </a:p>
          <a:p>
            <a:r>
              <a:rPr lang="en-US" sz="3200" dirty="0"/>
              <a:t>	  		0 with 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002536" y="2465832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440936" y="2474976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61955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One Variable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283514"/>
              </p:ext>
            </p:extLst>
          </p:nvPr>
        </p:nvGraphicFramePr>
        <p:xfrm>
          <a:off x="685801" y="1356360"/>
          <a:ext cx="75437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Identity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Null</a:t>
                      </a:r>
                      <a:r>
                        <a:rPr lang="en-US" sz="2400" baseline="0" dirty="0"/>
                        <a:t> Element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Idempotency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2837688" y="38404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67280" y="33832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367280" y="334264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36891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One Variable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188999"/>
              </p:ext>
            </p:extLst>
          </p:nvPr>
        </p:nvGraphicFramePr>
        <p:xfrm>
          <a:off x="685801" y="1356360"/>
          <a:ext cx="75437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Identity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Null</a:t>
                      </a:r>
                      <a:r>
                        <a:rPr lang="en-US" sz="2400" baseline="0" dirty="0"/>
                        <a:t> Element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Idempotency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62200" y="4495800"/>
            <a:ext cx="43861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Dual:</a:t>
            </a:r>
            <a:r>
              <a:rPr lang="en-US" sz="3200" dirty="0"/>
              <a:t>  Replace:	• with + </a:t>
            </a:r>
          </a:p>
          <a:p>
            <a:r>
              <a:rPr lang="en-US" sz="3200" dirty="0"/>
              <a:t>	  		0 with 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837688" y="38404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67280" y="33832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367280" y="334264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7320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One Variable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647338"/>
              </p:ext>
            </p:extLst>
          </p:nvPr>
        </p:nvGraphicFramePr>
        <p:xfrm>
          <a:off x="685801" y="1356360"/>
          <a:ext cx="75437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+ 0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Identity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+ 1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Null</a:t>
                      </a:r>
                      <a:r>
                        <a:rPr lang="en-US" sz="2400" baseline="0" dirty="0"/>
                        <a:t> Element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Idempotency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62200" y="4495800"/>
            <a:ext cx="43861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Dual:</a:t>
            </a:r>
            <a:r>
              <a:rPr lang="en-US" sz="3200" dirty="0"/>
              <a:t>  Replace:	• with + </a:t>
            </a:r>
          </a:p>
          <a:p>
            <a:r>
              <a:rPr lang="en-US" sz="3200" dirty="0"/>
              <a:t>	  		0 with 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837688" y="38404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0" y="3837432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706090" y="33832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06090" y="334264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98646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077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1 = B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+ 0 = B</a:t>
            </a:r>
          </a:p>
        </p:txBody>
      </p:sp>
      <p:sp>
        <p:nvSpPr>
          <p:cNvPr id="1027078" name="Oval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T1: Identity Theorem</a:t>
            </a:r>
          </a:p>
        </p:txBody>
      </p:sp>
    </p:spTree>
    <p:extLst>
      <p:ext uri="{BB962C8B-B14F-4D97-AF65-F5344CB8AC3E}">
        <p14:creationId xmlns:p14="http://schemas.microsoft.com/office/powerpoint/2010/main" val="26457659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7076" name="Object 4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2817532"/>
              </p:ext>
            </p:extLst>
          </p:nvPr>
        </p:nvGraphicFramePr>
        <p:xfrm>
          <a:off x="2590800" y="2490788"/>
          <a:ext cx="4114800" cy="282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12280" imgH="971280" progId="Visio.Drawing.6">
                  <p:embed/>
                </p:oleObj>
              </mc:Choice>
              <mc:Fallback>
                <p:oleObj name="VISIO" r:id="rId6" imgW="1412280" imgH="971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490788"/>
                        <a:ext cx="4114800" cy="282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077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1 = B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+ 0 = B</a:t>
            </a:r>
          </a:p>
        </p:txBody>
      </p:sp>
      <p:sp>
        <p:nvSpPr>
          <p:cNvPr id="1027078" name="Oval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T1: Identity Theorem</a:t>
            </a:r>
          </a:p>
        </p:txBody>
      </p:sp>
    </p:spTree>
    <p:extLst>
      <p:ext uri="{BB962C8B-B14F-4D97-AF65-F5344CB8AC3E}">
        <p14:creationId xmlns:p14="http://schemas.microsoft.com/office/powerpoint/2010/main" val="47027581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316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0 = 0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+ 1 = 1</a:t>
            </a:r>
          </a:p>
        </p:txBody>
      </p:sp>
      <p:sp>
        <p:nvSpPr>
          <p:cNvPr id="1037317" name="Oval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T2: Null Element Theorem</a:t>
            </a:r>
          </a:p>
        </p:txBody>
      </p:sp>
    </p:spTree>
    <p:extLst>
      <p:ext uri="{BB962C8B-B14F-4D97-AF65-F5344CB8AC3E}">
        <p14:creationId xmlns:p14="http://schemas.microsoft.com/office/powerpoint/2010/main" val="418626716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7318" name="Object 6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2137341"/>
              </p:ext>
            </p:extLst>
          </p:nvPr>
        </p:nvGraphicFramePr>
        <p:xfrm>
          <a:off x="2514600" y="2514600"/>
          <a:ext cx="4440238" cy="305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12280" imgH="971280" progId="Visio.Drawing.6">
                  <p:embed/>
                </p:oleObj>
              </mc:Choice>
              <mc:Fallback>
                <p:oleObj name="VISIO" r:id="rId6" imgW="1412280" imgH="971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514600"/>
                        <a:ext cx="4440238" cy="305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7316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0 = 0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+ 1 = 1</a:t>
            </a:r>
          </a:p>
        </p:txBody>
      </p:sp>
      <p:sp>
        <p:nvSpPr>
          <p:cNvPr id="1037317" name="Oval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T2: Null Element Theorem</a:t>
            </a:r>
          </a:p>
        </p:txBody>
      </p:sp>
    </p:spTree>
    <p:extLst>
      <p:ext uri="{BB962C8B-B14F-4D97-AF65-F5344CB8AC3E}">
        <p14:creationId xmlns:p14="http://schemas.microsoft.com/office/powerpoint/2010/main" val="385398177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36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</a:t>
            </a:r>
            <a:r>
              <a:rPr lang="en-US" sz="3200" dirty="0" err="1">
                <a:latin typeface="Times New Roman" pitchFamily="18" charset="0"/>
                <a:cs typeface="Arial" charset="0"/>
              </a:rPr>
              <a:t>B</a:t>
            </a:r>
            <a:r>
              <a:rPr lang="en-US" sz="3200" dirty="0">
                <a:latin typeface="Times New Roman" pitchFamily="18" charset="0"/>
                <a:cs typeface="Arial" charset="0"/>
              </a:rPr>
              <a:t> = B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B = B</a:t>
            </a:r>
          </a:p>
        </p:txBody>
      </p:sp>
      <p:sp>
        <p:nvSpPr>
          <p:cNvPr id="1039365" name="Oval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T3: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Idempotency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166437641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9366" name="Object 6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7977718"/>
              </p:ext>
            </p:extLst>
          </p:nvPr>
        </p:nvGraphicFramePr>
        <p:xfrm>
          <a:off x="2514600" y="2743200"/>
          <a:ext cx="4211638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12280" imgH="971280" progId="Visio.Drawing.6">
                  <p:embed/>
                </p:oleObj>
              </mc:Choice>
              <mc:Fallback>
                <p:oleObj name="VISIO" r:id="rId6" imgW="1412280" imgH="971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743200"/>
                        <a:ext cx="4211638" cy="289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36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</a:t>
            </a:r>
            <a:r>
              <a:rPr lang="en-US" sz="3200" dirty="0" err="1">
                <a:latin typeface="Times New Roman" pitchFamily="18" charset="0"/>
                <a:cs typeface="Arial" charset="0"/>
              </a:rPr>
              <a:t>B</a:t>
            </a:r>
            <a:r>
              <a:rPr lang="en-US" sz="3200" dirty="0">
                <a:latin typeface="Times New Roman" pitchFamily="18" charset="0"/>
                <a:cs typeface="Arial" charset="0"/>
              </a:rPr>
              <a:t> = B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B = B</a:t>
            </a:r>
          </a:p>
        </p:txBody>
      </p:sp>
      <p:sp>
        <p:nvSpPr>
          <p:cNvPr id="1039365" name="Oval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T3: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Idempotency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23796637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412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= B</a:t>
            </a:r>
          </a:p>
        </p:txBody>
      </p:sp>
      <p:sp>
        <p:nvSpPr>
          <p:cNvPr id="1041414" name="Line 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1295400" y="129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1415" name="Line 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295400" y="1219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T4: Identity Theorem</a:t>
            </a:r>
          </a:p>
        </p:txBody>
      </p:sp>
    </p:spTree>
    <p:extLst>
      <p:ext uri="{BB962C8B-B14F-4D97-AF65-F5344CB8AC3E}">
        <p14:creationId xmlns:p14="http://schemas.microsoft.com/office/powerpoint/2010/main" val="353791567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1413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3308676"/>
              </p:ext>
            </p:extLst>
          </p:nvPr>
        </p:nvGraphicFramePr>
        <p:xfrm>
          <a:off x="1981200" y="3276600"/>
          <a:ext cx="58674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612440" imgH="332640" progId="Visio.Drawing.6">
                  <p:embed/>
                </p:oleObj>
              </mc:Choice>
              <mc:Fallback>
                <p:oleObj name="VISIO" r:id="rId7" imgW="1612440" imgH="332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276600"/>
                        <a:ext cx="5867400" cy="1212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412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= B</a:t>
            </a:r>
          </a:p>
        </p:txBody>
      </p:sp>
      <p:sp>
        <p:nvSpPr>
          <p:cNvPr id="1041414" name="Line 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295400" y="129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1415" name="Line 7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295400" y="1219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T4: Identity Theorem</a:t>
            </a:r>
          </a:p>
        </p:txBody>
      </p:sp>
    </p:spTree>
    <p:extLst>
      <p:ext uri="{BB962C8B-B14F-4D97-AF65-F5344CB8AC3E}">
        <p14:creationId xmlns:p14="http://schemas.microsoft.com/office/powerpoint/2010/main" val="25381508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60" name="Line 4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2057400" y="129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3461" name="Line 5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057400" y="1905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3463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</a:t>
            </a:r>
            <a:r>
              <a:rPr lang="en-US" sz="3200" dirty="0" err="1">
                <a:latin typeface="Times New Roman" pitchFamily="18" charset="0"/>
                <a:cs typeface="Arial" charset="0"/>
              </a:rPr>
              <a:t>B</a:t>
            </a:r>
            <a:r>
              <a:rPr lang="en-US" sz="3200" dirty="0">
                <a:latin typeface="Times New Roman" pitchFamily="18" charset="0"/>
                <a:cs typeface="Arial" charset="0"/>
              </a:rPr>
              <a:t> = 0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B = 1</a:t>
            </a:r>
          </a:p>
        </p:txBody>
      </p:sp>
      <p:sp>
        <p:nvSpPr>
          <p:cNvPr id="1043464" name="Oval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T5: Complement Theorem</a:t>
            </a:r>
          </a:p>
        </p:txBody>
      </p:sp>
    </p:spTree>
    <p:extLst>
      <p:ext uri="{BB962C8B-B14F-4D97-AF65-F5344CB8AC3E}">
        <p14:creationId xmlns:p14="http://schemas.microsoft.com/office/powerpoint/2010/main" val="186912136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3462" name="Object 6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3118539"/>
              </p:ext>
            </p:extLst>
          </p:nvPr>
        </p:nvGraphicFramePr>
        <p:xfrm>
          <a:off x="2743200" y="2743200"/>
          <a:ext cx="3890963" cy="252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298160" imgH="842760" progId="Visio.Drawing.6">
                  <p:embed/>
                </p:oleObj>
              </mc:Choice>
              <mc:Fallback>
                <p:oleObj name="VISIO" r:id="rId8" imgW="1298160" imgH="842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43200"/>
                        <a:ext cx="3890963" cy="2525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3460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057400" y="1295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3461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057400" y="1905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43463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   </a:t>
            </a:r>
            <a:r>
              <a:rPr lang="en-US" sz="3200" dirty="0" err="1">
                <a:latin typeface="Times New Roman" pitchFamily="18" charset="0"/>
                <a:cs typeface="Arial" charset="0"/>
              </a:rPr>
              <a:t>B</a:t>
            </a:r>
            <a:r>
              <a:rPr lang="en-US" sz="3200" dirty="0">
                <a:latin typeface="Times New Roman" pitchFamily="18" charset="0"/>
                <a:cs typeface="Arial" charset="0"/>
              </a:rPr>
              <a:t> = 0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Times New Roman" pitchFamily="18" charset="0"/>
                <a:cs typeface="Arial" charset="0"/>
              </a:rPr>
              <a:t>B + B = 1</a:t>
            </a:r>
          </a:p>
        </p:txBody>
      </p:sp>
      <p:sp>
        <p:nvSpPr>
          <p:cNvPr id="1043464" name="Oval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52600" y="1447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T5: Complement Theorem</a:t>
            </a:r>
          </a:p>
        </p:txBody>
      </p:sp>
    </p:spTree>
    <p:extLst>
      <p:ext uri="{BB962C8B-B14F-4D97-AF65-F5344CB8AC3E}">
        <p14:creationId xmlns:p14="http://schemas.microsoft.com/office/powerpoint/2010/main" val="203396124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68759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Recap: Basic Boolean Theorems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955529"/>
              </p:ext>
            </p:extLst>
          </p:nvPr>
        </p:nvGraphicFramePr>
        <p:xfrm>
          <a:off x="685801" y="1356360"/>
          <a:ext cx="75437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1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+ 0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Identity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58">
                <a:tc>
                  <a:txBody>
                    <a:bodyPr/>
                    <a:lstStyle/>
                    <a:p>
                      <a:r>
                        <a:rPr lang="en-US" sz="2400" dirty="0"/>
                        <a:t>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0 = 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+ 1 = 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Null</a:t>
                      </a:r>
                      <a:r>
                        <a:rPr lang="en-US" sz="2400" baseline="0" dirty="0"/>
                        <a:t> Element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B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Idempotency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Involution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en-US" sz="2400" dirty="0"/>
                        <a:t>T5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0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B + B</a:t>
                      </a:r>
                      <a:r>
                        <a:rPr lang="en-US" sz="2400" dirty="0"/>
                        <a:t> = </a:t>
                      </a:r>
                      <a:r>
                        <a:rPr lang="en-US" sz="2400" baseline="0" dirty="0"/>
                        <a:t>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62200" y="4495800"/>
            <a:ext cx="43861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Dual:</a:t>
            </a:r>
            <a:r>
              <a:rPr lang="en-US" sz="3200" dirty="0"/>
              <a:t>  Replace:	• with + </a:t>
            </a:r>
          </a:p>
          <a:p>
            <a:r>
              <a:rPr lang="en-US" sz="3200" dirty="0"/>
              <a:t>	  		0 with 1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837688" y="38404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72000" y="3837432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706090" y="338328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706090" y="334264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24511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Several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Vars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723879"/>
              </p:ext>
            </p:extLst>
          </p:nvPr>
        </p:nvGraphicFramePr>
        <p:xfrm>
          <a:off x="838200" y="1397000"/>
          <a:ext cx="7391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B•C</a:t>
                      </a:r>
                      <a:r>
                        <a:rPr lang="en-US" sz="2400" baseline="0" dirty="0"/>
                        <a:t> = C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D = 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(C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(C + D) =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Distributivity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(B•C)</a:t>
                      </a:r>
                      <a:r>
                        <a:rPr lang="en-US" sz="2400" baseline="0" dirty="0"/>
                        <a:t>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(B•D) + (C•D)</a:t>
                      </a:r>
                      <a:r>
                        <a:rPr lang="en-US" sz="2400" baseline="0" dirty="0"/>
                        <a:t> =</a:t>
                      </a:r>
                    </a:p>
                    <a:p>
                      <a:r>
                        <a:rPr lang="en-US" sz="2400" baseline="0" dirty="0"/>
                        <a:t>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3831336" y="387705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508248" y="43434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508248" y="471220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77884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125133" y="5257800"/>
            <a:ext cx="54440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70C0"/>
                </a:solidFill>
              </a:rPr>
              <a:t>How do we prove these are true?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Several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Vars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786147"/>
              </p:ext>
            </p:extLst>
          </p:nvPr>
        </p:nvGraphicFramePr>
        <p:xfrm>
          <a:off x="838200" y="1397000"/>
          <a:ext cx="7391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B•C</a:t>
                      </a:r>
                      <a:r>
                        <a:rPr lang="en-US" sz="2400" baseline="0" dirty="0"/>
                        <a:t> = C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D = 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(C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(C + D) =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Distributivity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(B•C)</a:t>
                      </a:r>
                      <a:r>
                        <a:rPr lang="en-US" sz="2400" baseline="0" dirty="0"/>
                        <a:t>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(B•D) + (C•D)</a:t>
                      </a:r>
                      <a:r>
                        <a:rPr lang="en-US" sz="2400" baseline="0" dirty="0"/>
                        <a:t> =</a:t>
                      </a:r>
                    </a:p>
                    <a:p>
                      <a:r>
                        <a:rPr lang="en-US" sz="2400" baseline="0" dirty="0"/>
                        <a:t>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3822192" y="387705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508248" y="43434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508248" y="471220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56135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How to Prove	</a:t>
            </a:r>
          </a:p>
        </p:txBody>
      </p:sp>
      <p:sp>
        <p:nvSpPr>
          <p:cNvPr id="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09600" y="12192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cs typeface="Arial" charset="0"/>
              </a:rPr>
              <a:t>Method 1: </a:t>
            </a:r>
            <a:r>
              <a:rPr lang="en-US" sz="3200" dirty="0">
                <a:cs typeface="Arial" charset="0"/>
              </a:rPr>
              <a:t>Perfect induction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cs typeface="Arial" charset="0"/>
              </a:rPr>
              <a:t>Method 2: </a:t>
            </a:r>
            <a:r>
              <a:rPr lang="en-US" sz="3200" dirty="0">
                <a:cs typeface="Arial" charset="0"/>
              </a:rPr>
              <a:t>Use other theorems and axioms to simplify the equation</a:t>
            </a:r>
            <a:endParaRPr lang="en-US" sz="3200" b="1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3200" dirty="0">
                <a:cs typeface="Arial" charset="0"/>
              </a:rPr>
              <a:t>Make one side of the equation look like the other</a:t>
            </a:r>
            <a:endParaRPr lang="en-US" sz="3200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96553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Proof by Perfect Induction</a:t>
            </a:r>
          </a:p>
        </p:txBody>
      </p:sp>
      <p:sp>
        <p:nvSpPr>
          <p:cNvPr id="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1430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Also called: </a:t>
            </a:r>
            <a:r>
              <a:rPr lang="en-US" sz="3200" b="1" dirty="0">
                <a:latin typeface="+mj-lt"/>
                <a:cs typeface="Arial" charset="0"/>
              </a:rPr>
              <a:t>proof by exhaustion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Check every possible input value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If two expressions produce the same value for every possible input combination, the expressions are equal</a:t>
            </a:r>
          </a:p>
        </p:txBody>
      </p:sp>
    </p:spTree>
    <p:extLst>
      <p:ext uri="{BB962C8B-B14F-4D97-AF65-F5344CB8AC3E}">
        <p14:creationId xmlns:p14="http://schemas.microsoft.com/office/powerpoint/2010/main" val="339813181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Example: Proof by Perfect Induction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834500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B•C</a:t>
                      </a:r>
                      <a:r>
                        <a:rPr lang="en-US" sz="2400" baseline="0" dirty="0"/>
                        <a:t> = C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2971800" y="3352800"/>
            <a:ext cx="381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343400" y="2971800"/>
            <a:ext cx="0" cy="2133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00400" y="3352800"/>
            <a:ext cx="114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0         0</a:t>
            </a:r>
          </a:p>
          <a:p>
            <a:r>
              <a:rPr lang="en-US" sz="2400" dirty="0"/>
              <a:t>0         1</a:t>
            </a:r>
          </a:p>
          <a:p>
            <a:r>
              <a:rPr lang="en-US" sz="2400" dirty="0"/>
              <a:t>1         0</a:t>
            </a:r>
          </a:p>
          <a:p>
            <a:r>
              <a:rPr lang="en-US" sz="2400" dirty="0"/>
              <a:t>1         1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71800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B</a:t>
            </a:r>
            <a:r>
              <a:rPr lang="en-US" sz="2400" b="1" dirty="0"/>
              <a:t>         </a:t>
            </a:r>
            <a:r>
              <a:rPr lang="en-US" sz="2400" b="1" i="1" dirty="0"/>
              <a:t>C       BC	     CB</a:t>
            </a:r>
          </a:p>
        </p:txBody>
      </p:sp>
    </p:spTree>
    <p:extLst>
      <p:ext uri="{BB962C8B-B14F-4D97-AF65-F5344CB8AC3E}">
        <p14:creationId xmlns:p14="http://schemas.microsoft.com/office/powerpoint/2010/main" val="292932543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2971800" y="3352800"/>
            <a:ext cx="381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343400" y="2971800"/>
            <a:ext cx="0" cy="2133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48200" y="3352800"/>
            <a:ext cx="114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0         0</a:t>
            </a:r>
          </a:p>
          <a:p>
            <a:r>
              <a:rPr lang="en-US" sz="2400" dirty="0"/>
              <a:t>0         0</a:t>
            </a:r>
          </a:p>
          <a:p>
            <a:r>
              <a:rPr lang="en-US" sz="2400" dirty="0"/>
              <a:t>0         0</a:t>
            </a:r>
          </a:p>
          <a:p>
            <a:r>
              <a:rPr lang="en-US" sz="2400" dirty="0"/>
              <a:t>1         1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075064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B•C</a:t>
                      </a:r>
                      <a:r>
                        <a:rPr lang="en-US" sz="2400" baseline="0" dirty="0"/>
                        <a:t> = C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8759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Example: Proof by Perfect Induction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52800"/>
            <a:ext cx="114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0         0</a:t>
            </a:r>
          </a:p>
          <a:p>
            <a:r>
              <a:rPr lang="en-US" sz="2400" dirty="0"/>
              <a:t>0         1</a:t>
            </a:r>
          </a:p>
          <a:p>
            <a:r>
              <a:rPr lang="en-US" sz="2400" dirty="0"/>
              <a:t>1         0</a:t>
            </a:r>
          </a:p>
          <a:p>
            <a:r>
              <a:rPr lang="en-US" sz="2400" dirty="0"/>
              <a:t>1         1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71800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B</a:t>
            </a:r>
            <a:r>
              <a:rPr lang="en-US" sz="2400" b="1" dirty="0"/>
              <a:t>         </a:t>
            </a:r>
            <a:r>
              <a:rPr lang="en-US" sz="2400" b="1" i="1" dirty="0"/>
              <a:t>C       BC	     CB</a:t>
            </a:r>
          </a:p>
        </p:txBody>
      </p:sp>
    </p:spTree>
    <p:extLst>
      <p:ext uri="{BB962C8B-B14F-4D97-AF65-F5344CB8AC3E}">
        <p14:creationId xmlns:p14="http://schemas.microsoft.com/office/powerpoint/2010/main" val="4117797145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Several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Vars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85149"/>
              </p:ext>
            </p:extLst>
          </p:nvPr>
        </p:nvGraphicFramePr>
        <p:xfrm>
          <a:off x="838200" y="1397000"/>
          <a:ext cx="7391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B•C</a:t>
                      </a:r>
                      <a:r>
                        <a:rPr lang="en-US" sz="2400" baseline="0" dirty="0"/>
                        <a:t> = C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D = 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(C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(C + D) =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Distributivity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(B•C)</a:t>
                      </a:r>
                      <a:r>
                        <a:rPr lang="en-US" sz="2400" baseline="0" dirty="0"/>
                        <a:t>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(B•D) + (C•D)</a:t>
                      </a:r>
                      <a:r>
                        <a:rPr lang="en-US" sz="2400" baseline="0" dirty="0"/>
                        <a:t> =</a:t>
                      </a:r>
                    </a:p>
                    <a:p>
                      <a:r>
                        <a:rPr lang="en-US" sz="2400" baseline="0" dirty="0"/>
                        <a:t>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3886200" y="38862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508248" y="43434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508248" y="471220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78405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T7: Associativity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24471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D = 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(C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90238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T8: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Distributivity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077118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(C + D) =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Distributivity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282694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T9: Covering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76938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4582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T9: Covering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2621280"/>
            <a:ext cx="82296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Prove true by: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Method 1: </a:t>
            </a:r>
            <a:r>
              <a:rPr lang="en-US" sz="3200" dirty="0">
                <a:latin typeface="+mj-lt"/>
                <a:cs typeface="Arial" charset="0"/>
              </a:rPr>
              <a:t>Perfect induction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latin typeface="+mj-lt"/>
                <a:cs typeface="Arial" charset="0"/>
              </a:rPr>
              <a:t>Method 2: </a:t>
            </a:r>
            <a:r>
              <a:rPr lang="en-US" sz="3200" dirty="0">
                <a:latin typeface="+mj-lt"/>
                <a:cs typeface="Arial" charset="0"/>
              </a:rPr>
              <a:t>Using other theorems and axioms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227671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96630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T9: Covering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324100" y="3964632"/>
            <a:ext cx="381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695700" y="3583632"/>
            <a:ext cx="0" cy="2133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52700" y="3964632"/>
            <a:ext cx="114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0         0</a:t>
            </a:r>
          </a:p>
          <a:p>
            <a:r>
              <a:rPr lang="en-US" sz="2400" dirty="0"/>
              <a:t>0         1</a:t>
            </a:r>
          </a:p>
          <a:p>
            <a:r>
              <a:rPr lang="en-US" sz="2400" dirty="0"/>
              <a:t>1         0</a:t>
            </a:r>
          </a:p>
          <a:p>
            <a:r>
              <a:rPr lang="en-US" sz="2400" dirty="0"/>
              <a:t>1         1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2700" y="3583632"/>
            <a:ext cx="468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B</a:t>
            </a:r>
            <a:r>
              <a:rPr lang="en-US" sz="2400" b="1" dirty="0"/>
              <a:t>         </a:t>
            </a:r>
            <a:r>
              <a:rPr lang="en-US" sz="2400" b="1" i="1" dirty="0"/>
              <a:t>C      (B+C)      B(B+C)</a:t>
            </a:r>
          </a:p>
        </p:txBody>
      </p:sp>
      <p:sp>
        <p:nvSpPr>
          <p:cNvPr id="1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41400" y="2594723"/>
            <a:ext cx="79248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Method 1: </a:t>
            </a:r>
            <a:r>
              <a:rPr lang="en-US" sz="3200" dirty="0">
                <a:latin typeface="+mj-lt"/>
                <a:cs typeface="Arial" charset="0"/>
              </a:rPr>
              <a:t>Perfect Induction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227671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814548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T9: Covering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41400" y="2594723"/>
            <a:ext cx="79248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Method 1: </a:t>
            </a:r>
            <a:r>
              <a:rPr lang="en-US" sz="3200" dirty="0">
                <a:latin typeface="+mj-lt"/>
                <a:cs typeface="Arial" charset="0"/>
              </a:rPr>
              <a:t>Perfect Induction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324100" y="3964632"/>
            <a:ext cx="381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695700" y="3583632"/>
            <a:ext cx="0" cy="2133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42740" y="3964632"/>
            <a:ext cx="1800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          	0</a:t>
            </a:r>
          </a:p>
          <a:p>
            <a:r>
              <a:rPr lang="en-US" sz="2400" dirty="0"/>
              <a:t>1         	0</a:t>
            </a:r>
          </a:p>
          <a:p>
            <a:r>
              <a:rPr lang="en-US" sz="2400" dirty="0"/>
              <a:t>1         	1</a:t>
            </a:r>
          </a:p>
          <a:p>
            <a:r>
              <a:rPr lang="en-US" sz="2400" dirty="0"/>
              <a:t>1         	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227671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552700" y="3964632"/>
            <a:ext cx="114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0         0</a:t>
            </a:r>
          </a:p>
          <a:p>
            <a:r>
              <a:rPr lang="en-US" sz="2400" dirty="0"/>
              <a:t>0         1</a:t>
            </a:r>
          </a:p>
          <a:p>
            <a:r>
              <a:rPr lang="en-US" sz="2400" dirty="0"/>
              <a:t>1         0</a:t>
            </a:r>
          </a:p>
          <a:p>
            <a:r>
              <a:rPr lang="en-US" sz="2400" dirty="0"/>
              <a:t>1         1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2700" y="3583632"/>
            <a:ext cx="468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B</a:t>
            </a:r>
            <a:r>
              <a:rPr lang="en-US" sz="2400" b="1" dirty="0"/>
              <a:t>         </a:t>
            </a:r>
            <a:r>
              <a:rPr lang="en-US" sz="2400" b="1" i="1" dirty="0"/>
              <a:t>C      (B+C)      B(B+C)</a:t>
            </a:r>
          </a:p>
        </p:txBody>
      </p:sp>
    </p:spTree>
    <p:extLst>
      <p:ext uri="{BB962C8B-B14F-4D97-AF65-F5344CB8AC3E}">
        <p14:creationId xmlns:p14="http://schemas.microsoft.com/office/powerpoint/2010/main" val="667390101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T9: Covering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41400" y="2594723"/>
            <a:ext cx="79248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Method 1: </a:t>
            </a:r>
            <a:r>
              <a:rPr lang="en-US" sz="3200" dirty="0">
                <a:latin typeface="+mj-lt"/>
                <a:cs typeface="Arial" charset="0"/>
              </a:rPr>
              <a:t>Perfect Induction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2324100" y="3964632"/>
            <a:ext cx="381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695700" y="3583632"/>
            <a:ext cx="0" cy="2133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42740" y="3964632"/>
            <a:ext cx="1800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          	0</a:t>
            </a:r>
          </a:p>
          <a:p>
            <a:r>
              <a:rPr lang="en-US" sz="2400" dirty="0"/>
              <a:t>1         	0</a:t>
            </a:r>
          </a:p>
          <a:p>
            <a:r>
              <a:rPr lang="en-US" sz="2400" dirty="0"/>
              <a:t>1         	1</a:t>
            </a:r>
          </a:p>
          <a:p>
            <a:r>
              <a:rPr lang="en-US" sz="2400" dirty="0"/>
              <a:t>1         	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895587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552700" y="3964632"/>
            <a:ext cx="114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0         0</a:t>
            </a:r>
          </a:p>
          <a:p>
            <a:r>
              <a:rPr lang="en-US" sz="2400" dirty="0"/>
              <a:t>0         1</a:t>
            </a:r>
          </a:p>
          <a:p>
            <a:r>
              <a:rPr lang="en-US" sz="2400" dirty="0"/>
              <a:t>1         0</a:t>
            </a:r>
          </a:p>
          <a:p>
            <a:r>
              <a:rPr lang="en-US" sz="2400" dirty="0"/>
              <a:t>1         1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2700" y="3583632"/>
            <a:ext cx="468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B</a:t>
            </a:r>
            <a:r>
              <a:rPr lang="en-US" sz="2400" b="1" dirty="0"/>
              <a:t>         </a:t>
            </a:r>
            <a:r>
              <a:rPr lang="en-US" sz="2400" b="1" i="1" dirty="0"/>
              <a:t>C      (B+C)      B(B+C)</a:t>
            </a:r>
          </a:p>
        </p:txBody>
      </p:sp>
      <p:sp>
        <p:nvSpPr>
          <p:cNvPr id="2" name="Rectangle 1"/>
          <p:cNvSpPr/>
          <p:nvPr/>
        </p:nvSpPr>
        <p:spPr>
          <a:xfrm>
            <a:off x="2552700" y="3583632"/>
            <a:ext cx="339790" cy="1950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003800" y="3583632"/>
            <a:ext cx="1023776" cy="1950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19037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T9: Covering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227671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2468880"/>
            <a:ext cx="85090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Method 2: </a:t>
            </a:r>
            <a:r>
              <a:rPr lang="en-US" sz="3200" dirty="0">
                <a:latin typeface="+mj-lt"/>
                <a:cs typeface="Arial" charset="0"/>
              </a:rPr>
              <a:t>Prove true using other axioms and theorems.</a:t>
            </a:r>
          </a:p>
        </p:txBody>
      </p:sp>
    </p:spTree>
    <p:extLst>
      <p:ext uri="{BB962C8B-B14F-4D97-AF65-F5344CB8AC3E}">
        <p14:creationId xmlns:p14="http://schemas.microsoft.com/office/powerpoint/2010/main" val="3570290598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T9: Covering</a:t>
            </a:r>
          </a:p>
        </p:txBody>
      </p:sp>
      <p:sp>
        <p:nvSpPr>
          <p:cNvPr id="8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2468880"/>
            <a:ext cx="85090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Method 2: </a:t>
            </a:r>
            <a:r>
              <a:rPr lang="en-US" sz="3200" dirty="0">
                <a:latin typeface="+mj-lt"/>
                <a:cs typeface="Arial" charset="0"/>
              </a:rPr>
              <a:t>Prove true using other axioms and theorems.</a:t>
            </a:r>
          </a:p>
          <a:p>
            <a:r>
              <a:rPr lang="en-US" sz="2800" dirty="0">
                <a:latin typeface="+mj-lt"/>
                <a:cs typeface="Arial" charset="0"/>
              </a:rPr>
              <a:t>B•(B+C)	= B•B + B•C		T8: </a:t>
            </a:r>
            <a:r>
              <a:rPr lang="en-US" sz="2800" dirty="0" err="1">
                <a:latin typeface="+mj-lt"/>
                <a:cs typeface="Arial" charset="0"/>
              </a:rPr>
              <a:t>Distributivity</a:t>
            </a:r>
            <a:endParaRPr lang="en-US" sz="2800" dirty="0">
              <a:latin typeface="+mj-lt"/>
              <a:cs typeface="Arial" charset="0"/>
            </a:endParaRPr>
          </a:p>
          <a:p>
            <a:r>
              <a:rPr lang="en-US" sz="2800" dirty="0">
                <a:latin typeface="+mj-lt"/>
                <a:cs typeface="Arial" charset="0"/>
              </a:rPr>
              <a:t>		= </a:t>
            </a:r>
            <a:r>
              <a:rPr lang="en-US" sz="2800" b="1" dirty="0">
                <a:latin typeface="+mj-lt"/>
                <a:cs typeface="Arial" charset="0"/>
              </a:rPr>
              <a:t>B</a:t>
            </a:r>
            <a:r>
              <a:rPr lang="en-US" sz="2800" dirty="0">
                <a:latin typeface="+mj-lt"/>
                <a:cs typeface="Arial" charset="0"/>
              </a:rPr>
              <a:t> + B•C		T3: </a:t>
            </a:r>
            <a:r>
              <a:rPr lang="en-US" sz="2800" dirty="0" err="1">
                <a:latin typeface="+mj-lt"/>
                <a:cs typeface="Arial" charset="0"/>
              </a:rPr>
              <a:t>Idempotency</a:t>
            </a:r>
            <a:endParaRPr lang="en-US" sz="2800" dirty="0">
              <a:latin typeface="+mj-lt"/>
              <a:cs typeface="Arial" charset="0"/>
            </a:endParaRPr>
          </a:p>
          <a:p>
            <a:r>
              <a:rPr lang="en-US" sz="2800" dirty="0">
                <a:latin typeface="+mj-lt"/>
                <a:cs typeface="Arial" charset="0"/>
              </a:rPr>
              <a:t>		= B•(1 + C)		T8: </a:t>
            </a:r>
            <a:r>
              <a:rPr lang="en-US" sz="2800" dirty="0" err="1">
                <a:latin typeface="+mj-lt"/>
                <a:cs typeface="Arial" charset="0"/>
              </a:rPr>
              <a:t>Distributivity</a:t>
            </a:r>
            <a:endParaRPr lang="en-US" sz="2800" dirty="0">
              <a:latin typeface="+mj-lt"/>
              <a:cs typeface="Arial" charset="0"/>
            </a:endParaRPr>
          </a:p>
          <a:p>
            <a:r>
              <a:rPr lang="en-US" sz="2800" dirty="0">
                <a:latin typeface="+mj-lt"/>
                <a:cs typeface="Arial" charset="0"/>
              </a:rPr>
              <a:t>		= B•(</a:t>
            </a:r>
            <a:r>
              <a:rPr lang="en-US" sz="2800" b="1" dirty="0">
                <a:latin typeface="+mj-lt"/>
                <a:cs typeface="Arial" charset="0"/>
              </a:rPr>
              <a:t>1</a:t>
            </a:r>
            <a:r>
              <a:rPr lang="en-US" sz="2800" dirty="0">
                <a:latin typeface="+mj-lt"/>
                <a:cs typeface="Arial" charset="0"/>
              </a:rPr>
              <a:t>)		T2: Null element</a:t>
            </a:r>
          </a:p>
          <a:p>
            <a:r>
              <a:rPr lang="en-US" sz="2800" dirty="0">
                <a:latin typeface="+mj-lt"/>
                <a:cs typeface="Arial" charset="0"/>
              </a:rPr>
              <a:t>		= B			T1: Identity</a:t>
            </a:r>
          </a:p>
          <a:p>
            <a:pPr>
              <a:spcBef>
                <a:spcPct val="20000"/>
              </a:spcBef>
            </a:pPr>
            <a:endParaRPr lang="en-US" sz="2800" dirty="0">
              <a:latin typeface="+mj-lt"/>
              <a:cs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227671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724766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T10: Combining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140200" y="20574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2641600"/>
            <a:ext cx="81534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Prove true using other axioms and theorems: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333182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(B•C)</a:t>
                      </a:r>
                      <a:r>
                        <a:rPr lang="en-US" sz="2400" baseline="0" dirty="0"/>
                        <a:t>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6F541A-F546-4171-8F64-8278D97F93F3}"/>
              </a:ext>
            </a:extLst>
          </p:cNvPr>
          <p:cNvCxnSpPr/>
          <p:nvPr/>
        </p:nvCxnSpPr>
        <p:spPr>
          <a:xfrm>
            <a:off x="4043680" y="2038811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818535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T10: Combining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140200" y="20574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2641600"/>
            <a:ext cx="81534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Prove true using other axioms and theorems:</a:t>
            </a:r>
          </a:p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   B•C + B•C	= B•(C+C)     T8: </a:t>
            </a:r>
            <a:r>
              <a:rPr lang="en-US" sz="3200" dirty="0" err="1">
                <a:latin typeface="+mj-lt"/>
                <a:cs typeface="Arial" charset="0"/>
              </a:rPr>
              <a:t>Distributivity</a:t>
            </a:r>
            <a:endParaRPr lang="en-US" sz="3200" dirty="0">
              <a:latin typeface="+mj-lt"/>
              <a:cs typeface="Arial" charset="0"/>
            </a:endParaRPr>
          </a:p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			= B•(</a:t>
            </a:r>
            <a:r>
              <a:rPr lang="en-US" sz="3200" b="1" dirty="0">
                <a:latin typeface="+mj-lt"/>
                <a:cs typeface="Arial" charset="0"/>
              </a:rPr>
              <a:t>1</a:t>
            </a:r>
            <a:r>
              <a:rPr lang="en-US" sz="3200" dirty="0">
                <a:latin typeface="+mj-lt"/>
                <a:cs typeface="Arial" charset="0"/>
              </a:rPr>
              <a:t>) 	   T5’: Complements</a:t>
            </a:r>
          </a:p>
          <a:p>
            <a:pPr lvl="1"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			= B		   T1: Identity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2743200" y="3337560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006340" y="3337560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389560"/>
              </p:ext>
            </p:extLst>
          </p:nvPr>
        </p:nvGraphicFramePr>
        <p:xfrm>
          <a:off x="1143001" y="1397000"/>
          <a:ext cx="7391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(B•C)</a:t>
                      </a:r>
                      <a:r>
                        <a:rPr lang="en-US" sz="2400" baseline="0" dirty="0"/>
                        <a:t>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A7C014-17D5-4234-9666-3C1CA1B2616B}"/>
              </a:ext>
            </a:extLst>
          </p:cNvPr>
          <p:cNvCxnSpPr/>
          <p:nvPr/>
        </p:nvCxnSpPr>
        <p:spPr>
          <a:xfrm>
            <a:off x="4043680" y="2050534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286664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T11: Consensus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555863"/>
              </p:ext>
            </p:extLst>
          </p:nvPr>
        </p:nvGraphicFramePr>
        <p:xfrm>
          <a:off x="1143001" y="1397000"/>
          <a:ext cx="7391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(B•D) + (C•D)</a:t>
                      </a:r>
                      <a:r>
                        <a:rPr lang="en-US" sz="2400" baseline="0" dirty="0"/>
                        <a:t> =</a:t>
                      </a:r>
                    </a:p>
                    <a:p>
                      <a:r>
                        <a:rPr lang="en-US" sz="2400" baseline="0" dirty="0"/>
                        <a:t>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3799840" y="205232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805936" y="241808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43000" y="2773680"/>
            <a:ext cx="7391400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Prove true using (1) perfect induction or (2) other axioms and theorems.</a:t>
            </a:r>
          </a:p>
          <a:p>
            <a:pPr>
              <a:spcBef>
                <a:spcPct val="20000"/>
              </a:spcBef>
            </a:pPr>
            <a:endParaRPr lang="en-US" sz="3200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341720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Several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Vars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01705"/>
              </p:ext>
            </p:extLst>
          </p:nvPr>
        </p:nvGraphicFramePr>
        <p:xfrm>
          <a:off x="838200" y="1397000"/>
          <a:ext cx="7391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B•C</a:t>
                      </a:r>
                      <a:r>
                        <a:rPr lang="en-US" sz="2400" baseline="0" dirty="0"/>
                        <a:t> = C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D = B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(C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 (C + D) =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Distributivity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(B•C)</a:t>
                      </a:r>
                      <a:r>
                        <a:rPr lang="en-US" sz="2400" baseline="0" dirty="0"/>
                        <a:t> = 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(B•D) + (C•D)</a:t>
                      </a:r>
                      <a:r>
                        <a:rPr lang="en-US" sz="2400" baseline="0" dirty="0"/>
                        <a:t> =</a:t>
                      </a:r>
                    </a:p>
                    <a:p>
                      <a:r>
                        <a:rPr lang="en-US" sz="2400" baseline="0" dirty="0"/>
                        <a:t>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3886200" y="38862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508248" y="4343400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508248" y="471220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839886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1573" y="4713982"/>
            <a:ext cx="43861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Dual:</a:t>
            </a:r>
            <a:r>
              <a:rPr lang="en-US" sz="3200" dirty="0"/>
              <a:t>  Replace:	• with + </a:t>
            </a:r>
          </a:p>
          <a:p>
            <a:r>
              <a:rPr lang="en-US" sz="3200" dirty="0"/>
              <a:t>	  		0 with 1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756079"/>
              </p:ext>
            </p:extLst>
          </p:nvPr>
        </p:nvGraphicFramePr>
        <p:xfrm>
          <a:off x="228600" y="1295402"/>
          <a:ext cx="8686800" cy="3444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3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356">
                <a:tc>
                  <a:txBody>
                    <a:bodyPr/>
                    <a:lstStyle/>
                    <a:p>
                      <a:r>
                        <a:rPr lang="en-US" sz="24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B•C</a:t>
                      </a:r>
                      <a:r>
                        <a:rPr lang="en-US" sz="2000" baseline="0" dirty="0"/>
                        <a:t> = 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B+C</a:t>
                      </a:r>
                      <a:r>
                        <a:rPr lang="en-US" sz="2000" baseline="0" dirty="0"/>
                        <a:t> = C+B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D = B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 + C) + D = B + (C + 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 + D) =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 = (B+C)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Distributivity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 (B•C)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(B•C)</a:t>
                      </a:r>
                      <a:r>
                        <a:rPr lang="en-US" sz="2000" baseline="0" dirty="0"/>
                        <a:t>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 </a:t>
                      </a:r>
                      <a:r>
                        <a:rPr lang="en-US" sz="2000" baseline="0" dirty="0"/>
                        <a:t>(B+C)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0862">
                <a:tc>
                  <a:txBody>
                    <a:bodyPr/>
                    <a:lstStyle/>
                    <a:p>
                      <a:r>
                        <a:rPr lang="en-US" sz="20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(B•D) + (C•D)</a:t>
                      </a:r>
                      <a:r>
                        <a:rPr lang="en-US" sz="2000" baseline="0" dirty="0"/>
                        <a:t> =</a:t>
                      </a:r>
                    </a:p>
                    <a:p>
                      <a:r>
                        <a:rPr lang="en-US" sz="2000" baseline="0" dirty="0"/>
                        <a:t>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</a:t>
                      </a:r>
                      <a:r>
                        <a:rPr lang="en-US" sz="2000" baseline="0" dirty="0"/>
                        <a:t> (B+D)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(C+D) =</a:t>
                      </a:r>
                    </a:p>
                    <a:p>
                      <a:r>
                        <a:rPr lang="en-US" sz="2000" baseline="0" dirty="0"/>
                        <a:t>(B+C)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2149348" y="359765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854708" y="403682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845818" y="434390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284724" y="359867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Several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Vars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5035804" y="402869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026914" y="434492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22462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36742"/>
              </p:ext>
            </p:extLst>
          </p:nvPr>
        </p:nvGraphicFramePr>
        <p:xfrm>
          <a:off x="228600" y="1295402"/>
          <a:ext cx="8686800" cy="3444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3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356">
                <a:tc>
                  <a:txBody>
                    <a:bodyPr/>
                    <a:lstStyle/>
                    <a:p>
                      <a:r>
                        <a:rPr lang="en-US" sz="24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B•C</a:t>
                      </a:r>
                      <a:r>
                        <a:rPr lang="en-US" sz="2000" baseline="0" dirty="0"/>
                        <a:t> = 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B+C</a:t>
                      </a:r>
                      <a:r>
                        <a:rPr lang="en-US" sz="2000" baseline="0" dirty="0"/>
                        <a:t> = C+B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D = B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 + C) + D = B + (C + 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 + D) =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 = (B+C)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Distributivity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 (B•C)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(B•C)</a:t>
                      </a:r>
                      <a:r>
                        <a:rPr lang="en-US" sz="2000" baseline="0" dirty="0"/>
                        <a:t>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 </a:t>
                      </a:r>
                      <a:r>
                        <a:rPr lang="en-US" sz="2000" baseline="0" dirty="0"/>
                        <a:t>(B+C)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0862">
                <a:tc>
                  <a:txBody>
                    <a:bodyPr/>
                    <a:lstStyle/>
                    <a:p>
                      <a:r>
                        <a:rPr lang="en-US" sz="20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(B•D) + (C•D)</a:t>
                      </a:r>
                      <a:r>
                        <a:rPr lang="en-US" sz="2000" baseline="0" dirty="0"/>
                        <a:t> =</a:t>
                      </a:r>
                    </a:p>
                    <a:p>
                      <a:r>
                        <a:rPr lang="en-US" sz="2000" baseline="0" dirty="0"/>
                        <a:t>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</a:t>
                      </a:r>
                      <a:r>
                        <a:rPr lang="en-US" sz="2000" baseline="0" dirty="0"/>
                        <a:t> (B+D)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(C+D) =</a:t>
                      </a:r>
                    </a:p>
                    <a:p>
                      <a:r>
                        <a:rPr lang="en-US" sz="2000" baseline="0" dirty="0"/>
                        <a:t>(B+C)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2149348" y="359765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854708" y="403682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845818" y="434390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284724" y="359867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Several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Vars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74368" y="4824984"/>
            <a:ext cx="6344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Warning: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 T8’ differs from traditional algebra: </a:t>
            </a:r>
          </a:p>
          <a:p>
            <a:r>
              <a:rPr lang="en-US" sz="2400" dirty="0">
                <a:latin typeface="+mj-lt"/>
                <a:cs typeface="Times New Roman" panose="02020603050405020304" pitchFamily="18" charset="0"/>
              </a:rPr>
              <a:t>	OR (+) distributes over AND (•)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035804" y="402869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026914" y="434492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929036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443387"/>
              </p:ext>
            </p:extLst>
          </p:nvPr>
        </p:nvGraphicFramePr>
        <p:xfrm>
          <a:off x="228600" y="1295402"/>
          <a:ext cx="8686800" cy="3444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3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356">
                <a:tc>
                  <a:txBody>
                    <a:bodyPr/>
                    <a:lstStyle/>
                    <a:p>
                      <a:r>
                        <a:rPr lang="en-US" sz="24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B•C</a:t>
                      </a:r>
                      <a:r>
                        <a:rPr lang="en-US" sz="2000" baseline="0" dirty="0"/>
                        <a:t> = 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B+C</a:t>
                      </a:r>
                      <a:r>
                        <a:rPr lang="en-US" sz="2000" baseline="0" dirty="0"/>
                        <a:t> = C+B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D = B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 + C) + D = B + (C + 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 + D) =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 = (B+C)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Distributivity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 (B•C)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(B•C)</a:t>
                      </a:r>
                      <a:r>
                        <a:rPr lang="en-US" sz="2000" baseline="0" dirty="0"/>
                        <a:t>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 </a:t>
                      </a:r>
                      <a:r>
                        <a:rPr lang="en-US" sz="2000" baseline="0" dirty="0"/>
                        <a:t>(B+C)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0862">
                <a:tc>
                  <a:txBody>
                    <a:bodyPr/>
                    <a:lstStyle/>
                    <a:p>
                      <a:r>
                        <a:rPr lang="en-US" sz="20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(B•D) + (C•D)</a:t>
                      </a:r>
                      <a:r>
                        <a:rPr lang="en-US" sz="2000" baseline="0" dirty="0"/>
                        <a:t> =</a:t>
                      </a:r>
                    </a:p>
                    <a:p>
                      <a:r>
                        <a:rPr lang="en-US" sz="2000" baseline="0" dirty="0"/>
                        <a:t>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</a:t>
                      </a:r>
                      <a:r>
                        <a:rPr lang="en-US" sz="2000" baseline="0" dirty="0"/>
                        <a:t> (B+D)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(C+D) =</a:t>
                      </a:r>
                    </a:p>
                    <a:p>
                      <a:r>
                        <a:rPr lang="en-US" sz="2000" baseline="0" dirty="0"/>
                        <a:t>(B+C)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2149348" y="359765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854708" y="403682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845818" y="434390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284724" y="359867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035804" y="402869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026914" y="434492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Several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Vars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" y="4886980"/>
            <a:ext cx="922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  <a:cs typeface="Times New Roman" panose="02020603050405020304" pitchFamily="18" charset="0"/>
              </a:rPr>
              <a:t>Axioms and theorems are useful for </a:t>
            </a:r>
            <a:r>
              <a:rPr lang="en-US" sz="2800" b="1" i="1" dirty="0">
                <a:latin typeface="+mj-lt"/>
                <a:cs typeface="Times New Roman" panose="02020603050405020304" pitchFamily="18" charset="0"/>
              </a:rPr>
              <a:t>simplifying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 equations.</a:t>
            </a:r>
            <a:endParaRPr lang="en-US" sz="28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156035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an Equation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143000"/>
            <a:ext cx="7772400" cy="2425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  <a:cs typeface="Times New Roman" panose="02020603050405020304" pitchFamily="18" charset="0"/>
              </a:rPr>
              <a:t>Reducing an equation to the 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fewest number of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implicants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, where each </a:t>
            </a:r>
            <a:r>
              <a:rPr lang="en-US" sz="3200" dirty="0" err="1">
                <a:latin typeface="+mj-lt"/>
                <a:cs typeface="Times New Roman" panose="02020603050405020304" pitchFamily="18" charset="0"/>
              </a:rPr>
              <a:t>implicant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 has the 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fewest literals</a:t>
            </a:r>
          </a:p>
          <a:p>
            <a:pPr lvl="1"/>
            <a:endParaRPr lang="en-US" sz="1000" dirty="0">
              <a:latin typeface="+mj-lt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400" b="1" dirty="0">
              <a:solidFill>
                <a:schemeClr val="accent1"/>
              </a:solidFill>
              <a:latin typeface="+mj-lt"/>
            </a:endParaRPr>
          </a:p>
          <a:p>
            <a:endParaRPr lang="en-US" sz="24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460769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7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2844786" y="48006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9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091262" y="48006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997186" y="38862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905000" y="38862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9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463786" y="38862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an Equation </a:t>
            </a:r>
          </a:p>
        </p:txBody>
      </p:sp>
      <p:sp>
        <p:nvSpPr>
          <p:cNvPr id="10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530586" y="48006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1143000"/>
            <a:ext cx="7772400" cy="479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  <a:cs typeface="Times New Roman" panose="02020603050405020304" pitchFamily="18" charset="0"/>
              </a:rPr>
              <a:t>Reducing an equation to the 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fewest number of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implicants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, where each </a:t>
            </a:r>
            <a:r>
              <a:rPr lang="en-US" sz="3200" dirty="0" err="1">
                <a:latin typeface="+mj-lt"/>
                <a:cs typeface="Times New Roman" panose="02020603050405020304" pitchFamily="18" charset="0"/>
              </a:rPr>
              <a:t>implicant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 has the 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fewest literals</a:t>
            </a:r>
          </a:p>
          <a:p>
            <a:pPr lvl="1"/>
            <a:endParaRPr lang="en-US" sz="1000" dirty="0">
              <a:latin typeface="+mj-lt"/>
              <a:cs typeface="Times New Roman" panose="02020603050405020304" pitchFamily="18" charset="0"/>
            </a:endParaRPr>
          </a:p>
          <a:p>
            <a:pPr lvl="1"/>
            <a:r>
              <a:rPr lang="en-US" sz="2800" b="1" dirty="0">
                <a:cs typeface="Times New Roman" panose="02020603050405020304" pitchFamily="18" charset="0"/>
              </a:rPr>
              <a:t>Recall: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 err="1"/>
              <a:t>Implicant</a:t>
            </a:r>
            <a:r>
              <a:rPr lang="en-US" sz="2800" dirty="0"/>
              <a:t>: product of literals</a:t>
            </a:r>
          </a:p>
          <a:p>
            <a:pPr lvl="1">
              <a:spcBef>
                <a:spcPct val="20000"/>
              </a:spcBef>
            </a:pPr>
            <a:r>
              <a:rPr lang="en-US" sz="2800" b="1" i="1" dirty="0">
                <a:solidFill>
                  <a:schemeClr val="accent1"/>
                </a:solidFill>
              </a:rPr>
              <a:t>	ABC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AC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BC</a:t>
            </a:r>
            <a:endParaRPr lang="en-US" sz="28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/>
              <a:t>Literal: variable or its complement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   	</a:t>
            </a:r>
            <a:r>
              <a:rPr lang="en-US" sz="2800" b="1" i="1" dirty="0">
                <a:solidFill>
                  <a:schemeClr val="accent1"/>
                </a:solidFill>
              </a:rPr>
              <a:t>A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A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B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B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C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b="1" dirty="0">
              <a:solidFill>
                <a:schemeClr val="accent1"/>
              </a:solidFill>
              <a:latin typeface="+mj-lt"/>
            </a:endParaRPr>
          </a:p>
          <a:p>
            <a:endParaRPr lang="en-US" sz="24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530797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7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2844786" y="48006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9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091262" y="48006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997186" y="38862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905000" y="38862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9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463786" y="38862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an Equation </a:t>
            </a:r>
          </a:p>
        </p:txBody>
      </p:sp>
      <p:sp>
        <p:nvSpPr>
          <p:cNvPr id="10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530586" y="4800600"/>
            <a:ext cx="1524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09600" y="1143000"/>
            <a:ext cx="7772400" cy="5321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  <a:cs typeface="Times New Roman" panose="02020603050405020304" pitchFamily="18" charset="0"/>
              </a:rPr>
              <a:t>Reducing an equation to the 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fewest number of </a:t>
            </a:r>
            <a:r>
              <a:rPr lang="en-US" sz="3200" b="1" dirty="0" err="1">
                <a:latin typeface="+mj-lt"/>
                <a:cs typeface="Times New Roman" panose="02020603050405020304" pitchFamily="18" charset="0"/>
              </a:rPr>
              <a:t>implicants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, where each </a:t>
            </a:r>
            <a:r>
              <a:rPr lang="en-US" sz="3200" dirty="0" err="1">
                <a:latin typeface="+mj-lt"/>
                <a:cs typeface="Times New Roman" panose="02020603050405020304" pitchFamily="18" charset="0"/>
              </a:rPr>
              <a:t>implicant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 has the 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fewest literals</a:t>
            </a:r>
          </a:p>
          <a:p>
            <a:pPr lvl="1"/>
            <a:endParaRPr lang="en-US" sz="1000" dirty="0">
              <a:latin typeface="+mj-lt"/>
              <a:cs typeface="Times New Roman" panose="02020603050405020304" pitchFamily="18" charset="0"/>
            </a:endParaRPr>
          </a:p>
          <a:p>
            <a:pPr lvl="1"/>
            <a:r>
              <a:rPr lang="en-US" sz="2800" b="1" dirty="0">
                <a:cs typeface="Times New Roman" panose="02020603050405020304" pitchFamily="18" charset="0"/>
              </a:rPr>
              <a:t>Recall: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 err="1"/>
              <a:t>Implicant</a:t>
            </a:r>
            <a:r>
              <a:rPr lang="en-US" sz="2800" dirty="0"/>
              <a:t>: product of literals</a:t>
            </a:r>
          </a:p>
          <a:p>
            <a:pPr lvl="1">
              <a:spcBef>
                <a:spcPct val="20000"/>
              </a:spcBef>
            </a:pPr>
            <a:r>
              <a:rPr lang="en-US" sz="2800" b="1" i="1" dirty="0">
                <a:solidFill>
                  <a:schemeClr val="accent1"/>
                </a:solidFill>
              </a:rPr>
              <a:t>	ABC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AC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BC</a:t>
            </a:r>
            <a:endParaRPr lang="en-US" sz="280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800" dirty="0"/>
              <a:t>Literal: variable or its complement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    	</a:t>
            </a:r>
            <a:r>
              <a:rPr lang="en-US" sz="2800" b="1" i="1" dirty="0">
                <a:solidFill>
                  <a:schemeClr val="accent1"/>
                </a:solidFill>
              </a:rPr>
              <a:t>A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A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B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B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C</a:t>
            </a:r>
            <a:r>
              <a:rPr lang="en-US" sz="2800" b="1" dirty="0">
                <a:solidFill>
                  <a:schemeClr val="accent1"/>
                </a:solidFill>
              </a:rPr>
              <a:t>, </a:t>
            </a:r>
            <a:r>
              <a:rPr lang="en-US" sz="2800" b="1" i="1" dirty="0">
                <a:solidFill>
                  <a:schemeClr val="accent1"/>
                </a:solidFill>
              </a:rPr>
              <a:t>C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000" i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i="1" dirty="0"/>
              <a:t>	       Also called </a:t>
            </a:r>
            <a:r>
              <a:rPr lang="en-US" sz="2800" b="1" i="1" dirty="0"/>
              <a:t>minimizing</a:t>
            </a:r>
            <a:r>
              <a:rPr lang="en-US" sz="2800" i="1" dirty="0"/>
              <a:t> the equation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b="1" dirty="0">
              <a:solidFill>
                <a:schemeClr val="accent1"/>
              </a:solidFill>
              <a:latin typeface="+mj-lt"/>
            </a:endParaRPr>
          </a:p>
          <a:p>
            <a:endParaRPr lang="en-US" sz="24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298811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8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latin typeface="+mj-lt"/>
                <a:cs typeface="Arial" charset="0"/>
              </a:rPr>
              <a:t> (T8, T8’)</a:t>
            </a:r>
            <a:r>
              <a:rPr lang="en-US" sz="2200" dirty="0">
                <a:latin typeface="+mj-lt"/>
                <a:cs typeface="Arial" charset="0"/>
              </a:rPr>
              <a:t>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Combining (T10)</a:t>
            </a:r>
            <a:r>
              <a:rPr lang="en-US" sz="2200" dirty="0">
                <a:latin typeface="+mj-lt"/>
                <a:cs typeface="Arial" charset="0"/>
              </a:rPr>
              <a:t>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419600" y="2590800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21365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latin typeface="+mj-lt"/>
                <a:cs typeface="Arial" charset="0"/>
              </a:rPr>
              <a:t> (T8, T8’)</a:t>
            </a:r>
            <a:r>
              <a:rPr lang="en-US" sz="2200" dirty="0">
                <a:latin typeface="+mj-lt"/>
                <a:cs typeface="Arial" charset="0"/>
              </a:rPr>
              <a:t>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Combining (T10)</a:t>
            </a:r>
            <a:r>
              <a:rPr lang="en-US" sz="2200" dirty="0">
                <a:latin typeface="+mj-lt"/>
                <a:cs typeface="Arial" charset="0"/>
              </a:rPr>
              <a:t>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Duplication		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2590800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343310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latin typeface="+mj-lt"/>
                <a:cs typeface="Arial" charset="0"/>
              </a:rPr>
              <a:t> (T8, T8’)</a:t>
            </a:r>
            <a:r>
              <a:rPr lang="en-US" sz="2200" dirty="0">
                <a:latin typeface="+mj-lt"/>
                <a:cs typeface="Arial" charset="0"/>
              </a:rPr>
              <a:t>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Combining (T10)</a:t>
            </a:r>
            <a:r>
              <a:rPr lang="en-US" sz="2200" dirty="0">
                <a:latin typeface="+mj-lt"/>
                <a:cs typeface="Arial" charset="0"/>
              </a:rPr>
              <a:t>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Duplication		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PA + A = P + A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PA + A = P + A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43400" y="4800600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2590800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28540" y="5181600"/>
            <a:ext cx="2006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638800" y="51816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21365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1000" y="68759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Proving the “Simplification” Theorem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66800"/>
            <a:ext cx="7823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“Simplification” theorem</a:t>
            </a:r>
          </a:p>
          <a:p>
            <a:r>
              <a:rPr lang="en-US" sz="3200" dirty="0">
                <a:latin typeface="+mj-lt"/>
                <a:cs typeface="Arial" charset="0"/>
              </a:rPr>
              <a:t>     PA + A = P + A</a:t>
            </a:r>
          </a:p>
          <a:p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     </a:t>
            </a: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Method 1: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	</a:t>
            </a:r>
            <a:r>
              <a:rPr lang="en-US" sz="2200" dirty="0">
                <a:latin typeface="Times New Roman" pitchFamily="18" charset="0"/>
                <a:cs typeface="Arial" charset="0"/>
              </a:rPr>
              <a:t>PA + A 	= PA + (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A + AP)      </a:t>
            </a:r>
            <a:r>
              <a:rPr lang="en-US" sz="2200" b="1" dirty="0">
                <a:latin typeface="+mj-lt"/>
                <a:cs typeface="Arial" charset="0"/>
              </a:rPr>
              <a:t>T9’ Covering</a:t>
            </a:r>
          </a:p>
          <a:p>
            <a:r>
              <a:rPr lang="en-US" sz="2200" b="1" dirty="0">
                <a:latin typeface="Times New Roman" pitchFamily="18" charset="0"/>
                <a:cs typeface="Arial" charset="0"/>
              </a:rPr>
              <a:t>			</a:t>
            </a:r>
            <a:r>
              <a:rPr lang="en-US" sz="2200" dirty="0">
                <a:latin typeface="Times New Roman" pitchFamily="18" charset="0"/>
                <a:cs typeface="Arial" charset="0"/>
              </a:rPr>
              <a:t>= PA + 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PA</a:t>
            </a:r>
            <a:r>
              <a:rPr lang="en-US" sz="2200" dirty="0">
                <a:latin typeface="Times New Roman" pitchFamily="18" charset="0"/>
                <a:cs typeface="Arial" charset="0"/>
              </a:rPr>
              <a:t> + A	      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 </a:t>
            </a:r>
            <a:r>
              <a:rPr lang="en-US" sz="2200" b="1" dirty="0">
                <a:latin typeface="+mj-lt"/>
                <a:cs typeface="Arial" charset="0"/>
              </a:rPr>
              <a:t>T6 Commutativity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			= 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P(A + A) </a:t>
            </a:r>
            <a:r>
              <a:rPr lang="en-US" sz="2200" dirty="0">
                <a:latin typeface="Times New Roman" pitchFamily="18" charset="0"/>
                <a:cs typeface="Arial" charset="0"/>
              </a:rPr>
              <a:t>+ A 	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       </a:t>
            </a:r>
            <a:r>
              <a:rPr lang="en-US" sz="2200" b="1" dirty="0">
                <a:latin typeface="+mj-lt"/>
                <a:cs typeface="Arial" charset="0"/>
              </a:rPr>
              <a:t>T8 </a:t>
            </a: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endParaRPr lang="en-US" sz="2200" b="1" dirty="0">
              <a:latin typeface="+mj-lt"/>
              <a:cs typeface="Arial" charset="0"/>
            </a:endParaRP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			</a:t>
            </a:r>
            <a:r>
              <a:rPr lang="en-US" sz="2200" dirty="0">
                <a:latin typeface="Times New Roman" pitchFamily="18" charset="0"/>
                <a:cs typeface="Arial" charset="0"/>
              </a:rPr>
              <a:t>= P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(1) </a:t>
            </a:r>
            <a:r>
              <a:rPr lang="en-US" sz="2200" dirty="0">
                <a:latin typeface="Times New Roman" pitchFamily="18" charset="0"/>
                <a:cs typeface="Arial" charset="0"/>
              </a:rPr>
              <a:t>+ A	       </a:t>
            </a:r>
            <a:r>
              <a:rPr lang="en-US" sz="2200" b="1" dirty="0">
                <a:latin typeface="+mj-lt"/>
                <a:cs typeface="Arial" charset="0"/>
              </a:rPr>
              <a:t>T5’ Complements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			</a:t>
            </a:r>
            <a:r>
              <a:rPr lang="en-US" sz="2200" dirty="0">
                <a:latin typeface="Times New Roman" pitchFamily="18" charset="0"/>
                <a:cs typeface="Arial" charset="0"/>
              </a:rPr>
              <a:t>= P + A		</a:t>
            </a:r>
            <a:r>
              <a:rPr lang="en-US" sz="2200" dirty="0">
                <a:latin typeface="+mj-lt"/>
                <a:cs typeface="Arial" charset="0"/>
              </a:rPr>
              <a:t>       </a:t>
            </a:r>
            <a:r>
              <a:rPr lang="en-US" sz="2200" b="1" dirty="0">
                <a:latin typeface="+mj-lt"/>
                <a:cs typeface="Arial" charset="0"/>
              </a:rPr>
              <a:t>T1 Identity</a:t>
            </a:r>
          </a:p>
          <a:p>
            <a:pPr>
              <a:spcBef>
                <a:spcPct val="20000"/>
              </a:spcBef>
            </a:pPr>
            <a:endParaRPr lang="en-US" sz="2200" dirty="0">
              <a:latin typeface="Times New Roman" pitchFamily="18" charset="0"/>
              <a:cs typeface="Arial" charset="0"/>
            </a:endParaRPr>
          </a:p>
          <a:p>
            <a:pPr>
              <a:spcBef>
                <a:spcPct val="20000"/>
              </a:spcBef>
            </a:pPr>
            <a:endParaRPr lang="en-US" sz="2200" dirty="0">
              <a:latin typeface="Times New Roman" pitchFamily="18" charset="0"/>
              <a:cs typeface="Arial" charset="0"/>
            </a:endParaRPr>
          </a:p>
          <a:p>
            <a:pPr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  <a:cs typeface="Arial" charset="0"/>
              </a:rPr>
              <a:t>   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960880" y="1663700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158068" y="1676402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390001" y="2256368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889548" y="2256362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432327" y="3018375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033481" y="3009902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463231" y="3407851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162348" y="2260591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927681" y="2620434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474682" y="2620422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158413" y="3814261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292607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9600" y="1066800"/>
            <a:ext cx="7823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b="1" dirty="0">
                <a:latin typeface="+mj-lt"/>
                <a:cs typeface="Arial" charset="0"/>
              </a:rPr>
              <a:t>“Simplification” theorem</a:t>
            </a:r>
          </a:p>
          <a:p>
            <a:r>
              <a:rPr lang="en-US" sz="3200" dirty="0">
                <a:latin typeface="+mj-lt"/>
                <a:cs typeface="Arial" charset="0"/>
              </a:rPr>
              <a:t>     PA + A = P + A</a:t>
            </a:r>
          </a:p>
          <a:p>
            <a:r>
              <a:rPr lang="en-US" sz="3200" dirty="0">
                <a:latin typeface="Times New Roman" pitchFamily="18" charset="0"/>
                <a:cs typeface="Arial" charset="0"/>
              </a:rPr>
              <a:t>     </a:t>
            </a: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Method 2: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	</a:t>
            </a:r>
            <a:r>
              <a:rPr lang="en-US" sz="2200" dirty="0">
                <a:latin typeface="Times New Roman" pitchFamily="18" charset="0"/>
                <a:cs typeface="Arial" charset="0"/>
              </a:rPr>
              <a:t>PA + A 	= (A + A)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 </a:t>
            </a:r>
            <a:r>
              <a:rPr lang="en-US" sz="2200" dirty="0">
                <a:latin typeface="Times New Roman" pitchFamily="18" charset="0"/>
                <a:cs typeface="Arial" charset="0"/>
              </a:rPr>
              <a:t>(A + P)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    </a:t>
            </a:r>
            <a:r>
              <a:rPr lang="en-US" sz="2200" b="1" dirty="0">
                <a:latin typeface="+mj-lt"/>
                <a:cs typeface="Arial" charset="0"/>
              </a:rPr>
              <a:t>T8’ </a:t>
            </a: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endParaRPr lang="en-US" sz="2200" b="1" dirty="0">
              <a:latin typeface="+mj-lt"/>
              <a:cs typeface="Arial" charset="0"/>
            </a:endParaRPr>
          </a:p>
          <a:p>
            <a:r>
              <a:rPr lang="en-US" sz="2200" b="1" dirty="0">
                <a:latin typeface="Times New Roman" pitchFamily="18" charset="0"/>
                <a:cs typeface="Arial" charset="0"/>
              </a:rPr>
              <a:t>			</a:t>
            </a:r>
            <a:r>
              <a:rPr lang="en-US" sz="2200" dirty="0">
                <a:latin typeface="Times New Roman" pitchFamily="18" charset="0"/>
                <a:cs typeface="Arial" charset="0"/>
              </a:rPr>
              <a:t>= 1(A + P)	</a:t>
            </a:r>
            <a:r>
              <a:rPr lang="en-US" sz="2200" dirty="0">
                <a:latin typeface="+mj-lt"/>
                <a:cs typeface="Arial" charset="0"/>
              </a:rPr>
              <a:t>      </a:t>
            </a:r>
            <a:r>
              <a:rPr lang="en-US" sz="2200" b="1" dirty="0">
                <a:latin typeface="+mj-lt"/>
                <a:cs typeface="Arial" charset="0"/>
              </a:rPr>
              <a:t> T5’ Complements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			= </a:t>
            </a:r>
            <a:r>
              <a:rPr lang="en-US" sz="2200" b="1" dirty="0">
                <a:latin typeface="Times New Roman" pitchFamily="18" charset="0"/>
                <a:cs typeface="Arial" charset="0"/>
              </a:rPr>
              <a:t>A + P       	       </a:t>
            </a:r>
            <a:r>
              <a:rPr lang="en-US" sz="2200" b="1" dirty="0">
                <a:latin typeface="+mj-lt"/>
                <a:cs typeface="Arial" charset="0"/>
              </a:rPr>
              <a:t>T1 Identity</a:t>
            </a:r>
          </a:p>
          <a:p>
            <a:pPr>
              <a:spcBef>
                <a:spcPct val="20000"/>
              </a:spcBef>
            </a:pPr>
            <a:endParaRPr lang="en-US" sz="2200" dirty="0">
              <a:latin typeface="Times New Roman" pitchFamily="18" charset="0"/>
              <a:cs typeface="Arial" charset="0"/>
            </a:endParaRPr>
          </a:p>
          <a:p>
            <a:pPr>
              <a:spcBef>
                <a:spcPct val="20000"/>
              </a:spcBef>
            </a:pPr>
            <a:endParaRPr lang="en-US" sz="2200" dirty="0">
              <a:latin typeface="Times New Roman" pitchFamily="18" charset="0"/>
              <a:cs typeface="Arial" charset="0"/>
            </a:endParaRPr>
          </a:p>
          <a:p>
            <a:pPr>
              <a:spcBef>
                <a:spcPct val="20000"/>
              </a:spcBef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>
              <a:spcBef>
                <a:spcPct val="20000"/>
              </a:spcBef>
            </a:pPr>
            <a:r>
              <a:rPr lang="en-US" sz="3200" dirty="0">
                <a:latin typeface="Times New Roman" pitchFamily="18" charset="0"/>
                <a:cs typeface="Arial" charset="0"/>
              </a:rPr>
              <a:t>   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960880" y="1663700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158068" y="1676402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810000" y="2256368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724400" y="2256362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685540" y="3018375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162348" y="2260591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962400" y="2620422"/>
            <a:ext cx="124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1000" y="68759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Proving the “Simplification” Theorem</a:t>
            </a:r>
          </a:p>
        </p:txBody>
      </p:sp>
    </p:spTree>
    <p:extLst>
      <p:ext uri="{BB962C8B-B14F-4D97-AF65-F5344CB8AC3E}">
        <p14:creationId xmlns:p14="http://schemas.microsoft.com/office/powerpoint/2010/main" val="1443236614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T11: Consensus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607977"/>
              </p:ext>
            </p:extLst>
          </p:nvPr>
        </p:nvGraphicFramePr>
        <p:xfrm>
          <a:off x="1143001" y="1066800"/>
          <a:ext cx="7391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(B•D) + (C•D)</a:t>
                      </a:r>
                      <a:r>
                        <a:rPr lang="en-US" sz="2400" baseline="0" dirty="0"/>
                        <a:t> =</a:t>
                      </a:r>
                    </a:p>
                    <a:p>
                      <a:r>
                        <a:rPr lang="en-US" sz="2400" baseline="0" dirty="0"/>
                        <a:t>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3799840" y="171399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787648" y="207975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78448" y="2590800"/>
            <a:ext cx="7442219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Prove using other theorems and axioms:</a:t>
            </a:r>
          </a:p>
        </p:txBody>
      </p:sp>
    </p:spTree>
    <p:extLst>
      <p:ext uri="{BB962C8B-B14F-4D97-AF65-F5344CB8AC3E}">
        <p14:creationId xmlns:p14="http://schemas.microsoft.com/office/powerpoint/2010/main" val="4235413662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T11: Consensus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696318"/>
              </p:ext>
            </p:extLst>
          </p:nvPr>
        </p:nvGraphicFramePr>
        <p:xfrm>
          <a:off x="1143001" y="1066800"/>
          <a:ext cx="7391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(B•C) + (B•D) + (C•D)</a:t>
                      </a:r>
                      <a:r>
                        <a:rPr lang="en-US" sz="2400" baseline="0" dirty="0"/>
                        <a:t> =</a:t>
                      </a:r>
                    </a:p>
                    <a:p>
                      <a:r>
                        <a:rPr lang="en-US" sz="2400" baseline="0" dirty="0"/>
                        <a:t>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C) + (B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D)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3799840" y="172313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805936" y="208889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78448" y="2590800"/>
            <a:ext cx="7442219" cy="3246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Prove using other theorems and axioms: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B•C + B•D + C•D 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       = BC + BD + (CDB+CDB)		</a:t>
            </a:r>
            <a:r>
              <a:rPr lang="en-US" sz="2200" b="1" dirty="0">
                <a:latin typeface="+mj-lt"/>
                <a:cs typeface="Arial" charset="0"/>
              </a:rPr>
              <a:t>T10: Combining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       = BC + BD + BCD+BCD		</a:t>
            </a:r>
            <a:r>
              <a:rPr lang="en-US" sz="2200" b="1" dirty="0">
                <a:latin typeface="+mj-lt"/>
                <a:cs typeface="Arial" charset="0"/>
              </a:rPr>
              <a:t>T6: Commutativity</a:t>
            </a: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itchFamily="18" charset="0"/>
                <a:cs typeface="Arial" charset="0"/>
              </a:rPr>
              <a:t>       = BC + BCD + BD + BCD 		</a:t>
            </a:r>
            <a:r>
              <a:rPr lang="en-US" sz="2200" b="1" dirty="0">
                <a:latin typeface="+mj-lt"/>
                <a:cs typeface="Arial" charset="0"/>
              </a:rPr>
              <a:t>T6: Commutativity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       </a:t>
            </a:r>
            <a:r>
              <a:rPr lang="en-US" sz="2200" dirty="0">
                <a:latin typeface="Times New Roman" pitchFamily="18" charset="0"/>
                <a:cs typeface="Arial" charset="0"/>
              </a:rPr>
              <a:t>= (BC + BCD) + (BD + BCD)	</a:t>
            </a:r>
            <a:r>
              <a:rPr lang="en-US" sz="2200" b="1" dirty="0">
                <a:latin typeface="+mj-lt"/>
                <a:cs typeface="Arial" charset="0"/>
              </a:rPr>
              <a:t>T7: Associativity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Times New Roman" pitchFamily="18" charset="0"/>
                <a:cs typeface="Arial" charset="0"/>
              </a:rPr>
              <a:t>       </a:t>
            </a:r>
            <a:r>
              <a:rPr lang="en-US" sz="2200" dirty="0">
                <a:latin typeface="Times New Roman" pitchFamily="18" charset="0"/>
                <a:cs typeface="Arial" charset="0"/>
              </a:rPr>
              <a:t>= BC + BD				</a:t>
            </a:r>
            <a:r>
              <a:rPr lang="en-US" sz="2200" b="1" dirty="0">
                <a:latin typeface="+mj-lt"/>
                <a:cs typeface="Arial" charset="0"/>
              </a:rPr>
              <a:t>T9’: Covering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2093683" y="3076787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731674" y="3466255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638056" y="3483189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731674" y="3889619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168136" y="3889619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3591817" y="428753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284121" y="4295997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891612" y="4685473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546592" y="469394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731674" y="5100341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590930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325169"/>
              </p:ext>
            </p:extLst>
          </p:nvPr>
        </p:nvGraphicFramePr>
        <p:xfrm>
          <a:off x="228600" y="1295402"/>
          <a:ext cx="8686800" cy="3444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3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3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356">
                <a:tc>
                  <a:txBody>
                    <a:bodyPr/>
                    <a:lstStyle/>
                    <a:p>
                      <a:r>
                        <a:rPr lang="en-US" sz="24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B•C</a:t>
                      </a:r>
                      <a:r>
                        <a:rPr lang="en-US" sz="2000" baseline="0" dirty="0"/>
                        <a:t> = 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B+C</a:t>
                      </a:r>
                      <a:r>
                        <a:rPr lang="en-US" sz="2000" baseline="0" dirty="0"/>
                        <a:t> = C+B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Commutativity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D = B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 + C) + D = B + (C + 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Associativity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 + D) =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</a:t>
                      </a:r>
                      <a:r>
                        <a:rPr lang="en-US" sz="2000" baseline="0" dirty="0"/>
                        <a:t> (C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 = (B+C)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Distributivity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• (B+C)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 + (B•C) =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Covering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56">
                <a:tc>
                  <a:txBody>
                    <a:bodyPr/>
                    <a:lstStyle/>
                    <a:p>
                      <a:r>
                        <a:rPr lang="en-US" sz="2000" dirty="0"/>
                        <a:t>T10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(B•C)</a:t>
                      </a:r>
                      <a:r>
                        <a:rPr lang="en-US" sz="2000" baseline="0" dirty="0"/>
                        <a:t>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 </a:t>
                      </a:r>
                      <a:r>
                        <a:rPr lang="en-US" sz="2000" baseline="0" dirty="0"/>
                        <a:t>(B+C) = B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Combining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0862">
                <a:tc>
                  <a:txBody>
                    <a:bodyPr/>
                    <a:lstStyle/>
                    <a:p>
                      <a:r>
                        <a:rPr lang="en-US" sz="2000" dirty="0"/>
                        <a:t>T11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(B•C) + (B•D) + (C•D)</a:t>
                      </a:r>
                      <a:r>
                        <a:rPr lang="en-US" sz="2000" baseline="0" dirty="0"/>
                        <a:t> =</a:t>
                      </a:r>
                    </a:p>
                    <a:p>
                      <a:r>
                        <a:rPr lang="en-US" sz="2000" baseline="0" dirty="0"/>
                        <a:t>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C) + (B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(B+C) •</a:t>
                      </a:r>
                      <a:r>
                        <a:rPr lang="en-US" sz="2000" baseline="0" dirty="0"/>
                        <a:t> (B+D)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(C+D) =</a:t>
                      </a:r>
                    </a:p>
                    <a:p>
                      <a:r>
                        <a:rPr lang="en-US" sz="2000" baseline="0" dirty="0"/>
                        <a:t>(B+C) </a:t>
                      </a:r>
                      <a:r>
                        <a:rPr lang="en-US" sz="2000" dirty="0"/>
                        <a:t>•</a:t>
                      </a:r>
                      <a:r>
                        <a:rPr lang="en-US" sz="2000" baseline="0" dirty="0"/>
                        <a:t> (B+D)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Consensus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2149348" y="3597656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854708" y="403682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845818" y="4343908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284724" y="3598672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035804" y="402869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026914" y="4344924"/>
            <a:ext cx="152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Theorems of Several </a:t>
            </a:r>
            <a:r>
              <a:rPr lang="en-US" sz="4400" dirty="0" err="1">
                <a:solidFill>
                  <a:schemeClr val="bg1"/>
                </a:solidFill>
                <a:latin typeface="+mj-lt"/>
              </a:rPr>
              <a:t>Vars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6835447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latin typeface="+mj-lt"/>
                <a:cs typeface="Arial" charset="0"/>
              </a:rPr>
              <a:t> (T8, T8’)</a:t>
            </a:r>
            <a:r>
              <a:rPr lang="en-US" sz="2200" dirty="0">
                <a:latin typeface="+mj-lt"/>
                <a:cs typeface="Arial" charset="0"/>
              </a:rPr>
              <a:t>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Combining (T10)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Duplication		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PA + A = P + A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PA + A = P + A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43400" y="4800600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2609462"/>
            <a:ext cx="1651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28540" y="5181600"/>
            <a:ext cx="2006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638800" y="51816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946982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07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1219200" y="1722437"/>
            <a:ext cx="51054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</a:rPr>
              <a:t>Y</a:t>
            </a:r>
            <a:r>
              <a:rPr lang="en-US" b="1" dirty="0">
                <a:solidFill>
                  <a:schemeClr val="accent1"/>
                </a:solidFill>
              </a:rPr>
              <a:t> = </a:t>
            </a:r>
            <a:r>
              <a:rPr lang="en-US" b="1" i="1" dirty="0">
                <a:solidFill>
                  <a:schemeClr val="accent1"/>
                </a:solidFill>
              </a:rPr>
              <a:t>AB</a:t>
            </a:r>
            <a:r>
              <a:rPr lang="en-US" b="1" dirty="0">
                <a:solidFill>
                  <a:schemeClr val="accent1"/>
                </a:solidFill>
              </a:rPr>
              <a:t> + </a:t>
            </a:r>
            <a:r>
              <a:rPr lang="en-US" b="1" i="1" dirty="0">
                <a:solidFill>
                  <a:schemeClr val="accent1"/>
                </a:solidFill>
              </a:rPr>
              <a:t>AB</a:t>
            </a:r>
          </a:p>
          <a:p>
            <a:pPr>
              <a:buFontTx/>
              <a:buNone/>
            </a:pPr>
            <a:r>
              <a:rPr lang="en-US" dirty="0"/>
              <a:t>       </a:t>
            </a:r>
          </a:p>
        </p:txBody>
      </p:sp>
      <p:sp>
        <p:nvSpPr>
          <p:cNvPr id="1045508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055785" y="1845292"/>
            <a:ext cx="2286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1:</a:t>
            </a:r>
          </a:p>
        </p:txBody>
      </p:sp>
    </p:spTree>
    <p:extLst>
      <p:ext uri="{BB962C8B-B14F-4D97-AF65-F5344CB8AC3E}">
        <p14:creationId xmlns:p14="http://schemas.microsoft.com/office/powerpoint/2010/main" val="4197244912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507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1219199" y="1722437"/>
            <a:ext cx="6966857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</a:rPr>
              <a:t>Y</a:t>
            </a:r>
            <a:r>
              <a:rPr lang="en-US" b="1" dirty="0">
                <a:solidFill>
                  <a:schemeClr val="accent1"/>
                </a:solidFill>
              </a:rPr>
              <a:t> = </a:t>
            </a:r>
            <a:r>
              <a:rPr lang="en-US" b="1" i="1" dirty="0">
                <a:solidFill>
                  <a:schemeClr val="accent1"/>
                </a:solidFill>
              </a:rPr>
              <a:t>AB</a:t>
            </a:r>
            <a:r>
              <a:rPr lang="en-US" b="1" dirty="0">
                <a:solidFill>
                  <a:schemeClr val="accent1"/>
                </a:solidFill>
              </a:rPr>
              <a:t> + </a:t>
            </a:r>
            <a:r>
              <a:rPr lang="en-US" b="1" i="1" dirty="0">
                <a:solidFill>
                  <a:schemeClr val="accent1"/>
                </a:solidFill>
              </a:rPr>
              <a:t>AB</a:t>
            </a:r>
          </a:p>
          <a:p>
            <a:pPr>
              <a:buFontTx/>
              <a:buNone/>
            </a:pPr>
            <a:r>
              <a:rPr lang="en-US" dirty="0"/>
              <a:t>	Y = A		T10: Combining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or</a:t>
            </a:r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)	T8: </a:t>
            </a:r>
            <a:r>
              <a:rPr lang="en-US" dirty="0" err="1"/>
              <a:t>Distributivity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A</a:t>
            </a:r>
            <a:r>
              <a:rPr lang="en-US" dirty="0"/>
              <a:t>(1)		T5’: Complements</a:t>
            </a:r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A</a:t>
            </a:r>
            <a:r>
              <a:rPr lang="en-US" dirty="0"/>
              <a:t>		T1: Identity</a:t>
            </a:r>
          </a:p>
        </p:txBody>
      </p:sp>
      <p:sp>
        <p:nvSpPr>
          <p:cNvPr id="1045509" name="Line 5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219068" y="418727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8200" y="972234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1:</a:t>
            </a:r>
          </a:p>
        </p:txBody>
      </p:sp>
      <p:sp>
        <p:nvSpPr>
          <p:cNvPr id="7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055785" y="1845292"/>
            <a:ext cx="2286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12942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0070C0"/>
                </a:solidFill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 (T8, T8’)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Combining (T10)</a:t>
            </a:r>
            <a:r>
              <a:rPr lang="en-US" sz="2200" dirty="0">
                <a:latin typeface="+mj-lt"/>
                <a:cs typeface="Arial" charset="0"/>
              </a:rPr>
              <a:t>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Duplication		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PA + A = P + A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PA + A = P + A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43400" y="4800600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2618793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28540" y="5181600"/>
            <a:ext cx="2006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638800" y="51816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946982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71313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</a:rPr>
              <a:t>Y</a:t>
            </a:r>
            <a:r>
              <a:rPr lang="en-US" b="1" dirty="0">
                <a:solidFill>
                  <a:schemeClr val="accent1"/>
                </a:solidFill>
              </a:rPr>
              <a:t> = </a:t>
            </a:r>
            <a:r>
              <a:rPr lang="en-US" b="1" i="1" dirty="0">
                <a:solidFill>
                  <a:schemeClr val="accent1"/>
                </a:solidFill>
              </a:rPr>
              <a:t>A</a:t>
            </a:r>
            <a:r>
              <a:rPr lang="en-US" b="1" dirty="0">
                <a:solidFill>
                  <a:schemeClr val="accent1"/>
                </a:solidFill>
              </a:rPr>
              <a:t>(</a:t>
            </a:r>
            <a:r>
              <a:rPr lang="en-US" b="1" i="1" dirty="0">
                <a:solidFill>
                  <a:schemeClr val="accent1"/>
                </a:solidFill>
              </a:rPr>
              <a:t>AB</a:t>
            </a:r>
            <a:r>
              <a:rPr lang="en-US" b="1" dirty="0">
                <a:solidFill>
                  <a:schemeClr val="accent1"/>
                </a:solidFill>
              </a:rPr>
              <a:t> + </a:t>
            </a:r>
            <a:r>
              <a:rPr lang="en-US" b="1" i="1" dirty="0">
                <a:solidFill>
                  <a:schemeClr val="accent1"/>
                </a:solidFill>
              </a:rPr>
              <a:t>ABC)</a:t>
            </a:r>
            <a:endParaRPr lang="en-US" b="1" dirty="0">
              <a:solidFill>
                <a:schemeClr val="accent1"/>
              </a:solidFill>
            </a:endParaRPr>
          </a:p>
          <a:p>
            <a:pPr>
              <a:buFontTx/>
              <a:buNone/>
            </a:pPr>
            <a:r>
              <a:rPr lang="en-US" dirty="0"/>
              <a:t>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0668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2: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</p:spTree>
    <p:extLst>
      <p:ext uri="{BB962C8B-B14F-4D97-AF65-F5344CB8AC3E}">
        <p14:creationId xmlns:p14="http://schemas.microsoft.com/office/powerpoint/2010/main" val="2687563695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71313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accent1"/>
                </a:solidFill>
              </a:rPr>
              <a:t>Y</a:t>
            </a:r>
            <a:r>
              <a:rPr lang="en-US" b="1" dirty="0">
                <a:solidFill>
                  <a:schemeClr val="accent1"/>
                </a:solidFill>
              </a:rPr>
              <a:t> = </a:t>
            </a:r>
            <a:r>
              <a:rPr lang="en-US" b="1" i="1" dirty="0">
                <a:solidFill>
                  <a:schemeClr val="accent1"/>
                </a:solidFill>
              </a:rPr>
              <a:t>A</a:t>
            </a:r>
            <a:r>
              <a:rPr lang="en-US" b="1" dirty="0">
                <a:solidFill>
                  <a:schemeClr val="accent1"/>
                </a:solidFill>
              </a:rPr>
              <a:t>(</a:t>
            </a:r>
            <a:r>
              <a:rPr lang="en-US" b="1" i="1" dirty="0">
                <a:solidFill>
                  <a:schemeClr val="accent1"/>
                </a:solidFill>
              </a:rPr>
              <a:t>AB</a:t>
            </a:r>
            <a:r>
              <a:rPr lang="en-US" b="1" dirty="0">
                <a:solidFill>
                  <a:schemeClr val="accent1"/>
                </a:solidFill>
              </a:rPr>
              <a:t> + </a:t>
            </a:r>
            <a:r>
              <a:rPr lang="en-US" b="1" i="1" dirty="0">
                <a:solidFill>
                  <a:schemeClr val="accent1"/>
                </a:solidFill>
              </a:rPr>
              <a:t>ABC)</a:t>
            </a:r>
            <a:endParaRPr lang="en-US" b="1" dirty="0">
              <a:solidFill>
                <a:schemeClr val="accent1"/>
              </a:solidFill>
            </a:endParaRPr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i="1" dirty="0"/>
              <a:t>AB(</a:t>
            </a:r>
            <a:r>
              <a:rPr lang="en-US" dirty="0"/>
              <a:t>1 + </a:t>
            </a:r>
            <a:r>
              <a:rPr lang="en-US" i="1" dirty="0"/>
              <a:t>C</a:t>
            </a:r>
            <a:r>
              <a:rPr lang="en-US" dirty="0"/>
              <a:t>))		T8: </a:t>
            </a:r>
            <a:r>
              <a:rPr lang="en-US" dirty="0" err="1"/>
              <a:t>Distributivity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i="1" dirty="0"/>
              <a:t>AB</a:t>
            </a:r>
            <a:r>
              <a:rPr lang="en-US" dirty="0"/>
              <a:t>(1))			T2’: Null Element</a:t>
            </a:r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i="1" dirty="0"/>
              <a:t>AB</a:t>
            </a:r>
            <a:r>
              <a:rPr lang="en-US" dirty="0"/>
              <a:t>)			T1: Identity</a:t>
            </a:r>
          </a:p>
          <a:p>
            <a:pPr>
              <a:buFontTx/>
              <a:buNone/>
            </a:pPr>
            <a:r>
              <a:rPr lang="en-US" dirty="0"/>
              <a:t>	   = (</a:t>
            </a:r>
            <a:r>
              <a:rPr lang="en-US" i="1" dirty="0"/>
              <a:t>AA</a:t>
            </a:r>
            <a:r>
              <a:rPr lang="en-US" dirty="0"/>
              <a:t>)</a:t>
            </a:r>
            <a:r>
              <a:rPr lang="en-US" i="1" dirty="0"/>
              <a:t>B	</a:t>
            </a:r>
            <a:r>
              <a:rPr lang="en-US" dirty="0"/>
              <a:t>		T7: Associativity</a:t>
            </a:r>
          </a:p>
          <a:p>
            <a:pPr>
              <a:buFontTx/>
              <a:buNone/>
            </a:pPr>
            <a:r>
              <a:rPr lang="en-US" dirty="0"/>
              <a:t>       = </a:t>
            </a:r>
            <a:r>
              <a:rPr lang="en-US" i="1" dirty="0"/>
              <a:t>AB</a:t>
            </a:r>
            <a:r>
              <a:rPr lang="en-US" dirty="0"/>
              <a:t>				T3: </a:t>
            </a:r>
            <a:r>
              <a:rPr lang="en-US" dirty="0" err="1"/>
              <a:t>Idempotency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0668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2: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</p:spTree>
    <p:extLst>
      <p:ext uri="{BB962C8B-B14F-4D97-AF65-F5344CB8AC3E}">
        <p14:creationId xmlns:p14="http://schemas.microsoft.com/office/powerpoint/2010/main" val="2593761312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latin typeface="+mj-lt"/>
                <a:cs typeface="Arial" charset="0"/>
              </a:rPr>
              <a:t> (T8, T8’)</a:t>
            </a:r>
            <a:r>
              <a:rPr lang="en-US" sz="2200" dirty="0">
                <a:latin typeface="+mj-lt"/>
                <a:cs typeface="Arial" charset="0"/>
              </a:rPr>
              <a:t>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Covering (T9’)		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Combining (T10)</a:t>
            </a:r>
            <a:r>
              <a:rPr lang="en-US" sz="2200" dirty="0">
                <a:latin typeface="+mj-lt"/>
                <a:cs typeface="Arial" charset="0"/>
              </a:rPr>
              <a:t>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Duplication		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PA + A = P + A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PA + A = P + A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43400" y="4800600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2590800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28540" y="5181600"/>
            <a:ext cx="2006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638800" y="51816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</p:spTree>
    <p:extLst>
      <p:ext uri="{BB962C8B-B14F-4D97-AF65-F5344CB8AC3E}">
        <p14:creationId xmlns:p14="http://schemas.microsoft.com/office/powerpoint/2010/main" val="3984946982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71313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A’BC + A’			</a:t>
            </a:r>
            <a:r>
              <a:rPr lang="en-US" b="1" dirty="0"/>
              <a:t>Recall:</a:t>
            </a:r>
            <a:r>
              <a:rPr lang="en-US" b="1" dirty="0">
                <a:solidFill>
                  <a:schemeClr val="accent1"/>
                </a:solidFill>
              </a:rPr>
              <a:t> A’ = A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0668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3: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518922" y="1817914"/>
            <a:ext cx="2177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701829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71313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A’BC + A’			</a:t>
            </a:r>
            <a:r>
              <a:rPr lang="en-US" b="1" dirty="0"/>
              <a:t>Recall:</a:t>
            </a:r>
            <a:r>
              <a:rPr lang="en-US" b="1" dirty="0">
                <a:solidFill>
                  <a:schemeClr val="accent1"/>
                </a:solidFill>
              </a:rPr>
              <a:t> A’ = A	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      </a:t>
            </a:r>
            <a:r>
              <a:rPr lang="en-US" dirty="0"/>
              <a:t>= A’			T9’ Covering: X + XY = X</a:t>
            </a:r>
          </a:p>
          <a:p>
            <a:pPr marL="0" indent="0">
              <a:buNone/>
            </a:pPr>
            <a:r>
              <a:rPr lang="en-US" dirty="0"/>
              <a:t>or </a:t>
            </a:r>
            <a:r>
              <a:rPr lang="en-US" b="1" dirty="0">
                <a:solidFill>
                  <a:schemeClr val="accent1"/>
                </a:solidFill>
              </a:rPr>
              <a:t>		</a:t>
            </a:r>
          </a:p>
          <a:p>
            <a:pPr>
              <a:buFontTx/>
              <a:buNone/>
            </a:pPr>
            <a:r>
              <a:rPr lang="en-US" dirty="0"/>
              <a:t>       = A’(BC + 1)		T8: </a:t>
            </a:r>
            <a:r>
              <a:rPr lang="en-US" dirty="0" err="1"/>
              <a:t>Distributivity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       = A’(1)			T2’: Null Element</a:t>
            </a:r>
          </a:p>
          <a:p>
            <a:pPr>
              <a:buFontTx/>
              <a:buNone/>
            </a:pPr>
            <a:r>
              <a:rPr lang="en-US" dirty="0"/>
              <a:t>       =</a:t>
            </a:r>
            <a:r>
              <a:rPr lang="en-US" i="1" dirty="0"/>
              <a:t> </a:t>
            </a:r>
            <a:r>
              <a:rPr lang="en-US" dirty="0"/>
              <a:t>A’			T1: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0668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3: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518922" y="1817914"/>
            <a:ext cx="2177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702164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71313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AB’C + ABC + A’BC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0668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4: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</p:spTree>
    <p:extLst>
      <p:ext uri="{BB962C8B-B14F-4D97-AF65-F5344CB8AC3E}">
        <p14:creationId xmlns:p14="http://schemas.microsoft.com/office/powerpoint/2010/main" val="3399853587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latin typeface="+mj-lt"/>
                <a:cs typeface="Arial" charset="0"/>
              </a:rPr>
              <a:t> (T8, T8’)</a:t>
            </a:r>
            <a:r>
              <a:rPr lang="en-US" sz="2200" dirty="0">
                <a:latin typeface="+mj-lt"/>
                <a:cs typeface="Arial" charset="0"/>
              </a:rPr>
              <a:t>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Combining (T10)</a:t>
            </a:r>
            <a:r>
              <a:rPr lang="en-US" sz="2200" dirty="0">
                <a:latin typeface="+mj-lt"/>
                <a:cs typeface="Arial" charset="0"/>
              </a:rPr>
              <a:t>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Duplication			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PA + A = P + A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PA + A = P + A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43400" y="4800600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0269" y="2628124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28540" y="5181600"/>
            <a:ext cx="2006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638800" y="51816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</p:spTree>
    <p:extLst>
      <p:ext uri="{BB962C8B-B14F-4D97-AF65-F5344CB8AC3E}">
        <p14:creationId xmlns:p14="http://schemas.microsoft.com/office/powerpoint/2010/main" val="3984946982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71313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AB’C + ABC + A’BC	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      </a:t>
            </a:r>
            <a:r>
              <a:rPr lang="en-US" sz="2800" dirty="0"/>
              <a:t>= AB’C + </a:t>
            </a:r>
            <a:r>
              <a:rPr lang="en-US" sz="2800" b="1" dirty="0"/>
              <a:t>ABC + ABC</a:t>
            </a:r>
            <a:r>
              <a:rPr lang="en-US" sz="2800" dirty="0"/>
              <a:t> + A’BC	T3’: </a:t>
            </a:r>
            <a:r>
              <a:rPr lang="en-US" sz="2800" dirty="0" err="1"/>
              <a:t>Idempotency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  = (AB’C+ABC) + (ABC+A’BC)	T7’: Associativity</a:t>
            </a:r>
          </a:p>
          <a:p>
            <a:pPr marL="0" indent="0">
              <a:buNone/>
            </a:pPr>
            <a:r>
              <a:rPr lang="en-US" sz="2800" dirty="0"/>
              <a:t>      = AC + BC			T10: Combining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10668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4: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</p:spTree>
    <p:extLst>
      <p:ext uri="{BB962C8B-B14F-4D97-AF65-F5344CB8AC3E}">
        <p14:creationId xmlns:p14="http://schemas.microsoft.com/office/powerpoint/2010/main" val="3742127089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0070C0"/>
                </a:solidFill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 (T8, T8’)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Combining (T10)</a:t>
            </a:r>
            <a:r>
              <a:rPr lang="en-US" sz="2200" dirty="0">
                <a:latin typeface="+mj-lt"/>
                <a:cs typeface="Arial" charset="0"/>
              </a:rPr>
              <a:t>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Duplication		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PA + A = P + A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PA + A = P + A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343400" y="4800600"/>
            <a:ext cx="248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00938" y="2609462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28540" y="5181600"/>
            <a:ext cx="2006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638800" y="51816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</p:spTree>
    <p:extLst>
      <p:ext uri="{BB962C8B-B14F-4D97-AF65-F5344CB8AC3E}">
        <p14:creationId xmlns:p14="http://schemas.microsoft.com/office/powerpoint/2010/main" val="3984946982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713131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AB + BC +B’D’ + AC’D’</a:t>
            </a:r>
          </a:p>
          <a:p>
            <a:pPr marL="0" indent="0">
              <a:buNone/>
            </a:pPr>
            <a:r>
              <a:rPr lang="en-US" sz="2000" b="1" dirty="0"/>
              <a:t>Method 1:</a:t>
            </a:r>
          </a:p>
          <a:p>
            <a:pPr marL="0" indent="0">
              <a:buNone/>
            </a:pPr>
            <a:r>
              <a:rPr lang="en-US" sz="2000" dirty="0"/>
              <a:t>     Y = AB + BC + B’D’ + (ABC’D’ + AB’C’D’)		T10: Combining</a:t>
            </a:r>
          </a:p>
          <a:p>
            <a:pPr marL="0" indent="0">
              <a:buNone/>
            </a:pPr>
            <a:r>
              <a:rPr lang="en-US" sz="2000" dirty="0"/>
              <a:t>       = (AB + ABC’D’) + BC + (B’D’ + AB’C’D’) 		T6: Commutativity</a:t>
            </a:r>
          </a:p>
          <a:p>
            <a:pPr marL="0" indent="0">
              <a:buNone/>
            </a:pPr>
            <a:r>
              <a:rPr lang="en-US" sz="2000" dirty="0"/>
              <a:t>						T7: Associativity</a:t>
            </a:r>
          </a:p>
          <a:p>
            <a:pPr marL="0" indent="0">
              <a:buNone/>
            </a:pPr>
            <a:r>
              <a:rPr lang="en-US" sz="2000" dirty="0"/>
              <a:t>       = AB + BC + B’D’				T9: Covering</a:t>
            </a:r>
          </a:p>
          <a:p>
            <a:pPr marL="0" indent="0">
              <a:buNone/>
            </a:pPr>
            <a:r>
              <a:rPr lang="en-US" sz="2000" b="1" dirty="0"/>
              <a:t>Method 2:</a:t>
            </a:r>
          </a:p>
          <a:p>
            <a:pPr marL="0" indent="0">
              <a:buNone/>
            </a:pPr>
            <a:r>
              <a:rPr lang="en-US" sz="2000" dirty="0"/>
              <a:t>     Y = </a:t>
            </a:r>
            <a:r>
              <a:rPr lang="en-US" sz="2000" b="1" dirty="0"/>
              <a:t>AB</a:t>
            </a:r>
            <a:r>
              <a:rPr lang="en-US" sz="2000" dirty="0"/>
              <a:t> + BC + </a:t>
            </a:r>
            <a:r>
              <a:rPr lang="en-US" sz="2000" b="1" dirty="0"/>
              <a:t>B’D</a:t>
            </a:r>
            <a:r>
              <a:rPr lang="en-US" sz="2000" dirty="0"/>
              <a:t>’ + AC’D’ + </a:t>
            </a:r>
            <a:r>
              <a:rPr lang="en-US" sz="2000" b="1" dirty="0"/>
              <a:t>AD’</a:t>
            </a:r>
            <a:r>
              <a:rPr lang="en-US" sz="2000" dirty="0"/>
              <a:t>			T11: Consensus</a:t>
            </a:r>
          </a:p>
          <a:p>
            <a:pPr marL="0" indent="0">
              <a:buNone/>
            </a:pPr>
            <a:r>
              <a:rPr lang="en-US" sz="2000" dirty="0"/>
              <a:t>        = AB + BC + B’D’ + AD’ 			T9: Covering</a:t>
            </a:r>
          </a:p>
          <a:p>
            <a:pPr marL="0" indent="0">
              <a:buNone/>
            </a:pPr>
            <a:r>
              <a:rPr lang="en-US" sz="2000" dirty="0"/>
              <a:t>        = AB </a:t>
            </a:r>
            <a:r>
              <a:rPr lang="en-US" sz="2000"/>
              <a:t>+ BC + B’D’</a:t>
            </a:r>
            <a:r>
              <a:rPr lang="en-US" sz="2000" dirty="0"/>
              <a:t>				T11: Consensus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0668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5: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</p:spTree>
    <p:extLst>
      <p:ext uri="{BB962C8B-B14F-4D97-AF65-F5344CB8AC3E}">
        <p14:creationId xmlns:p14="http://schemas.microsoft.com/office/powerpoint/2010/main" val="3453509770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957940"/>
            <a:ext cx="8102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rgbClr val="0070C0"/>
                </a:solidFill>
                <a:latin typeface="+mj-lt"/>
                <a:cs typeface="Arial" charset="0"/>
              </a:rPr>
              <a:t>Distributivity</a:t>
            </a: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 (T8, T8’)      	B (C+D) = BC + BD</a:t>
            </a:r>
          </a:p>
          <a:p>
            <a:pPr marL="0" lvl="1">
              <a:spcBef>
                <a:spcPct val="20000"/>
              </a:spcBef>
            </a:pPr>
            <a:r>
              <a:rPr lang="en-US" sz="2200" b="1" dirty="0">
                <a:solidFill>
                  <a:srgbClr val="0070C0"/>
                </a:solidFill>
                <a:latin typeface="+mj-lt"/>
                <a:cs typeface="Arial" charset="0"/>
              </a:rPr>
              <a:t>      				B + CD = (B+ C)(B+D)</a:t>
            </a:r>
          </a:p>
          <a:p>
            <a:pPr marL="0" lvl="1">
              <a:spcBef>
                <a:spcPct val="20000"/>
              </a:spcBef>
            </a:pPr>
            <a:endParaRPr lang="en-US" sz="1000" b="1" dirty="0">
              <a:solidFill>
                <a:srgbClr val="0070C0"/>
              </a:solidFill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Covering (T9’)		</a:t>
            </a:r>
            <a:r>
              <a:rPr lang="en-US" sz="2200" dirty="0">
                <a:latin typeface="+mj-lt"/>
                <a:cs typeface="Arial" charset="0"/>
              </a:rPr>
              <a:t>A + AP =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Combining (T10)</a:t>
            </a:r>
            <a:r>
              <a:rPr lang="en-US" sz="2200" dirty="0">
                <a:latin typeface="+mj-lt"/>
                <a:cs typeface="Arial" charset="0"/>
              </a:rPr>
              <a:t>       	PA + PA = P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Expansion			</a:t>
            </a:r>
            <a:r>
              <a:rPr lang="en-US" sz="2200" dirty="0">
                <a:latin typeface="+mj-lt"/>
                <a:cs typeface="Arial" charset="0"/>
              </a:rPr>
              <a:t>P = PA + PA</a:t>
            </a:r>
          </a:p>
          <a:p>
            <a:pPr>
              <a:spcBef>
                <a:spcPct val="20000"/>
              </a:spcBef>
            </a:pPr>
            <a:r>
              <a:rPr lang="en-US" sz="2200" b="1" dirty="0">
                <a:latin typeface="+mj-lt"/>
                <a:cs typeface="Arial" charset="0"/>
              </a:rPr>
              <a:t>       				</a:t>
            </a:r>
            <a:r>
              <a:rPr lang="en-US" sz="2200" dirty="0">
                <a:latin typeface="+mj-lt"/>
                <a:cs typeface="Arial" charset="0"/>
              </a:rPr>
              <a:t>A = A + AP</a:t>
            </a:r>
          </a:p>
          <a:p>
            <a:pPr>
              <a:spcBef>
                <a:spcPct val="20000"/>
              </a:spcBef>
            </a:pPr>
            <a:endParaRPr lang="en-US" sz="1000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Duplication			</a:t>
            </a:r>
            <a:r>
              <a:rPr lang="en-US" sz="2200" dirty="0">
                <a:latin typeface="+mj-lt"/>
                <a:cs typeface="Arial" charset="0"/>
              </a:rPr>
              <a:t>A = A + 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000" b="1" dirty="0">
              <a:latin typeface="+mj-lt"/>
              <a:cs typeface="Arial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+mj-lt"/>
                <a:cs typeface="Arial" charset="0"/>
              </a:rPr>
              <a:t>“Simplification” theorem</a:t>
            </a:r>
            <a:r>
              <a:rPr lang="en-US" sz="2200" dirty="0">
                <a:latin typeface="+mj-lt"/>
                <a:cs typeface="Arial" charset="0"/>
              </a:rPr>
              <a:t>	PA + A = P + A</a:t>
            </a:r>
          </a:p>
          <a:p>
            <a:pPr lvl="2">
              <a:spcBef>
                <a:spcPct val="20000"/>
              </a:spcBef>
            </a:pPr>
            <a:r>
              <a:rPr lang="en-US" sz="2200" dirty="0">
                <a:latin typeface="+mj-lt"/>
                <a:cs typeface="Arial" charset="0"/>
              </a:rPr>
              <a:t>			PA + A = P + A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600" y="3200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401312" y="4782312"/>
            <a:ext cx="1727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19600" y="2590800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828540" y="5181600"/>
            <a:ext cx="2006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638800" y="51816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Simplification methods</a:t>
            </a:r>
          </a:p>
        </p:txBody>
      </p:sp>
    </p:spTree>
    <p:extLst>
      <p:ext uri="{BB962C8B-B14F-4D97-AF65-F5344CB8AC3E}">
        <p14:creationId xmlns:p14="http://schemas.microsoft.com/office/powerpoint/2010/main" val="3984946982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685800" y="1341437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(A + BC)(A + DE)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  </a:t>
            </a:r>
            <a:r>
              <a:rPr lang="en-US" sz="2000" b="1" dirty="0"/>
              <a:t>Apply T8’ first when possible: </a:t>
            </a:r>
            <a:r>
              <a:rPr lang="en-US" sz="2000" dirty="0"/>
              <a:t>W+XZ = (W+X)(W+Z)</a:t>
            </a:r>
          </a:p>
          <a:p>
            <a:pPr marL="0" indent="0">
              <a:buNone/>
            </a:pPr>
            <a:r>
              <a:rPr lang="en-US" sz="2000" dirty="0"/>
              <a:t>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87766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6: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</p:spTree>
    <p:extLst>
      <p:ext uri="{BB962C8B-B14F-4D97-AF65-F5344CB8AC3E}">
        <p14:creationId xmlns:p14="http://schemas.microsoft.com/office/powerpoint/2010/main" val="1061651856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685800" y="1341437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(A + BC)(A + DE)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  </a:t>
            </a:r>
            <a:r>
              <a:rPr lang="en-US" sz="2000" b="1" dirty="0"/>
              <a:t>Apply T8’ first when possible: </a:t>
            </a:r>
            <a:r>
              <a:rPr lang="en-US" sz="2000" dirty="0"/>
              <a:t>W+XZ = (W+X)(W+Z)</a:t>
            </a:r>
          </a:p>
          <a:p>
            <a:pPr marL="0" indent="0">
              <a:buNone/>
            </a:pPr>
            <a:r>
              <a:rPr lang="en-US" sz="2000" dirty="0"/>
              <a:t>     Make: X = BC, Z = DE and rewrite equation</a:t>
            </a:r>
          </a:p>
          <a:p>
            <a:pPr marL="0" indent="0">
              <a:buNone/>
            </a:pPr>
            <a:r>
              <a:rPr lang="en-US" sz="2000" dirty="0"/>
              <a:t>          Y	= (A+X)(A+Z)		substitution (X=BC, Z=DE)</a:t>
            </a:r>
          </a:p>
          <a:p>
            <a:pPr marL="0" indent="0">
              <a:buNone/>
            </a:pPr>
            <a:r>
              <a:rPr lang="en-US" sz="2000" dirty="0"/>
              <a:t>   	= A + XZ		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= A + BCDE		substitution</a:t>
            </a:r>
          </a:p>
          <a:p>
            <a:pPr marL="0" indent="0">
              <a:buNone/>
            </a:pPr>
            <a:r>
              <a:rPr lang="en-US" sz="2000" dirty="0"/>
              <a:t>or </a:t>
            </a:r>
            <a:r>
              <a:rPr lang="en-US" sz="2000" b="1" dirty="0">
                <a:solidFill>
                  <a:schemeClr val="accent1"/>
                </a:solidFill>
              </a:rPr>
              <a:t>		</a:t>
            </a:r>
          </a:p>
          <a:p>
            <a:pPr>
              <a:buFontTx/>
              <a:buNone/>
            </a:pPr>
            <a:r>
              <a:rPr lang="en-US" sz="2000" dirty="0"/>
              <a:t>          Y	= AA + ADE + ABC + BCDE	T8: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	= A + ADE + ABC + BCDE	T3: </a:t>
            </a:r>
            <a:r>
              <a:rPr lang="en-US" sz="2000" dirty="0" err="1"/>
              <a:t>Idempotency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	= </a:t>
            </a:r>
            <a:r>
              <a:rPr lang="en-US" sz="2000" b="1" dirty="0"/>
              <a:t>A + ADE </a:t>
            </a:r>
            <a:r>
              <a:rPr lang="en-US" sz="2000" dirty="0"/>
              <a:t>+ ABC + BCDE		</a:t>
            </a:r>
          </a:p>
          <a:p>
            <a:pPr>
              <a:buFontTx/>
              <a:buNone/>
            </a:pPr>
            <a:r>
              <a:rPr lang="en-US" sz="2000" dirty="0"/>
              <a:t> 		= </a:t>
            </a:r>
            <a:r>
              <a:rPr lang="en-US" sz="2000" b="1" dirty="0"/>
              <a:t>A             </a:t>
            </a:r>
            <a:r>
              <a:rPr lang="en-US" sz="2000" dirty="0"/>
              <a:t>+ ABC + BCDE	T9’: Covering</a:t>
            </a:r>
          </a:p>
          <a:p>
            <a:pPr>
              <a:buNone/>
            </a:pPr>
            <a:r>
              <a:rPr lang="en-US" sz="2000" dirty="0"/>
              <a:t> 		= A + BCDE		T9’: Covering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87766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6: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</p:spTree>
    <p:extLst>
      <p:ext uri="{BB962C8B-B14F-4D97-AF65-F5344CB8AC3E}">
        <p14:creationId xmlns:p14="http://schemas.microsoft.com/office/powerpoint/2010/main" val="3598957818"/>
      </p:ext>
    </p:extLst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685800" y="1341437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(A + BC)(A + DE)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  </a:t>
            </a:r>
            <a:r>
              <a:rPr lang="en-US" sz="2000" b="1" dirty="0"/>
              <a:t>Apply T8’ first when possible: </a:t>
            </a:r>
            <a:r>
              <a:rPr lang="en-US" sz="2000" dirty="0"/>
              <a:t>W+XZ = (W+X)(W+Z)</a:t>
            </a:r>
          </a:p>
          <a:p>
            <a:pPr marL="0" indent="0">
              <a:buNone/>
            </a:pPr>
            <a:r>
              <a:rPr lang="en-US" sz="2000" dirty="0"/>
              <a:t>     Make: X = BC, Z = DE and rewrite equation</a:t>
            </a:r>
          </a:p>
          <a:p>
            <a:pPr marL="0" indent="0">
              <a:buNone/>
            </a:pPr>
            <a:r>
              <a:rPr lang="en-US" sz="2000" dirty="0"/>
              <a:t>          Y	= (A+X)(A+Z)		substitution (X=BC, Z=DE)</a:t>
            </a:r>
          </a:p>
          <a:p>
            <a:pPr marL="0" indent="0">
              <a:buNone/>
            </a:pPr>
            <a:r>
              <a:rPr lang="en-US" sz="2000" dirty="0"/>
              <a:t>   	= A + XZ		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= A + BCDE		substitution</a:t>
            </a:r>
          </a:p>
          <a:p>
            <a:pPr marL="0" indent="0">
              <a:buNone/>
            </a:pPr>
            <a:r>
              <a:rPr lang="en-US" sz="2000" dirty="0"/>
              <a:t>or </a:t>
            </a:r>
            <a:r>
              <a:rPr lang="en-US" sz="2000" b="1" dirty="0">
                <a:solidFill>
                  <a:schemeClr val="accent1"/>
                </a:solidFill>
              </a:rPr>
              <a:t>		</a:t>
            </a:r>
          </a:p>
          <a:p>
            <a:pPr>
              <a:buFontTx/>
              <a:buNone/>
            </a:pPr>
            <a:r>
              <a:rPr lang="en-US" sz="2000" dirty="0"/>
              <a:t>          Y	= AA + ADE + ABC + BCDE	T8: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	= A + ADE + ABC + BCDE	T3: </a:t>
            </a:r>
            <a:r>
              <a:rPr lang="en-US" sz="2000" dirty="0" err="1"/>
              <a:t>Idempotency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	= </a:t>
            </a:r>
            <a:r>
              <a:rPr lang="en-US" sz="2000" b="1" dirty="0"/>
              <a:t>A + ADE </a:t>
            </a:r>
            <a:r>
              <a:rPr lang="en-US" sz="2000" dirty="0"/>
              <a:t>+ ABC + BCDE		</a:t>
            </a:r>
          </a:p>
          <a:p>
            <a:pPr>
              <a:buFontTx/>
              <a:buNone/>
            </a:pPr>
            <a:r>
              <a:rPr lang="en-US" sz="2000" dirty="0"/>
              <a:t> 		= </a:t>
            </a:r>
            <a:r>
              <a:rPr lang="en-US" sz="2000" b="1" dirty="0"/>
              <a:t>A             </a:t>
            </a:r>
            <a:r>
              <a:rPr lang="en-US" sz="2000" dirty="0"/>
              <a:t>+ ABC + BCDE	T9’: Covering</a:t>
            </a:r>
          </a:p>
          <a:p>
            <a:pPr>
              <a:buNone/>
            </a:pPr>
            <a:r>
              <a:rPr lang="en-US" sz="2000" dirty="0"/>
              <a:t> 		= A + BCDE		T9’: Covering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87766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6: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Simplifying Boolean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5857" y="3722914"/>
            <a:ext cx="24819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is called</a:t>
            </a:r>
          </a:p>
          <a:p>
            <a:r>
              <a:rPr lang="en-US" sz="2000" b="1" i="1" dirty="0">
                <a:solidFill>
                  <a:srgbClr val="0070C0"/>
                </a:solidFill>
              </a:rPr>
              <a:t>multiplying out</a:t>
            </a:r>
          </a:p>
          <a:p>
            <a:r>
              <a:rPr lang="en-US" sz="2000" dirty="0"/>
              <a:t>an expression to get</a:t>
            </a:r>
          </a:p>
          <a:p>
            <a:r>
              <a:rPr lang="en-US" sz="2000" dirty="0"/>
              <a:t>sum-of-products (SOP) form.</a:t>
            </a:r>
          </a:p>
        </p:txBody>
      </p:sp>
    </p:spTree>
    <p:extLst>
      <p:ext uri="{BB962C8B-B14F-4D97-AF65-F5344CB8AC3E}">
        <p14:creationId xmlns:p14="http://schemas.microsoft.com/office/powerpoint/2010/main" val="231023737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90599" y="1066800"/>
            <a:ext cx="77288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 expression is in </a:t>
            </a:r>
            <a:r>
              <a:rPr lang="en-US" sz="3600" b="1" dirty="0"/>
              <a:t>sum-of-products (SOP)</a:t>
            </a:r>
            <a:r>
              <a:rPr lang="en-US" sz="3600" dirty="0"/>
              <a:t> form when all products contain literals only.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SOP form: Y = AB + BC’ + 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NOT</a:t>
            </a:r>
            <a:r>
              <a:rPr lang="en-US" sz="3600" dirty="0"/>
              <a:t> SOP form: Y = DF + E(A’+B)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SOP form: Z = A + BC + DE’F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Multiplying Out: SOP Form</a:t>
            </a:r>
          </a:p>
        </p:txBody>
      </p:sp>
    </p:spTree>
    <p:extLst>
      <p:ext uri="{BB962C8B-B14F-4D97-AF65-F5344CB8AC3E}">
        <p14:creationId xmlns:p14="http://schemas.microsoft.com/office/powerpoint/2010/main" val="2652586584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762000" y="1570037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(A + C + D + E)(A + B)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  </a:t>
            </a:r>
            <a:r>
              <a:rPr lang="en-US" sz="2000" b="1" dirty="0"/>
              <a:t>Apply T8’ first when possible: </a:t>
            </a:r>
            <a:r>
              <a:rPr lang="en-US" sz="2000" dirty="0"/>
              <a:t>W+XZ = (W+X)(W+Z)</a:t>
            </a:r>
          </a:p>
          <a:p>
            <a:pPr marL="0" indent="0">
              <a:buNone/>
            </a:pPr>
            <a:r>
              <a:rPr lang="en-US" sz="2000" dirty="0"/>
              <a:t>     Make: X = (C+D+E), Z = B and rewrite equation</a:t>
            </a:r>
          </a:p>
          <a:p>
            <a:pPr marL="0" indent="0">
              <a:buNone/>
            </a:pPr>
            <a:r>
              <a:rPr lang="en-US" sz="2000" dirty="0"/>
              <a:t>          Y	= (A+X)(A+Z)			substitution (X=(C+D+E), Z=B)</a:t>
            </a:r>
          </a:p>
          <a:p>
            <a:pPr marL="0" indent="0">
              <a:buNone/>
            </a:pPr>
            <a:r>
              <a:rPr lang="en-US" sz="2000" dirty="0"/>
              <a:t>   	= A + XZ			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= A + (C+D+E)B			substitution</a:t>
            </a:r>
          </a:p>
          <a:p>
            <a:pPr marL="0" indent="0">
              <a:buNone/>
            </a:pPr>
            <a:r>
              <a:rPr lang="en-US" sz="2000" dirty="0"/>
              <a:t>	= A + BC + BD + BE		T8: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or </a:t>
            </a:r>
            <a:r>
              <a:rPr lang="en-US" sz="2000" b="1" dirty="0">
                <a:solidFill>
                  <a:schemeClr val="accent1"/>
                </a:solidFill>
              </a:rPr>
              <a:t>		</a:t>
            </a:r>
          </a:p>
          <a:p>
            <a:pPr>
              <a:buFontTx/>
              <a:buNone/>
            </a:pPr>
            <a:r>
              <a:rPr lang="en-US" sz="2000" dirty="0"/>
              <a:t>          Y	= AA+AB+AC+BC+AD+BD+AE+BE 	T8: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	= </a:t>
            </a:r>
            <a:r>
              <a:rPr lang="en-US" sz="2000" b="1" dirty="0"/>
              <a:t>A</a:t>
            </a:r>
            <a:r>
              <a:rPr lang="en-US" sz="2000" dirty="0"/>
              <a:t>+AB+AC+AD+AE+BC+BD+BE	T3: </a:t>
            </a:r>
            <a:r>
              <a:rPr lang="en-US" sz="2000" dirty="0" err="1"/>
              <a:t>Idempotency</a:t>
            </a: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          	= A + BC + BD + BE		T9’: Covering</a:t>
            </a:r>
            <a:r>
              <a:rPr lang="en-US" sz="2000" b="1" dirty="0"/>
              <a:t> </a:t>
            </a:r>
            <a:r>
              <a:rPr lang="en-US" sz="2000" dirty="0"/>
              <a:t>	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923706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Multiplying Out: SOP Form</a:t>
            </a:r>
          </a:p>
        </p:txBody>
      </p:sp>
    </p:spTree>
    <p:extLst>
      <p:ext uri="{BB962C8B-B14F-4D97-AF65-F5344CB8AC3E}">
        <p14:creationId xmlns:p14="http://schemas.microsoft.com/office/powerpoint/2010/main" val="1301955639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961" name="Rectangle 17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990600"/>
            <a:ext cx="3810000" cy="4953000"/>
          </a:xfrm>
          <a:noFill/>
          <a:ln/>
        </p:spPr>
        <p:txBody>
          <a:bodyPr/>
          <a:lstStyle/>
          <a:p>
            <a:r>
              <a:rPr lang="en-US" sz="2400" b="1" dirty="0">
                <a:solidFill>
                  <a:srgbClr val="0070C0"/>
                </a:solidFill>
              </a:rPr>
              <a:t>SOP – sum-of-products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solidFill>
                  <a:srgbClr val="0070C0"/>
                </a:solidFill>
              </a:rPr>
              <a:t>POS – product-of-sums</a:t>
            </a:r>
          </a:p>
        </p:txBody>
      </p:sp>
      <p:graphicFrame>
        <p:nvGraphicFramePr>
          <p:cNvPr id="1106962" name="Object 18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67424713"/>
              </p:ext>
            </p:extLst>
          </p:nvPr>
        </p:nvGraphicFramePr>
        <p:xfrm>
          <a:off x="1143000" y="4038600"/>
          <a:ext cx="3386138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2" imgW="1287720" imgH="757080" progId="Visio.Drawing.6">
                  <p:embed/>
                </p:oleObj>
              </mc:Choice>
              <mc:Fallback>
                <p:oleObj name="VISIO" r:id="rId12" imgW="1287720" imgH="757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038600"/>
                        <a:ext cx="3386138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963" name="Object 19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091725809"/>
              </p:ext>
            </p:extLst>
          </p:nvPr>
        </p:nvGraphicFramePr>
        <p:xfrm>
          <a:off x="1066800" y="1371600"/>
          <a:ext cx="3657600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4" imgW="1280880" imgH="752040" progId="Visio.Drawing.6">
                  <p:embed/>
                </p:oleObj>
              </mc:Choice>
              <mc:Fallback>
                <p:oleObj name="VISIO" r:id="rId14" imgW="1280880" imgH="7520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371600"/>
                        <a:ext cx="3657600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964" name="Rectangle 2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48200" y="464820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E </a:t>
            </a:r>
            <a:r>
              <a:rPr lang="en-US" sz="2400" dirty="0">
                <a:latin typeface="Times New Roman" pitchFamily="18" charset="0"/>
                <a:cs typeface="Arial" charset="0"/>
              </a:rPr>
              <a:t>= (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O + C</a:t>
            </a:r>
            <a:r>
              <a:rPr lang="en-US" sz="2400" dirty="0">
                <a:latin typeface="Times New Roman" pitchFamily="18" charset="0"/>
                <a:cs typeface="Arial" charset="0"/>
              </a:rPr>
              <a:t>)(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O + C</a:t>
            </a:r>
            <a:r>
              <a:rPr lang="en-US" sz="2400" dirty="0">
                <a:latin typeface="Times New Roman" pitchFamily="18" charset="0"/>
                <a:cs typeface="Arial" charset="0"/>
              </a:rPr>
              <a:t>)(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O + C</a:t>
            </a:r>
            <a:r>
              <a:rPr lang="en-US" sz="2400" dirty="0">
                <a:latin typeface="Times New Roman" pitchFamily="18" charset="0"/>
                <a:cs typeface="Arial" charset="0"/>
              </a:rPr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latin typeface="Times New Roman" pitchFamily="18" charset="0"/>
                <a:cs typeface="Arial" charset="0"/>
              </a:rPr>
              <a:t>   = </a:t>
            </a:r>
            <a:r>
              <a:rPr lang="el-GR" sz="2400" dirty="0">
                <a:latin typeface="Times New Roman" pitchFamily="18" charset="0"/>
                <a:cs typeface="Arial" charset="0"/>
              </a:rPr>
              <a:t>Π</a:t>
            </a:r>
            <a:r>
              <a:rPr lang="en-US" sz="2400" dirty="0">
                <a:latin typeface="Times New Roman" pitchFamily="18" charset="0"/>
                <a:cs typeface="Arial" charset="0"/>
              </a:rPr>
              <a:t>(0, 1, 3)</a:t>
            </a:r>
          </a:p>
        </p:txBody>
      </p:sp>
      <p:sp>
        <p:nvSpPr>
          <p:cNvPr id="1106965" name="Line 21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7000875" y="4722812"/>
            <a:ext cx="1619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6" name="Line 22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7381875" y="4722812"/>
            <a:ext cx="1619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7" name="Line 23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7991475" y="4722812"/>
            <a:ext cx="1619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6968" name="Rectangle 2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724400" y="22098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E</a:t>
            </a:r>
            <a:r>
              <a:rPr lang="en-US" sz="2400" dirty="0">
                <a:latin typeface="Times New Roman" pitchFamily="18" charset="0"/>
                <a:cs typeface="Arial" charset="0"/>
              </a:rPr>
              <a:t> = 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OC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i="1" dirty="0">
                <a:latin typeface="Times New Roman" pitchFamily="18" charset="0"/>
                <a:cs typeface="Arial" charset="0"/>
              </a:rPr>
              <a:t>   = </a:t>
            </a:r>
            <a:r>
              <a:rPr lang="el-GR" sz="2400" dirty="0">
                <a:latin typeface="Times New Roman" pitchFamily="18" charset="0"/>
                <a:cs typeface="Arial" charset="0"/>
              </a:rPr>
              <a:t>Σ</a:t>
            </a:r>
            <a:r>
              <a:rPr lang="en-US" sz="2400" dirty="0">
                <a:latin typeface="Times New Roman" pitchFamily="18" charset="0"/>
                <a:cs typeface="Arial" charset="0"/>
              </a:rPr>
              <a:t>(2)</a:t>
            </a:r>
            <a:endParaRPr lang="en-US" sz="2400" i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1106969" name="Line 25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5562600" y="22860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Review: SOP &amp; POS Form</a:t>
            </a:r>
          </a:p>
        </p:txBody>
      </p:sp>
    </p:spTree>
    <p:extLst>
      <p:ext uri="{BB962C8B-B14F-4D97-AF65-F5344CB8AC3E}">
        <p14:creationId xmlns:p14="http://schemas.microsoft.com/office/powerpoint/2010/main" val="1871982739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90599" y="1066800"/>
            <a:ext cx="77288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 expression is in </a:t>
            </a:r>
            <a:r>
              <a:rPr lang="en-US" sz="3600" b="1" dirty="0"/>
              <a:t>product-of-sums (POS)</a:t>
            </a:r>
            <a:r>
              <a:rPr lang="en-US" sz="3600" dirty="0"/>
              <a:t> form when all sums contain literals only.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POS form: Y = (A+B)(C+D)(E’+F)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/>
              <a:t>NOT</a:t>
            </a:r>
            <a:r>
              <a:rPr lang="en-US" sz="3600" dirty="0"/>
              <a:t> POS form: Y = (D+E)(F’+GH)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POS form: Z = A(B+C)(D+E’)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Factoring: POS Form</a:t>
            </a:r>
          </a:p>
        </p:txBody>
      </p:sp>
    </p:spTree>
    <p:extLst>
      <p:ext uri="{BB962C8B-B14F-4D97-AF65-F5344CB8AC3E}">
        <p14:creationId xmlns:p14="http://schemas.microsoft.com/office/powerpoint/2010/main" val="2212827462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57200" y="1713131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(A + B’CDE)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  </a:t>
            </a:r>
            <a:r>
              <a:rPr lang="en-US" sz="2000" b="1" dirty="0"/>
              <a:t>Apply T8’ first when possible: </a:t>
            </a:r>
            <a:r>
              <a:rPr lang="en-US" sz="2000" dirty="0"/>
              <a:t>W+XZ = (W+X)(W+Z)</a:t>
            </a:r>
          </a:p>
          <a:p>
            <a:pPr marL="0" indent="0">
              <a:buNone/>
            </a:pPr>
            <a:r>
              <a:rPr lang="en-US" sz="2000" dirty="0"/>
              <a:t>     Make: X = B’C, Z = DE and rewrite equation</a:t>
            </a:r>
          </a:p>
          <a:p>
            <a:pPr marL="0" indent="0">
              <a:buNone/>
            </a:pPr>
            <a:r>
              <a:rPr lang="en-US" sz="2000" dirty="0"/>
              <a:t>          Y	= (A+XZ)				substitution (X=B’C, Z=DE)</a:t>
            </a:r>
          </a:p>
          <a:p>
            <a:pPr marL="0" indent="0">
              <a:buNone/>
            </a:pPr>
            <a:r>
              <a:rPr lang="en-US" sz="2000" dirty="0"/>
              <a:t> 	= (A+B’C)(A+DE) 		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	= (A+B’)(A+C)(A+D)(A+E) 		T8’: </a:t>
            </a:r>
            <a:r>
              <a:rPr lang="en-US" sz="2000" dirty="0" err="1"/>
              <a:t>Distributivity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10668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1: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Factoring: POS Form</a:t>
            </a:r>
          </a:p>
        </p:txBody>
      </p:sp>
    </p:spTree>
    <p:extLst>
      <p:ext uri="{BB962C8B-B14F-4D97-AF65-F5344CB8AC3E}">
        <p14:creationId xmlns:p14="http://schemas.microsoft.com/office/powerpoint/2010/main" val="1856793842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57200" y="1713131"/>
            <a:ext cx="8436429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 = AB + C’DE + F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     </a:t>
            </a:r>
            <a:r>
              <a:rPr lang="en-US" sz="2000" b="1" dirty="0"/>
              <a:t>Apply T8’ first when possible: </a:t>
            </a:r>
            <a:r>
              <a:rPr lang="en-US" sz="2000" dirty="0"/>
              <a:t>W+XZ = (W+X)(W+Z)</a:t>
            </a:r>
          </a:p>
          <a:p>
            <a:pPr marL="0" indent="0">
              <a:buNone/>
            </a:pPr>
            <a:r>
              <a:rPr lang="en-US" sz="2000" dirty="0"/>
              <a:t>     Make: W = AB, X = C’, Z = DE and rewrite equation</a:t>
            </a:r>
          </a:p>
          <a:p>
            <a:pPr marL="0" indent="0">
              <a:buNone/>
            </a:pPr>
            <a:r>
              <a:rPr lang="en-US" sz="2000" dirty="0"/>
              <a:t>          Y	= (W+XZ) + F		   	substitution W = AB, X = C’, Z = DE</a:t>
            </a:r>
          </a:p>
          <a:p>
            <a:pPr marL="0" indent="0">
              <a:buNone/>
            </a:pPr>
            <a:r>
              <a:rPr lang="en-US" sz="2000" dirty="0"/>
              <a:t> 	= (W+X)(W+Z) + F 	  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	= (AB+C’)(AB+DE)+F   		substitution</a:t>
            </a:r>
          </a:p>
          <a:p>
            <a:pPr marL="0" indent="0">
              <a:buNone/>
            </a:pPr>
            <a:r>
              <a:rPr lang="en-US" sz="2000" dirty="0"/>
              <a:t>	= (A+C’)(B+C’)(AB+D)(AB+E)+F	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= (A+C’)(B+C’)(A+D)(B+D)(A+E)(B+E)+F	             T8’: </a:t>
            </a:r>
            <a:r>
              <a:rPr lang="en-US" sz="2000" dirty="0" err="1"/>
              <a:t>Distributivity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= (A+C’+F)(B+C’+F)(A+D+F)(B+D+F)(A+E+F)(B+E+F)   T8’: </a:t>
            </a:r>
            <a:r>
              <a:rPr lang="en-US" sz="2000" dirty="0" err="1"/>
              <a:t>Distributivity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33401" y="1066800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Example 2: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Factoring: POS Form</a:t>
            </a:r>
          </a:p>
        </p:txBody>
      </p:sp>
    </p:spTree>
    <p:extLst>
      <p:ext uri="{BB962C8B-B14F-4D97-AF65-F5344CB8AC3E}">
        <p14:creationId xmlns:p14="http://schemas.microsoft.com/office/powerpoint/2010/main" val="57590992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816971"/>
              </p:ext>
            </p:extLst>
          </p:nvPr>
        </p:nvGraphicFramePr>
        <p:xfrm>
          <a:off x="1143001" y="1397000"/>
          <a:ext cx="7391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dirty="0"/>
                        <a:t>•B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 = 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DeMorgan’s</a:t>
                      </a:r>
                      <a:r>
                        <a:rPr lang="en-US" sz="2400" baseline="0" dirty="0"/>
                        <a:t> Theorem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2743200" y="2057400"/>
            <a:ext cx="1295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343400" y="2057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800600" y="2057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181600" y="2057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001527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28945"/>
            <a:ext cx="7381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complement 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of the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product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200" dirty="0">
                <a:latin typeface="+mj-lt"/>
                <a:cs typeface="Times New Roman" panose="02020603050405020304" pitchFamily="18" charset="0"/>
              </a:rPr>
              <a:t>is the </a:t>
            </a:r>
          </a:p>
          <a:p>
            <a:pPr algn="ctr"/>
            <a:r>
              <a:rPr lang="en-US" sz="32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sum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of the 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complements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547318"/>
              </p:ext>
            </p:extLst>
          </p:nvPr>
        </p:nvGraphicFramePr>
        <p:xfrm>
          <a:off x="1143001" y="1397000"/>
          <a:ext cx="7391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dirty="0"/>
                        <a:t>•B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 = 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DeMorgan’s</a:t>
                      </a:r>
                      <a:r>
                        <a:rPr lang="en-US" sz="2400" baseline="0" dirty="0"/>
                        <a:t> Theorem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3" name="Straight Connector 12"/>
          <p:cNvCxnSpPr/>
          <p:nvPr/>
        </p:nvCxnSpPr>
        <p:spPr>
          <a:xfrm>
            <a:off x="2743200" y="2057400"/>
            <a:ext cx="1295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343400" y="2057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800600" y="2057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181600" y="20574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180279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Theorem: Dual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194588"/>
              </p:ext>
            </p:extLst>
          </p:nvPr>
        </p:nvGraphicFramePr>
        <p:xfrm>
          <a:off x="758953" y="1397000"/>
          <a:ext cx="761491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9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dirty="0"/>
                        <a:t>•B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 = 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baseline="0" dirty="0"/>
                        <a:t>+</a:t>
                      </a:r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 = 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DeMorgan’s</a:t>
                      </a:r>
                      <a:r>
                        <a:rPr lang="en-US" sz="2400" baseline="0" dirty="0"/>
                        <a:t> Theorem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840992" y="2032000"/>
            <a:ext cx="1295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866392" y="239268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323592" y="239268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704592" y="239268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208272" y="2042160"/>
            <a:ext cx="1295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233672" y="240284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90872" y="240284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071872" y="240284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09029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Theorem: 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236" y="2893665"/>
            <a:ext cx="738124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The complement of the product </a:t>
            </a:r>
          </a:p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is the </a:t>
            </a:r>
          </a:p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sum of the complements.</a:t>
            </a:r>
          </a:p>
          <a:p>
            <a:pPr algn="ctr"/>
            <a:endParaRPr lang="en-US" sz="1000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177536"/>
              </p:ext>
            </p:extLst>
          </p:nvPr>
        </p:nvGraphicFramePr>
        <p:xfrm>
          <a:off x="758953" y="1397000"/>
          <a:ext cx="761491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9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dirty="0"/>
                        <a:t>•B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 = 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baseline="0" dirty="0"/>
                        <a:t>+</a:t>
                      </a:r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 = 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DeMorgan’s</a:t>
                      </a:r>
                      <a:r>
                        <a:rPr lang="en-US" sz="2400" baseline="0" dirty="0"/>
                        <a:t> Theorem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840992" y="2032000"/>
            <a:ext cx="1295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866392" y="239268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323592" y="239268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704592" y="239268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208272" y="2042160"/>
            <a:ext cx="1295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233672" y="240284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90872" y="240284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071872" y="240284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238646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Theorem: 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236" y="2893665"/>
            <a:ext cx="738124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The complement of the product </a:t>
            </a:r>
          </a:p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is the </a:t>
            </a:r>
          </a:p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sum of the complements.</a:t>
            </a:r>
          </a:p>
          <a:p>
            <a:pPr algn="ctr"/>
            <a:endParaRPr lang="en-US" sz="1000" dirty="0"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+mj-lt"/>
                <a:cs typeface="Times New Roman" panose="02020603050405020304" pitchFamily="18" charset="0"/>
              </a:rPr>
              <a:t>Dual: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complement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of the </a:t>
            </a:r>
            <a:r>
              <a:rPr lang="en-US" sz="28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sum</a:t>
            </a:r>
          </a:p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is the 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product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of the 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complements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177536"/>
              </p:ext>
            </p:extLst>
          </p:nvPr>
        </p:nvGraphicFramePr>
        <p:xfrm>
          <a:off x="758953" y="1397000"/>
          <a:ext cx="761491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9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00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Theorem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Dual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dirty="0"/>
                        <a:t>•B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 = 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baseline="0" dirty="0"/>
                        <a:t>+</a:t>
                      </a:r>
                      <a:r>
                        <a:rPr lang="en-US" sz="2400" dirty="0"/>
                        <a:t>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baseline="0" dirty="0"/>
                        <a:t>+B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 = B</a:t>
                      </a:r>
                      <a:r>
                        <a:rPr lang="en-US" sz="2400" baseline="-25000" dirty="0"/>
                        <a:t>0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1</a:t>
                      </a:r>
                      <a:r>
                        <a:rPr lang="en-US" sz="2400" dirty="0"/>
                        <a:t>•</a:t>
                      </a:r>
                      <a:r>
                        <a:rPr lang="en-US" sz="2400" baseline="0" dirty="0"/>
                        <a:t>B</a:t>
                      </a:r>
                      <a:r>
                        <a:rPr lang="en-US" sz="2400" baseline="-25000" dirty="0"/>
                        <a:t>2</a:t>
                      </a:r>
                      <a:r>
                        <a:rPr lang="en-US" sz="2400" baseline="0" dirty="0"/>
                        <a:t>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DeMorgan’s</a:t>
                      </a:r>
                      <a:r>
                        <a:rPr lang="en-US" sz="2400" baseline="0" dirty="0"/>
                        <a:t> Theorem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8" name="Straight Connector 17"/>
          <p:cNvCxnSpPr/>
          <p:nvPr/>
        </p:nvCxnSpPr>
        <p:spPr>
          <a:xfrm>
            <a:off x="1840992" y="2032000"/>
            <a:ext cx="1295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866392" y="239268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323592" y="239268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704592" y="239268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208272" y="2042160"/>
            <a:ext cx="1295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233672" y="240284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90872" y="240284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071872" y="240284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238646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3810000" cy="4953000"/>
          </a:xfrm>
        </p:spPr>
        <p:txBody>
          <a:bodyPr/>
          <a:lstStyle/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AB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  </a:t>
            </a:r>
            <a:r>
              <a:rPr lang="en-US" i="1" dirty="0"/>
              <a:t>B</a:t>
            </a:r>
          </a:p>
        </p:txBody>
      </p:sp>
      <p:graphicFrame>
        <p:nvGraphicFramePr>
          <p:cNvPr id="876555" name="Object 11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50054652"/>
              </p:ext>
            </p:extLst>
          </p:nvPr>
        </p:nvGraphicFramePr>
        <p:xfrm>
          <a:off x="4343400" y="1219200"/>
          <a:ext cx="186690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838800" imgH="714240" progId="Visio.Drawing.6">
                  <p:embed/>
                </p:oleObj>
              </mc:Choice>
              <mc:Fallback>
                <p:oleObj name="VISIO" r:id="rId13" imgW="838800" imgH="714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219200"/>
                        <a:ext cx="1866900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6557" name="Object 13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677852716"/>
              </p:ext>
            </p:extLst>
          </p:nvPr>
        </p:nvGraphicFramePr>
        <p:xfrm>
          <a:off x="4419600" y="4038600"/>
          <a:ext cx="186690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5" imgW="838800" imgH="714240" progId="Visio.Drawing.6">
                  <p:embed/>
                </p:oleObj>
              </mc:Choice>
              <mc:Fallback>
                <p:oleObj name="VISIO" r:id="rId15" imgW="838800" imgH="714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038600"/>
                        <a:ext cx="1866900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48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819400" y="134205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429000" y="134205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981200" y="134205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1" name="Oval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505200" y="4419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6552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3189517" y="426564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3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3722917" y="426564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4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970317" y="4265648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3777697903"/>
      </p:ext>
    </p:extLst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38100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(A+BD)C</a:t>
            </a:r>
          </a:p>
          <a:p>
            <a:pPr marL="0" indent="0">
              <a:buNone/>
            </a:pPr>
            <a:r>
              <a:rPr lang="en-US" i="1" dirty="0"/>
              <a:t>   </a:t>
            </a:r>
          </a:p>
        </p:txBody>
      </p:sp>
      <p:sp>
        <p:nvSpPr>
          <p:cNvPr id="876548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786742" y="132805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100942" y="1328057"/>
            <a:ext cx="48985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709050" y="1208314"/>
            <a:ext cx="13062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 Example 1</a:t>
            </a:r>
          </a:p>
        </p:txBody>
      </p:sp>
    </p:spTree>
    <p:extLst>
      <p:ext uri="{BB962C8B-B14F-4D97-AF65-F5344CB8AC3E}">
        <p14:creationId xmlns:p14="http://schemas.microsoft.com/office/powerpoint/2010/main" val="2948819471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38100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(A+BD)C</a:t>
            </a:r>
          </a:p>
          <a:p>
            <a:pPr marL="0" indent="0">
              <a:buNone/>
            </a:pPr>
            <a:r>
              <a:rPr lang="en-US" i="1" dirty="0"/>
              <a:t>   = (A+BD) + C</a:t>
            </a:r>
          </a:p>
          <a:p>
            <a:pPr marL="0" indent="0">
              <a:buNone/>
            </a:pPr>
            <a:r>
              <a:rPr lang="en-US" i="1" dirty="0"/>
              <a:t>   = (A•(BD)) + C</a:t>
            </a:r>
          </a:p>
          <a:p>
            <a:pPr marL="0" indent="0">
              <a:buNone/>
            </a:pPr>
            <a:r>
              <a:rPr lang="en-US" i="1" dirty="0"/>
              <a:t>   = (A•(BD)) + C</a:t>
            </a:r>
          </a:p>
          <a:p>
            <a:pPr marL="0" indent="0">
              <a:buNone/>
            </a:pPr>
            <a:r>
              <a:rPr lang="en-US" i="1" dirty="0"/>
              <a:t>   = ABD + C</a:t>
            </a:r>
          </a:p>
        </p:txBody>
      </p:sp>
      <p:sp>
        <p:nvSpPr>
          <p:cNvPr id="876548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786742" y="132805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100942" y="1328057"/>
            <a:ext cx="48985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709050" y="1208314"/>
            <a:ext cx="130629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 Example 1</a:t>
            </a:r>
          </a:p>
        </p:txBody>
      </p:sp>
      <p:sp>
        <p:nvSpPr>
          <p:cNvPr id="13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709051" y="1850571"/>
            <a:ext cx="93617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4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145976" y="1926771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5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122710" y="1926770"/>
            <a:ext cx="48985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4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3145976" y="187234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4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698172" y="2492829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2318659" y="2492829"/>
            <a:ext cx="380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4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318659" y="2427516"/>
            <a:ext cx="3809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1736272" y="306977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1600194" y="3657602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71764"/>
      </p:ext>
    </p:extLst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38100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(ACE+D) + B</a:t>
            </a:r>
          </a:p>
          <a:p>
            <a:pPr marL="0" indent="0">
              <a:buNone/>
            </a:pPr>
            <a:r>
              <a:rPr lang="en-US" i="1" dirty="0"/>
              <a:t>  </a:t>
            </a:r>
          </a:p>
        </p:txBody>
      </p:sp>
      <p:sp>
        <p:nvSpPr>
          <p:cNvPr id="876548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558142" y="132805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730827" y="1328056"/>
            <a:ext cx="446313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709050" y="1230086"/>
            <a:ext cx="186146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 Example 2</a:t>
            </a:r>
          </a:p>
        </p:txBody>
      </p:sp>
    </p:spTree>
    <p:extLst>
      <p:ext uri="{BB962C8B-B14F-4D97-AF65-F5344CB8AC3E}">
        <p14:creationId xmlns:p14="http://schemas.microsoft.com/office/powerpoint/2010/main" val="2047346794"/>
      </p:ext>
    </p:extLst>
  </p:cSld>
  <p:clrMapOvr>
    <a:masterClrMapping/>
  </p:clrMapOvr>
  <p:transition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38100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(ACE+D) + B</a:t>
            </a:r>
          </a:p>
          <a:p>
            <a:pPr marL="0" indent="0">
              <a:buNone/>
            </a:pPr>
            <a:r>
              <a:rPr lang="en-US" i="1" dirty="0"/>
              <a:t>   = (ACE+D) • B</a:t>
            </a:r>
          </a:p>
          <a:p>
            <a:pPr marL="0" indent="0">
              <a:buNone/>
            </a:pPr>
            <a:r>
              <a:rPr lang="en-US" i="1" dirty="0"/>
              <a:t>   = (ACE•D) • B</a:t>
            </a:r>
          </a:p>
          <a:p>
            <a:pPr marL="0" indent="0">
              <a:buNone/>
            </a:pPr>
            <a:r>
              <a:rPr lang="en-US" i="1" dirty="0"/>
              <a:t>   = ((AC+E)•D) • B</a:t>
            </a:r>
          </a:p>
          <a:p>
            <a:pPr marL="0" indent="0">
              <a:buNone/>
            </a:pPr>
            <a:r>
              <a:rPr lang="en-US" i="1" dirty="0"/>
              <a:t>   = ((AC+E)•D) • B</a:t>
            </a:r>
          </a:p>
          <a:p>
            <a:pPr marL="0" indent="0">
              <a:buNone/>
            </a:pPr>
            <a:r>
              <a:rPr lang="en-US" i="1" dirty="0"/>
              <a:t>   = (ACD + DE) • B</a:t>
            </a:r>
          </a:p>
          <a:p>
            <a:pPr marL="0" indent="0">
              <a:buNone/>
            </a:pPr>
            <a:r>
              <a:rPr lang="en-US" i="1" dirty="0"/>
              <a:t>   = ABCD + BDE</a:t>
            </a:r>
          </a:p>
        </p:txBody>
      </p:sp>
      <p:sp>
        <p:nvSpPr>
          <p:cNvPr id="876548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558142" y="132805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730827" y="1328056"/>
            <a:ext cx="446313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709050" y="1230086"/>
            <a:ext cx="186146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 Example 2</a:t>
            </a:r>
          </a:p>
        </p:txBody>
      </p:sp>
      <p:sp>
        <p:nvSpPr>
          <p:cNvPr id="13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709050" y="1850571"/>
            <a:ext cx="104503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4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298380" y="1926771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5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763473" y="1926770"/>
            <a:ext cx="4136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4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698171" y="2492829"/>
            <a:ext cx="47896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4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698171" y="2438403"/>
            <a:ext cx="620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V="1">
            <a:off x="1856018" y="3069768"/>
            <a:ext cx="375548" cy="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4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2525482" y="1926771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309266" y="2492829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2573680" y="249282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4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2443842" y="3069768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4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1828794" y="2982693"/>
            <a:ext cx="4027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4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3766466" y="306977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4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2449270" y="365759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4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3771894" y="3657604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3754200" y="4245444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3064296" y="424544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4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1779815" y="485505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4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2841167" y="485505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4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3366376" y="4855036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4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2574452" y="243090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91318"/>
      </p:ext>
    </p:extLst>
  </p:cSld>
  <p:clrMapOvr>
    <a:masterClrMapping/>
  </p:clrMapOvr>
  <p:transition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3810000" cy="4953000"/>
          </a:xfrm>
        </p:spPr>
        <p:txBody>
          <a:bodyPr/>
          <a:lstStyle/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AB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dirty="0"/>
              <a:t>   </a:t>
            </a:r>
            <a:r>
              <a:rPr lang="en-US" i="1" dirty="0"/>
              <a:t>B</a:t>
            </a:r>
          </a:p>
        </p:txBody>
      </p:sp>
      <p:graphicFrame>
        <p:nvGraphicFramePr>
          <p:cNvPr id="876555" name="Object 11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36768318"/>
              </p:ext>
            </p:extLst>
          </p:nvPr>
        </p:nvGraphicFramePr>
        <p:xfrm>
          <a:off x="4343400" y="1219200"/>
          <a:ext cx="186690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838800" imgH="714240" progId="Visio.Drawing.6">
                  <p:embed/>
                </p:oleObj>
              </mc:Choice>
              <mc:Fallback>
                <p:oleObj name="VISIO" r:id="rId13" imgW="838800" imgH="714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219200"/>
                        <a:ext cx="1866900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6557" name="Object 13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024019701"/>
              </p:ext>
            </p:extLst>
          </p:nvPr>
        </p:nvGraphicFramePr>
        <p:xfrm>
          <a:off x="4419600" y="4038600"/>
          <a:ext cx="186690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5" imgW="838800" imgH="714240" progId="Visio.Drawing.6">
                  <p:embed/>
                </p:oleObj>
              </mc:Choice>
              <mc:Fallback>
                <p:oleObj name="VISIO" r:id="rId15" imgW="838800" imgH="714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038600"/>
                        <a:ext cx="1866900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48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819400" y="134205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Line 5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429000" y="134205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0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981200" y="134205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1" name="Oval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505200" y="44196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6552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3208179" y="4256317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3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3741579" y="4256317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4" name="Line 10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1988979" y="4256317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DeMorgan’s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451175683"/>
      </p:ext>
    </p:extLst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8" name="Rectangle 10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990600"/>
            <a:ext cx="7772400" cy="4953000"/>
          </a:xfrm>
          <a:noFill/>
          <a:ln/>
        </p:spPr>
        <p:txBody>
          <a:bodyPr/>
          <a:lstStyle/>
          <a:p>
            <a:r>
              <a:rPr lang="en-US" b="1" dirty="0"/>
              <a:t>Backward:</a:t>
            </a:r>
          </a:p>
          <a:p>
            <a:pPr lvl="1"/>
            <a:r>
              <a:rPr lang="en-US" sz="2000" dirty="0"/>
              <a:t>Body changes</a:t>
            </a:r>
          </a:p>
          <a:p>
            <a:pPr lvl="1"/>
            <a:r>
              <a:rPr lang="en-US" sz="2000" dirty="0"/>
              <a:t>Adds bubbles to inputs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1400" dirty="0"/>
          </a:p>
          <a:p>
            <a:r>
              <a:rPr lang="en-US" b="1" dirty="0"/>
              <a:t>Forward:</a:t>
            </a:r>
          </a:p>
          <a:p>
            <a:pPr lvl="1"/>
            <a:r>
              <a:rPr lang="en-US" sz="2000" dirty="0"/>
              <a:t>Body changes</a:t>
            </a:r>
          </a:p>
          <a:p>
            <a:pPr lvl="1"/>
            <a:r>
              <a:rPr lang="en-US" sz="2000" dirty="0"/>
              <a:t>Adds bubble to output</a:t>
            </a:r>
          </a:p>
        </p:txBody>
      </p:sp>
      <p:graphicFrame>
        <p:nvGraphicFramePr>
          <p:cNvPr id="877573" name="Object 5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73695193"/>
              </p:ext>
            </p:extLst>
          </p:nvPr>
        </p:nvGraphicFramePr>
        <p:xfrm>
          <a:off x="1828800" y="2209800"/>
          <a:ext cx="5029200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685880" imgH="371520" progId="Visio.Drawing.6">
                  <p:embed/>
                </p:oleObj>
              </mc:Choice>
              <mc:Fallback>
                <p:oleObj name="VISIO" r:id="rId6" imgW="1685880" imgH="371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209800"/>
                        <a:ext cx="5029200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7575" name="Object 7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08708836"/>
              </p:ext>
            </p:extLst>
          </p:nvPr>
        </p:nvGraphicFramePr>
        <p:xfrm>
          <a:off x="1828800" y="4800600"/>
          <a:ext cx="4957763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685880" imgH="371520" progId="Visio.Drawing.6">
                  <p:embed/>
                </p:oleObj>
              </mc:Choice>
              <mc:Fallback>
                <p:oleObj name="VISIO" r:id="rId8" imgW="1685880" imgH="371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00600"/>
                        <a:ext cx="4957763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</a:t>
            </a:r>
          </a:p>
        </p:txBody>
      </p:sp>
    </p:spTree>
    <p:extLst>
      <p:ext uri="{BB962C8B-B14F-4D97-AF65-F5344CB8AC3E}">
        <p14:creationId xmlns:p14="http://schemas.microsoft.com/office/powerpoint/2010/main" val="1770837474"/>
      </p:ext>
    </p:extLst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8596" name="Object 4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1195031"/>
              </p:ext>
            </p:extLst>
          </p:nvPr>
        </p:nvGraphicFramePr>
        <p:xfrm>
          <a:off x="2133600" y="2362200"/>
          <a:ext cx="44958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07240" imgH="714240" progId="Visio.Drawing.6">
                  <p:embed/>
                </p:oleObj>
              </mc:Choice>
              <mc:Fallback>
                <p:oleObj name="VISIO" r:id="rId5" imgW="1407240" imgH="714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362200"/>
                        <a:ext cx="4495800" cy="218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</a:t>
            </a:r>
          </a:p>
        </p:txBody>
      </p:sp>
      <p:sp>
        <p:nvSpPr>
          <p:cNvPr id="5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990600"/>
            <a:ext cx="7772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What is the Boolean expression for this circuit?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180651"/>
      </p:ext>
    </p:extLst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4437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5333448"/>
              </p:ext>
            </p:extLst>
          </p:nvPr>
        </p:nvGraphicFramePr>
        <p:xfrm>
          <a:off x="2057400" y="2401887"/>
          <a:ext cx="4419600" cy="224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407240" imgH="714240" progId="Visio.Drawing.6">
                  <p:embed/>
                </p:oleObj>
              </mc:Choice>
              <mc:Fallback>
                <p:oleObj name="VISIO" r:id="rId6" imgW="1407240" imgH="7142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401887"/>
                        <a:ext cx="4419600" cy="2246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4434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990600"/>
            <a:ext cx="7772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What is the Boolean expression for this circuit?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914438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00400" y="4953000"/>
            <a:ext cx="3048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 i="1" dirty="0">
                <a:latin typeface="Times New Roman" pitchFamily="18" charset="0"/>
                <a:cs typeface="Arial" charset="0"/>
              </a:rPr>
              <a:t>Y</a:t>
            </a:r>
            <a:r>
              <a:rPr lang="en-US" sz="3200" dirty="0">
                <a:latin typeface="Times New Roman" pitchFamily="18" charset="0"/>
                <a:cs typeface="Arial" charset="0"/>
              </a:rPr>
              <a:t> = </a:t>
            </a:r>
            <a:r>
              <a:rPr lang="en-US" sz="3200" i="1" dirty="0">
                <a:latin typeface="Times New Roman" pitchFamily="18" charset="0"/>
                <a:cs typeface="Arial" charset="0"/>
              </a:rPr>
              <a:t>AB</a:t>
            </a:r>
            <a:r>
              <a:rPr lang="en-US" sz="3200" dirty="0">
                <a:latin typeface="Times New Roman" pitchFamily="18" charset="0"/>
                <a:cs typeface="Arial" charset="0"/>
              </a:rPr>
              <a:t> + </a:t>
            </a:r>
            <a:r>
              <a:rPr lang="en-US" sz="3200" i="1" dirty="0">
                <a:latin typeface="Times New Roman" pitchFamily="18" charset="0"/>
                <a:cs typeface="Arial" charset="0"/>
              </a:rPr>
              <a:t>CD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</a:t>
            </a:r>
          </a:p>
        </p:txBody>
      </p:sp>
    </p:spTree>
    <p:extLst>
      <p:ext uri="{BB962C8B-B14F-4D97-AF65-F5344CB8AC3E}">
        <p14:creationId xmlns:p14="http://schemas.microsoft.com/office/powerpoint/2010/main" val="2801096402"/>
      </p:ext>
    </p:extLst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7752" name="Object 8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0718751"/>
              </p:ext>
            </p:extLst>
          </p:nvPr>
        </p:nvGraphicFramePr>
        <p:xfrm>
          <a:off x="1828800" y="3124200"/>
          <a:ext cx="6289675" cy="23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064600" imgH="771480" progId="Visio.Drawing.6">
                  <p:embed/>
                </p:oleObj>
              </mc:Choice>
              <mc:Fallback>
                <p:oleObj name="VISIO" r:id="rId5" imgW="2064600" imgH="771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124200"/>
                        <a:ext cx="6289675" cy="234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74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143000"/>
            <a:ext cx="8001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Begin at output, then work toward inputs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Push bubbles on final output back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Draw gates in a form so bubbles cancel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 Rules</a:t>
            </a:r>
          </a:p>
        </p:txBody>
      </p:sp>
    </p:spTree>
    <p:extLst>
      <p:ext uri="{BB962C8B-B14F-4D97-AF65-F5344CB8AC3E}">
        <p14:creationId xmlns:p14="http://schemas.microsoft.com/office/powerpoint/2010/main" val="2191302727"/>
      </p:ext>
    </p:extLst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8773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725097"/>
              </p:ext>
            </p:extLst>
          </p:nvPr>
        </p:nvGraphicFramePr>
        <p:xfrm>
          <a:off x="2362200" y="1066800"/>
          <a:ext cx="4402138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35960" imgH="2709000" progId="Visio.Drawing.6">
                  <p:embed/>
                </p:oleObj>
              </mc:Choice>
              <mc:Fallback>
                <p:oleObj name="VISIO" r:id="rId4" imgW="2235960" imgH="2709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066800"/>
                        <a:ext cx="4402138" cy="533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 Example</a:t>
            </a:r>
          </a:p>
        </p:txBody>
      </p:sp>
    </p:spTree>
    <p:extLst>
      <p:ext uri="{BB962C8B-B14F-4D97-AF65-F5344CB8AC3E}">
        <p14:creationId xmlns:p14="http://schemas.microsoft.com/office/powerpoint/2010/main" val="3655000950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0627" name="Object 3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240923"/>
              </p:ext>
            </p:extLst>
          </p:nvPr>
        </p:nvGraphicFramePr>
        <p:xfrm>
          <a:off x="2362200" y="914400"/>
          <a:ext cx="4150587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35960" imgH="2709000" progId="Visio.Drawing.6">
                  <p:embed/>
                </p:oleObj>
              </mc:Choice>
              <mc:Fallback>
                <p:oleObj name="VISIO" r:id="rId4" imgW="2235960" imgH="2709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914400"/>
                        <a:ext cx="4150587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 Example</a:t>
            </a:r>
          </a:p>
        </p:txBody>
      </p:sp>
    </p:spTree>
    <p:extLst>
      <p:ext uri="{BB962C8B-B14F-4D97-AF65-F5344CB8AC3E}">
        <p14:creationId xmlns:p14="http://schemas.microsoft.com/office/powerpoint/2010/main" val="2944570107"/>
      </p:ext>
    </p:extLst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0627" name="Object 3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2242936"/>
              </p:ext>
            </p:extLst>
          </p:nvPr>
        </p:nvGraphicFramePr>
        <p:xfrm>
          <a:off x="2362200" y="914400"/>
          <a:ext cx="4114800" cy="4985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35960" imgH="2709000" progId="Visio.Drawing.6">
                  <p:embed/>
                </p:oleObj>
              </mc:Choice>
              <mc:Fallback>
                <p:oleObj name="VISIO" r:id="rId4" imgW="2235960" imgH="2709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914400"/>
                        <a:ext cx="4114800" cy="4985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 Example</a:t>
            </a:r>
          </a:p>
        </p:txBody>
      </p:sp>
    </p:spTree>
    <p:extLst>
      <p:ext uri="{BB962C8B-B14F-4D97-AF65-F5344CB8AC3E}">
        <p14:creationId xmlns:p14="http://schemas.microsoft.com/office/powerpoint/2010/main" val="4228318365"/>
      </p:ext>
    </p:extLst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0627" name="Object 3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047017"/>
              </p:ext>
            </p:extLst>
          </p:nvPr>
        </p:nvGraphicFramePr>
        <p:xfrm>
          <a:off x="2362200" y="914400"/>
          <a:ext cx="40877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235960" imgH="2709000" progId="Visio.Drawing.6">
                  <p:embed/>
                </p:oleObj>
              </mc:Choice>
              <mc:Fallback>
                <p:oleObj name="VISIO" r:id="rId4" imgW="2235960" imgH="2709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914400"/>
                        <a:ext cx="4087700" cy="495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Bubble Pushing Example</a:t>
            </a:r>
          </a:p>
        </p:txBody>
      </p:sp>
    </p:spTree>
    <p:extLst>
      <p:ext uri="{BB962C8B-B14F-4D97-AF65-F5344CB8AC3E}">
        <p14:creationId xmlns:p14="http://schemas.microsoft.com/office/powerpoint/2010/main" val="4228318365"/>
      </p:ext>
    </p:extLst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07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7315200" cy="4953000"/>
          </a:xfrm>
        </p:spPr>
        <p:txBody>
          <a:bodyPr/>
          <a:lstStyle/>
          <a:p>
            <a:r>
              <a:rPr lang="en-US" sz="2400" dirty="0"/>
              <a:t>Two-level logic: ANDs followed by ORs</a:t>
            </a:r>
          </a:p>
          <a:p>
            <a:r>
              <a:rPr lang="en-US" sz="2400" dirty="0"/>
              <a:t>Example: </a:t>
            </a:r>
            <a:r>
              <a:rPr lang="en-US" sz="2400" i="1" dirty="0"/>
              <a:t>Y</a:t>
            </a:r>
            <a:r>
              <a:rPr lang="en-US" sz="2400" dirty="0"/>
              <a:t> = </a:t>
            </a:r>
            <a:r>
              <a:rPr lang="en-US" sz="2400" i="1" dirty="0"/>
              <a:t>ABC</a:t>
            </a:r>
            <a:r>
              <a:rPr lang="en-US" sz="2400" dirty="0"/>
              <a:t> + </a:t>
            </a:r>
            <a:r>
              <a:rPr lang="en-US" sz="2400" i="1" dirty="0"/>
              <a:t>ABC</a:t>
            </a:r>
            <a:r>
              <a:rPr lang="en-US" sz="2400" dirty="0"/>
              <a:t> + </a:t>
            </a:r>
            <a:r>
              <a:rPr lang="en-US" sz="2400" i="1" dirty="0"/>
              <a:t>ABC</a:t>
            </a:r>
          </a:p>
        </p:txBody>
      </p:sp>
      <p:graphicFrame>
        <p:nvGraphicFramePr>
          <p:cNvPr id="899076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1107293"/>
              </p:ext>
            </p:extLst>
          </p:nvPr>
        </p:nvGraphicFramePr>
        <p:xfrm>
          <a:off x="1981200" y="2209800"/>
          <a:ext cx="5356240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3041640" imgH="1914480" progId="Visio.Drawing.6">
                  <p:embed/>
                </p:oleObj>
              </mc:Choice>
              <mc:Fallback>
                <p:oleObj name="VISIO" r:id="rId11" imgW="3041640" imgH="1914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09800"/>
                        <a:ext cx="5356240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9079" name="Line 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3200400" y="175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1" name="Line 9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3429000" y="175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2" name="Line 10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2971800" y="175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3" name="Line 11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3962400" y="175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4" name="Line 12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91000" y="175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9085" name="Line 13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4724400" y="175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From Logic to Gates</a:t>
            </a:r>
          </a:p>
        </p:txBody>
      </p:sp>
    </p:spTree>
    <p:extLst>
      <p:ext uri="{BB962C8B-B14F-4D97-AF65-F5344CB8AC3E}">
        <p14:creationId xmlns:p14="http://schemas.microsoft.com/office/powerpoint/2010/main" val="199672065"/>
      </p:ext>
    </p:extLst>
  </p:cSld>
  <p:clrMapOvr>
    <a:masterClrMapping/>
  </p:clrMapOvr>
  <p:transition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3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219200"/>
            <a:ext cx="7315200" cy="4953000"/>
          </a:xfrm>
        </p:spPr>
        <p:txBody>
          <a:bodyPr>
            <a:normAutofit/>
          </a:bodyPr>
          <a:lstStyle/>
          <a:p>
            <a:r>
              <a:rPr lang="en-US" dirty="0"/>
              <a:t>Inputs on the left (or top)</a:t>
            </a:r>
          </a:p>
          <a:p>
            <a:r>
              <a:rPr lang="en-US" dirty="0"/>
              <a:t>Outputs on right (or bottom)</a:t>
            </a:r>
          </a:p>
          <a:p>
            <a:r>
              <a:rPr lang="en-US" dirty="0"/>
              <a:t>Gates flow from left to right</a:t>
            </a:r>
          </a:p>
          <a:p>
            <a:r>
              <a:rPr lang="en-US" dirty="0"/>
              <a:t>Straight wires are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Circuit Schematics Rules</a:t>
            </a:r>
          </a:p>
        </p:txBody>
      </p:sp>
    </p:spTree>
    <p:extLst>
      <p:ext uri="{BB962C8B-B14F-4D97-AF65-F5344CB8AC3E}">
        <p14:creationId xmlns:p14="http://schemas.microsoft.com/office/powerpoint/2010/main" val="2850568548"/>
      </p:ext>
    </p:extLst>
  </p:cSld>
  <p:clrMapOvr>
    <a:masterClrMapping/>
  </p:clrMapOvr>
  <p:transition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7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143000"/>
            <a:ext cx="7315200" cy="4953000"/>
          </a:xfrm>
        </p:spPr>
        <p:txBody>
          <a:bodyPr>
            <a:normAutofit/>
          </a:bodyPr>
          <a:lstStyle/>
          <a:p>
            <a:r>
              <a:rPr lang="en-US" dirty="0"/>
              <a:t>Wires always connect at a T junction</a:t>
            </a:r>
          </a:p>
          <a:p>
            <a:r>
              <a:rPr lang="en-US" dirty="0"/>
              <a:t>A dot where wires cross indicates a connection between the wires</a:t>
            </a:r>
          </a:p>
          <a:p>
            <a:r>
              <a:rPr lang="en-US" dirty="0"/>
              <a:t>Wires crossing </a:t>
            </a:r>
            <a:r>
              <a:rPr lang="en-US" i="1" dirty="0"/>
              <a:t>without</a:t>
            </a:r>
            <a:r>
              <a:rPr lang="en-US" dirty="0"/>
              <a:t> a dot make no connection</a:t>
            </a:r>
          </a:p>
        </p:txBody>
      </p:sp>
      <p:graphicFrame>
        <p:nvGraphicFramePr>
          <p:cNvPr id="917514" name="Object 10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5472803"/>
              </p:ext>
            </p:extLst>
          </p:nvPr>
        </p:nvGraphicFramePr>
        <p:xfrm>
          <a:off x="1136754" y="3546475"/>
          <a:ext cx="7391400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120840" imgH="915480" progId="Visio.Drawing.6">
                  <p:embed/>
                </p:oleObj>
              </mc:Choice>
              <mc:Fallback>
                <p:oleObj name="VISIO" r:id="rId5" imgW="3120840" imgH="915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754" y="3546475"/>
                        <a:ext cx="7391400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Circuit Schematic Rules (cont.)</a:t>
            </a:r>
          </a:p>
        </p:txBody>
      </p:sp>
    </p:spTree>
    <p:extLst>
      <p:ext uri="{BB962C8B-B14F-4D97-AF65-F5344CB8AC3E}">
        <p14:creationId xmlns:p14="http://schemas.microsoft.com/office/powerpoint/2010/main" val="1478695543"/>
      </p:ext>
    </p:extLst>
  </p:cSld>
  <p:clrMapOvr>
    <a:masterClrMapping/>
  </p:clrMapOvr>
  <p:transition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6771" name="Object 3"/>
          <p:cNvGraphicFramePr>
            <a:graphicFrameLocks noGrp="1" noChangeAspect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0914943"/>
              </p:ext>
            </p:extLst>
          </p:nvPr>
        </p:nvGraphicFramePr>
        <p:xfrm>
          <a:off x="4495800" y="1295400"/>
          <a:ext cx="4000500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873440" imgH="2105640" progId="Visio.Drawing.6">
                  <p:embed/>
                </p:oleObj>
              </mc:Choice>
              <mc:Fallback>
                <p:oleObj name="VISIO" r:id="rId6" imgW="1873440" imgH="2105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295400"/>
                        <a:ext cx="4000500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Multiple-Output Circuits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6017624"/>
              </p:ext>
            </p:extLst>
          </p:nvPr>
        </p:nvGraphicFramePr>
        <p:xfrm>
          <a:off x="1219200" y="3086100"/>
          <a:ext cx="2865438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405800" imgH="1177920" progId="Visio.Drawing.6">
                  <p:embed/>
                </p:oleObj>
              </mc:Choice>
              <mc:Fallback>
                <p:oleObj name="VISIO" r:id="rId8" imgW="1405800" imgH="1177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086100"/>
                        <a:ext cx="2865438" cy="240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457200" y="990600"/>
            <a:ext cx="7315200" cy="49530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0070C0"/>
                </a:solidFill>
              </a:rPr>
              <a:t>Example: </a:t>
            </a:r>
            <a:r>
              <a:rPr lang="en-US" b="1"/>
              <a:t>Priority Circuit</a:t>
            </a:r>
          </a:p>
          <a:p>
            <a:pPr marL="0" indent="0">
              <a:buFont typeface="Arial" pitchFamily="34" charset="0"/>
              <a:buNone/>
            </a:pPr>
            <a:r>
              <a:rPr lang="en-US" sz="2400"/>
              <a:t>     Output asserted </a:t>
            </a:r>
          </a:p>
          <a:p>
            <a:pPr marL="0" indent="0">
              <a:buFont typeface="Arial" pitchFamily="34" charset="0"/>
              <a:buNone/>
            </a:pPr>
            <a:r>
              <a:rPr lang="en-US" sz="2400"/>
              <a:t>     corresponding to most </a:t>
            </a:r>
          </a:p>
          <a:p>
            <a:pPr marL="0" indent="0">
              <a:buFont typeface="Arial" pitchFamily="34" charset="0"/>
              <a:buNone/>
            </a:pPr>
            <a:r>
              <a:rPr lang="en-US" sz="2400"/>
              <a:t>     significant TRUE input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2788809"/>
      </p:ext>
    </p:extLst>
  </p:cSld>
  <p:clrMapOvr>
    <a:masterClrMapping/>
  </p:clrMapOvr>
  <p:transition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6771" name="Object 3"/>
          <p:cNvGraphicFramePr>
            <a:graphicFrameLocks noGrp="1" noChangeAspect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477092"/>
              </p:ext>
            </p:extLst>
          </p:nvPr>
        </p:nvGraphicFramePr>
        <p:xfrm>
          <a:off x="4495800" y="1341437"/>
          <a:ext cx="4000500" cy="429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873440" imgH="2105640" progId="Visio.Drawing.6">
                  <p:embed/>
                </p:oleObj>
              </mc:Choice>
              <mc:Fallback>
                <p:oleObj name="VISIO" r:id="rId6" imgW="1873440" imgH="2105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341437"/>
                        <a:ext cx="4000500" cy="429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6772" name="Object 4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00681320"/>
              </p:ext>
            </p:extLst>
          </p:nvPr>
        </p:nvGraphicFramePr>
        <p:xfrm>
          <a:off x="1219200" y="3086100"/>
          <a:ext cx="2865438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405800" imgH="1177920" progId="Visio.Drawing.6">
                  <p:embed/>
                </p:oleObj>
              </mc:Choice>
              <mc:Fallback>
                <p:oleObj name="VISIO" r:id="rId8" imgW="1405800" imgH="11779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086100"/>
                        <a:ext cx="2865438" cy="240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773" name="Rectangle 5"/>
          <p:cNvSpPr>
            <a:spLocks noGrp="1" noChangeArrowheads="1"/>
          </p:cNvSpPr>
          <p:nvPr>
            <p:ph type="body" sz="half" idx="4294967295"/>
            <p:custDataLst>
              <p:tags r:id="rId3"/>
            </p:custDataLst>
          </p:nvPr>
        </p:nvSpPr>
        <p:spPr>
          <a:xfrm>
            <a:off x="457200" y="990600"/>
            <a:ext cx="7315200" cy="4953000"/>
          </a:xfrm>
          <a:noFill/>
          <a:ln/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Example: </a:t>
            </a:r>
            <a:r>
              <a:rPr lang="en-US" b="1" dirty="0"/>
              <a:t>Priority Circuit</a:t>
            </a:r>
          </a:p>
          <a:p>
            <a:pPr marL="0" indent="0">
              <a:buNone/>
            </a:pPr>
            <a:r>
              <a:rPr lang="en-US" sz="2400" dirty="0"/>
              <a:t>     Output asserted </a:t>
            </a:r>
          </a:p>
          <a:p>
            <a:pPr marL="0" indent="0">
              <a:buNone/>
            </a:pPr>
            <a:r>
              <a:rPr lang="en-US" sz="2400" dirty="0"/>
              <a:t>     corresponding to most </a:t>
            </a:r>
          </a:p>
          <a:p>
            <a:pPr marL="0" indent="0">
              <a:buNone/>
            </a:pPr>
            <a:r>
              <a:rPr lang="en-US" sz="2400" dirty="0"/>
              <a:t>     significant TRUE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Multiple-Output Circuits</a:t>
            </a:r>
          </a:p>
        </p:txBody>
      </p:sp>
    </p:spTree>
    <p:extLst>
      <p:ext uri="{BB962C8B-B14F-4D97-AF65-F5344CB8AC3E}">
        <p14:creationId xmlns:p14="http://schemas.microsoft.com/office/powerpoint/2010/main" val="1175336714"/>
      </p:ext>
    </p:extLst>
  </p:cSld>
  <p:clrMapOvr>
    <a:masterClrMapping/>
  </p:clrMapOvr>
  <p:transition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23" name="Object 3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6528807"/>
              </p:ext>
            </p:extLst>
          </p:nvPr>
        </p:nvGraphicFramePr>
        <p:xfrm>
          <a:off x="1295400" y="1447800"/>
          <a:ext cx="3594100" cy="385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873440" imgH="2105640" progId="Visio.Drawing.6">
                  <p:embed/>
                </p:oleObj>
              </mc:Choice>
              <mc:Fallback>
                <p:oleObj name="VISIO" r:id="rId5" imgW="1873440" imgH="2105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447800"/>
                        <a:ext cx="3594100" cy="3859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24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24613183"/>
              </p:ext>
            </p:extLst>
          </p:nvPr>
        </p:nvGraphicFramePr>
        <p:xfrm>
          <a:off x="5105400" y="1828800"/>
          <a:ext cx="3429000" cy="315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200240" imgH="1154520" progId="Visio.Drawing.6">
                  <p:embed/>
                </p:oleObj>
              </mc:Choice>
              <mc:Fallback>
                <p:oleObj name="VISIO" r:id="rId7" imgW="1200240" imgH="1154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828800"/>
                        <a:ext cx="3429000" cy="315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Priority Circuit Hardware</a:t>
            </a:r>
          </a:p>
        </p:txBody>
      </p:sp>
    </p:spTree>
    <p:extLst>
      <p:ext uri="{BB962C8B-B14F-4D97-AF65-F5344CB8AC3E}">
        <p14:creationId xmlns:p14="http://schemas.microsoft.com/office/powerpoint/2010/main" val="591219776"/>
      </p:ext>
    </p:extLst>
  </p:cSld>
  <p:clrMapOvr>
    <a:masterClrMapping/>
  </p:clrMapOvr>
  <p:transition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2147" name="Object 3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3579347"/>
              </p:ext>
            </p:extLst>
          </p:nvPr>
        </p:nvGraphicFramePr>
        <p:xfrm>
          <a:off x="990600" y="1447800"/>
          <a:ext cx="3594100" cy="385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873440" imgH="2105640" progId="Visio.Drawing.6">
                  <p:embed/>
                </p:oleObj>
              </mc:Choice>
              <mc:Fallback>
                <p:oleObj name="VISIO" r:id="rId5" imgW="1873440" imgH="2105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447800"/>
                        <a:ext cx="3594100" cy="3859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2148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102238"/>
              </p:ext>
            </p:extLst>
          </p:nvPr>
        </p:nvGraphicFramePr>
        <p:xfrm>
          <a:off x="4724400" y="2362200"/>
          <a:ext cx="4191000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913040" imgH="884520" progId="Visio.Drawing.6">
                  <p:embed/>
                </p:oleObj>
              </mc:Choice>
              <mc:Fallback>
                <p:oleObj name="VISIO" r:id="rId7" imgW="1913040" imgH="8845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362200"/>
                        <a:ext cx="4191000" cy="193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Don’t Cares</a:t>
            </a:r>
          </a:p>
        </p:txBody>
      </p:sp>
    </p:spTree>
    <p:extLst>
      <p:ext uri="{BB962C8B-B14F-4D97-AF65-F5344CB8AC3E}">
        <p14:creationId xmlns:p14="http://schemas.microsoft.com/office/powerpoint/2010/main" val="2038658957"/>
      </p:ext>
    </p:extLst>
  </p:cSld>
  <p:clrMapOvr>
    <a:masterClrMapping/>
  </p:clrMapOvr>
  <p:transition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95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685800" y="1066800"/>
            <a:ext cx="73914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/>
              <a:t>Contention:</a:t>
            </a:r>
            <a:r>
              <a:rPr lang="en-US" sz="2400" dirty="0"/>
              <a:t> circuit tries to drive output to 1 </a:t>
            </a:r>
            <a:r>
              <a:rPr lang="en-US" sz="2400" b="1" dirty="0"/>
              <a:t>and</a:t>
            </a:r>
            <a:r>
              <a:rPr lang="en-US" sz="2400" dirty="0"/>
              <a:t> 0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Actual value somewhere in between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Could be 0, 1, or in forbidden zone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Might change with voltage, temperature, time, noise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Often causes excessive power dissipation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Warnings: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Contention usually indicates a </a:t>
            </a:r>
            <a:r>
              <a:rPr lang="en-US" sz="2000" b="1" dirty="0"/>
              <a:t>bug</a:t>
            </a:r>
            <a:r>
              <a:rPr lang="en-US" sz="16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000" b="1" dirty="0"/>
              <a:t>X </a:t>
            </a:r>
            <a:r>
              <a:rPr lang="en-US" sz="2000" dirty="0"/>
              <a:t>is used for </a:t>
            </a:r>
            <a:r>
              <a:rPr lang="en-US" sz="2000" b="1" dirty="0"/>
              <a:t>“don’t care” </a:t>
            </a:r>
            <a:r>
              <a:rPr lang="en-US" sz="2000" dirty="0"/>
              <a:t>and</a:t>
            </a:r>
            <a:r>
              <a:rPr lang="en-US" sz="2000" b="1" dirty="0"/>
              <a:t> contention </a:t>
            </a:r>
            <a:r>
              <a:rPr lang="en-US" sz="2000" dirty="0"/>
              <a:t>- look at the context to tell them apart.</a:t>
            </a:r>
          </a:p>
        </p:txBody>
      </p:sp>
      <p:graphicFrame>
        <p:nvGraphicFramePr>
          <p:cNvPr id="929797" name="Object 5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52980146"/>
              </p:ext>
            </p:extLst>
          </p:nvPr>
        </p:nvGraphicFramePr>
        <p:xfrm>
          <a:off x="3352800" y="2819400"/>
          <a:ext cx="32004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057320" imgH="607320" progId="Visio.Drawing.6">
                  <p:embed/>
                </p:oleObj>
              </mc:Choice>
              <mc:Fallback>
                <p:oleObj name="VISIO" r:id="rId5" imgW="1057320" imgH="6073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819400"/>
                        <a:ext cx="32004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Contention: X</a:t>
            </a:r>
          </a:p>
        </p:txBody>
      </p:sp>
    </p:spTree>
    <p:extLst>
      <p:ext uri="{BB962C8B-B14F-4D97-AF65-F5344CB8AC3E}">
        <p14:creationId xmlns:p14="http://schemas.microsoft.com/office/powerpoint/2010/main" val="1896795740"/>
      </p:ext>
    </p:extLst>
  </p:cSld>
  <p:clrMapOvr>
    <a:masterClrMapping/>
  </p:clrMapOvr>
  <p:transition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19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914400"/>
            <a:ext cx="7543800" cy="4953000"/>
          </a:xfrm>
        </p:spPr>
        <p:txBody>
          <a:bodyPr/>
          <a:lstStyle/>
          <a:p>
            <a:r>
              <a:rPr lang="en-US" dirty="0"/>
              <a:t>Floating, high impedance, open, high Z</a:t>
            </a:r>
          </a:p>
          <a:p>
            <a:r>
              <a:rPr lang="en-US" dirty="0"/>
              <a:t>Floating output might be 0, 1, or somewhere in between</a:t>
            </a:r>
          </a:p>
          <a:p>
            <a:pPr lvl="1"/>
            <a:r>
              <a:rPr lang="en-US" sz="2400" dirty="0"/>
              <a:t>A voltmeter won’t indicate whether a node is floating</a:t>
            </a:r>
            <a:endParaRPr lang="en-US" sz="800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sz="2400" dirty="0">
                <a:solidFill>
                  <a:schemeClr val="accent2"/>
                </a:solidFill>
              </a:rPr>
              <a:t>                                   </a:t>
            </a:r>
            <a:r>
              <a:rPr lang="en-US" sz="2400" b="1" dirty="0">
                <a:solidFill>
                  <a:srgbClr val="0070C0"/>
                </a:solidFill>
              </a:rPr>
              <a:t>Tristate Buffer</a:t>
            </a:r>
          </a:p>
        </p:txBody>
      </p:sp>
      <p:graphicFrame>
        <p:nvGraphicFramePr>
          <p:cNvPr id="930820" name="Object 4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79580887"/>
              </p:ext>
            </p:extLst>
          </p:nvPr>
        </p:nvGraphicFramePr>
        <p:xfrm>
          <a:off x="3048000" y="3276600"/>
          <a:ext cx="1810229" cy="2728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828720" imgH="1305720" progId="Visio.Drawing.6">
                  <p:embed/>
                </p:oleObj>
              </mc:Choice>
              <mc:Fallback>
                <p:oleObj name="VISIO" r:id="rId5" imgW="828720" imgH="13057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276600"/>
                        <a:ext cx="1810229" cy="2728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Floating: Z</a:t>
            </a:r>
          </a:p>
        </p:txBody>
      </p:sp>
    </p:spTree>
    <p:extLst>
      <p:ext uri="{BB962C8B-B14F-4D97-AF65-F5344CB8AC3E}">
        <p14:creationId xmlns:p14="http://schemas.microsoft.com/office/powerpoint/2010/main" val="2421315810"/>
      </p:ext>
    </p:extLst>
  </p:cSld>
  <p:clrMapOvr>
    <a:masterClrMapping/>
  </p:clrMapOvr>
  <p:transition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819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381000" y="1066800"/>
            <a:ext cx="6477000" cy="4953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Floating nodes are used in </a:t>
            </a:r>
            <a:r>
              <a:rPr lang="en-US" dirty="0" err="1"/>
              <a:t>tristate</a:t>
            </a:r>
            <a:r>
              <a:rPr lang="en-US" dirty="0"/>
              <a:t> busses</a:t>
            </a:r>
          </a:p>
          <a:p>
            <a:pPr lvl="1"/>
            <a:r>
              <a:rPr lang="en-US" sz="2600" dirty="0"/>
              <a:t>Many different drivers</a:t>
            </a:r>
          </a:p>
          <a:p>
            <a:pPr lvl="1"/>
            <a:r>
              <a:rPr lang="en-US" sz="2600" dirty="0"/>
              <a:t>Exactly one is active at once</a:t>
            </a:r>
          </a:p>
        </p:txBody>
      </p:sp>
      <p:graphicFrame>
        <p:nvGraphicFramePr>
          <p:cNvPr id="1058820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6951634"/>
              </p:ext>
            </p:extLst>
          </p:nvPr>
        </p:nvGraphicFramePr>
        <p:xfrm>
          <a:off x="6200775" y="1219200"/>
          <a:ext cx="2257425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43000" imgH="2238120" progId="Visio.Drawing.6">
                  <p:embed/>
                </p:oleObj>
              </mc:Choice>
              <mc:Fallback>
                <p:oleObj name="VISIO" r:id="rId5" imgW="1143000" imgH="22381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0775" y="1219200"/>
                        <a:ext cx="2257425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Tristate Busses</a:t>
            </a:r>
          </a:p>
        </p:txBody>
      </p:sp>
    </p:spTree>
    <p:extLst>
      <p:ext uri="{BB962C8B-B14F-4D97-AF65-F5344CB8AC3E}">
        <p14:creationId xmlns:p14="http://schemas.microsoft.com/office/powerpoint/2010/main" val="218021430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1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914400" y="1143000"/>
            <a:ext cx="8153400" cy="1752600"/>
          </a:xfrm>
        </p:spPr>
        <p:txBody>
          <a:bodyPr>
            <a:noAutofit/>
          </a:bodyPr>
          <a:lstStyle/>
          <a:p>
            <a:r>
              <a:rPr lang="en-US" dirty="0"/>
              <a:t>Boolean expressions can be minimized by combining terms</a:t>
            </a:r>
          </a:p>
          <a:p>
            <a:r>
              <a:rPr lang="en-US" dirty="0"/>
              <a:t>K-maps minimize equations graphically</a:t>
            </a:r>
          </a:p>
          <a:p>
            <a:r>
              <a:rPr lang="en-US" i="1" dirty="0"/>
              <a:t>PA</a:t>
            </a:r>
            <a:r>
              <a:rPr lang="en-US" dirty="0"/>
              <a:t> + </a:t>
            </a:r>
            <a:r>
              <a:rPr lang="en-US" i="1" dirty="0"/>
              <a:t>PA</a:t>
            </a:r>
            <a:r>
              <a:rPr lang="en-US" dirty="0"/>
              <a:t> = </a:t>
            </a:r>
            <a:r>
              <a:rPr lang="en-US" i="1" dirty="0"/>
              <a:t>P</a:t>
            </a:r>
            <a:endParaRPr lang="en-US" dirty="0"/>
          </a:p>
        </p:txBody>
      </p:sp>
      <p:graphicFrame>
        <p:nvGraphicFramePr>
          <p:cNvPr id="918535" name="Object 7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8878664"/>
              </p:ext>
            </p:extLst>
          </p:nvPr>
        </p:nvGraphicFramePr>
        <p:xfrm>
          <a:off x="685800" y="3886200"/>
          <a:ext cx="8077200" cy="210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4889520" imgH="1274760" progId="Visio.Drawing.6">
                  <p:embed/>
                </p:oleObj>
              </mc:Choice>
              <mc:Fallback>
                <p:oleObj name="VISIO" r:id="rId6" imgW="4889520" imgH="12747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86200"/>
                        <a:ext cx="8077200" cy="210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8534" name="Line 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362200" y="2895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Karnaugh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 Maps (K-Maps)</a:t>
            </a:r>
          </a:p>
        </p:txBody>
      </p:sp>
    </p:spTree>
    <p:extLst>
      <p:ext uri="{BB962C8B-B14F-4D97-AF65-F5344CB8AC3E}">
        <p14:creationId xmlns:p14="http://schemas.microsoft.com/office/powerpoint/2010/main" val="4058737733"/>
      </p:ext>
    </p:extLst>
  </p:cSld>
  <p:clrMapOvr>
    <a:masterClrMapping/>
  </p:clrMapOvr>
  <p:transition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9557" name="Object 5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3408782"/>
              </p:ext>
            </p:extLst>
          </p:nvPr>
        </p:nvGraphicFramePr>
        <p:xfrm>
          <a:off x="3771900" y="2974731"/>
          <a:ext cx="3810000" cy="231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746000" imgH="1060200" progId="Visio.Drawing.6">
                  <p:embed/>
                </p:oleObj>
              </mc:Choice>
              <mc:Fallback>
                <p:oleObj name="VISIO" r:id="rId8" imgW="1746000" imgH="10602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2974731"/>
                        <a:ext cx="3810000" cy="2312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9563" name="Object 11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3079009"/>
              </p:ext>
            </p:extLst>
          </p:nvPr>
        </p:nvGraphicFramePr>
        <p:xfrm>
          <a:off x="1485900" y="3127131"/>
          <a:ext cx="1785938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948960" imgH="1174680" progId="Visio.Drawing.6">
                  <p:embed/>
                </p:oleObj>
              </mc:Choice>
              <mc:Fallback>
                <p:oleObj name="VISIO" r:id="rId10" imgW="948960" imgH="1174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3127131"/>
                        <a:ext cx="1785938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9559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81000" y="990600"/>
            <a:ext cx="7543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Circle 1’s in adjacent squares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In Boolean expression, include only literals whose true and complement form are </a:t>
            </a:r>
            <a:r>
              <a:rPr lang="en-US" sz="3200" b="1" i="1" dirty="0">
                <a:latin typeface="+mj-lt"/>
                <a:cs typeface="Arial" charset="0"/>
              </a:rPr>
              <a:t>not</a:t>
            </a:r>
            <a:r>
              <a:rPr lang="en-US" sz="3200" dirty="0">
                <a:latin typeface="+mj-lt"/>
                <a:cs typeface="Arial" charset="0"/>
              </a:rPr>
              <a:t> in the circle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>
              <a:spcBef>
                <a:spcPct val="20000"/>
              </a:spcBef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+mj-lt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b="1" i="1" dirty="0">
                <a:latin typeface="+mj-lt"/>
                <a:cs typeface="Arial" charset="0"/>
              </a:rPr>
              <a:t>                                                   Y</a:t>
            </a:r>
            <a:r>
              <a:rPr lang="en-US" sz="2400" b="1" dirty="0">
                <a:latin typeface="+mj-lt"/>
                <a:cs typeface="Arial" charset="0"/>
              </a:rPr>
              <a:t> = </a:t>
            </a:r>
            <a:r>
              <a:rPr lang="en-US" sz="2400" b="1" i="1" dirty="0">
                <a:latin typeface="+mj-lt"/>
                <a:cs typeface="Arial" charset="0"/>
              </a:rPr>
              <a:t>AB</a:t>
            </a:r>
          </a:p>
        </p:txBody>
      </p:sp>
      <p:sp>
        <p:nvSpPr>
          <p:cNvPr id="919561" name="Line 9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610100" y="5413131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9562" name="Line 10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4381500" y="5413131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</a:t>
            </a:r>
          </a:p>
        </p:txBody>
      </p:sp>
    </p:spTree>
    <p:extLst>
      <p:ext uri="{BB962C8B-B14F-4D97-AF65-F5344CB8AC3E}">
        <p14:creationId xmlns:p14="http://schemas.microsoft.com/office/powerpoint/2010/main" val="2087982331"/>
      </p:ext>
    </p:extLst>
  </p:cSld>
  <p:clrMapOvr>
    <a:masterClrMapping/>
  </p:clrMapOvr>
  <p:transition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0083" name="Object 3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9524972"/>
              </p:ext>
            </p:extLst>
          </p:nvPr>
        </p:nvGraphicFramePr>
        <p:xfrm>
          <a:off x="2362200" y="914400"/>
          <a:ext cx="3657600" cy="222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46000" imgH="1060200" progId="Visio.Drawing.6">
                  <p:embed/>
                </p:oleObj>
              </mc:Choice>
              <mc:Fallback>
                <p:oleObj name="VISIO" r:id="rId5" imgW="1746000" imgH="10602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914400"/>
                        <a:ext cx="3657600" cy="222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0084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34456541"/>
              </p:ext>
            </p:extLst>
          </p:nvPr>
        </p:nvGraphicFramePr>
        <p:xfrm>
          <a:off x="1600200" y="3276600"/>
          <a:ext cx="6096000" cy="264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3017880" imgH="1368000" progId="Visio.Drawing.6">
                  <p:embed/>
                </p:oleObj>
              </mc:Choice>
              <mc:Fallback>
                <p:oleObj name="VISIO" r:id="rId7" imgW="3017880" imgH="13680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76600"/>
                        <a:ext cx="6096000" cy="2643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3-Input K-Map</a:t>
            </a:r>
          </a:p>
        </p:txBody>
      </p:sp>
    </p:spTree>
    <p:extLst>
      <p:ext uri="{BB962C8B-B14F-4D97-AF65-F5344CB8AC3E}">
        <p14:creationId xmlns:p14="http://schemas.microsoft.com/office/powerpoint/2010/main" val="1987168017"/>
      </p:ext>
    </p:extLst>
  </p:cSld>
  <p:clrMapOvr>
    <a:masterClrMapping/>
  </p:clrMapOvr>
  <p:transition/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3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219200"/>
            <a:ext cx="7696200" cy="4525963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Complement: </a:t>
            </a:r>
            <a:r>
              <a:rPr lang="en-US" dirty="0"/>
              <a:t>variable with a bar over it</a:t>
            </a:r>
          </a:p>
          <a:p>
            <a:pPr>
              <a:buFontTx/>
              <a:buNone/>
            </a:pPr>
            <a:r>
              <a:rPr lang="en-US" dirty="0">
                <a:solidFill>
                  <a:srgbClr val="0070C0"/>
                </a:solidFill>
              </a:rPr>
              <a:t>    </a:t>
            </a:r>
            <a:r>
              <a:rPr lang="en-US" b="1" i="1" dirty="0">
                <a:solidFill>
                  <a:srgbClr val="0070C0"/>
                </a:solidFill>
              </a:rPr>
              <a:t>A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B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C</a:t>
            </a:r>
          </a:p>
          <a:p>
            <a:r>
              <a:rPr lang="en-US" b="1" dirty="0"/>
              <a:t>Literal: </a:t>
            </a:r>
            <a:r>
              <a:rPr lang="en-US" dirty="0"/>
              <a:t>variable or its complement</a:t>
            </a:r>
          </a:p>
          <a:p>
            <a:pPr>
              <a:buFontTx/>
              <a:buNone/>
            </a:pPr>
            <a:r>
              <a:rPr lang="en-US" dirty="0">
                <a:solidFill>
                  <a:srgbClr val="0070C0"/>
                </a:solidFill>
              </a:rPr>
              <a:t>    </a:t>
            </a:r>
            <a:r>
              <a:rPr lang="en-US" b="1" i="1" dirty="0">
                <a:solidFill>
                  <a:srgbClr val="0070C0"/>
                </a:solidFill>
              </a:rPr>
              <a:t>A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A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B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B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C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C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 err="1"/>
              <a:t>Implicant</a:t>
            </a:r>
            <a:r>
              <a:rPr lang="en-US" b="1" dirty="0"/>
              <a:t>: </a:t>
            </a:r>
            <a:r>
              <a:rPr lang="en-US" dirty="0"/>
              <a:t>product of literals</a:t>
            </a:r>
          </a:p>
          <a:p>
            <a:pPr>
              <a:buFontTx/>
              <a:buNone/>
            </a:pPr>
            <a:r>
              <a:rPr lang="en-US" dirty="0"/>
              <a:t>    </a:t>
            </a:r>
            <a:r>
              <a:rPr lang="en-US" b="1" i="1" dirty="0">
                <a:solidFill>
                  <a:srgbClr val="0070C0"/>
                </a:solidFill>
              </a:rPr>
              <a:t>ABC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AC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i="1" dirty="0">
                <a:solidFill>
                  <a:srgbClr val="0070C0"/>
                </a:solidFill>
              </a:rPr>
              <a:t>BC</a:t>
            </a:r>
          </a:p>
          <a:p>
            <a:r>
              <a:rPr lang="en-US" sz="3600" b="1" dirty="0"/>
              <a:t>Prime </a:t>
            </a:r>
            <a:r>
              <a:rPr lang="en-US" sz="3600" b="1" dirty="0" err="1"/>
              <a:t>implicant</a:t>
            </a:r>
            <a:r>
              <a:rPr lang="en-US" sz="3600" b="1" dirty="0"/>
              <a:t>:</a:t>
            </a:r>
            <a:r>
              <a:rPr lang="en-US" dirty="0"/>
              <a:t> </a:t>
            </a:r>
            <a:r>
              <a:rPr lang="en-US" dirty="0" err="1"/>
              <a:t>implicant</a:t>
            </a:r>
            <a:r>
              <a:rPr lang="en-US" dirty="0"/>
              <a:t> corresponding to the largest circle in a K-map</a:t>
            </a:r>
          </a:p>
        </p:txBody>
      </p:sp>
      <p:sp>
        <p:nvSpPr>
          <p:cNvPr id="921604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247124" y="1884786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05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408924" y="1884786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06" name="Line 6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1789924" y="1884786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07" name="Line 7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429000" y="297180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08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427586" y="297180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09" name="Line 9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2237793" y="2971800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10" name="Line 10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1628193" y="4075924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11" name="Line 11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242038" y="4075924"/>
            <a:ext cx="1524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 Definitions</a:t>
            </a:r>
          </a:p>
        </p:txBody>
      </p:sp>
    </p:spTree>
    <p:extLst>
      <p:ext uri="{BB962C8B-B14F-4D97-AF65-F5344CB8AC3E}">
        <p14:creationId xmlns:p14="http://schemas.microsoft.com/office/powerpoint/2010/main" val="751776830"/>
      </p:ext>
    </p:extLst>
  </p:cSld>
  <p:clrMapOvr>
    <a:masterClrMapping/>
  </p:clrMapOvr>
  <p:transition/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7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914400" y="1143000"/>
            <a:ext cx="7848600" cy="4525963"/>
          </a:xfrm>
        </p:spPr>
        <p:txBody>
          <a:bodyPr>
            <a:normAutofit/>
          </a:bodyPr>
          <a:lstStyle/>
          <a:p>
            <a:r>
              <a:rPr lang="en-US" dirty="0"/>
              <a:t>Every 1 must be circled at least once</a:t>
            </a:r>
          </a:p>
          <a:p>
            <a:r>
              <a:rPr lang="en-US" dirty="0"/>
              <a:t>Each circle must span a power of 2 (i.e. 1, 2, 4) squares in each direction</a:t>
            </a:r>
          </a:p>
          <a:p>
            <a:r>
              <a:rPr lang="en-US" dirty="0"/>
              <a:t>Each circle must be as large as possible</a:t>
            </a:r>
          </a:p>
          <a:p>
            <a:r>
              <a:rPr lang="en-US" dirty="0"/>
              <a:t>A circle may wrap around the edges</a:t>
            </a:r>
          </a:p>
          <a:p>
            <a:r>
              <a:rPr lang="en-US" dirty="0"/>
              <a:t>A “don't care” (X) is circled only if it helps minimize the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 Rules</a:t>
            </a:r>
          </a:p>
        </p:txBody>
      </p:sp>
    </p:spTree>
    <p:extLst>
      <p:ext uri="{BB962C8B-B14F-4D97-AF65-F5344CB8AC3E}">
        <p14:creationId xmlns:p14="http://schemas.microsoft.com/office/powerpoint/2010/main" val="1406714391"/>
      </p:ext>
    </p:extLst>
  </p:cSld>
  <p:clrMapOvr>
    <a:masterClrMapping/>
  </p:clrMapOvr>
  <p:transition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8275" name="Object 3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975255"/>
              </p:ext>
            </p:extLst>
          </p:nvPr>
        </p:nvGraphicFramePr>
        <p:xfrm>
          <a:off x="4572000" y="1752600"/>
          <a:ext cx="3319462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32320" imgH="1988280" progId="Visio.Drawing.6">
                  <p:embed/>
                </p:oleObj>
              </mc:Choice>
              <mc:Fallback>
                <p:oleObj name="VISIO" r:id="rId5" imgW="1732320" imgH="1988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52600"/>
                        <a:ext cx="3319462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8276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46806730"/>
              </p:ext>
            </p:extLst>
          </p:nvPr>
        </p:nvGraphicFramePr>
        <p:xfrm>
          <a:off x="1676400" y="1600200"/>
          <a:ext cx="2276475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177560" imgH="2089080" progId="Visio.Drawing.6">
                  <p:embed/>
                </p:oleObj>
              </mc:Choice>
              <mc:Fallback>
                <p:oleObj name="VISIO" r:id="rId7" imgW="1177560" imgH="2089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00200"/>
                        <a:ext cx="2276475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4-Input K-Map</a:t>
            </a:r>
          </a:p>
        </p:txBody>
      </p:sp>
    </p:spTree>
    <p:extLst>
      <p:ext uri="{BB962C8B-B14F-4D97-AF65-F5344CB8AC3E}">
        <p14:creationId xmlns:p14="http://schemas.microsoft.com/office/powerpoint/2010/main" val="3601587699"/>
      </p:ext>
    </p:extLst>
  </p:cSld>
  <p:clrMapOvr>
    <a:masterClrMapping/>
  </p:clrMapOvr>
  <p:transition/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6227" name="Object 3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7922444"/>
              </p:ext>
            </p:extLst>
          </p:nvPr>
        </p:nvGraphicFramePr>
        <p:xfrm>
          <a:off x="4572000" y="1752600"/>
          <a:ext cx="3319462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32320" imgH="1988280" progId="Visio.Drawing.6">
                  <p:embed/>
                </p:oleObj>
              </mc:Choice>
              <mc:Fallback>
                <p:oleObj name="VISIO" r:id="rId5" imgW="1732320" imgH="1988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52600"/>
                        <a:ext cx="3319462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6228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77551214"/>
              </p:ext>
            </p:extLst>
          </p:nvPr>
        </p:nvGraphicFramePr>
        <p:xfrm>
          <a:off x="1676400" y="1600200"/>
          <a:ext cx="2276475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177560" imgH="2089080" progId="Visio.Drawing.6">
                  <p:embed/>
                </p:oleObj>
              </mc:Choice>
              <mc:Fallback>
                <p:oleObj name="VISIO" r:id="rId7" imgW="1177560" imgH="2089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00200"/>
                        <a:ext cx="2276475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4-Input K-Map</a:t>
            </a:r>
          </a:p>
        </p:txBody>
      </p:sp>
    </p:spTree>
    <p:extLst>
      <p:ext uri="{BB962C8B-B14F-4D97-AF65-F5344CB8AC3E}">
        <p14:creationId xmlns:p14="http://schemas.microsoft.com/office/powerpoint/2010/main" val="2984977792"/>
      </p:ext>
    </p:extLst>
  </p:cSld>
  <p:clrMapOvr>
    <a:masterClrMapping/>
  </p:clrMapOvr>
  <p:transition/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2131" name="Object 3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0972858"/>
              </p:ext>
            </p:extLst>
          </p:nvPr>
        </p:nvGraphicFramePr>
        <p:xfrm>
          <a:off x="4572000" y="1752600"/>
          <a:ext cx="3319462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32320" imgH="1988280" progId="Visio.Drawing.6">
                  <p:embed/>
                </p:oleObj>
              </mc:Choice>
              <mc:Fallback>
                <p:oleObj name="VISIO" r:id="rId5" imgW="1732320" imgH="1988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52600"/>
                        <a:ext cx="3319462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2132" name="Object 4"/>
          <p:cNvGraphicFramePr>
            <a:graphicFrameLocks noGrp="1" noChangeAspect="1"/>
          </p:cNvGraphicFramePr>
          <p:nvPr>
            <p:ph sz="half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40203783"/>
              </p:ext>
            </p:extLst>
          </p:nvPr>
        </p:nvGraphicFramePr>
        <p:xfrm>
          <a:off x="1676400" y="1600200"/>
          <a:ext cx="2276475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177560" imgH="2089080" progId="Visio.Drawing.6">
                  <p:embed/>
                </p:oleObj>
              </mc:Choice>
              <mc:Fallback>
                <p:oleObj name="VISIO" r:id="rId7" imgW="1177560" imgH="2089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600200"/>
                        <a:ext cx="2276475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4-Input K-Map</a:t>
            </a:r>
          </a:p>
        </p:txBody>
      </p:sp>
    </p:spTree>
    <p:extLst>
      <p:ext uri="{BB962C8B-B14F-4D97-AF65-F5344CB8AC3E}">
        <p14:creationId xmlns:p14="http://schemas.microsoft.com/office/powerpoint/2010/main" val="3459309495"/>
      </p:ext>
    </p:extLst>
  </p:cSld>
  <p:clrMapOvr>
    <a:masterClrMapping/>
  </p:clrMapOvr>
  <p:transition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0324" name="Object 4"/>
          <p:cNvGraphicFramePr>
            <a:graphicFrameLocks noGrp="1" noChangeAspect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0363353"/>
              </p:ext>
            </p:extLst>
          </p:nvPr>
        </p:nvGraphicFramePr>
        <p:xfrm>
          <a:off x="1600200" y="1600200"/>
          <a:ext cx="23622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77560" imgH="2089080" progId="Visio.Drawing.6">
                  <p:embed/>
                </p:oleObj>
              </mc:Choice>
              <mc:Fallback>
                <p:oleObj name="VISIO" r:id="rId5" imgW="1177560" imgH="2089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00200"/>
                        <a:ext cx="2362200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31" name="Object 11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31624290"/>
              </p:ext>
            </p:extLst>
          </p:nvPr>
        </p:nvGraphicFramePr>
        <p:xfrm>
          <a:off x="4724400" y="1676400"/>
          <a:ext cx="34544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732320" imgH="1988280" progId="Visio.Drawing.6">
                  <p:embed/>
                </p:oleObj>
              </mc:Choice>
              <mc:Fallback>
                <p:oleObj name="VISIO" r:id="rId7" imgW="1732320" imgH="1988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34544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K-Maps with Don’t Cares</a:t>
            </a:r>
          </a:p>
        </p:txBody>
      </p:sp>
    </p:spTree>
    <p:extLst>
      <p:ext uri="{BB962C8B-B14F-4D97-AF65-F5344CB8AC3E}">
        <p14:creationId xmlns:p14="http://schemas.microsoft.com/office/powerpoint/2010/main" val="2710701870"/>
      </p:ext>
    </p:extLst>
  </p:cSld>
  <p:clrMapOvr>
    <a:masterClrMapping/>
  </p:clrMapOvr>
  <p:transition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0324" name="Object 4"/>
          <p:cNvGraphicFramePr>
            <a:graphicFrameLocks noGrp="1" noChangeAspect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2188760"/>
              </p:ext>
            </p:extLst>
          </p:nvPr>
        </p:nvGraphicFramePr>
        <p:xfrm>
          <a:off x="1600200" y="1600200"/>
          <a:ext cx="23622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77560" imgH="2089080" progId="Visio.Drawing.6">
                  <p:embed/>
                </p:oleObj>
              </mc:Choice>
              <mc:Fallback>
                <p:oleObj name="VISIO" r:id="rId5" imgW="1177560" imgH="2089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00200"/>
                        <a:ext cx="2362200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31" name="Object 11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70789762"/>
              </p:ext>
            </p:extLst>
          </p:nvPr>
        </p:nvGraphicFramePr>
        <p:xfrm>
          <a:off x="4724400" y="1676400"/>
          <a:ext cx="34544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732320" imgH="1988280" progId="Visio.Drawing.6">
                  <p:embed/>
                </p:oleObj>
              </mc:Choice>
              <mc:Fallback>
                <p:oleObj name="VISIO" r:id="rId7" imgW="1732320" imgH="1988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34544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K-Maps with Don’t Cares</a:t>
            </a:r>
          </a:p>
        </p:txBody>
      </p:sp>
    </p:spTree>
    <p:extLst>
      <p:ext uri="{BB962C8B-B14F-4D97-AF65-F5344CB8AC3E}">
        <p14:creationId xmlns:p14="http://schemas.microsoft.com/office/powerpoint/2010/main" val="485203364"/>
      </p:ext>
    </p:extLst>
  </p:cSld>
  <p:clrMapOvr>
    <a:masterClrMapping/>
  </p:clrMapOvr>
  <p:transition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0324" name="Object 4"/>
          <p:cNvGraphicFramePr>
            <a:graphicFrameLocks noGrp="1" noChangeAspect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2188760"/>
              </p:ext>
            </p:extLst>
          </p:nvPr>
        </p:nvGraphicFramePr>
        <p:xfrm>
          <a:off x="1600200" y="1600200"/>
          <a:ext cx="23622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77560" imgH="2089080" progId="Visio.Drawing.6">
                  <p:embed/>
                </p:oleObj>
              </mc:Choice>
              <mc:Fallback>
                <p:oleObj name="VISIO" r:id="rId5" imgW="1177560" imgH="2089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00200"/>
                        <a:ext cx="2362200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0331" name="Object 11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5218005"/>
              </p:ext>
            </p:extLst>
          </p:nvPr>
        </p:nvGraphicFramePr>
        <p:xfrm>
          <a:off x="4724400" y="1676400"/>
          <a:ext cx="34544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732320" imgH="1988280" progId="Visio.Drawing.6">
                  <p:embed/>
                </p:oleObj>
              </mc:Choice>
              <mc:Fallback>
                <p:oleObj name="VISIO" r:id="rId7" imgW="1732320" imgH="19882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34544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K-Maps with Don’t Cares</a:t>
            </a:r>
          </a:p>
        </p:txBody>
      </p:sp>
    </p:spTree>
    <p:extLst>
      <p:ext uri="{BB962C8B-B14F-4D97-AF65-F5344CB8AC3E}">
        <p14:creationId xmlns:p14="http://schemas.microsoft.com/office/powerpoint/2010/main" val="485203364"/>
      </p:ext>
    </p:extLst>
  </p:cSld>
  <p:clrMapOvr>
    <a:masterClrMapping/>
  </p:clrMapOvr>
  <p:transition/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868" name="Rectangle 4"/>
          <p:cNvSpPr>
            <a:spLocks noGrp="1" noChangeArrowheads="1"/>
          </p:cNvSpPr>
          <p:nvPr>
            <p:ph idx="4294967295"/>
            <p:custDataLst>
              <p:tags r:id="rId1"/>
            </p:custDataLst>
          </p:nvPr>
        </p:nvSpPr>
        <p:spPr>
          <a:xfrm>
            <a:off x="936885" y="1371600"/>
            <a:ext cx="7673715" cy="4525963"/>
          </a:xfrm>
        </p:spPr>
        <p:txBody>
          <a:bodyPr/>
          <a:lstStyle/>
          <a:p>
            <a:r>
              <a:rPr lang="en-US" dirty="0"/>
              <a:t>Multiplexers</a:t>
            </a:r>
          </a:p>
          <a:p>
            <a:r>
              <a:rPr lang="en-US" dirty="0"/>
              <a:t>Decoders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Combinational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1183602888"/>
      </p:ext>
    </p:extLst>
  </p:cSld>
  <p:clrMapOvr>
    <a:masterClrMapping/>
  </p:clrMapOvr>
  <p:transition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3" name="Rectangle 3"/>
          <p:cNvSpPr>
            <a:spLocks noGrp="1" noChangeArrowheads="1"/>
          </p:cNvSpPr>
          <p:nvPr>
            <p:ph sz="half" idx="4294967295"/>
            <p:custDataLst>
              <p:tags r:id="rId1"/>
            </p:custDataLst>
          </p:nvPr>
        </p:nvSpPr>
        <p:spPr>
          <a:xfrm>
            <a:off x="381000" y="990600"/>
            <a:ext cx="7772400" cy="4953000"/>
          </a:xfrm>
        </p:spPr>
        <p:txBody>
          <a:bodyPr/>
          <a:lstStyle/>
          <a:p>
            <a:r>
              <a:rPr lang="en-US" dirty="0"/>
              <a:t>Selects between one of </a:t>
            </a:r>
            <a:r>
              <a:rPr lang="en-US" i="1" dirty="0"/>
              <a:t>N</a:t>
            </a:r>
            <a:r>
              <a:rPr lang="en-US" dirty="0"/>
              <a:t> inputs to connect to output</a:t>
            </a:r>
          </a:p>
          <a:p>
            <a:r>
              <a:rPr lang="en-US" dirty="0"/>
              <a:t>log</a:t>
            </a:r>
            <a:r>
              <a:rPr lang="en-US" baseline="-25000" dirty="0"/>
              <a:t>2</a:t>
            </a:r>
            <a:r>
              <a:rPr lang="en-US" i="1" dirty="0"/>
              <a:t>N</a:t>
            </a:r>
            <a:r>
              <a:rPr lang="en-US" dirty="0"/>
              <a:t>-bit select input – control input</a:t>
            </a:r>
          </a:p>
          <a:p>
            <a:r>
              <a:rPr lang="en-US" sz="2400" b="1" dirty="0"/>
              <a:t>Example:</a:t>
            </a:r>
            <a:r>
              <a:rPr lang="en-US" sz="2400" dirty="0"/>
              <a:t>                     </a:t>
            </a:r>
            <a:r>
              <a:rPr lang="en-US" sz="2400" b="1" dirty="0">
                <a:solidFill>
                  <a:srgbClr val="0070C0"/>
                </a:solidFill>
              </a:rPr>
              <a:t>2:1 Mux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Multiplexer (Mux)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984337"/>
              </p:ext>
            </p:extLst>
          </p:nvPr>
        </p:nvGraphicFramePr>
        <p:xfrm>
          <a:off x="2590800" y="2921663"/>
          <a:ext cx="2362200" cy="302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517400" imgH="1942200" progId="Visio.Drawing.6">
                  <p:embed/>
                </p:oleObj>
              </mc:Choice>
              <mc:Fallback>
                <p:oleObj name="VISIO" r:id="rId4" imgW="1517400" imgH="1942200" progId="Visio.Drawing.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90800" y="2921663"/>
                        <a:ext cx="2362200" cy="3021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3508593"/>
      </p:ext>
    </p:extLst>
  </p:cSld>
  <p:clrMapOvr>
    <a:masterClrMapping/>
  </p:clrMapOvr>
  <p:transition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6790544" y="5867400"/>
            <a:ext cx="1905000" cy="457200"/>
          </a:xfrm>
        </p:spPr>
        <p:txBody>
          <a:bodyPr/>
          <a:lstStyle/>
          <a:p>
            <a:r>
              <a:rPr lang="en-US"/>
              <a:t>2-&lt;</a:t>
            </a:r>
            <a:fld id="{4A5C0BFF-4629-4BAF-A722-EBD678215DEC}" type="slidenum">
              <a:rPr lang="en-US" smtClean="0"/>
              <a:pPr/>
              <a:t>139</a:t>
            </a:fld>
            <a:r>
              <a:rPr lang="en-US"/>
              <a:t>&gt;</a:t>
            </a:r>
          </a:p>
          <a:p>
            <a:endParaRPr lang="en-GB"/>
          </a:p>
        </p:txBody>
      </p:sp>
      <p:sp>
        <p:nvSpPr>
          <p:cNvPr id="1092611" name="Rectangle 3"/>
          <p:cNvSpPr>
            <a:spLocks noGrp="1" noChangeArrowheads="1"/>
          </p:cNvSpPr>
          <p:nvPr>
            <p:ph type="body" sz="half" idx="4294967295"/>
            <p:custDataLst>
              <p:tags r:id="rId1"/>
            </p:custDataLst>
          </p:nvPr>
        </p:nvSpPr>
        <p:spPr>
          <a:xfrm>
            <a:off x="533400" y="858187"/>
            <a:ext cx="3810000" cy="4953000"/>
          </a:xfrm>
        </p:spPr>
        <p:txBody>
          <a:bodyPr/>
          <a:lstStyle/>
          <a:p>
            <a:r>
              <a:rPr lang="en-US" b="1" dirty="0"/>
              <a:t>Logic gates</a:t>
            </a:r>
          </a:p>
          <a:p>
            <a:pPr lvl="1"/>
            <a:r>
              <a:rPr lang="en-US" sz="2000" dirty="0"/>
              <a:t>Sum-of-products form</a:t>
            </a:r>
          </a:p>
        </p:txBody>
      </p:sp>
      <p:graphicFrame>
        <p:nvGraphicFramePr>
          <p:cNvPr id="1092612" name="Object 4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47239448"/>
              </p:ext>
            </p:extLst>
          </p:nvPr>
        </p:nvGraphicFramePr>
        <p:xfrm>
          <a:off x="5647544" y="2971800"/>
          <a:ext cx="164782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942840" imgH="1221480" progId="Visio.Drawing.6">
                  <p:embed/>
                </p:oleObj>
              </mc:Choice>
              <mc:Fallback>
                <p:oleObj name="VISIO" r:id="rId7" imgW="942840" imgH="1221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7544" y="2971800"/>
                        <a:ext cx="164782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2614" name="Object 6"/>
          <p:cNvGraphicFramePr>
            <a:graphicFrameLocks noGrp="1" noChangeAspect="1"/>
          </p:cNvGraphicFramePr>
          <p:nvPr>
            <p:ph sz="quarter" idx="4294967295"/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037990172"/>
              </p:ext>
            </p:extLst>
          </p:nvPr>
        </p:nvGraphicFramePr>
        <p:xfrm>
          <a:off x="1092200" y="1752600"/>
          <a:ext cx="24130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774800" imgH="2914560" progId="Visio.Drawing.6">
                  <p:embed/>
                </p:oleObj>
              </mc:Choice>
              <mc:Fallback>
                <p:oleObj name="VISIO" r:id="rId9" imgW="1774800" imgH="29145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1752600"/>
                        <a:ext cx="24130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2616" name="Rectangle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352144" y="838200"/>
            <a:ext cx="38100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 err="1">
                <a:latin typeface="+mj-lt"/>
                <a:cs typeface="Arial" charset="0"/>
              </a:rPr>
              <a:t>Tristates</a:t>
            </a:r>
            <a:endParaRPr lang="en-US" sz="3200" b="1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For an N-input mux, use N </a:t>
            </a:r>
            <a:r>
              <a:rPr lang="en-US" sz="2000" dirty="0" err="1">
                <a:latin typeface="+mj-lt"/>
                <a:cs typeface="Arial" charset="0"/>
              </a:rPr>
              <a:t>tristates</a:t>
            </a:r>
            <a:endParaRPr lang="en-US" sz="2000" dirty="0">
              <a:latin typeface="+mj-lt"/>
              <a:cs typeface="Arial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+mj-lt"/>
                <a:cs typeface="Arial" charset="0"/>
              </a:rPr>
              <a:t>Turn on exactly one to select the appropriate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Multiplexer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91106729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3894" name="Object 6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3897710"/>
              </p:ext>
            </p:extLst>
          </p:nvPr>
        </p:nvGraphicFramePr>
        <p:xfrm>
          <a:off x="3396911" y="1943100"/>
          <a:ext cx="1709738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772920" imgH="1583640" progId="Visio.Drawing.6">
                  <p:embed/>
                </p:oleObj>
              </mc:Choice>
              <mc:Fallback>
                <p:oleObj name="VISIO" r:id="rId5" imgW="772920" imgH="1583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911" y="1943100"/>
                        <a:ext cx="1709738" cy="350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3898" name="Rectangle 1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Using mux as a lookup table</a:t>
            </a:r>
            <a:endParaRPr lang="en-US" sz="3200" dirty="0">
              <a:solidFill>
                <a:schemeClr val="accent2"/>
              </a:solidFill>
              <a:latin typeface="+mj-lt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 using Multiplexers</a:t>
            </a:r>
          </a:p>
        </p:txBody>
      </p:sp>
    </p:spTree>
    <p:extLst>
      <p:ext uri="{BB962C8B-B14F-4D97-AF65-F5344CB8AC3E}">
        <p14:creationId xmlns:p14="http://schemas.microsoft.com/office/powerpoint/2010/main" val="2249097582"/>
      </p:ext>
    </p:extLst>
  </p:cSld>
  <p:clrMapOvr>
    <a:masterClrMapping/>
  </p:clrMapOvr>
  <p:transition/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3108" name="Object 4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2833732"/>
              </p:ext>
            </p:extLst>
          </p:nvPr>
        </p:nvGraphicFramePr>
        <p:xfrm>
          <a:off x="1476375" y="2438400"/>
          <a:ext cx="6572250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322360" imgH="697320" progId="Visio.Drawing.6">
                  <p:embed/>
                </p:oleObj>
              </mc:Choice>
              <mc:Fallback>
                <p:oleObj name="VISIO" r:id="rId5" imgW="2322360" imgH="6973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438400"/>
                        <a:ext cx="6572250" cy="197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3109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Reducing the size of the mux</a:t>
            </a:r>
            <a:endParaRPr lang="en-US" sz="3200" dirty="0">
              <a:solidFill>
                <a:schemeClr val="accent2"/>
              </a:solidFill>
              <a:latin typeface="+mj-lt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 using Multiplexers</a:t>
            </a:r>
          </a:p>
        </p:txBody>
      </p:sp>
    </p:spTree>
    <p:extLst>
      <p:ext uri="{BB962C8B-B14F-4D97-AF65-F5344CB8AC3E}">
        <p14:creationId xmlns:p14="http://schemas.microsoft.com/office/powerpoint/2010/main" val="2028894071"/>
      </p:ext>
    </p:extLst>
  </p:cSld>
  <p:clrMapOvr>
    <a:masterClrMapping/>
  </p:clrMapOvr>
  <p:transition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5941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9735141"/>
              </p:ext>
            </p:extLst>
          </p:nvPr>
        </p:nvGraphicFramePr>
        <p:xfrm>
          <a:off x="2895600" y="1981200"/>
          <a:ext cx="33274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22000" imgH="1693800" progId="Visio.Drawing.6">
                  <p:embed/>
                </p:oleObj>
              </mc:Choice>
              <mc:Fallback>
                <p:oleObj name="VISIO" r:id="rId5" imgW="1422000" imgH="16938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81200"/>
                        <a:ext cx="3327400" cy="396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5940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1000" y="9144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i="1" dirty="0">
                <a:latin typeface="+mj-lt"/>
                <a:cs typeface="Arial" charset="0"/>
              </a:rPr>
              <a:t>N</a:t>
            </a:r>
            <a:r>
              <a:rPr lang="en-US" sz="3200" dirty="0">
                <a:latin typeface="+mj-lt"/>
                <a:cs typeface="Arial" charset="0"/>
              </a:rPr>
              <a:t> inputs, 2</a:t>
            </a:r>
            <a:r>
              <a:rPr lang="en-US" sz="3200" i="1" baseline="30000" dirty="0">
                <a:latin typeface="+mj-lt"/>
                <a:cs typeface="Arial" charset="0"/>
              </a:rPr>
              <a:t>N</a:t>
            </a:r>
            <a:r>
              <a:rPr lang="en-US" sz="3200" dirty="0">
                <a:latin typeface="+mj-lt"/>
                <a:cs typeface="Arial" charset="0"/>
              </a:rPr>
              <a:t> outputs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One-hot</a:t>
            </a:r>
            <a:r>
              <a:rPr lang="en-US" sz="3200" dirty="0">
                <a:latin typeface="+mj-lt"/>
                <a:cs typeface="Arial" charset="0"/>
              </a:rPr>
              <a:t> outputs: only one output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HIGH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at once</a:t>
            </a:r>
            <a:endParaRPr lang="en-US" sz="3200" dirty="0">
              <a:solidFill>
                <a:schemeClr val="accent2"/>
              </a:solidFill>
              <a:latin typeface="+mj-lt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Decoders</a:t>
            </a:r>
          </a:p>
        </p:txBody>
      </p:sp>
    </p:spTree>
    <p:extLst>
      <p:ext uri="{BB962C8B-B14F-4D97-AF65-F5344CB8AC3E}">
        <p14:creationId xmlns:p14="http://schemas.microsoft.com/office/powerpoint/2010/main" val="1135473493"/>
      </p:ext>
    </p:extLst>
  </p:cSld>
  <p:clrMapOvr>
    <a:masterClrMapping/>
  </p:clrMapOvr>
  <p:transition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6708" name="Object 4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8008229"/>
              </p:ext>
            </p:extLst>
          </p:nvPr>
        </p:nvGraphicFramePr>
        <p:xfrm>
          <a:off x="318197" y="1006510"/>
          <a:ext cx="4343400" cy="4667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872000" imgH="2011680" progId="Visio.Drawing.6">
                  <p:embed/>
                </p:oleObj>
              </mc:Choice>
              <mc:Fallback>
                <p:oleObj name="VISIO" r:id="rId6" imgW="1872000" imgH="2011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97" y="1006510"/>
                        <a:ext cx="4343400" cy="46675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Decoder Implementation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D2CD3AD-F9EE-0216-8B9D-7EEE4A57EE22}"/>
              </a:ext>
            </a:extLst>
          </p:cNvPr>
          <p:cNvGraphicFramePr>
            <a:graphicFrameLocks noGrp="1"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6186469"/>
              </p:ext>
            </p:extLst>
          </p:nvPr>
        </p:nvGraphicFramePr>
        <p:xfrm>
          <a:off x="7305261" y="2911696"/>
          <a:ext cx="1783430" cy="2346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771144" imgH="1010412" progId="Visio.Drawing.11">
                  <p:embed/>
                </p:oleObj>
              </mc:Choice>
              <mc:Fallback>
                <p:oleObj name="VISIO" r:id="rId8" imgW="771144" imgH="1010412" progId="Visio.Drawing.11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1088DBC-9EB7-679B-946B-8C3C28B98BD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5261" y="2911696"/>
                        <a:ext cx="1783430" cy="2346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32BBB2D-73B3-7393-4A93-4ADA155E6DFC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13953393"/>
              </p:ext>
            </p:extLst>
          </p:nvPr>
        </p:nvGraphicFramePr>
        <p:xfrm>
          <a:off x="5127171" y="3056375"/>
          <a:ext cx="2604231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944880" imgH="745236" progId="Visio.Drawing.6">
                  <p:embed/>
                </p:oleObj>
              </mc:Choice>
              <mc:Fallback>
                <p:oleObj name="VISIO" r:id="rId10" imgW="944880" imgH="745236" progId="Visio.Drawing.6">
                  <p:embed/>
                  <p:pic>
                    <p:nvPicPr>
                      <p:cNvPr id="1085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171" y="3056375"/>
                        <a:ext cx="2604231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467541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4133" name="Object 5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7466514"/>
              </p:ext>
            </p:extLst>
          </p:nvPr>
        </p:nvGraphicFramePr>
        <p:xfrm>
          <a:off x="2514600" y="2133600"/>
          <a:ext cx="4038600" cy="377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443240" imgH="1350720" progId="Visio.Drawing.6">
                  <p:embed/>
                </p:oleObj>
              </mc:Choice>
              <mc:Fallback>
                <p:oleObj name="VISIO" r:id="rId5" imgW="1443240" imgH="135072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133600"/>
                        <a:ext cx="4038600" cy="3778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413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3200" dirty="0">
                <a:latin typeface="+mj-lt"/>
                <a:cs typeface="Arial" charset="0"/>
              </a:rPr>
              <a:t>OR </a:t>
            </a:r>
            <a:r>
              <a:rPr lang="en-US" sz="3200" dirty="0" err="1">
                <a:latin typeface="+mj-lt"/>
                <a:cs typeface="Arial" charset="0"/>
              </a:rPr>
              <a:t>minterms</a:t>
            </a:r>
            <a:endParaRPr lang="en-US" sz="3200" dirty="0">
              <a:latin typeface="+mj-lt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Logic Using Decoders</a:t>
            </a:r>
          </a:p>
        </p:txBody>
      </p:sp>
    </p:spTree>
    <p:extLst>
      <p:ext uri="{BB962C8B-B14F-4D97-AF65-F5344CB8AC3E}">
        <p14:creationId xmlns:p14="http://schemas.microsoft.com/office/powerpoint/2010/main" val="1758001581"/>
      </p:ext>
    </p:extLst>
  </p:cSld>
  <p:clrMapOvr>
    <a:masterClrMapping/>
  </p:clrMapOvr>
  <p:transition/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6185" name="Object 9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8010137"/>
              </p:ext>
            </p:extLst>
          </p:nvPr>
        </p:nvGraphicFramePr>
        <p:xfrm>
          <a:off x="2640197" y="2743200"/>
          <a:ext cx="3379603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35560" imgH="1603080" progId="Visio.Drawing.6">
                  <p:embed/>
                </p:oleObj>
              </mc:Choice>
              <mc:Fallback>
                <p:oleObj name="VISIO" r:id="rId5" imgW="1735560" imgH="16030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197" y="2743200"/>
                        <a:ext cx="3379603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6178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990600"/>
            <a:ext cx="8610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Delay: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time between input change and output changing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How to build fast circuits?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Timing</a:t>
            </a:r>
          </a:p>
        </p:txBody>
      </p:sp>
    </p:spTree>
    <p:extLst>
      <p:ext uri="{BB962C8B-B14F-4D97-AF65-F5344CB8AC3E}">
        <p14:creationId xmlns:p14="http://schemas.microsoft.com/office/powerpoint/2010/main" val="2805357500"/>
      </p:ext>
    </p:extLst>
  </p:cSld>
  <p:clrMapOvr>
    <a:masterClrMapping/>
  </p:clrMapOvr>
  <p:transition/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9258" name="Object 10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202692"/>
              </p:ext>
            </p:extLst>
          </p:nvPr>
        </p:nvGraphicFramePr>
        <p:xfrm>
          <a:off x="2590800" y="2251003"/>
          <a:ext cx="3836555" cy="3540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768320" imgH="1631880" progId="Visio.Drawing.6">
                  <p:embed/>
                </p:oleObj>
              </mc:Choice>
              <mc:Fallback>
                <p:oleObj name="VISIO" r:id="rId5" imgW="1768320" imgH="16318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51003"/>
                        <a:ext cx="3836555" cy="3540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9254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0668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+mj-lt"/>
                <a:cs typeface="Arial" charset="0"/>
              </a:rPr>
              <a:t>Propagation delay:</a:t>
            </a:r>
            <a:r>
              <a:rPr lang="en-US" sz="2800" dirty="0">
                <a:solidFill>
                  <a:schemeClr val="accent1"/>
                </a:solidFill>
                <a:latin typeface="+mj-lt"/>
                <a:cs typeface="Arial" charset="0"/>
              </a:rPr>
              <a:t> 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i="1" baseline="-25000" dirty="0" err="1">
                <a:latin typeface="+mj-lt"/>
                <a:cs typeface="Arial" charset="0"/>
              </a:rPr>
              <a:t>pd</a:t>
            </a:r>
            <a:r>
              <a:rPr lang="en-US" sz="2400" dirty="0">
                <a:latin typeface="+mj-lt"/>
                <a:cs typeface="Arial" charset="0"/>
              </a:rPr>
              <a:t> = max delay from input to output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charset="0"/>
              </a:rPr>
              <a:t>Contamination delay:</a:t>
            </a:r>
            <a:r>
              <a:rPr lang="en-US" sz="2800" dirty="0">
                <a:latin typeface="+mj-lt"/>
                <a:cs typeface="Arial" charset="0"/>
              </a:rPr>
              <a:t> </a:t>
            </a:r>
            <a:r>
              <a:rPr lang="en-US" sz="2400" i="1" dirty="0" err="1">
                <a:latin typeface="+mj-lt"/>
                <a:cs typeface="Arial" charset="0"/>
              </a:rPr>
              <a:t>t</a:t>
            </a:r>
            <a:r>
              <a:rPr lang="en-US" sz="2400" i="1" baseline="-25000" dirty="0" err="1">
                <a:latin typeface="+mj-lt"/>
                <a:cs typeface="Arial" charset="0"/>
              </a:rPr>
              <a:t>cd</a:t>
            </a:r>
            <a:r>
              <a:rPr lang="en-US" sz="2400" dirty="0">
                <a:latin typeface="+mj-lt"/>
                <a:cs typeface="Arial" charset="0"/>
              </a:rPr>
              <a:t> = min delay from input to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Propagation &amp; Contamination Delay</a:t>
            </a:r>
          </a:p>
        </p:txBody>
      </p:sp>
    </p:spTree>
    <p:extLst>
      <p:ext uri="{BB962C8B-B14F-4D97-AF65-F5344CB8AC3E}">
        <p14:creationId xmlns:p14="http://schemas.microsoft.com/office/powerpoint/2010/main" val="1382548673"/>
      </p:ext>
    </p:extLst>
  </p:cSld>
  <p:clrMapOvr>
    <a:masterClrMapping/>
  </p:clrMapOvr>
  <p:transition/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51303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0" y="10668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Delay is caused by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Capacitance and resistance in a circuit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Speed of light limitation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Reasons why </a:t>
            </a:r>
            <a:r>
              <a:rPr lang="en-US" sz="3200" i="1" dirty="0" err="1">
                <a:latin typeface="+mj-lt"/>
                <a:cs typeface="Arial" charset="0"/>
              </a:rPr>
              <a:t>t</a:t>
            </a:r>
            <a:r>
              <a:rPr lang="en-US" sz="3200" i="1" baseline="-25000" dirty="0" err="1">
                <a:latin typeface="+mj-lt"/>
                <a:cs typeface="Arial" charset="0"/>
              </a:rPr>
              <a:t>pd</a:t>
            </a:r>
            <a:r>
              <a:rPr lang="en-US" sz="3200" dirty="0">
                <a:latin typeface="+mj-lt"/>
                <a:cs typeface="Arial" charset="0"/>
              </a:rPr>
              <a:t> and </a:t>
            </a:r>
            <a:r>
              <a:rPr lang="en-US" sz="3200" i="1" dirty="0" err="1">
                <a:latin typeface="+mj-lt"/>
                <a:cs typeface="Arial" charset="0"/>
              </a:rPr>
              <a:t>t</a:t>
            </a:r>
            <a:r>
              <a:rPr lang="en-US" sz="3200" i="1" baseline="-25000" dirty="0" err="1">
                <a:latin typeface="+mj-lt"/>
                <a:cs typeface="Arial" charset="0"/>
              </a:rPr>
              <a:t>cd</a:t>
            </a:r>
            <a:r>
              <a:rPr lang="en-US" sz="3200" dirty="0">
                <a:latin typeface="+mj-lt"/>
                <a:cs typeface="Arial" charset="0"/>
              </a:rPr>
              <a:t> may be different: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Different rising and falling delays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Multiple inputs and outputs, some of which are faster than others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600" dirty="0">
                <a:latin typeface="+mj-lt"/>
                <a:cs typeface="Arial" charset="0"/>
              </a:rPr>
              <a:t>Circuits slow down when hot and speed up when cold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Propagation &amp; Contamination Delay</a:t>
            </a:r>
          </a:p>
        </p:txBody>
      </p:sp>
    </p:spTree>
    <p:extLst>
      <p:ext uri="{BB962C8B-B14F-4D97-AF65-F5344CB8AC3E}">
        <p14:creationId xmlns:p14="http://schemas.microsoft.com/office/powerpoint/2010/main" val="1887309499"/>
      </p:ext>
    </p:extLst>
  </p:cSld>
  <p:clrMapOvr>
    <a:masterClrMapping/>
  </p:clrMapOvr>
  <p:transition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7990" name="Object 6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9740426"/>
              </p:ext>
            </p:extLst>
          </p:nvPr>
        </p:nvGraphicFramePr>
        <p:xfrm>
          <a:off x="2057400" y="1371600"/>
          <a:ext cx="5343525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000160" imgH="1178640" progId="Visio.Drawing.6">
                  <p:embed/>
                </p:oleObj>
              </mc:Choice>
              <mc:Fallback>
                <p:oleObj name="VISIO" r:id="rId6" imgW="2000160" imgH="117864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371600"/>
                        <a:ext cx="5343525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88" name="Rectangle 4" hidden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37992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1219200"/>
            <a:ext cx="72390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Arial" charset="0"/>
              </a:rPr>
              <a:t>		   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charset="0"/>
              </a:rPr>
              <a:t>Critical (Long) Path: </a:t>
            </a:r>
            <a:r>
              <a:rPr lang="en-US" sz="2400" i="1" dirty="0" err="1">
                <a:latin typeface="Times New Roman" pitchFamily="18" charset="0"/>
                <a:cs typeface="Arial" charset="0"/>
              </a:rPr>
              <a:t>t</a:t>
            </a:r>
            <a:r>
              <a:rPr lang="en-US" sz="2400" i="1" baseline="-25000" dirty="0" err="1">
                <a:latin typeface="Times New Roman" pitchFamily="18" charset="0"/>
                <a:cs typeface="Arial" charset="0"/>
              </a:rPr>
              <a:t>pd</a:t>
            </a:r>
            <a:r>
              <a:rPr lang="en-US" sz="2400" dirty="0">
                <a:latin typeface="Times New Roman" pitchFamily="18" charset="0"/>
                <a:cs typeface="Arial" charset="0"/>
              </a:rPr>
              <a:t> = 2</a:t>
            </a:r>
            <a:r>
              <a:rPr lang="en-US" sz="2400" i="1" dirty="0">
                <a:latin typeface="Times New Roman" pitchFamily="18" charset="0"/>
                <a:cs typeface="Arial" charset="0"/>
              </a:rPr>
              <a:t>t</a:t>
            </a:r>
            <a:r>
              <a:rPr lang="en-US" sz="2400" i="1" baseline="-25000" dirty="0">
                <a:latin typeface="Times New Roman" pitchFamily="18" charset="0"/>
                <a:cs typeface="Arial" charset="0"/>
              </a:rPr>
              <a:t>pd</a:t>
            </a:r>
            <a:r>
              <a:rPr lang="en-US" sz="2400" baseline="-25000" dirty="0">
                <a:latin typeface="Times New Roman" pitchFamily="18" charset="0"/>
                <a:cs typeface="Arial" charset="0"/>
              </a:rPr>
              <a:t>_AND</a:t>
            </a:r>
            <a:r>
              <a:rPr lang="en-US" sz="2400" dirty="0">
                <a:latin typeface="Times New Roman" pitchFamily="18" charset="0"/>
                <a:cs typeface="Arial" charset="0"/>
              </a:rPr>
              <a:t> + </a:t>
            </a:r>
            <a:r>
              <a:rPr lang="en-US" sz="2400" i="1" dirty="0" err="1">
                <a:latin typeface="Times New Roman" pitchFamily="18" charset="0"/>
                <a:cs typeface="Arial" charset="0"/>
              </a:rPr>
              <a:t>t</a:t>
            </a:r>
            <a:r>
              <a:rPr lang="en-US" sz="2400" i="1" baseline="-25000" dirty="0" err="1">
                <a:latin typeface="Times New Roman" pitchFamily="18" charset="0"/>
                <a:cs typeface="Arial" charset="0"/>
              </a:rPr>
              <a:t>pd</a:t>
            </a:r>
            <a:r>
              <a:rPr lang="en-US" sz="2400" baseline="-25000" dirty="0" err="1">
                <a:latin typeface="Times New Roman" pitchFamily="18" charset="0"/>
                <a:cs typeface="Arial" charset="0"/>
              </a:rPr>
              <a:t>_OR</a:t>
            </a:r>
            <a:endParaRPr lang="en-US" sz="2400" baseline="-25000" dirty="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  <a:cs typeface="Arial" charset="0"/>
              </a:rPr>
              <a:t>		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Arial" charset="0"/>
              </a:rPr>
              <a:t>                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+mj-lt"/>
                <a:cs typeface="Arial" charset="0"/>
              </a:rPr>
              <a:t>Short Path:  </a:t>
            </a:r>
            <a:r>
              <a:rPr lang="en-US" sz="2400" i="1" dirty="0" err="1">
                <a:latin typeface="Times New Roman" pitchFamily="18" charset="0"/>
                <a:cs typeface="Arial" charset="0"/>
              </a:rPr>
              <a:t>t</a:t>
            </a:r>
            <a:r>
              <a:rPr lang="en-US" sz="2400" i="1" baseline="-25000" dirty="0" err="1">
                <a:latin typeface="Times New Roman" pitchFamily="18" charset="0"/>
                <a:cs typeface="Arial" charset="0"/>
              </a:rPr>
              <a:t>cd</a:t>
            </a:r>
            <a:r>
              <a:rPr lang="en-US" sz="2400" dirty="0">
                <a:latin typeface="Times New Roman" pitchFamily="18" charset="0"/>
                <a:cs typeface="Arial" charset="0"/>
              </a:rPr>
              <a:t> = </a:t>
            </a:r>
            <a:r>
              <a:rPr lang="en-US" sz="2400" i="1" dirty="0" err="1">
                <a:latin typeface="Times New Roman" pitchFamily="18" charset="0"/>
                <a:cs typeface="Arial" charset="0"/>
              </a:rPr>
              <a:t>t</a:t>
            </a:r>
            <a:r>
              <a:rPr lang="en-US" sz="2400" i="1" baseline="-25000" dirty="0" err="1">
                <a:latin typeface="Times New Roman" pitchFamily="18" charset="0"/>
                <a:cs typeface="Arial" charset="0"/>
              </a:rPr>
              <a:t>cd</a:t>
            </a:r>
            <a:r>
              <a:rPr lang="en-US" sz="2400" baseline="-25000" dirty="0" err="1">
                <a:latin typeface="Times New Roman" pitchFamily="18" charset="0"/>
                <a:cs typeface="Arial" charset="0"/>
              </a:rPr>
              <a:t>_AND</a:t>
            </a:r>
            <a:endParaRPr lang="en-US" sz="2400" baseline="-25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Critical (Long) &amp; Short Paths</a:t>
            </a:r>
          </a:p>
        </p:txBody>
      </p:sp>
    </p:spTree>
    <p:extLst>
      <p:ext uri="{BB962C8B-B14F-4D97-AF65-F5344CB8AC3E}">
        <p14:creationId xmlns:p14="http://schemas.microsoft.com/office/powerpoint/2010/main" val="414854254"/>
      </p:ext>
    </p:extLst>
  </p:cSld>
  <p:clrMapOvr>
    <a:masterClrMapping/>
  </p:clrMapOvr>
  <p:transition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010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39016" name="Rectangle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6512" y="12192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When a single input change causes an output to change multiple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Glitches</a:t>
            </a:r>
          </a:p>
        </p:txBody>
      </p:sp>
    </p:spTree>
    <p:extLst>
      <p:ext uri="{BB962C8B-B14F-4D97-AF65-F5344CB8AC3E}">
        <p14:creationId xmlns:p14="http://schemas.microsoft.com/office/powerpoint/2010/main" val="3548018724"/>
      </p:ext>
    </p:extLst>
  </p:cSld>
  <p:clrMapOvr>
    <a:masterClrMapping/>
  </p:clrMapOvr>
  <p:transition/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0038" name="Object 6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406076"/>
              </p:ext>
            </p:extLst>
          </p:nvPr>
        </p:nvGraphicFramePr>
        <p:xfrm>
          <a:off x="2133600" y="1905000"/>
          <a:ext cx="4006702" cy="3845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143080" imgH="2057400" progId="Visio.Drawing.6">
                  <p:embed/>
                </p:oleObj>
              </mc:Choice>
              <mc:Fallback>
                <p:oleObj name="VISIO" r:id="rId6" imgW="2143080" imgH="20574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905000"/>
                        <a:ext cx="4006702" cy="38457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0034" name="Rectangle 2" hidden="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40041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What happens when A = 0, C = 1, B falls?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Glitch Example</a:t>
            </a:r>
          </a:p>
        </p:txBody>
      </p:sp>
    </p:spTree>
    <p:extLst>
      <p:ext uri="{BB962C8B-B14F-4D97-AF65-F5344CB8AC3E}">
        <p14:creationId xmlns:p14="http://schemas.microsoft.com/office/powerpoint/2010/main" val="2458060089"/>
      </p:ext>
    </p:extLst>
  </p:cSld>
  <p:clrMapOvr>
    <a:masterClrMapping/>
  </p:clrMapOvr>
  <p:transition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3347" name="Object 3"/>
          <p:cNvGraphicFramePr>
            <a:graphicFrameLocks noGrp="1" noChangeAspect="1"/>
          </p:cNvGraphicFramePr>
          <p:nvPr>
            <p:ph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2820117"/>
              </p:ext>
            </p:extLst>
          </p:nvPr>
        </p:nvGraphicFramePr>
        <p:xfrm>
          <a:off x="1981200" y="838200"/>
          <a:ext cx="4918677" cy="514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629080" imgH="2750400" progId="Visio.Drawing.6">
                  <p:embed/>
                </p:oleObj>
              </mc:Choice>
              <mc:Fallback>
                <p:oleObj name="VISIO" r:id="rId4" imgW="2629080" imgH="27504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838200"/>
                        <a:ext cx="4918677" cy="514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Glitch Example (cont.)</a:t>
            </a:r>
          </a:p>
        </p:txBody>
      </p:sp>
    </p:spTree>
    <p:extLst>
      <p:ext uri="{BB962C8B-B14F-4D97-AF65-F5344CB8AC3E}">
        <p14:creationId xmlns:p14="http://schemas.microsoft.com/office/powerpoint/2010/main" val="358481943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1063" name="Object 7"/>
          <p:cNvGraphicFramePr>
            <a:graphicFrameLocks noGrp="1" noChangeAspect="1"/>
          </p:cNvGraphicFramePr>
          <p:nvPr>
            <p:ph sz="quarter" idx="4294967295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9740718"/>
              </p:ext>
            </p:extLst>
          </p:nvPr>
        </p:nvGraphicFramePr>
        <p:xfrm>
          <a:off x="2743200" y="990600"/>
          <a:ext cx="3387725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746000" imgH="1314360" progId="Visio.Drawing.6">
                  <p:embed/>
                </p:oleObj>
              </mc:Choice>
              <mc:Fallback>
                <p:oleObj name="VISIO" r:id="rId6" imgW="1746000" imgH="1314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990600"/>
                        <a:ext cx="3387725" cy="254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1065" name="Object 9"/>
          <p:cNvGraphicFramePr>
            <a:graphicFrameLocks noGrp="1" noChangeAspect="1"/>
          </p:cNvGraphicFramePr>
          <p:nvPr>
            <p:ph sz="quarter" idx="4294967295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0264853"/>
              </p:ext>
            </p:extLst>
          </p:nvPr>
        </p:nvGraphicFramePr>
        <p:xfrm>
          <a:off x="2133600" y="3602037"/>
          <a:ext cx="5105400" cy="226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286000" imgH="1015200" progId="Visio.Drawing.6">
                  <p:embed/>
                </p:oleObj>
              </mc:Choice>
              <mc:Fallback>
                <p:oleObj name="VISIO" r:id="rId8" imgW="2286000" imgH="10152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602037"/>
                        <a:ext cx="5105400" cy="226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1058" name="Rectangle 2" hidden="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Fixing the Glitch</a:t>
            </a:r>
          </a:p>
        </p:txBody>
      </p:sp>
    </p:spTree>
    <p:extLst>
      <p:ext uri="{BB962C8B-B14F-4D97-AF65-F5344CB8AC3E}">
        <p14:creationId xmlns:p14="http://schemas.microsoft.com/office/powerpoint/2010/main" val="4174164947"/>
      </p:ext>
    </p:extLst>
  </p:cSld>
  <p:clrMapOvr>
    <a:masterClrMapping/>
  </p:clrMapOvr>
  <p:transition/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 hidden="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3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  <a:cs typeface="Arial" charset="0"/>
            </a:endParaRPr>
          </a:p>
        </p:txBody>
      </p:sp>
      <p:sp>
        <p:nvSpPr>
          <p:cNvPr id="955399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1371600"/>
            <a:ext cx="838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55400" name="Rectangle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14400" y="1219200"/>
            <a:ext cx="7696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Glitches don’t cause problems because of </a:t>
            </a:r>
            <a:r>
              <a:rPr lang="en-US" sz="3200" b="1" dirty="0">
                <a:solidFill>
                  <a:srgbClr val="0070C0"/>
                </a:solidFill>
                <a:latin typeface="+mj-lt"/>
                <a:cs typeface="Arial" charset="0"/>
              </a:rPr>
              <a:t>synchronous design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 charset="0"/>
              </a:rPr>
              <a:t> </a:t>
            </a:r>
            <a:r>
              <a:rPr lang="en-US" sz="3200" dirty="0">
                <a:latin typeface="+mj-lt"/>
                <a:cs typeface="Arial" charset="0"/>
              </a:rPr>
              <a:t>conventions (see Chapter 3)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It’s important to </a:t>
            </a:r>
            <a:r>
              <a:rPr lang="en-US" sz="3200" b="1" dirty="0">
                <a:latin typeface="+mj-lt"/>
                <a:cs typeface="Arial" charset="0"/>
              </a:rPr>
              <a:t>recognize</a:t>
            </a:r>
            <a:r>
              <a:rPr lang="en-US" sz="3200" dirty="0">
                <a:latin typeface="+mj-lt"/>
                <a:cs typeface="Arial" charset="0"/>
              </a:rPr>
              <a:t> a glitch: in simulations or on oscilloscope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 dirty="0">
                <a:latin typeface="+mj-lt"/>
                <a:cs typeface="Arial" charset="0"/>
              </a:rPr>
              <a:t>Can’t get rid of all glitches – simultaneous transitions on multiple inputs can also cause glitches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Why Understand Glitches?</a:t>
            </a:r>
          </a:p>
        </p:txBody>
      </p:sp>
    </p:spTree>
    <p:extLst>
      <p:ext uri="{BB962C8B-B14F-4D97-AF65-F5344CB8AC3E}">
        <p14:creationId xmlns:p14="http://schemas.microsoft.com/office/powerpoint/2010/main" val="254999798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Instructor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26946</TotalTime>
  <Words>7812</Words>
  <Application>Microsoft Office PowerPoint</Application>
  <PresentationFormat>On-screen Show (4:3)</PresentationFormat>
  <Paragraphs>1477</Paragraphs>
  <Slides>153</Slides>
  <Notes>152</Notes>
  <HiddenSlides>4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153</vt:i4>
      </vt:variant>
    </vt:vector>
  </HeadingPairs>
  <TitlesOfParts>
    <vt:vector size="158" baseType="lpstr">
      <vt:lpstr>Arial</vt:lpstr>
      <vt:lpstr>Calibri</vt:lpstr>
      <vt:lpstr>Times New Roman</vt:lpstr>
      <vt:lpstr>Office Theme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Sum-of-Products Form</vt:lpstr>
      <vt:lpstr>Sum-of-Products 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SOP &amp; POS 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sharris</dc:creator>
  <cp:lastModifiedBy>An</cp:lastModifiedBy>
  <cp:revision>117</cp:revision>
  <cp:lastPrinted>2018-01-21T21:56:28Z</cp:lastPrinted>
  <dcterms:created xsi:type="dcterms:W3CDTF">2012-08-07T04:56:47Z</dcterms:created>
  <dcterms:modified xsi:type="dcterms:W3CDTF">2023-02-17T00:32:29Z</dcterms:modified>
</cp:coreProperties>
</file>