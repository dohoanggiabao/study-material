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sdx" ContentType="application/vnd.ms-visio.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8.xml" ContentType="application/vnd.openxmlformats-officedocument.presentationml.tags+xml"/>
  <Override PartName="/ppt/notesSlides/notesSlide9.xml" ContentType="application/vnd.openxmlformats-officedocument.presentationml.notesSlide+xml"/>
  <Override PartName="/ppt/tags/tag9.xml" ContentType="application/vnd.openxmlformats-officedocument.presentationml.tags+xml"/>
  <Override PartName="/ppt/notesSlides/notesSlide10.xml" ContentType="application/vnd.openxmlformats-officedocument.presentationml.notesSlide+xml"/>
  <Override PartName="/ppt/tags/tag10.xml" ContentType="application/vnd.openxmlformats-officedocument.presentationml.tags+xml"/>
  <Override PartName="/ppt/notesSlides/notesSlide11.xml" ContentType="application/vnd.openxmlformats-officedocument.presentationml.notesSlide+xml"/>
  <Override PartName="/ppt/tags/tag11.xml" ContentType="application/vnd.openxmlformats-officedocument.presentationml.tags+xml"/>
  <Override PartName="/ppt/notesSlides/notesSlide12.xml" ContentType="application/vnd.openxmlformats-officedocument.presentationml.notesSlide+xml"/>
  <Override PartName="/ppt/tags/tag12.xml" ContentType="application/vnd.openxmlformats-officedocument.presentationml.tags+xml"/>
  <Override PartName="/ppt/notesSlides/notesSlide13.xml" ContentType="application/vnd.openxmlformats-officedocument.presentationml.notesSlide+xml"/>
  <Override PartName="/ppt/tags/tag13.xml" ContentType="application/vnd.openxmlformats-officedocument.presentationml.tags+xml"/>
  <Override PartName="/ppt/notesSlides/notesSlide14.xml" ContentType="application/vnd.openxmlformats-officedocument.presentationml.notesSlide+xml"/>
  <Override PartName="/ppt/tags/tag14.xml" ContentType="application/vnd.openxmlformats-officedocument.presentationml.tags+xml"/>
  <Override PartName="/ppt/notesSlides/notesSlide15.xml" ContentType="application/vnd.openxmlformats-officedocument.presentationml.notesSlide+xml"/>
  <Override PartName="/ppt/tags/tag15.xml" ContentType="application/vnd.openxmlformats-officedocument.presentationml.tags+xml"/>
  <Override PartName="/ppt/notesSlides/notesSlide16.xml" ContentType="application/vnd.openxmlformats-officedocument.presentationml.notesSlide+xml"/>
  <Override PartName="/ppt/tags/tag16.xml" ContentType="application/vnd.openxmlformats-officedocument.presentationml.tags+xml"/>
  <Override PartName="/ppt/notesSlides/notesSlide17.xml" ContentType="application/vnd.openxmlformats-officedocument.presentationml.notesSlide+xml"/>
  <Override PartName="/ppt/tags/tag17.xml" ContentType="application/vnd.openxmlformats-officedocument.presentationml.tags+xml"/>
  <Override PartName="/ppt/notesSlides/notesSlide18.xml" ContentType="application/vnd.openxmlformats-officedocument.presentationml.notesSlide+xml"/>
  <Override PartName="/ppt/tags/tag18.xml" ContentType="application/vnd.openxmlformats-officedocument.presentationml.tags+xml"/>
  <Override PartName="/ppt/notesSlides/notesSlide19.xml" ContentType="application/vnd.openxmlformats-officedocument.presentationml.notesSlide+xml"/>
  <Override PartName="/ppt/tags/tag19.xml" ContentType="application/vnd.openxmlformats-officedocument.presentationml.tags+xml"/>
  <Override PartName="/ppt/notesSlides/notesSlide20.xml" ContentType="application/vnd.openxmlformats-officedocument.presentationml.notesSlide+xml"/>
  <Override PartName="/ppt/tags/tag20.xml" ContentType="application/vnd.openxmlformats-officedocument.presentationml.tags+xml"/>
  <Override PartName="/ppt/notesSlides/notesSlide21.xml" ContentType="application/vnd.openxmlformats-officedocument.presentationml.notesSlide+xml"/>
  <Override PartName="/ppt/tags/tag21.xml" ContentType="application/vnd.openxmlformats-officedocument.presentationml.tags+xml"/>
  <Override PartName="/ppt/notesSlides/notesSlide22.xml" ContentType="application/vnd.openxmlformats-officedocument.presentationml.notesSlide+xml"/>
  <Override PartName="/ppt/tags/tag22.xml" ContentType="application/vnd.openxmlformats-officedocument.presentationml.tags+xml"/>
  <Override PartName="/ppt/notesSlides/notesSlide23.xml" ContentType="application/vnd.openxmlformats-officedocument.presentationml.notesSlide+xml"/>
  <Override PartName="/ppt/tags/tag23.xml" ContentType="application/vnd.openxmlformats-officedocument.presentationml.tags+xml"/>
  <Override PartName="/ppt/notesSlides/notesSlide24.xml" ContentType="application/vnd.openxmlformats-officedocument.presentationml.notesSlide+xml"/>
  <Override PartName="/ppt/tags/tag24.xml" ContentType="application/vnd.openxmlformats-officedocument.presentationml.tags+xml"/>
  <Override PartName="/ppt/notesSlides/notesSlide25.xml" ContentType="application/vnd.openxmlformats-officedocument.presentationml.notesSlide+xml"/>
  <Override PartName="/ppt/tags/tag25.xml" ContentType="application/vnd.openxmlformats-officedocument.presentationml.tags+xml"/>
  <Override PartName="/ppt/notesSlides/notesSlide26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27.xml" ContentType="application/vnd.openxmlformats-officedocument.presentationml.notesSlide+xml"/>
  <Override PartName="/ppt/tags/tag28.xml" ContentType="application/vnd.openxmlformats-officedocument.presentationml.tags+xml"/>
  <Override PartName="/ppt/notesSlides/notesSlide28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29.xml" ContentType="application/vnd.openxmlformats-officedocument.presentationml.notesSlide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30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notesSlides/notesSlide31.xml" ContentType="application/vnd.openxmlformats-officedocument.presentationml.notesSlide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32.xml" ContentType="application/vnd.openxmlformats-officedocument.presentationml.notesSlide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notesSlides/notesSlide33.xml" ContentType="application/vnd.openxmlformats-officedocument.presentationml.notesSlide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34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notesSlides/notesSlide35.xml" ContentType="application/vnd.openxmlformats-officedocument.presentationml.notesSlide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36.xml" ContentType="application/vnd.openxmlformats-officedocument.presentationml.notesSlide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37.xml" ContentType="application/vnd.openxmlformats-officedocument.presentationml.notesSlid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38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notesSlides/notesSlide39.xml" ContentType="application/vnd.openxmlformats-officedocument.presentationml.notesSlid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notesSlides/notesSlide40.xml" ContentType="application/vnd.openxmlformats-officedocument.presentationml.notesSlid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notesSlides/notesSlide41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notesSlides/notesSlide42.xml" ContentType="application/vnd.openxmlformats-officedocument.presentationml.notesSlide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notesSlides/notesSlide43.xml" ContentType="application/vnd.openxmlformats-officedocument.presentationml.notesSlide+xml"/>
  <Override PartName="/ppt/tags/tag72.xml" ContentType="application/vnd.openxmlformats-officedocument.presentationml.tags+xml"/>
  <Override PartName="/ppt/notesSlides/notesSlide44.xml" ContentType="application/vnd.openxmlformats-officedocument.presentationml.notesSlide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45.xml" ContentType="application/vnd.openxmlformats-officedocument.presentationml.notesSlid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notesSlides/notesSlide46.xml" ContentType="application/vnd.openxmlformats-officedocument.presentationml.notesSlid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47.xml" ContentType="application/vnd.openxmlformats-officedocument.presentationml.notesSlide+xml"/>
  <Override PartName="/ppt/tags/tag82.xml" ContentType="application/vnd.openxmlformats-officedocument.presentationml.tags+xml"/>
  <Override PartName="/ppt/notesSlides/notesSlide48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notesSlides/notesSlide49.xml" ContentType="application/vnd.openxmlformats-officedocument.presentationml.notesSlide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notesSlides/notesSlide50.xml" ContentType="application/vnd.openxmlformats-officedocument.presentationml.notesSlide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notesSlides/notesSlide51.xml" ContentType="application/vnd.openxmlformats-officedocument.presentationml.notesSlide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notesSlides/notesSlide52.xml" ContentType="application/vnd.openxmlformats-officedocument.presentationml.notesSlide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notesSlides/notesSlide53.xml" ContentType="application/vnd.openxmlformats-officedocument.presentationml.notesSlide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notesSlides/notesSlide54.xml" ContentType="application/vnd.openxmlformats-officedocument.presentationml.notesSlid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notesSlides/notesSlide55.xml" ContentType="application/vnd.openxmlformats-officedocument.presentationml.notesSlide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notesSlides/notesSlide56.xml" ContentType="application/vnd.openxmlformats-officedocument.presentationml.notesSlide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notesSlides/notesSlide57.xml" ContentType="application/vnd.openxmlformats-officedocument.presentationml.notesSlide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notesSlides/notesSlide58.xml" ContentType="application/vnd.openxmlformats-officedocument.presentationml.notesSlide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notesSlides/notesSlide59.xml" ContentType="application/vnd.openxmlformats-officedocument.presentationml.notesSlide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notesSlides/notesSlide60.xml" ContentType="application/vnd.openxmlformats-officedocument.presentationml.notesSlide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61.xml" ContentType="application/vnd.openxmlformats-officedocument.presentationml.notesSlide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notesSlides/notesSlide62.xml" ContentType="application/vnd.openxmlformats-officedocument.presentationml.notesSlide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notesSlides/notesSlide63.xml" ContentType="application/vnd.openxmlformats-officedocument.presentationml.notesSlide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notesSlides/notesSlide64.xml" ContentType="application/vnd.openxmlformats-officedocument.presentationml.notesSlide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notesSlides/notesSlide65.xml" ContentType="application/vnd.openxmlformats-officedocument.presentationml.notesSlide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notesSlides/notesSlide66.xml" ContentType="application/vnd.openxmlformats-officedocument.presentationml.notesSlide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notesSlides/notesSlide67.xml" ContentType="application/vnd.openxmlformats-officedocument.presentationml.notesSlide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notesSlides/notesSlide68.xml" ContentType="application/vnd.openxmlformats-officedocument.presentationml.notesSlide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notesSlides/notesSlide69.xml" ContentType="application/vnd.openxmlformats-officedocument.presentationml.notesSlide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notesSlides/notesSlide70.xml" ContentType="application/vnd.openxmlformats-officedocument.presentationml.notesSlide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71.xml" ContentType="application/vnd.openxmlformats-officedocument.presentationml.notesSlide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notesSlides/notesSlide72.xml" ContentType="application/vnd.openxmlformats-officedocument.presentationml.notesSlide+xml"/>
  <Override PartName="/ppt/tags/tag152.xml" ContentType="application/vnd.openxmlformats-officedocument.presentationml.tags+xml"/>
  <Override PartName="/ppt/notesSlides/notesSlide73.xml" ContentType="application/vnd.openxmlformats-officedocument.presentationml.notesSlide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notesSlides/notesSlide74.xml" ContentType="application/vnd.openxmlformats-officedocument.presentationml.notesSlide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notesSlides/notesSlide75.xml" ContentType="application/vnd.openxmlformats-officedocument.presentationml.notesSlide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notesSlides/notesSlide76.xml" ContentType="application/vnd.openxmlformats-officedocument.presentationml.notesSlide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notesSlides/notesSlide77.xml" ContentType="application/vnd.openxmlformats-officedocument.presentationml.notesSlide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notesSlides/notesSlide78.xml" ContentType="application/vnd.openxmlformats-officedocument.presentationml.notesSlide+xml"/>
  <Override PartName="/ppt/tags/tag170.xml" ContentType="application/vnd.openxmlformats-officedocument.presentationml.tags+xml"/>
  <Override PartName="/ppt/notesSlides/notesSlide79.xml" ContentType="application/vnd.openxmlformats-officedocument.presentationml.notesSlide+xml"/>
  <Override PartName="/ppt/tags/tag171.xml" ContentType="application/vnd.openxmlformats-officedocument.presentationml.tags+xml"/>
  <Override PartName="/ppt/notesSlides/notesSlide80.xml" ContentType="application/vnd.openxmlformats-officedocument.presentationml.notesSlide+xml"/>
  <Override PartName="/ppt/tags/tag172.xml" ContentType="application/vnd.openxmlformats-officedocument.presentationml.tags+xml"/>
  <Override PartName="/ppt/notesSlides/notesSlide81.xml" ContentType="application/vnd.openxmlformats-officedocument.presentationml.notesSlid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notesSlides/notesSlide82.xml" ContentType="application/vnd.openxmlformats-officedocument.presentationml.notesSlide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notesSlides/notesSlide83.xml" ContentType="application/vnd.openxmlformats-officedocument.presentationml.notesSlide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notesSlides/notesSlide84.xml" ContentType="application/vnd.openxmlformats-officedocument.presentationml.notesSlide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notesSlides/notesSlide85.xml" ContentType="application/vnd.openxmlformats-officedocument.presentationml.notesSlide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notesSlides/notesSlide86.xml" ContentType="application/vnd.openxmlformats-officedocument.presentationml.notesSlide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notesSlides/notesSlide87.xml" ContentType="application/vnd.openxmlformats-officedocument.presentationml.notesSlide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notesSlides/notesSlide88.xml" ContentType="application/vnd.openxmlformats-officedocument.presentationml.notesSlide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notesSlides/notesSlide89.xml" ContentType="application/vnd.openxmlformats-officedocument.presentationml.notesSlide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notesSlides/notesSlide90.xml" ContentType="application/vnd.openxmlformats-officedocument.presentationml.notesSlide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notesSlides/notesSlide91.xml" ContentType="application/vnd.openxmlformats-officedocument.presentationml.notesSlide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notesSlides/notesSlide92.xml" ContentType="application/vnd.openxmlformats-officedocument.presentationml.notesSlide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notesSlides/notesSlide93.xml" ContentType="application/vnd.openxmlformats-officedocument.presentationml.notesSlide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notesSlides/notesSlide94.xml" ContentType="application/vnd.openxmlformats-officedocument.presentationml.notesSlide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notesSlides/notesSlide95.xml" ContentType="application/vnd.openxmlformats-officedocument.presentationml.notesSlide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notesSlides/notesSlide96.xml" ContentType="application/vnd.openxmlformats-officedocument.presentationml.notesSlide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notesSlides/notesSlide97.xml" ContentType="application/vnd.openxmlformats-officedocument.presentationml.notesSlide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notesSlides/notesSlide98.xml" ContentType="application/vnd.openxmlformats-officedocument.presentationml.notesSlide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notesSlides/notesSlide99.xml" ContentType="application/vnd.openxmlformats-officedocument.presentationml.notesSlide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notesSlides/notesSlide100.xml" ContentType="application/vnd.openxmlformats-officedocument.presentationml.notesSlide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notesSlides/notesSlide101.xml" ContentType="application/vnd.openxmlformats-officedocument.presentationml.notesSlide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notesSlides/notesSlide102.xml" ContentType="application/vnd.openxmlformats-officedocument.presentationml.notesSlide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notesSlides/notesSlide103.xml" ContentType="application/vnd.openxmlformats-officedocument.presentationml.notesSlide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notesSlides/notesSlide104.xml" ContentType="application/vnd.openxmlformats-officedocument.presentationml.notesSlide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notesSlides/notesSlide105.xml" ContentType="application/vnd.openxmlformats-officedocument.presentationml.notesSlide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notesSlides/notesSlide106.xml" ContentType="application/vnd.openxmlformats-officedocument.presentationml.notesSlide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notesSlides/notesSlide107.xml" ContentType="application/vnd.openxmlformats-officedocument.presentationml.notesSlide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108.xml" ContentType="application/vnd.openxmlformats-officedocument.presentationml.notesSlide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notesSlides/notesSlide109.xml" ContentType="application/vnd.openxmlformats-officedocument.presentationml.notesSlide+xml"/>
  <Override PartName="/ppt/tags/tag247.xml" ContentType="application/vnd.openxmlformats-officedocument.presentationml.tags+xml"/>
  <Override PartName="/ppt/notesSlides/notesSlide110.xml" ContentType="application/vnd.openxmlformats-officedocument.presentationml.notesSlide+xml"/>
  <Override PartName="/ppt/tags/tag248.xml" ContentType="application/vnd.openxmlformats-officedocument.presentationml.tags+xml"/>
  <Override PartName="/ppt/notesSlides/notesSlide111.xml" ContentType="application/vnd.openxmlformats-officedocument.presentationml.notesSlide+xml"/>
  <Override PartName="/ppt/tags/tag249.xml" ContentType="application/vnd.openxmlformats-officedocument.presentationml.tags+xml"/>
  <Override PartName="/ppt/notesSlides/notesSlide112.xml" ContentType="application/vnd.openxmlformats-officedocument.presentationml.notesSlide+xml"/>
  <Override PartName="/ppt/tags/tag250.xml" ContentType="application/vnd.openxmlformats-officedocument.presentationml.tags+xml"/>
  <Override PartName="/ppt/notesSlides/notesSlide113.xml" ContentType="application/vnd.openxmlformats-officedocument.presentationml.notesSlid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notesSlides/notesSlide114.xml" ContentType="application/vnd.openxmlformats-officedocument.presentationml.notesSlide+xml"/>
  <Override PartName="/ppt/tags/tag253.xml" ContentType="application/vnd.openxmlformats-officedocument.presentationml.tags+xml"/>
  <Override PartName="/ppt/notesSlides/notesSlide115.xml" ContentType="application/vnd.openxmlformats-officedocument.presentationml.notesSlide+xml"/>
  <Override PartName="/ppt/tags/tag254.xml" ContentType="application/vnd.openxmlformats-officedocument.presentationml.tags+xml"/>
  <Override PartName="/ppt/notesSlides/notesSlide116.xml" ContentType="application/vnd.openxmlformats-officedocument.presentationml.notesSlide+xml"/>
  <Override PartName="/ppt/tags/tag255.xml" ContentType="application/vnd.openxmlformats-officedocument.presentationml.tags+xml"/>
  <Override PartName="/ppt/notesSlides/notesSlide117.xml" ContentType="application/vnd.openxmlformats-officedocument.presentationml.notesSlide+xml"/>
  <Override PartName="/ppt/tags/tag256.xml" ContentType="application/vnd.openxmlformats-officedocument.presentationml.tags+xml"/>
  <Override PartName="/ppt/notesSlides/notesSlide118.xml" ContentType="application/vnd.openxmlformats-officedocument.presentationml.notesSlide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notesSlides/notesSlide119.xml" ContentType="application/vnd.openxmlformats-officedocument.presentationml.notesSlide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notesSlides/notesSlide120.xml" ContentType="application/vnd.openxmlformats-officedocument.presentationml.notesSlide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notesSlides/notesSlide121.xml" ContentType="application/vnd.openxmlformats-officedocument.presentationml.notesSlide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notesSlides/notesSlide122.xml" ContentType="application/vnd.openxmlformats-officedocument.presentationml.notesSlide+xml"/>
  <Override PartName="/ppt/tags/tag266.xml" ContentType="application/vnd.openxmlformats-officedocument.presentationml.tags+xml"/>
  <Override PartName="/ppt/notesSlides/notesSlide123.xml" ContentType="application/vnd.openxmlformats-officedocument.presentationml.notesSlide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notesSlides/notesSlide124.xml" ContentType="application/vnd.openxmlformats-officedocument.presentationml.notesSlide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notesSlides/notesSlide125.xml" ContentType="application/vnd.openxmlformats-officedocument.presentationml.notesSlide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notesSlides/notesSlide126.xml" ContentType="application/vnd.openxmlformats-officedocument.presentationml.notesSlide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notesSlides/notesSlide127.xml" ContentType="application/vnd.openxmlformats-officedocument.presentationml.notesSlide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notesSlides/notesSlide128.xml" ContentType="application/vnd.openxmlformats-officedocument.presentationml.notesSlide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notesSlides/notesSlide129.xml" ContentType="application/vnd.openxmlformats-officedocument.presentationml.notesSlide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notesSlides/notesSlide130.xml" ContentType="application/vnd.openxmlformats-officedocument.presentationml.notesSlide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notesSlides/notesSlide131.xml" ContentType="application/vnd.openxmlformats-officedocument.presentationml.notesSlide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notesSlides/notesSlide132.xml" ContentType="application/vnd.openxmlformats-officedocument.presentationml.notesSlide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notesSlides/notesSlide133.xml" ContentType="application/vnd.openxmlformats-officedocument.presentationml.notesSlide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notesSlides/notesSlide134.xml" ContentType="application/vnd.openxmlformats-officedocument.presentationml.notesSlide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notesSlides/notesSlide135.xml" ContentType="application/vnd.openxmlformats-officedocument.presentationml.notesSlide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notesSlides/notesSlide136.xml" ContentType="application/vnd.openxmlformats-officedocument.presentationml.notesSlide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notesSlides/notesSlide137.xml" ContentType="application/vnd.openxmlformats-officedocument.presentationml.notesSlide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notesSlides/notesSlide138.xml" ContentType="application/vnd.openxmlformats-officedocument.presentationml.notesSlide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notesSlides/notesSlide139.xml" ContentType="application/vnd.openxmlformats-officedocument.presentationml.notesSlide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notesSlides/notesSlide140.xml" ContentType="application/vnd.openxmlformats-officedocument.presentationml.notesSlide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notesSlides/notesSlide141.xml" ContentType="application/vnd.openxmlformats-officedocument.presentationml.notesSlide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notesSlides/notesSlide142.xml" ContentType="application/vnd.openxmlformats-officedocument.presentationml.notesSlide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notesSlides/notesSlide143.xml" ContentType="application/vnd.openxmlformats-officedocument.presentationml.notesSlide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notesSlides/notesSlide144.xml" ContentType="application/vnd.openxmlformats-officedocument.presentationml.notesSlide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notesSlides/notesSlide145.xml" ContentType="application/vnd.openxmlformats-officedocument.presentationml.notesSlide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notesSlides/notesSlide146.xml" ContentType="application/vnd.openxmlformats-officedocument.presentationml.notesSlide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notesSlides/notesSlide147.xml" ContentType="application/vnd.openxmlformats-officedocument.presentationml.notesSlide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notesSlides/notesSlide148.xml" ContentType="application/vnd.openxmlformats-officedocument.presentationml.notesSlide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notesSlides/notesSlide149.xml" ContentType="application/vnd.openxmlformats-officedocument.presentationml.notesSlide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notesSlides/notesSlide150.xml" ContentType="application/vnd.openxmlformats-officedocument.presentationml.notesSlide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notesSlides/notesSlide151.xml" ContentType="application/vnd.openxmlformats-officedocument.presentationml.notesSlide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notesSlides/notesSlide152.xml" ContentType="application/vnd.openxmlformats-officedocument.presentationml.notesSlide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notesSlides/notesSlide153.xml" ContentType="application/vnd.openxmlformats-officedocument.presentationml.notesSlide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notesSlides/notesSlide154.xml" ContentType="application/vnd.openxmlformats-officedocument.presentationml.notesSlide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notesSlides/notesSlide155.xml" ContentType="application/vnd.openxmlformats-officedocument.presentationml.notesSlide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notesSlides/notesSlide156.xml" ContentType="application/vnd.openxmlformats-officedocument.presentationml.notesSlide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notesSlides/notesSlide157.xml" ContentType="application/vnd.openxmlformats-officedocument.presentationml.notesSlide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notesSlides/notesSlide158.xml" ContentType="application/vnd.openxmlformats-officedocument.presentationml.notesSlide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notesSlides/notesSlide159.xml" ContentType="application/vnd.openxmlformats-officedocument.presentationml.notesSlide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notesSlides/notesSlide160.xml" ContentType="application/vnd.openxmlformats-officedocument.presentationml.notesSlide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notesSlides/notesSlide161.xml" ContentType="application/vnd.openxmlformats-officedocument.presentationml.notesSlide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notesSlides/notesSlide162.xml" ContentType="application/vnd.openxmlformats-officedocument.presentationml.notesSlide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notesSlides/notesSlide163.xml" ContentType="application/vnd.openxmlformats-officedocument.presentationml.notesSlide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notesSlides/notesSlide164.xml" ContentType="application/vnd.openxmlformats-officedocument.presentationml.notesSlide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notesSlides/notesSlide165.xml" ContentType="application/vnd.openxmlformats-officedocument.presentationml.notesSlide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notesSlides/notesSlide166.xml" ContentType="application/vnd.openxmlformats-officedocument.presentationml.notesSlide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notesSlides/notesSlide167.xml" ContentType="application/vnd.openxmlformats-officedocument.presentationml.notesSlide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notesSlides/notesSlide168.xml" ContentType="application/vnd.openxmlformats-officedocument.presentationml.notesSlide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notesSlides/notesSlide169.xml" ContentType="application/vnd.openxmlformats-officedocument.presentationml.notesSlide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notesSlides/notesSlide170.xml" ContentType="application/vnd.openxmlformats-officedocument.presentationml.notesSlide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notesSlides/notesSlide171.xml" ContentType="application/vnd.openxmlformats-officedocument.presentationml.notesSlide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notesSlides/notesSlide172.xml" ContentType="application/vnd.openxmlformats-officedocument.presentationml.notesSlide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notesSlides/notesSlide173.xml" ContentType="application/vnd.openxmlformats-officedocument.presentationml.notesSlide+xml"/>
  <Override PartName="/ppt/tags/tag424.xml" ContentType="application/vnd.openxmlformats-officedocument.presentationml.tags+xml"/>
  <Override PartName="/ppt/notesSlides/notesSlide174.xml" ContentType="application/vnd.openxmlformats-officedocument.presentationml.notesSlide+xml"/>
  <Override PartName="/ppt/tags/tag425.xml" ContentType="application/vnd.openxmlformats-officedocument.presentationml.tags+xml"/>
  <Override PartName="/ppt/notesSlides/notesSlide175.xml" ContentType="application/vnd.openxmlformats-officedocument.presentationml.notesSlide+xml"/>
  <Override PartName="/ppt/tags/tag426.xml" ContentType="application/vnd.openxmlformats-officedocument.presentationml.tags+xml"/>
  <Override PartName="/ppt/notesSlides/notesSlide176.xml" ContentType="application/vnd.openxmlformats-officedocument.presentationml.notesSlide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notesSlides/notesSlide177.xml" ContentType="application/vnd.openxmlformats-officedocument.presentationml.notesSlide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notesSlides/notesSlide178.xml" ContentType="application/vnd.openxmlformats-officedocument.presentationml.notesSlide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notesSlides/notesSlide179.xml" ContentType="application/vnd.openxmlformats-officedocument.presentationml.notesSlide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notesSlides/notesSlide180.xml" ContentType="application/vnd.openxmlformats-officedocument.presentationml.notesSlide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notesSlides/notesSlide181.xml" ContentType="application/vnd.openxmlformats-officedocument.presentationml.notesSlide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notesSlides/notesSlide182.xml" ContentType="application/vnd.openxmlformats-officedocument.presentationml.notesSlide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notesSlides/notesSlide183.xml" ContentType="application/vnd.openxmlformats-officedocument.presentationml.notesSlide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notesSlides/notesSlide184.xml" ContentType="application/vnd.openxmlformats-officedocument.presentationml.notesSlide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notesSlides/notesSlide185.xml" ContentType="application/vnd.openxmlformats-officedocument.presentationml.notesSlide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notesSlides/notesSlide186.xml" ContentType="application/vnd.openxmlformats-officedocument.presentationml.notesSlide+xml"/>
  <Override PartName="/ppt/tags/tag461.xml" ContentType="application/vnd.openxmlformats-officedocument.presentationml.tags+xml"/>
  <Override PartName="/ppt/notesSlides/notesSlide187.xml" ContentType="application/vnd.openxmlformats-officedocument.presentationml.notesSlide+xml"/>
  <Override PartName="/ppt/tags/tag462.xml" ContentType="application/vnd.openxmlformats-officedocument.presentationml.tags+xml"/>
  <Override PartName="/ppt/notesSlides/notesSlide188.xml" ContentType="application/vnd.openxmlformats-officedocument.presentationml.notesSlide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notesSlides/notesSlide189.xml" ContentType="application/vnd.openxmlformats-officedocument.presentationml.notesSlide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notesSlides/notesSlide190.xml" ContentType="application/vnd.openxmlformats-officedocument.presentationml.notesSlide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notesSlides/notesSlide191.xml" ContentType="application/vnd.openxmlformats-officedocument.presentationml.notesSlide+xml"/>
  <Override PartName="/ppt/tags/tag471.xml" ContentType="application/vnd.openxmlformats-officedocument.presentationml.tags+xml"/>
  <Override PartName="/ppt/notesSlides/notesSlide192.xml" ContentType="application/vnd.openxmlformats-officedocument.presentationml.notesSlide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notesSlides/notesSlide193.xml" ContentType="application/vnd.openxmlformats-officedocument.presentationml.notesSlide+xml"/>
  <Override PartName="/ppt/tags/tag474.xml" ContentType="application/vnd.openxmlformats-officedocument.presentationml.tags+xml"/>
  <Override PartName="/ppt/notesSlides/notesSlide1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handoutMasterIdLst>
    <p:handoutMasterId r:id="rId205"/>
  </p:handoutMasterIdLst>
  <p:sldIdLst>
    <p:sldId id="256" r:id="rId2"/>
    <p:sldId id="257" r:id="rId3"/>
    <p:sldId id="676" r:id="rId4"/>
    <p:sldId id="677" r:id="rId5"/>
    <p:sldId id="678" r:id="rId6"/>
    <p:sldId id="399" r:id="rId7"/>
    <p:sldId id="400" r:id="rId8"/>
    <p:sldId id="401" r:id="rId9"/>
    <p:sldId id="403" r:id="rId10"/>
    <p:sldId id="404" r:id="rId11"/>
    <p:sldId id="402" r:id="rId12"/>
    <p:sldId id="405" r:id="rId13"/>
    <p:sldId id="642" r:id="rId14"/>
    <p:sldId id="681" r:id="rId15"/>
    <p:sldId id="646" r:id="rId16"/>
    <p:sldId id="406" r:id="rId17"/>
    <p:sldId id="407" r:id="rId18"/>
    <p:sldId id="408" r:id="rId19"/>
    <p:sldId id="409" r:id="rId20"/>
    <p:sldId id="410" r:id="rId21"/>
    <p:sldId id="411" r:id="rId22"/>
    <p:sldId id="679" r:id="rId23"/>
    <p:sldId id="648" r:id="rId24"/>
    <p:sldId id="649" r:id="rId25"/>
    <p:sldId id="650" r:id="rId26"/>
    <p:sldId id="412" r:id="rId27"/>
    <p:sldId id="680" r:id="rId28"/>
    <p:sldId id="413" r:id="rId29"/>
    <p:sldId id="664" r:id="rId30"/>
    <p:sldId id="540" r:id="rId31"/>
    <p:sldId id="665" r:id="rId32"/>
    <p:sldId id="682" r:id="rId33"/>
    <p:sldId id="414" r:id="rId34"/>
    <p:sldId id="586" r:id="rId35"/>
    <p:sldId id="683" r:id="rId36"/>
    <p:sldId id="415" r:id="rId37"/>
    <p:sldId id="684" r:id="rId38"/>
    <p:sldId id="416" r:id="rId39"/>
    <p:sldId id="549" r:id="rId40"/>
    <p:sldId id="550" r:id="rId41"/>
    <p:sldId id="587" r:id="rId42"/>
    <p:sldId id="594" r:id="rId43"/>
    <p:sldId id="595" r:id="rId44"/>
    <p:sldId id="596" r:id="rId45"/>
    <p:sldId id="551" r:id="rId46"/>
    <p:sldId id="651" r:id="rId47"/>
    <p:sldId id="597" r:id="rId48"/>
    <p:sldId id="599" r:id="rId49"/>
    <p:sldId id="543" r:id="rId50"/>
    <p:sldId id="598" r:id="rId51"/>
    <p:sldId id="417" r:id="rId52"/>
    <p:sldId id="418" r:id="rId53"/>
    <p:sldId id="600" r:id="rId54"/>
    <p:sldId id="546" r:id="rId55"/>
    <p:sldId id="601" r:id="rId56"/>
    <p:sldId id="548" r:id="rId57"/>
    <p:sldId id="652" r:id="rId58"/>
    <p:sldId id="653" r:id="rId59"/>
    <p:sldId id="663" r:id="rId60"/>
    <p:sldId id="666" r:id="rId61"/>
    <p:sldId id="542" r:id="rId62"/>
    <p:sldId id="554" r:id="rId63"/>
    <p:sldId id="655" r:id="rId64"/>
    <p:sldId id="654" r:id="rId65"/>
    <p:sldId id="656" r:id="rId66"/>
    <p:sldId id="657" r:id="rId67"/>
    <p:sldId id="667" r:id="rId68"/>
    <p:sldId id="658" r:id="rId69"/>
    <p:sldId id="555" r:id="rId70"/>
    <p:sldId id="659" r:id="rId71"/>
    <p:sldId id="660" r:id="rId72"/>
    <p:sldId id="661" r:id="rId73"/>
    <p:sldId id="420" r:id="rId74"/>
    <p:sldId id="662" r:id="rId75"/>
    <p:sldId id="423" r:id="rId76"/>
    <p:sldId id="603" r:id="rId77"/>
    <p:sldId id="556" r:id="rId78"/>
    <p:sldId id="557" r:id="rId79"/>
    <p:sldId id="559" r:id="rId80"/>
    <p:sldId id="558" r:id="rId81"/>
    <p:sldId id="429" r:id="rId82"/>
    <p:sldId id="430" r:id="rId83"/>
    <p:sldId id="431" r:id="rId84"/>
    <p:sldId id="560" r:id="rId85"/>
    <p:sldId id="604" r:id="rId86"/>
    <p:sldId id="435" r:id="rId87"/>
    <p:sldId id="436" r:id="rId88"/>
    <p:sldId id="561" r:id="rId89"/>
    <p:sldId id="605" r:id="rId90"/>
    <p:sldId id="437" r:id="rId91"/>
    <p:sldId id="438" r:id="rId92"/>
    <p:sldId id="439" r:id="rId93"/>
    <p:sldId id="441" r:id="rId94"/>
    <p:sldId id="442" r:id="rId95"/>
    <p:sldId id="443" r:id="rId96"/>
    <p:sldId id="444" r:id="rId97"/>
    <p:sldId id="607" r:id="rId98"/>
    <p:sldId id="669" r:id="rId99"/>
    <p:sldId id="670" r:id="rId100"/>
    <p:sldId id="671" r:id="rId101"/>
    <p:sldId id="672" r:id="rId102"/>
    <p:sldId id="668" r:id="rId103"/>
    <p:sldId id="615" r:id="rId104"/>
    <p:sldId id="616" r:id="rId105"/>
    <p:sldId id="617" r:id="rId106"/>
    <p:sldId id="445" r:id="rId107"/>
    <p:sldId id="446" r:id="rId108"/>
    <p:sldId id="563" r:id="rId109"/>
    <p:sldId id="447" r:id="rId110"/>
    <p:sldId id="619" r:id="rId111"/>
    <p:sldId id="449" r:id="rId112"/>
    <p:sldId id="674" r:id="rId113"/>
    <p:sldId id="564" r:id="rId114"/>
    <p:sldId id="618" r:id="rId115"/>
    <p:sldId id="565" r:id="rId116"/>
    <p:sldId id="567" r:id="rId117"/>
    <p:sldId id="620" r:id="rId118"/>
    <p:sldId id="450" r:id="rId119"/>
    <p:sldId id="452" r:id="rId120"/>
    <p:sldId id="621" r:id="rId121"/>
    <p:sldId id="622" r:id="rId122"/>
    <p:sldId id="623" r:id="rId123"/>
    <p:sldId id="455" r:id="rId124"/>
    <p:sldId id="456" r:id="rId125"/>
    <p:sldId id="457" r:id="rId126"/>
    <p:sldId id="625" r:id="rId127"/>
    <p:sldId id="459" r:id="rId128"/>
    <p:sldId id="626" r:id="rId129"/>
    <p:sldId id="675" r:id="rId130"/>
    <p:sldId id="583" r:id="rId131"/>
    <p:sldId id="584" r:id="rId132"/>
    <p:sldId id="629" r:id="rId133"/>
    <p:sldId id="627" r:id="rId134"/>
    <p:sldId id="465" r:id="rId135"/>
    <p:sldId id="630" r:id="rId136"/>
    <p:sldId id="631" r:id="rId137"/>
    <p:sldId id="632" r:id="rId138"/>
    <p:sldId id="467" r:id="rId139"/>
    <p:sldId id="568" r:id="rId140"/>
    <p:sldId id="633" r:id="rId141"/>
    <p:sldId id="634" r:id="rId142"/>
    <p:sldId id="635" r:id="rId143"/>
    <p:sldId id="636" r:id="rId144"/>
    <p:sldId id="638" r:id="rId145"/>
    <p:sldId id="637" r:id="rId146"/>
    <p:sldId id="475" r:id="rId147"/>
    <p:sldId id="476" r:id="rId148"/>
    <p:sldId id="477" r:id="rId149"/>
    <p:sldId id="478" r:id="rId150"/>
    <p:sldId id="479" r:id="rId151"/>
    <p:sldId id="571" r:id="rId152"/>
    <p:sldId id="480" r:id="rId153"/>
    <p:sldId id="481" r:id="rId154"/>
    <p:sldId id="482" r:id="rId155"/>
    <p:sldId id="483" r:id="rId156"/>
    <p:sldId id="484" r:id="rId157"/>
    <p:sldId id="485" r:id="rId158"/>
    <p:sldId id="572" r:id="rId159"/>
    <p:sldId id="486" r:id="rId160"/>
    <p:sldId id="573" r:id="rId161"/>
    <p:sldId id="639" r:id="rId162"/>
    <p:sldId id="488" r:id="rId163"/>
    <p:sldId id="489" r:id="rId164"/>
    <p:sldId id="490" r:id="rId165"/>
    <p:sldId id="491" r:id="rId166"/>
    <p:sldId id="575" r:id="rId167"/>
    <p:sldId id="576" r:id="rId168"/>
    <p:sldId id="492" r:id="rId169"/>
    <p:sldId id="574" r:id="rId170"/>
    <p:sldId id="577" r:id="rId171"/>
    <p:sldId id="498" r:id="rId172"/>
    <p:sldId id="578" r:id="rId173"/>
    <p:sldId id="501" r:id="rId174"/>
    <p:sldId id="640" r:id="rId175"/>
    <p:sldId id="502" r:id="rId176"/>
    <p:sldId id="503" r:id="rId177"/>
    <p:sldId id="641" r:id="rId178"/>
    <p:sldId id="504" r:id="rId179"/>
    <p:sldId id="537" r:id="rId180"/>
    <p:sldId id="512" r:id="rId181"/>
    <p:sldId id="513" r:id="rId182"/>
    <p:sldId id="579" r:id="rId183"/>
    <p:sldId id="581" r:id="rId184"/>
    <p:sldId id="580" r:id="rId185"/>
    <p:sldId id="514" r:id="rId186"/>
    <p:sldId id="515" r:id="rId187"/>
    <p:sldId id="516" r:id="rId188"/>
    <p:sldId id="517" r:id="rId189"/>
    <p:sldId id="518" r:id="rId190"/>
    <p:sldId id="519" r:id="rId191"/>
    <p:sldId id="520" r:id="rId192"/>
    <p:sldId id="521" r:id="rId193"/>
    <p:sldId id="522" r:id="rId194"/>
    <p:sldId id="523" r:id="rId195"/>
    <p:sldId id="524" r:id="rId196"/>
    <p:sldId id="525" r:id="rId197"/>
    <p:sldId id="526" r:id="rId198"/>
    <p:sldId id="527" r:id="rId199"/>
    <p:sldId id="538" r:id="rId200"/>
    <p:sldId id="529" r:id="rId201"/>
    <p:sldId id="530" r:id="rId202"/>
    <p:sldId id="531" r:id="rId203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clrMode="bw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0EF"/>
    <a:srgbClr val="32A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52" autoAdjust="0"/>
    <p:restoredTop sz="94142" autoAdjust="0"/>
  </p:normalViewPr>
  <p:slideViewPr>
    <p:cSldViewPr>
      <p:cViewPr varScale="1">
        <p:scale>
          <a:sx n="79" d="100"/>
          <a:sy n="79" d="100"/>
        </p:scale>
        <p:origin x="1685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92A92-002F-9548-A607-E9EB9B3F9572}" type="datetimeFigureOut">
              <a:rPr lang="en-US" smtClean="0"/>
              <a:t>5/12/2023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67A377-B5FF-0841-9F36-EF30438B33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411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D5E47-F045-4C01-A154-66E3997AD169}" type="datetimeFigureOut">
              <a:rPr lang="en-US" smtClean="0"/>
              <a:t>5/12/2023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3EC52C-64D1-4EF5-AC14-14AF6A3FC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81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66788" eaLnBrk="0" hangingPunct="0"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fld id="{E107E65D-A422-4C30-B3F0-AE1AD199FA59}" type="slidenum">
              <a:rPr lang="en-US" sz="1200">
                <a:latin typeface="Times New Roman" pitchFamily="18" charset="0"/>
              </a:rPr>
              <a:pPr eaLnBrk="1" hangingPunct="1"/>
              <a:t>2</a:t>
            </a:fld>
            <a:endParaRPr lang="en-US" sz="1200">
              <a:latin typeface="Times New Roman" pitchFamily="18" charset="0"/>
            </a:endParaRPr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A12898-5B80-4728-A62A-50D6A1DE6BF0}" type="slidenum">
              <a:rPr lang="en-US"/>
              <a:pPr/>
              <a:t>3</a:t>
            </a:fld>
            <a:endParaRPr lang="en-US"/>
          </a:p>
        </p:txBody>
      </p:sp>
      <p:sp>
        <p:nvSpPr>
          <p:cNvPr id="1355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5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95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A12898-5B80-4728-A62A-50D6A1DE6BF0}" type="slidenum">
              <a:rPr lang="en-US"/>
              <a:pPr/>
              <a:t>4</a:t>
            </a:fld>
            <a:endParaRPr lang="en-US"/>
          </a:p>
        </p:txBody>
      </p:sp>
      <p:sp>
        <p:nvSpPr>
          <p:cNvPr id="1355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5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017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A12898-5B80-4728-A62A-50D6A1DE6BF0}" type="slidenum">
              <a:rPr lang="en-US"/>
              <a:pPr/>
              <a:t>6</a:t>
            </a:fld>
            <a:endParaRPr lang="en-US"/>
          </a:p>
        </p:txBody>
      </p:sp>
      <p:sp>
        <p:nvSpPr>
          <p:cNvPr id="1355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5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2AA02A9-81E7-4FC0-8A31-24B525F14208}" type="slidenum">
              <a:rPr lang="en-US"/>
              <a:pPr/>
              <a:t>7</a:t>
            </a:fld>
            <a:endParaRPr lang="en-US"/>
          </a:p>
        </p:txBody>
      </p:sp>
      <p:sp>
        <p:nvSpPr>
          <p:cNvPr id="1356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DC739A-9C17-47CD-9F20-15742CBE6C74}" type="slidenum">
              <a:rPr lang="en-US"/>
              <a:pPr/>
              <a:t>8</a:t>
            </a:fld>
            <a:endParaRPr lang="en-US"/>
          </a:p>
        </p:txBody>
      </p:sp>
      <p:sp>
        <p:nvSpPr>
          <p:cNvPr id="1357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7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9A1A6FD-BBE4-472C-9682-C83E0F98297A}" type="slidenum">
              <a:rPr lang="en-US"/>
              <a:pPr/>
              <a:t>9</a:t>
            </a:fld>
            <a:endParaRPr lang="en-US"/>
          </a:p>
        </p:txBody>
      </p:sp>
      <p:sp>
        <p:nvSpPr>
          <p:cNvPr id="1359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9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395DF1D-A0E9-436D-A100-376B78C97228}" type="slidenum">
              <a:rPr lang="en-US"/>
              <a:pPr/>
              <a:t>10</a:t>
            </a:fld>
            <a:endParaRPr lang="en-US"/>
          </a:p>
        </p:txBody>
      </p:sp>
      <p:sp>
        <p:nvSpPr>
          <p:cNvPr id="136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801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46671D-A8C6-47B3-A75A-9352EA65CFB7}" type="slidenum">
              <a:rPr lang="en-US"/>
              <a:pPr/>
              <a:t>11</a:t>
            </a:fld>
            <a:endParaRPr lang="en-US"/>
          </a:p>
        </p:txBody>
      </p:sp>
      <p:sp>
        <p:nvSpPr>
          <p:cNvPr id="135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125141-5B24-4BAE-9559-A86E56479F27}" type="slidenum">
              <a:rPr lang="en-US"/>
              <a:pPr/>
              <a:t>12</a:t>
            </a:fld>
            <a:endParaRPr lang="en-US"/>
          </a:p>
        </p:txBody>
      </p:sp>
      <p:sp>
        <p:nvSpPr>
          <p:cNvPr id="136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125141-5B24-4BAE-9559-A86E56479F27}" type="slidenum">
              <a:rPr lang="en-US"/>
              <a:pPr/>
              <a:t>13</a:t>
            </a:fld>
            <a:endParaRPr lang="en-US"/>
          </a:p>
        </p:txBody>
      </p:sp>
      <p:sp>
        <p:nvSpPr>
          <p:cNvPr id="136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125141-5B24-4BAE-9559-A86E56479F27}" type="slidenum">
              <a:rPr lang="en-US"/>
              <a:pPr/>
              <a:t>15</a:t>
            </a:fld>
            <a:endParaRPr lang="en-US"/>
          </a:p>
        </p:txBody>
      </p:sp>
      <p:sp>
        <p:nvSpPr>
          <p:cNvPr id="136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B377D0-3401-4DB7-96DB-6B7BE03ABE96}" type="slidenum">
              <a:rPr lang="en-US"/>
              <a:pPr/>
              <a:t>16</a:t>
            </a:fld>
            <a:endParaRPr lang="en-US"/>
          </a:p>
        </p:txBody>
      </p:sp>
      <p:sp>
        <p:nvSpPr>
          <p:cNvPr id="136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85D2DB2-BA90-4463-B0A8-AE12B0A66EE8}" type="slidenum">
              <a:rPr lang="en-US"/>
              <a:pPr/>
              <a:t>17</a:t>
            </a:fld>
            <a:endParaRPr lang="en-US"/>
          </a:p>
        </p:txBody>
      </p:sp>
      <p:sp>
        <p:nvSpPr>
          <p:cNvPr id="1363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3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26C829F-7ED2-40C6-BF34-D0B3FCC86EBA}" type="slidenum">
              <a:rPr lang="en-US"/>
              <a:pPr/>
              <a:t>18</a:t>
            </a:fld>
            <a:endParaRPr lang="en-US"/>
          </a:p>
        </p:txBody>
      </p:sp>
      <p:sp>
        <p:nvSpPr>
          <p:cNvPr id="136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1C4C82-1E05-4440-9F7E-6FAEB2EAAE75}" type="slidenum">
              <a:rPr lang="en-US"/>
              <a:pPr/>
              <a:t>19</a:t>
            </a:fld>
            <a:endParaRPr lang="en-US"/>
          </a:p>
        </p:txBody>
      </p:sp>
      <p:sp>
        <p:nvSpPr>
          <p:cNvPr id="136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6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E622678-56B4-4083-93DF-293C377DC8BB}" type="slidenum">
              <a:rPr lang="en-US"/>
              <a:pPr/>
              <a:t>20</a:t>
            </a:fld>
            <a:endParaRPr lang="en-US"/>
          </a:p>
        </p:txBody>
      </p:sp>
      <p:sp>
        <p:nvSpPr>
          <p:cNvPr id="136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172405B-27BD-44F4-A341-1CD560017CD2}" type="slidenum">
              <a:rPr lang="en-US"/>
              <a:pPr/>
              <a:t>21</a:t>
            </a:fld>
            <a:endParaRPr lang="en-US"/>
          </a:p>
        </p:txBody>
      </p:sp>
      <p:sp>
        <p:nvSpPr>
          <p:cNvPr id="136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8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172405B-27BD-44F4-A341-1CD560017CD2}" type="slidenum">
              <a:rPr lang="en-US"/>
              <a:pPr/>
              <a:t>23</a:t>
            </a:fld>
            <a:endParaRPr lang="en-US"/>
          </a:p>
        </p:txBody>
      </p:sp>
      <p:sp>
        <p:nvSpPr>
          <p:cNvPr id="136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8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172405B-27BD-44F4-A341-1CD560017CD2}" type="slidenum">
              <a:rPr lang="en-US"/>
              <a:pPr/>
              <a:t>24</a:t>
            </a:fld>
            <a:endParaRPr lang="en-US"/>
          </a:p>
        </p:txBody>
      </p:sp>
      <p:sp>
        <p:nvSpPr>
          <p:cNvPr id="136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8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172405B-27BD-44F4-A341-1CD560017CD2}" type="slidenum">
              <a:rPr lang="en-US"/>
              <a:pPr/>
              <a:t>25</a:t>
            </a:fld>
            <a:endParaRPr lang="en-US"/>
          </a:p>
        </p:txBody>
      </p:sp>
      <p:sp>
        <p:nvSpPr>
          <p:cNvPr id="136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8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268C7-9330-4FF6-B88E-8F9390C46787}" type="slidenum">
              <a:rPr lang="en-US"/>
              <a:pPr/>
              <a:t>26</a:t>
            </a:fld>
            <a:endParaRPr lang="en-US"/>
          </a:p>
        </p:txBody>
      </p:sp>
      <p:sp>
        <p:nvSpPr>
          <p:cNvPr id="1369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9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04A31-E7AA-49B9-AB13-6ACD4B3FFBA8}" type="slidenum">
              <a:rPr lang="en-US"/>
              <a:pPr/>
              <a:t>28</a:t>
            </a:fld>
            <a:endParaRPr lang="en-US"/>
          </a:p>
        </p:txBody>
      </p:sp>
      <p:sp>
        <p:nvSpPr>
          <p:cNvPr id="137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04A31-E7AA-49B9-AB13-6ACD4B3FFBA8}" type="slidenum">
              <a:rPr lang="en-US"/>
              <a:pPr/>
              <a:t>29</a:t>
            </a:fld>
            <a:endParaRPr lang="en-US"/>
          </a:p>
        </p:txBody>
      </p:sp>
      <p:sp>
        <p:nvSpPr>
          <p:cNvPr id="137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04A31-E7AA-49B9-AB13-6ACD4B3FFBA8}" type="slidenum">
              <a:rPr lang="en-US"/>
              <a:pPr/>
              <a:t>30</a:t>
            </a:fld>
            <a:endParaRPr lang="en-US"/>
          </a:p>
        </p:txBody>
      </p:sp>
      <p:sp>
        <p:nvSpPr>
          <p:cNvPr id="137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04A31-E7AA-49B9-AB13-6ACD4B3FFBA8}" type="slidenum">
              <a:rPr lang="en-US"/>
              <a:pPr/>
              <a:t>31</a:t>
            </a:fld>
            <a:endParaRPr lang="en-US"/>
          </a:p>
        </p:txBody>
      </p:sp>
      <p:sp>
        <p:nvSpPr>
          <p:cNvPr id="137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2BCE9A0-E7EE-465F-A9E2-2A09D0577B70}" type="slidenum">
              <a:rPr lang="en-US"/>
              <a:pPr/>
              <a:t>33</a:t>
            </a:fld>
            <a:endParaRPr lang="en-US"/>
          </a:p>
        </p:txBody>
      </p:sp>
      <p:sp>
        <p:nvSpPr>
          <p:cNvPr id="1371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1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2BCE9A0-E7EE-465F-A9E2-2A09D0577B70}" type="slidenum">
              <a:rPr lang="en-US"/>
              <a:pPr/>
              <a:t>34</a:t>
            </a:fld>
            <a:endParaRPr lang="en-US"/>
          </a:p>
        </p:txBody>
      </p:sp>
      <p:sp>
        <p:nvSpPr>
          <p:cNvPr id="1371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1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A40A60-4161-4AA9-B4A0-BB2E25B9069F}" type="slidenum">
              <a:rPr lang="en-US"/>
              <a:pPr/>
              <a:t>36</a:t>
            </a:fld>
            <a:endParaRPr lang="en-US"/>
          </a:p>
        </p:txBody>
      </p:sp>
      <p:sp>
        <p:nvSpPr>
          <p:cNvPr id="137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42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38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39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40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41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42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43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44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45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46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47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48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69A03F2-2321-4F48-A899-1BD0031E880D}" type="slidenum">
              <a:rPr lang="en-US"/>
              <a:pPr/>
              <a:t>49</a:t>
            </a:fld>
            <a:endParaRPr lang="en-US"/>
          </a:p>
        </p:txBody>
      </p:sp>
      <p:sp>
        <p:nvSpPr>
          <p:cNvPr id="1488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8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50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59057C-BDDE-4681-B946-256AB01FDE58}" type="slidenum">
              <a:rPr lang="en-US"/>
              <a:pPr/>
              <a:t>51</a:t>
            </a:fld>
            <a:endParaRPr lang="en-US"/>
          </a:p>
        </p:txBody>
      </p:sp>
      <p:sp>
        <p:nvSpPr>
          <p:cNvPr id="137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6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F028B51-CF9E-468C-84F0-CAC51ED7FFBF}" type="slidenum">
              <a:rPr lang="en-US"/>
              <a:pPr/>
              <a:t>52</a:t>
            </a:fld>
            <a:endParaRPr lang="en-US"/>
          </a:p>
        </p:txBody>
      </p:sp>
      <p:sp>
        <p:nvSpPr>
          <p:cNvPr id="1377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7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53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69A03F2-2321-4F48-A899-1BD0031E880D}" type="slidenum">
              <a:rPr lang="en-US"/>
              <a:pPr/>
              <a:t>54</a:t>
            </a:fld>
            <a:endParaRPr lang="en-US"/>
          </a:p>
        </p:txBody>
      </p:sp>
      <p:sp>
        <p:nvSpPr>
          <p:cNvPr id="1488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8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55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004A31-E7AA-49B9-AB13-6ACD4B3FFBA8}" type="slidenum">
              <a:rPr lang="en-US"/>
              <a:pPr/>
              <a:t>56</a:t>
            </a:fld>
            <a:endParaRPr lang="en-US"/>
          </a:p>
        </p:txBody>
      </p:sp>
      <p:sp>
        <p:nvSpPr>
          <p:cNvPr id="137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0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57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58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59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60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61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62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63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5039FB-68DD-4C18-92F0-0C883BEBA8EB}" type="slidenum">
              <a:rPr lang="en-US"/>
              <a:pPr/>
              <a:t>64</a:t>
            </a:fld>
            <a:endParaRPr lang="en-US"/>
          </a:p>
        </p:txBody>
      </p:sp>
      <p:sp>
        <p:nvSpPr>
          <p:cNvPr id="122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65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66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67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68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69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69A03F2-2321-4F48-A899-1BD0031E880D}" type="slidenum">
              <a:rPr lang="en-US"/>
              <a:pPr/>
              <a:t>70</a:t>
            </a:fld>
            <a:endParaRPr lang="en-US"/>
          </a:p>
        </p:txBody>
      </p:sp>
      <p:sp>
        <p:nvSpPr>
          <p:cNvPr id="1488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8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71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72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343838E-1E82-43E4-B8DE-813DBE74A75D}" type="slidenum">
              <a:rPr lang="en-US"/>
              <a:pPr/>
              <a:t>73</a:t>
            </a:fld>
            <a:endParaRPr lang="en-US"/>
          </a:p>
        </p:txBody>
      </p:sp>
      <p:sp>
        <p:nvSpPr>
          <p:cNvPr id="137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9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343838E-1E82-43E4-B8DE-813DBE74A75D}" type="slidenum">
              <a:rPr lang="en-US"/>
              <a:pPr/>
              <a:t>74</a:t>
            </a:fld>
            <a:endParaRPr lang="en-US"/>
          </a:p>
        </p:txBody>
      </p:sp>
      <p:sp>
        <p:nvSpPr>
          <p:cNvPr id="137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9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75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76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77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78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79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994F5-F061-44A3-908C-7C3DEF08D5CA}" type="slidenum">
              <a:rPr lang="en-US"/>
              <a:pPr/>
              <a:t>80</a:t>
            </a:fld>
            <a:endParaRPr lang="en-US"/>
          </a:p>
        </p:txBody>
      </p:sp>
      <p:sp>
        <p:nvSpPr>
          <p:cNvPr id="138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0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2D9DE6C-94EB-4595-8F93-B562C19E80F3}" type="slidenum">
              <a:rPr lang="en-US"/>
              <a:pPr/>
              <a:t>81</a:t>
            </a:fld>
            <a:endParaRPr lang="en-US"/>
          </a:p>
        </p:txBody>
      </p:sp>
      <p:sp>
        <p:nvSpPr>
          <p:cNvPr id="15360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7116BC-9845-471E-87D1-5CAE8EC4FE68}" type="slidenum">
              <a:rPr lang="en-US"/>
              <a:pPr/>
              <a:t>82</a:t>
            </a:fld>
            <a:endParaRPr lang="en-US"/>
          </a:p>
        </p:txBody>
      </p:sp>
      <p:sp>
        <p:nvSpPr>
          <p:cNvPr id="13864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6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73AA932-E6E5-4D21-89D3-9B7F63FC33F5}" type="slidenum">
              <a:rPr lang="en-US"/>
              <a:pPr/>
              <a:t>83</a:t>
            </a:fld>
            <a:endParaRPr lang="en-US"/>
          </a:p>
        </p:txBody>
      </p:sp>
      <p:sp>
        <p:nvSpPr>
          <p:cNvPr id="1387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75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A4D85A-B427-48AE-B378-B47345FE1CD1}" type="slidenum">
              <a:rPr lang="en-US"/>
              <a:pPr/>
              <a:t>84</a:t>
            </a:fld>
            <a:endParaRPr lang="en-US"/>
          </a:p>
        </p:txBody>
      </p:sp>
      <p:sp>
        <p:nvSpPr>
          <p:cNvPr id="1506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6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A4D85A-B427-48AE-B378-B47345FE1CD1}" type="slidenum">
              <a:rPr lang="en-US"/>
              <a:pPr/>
              <a:t>85</a:t>
            </a:fld>
            <a:endParaRPr lang="en-US"/>
          </a:p>
        </p:txBody>
      </p:sp>
      <p:sp>
        <p:nvSpPr>
          <p:cNvPr id="1506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6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3892480-A986-40A2-BCD8-1F86C64961F0}" type="slidenum">
              <a:rPr lang="en-US"/>
              <a:pPr/>
              <a:t>86</a:t>
            </a:fld>
            <a:endParaRPr lang="en-US"/>
          </a:p>
        </p:txBody>
      </p:sp>
      <p:sp>
        <p:nvSpPr>
          <p:cNvPr id="1500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01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5E8EF40-91B1-421E-92B6-E19FF298737A}" type="slidenum">
              <a:rPr lang="en-US"/>
              <a:pPr/>
              <a:t>87</a:t>
            </a:fld>
            <a:endParaRPr lang="en-US"/>
          </a:p>
        </p:txBody>
      </p:sp>
      <p:sp>
        <p:nvSpPr>
          <p:cNvPr id="139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05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5E8EF40-91B1-421E-92B6-E19FF298737A}" type="slidenum">
              <a:rPr lang="en-US"/>
              <a:pPr/>
              <a:t>88</a:t>
            </a:fld>
            <a:endParaRPr lang="en-US"/>
          </a:p>
        </p:txBody>
      </p:sp>
      <p:sp>
        <p:nvSpPr>
          <p:cNvPr id="139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05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5E8EF40-91B1-421E-92B6-E19FF298737A}" type="slidenum">
              <a:rPr lang="en-US"/>
              <a:pPr/>
              <a:t>89</a:t>
            </a:fld>
            <a:endParaRPr lang="en-US"/>
          </a:p>
        </p:txBody>
      </p:sp>
      <p:sp>
        <p:nvSpPr>
          <p:cNvPr id="139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05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78179E-AA07-44A3-8B05-F6226C0FBDE4}" type="slidenum">
              <a:rPr lang="en-US"/>
              <a:pPr/>
              <a:t>90</a:t>
            </a:fld>
            <a:endParaRPr lang="en-US"/>
          </a:p>
        </p:txBody>
      </p:sp>
      <p:sp>
        <p:nvSpPr>
          <p:cNvPr id="13916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16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B0D39A-A66A-40DB-8874-60674FBA9AB5}" type="slidenum">
              <a:rPr lang="en-US"/>
              <a:pPr/>
              <a:t>91</a:t>
            </a:fld>
            <a:endParaRPr lang="en-US"/>
          </a:p>
        </p:txBody>
      </p:sp>
      <p:sp>
        <p:nvSpPr>
          <p:cNvPr id="1393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36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5CE023-FBA8-432C-927B-41A14ED06F98}" type="slidenum">
              <a:rPr lang="en-US"/>
              <a:pPr/>
              <a:t>92</a:t>
            </a:fld>
            <a:endParaRPr lang="en-US"/>
          </a:p>
        </p:txBody>
      </p:sp>
      <p:sp>
        <p:nvSpPr>
          <p:cNvPr id="1395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5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276A372-B076-4BD4-8B6B-5EFE102C3D7C}" type="slidenum">
              <a:rPr lang="en-US"/>
              <a:pPr/>
              <a:t>93</a:t>
            </a:fld>
            <a:endParaRPr lang="en-US"/>
          </a:p>
        </p:txBody>
      </p:sp>
      <p:sp>
        <p:nvSpPr>
          <p:cNvPr id="1398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8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2C3CF00-53FD-4EC4-AA76-ED57C6ED0CE5}" type="slidenum">
              <a:rPr lang="en-US"/>
              <a:pPr/>
              <a:t>94</a:t>
            </a:fld>
            <a:endParaRPr lang="en-US"/>
          </a:p>
        </p:txBody>
      </p:sp>
      <p:sp>
        <p:nvSpPr>
          <p:cNvPr id="1399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9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1F5C8C5-F143-4EF2-8770-B4CA20903ACA}" type="slidenum">
              <a:rPr lang="en-US"/>
              <a:pPr/>
              <a:t>95</a:t>
            </a:fld>
            <a:endParaRPr lang="en-US"/>
          </a:p>
        </p:txBody>
      </p:sp>
      <p:sp>
        <p:nvSpPr>
          <p:cNvPr id="14008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08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96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97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98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99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100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101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102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103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104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102650-1280-436C-B31C-078740FDD024}" type="slidenum">
              <a:rPr lang="en-US"/>
              <a:pPr/>
              <a:t>105</a:t>
            </a:fld>
            <a:endParaRPr lang="en-US"/>
          </a:p>
        </p:txBody>
      </p:sp>
      <p:sp>
        <p:nvSpPr>
          <p:cNvPr id="140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1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905E55D-E1B3-4D24-BC5E-4AB59900FF09}" type="slidenum">
              <a:rPr lang="en-US"/>
              <a:pPr/>
              <a:t>106</a:t>
            </a:fld>
            <a:endParaRPr lang="en-US"/>
          </a:p>
        </p:txBody>
      </p:sp>
      <p:sp>
        <p:nvSpPr>
          <p:cNvPr id="14028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8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6B81BB1-3957-41BF-B808-F5DC72124A2A}" type="slidenum">
              <a:rPr lang="en-US"/>
              <a:pPr/>
              <a:t>107</a:t>
            </a:fld>
            <a:endParaRPr lang="en-US"/>
          </a:p>
        </p:txBody>
      </p:sp>
      <p:sp>
        <p:nvSpPr>
          <p:cNvPr id="14049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49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6B81BB1-3957-41BF-B808-F5DC72124A2A}" type="slidenum">
              <a:rPr lang="en-US"/>
              <a:pPr/>
              <a:t>108</a:t>
            </a:fld>
            <a:endParaRPr lang="en-US"/>
          </a:p>
        </p:txBody>
      </p:sp>
      <p:sp>
        <p:nvSpPr>
          <p:cNvPr id="14049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49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0C3F9E9-4C7D-4C8C-B4A2-7798B431B1C8}" type="slidenum">
              <a:rPr lang="en-US"/>
              <a:pPr/>
              <a:t>109</a:t>
            </a:fld>
            <a:endParaRPr lang="en-US"/>
          </a:p>
        </p:txBody>
      </p:sp>
      <p:sp>
        <p:nvSpPr>
          <p:cNvPr id="14059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59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4976475-67CF-4992-815A-DD875D6A7AC4}" type="slidenum">
              <a:rPr lang="en-US"/>
              <a:pPr/>
              <a:t>110</a:t>
            </a:fld>
            <a:endParaRPr lang="en-US"/>
          </a:p>
        </p:txBody>
      </p:sp>
      <p:sp>
        <p:nvSpPr>
          <p:cNvPr id="14080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8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111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112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113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114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115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4976475-67CF-4992-815A-DD875D6A7AC4}" type="slidenum">
              <a:rPr lang="en-US"/>
              <a:pPr/>
              <a:t>116</a:t>
            </a:fld>
            <a:endParaRPr lang="en-US"/>
          </a:p>
        </p:txBody>
      </p:sp>
      <p:sp>
        <p:nvSpPr>
          <p:cNvPr id="14080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8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117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4571284-1B79-4AFD-9A6D-9A8DAC1A8E10}" type="slidenum">
              <a:rPr lang="en-US"/>
              <a:pPr/>
              <a:t>118</a:t>
            </a:fld>
            <a:endParaRPr lang="en-US"/>
          </a:p>
        </p:txBody>
      </p:sp>
      <p:sp>
        <p:nvSpPr>
          <p:cNvPr id="14110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10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A727CD3-8663-475F-9C54-7E46CC622A44}" type="slidenum">
              <a:rPr lang="en-US"/>
              <a:pPr/>
              <a:t>119</a:t>
            </a:fld>
            <a:endParaRPr lang="en-US"/>
          </a:p>
        </p:txBody>
      </p:sp>
      <p:sp>
        <p:nvSpPr>
          <p:cNvPr id="1412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2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2D3AE3-BEA1-4576-93E5-E4729F4CB26F}" type="slidenum">
              <a:rPr lang="en-US"/>
              <a:pPr/>
              <a:t>120</a:t>
            </a:fld>
            <a:endParaRPr lang="en-US"/>
          </a:p>
        </p:txBody>
      </p:sp>
      <p:sp>
        <p:nvSpPr>
          <p:cNvPr id="14131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2D3AE3-BEA1-4576-93E5-E4729F4CB26F}" type="slidenum">
              <a:rPr lang="en-US"/>
              <a:pPr/>
              <a:t>121</a:t>
            </a:fld>
            <a:endParaRPr lang="en-US"/>
          </a:p>
        </p:txBody>
      </p:sp>
      <p:sp>
        <p:nvSpPr>
          <p:cNvPr id="14131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4976475-67CF-4992-815A-DD875D6A7AC4}" type="slidenum">
              <a:rPr lang="en-US"/>
              <a:pPr/>
              <a:t>122</a:t>
            </a:fld>
            <a:endParaRPr lang="en-US"/>
          </a:p>
        </p:txBody>
      </p:sp>
      <p:sp>
        <p:nvSpPr>
          <p:cNvPr id="14080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8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8E4369-C59B-4132-AEF9-B908C8515B57}" type="slidenum">
              <a:rPr lang="en-US"/>
              <a:pPr/>
              <a:t>123</a:t>
            </a:fld>
            <a:endParaRPr lang="en-US"/>
          </a:p>
        </p:txBody>
      </p:sp>
      <p:sp>
        <p:nvSpPr>
          <p:cNvPr id="1414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4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2A29C2-1754-4C70-A74F-89D7AF981303}" type="slidenum">
              <a:rPr lang="en-US"/>
              <a:pPr/>
              <a:t>124</a:t>
            </a:fld>
            <a:endParaRPr lang="en-US"/>
          </a:p>
        </p:txBody>
      </p:sp>
      <p:sp>
        <p:nvSpPr>
          <p:cNvPr id="1415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5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C7E090C-9127-4D69-BD1F-73F10E6BFF94}" type="slidenum">
              <a:rPr lang="en-US"/>
              <a:pPr/>
              <a:t>125</a:t>
            </a:fld>
            <a:endParaRPr lang="en-US"/>
          </a:p>
        </p:txBody>
      </p:sp>
      <p:sp>
        <p:nvSpPr>
          <p:cNvPr id="1416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6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C7E090C-9127-4D69-BD1F-73F10E6BFF94}" type="slidenum">
              <a:rPr lang="en-US"/>
              <a:pPr/>
              <a:t>126</a:t>
            </a:fld>
            <a:endParaRPr lang="en-US"/>
          </a:p>
        </p:txBody>
      </p:sp>
      <p:sp>
        <p:nvSpPr>
          <p:cNvPr id="1416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6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07937B-67E4-4A18-8020-062B046C5AE8}" type="slidenum">
              <a:rPr lang="en-US"/>
              <a:pPr/>
              <a:t>127</a:t>
            </a:fld>
            <a:endParaRPr lang="en-US"/>
          </a:p>
        </p:txBody>
      </p:sp>
      <p:sp>
        <p:nvSpPr>
          <p:cNvPr id="1418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8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128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129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0B36AC-B89B-4A9D-8A2F-8274ABA61DB6}" type="slidenum">
              <a:rPr lang="en-US"/>
              <a:pPr/>
              <a:t>130</a:t>
            </a:fld>
            <a:endParaRPr lang="en-US"/>
          </a:p>
        </p:txBody>
      </p:sp>
      <p:sp>
        <p:nvSpPr>
          <p:cNvPr id="137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5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6612F5-24BD-4EFD-9A6D-759B23633A65}" type="slidenum">
              <a:rPr lang="en-US"/>
              <a:pPr/>
              <a:t>131</a:t>
            </a:fld>
            <a:endParaRPr lang="en-US"/>
          </a:p>
        </p:txBody>
      </p:sp>
      <p:sp>
        <p:nvSpPr>
          <p:cNvPr id="140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48B08-792C-4BB4-9021-8F53B11D9C7E}" type="slidenum">
              <a:rPr lang="en-US"/>
              <a:pPr/>
              <a:t>132</a:t>
            </a:fld>
            <a:endParaRPr lang="en-US"/>
          </a:p>
        </p:txBody>
      </p:sp>
      <p:sp>
        <p:nvSpPr>
          <p:cNvPr id="142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07937B-67E4-4A18-8020-062B046C5AE8}" type="slidenum">
              <a:rPr lang="en-US"/>
              <a:pPr/>
              <a:t>133</a:t>
            </a:fld>
            <a:endParaRPr lang="en-US"/>
          </a:p>
        </p:txBody>
      </p:sp>
      <p:sp>
        <p:nvSpPr>
          <p:cNvPr id="1418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8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48B08-792C-4BB4-9021-8F53B11D9C7E}" type="slidenum">
              <a:rPr lang="en-US"/>
              <a:pPr/>
              <a:t>134</a:t>
            </a:fld>
            <a:endParaRPr lang="en-US"/>
          </a:p>
        </p:txBody>
      </p:sp>
      <p:sp>
        <p:nvSpPr>
          <p:cNvPr id="142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48B08-792C-4BB4-9021-8F53B11D9C7E}" type="slidenum">
              <a:rPr lang="en-US"/>
              <a:pPr/>
              <a:t>135</a:t>
            </a:fld>
            <a:endParaRPr lang="en-US"/>
          </a:p>
        </p:txBody>
      </p:sp>
      <p:sp>
        <p:nvSpPr>
          <p:cNvPr id="142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48B08-792C-4BB4-9021-8F53B11D9C7E}" type="slidenum">
              <a:rPr lang="en-US"/>
              <a:pPr/>
              <a:t>136</a:t>
            </a:fld>
            <a:endParaRPr lang="en-US"/>
          </a:p>
        </p:txBody>
      </p:sp>
      <p:sp>
        <p:nvSpPr>
          <p:cNvPr id="142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48B08-792C-4BB4-9021-8F53B11D9C7E}" type="slidenum">
              <a:rPr lang="en-US"/>
              <a:pPr/>
              <a:t>137</a:t>
            </a:fld>
            <a:endParaRPr lang="en-US"/>
          </a:p>
        </p:txBody>
      </p:sp>
      <p:sp>
        <p:nvSpPr>
          <p:cNvPr id="14233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652CE4E-D4E8-4018-AB00-F83A89CFFEF1}" type="slidenum">
              <a:rPr lang="en-US"/>
              <a:pPr/>
              <a:t>138</a:t>
            </a:fld>
            <a:endParaRPr lang="en-US"/>
          </a:p>
        </p:txBody>
      </p:sp>
      <p:sp>
        <p:nvSpPr>
          <p:cNvPr id="1522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2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8A6CD9A-0FD0-4841-981D-F74740CD1FBE}" type="slidenum">
              <a:rPr lang="en-US"/>
              <a:pPr/>
              <a:t>139</a:t>
            </a:fld>
            <a:endParaRPr lang="en-US"/>
          </a:p>
        </p:txBody>
      </p:sp>
      <p:sp>
        <p:nvSpPr>
          <p:cNvPr id="1504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4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8A6CD9A-0FD0-4841-981D-F74740CD1FBE}" type="slidenum">
              <a:rPr lang="en-US"/>
              <a:pPr/>
              <a:t>140</a:t>
            </a:fld>
            <a:endParaRPr lang="en-US"/>
          </a:p>
        </p:txBody>
      </p:sp>
      <p:sp>
        <p:nvSpPr>
          <p:cNvPr id="1504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4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DD7850-26B2-439F-A874-4E5393F43965}" type="slidenum">
              <a:rPr lang="en-US"/>
              <a:pPr/>
              <a:t>141</a:t>
            </a:fld>
            <a:endParaRPr lang="en-US"/>
          </a:p>
        </p:txBody>
      </p:sp>
      <p:sp>
        <p:nvSpPr>
          <p:cNvPr id="1510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DD7850-26B2-439F-A874-4E5393F43965}" type="slidenum">
              <a:rPr lang="en-US"/>
              <a:pPr/>
              <a:t>142</a:t>
            </a:fld>
            <a:endParaRPr lang="en-US"/>
          </a:p>
        </p:txBody>
      </p:sp>
      <p:sp>
        <p:nvSpPr>
          <p:cNvPr id="1510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DD7850-26B2-439F-A874-4E5393F43965}" type="slidenum">
              <a:rPr lang="en-US"/>
              <a:pPr/>
              <a:t>143</a:t>
            </a:fld>
            <a:endParaRPr lang="en-US"/>
          </a:p>
        </p:txBody>
      </p:sp>
      <p:sp>
        <p:nvSpPr>
          <p:cNvPr id="1510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A40A60-4161-4AA9-B4A0-BB2E25B9069F}" type="slidenum">
              <a:rPr lang="en-US"/>
              <a:pPr/>
              <a:t>144</a:t>
            </a:fld>
            <a:endParaRPr lang="en-US"/>
          </a:p>
        </p:txBody>
      </p:sp>
      <p:sp>
        <p:nvSpPr>
          <p:cNvPr id="137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42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4976475-67CF-4992-815A-DD875D6A7AC4}" type="slidenum">
              <a:rPr lang="en-US"/>
              <a:pPr/>
              <a:t>145</a:t>
            </a:fld>
            <a:endParaRPr lang="en-US"/>
          </a:p>
        </p:txBody>
      </p:sp>
      <p:sp>
        <p:nvSpPr>
          <p:cNvPr id="14080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8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513C2A-3FE9-4C28-9AA5-0A2689172120}" type="slidenum">
              <a:rPr lang="en-US"/>
              <a:pPr/>
              <a:t>146</a:t>
            </a:fld>
            <a:endParaRPr lang="en-US"/>
          </a:p>
        </p:txBody>
      </p:sp>
      <p:sp>
        <p:nvSpPr>
          <p:cNvPr id="1429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9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D1C497D-BAAF-4663-94BD-869D41A91B61}" type="slidenum">
              <a:rPr lang="en-US"/>
              <a:pPr/>
              <a:t>147</a:t>
            </a:fld>
            <a:endParaRPr lang="en-US"/>
          </a:p>
        </p:txBody>
      </p:sp>
      <p:sp>
        <p:nvSpPr>
          <p:cNvPr id="1430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0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C6BCA3-1859-43AB-8F11-EED879A75AE8}" type="slidenum">
              <a:rPr lang="en-US"/>
              <a:pPr/>
              <a:t>148</a:t>
            </a:fld>
            <a:endParaRPr lang="en-US"/>
          </a:p>
        </p:txBody>
      </p:sp>
      <p:sp>
        <p:nvSpPr>
          <p:cNvPr id="1432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2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C1E2FF9-E030-419D-B53F-CD75372687CF}" type="slidenum">
              <a:rPr lang="en-US"/>
              <a:pPr/>
              <a:t>149</a:t>
            </a:fld>
            <a:endParaRPr lang="en-US"/>
          </a:p>
        </p:txBody>
      </p:sp>
      <p:sp>
        <p:nvSpPr>
          <p:cNvPr id="1433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3ACA88-61E7-4A1A-9B15-4E2D88276536}" type="slidenum">
              <a:rPr lang="en-US"/>
              <a:pPr/>
              <a:t>150</a:t>
            </a:fld>
            <a:endParaRPr lang="en-US"/>
          </a:p>
        </p:txBody>
      </p:sp>
      <p:sp>
        <p:nvSpPr>
          <p:cNvPr id="1434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3ACA88-61E7-4A1A-9B15-4E2D88276536}" type="slidenum">
              <a:rPr lang="en-US"/>
              <a:pPr/>
              <a:t>151</a:t>
            </a:fld>
            <a:endParaRPr lang="en-US"/>
          </a:p>
        </p:txBody>
      </p:sp>
      <p:sp>
        <p:nvSpPr>
          <p:cNvPr id="1434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54DEA3-25D5-4603-B984-4A488CC8E538}" type="slidenum">
              <a:rPr lang="en-US"/>
              <a:pPr/>
              <a:t>152</a:t>
            </a:fld>
            <a:endParaRPr lang="en-US"/>
          </a:p>
        </p:txBody>
      </p:sp>
      <p:sp>
        <p:nvSpPr>
          <p:cNvPr id="1435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5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4566E8A-C797-4C9B-9D3A-7827445D777A}" type="slidenum">
              <a:rPr lang="en-US"/>
              <a:pPr/>
              <a:t>153</a:t>
            </a:fld>
            <a:endParaRPr lang="en-US"/>
          </a:p>
        </p:txBody>
      </p:sp>
      <p:sp>
        <p:nvSpPr>
          <p:cNvPr id="143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6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3F4D43F-D11A-439E-A2E3-AE659895A2EF}" type="slidenum">
              <a:rPr lang="en-US"/>
              <a:pPr/>
              <a:t>154</a:t>
            </a:fld>
            <a:endParaRPr lang="en-US"/>
          </a:p>
        </p:txBody>
      </p:sp>
      <p:sp>
        <p:nvSpPr>
          <p:cNvPr id="1438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8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CC3316F-328F-418C-A7E2-87315872C0A5}" type="slidenum">
              <a:rPr lang="en-US"/>
              <a:pPr/>
              <a:t>155</a:t>
            </a:fld>
            <a:endParaRPr lang="en-US"/>
          </a:p>
        </p:txBody>
      </p:sp>
      <p:sp>
        <p:nvSpPr>
          <p:cNvPr id="1437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7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8BD0BD1-CD86-4E00-AFFB-63A734364820}" type="slidenum">
              <a:rPr lang="en-US"/>
              <a:pPr/>
              <a:t>156</a:t>
            </a:fld>
            <a:endParaRPr lang="en-US"/>
          </a:p>
        </p:txBody>
      </p:sp>
      <p:sp>
        <p:nvSpPr>
          <p:cNvPr id="1529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98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0AA0542-134F-4852-BDAD-DE7B33690EED}" type="slidenum">
              <a:rPr lang="en-US"/>
              <a:pPr/>
              <a:t>157</a:t>
            </a:fld>
            <a:endParaRPr lang="en-US"/>
          </a:p>
        </p:txBody>
      </p:sp>
      <p:sp>
        <p:nvSpPr>
          <p:cNvPr id="1439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9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0AA0542-134F-4852-BDAD-DE7B33690EED}" type="slidenum">
              <a:rPr lang="en-US"/>
              <a:pPr/>
              <a:t>158</a:t>
            </a:fld>
            <a:endParaRPr lang="en-US"/>
          </a:p>
        </p:txBody>
      </p:sp>
      <p:sp>
        <p:nvSpPr>
          <p:cNvPr id="1439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9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9BD2598-CECF-4725-8E73-E6498698778A}" type="slidenum">
              <a:rPr lang="en-US"/>
              <a:pPr/>
              <a:t>159</a:t>
            </a:fld>
            <a:endParaRPr lang="en-US"/>
          </a:p>
        </p:txBody>
      </p:sp>
      <p:sp>
        <p:nvSpPr>
          <p:cNvPr id="144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785B7C-AE28-4ABF-BE59-E2307A14CF19}" type="slidenum">
              <a:rPr lang="en-US"/>
              <a:pPr/>
              <a:t>160</a:t>
            </a:fld>
            <a:endParaRPr lang="en-US"/>
          </a:p>
        </p:txBody>
      </p:sp>
      <p:sp>
        <p:nvSpPr>
          <p:cNvPr id="1441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1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785B7C-AE28-4ABF-BE59-E2307A14CF19}" type="slidenum">
              <a:rPr lang="en-US"/>
              <a:pPr/>
              <a:t>161</a:t>
            </a:fld>
            <a:endParaRPr lang="en-US"/>
          </a:p>
        </p:txBody>
      </p:sp>
      <p:sp>
        <p:nvSpPr>
          <p:cNvPr id="1441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1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044F83D-A788-465D-8F6C-62F60A745528}" type="slidenum">
              <a:rPr lang="en-US"/>
              <a:pPr/>
              <a:t>162</a:t>
            </a:fld>
            <a:endParaRPr lang="en-US"/>
          </a:p>
        </p:txBody>
      </p:sp>
      <p:sp>
        <p:nvSpPr>
          <p:cNvPr id="1442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2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D32D8E-8CD6-4B81-97F7-5F8D03F2A0A0}" type="slidenum">
              <a:rPr lang="en-US"/>
              <a:pPr/>
              <a:t>163</a:t>
            </a:fld>
            <a:endParaRPr lang="en-US"/>
          </a:p>
        </p:txBody>
      </p:sp>
      <p:sp>
        <p:nvSpPr>
          <p:cNvPr id="1443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F58592-DAED-4876-A72F-034A0267A593}" type="slidenum">
              <a:rPr lang="en-US"/>
              <a:pPr/>
              <a:t>164</a:t>
            </a:fld>
            <a:endParaRPr lang="en-US"/>
          </a:p>
        </p:txBody>
      </p:sp>
      <p:sp>
        <p:nvSpPr>
          <p:cNvPr id="1444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4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C8A15-5C55-4C19-A80A-2C645E237EC7}" type="slidenum">
              <a:rPr lang="en-US"/>
              <a:pPr/>
              <a:t>165</a:t>
            </a:fld>
            <a:endParaRPr lang="en-US"/>
          </a:p>
        </p:txBody>
      </p:sp>
      <p:sp>
        <p:nvSpPr>
          <p:cNvPr id="1445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5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BB637E-3FF7-41F8-95B0-D3B7E8B88F14}" type="slidenum">
              <a:rPr lang="en-US"/>
              <a:pPr/>
              <a:t>166</a:t>
            </a:fld>
            <a:endParaRPr lang="en-US"/>
          </a:p>
        </p:txBody>
      </p:sp>
      <p:sp>
        <p:nvSpPr>
          <p:cNvPr id="1446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6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BB637E-3FF7-41F8-95B0-D3B7E8B88F14}" type="slidenum">
              <a:rPr lang="en-US"/>
              <a:pPr/>
              <a:t>167</a:t>
            </a:fld>
            <a:endParaRPr lang="en-US"/>
          </a:p>
        </p:txBody>
      </p:sp>
      <p:sp>
        <p:nvSpPr>
          <p:cNvPr id="1446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6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BB637E-3FF7-41F8-95B0-D3B7E8B88F14}" type="slidenum">
              <a:rPr lang="en-US"/>
              <a:pPr/>
              <a:t>168</a:t>
            </a:fld>
            <a:endParaRPr lang="en-US"/>
          </a:p>
        </p:txBody>
      </p:sp>
      <p:sp>
        <p:nvSpPr>
          <p:cNvPr id="1446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6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BB637E-3FF7-41F8-95B0-D3B7E8B88F14}" type="slidenum">
              <a:rPr lang="en-US"/>
              <a:pPr/>
              <a:t>169</a:t>
            </a:fld>
            <a:endParaRPr lang="en-US"/>
          </a:p>
        </p:txBody>
      </p:sp>
      <p:sp>
        <p:nvSpPr>
          <p:cNvPr id="1446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6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BB637E-3FF7-41F8-95B0-D3B7E8B88F14}" type="slidenum">
              <a:rPr lang="en-US"/>
              <a:pPr/>
              <a:t>170</a:t>
            </a:fld>
            <a:endParaRPr lang="en-US"/>
          </a:p>
        </p:txBody>
      </p:sp>
      <p:sp>
        <p:nvSpPr>
          <p:cNvPr id="1446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6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A65A5EB-E028-4EAE-92E1-035091BEBA5E}" type="slidenum">
              <a:rPr lang="en-US"/>
              <a:pPr/>
              <a:t>171</a:t>
            </a:fld>
            <a:endParaRPr lang="en-US"/>
          </a:p>
        </p:txBody>
      </p:sp>
      <p:sp>
        <p:nvSpPr>
          <p:cNvPr id="1453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3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A65A5EB-E028-4EAE-92E1-035091BEBA5E}" type="slidenum">
              <a:rPr lang="en-US"/>
              <a:pPr/>
              <a:t>172</a:t>
            </a:fld>
            <a:endParaRPr lang="en-US"/>
          </a:p>
        </p:txBody>
      </p:sp>
      <p:sp>
        <p:nvSpPr>
          <p:cNvPr id="1453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3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38793D-B5D1-4153-AB60-8BAB3035712A}" type="slidenum">
              <a:rPr lang="en-US"/>
              <a:pPr/>
              <a:t>173</a:t>
            </a:fld>
            <a:endParaRPr lang="en-US"/>
          </a:p>
        </p:txBody>
      </p:sp>
      <p:sp>
        <p:nvSpPr>
          <p:cNvPr id="1455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5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38793D-B5D1-4153-AB60-8BAB3035712A}" type="slidenum">
              <a:rPr lang="en-US"/>
              <a:pPr/>
              <a:t>174</a:t>
            </a:fld>
            <a:endParaRPr lang="en-US"/>
          </a:p>
        </p:txBody>
      </p:sp>
      <p:sp>
        <p:nvSpPr>
          <p:cNvPr id="1455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5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5384BA1-219F-4B11-A353-85AD5E96ACFB}" type="slidenum">
              <a:rPr lang="en-US"/>
              <a:pPr/>
              <a:t>175</a:t>
            </a:fld>
            <a:endParaRPr lang="en-US"/>
          </a:p>
        </p:txBody>
      </p:sp>
      <p:sp>
        <p:nvSpPr>
          <p:cNvPr id="1456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6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9BE6B2-1B9C-4B23-AF73-FDB55FF9BE0C}" type="slidenum">
              <a:rPr lang="en-US"/>
              <a:pPr/>
              <a:t>176</a:t>
            </a:fld>
            <a:endParaRPr lang="en-US"/>
          </a:p>
        </p:txBody>
      </p:sp>
      <p:sp>
        <p:nvSpPr>
          <p:cNvPr id="1457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7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9BE6B2-1B9C-4B23-AF73-FDB55FF9BE0C}" type="slidenum">
              <a:rPr lang="en-US"/>
              <a:pPr/>
              <a:t>177</a:t>
            </a:fld>
            <a:endParaRPr lang="en-US"/>
          </a:p>
        </p:txBody>
      </p:sp>
      <p:sp>
        <p:nvSpPr>
          <p:cNvPr id="1457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7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8361B8-36CE-4106-9A9C-35C780634501}" type="slidenum">
              <a:rPr lang="en-US"/>
              <a:pPr/>
              <a:t>178</a:t>
            </a:fld>
            <a:endParaRPr lang="en-US"/>
          </a:p>
        </p:txBody>
      </p:sp>
      <p:sp>
        <p:nvSpPr>
          <p:cNvPr id="1458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8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8361B8-36CE-4106-9A9C-35C780634501}" type="slidenum">
              <a:rPr lang="en-US"/>
              <a:pPr/>
              <a:t>179</a:t>
            </a:fld>
            <a:endParaRPr lang="en-US"/>
          </a:p>
        </p:txBody>
      </p:sp>
      <p:sp>
        <p:nvSpPr>
          <p:cNvPr id="1458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8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A5F79E-BEBA-4CA0-97A4-7B0A9455AC73}" type="slidenum">
              <a:rPr lang="en-US"/>
              <a:pPr/>
              <a:t>180</a:t>
            </a:fld>
            <a:endParaRPr lang="en-US"/>
          </a:p>
        </p:txBody>
      </p:sp>
      <p:sp>
        <p:nvSpPr>
          <p:cNvPr id="1468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8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0913E8-79FF-4AEB-9A75-85C49707BFC6}" type="slidenum">
              <a:rPr lang="en-US"/>
              <a:pPr/>
              <a:t>181</a:t>
            </a:fld>
            <a:endParaRPr lang="en-US"/>
          </a:p>
        </p:txBody>
      </p:sp>
      <p:sp>
        <p:nvSpPr>
          <p:cNvPr id="1469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9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C5325-BD0A-4DE7-8C01-F5B129B4F7C0}" type="slidenum">
              <a:rPr lang="en-US"/>
              <a:pPr/>
              <a:t>182</a:t>
            </a:fld>
            <a:endParaRPr lang="en-US"/>
          </a:p>
        </p:txBody>
      </p:sp>
      <p:sp>
        <p:nvSpPr>
          <p:cNvPr id="1531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19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C5325-BD0A-4DE7-8C01-F5B129B4F7C0}" type="slidenum">
              <a:rPr lang="en-US"/>
              <a:pPr/>
              <a:t>183</a:t>
            </a:fld>
            <a:endParaRPr lang="en-US"/>
          </a:p>
        </p:txBody>
      </p:sp>
      <p:sp>
        <p:nvSpPr>
          <p:cNvPr id="1531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19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C5325-BD0A-4DE7-8C01-F5B129B4F7C0}" type="slidenum">
              <a:rPr lang="en-US"/>
              <a:pPr/>
              <a:t>184</a:t>
            </a:fld>
            <a:endParaRPr lang="en-US"/>
          </a:p>
        </p:txBody>
      </p:sp>
      <p:sp>
        <p:nvSpPr>
          <p:cNvPr id="1531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19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E09B68F-BB09-412A-8618-FB1FAAD0AAC3}" type="slidenum">
              <a:rPr lang="en-US"/>
              <a:pPr/>
              <a:t>185</a:t>
            </a:fld>
            <a:endParaRPr lang="en-US"/>
          </a:p>
        </p:txBody>
      </p:sp>
      <p:sp>
        <p:nvSpPr>
          <p:cNvPr id="1470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0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2D57A0A-9F8C-4737-A3F9-0D72E38FF074}" type="slidenum">
              <a:rPr lang="en-US"/>
              <a:pPr/>
              <a:t>186</a:t>
            </a:fld>
            <a:endParaRPr lang="en-US"/>
          </a:p>
        </p:txBody>
      </p:sp>
      <p:sp>
        <p:nvSpPr>
          <p:cNvPr id="1471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14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11DC253-3114-42E5-87D4-56BA4E1EA771}" type="slidenum">
              <a:rPr lang="en-US"/>
              <a:pPr/>
              <a:t>187</a:t>
            </a:fld>
            <a:endParaRPr lang="en-US"/>
          </a:p>
        </p:txBody>
      </p:sp>
      <p:sp>
        <p:nvSpPr>
          <p:cNvPr id="1472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2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F85577E-5C37-4CC8-9CB9-BF0367170214}" type="slidenum">
              <a:rPr lang="en-US"/>
              <a:pPr/>
              <a:t>188</a:t>
            </a:fld>
            <a:endParaRPr lang="en-US"/>
          </a:p>
        </p:txBody>
      </p:sp>
      <p:sp>
        <p:nvSpPr>
          <p:cNvPr id="1473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3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F70ACA-11B1-4E66-8D91-C65B08C616C7}" type="slidenum">
              <a:rPr lang="en-US"/>
              <a:pPr/>
              <a:t>189</a:t>
            </a:fld>
            <a:endParaRPr lang="en-US"/>
          </a:p>
        </p:txBody>
      </p:sp>
      <p:sp>
        <p:nvSpPr>
          <p:cNvPr id="1474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4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7C530B4-8073-4B12-B94F-3C40EBFDFC48}" type="slidenum">
              <a:rPr lang="en-US"/>
              <a:pPr/>
              <a:t>190</a:t>
            </a:fld>
            <a:endParaRPr lang="en-US"/>
          </a:p>
        </p:txBody>
      </p:sp>
      <p:sp>
        <p:nvSpPr>
          <p:cNvPr id="1475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5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9A6A2C7-0542-4912-85FB-E8455F8251AB}" type="slidenum">
              <a:rPr lang="en-US"/>
              <a:pPr/>
              <a:t>191</a:t>
            </a:fld>
            <a:endParaRPr lang="en-US"/>
          </a:p>
        </p:txBody>
      </p:sp>
      <p:sp>
        <p:nvSpPr>
          <p:cNvPr id="1476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6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00B824-E040-4414-AF7F-ED074F5F8E71}" type="slidenum">
              <a:rPr lang="en-US"/>
              <a:pPr/>
              <a:t>192</a:t>
            </a:fld>
            <a:endParaRPr lang="en-US"/>
          </a:p>
        </p:txBody>
      </p:sp>
      <p:sp>
        <p:nvSpPr>
          <p:cNvPr id="1477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7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DD97CEA-9E85-442A-887F-380AD7765851}" type="slidenum">
              <a:rPr lang="en-US"/>
              <a:pPr/>
              <a:t>193</a:t>
            </a:fld>
            <a:endParaRPr lang="en-US"/>
          </a:p>
        </p:txBody>
      </p:sp>
      <p:sp>
        <p:nvSpPr>
          <p:cNvPr id="1478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8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64D62-7399-4839-AD1B-04006C7C3824}" type="slidenum">
              <a:rPr lang="en-US"/>
              <a:pPr/>
              <a:t>194</a:t>
            </a:fld>
            <a:endParaRPr lang="en-US"/>
          </a:p>
        </p:txBody>
      </p:sp>
      <p:sp>
        <p:nvSpPr>
          <p:cNvPr id="1479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9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3CF946A-6720-4E28-BFD2-C4DA39E14602}" type="slidenum">
              <a:rPr lang="en-US"/>
              <a:pPr/>
              <a:t>195</a:t>
            </a:fld>
            <a:endParaRPr lang="en-US"/>
          </a:p>
        </p:txBody>
      </p:sp>
      <p:sp>
        <p:nvSpPr>
          <p:cNvPr id="148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5B3889-2A1B-49B7-8B85-F923DE23B8C1}" type="slidenum">
              <a:rPr lang="en-US"/>
              <a:pPr/>
              <a:t>196</a:t>
            </a:fld>
            <a:endParaRPr lang="en-US"/>
          </a:p>
        </p:txBody>
      </p:sp>
      <p:sp>
        <p:nvSpPr>
          <p:cNvPr id="148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ACA80EE-7CC1-4E39-B7FE-BA4CE30C8D0D}" type="slidenum">
              <a:rPr lang="en-US"/>
              <a:pPr/>
              <a:t>197</a:t>
            </a:fld>
            <a:endParaRPr lang="en-US"/>
          </a:p>
        </p:txBody>
      </p:sp>
      <p:sp>
        <p:nvSpPr>
          <p:cNvPr id="1482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2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BC42F8F-B3B4-4541-A719-73EBA94EF251}" type="slidenum">
              <a:rPr lang="en-US"/>
              <a:pPr/>
              <a:t>198</a:t>
            </a:fld>
            <a:endParaRPr lang="en-US"/>
          </a:p>
        </p:txBody>
      </p:sp>
      <p:sp>
        <p:nvSpPr>
          <p:cNvPr id="1483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3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BC42F8F-B3B4-4541-A719-73EBA94EF251}" type="slidenum">
              <a:rPr lang="en-US"/>
              <a:pPr/>
              <a:t>199</a:t>
            </a:fld>
            <a:endParaRPr lang="en-US"/>
          </a:p>
        </p:txBody>
      </p:sp>
      <p:sp>
        <p:nvSpPr>
          <p:cNvPr id="1483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3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9B4C39-5F56-48D1-B818-B0BD6B2512E3}" type="slidenum">
              <a:rPr lang="en-US"/>
              <a:pPr/>
              <a:t>200</a:t>
            </a:fld>
            <a:endParaRPr lang="en-US"/>
          </a:p>
        </p:txBody>
      </p:sp>
      <p:sp>
        <p:nvSpPr>
          <p:cNvPr id="1484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293AF8E-FB36-42C1-9FD0-E0CF2B653514}" type="slidenum">
              <a:rPr lang="en-US"/>
              <a:pPr/>
              <a:t>201</a:t>
            </a:fld>
            <a:endParaRPr lang="en-US"/>
          </a:p>
        </p:txBody>
      </p:sp>
      <p:sp>
        <p:nvSpPr>
          <p:cNvPr id="1485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5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6138E7A-87EA-49C2-97C7-D8E400A9FFA8}" type="slidenum">
              <a:rPr lang="en-US"/>
              <a:pPr/>
              <a:t>202</a:t>
            </a:fld>
            <a:endParaRPr lang="en-US"/>
          </a:p>
        </p:txBody>
      </p:sp>
      <p:sp>
        <p:nvSpPr>
          <p:cNvPr id="1486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6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5928846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7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139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5928846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7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308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CC12C447-90FA-420C-B74C-1A635C444937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29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E7ED6BBA-2425-4A43-B586-383F2BB07C4C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136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219200"/>
            <a:ext cx="7772400" cy="49530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68946159-E475-47D9-8550-A9F0B445C791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3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CCDCC2DC-EBCD-44EE-92DB-9C06DDE632FD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346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1-&lt;</a:t>
            </a:r>
            <a:fld id="{B4FEF99E-A19F-4A0B-A62E-3729EECDD901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50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9F7ADD3E-E1D6-46D5-BCAD-B4AEBA813F75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7660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746080-453C-4BEF-9A1F-F094B996EB79}" type="datetimeFigureOut">
              <a:rPr lang="en-US" smtClean="0"/>
              <a:t>5/12/2023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2EFE9-D440-4A3B-858C-5FEDF5DD0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500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5.gif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7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Visio_Drawing111.vsdx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6.gi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package" Target="../embeddings/Microsoft_Visio_Drawing111.vsdx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1.emf"/><Relationship Id="rId4" Type="http://schemas.openxmlformats.org/officeDocument/2006/relationships/package" Target="../embeddings/Microsoft_Visio_Drawing222.vsdx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6" Type="http://schemas.openxmlformats.org/officeDocument/2006/relationships/image" Target="../media/image10.png"/><Relationship Id="rId5" Type="http://schemas.openxmlformats.org/officeDocument/2006/relationships/image" Target="../media/image12.emf"/><Relationship Id="rId4" Type="http://schemas.openxmlformats.org/officeDocument/2006/relationships/package" Target="../embeddings/Microsoft_Visio_Drawing333.vsdx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10.png"/><Relationship Id="rId5" Type="http://schemas.openxmlformats.org/officeDocument/2006/relationships/image" Target="../media/image13.emf"/><Relationship Id="rId4" Type="http://schemas.openxmlformats.org/officeDocument/2006/relationships/package" Target="../embeddings/Microsoft_Visio_Drawing444.vsdx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10.png"/><Relationship Id="rId5" Type="http://schemas.openxmlformats.org/officeDocument/2006/relationships/image" Target="../media/image14.emf"/><Relationship Id="rId4" Type="http://schemas.openxmlformats.org/officeDocument/2006/relationships/package" Target="../embeddings/Microsoft_Visio_Drawing555.vsdx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5.emf"/><Relationship Id="rId5" Type="http://schemas.openxmlformats.org/officeDocument/2006/relationships/package" Target="../embeddings/Microsoft_Visio_Drawing666.vsdx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5" Type="http://schemas.openxmlformats.org/officeDocument/2006/relationships/image" Target="../media/image16.emf"/><Relationship Id="rId4" Type="http://schemas.openxmlformats.org/officeDocument/2006/relationships/package" Target="../embeddings/Microsoft_Visio_Drawing777.vsdx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5" Type="http://schemas.openxmlformats.org/officeDocument/2006/relationships/image" Target="../media/image17.emf"/><Relationship Id="rId4" Type="http://schemas.openxmlformats.org/officeDocument/2006/relationships/package" Target="../embeddings/Microsoft_Visio_Drawing888.vsdx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7.emf"/><Relationship Id="rId4" Type="http://schemas.openxmlformats.org/officeDocument/2006/relationships/package" Target="../embeddings/Microsoft_Visio_Drawing8881.vsdx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17.emf"/><Relationship Id="rId4" Type="http://schemas.openxmlformats.org/officeDocument/2006/relationships/package" Target="../embeddings/Microsoft_Visio_Drawing8882.vsdx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6" Type="http://schemas.openxmlformats.org/officeDocument/2006/relationships/image" Target="../media/image10.png"/><Relationship Id="rId5" Type="http://schemas.openxmlformats.org/officeDocument/2006/relationships/image" Target="../media/image18.emf"/><Relationship Id="rId4" Type="http://schemas.openxmlformats.org/officeDocument/2006/relationships/package" Target="../embeddings/Microsoft_Visio_Drawing111111.vsdx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20.emf"/><Relationship Id="rId4" Type="http://schemas.openxmlformats.org/officeDocument/2006/relationships/package" Target="../embeddings/Microsoft_Visio_Drawing121212.vsdx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5" Type="http://schemas.openxmlformats.org/officeDocument/2006/relationships/image" Target="../media/image21.emf"/><Relationship Id="rId4" Type="http://schemas.openxmlformats.org/officeDocument/2006/relationships/package" Target="../embeddings/Microsoft_Visio_Drawing131313.vsdx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22.png"/><Relationship Id="rId5" Type="http://schemas.openxmlformats.org/officeDocument/2006/relationships/image" Target="../media/image23.emf"/><Relationship Id="rId4" Type="http://schemas.openxmlformats.org/officeDocument/2006/relationships/package" Target="../embeddings/Microsoft_Visio_Drawing141414.vsdx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5" Type="http://schemas.openxmlformats.org/officeDocument/2006/relationships/image" Target="../media/image23.emf"/><Relationship Id="rId4" Type="http://schemas.openxmlformats.org/officeDocument/2006/relationships/package" Target="../embeddings/Microsoft_Visio_Drawing1414143.vsdx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5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24.emf"/><Relationship Id="rId5" Type="http://schemas.openxmlformats.org/officeDocument/2006/relationships/package" Target="../embeddings/Microsoft_Visio_Drawing161616.vsdx"/><Relationship Id="rId4" Type="http://schemas.openxmlformats.org/officeDocument/2006/relationships/notesSlide" Target="../notesSlides/notesSlide2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0.xml"/><Relationship Id="rId4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1.xml"/><Relationship Id="rId4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2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3.xml"/><Relationship Id="rId4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4.xml"/><Relationship Id="rId4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5.xml"/><Relationship Id="rId4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6.xml"/><Relationship Id="rId4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7.xml"/><Relationship Id="rId4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38.xml"/><Relationship Id="rId4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28.png"/><Relationship Id="rId5" Type="http://schemas.openxmlformats.org/officeDocument/2006/relationships/notesSlide" Target="../notesSlides/notesSlide39.xml"/><Relationship Id="rId4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image" Target="../media/image28.png"/><Relationship Id="rId5" Type="http://schemas.openxmlformats.org/officeDocument/2006/relationships/notesSlide" Target="../notesSlides/notesSlide40.xml"/><Relationship Id="rId4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notesSlide" Target="../notesSlides/notesSlide41.xml"/><Relationship Id="rId4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28.png"/><Relationship Id="rId5" Type="http://schemas.openxmlformats.org/officeDocument/2006/relationships/notesSlide" Target="../notesSlides/notesSlide42.xml"/><Relationship Id="rId4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4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image" Target="../media/image28.png"/><Relationship Id="rId5" Type="http://schemas.openxmlformats.org/officeDocument/2006/relationships/notesSlide" Target="../notesSlides/notesSlide45.xml"/><Relationship Id="rId4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5" Type="http://schemas.openxmlformats.org/officeDocument/2006/relationships/notesSlide" Target="../notesSlides/notesSlide46.xml"/><Relationship Id="rId4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image" Target="../media/image28.png"/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Relationship Id="rId5" Type="http://schemas.openxmlformats.org/officeDocument/2006/relationships/image" Target="../media/image24.emf"/><Relationship Id="rId4" Type="http://schemas.openxmlformats.org/officeDocument/2006/relationships/package" Target="../embeddings/Microsoft_Visio_Drawing1616164.vsdx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49.xml"/><Relationship Id="rId4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50.xml"/><Relationship Id="rId4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51.xml"/><Relationship Id="rId4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52.xml"/><Relationship Id="rId4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53.xml"/><Relationship Id="rId4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54.xml"/><Relationship Id="rId4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55.xml"/><Relationship Id="rId4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5" Type="http://schemas.openxmlformats.org/officeDocument/2006/relationships/image" Target="../media/image32.emf"/><Relationship Id="rId4" Type="http://schemas.openxmlformats.org/officeDocument/2006/relationships/notesSlide" Target="../notesSlides/notesSlide5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tags" Target="../tags/tag106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57.xml"/><Relationship Id="rId4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58.xml"/><Relationship Id="rId4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tags" Target="../tags/tag114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image" Target="../media/image27.png"/><Relationship Id="rId5" Type="http://schemas.openxmlformats.org/officeDocument/2006/relationships/notesSlide" Target="../notesSlides/notesSlide59.xml"/><Relationship Id="rId4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60.xml"/><Relationship Id="rId4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tags" Target="../tags/tag120.xml"/><Relationship Id="rId2" Type="http://schemas.openxmlformats.org/officeDocument/2006/relationships/tags" Target="../tags/tag119.xml"/><Relationship Id="rId1" Type="http://schemas.openxmlformats.org/officeDocument/2006/relationships/tags" Target="../tags/tag118.xml"/><Relationship Id="rId6" Type="http://schemas.openxmlformats.org/officeDocument/2006/relationships/image" Target="../media/image33.png"/><Relationship Id="rId5" Type="http://schemas.openxmlformats.org/officeDocument/2006/relationships/notesSlide" Target="../notesSlides/notesSlide61.xml"/><Relationship Id="rId4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5" Type="http://schemas.openxmlformats.org/officeDocument/2006/relationships/notesSlide" Target="../notesSlides/notesSlide62.xml"/><Relationship Id="rId4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63.xml"/><Relationship Id="rId4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6" Type="http://schemas.openxmlformats.org/officeDocument/2006/relationships/image" Target="../media/image31.png"/><Relationship Id="rId5" Type="http://schemas.openxmlformats.org/officeDocument/2006/relationships/notesSlide" Target="../notesSlides/notesSlide64.xml"/><Relationship Id="rId4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tags" Target="../tags/tag132.xml"/><Relationship Id="rId7" Type="http://schemas.openxmlformats.org/officeDocument/2006/relationships/image" Target="../media/image34.png"/><Relationship Id="rId2" Type="http://schemas.openxmlformats.org/officeDocument/2006/relationships/tags" Target="../tags/tag131.xml"/><Relationship Id="rId1" Type="http://schemas.openxmlformats.org/officeDocument/2006/relationships/tags" Target="../tags/tag130.xml"/><Relationship Id="rId6" Type="http://schemas.openxmlformats.org/officeDocument/2006/relationships/notesSlide" Target="../notesSlides/notesSlide6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3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tags" Target="../tags/tag134.xml"/><Relationship Id="rId6" Type="http://schemas.openxmlformats.org/officeDocument/2006/relationships/image" Target="../media/image34.png"/><Relationship Id="rId5" Type="http://schemas.openxmlformats.org/officeDocument/2006/relationships/notesSlide" Target="../notesSlides/notesSlide66.xml"/><Relationship Id="rId4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8.xml"/><Relationship Id="rId1" Type="http://schemas.openxmlformats.org/officeDocument/2006/relationships/tags" Target="../tags/tag137.xml"/><Relationship Id="rId5" Type="http://schemas.openxmlformats.org/officeDocument/2006/relationships/image" Target="../media/image35.png"/><Relationship Id="rId4" Type="http://schemas.openxmlformats.org/officeDocument/2006/relationships/notesSlide" Target="../notesSlides/notesSlide6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tags" Target="../tags/tag141.xml"/><Relationship Id="rId2" Type="http://schemas.openxmlformats.org/officeDocument/2006/relationships/tags" Target="../tags/tag140.xml"/><Relationship Id="rId1" Type="http://schemas.openxmlformats.org/officeDocument/2006/relationships/tags" Target="../tags/tag139.xml"/><Relationship Id="rId6" Type="http://schemas.openxmlformats.org/officeDocument/2006/relationships/image" Target="../media/image35.png"/><Relationship Id="rId5" Type="http://schemas.openxmlformats.org/officeDocument/2006/relationships/notesSlide" Target="../notesSlides/notesSlide68.xml"/><Relationship Id="rId4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3.xml"/><Relationship Id="rId1" Type="http://schemas.openxmlformats.org/officeDocument/2006/relationships/tags" Target="../tags/tag142.xml"/><Relationship Id="rId5" Type="http://schemas.openxmlformats.org/officeDocument/2006/relationships/image" Target="../media/image36.png"/><Relationship Id="rId4" Type="http://schemas.openxmlformats.org/officeDocument/2006/relationships/notesSlide" Target="../notesSlides/notesSlide6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" Type="http://schemas.openxmlformats.org/officeDocument/2006/relationships/tags" Target="../tags/tag144.xml"/><Relationship Id="rId5" Type="http://schemas.openxmlformats.org/officeDocument/2006/relationships/notesSlide" Target="../notesSlides/notesSlide70.xml"/><Relationship Id="rId4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8.png"/><Relationship Id="rId2" Type="http://schemas.openxmlformats.org/officeDocument/2006/relationships/tags" Target="../tags/tag148.xml"/><Relationship Id="rId1" Type="http://schemas.openxmlformats.org/officeDocument/2006/relationships/tags" Target="../tags/tag147.xml"/><Relationship Id="rId6" Type="http://schemas.openxmlformats.org/officeDocument/2006/relationships/image" Target="../media/image37.emf"/><Relationship Id="rId5" Type="http://schemas.openxmlformats.org/officeDocument/2006/relationships/package" Target="../embeddings/Microsoft_Visio_Drawing181818.vsdx"/><Relationship Id="rId4" Type="http://schemas.openxmlformats.org/officeDocument/2006/relationships/notesSlide" Target="../notesSlides/notesSlide7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tags" Target="../tags/tag151.xml"/><Relationship Id="rId2" Type="http://schemas.openxmlformats.org/officeDocument/2006/relationships/tags" Target="../tags/tag150.xml"/><Relationship Id="rId1" Type="http://schemas.openxmlformats.org/officeDocument/2006/relationships/tags" Target="../tags/tag149.xml"/><Relationship Id="rId6" Type="http://schemas.openxmlformats.org/officeDocument/2006/relationships/image" Target="../media/image38.png"/><Relationship Id="rId5" Type="http://schemas.openxmlformats.org/officeDocument/2006/relationships/notesSlide" Target="../notesSlides/notesSlide72.xml"/><Relationship Id="rId4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tags" Target="../tags/tag155.xml"/><Relationship Id="rId2" Type="http://schemas.openxmlformats.org/officeDocument/2006/relationships/tags" Target="../tags/tag154.xml"/><Relationship Id="rId1" Type="http://schemas.openxmlformats.org/officeDocument/2006/relationships/tags" Target="../tags/tag153.xml"/><Relationship Id="rId6" Type="http://schemas.openxmlformats.org/officeDocument/2006/relationships/image" Target="../media/image39.png"/><Relationship Id="rId5" Type="http://schemas.openxmlformats.org/officeDocument/2006/relationships/notesSlide" Target="../notesSlides/notesSlide74.xml"/><Relationship Id="rId4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tags" Target="../tags/tag158.xml"/><Relationship Id="rId2" Type="http://schemas.openxmlformats.org/officeDocument/2006/relationships/tags" Target="../tags/tag157.xml"/><Relationship Id="rId1" Type="http://schemas.openxmlformats.org/officeDocument/2006/relationships/tags" Target="../tags/tag156.xml"/><Relationship Id="rId5" Type="http://schemas.openxmlformats.org/officeDocument/2006/relationships/notesSlide" Target="../notesSlides/notesSlide75.xml"/><Relationship Id="rId4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notesSlide" Target="../notesSlides/notesSlide7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6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tags" Target="../tags/tag165.xml"/><Relationship Id="rId2" Type="http://schemas.openxmlformats.org/officeDocument/2006/relationships/tags" Target="../tags/tag164.xml"/><Relationship Id="rId1" Type="http://schemas.openxmlformats.org/officeDocument/2006/relationships/tags" Target="../tags/tag163.xml"/><Relationship Id="rId6" Type="http://schemas.openxmlformats.org/officeDocument/2006/relationships/notesSlide" Target="../notesSlides/notesSlide7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6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" Type="http://schemas.openxmlformats.org/officeDocument/2006/relationships/tags" Target="../tags/tag167.xml"/><Relationship Id="rId5" Type="http://schemas.openxmlformats.org/officeDocument/2006/relationships/notesSlide" Target="../notesSlides/notesSlide78.xml"/><Relationship Id="rId4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5" Type="http://schemas.openxmlformats.org/officeDocument/2006/relationships/image" Target="../media/image40.png"/><Relationship Id="rId4" Type="http://schemas.openxmlformats.org/officeDocument/2006/relationships/notesSlide" Target="../notesSlides/notesSlide8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tags" Target="../tags/tag177.xml"/><Relationship Id="rId7" Type="http://schemas.openxmlformats.org/officeDocument/2006/relationships/image" Target="../media/image10.png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6" Type="http://schemas.openxmlformats.org/officeDocument/2006/relationships/image" Target="../media/image41.png"/><Relationship Id="rId5" Type="http://schemas.openxmlformats.org/officeDocument/2006/relationships/notesSlide" Target="../notesSlides/notesSlide83.xml"/><Relationship Id="rId4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tags" Target="../tags/tag180.xml"/><Relationship Id="rId7" Type="http://schemas.openxmlformats.org/officeDocument/2006/relationships/image" Target="../media/image42.png"/><Relationship Id="rId2" Type="http://schemas.openxmlformats.org/officeDocument/2006/relationships/tags" Target="../tags/tag179.xml"/><Relationship Id="rId1" Type="http://schemas.openxmlformats.org/officeDocument/2006/relationships/tags" Target="../tags/tag178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84.xml"/><Relationship Id="rId4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tags" Target="../tags/tag183.xml"/><Relationship Id="rId7" Type="http://schemas.openxmlformats.org/officeDocument/2006/relationships/image" Target="../media/image43.png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85.xml"/><Relationship Id="rId4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186.xml"/><Relationship Id="rId7" Type="http://schemas.openxmlformats.org/officeDocument/2006/relationships/image" Target="../media/image44.png"/><Relationship Id="rId2" Type="http://schemas.openxmlformats.org/officeDocument/2006/relationships/tags" Target="../tags/tag185.xml"/><Relationship Id="rId1" Type="http://schemas.openxmlformats.org/officeDocument/2006/relationships/tags" Target="../tags/tag184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86.xml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tags" Target="../tags/tag189.xml"/><Relationship Id="rId7" Type="http://schemas.openxmlformats.org/officeDocument/2006/relationships/image" Target="../media/image45.png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87.xml"/><Relationship Id="rId4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tags" Target="../tags/tag192.xml"/><Relationship Id="rId2" Type="http://schemas.openxmlformats.org/officeDocument/2006/relationships/tags" Target="../tags/tag191.xml"/><Relationship Id="rId1" Type="http://schemas.openxmlformats.org/officeDocument/2006/relationships/tags" Target="../tags/tag190.xml"/><Relationship Id="rId6" Type="http://schemas.openxmlformats.org/officeDocument/2006/relationships/image" Target="../media/image46.png"/><Relationship Id="rId5" Type="http://schemas.openxmlformats.org/officeDocument/2006/relationships/notesSlide" Target="../notesSlides/notesSlide88.xml"/><Relationship Id="rId4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tags" Target="../tags/tag193.xml"/><Relationship Id="rId6" Type="http://schemas.openxmlformats.org/officeDocument/2006/relationships/image" Target="../media/image47.png"/><Relationship Id="rId5" Type="http://schemas.openxmlformats.org/officeDocument/2006/relationships/notesSlide" Target="../notesSlides/notesSlide89.xml"/><Relationship Id="rId4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tags" Target="../tags/tag198.xml"/><Relationship Id="rId2" Type="http://schemas.openxmlformats.org/officeDocument/2006/relationships/tags" Target="../tags/tag197.xml"/><Relationship Id="rId1" Type="http://schemas.openxmlformats.org/officeDocument/2006/relationships/tags" Target="../tags/tag196.xml"/><Relationship Id="rId6" Type="http://schemas.openxmlformats.org/officeDocument/2006/relationships/image" Target="../media/image47.png"/><Relationship Id="rId5" Type="http://schemas.openxmlformats.org/officeDocument/2006/relationships/notesSlide" Target="../notesSlides/notesSlide90.xml"/><Relationship Id="rId4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tags" Target="../tags/tag199.xml"/><Relationship Id="rId5" Type="http://schemas.openxmlformats.org/officeDocument/2006/relationships/notesSlide" Target="../notesSlides/notesSlide91.xml"/><Relationship Id="rId4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tags" Target="../tags/tag202.xml"/><Relationship Id="rId6" Type="http://schemas.openxmlformats.org/officeDocument/2006/relationships/image" Target="../media/image47.png"/><Relationship Id="rId5" Type="http://schemas.openxmlformats.org/officeDocument/2006/relationships/notesSlide" Target="../notesSlides/notesSlide92.xml"/><Relationship Id="rId4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tags" Target="../tags/tag207.xml"/><Relationship Id="rId2" Type="http://schemas.openxmlformats.org/officeDocument/2006/relationships/tags" Target="../tags/tag206.xml"/><Relationship Id="rId1" Type="http://schemas.openxmlformats.org/officeDocument/2006/relationships/tags" Target="../tags/tag205.xml"/><Relationship Id="rId5" Type="http://schemas.openxmlformats.org/officeDocument/2006/relationships/notesSlide" Target="../notesSlides/notesSlide93.xml"/><Relationship Id="rId4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tags" Target="../tags/tag210.xml"/><Relationship Id="rId2" Type="http://schemas.openxmlformats.org/officeDocument/2006/relationships/tags" Target="../tags/tag209.xml"/><Relationship Id="rId1" Type="http://schemas.openxmlformats.org/officeDocument/2006/relationships/tags" Target="../tags/tag208.xml"/><Relationship Id="rId6" Type="http://schemas.openxmlformats.org/officeDocument/2006/relationships/image" Target="../media/image47.png"/><Relationship Id="rId5" Type="http://schemas.openxmlformats.org/officeDocument/2006/relationships/notesSlide" Target="../notesSlides/notesSlide94.xml"/><Relationship Id="rId4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tags" Target="../tags/tag213.xml"/><Relationship Id="rId2" Type="http://schemas.openxmlformats.org/officeDocument/2006/relationships/tags" Target="../tags/tag212.xml"/><Relationship Id="rId1" Type="http://schemas.openxmlformats.org/officeDocument/2006/relationships/tags" Target="../tags/tag211.xml"/><Relationship Id="rId5" Type="http://schemas.openxmlformats.org/officeDocument/2006/relationships/notesSlide" Target="../notesSlides/notesSlide95.xml"/><Relationship Id="rId4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tags" Target="../tags/tag216.xml"/><Relationship Id="rId2" Type="http://schemas.openxmlformats.org/officeDocument/2006/relationships/tags" Target="../tags/tag215.xml"/><Relationship Id="rId1" Type="http://schemas.openxmlformats.org/officeDocument/2006/relationships/tags" Target="../tags/tag214.xml"/><Relationship Id="rId5" Type="http://schemas.openxmlformats.org/officeDocument/2006/relationships/notesSlide" Target="../notesSlides/notesSlide96.xml"/><Relationship Id="rId4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tags" Target="../tags/tag219.xml"/><Relationship Id="rId2" Type="http://schemas.openxmlformats.org/officeDocument/2006/relationships/tags" Target="../tags/tag218.xml"/><Relationship Id="rId1" Type="http://schemas.openxmlformats.org/officeDocument/2006/relationships/tags" Target="../tags/tag217.xml"/><Relationship Id="rId6" Type="http://schemas.openxmlformats.org/officeDocument/2006/relationships/image" Target="../media/image47.png"/><Relationship Id="rId5" Type="http://schemas.openxmlformats.org/officeDocument/2006/relationships/notesSlide" Target="../notesSlides/notesSlide97.xml"/><Relationship Id="rId4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tags" Target="../tags/tag222.xml"/><Relationship Id="rId2" Type="http://schemas.openxmlformats.org/officeDocument/2006/relationships/tags" Target="../tags/tag221.xml"/><Relationship Id="rId1" Type="http://schemas.openxmlformats.org/officeDocument/2006/relationships/tags" Target="../tags/tag220.xml"/><Relationship Id="rId6" Type="http://schemas.openxmlformats.org/officeDocument/2006/relationships/image" Target="../media/image48.png"/><Relationship Id="rId5" Type="http://schemas.openxmlformats.org/officeDocument/2006/relationships/notesSlide" Target="../notesSlides/notesSlide98.xml"/><Relationship Id="rId4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" Type="http://schemas.openxmlformats.org/officeDocument/2006/relationships/tags" Target="../tags/tag223.xml"/><Relationship Id="rId6" Type="http://schemas.openxmlformats.org/officeDocument/2006/relationships/image" Target="../media/image48.png"/><Relationship Id="rId5" Type="http://schemas.openxmlformats.org/officeDocument/2006/relationships/notesSlide" Target="../notesSlides/notesSlide99.xml"/><Relationship Id="rId4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tags" Target="../tags/tag228.xml"/><Relationship Id="rId2" Type="http://schemas.openxmlformats.org/officeDocument/2006/relationships/tags" Target="../tags/tag227.xml"/><Relationship Id="rId1" Type="http://schemas.openxmlformats.org/officeDocument/2006/relationships/tags" Target="../tags/tag226.xml"/><Relationship Id="rId6" Type="http://schemas.openxmlformats.org/officeDocument/2006/relationships/image" Target="../media/image49.png"/><Relationship Id="rId5" Type="http://schemas.openxmlformats.org/officeDocument/2006/relationships/notesSlide" Target="../notesSlides/notesSlide100.xml"/><Relationship Id="rId4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0.xml"/><Relationship Id="rId1" Type="http://schemas.openxmlformats.org/officeDocument/2006/relationships/tags" Target="../tags/tag229.xml"/><Relationship Id="rId5" Type="http://schemas.openxmlformats.org/officeDocument/2006/relationships/image" Target="../media/image50.png"/><Relationship Id="rId4" Type="http://schemas.openxmlformats.org/officeDocument/2006/relationships/notesSlide" Target="../notesSlides/notesSlide10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2.xml"/><Relationship Id="rId1" Type="http://schemas.openxmlformats.org/officeDocument/2006/relationships/tags" Target="../tags/tag231.xml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10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4.xml"/><Relationship Id="rId1" Type="http://schemas.openxmlformats.org/officeDocument/2006/relationships/tags" Target="../tags/tag233.xml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10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6.xml"/><Relationship Id="rId1" Type="http://schemas.openxmlformats.org/officeDocument/2006/relationships/tags" Target="../tags/tag235.xml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104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5" Type="http://schemas.openxmlformats.org/officeDocument/2006/relationships/image" Target="../media/image53.png"/><Relationship Id="rId4" Type="http://schemas.openxmlformats.org/officeDocument/2006/relationships/notesSlide" Target="../notesSlides/notesSlide105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5" Type="http://schemas.openxmlformats.org/officeDocument/2006/relationships/image" Target="../media/image53.png"/><Relationship Id="rId4" Type="http://schemas.openxmlformats.org/officeDocument/2006/relationships/notesSlide" Target="../notesSlides/notesSlide106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6" Type="http://schemas.openxmlformats.org/officeDocument/2006/relationships/image" Target="../media/image54.emf"/><Relationship Id="rId5" Type="http://schemas.openxmlformats.org/officeDocument/2006/relationships/package" Target="../embeddings/Microsoft_Visio_Drawing191919.vsdx"/><Relationship Id="rId4" Type="http://schemas.openxmlformats.org/officeDocument/2006/relationships/notesSlide" Target="../notesSlides/notesSlide107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4.xml"/><Relationship Id="rId1" Type="http://schemas.openxmlformats.org/officeDocument/2006/relationships/tags" Target="../tags/tag243.xml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108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6.xml"/><Relationship Id="rId1" Type="http://schemas.openxmlformats.org/officeDocument/2006/relationships/tags" Target="../tags/tag245.xml"/><Relationship Id="rId5" Type="http://schemas.openxmlformats.org/officeDocument/2006/relationships/image" Target="../media/image53.png"/><Relationship Id="rId4" Type="http://schemas.openxmlformats.org/officeDocument/2006/relationships/notesSlide" Target="../notesSlides/notesSlide109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8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9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0.xml"/><Relationship Id="rId4" Type="http://schemas.openxmlformats.org/officeDocument/2006/relationships/image" Target="../media/image6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2.xml"/><Relationship Id="rId1" Type="http://schemas.openxmlformats.org/officeDocument/2006/relationships/tags" Target="../tags/tag251.xml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11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3.xml"/><Relationship Id="rId4" Type="http://schemas.openxmlformats.org/officeDocument/2006/relationships/image" Target="../media/image61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4.xml"/><Relationship Id="rId4" Type="http://schemas.openxmlformats.org/officeDocument/2006/relationships/image" Target="../media/image62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5.xml"/><Relationship Id="rId4" Type="http://schemas.openxmlformats.org/officeDocument/2006/relationships/image" Target="../media/image6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6.xml"/><Relationship Id="rId4" Type="http://schemas.openxmlformats.org/officeDocument/2006/relationships/image" Target="../media/image63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8.xml"/><Relationship Id="rId1" Type="http://schemas.openxmlformats.org/officeDocument/2006/relationships/tags" Target="../tags/tag25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notesSlide" Target="../notesSlides/notesSlide119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0.xml"/><Relationship Id="rId1" Type="http://schemas.openxmlformats.org/officeDocument/2006/relationships/tags" Target="../tags/tag259.xml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120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2.xml"/><Relationship Id="rId1" Type="http://schemas.openxmlformats.org/officeDocument/2006/relationships/tags" Target="../tags/tag261.xml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121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tags" Target="../tags/tag265.xml"/><Relationship Id="rId2" Type="http://schemas.openxmlformats.org/officeDocument/2006/relationships/tags" Target="../tags/tag264.xml"/><Relationship Id="rId1" Type="http://schemas.openxmlformats.org/officeDocument/2006/relationships/tags" Target="../tags/tag263.xml"/><Relationship Id="rId6" Type="http://schemas.openxmlformats.org/officeDocument/2006/relationships/image" Target="../media/image66.emf"/><Relationship Id="rId5" Type="http://schemas.openxmlformats.org/officeDocument/2006/relationships/notesSlide" Target="../notesSlides/notesSlide122.xml"/><Relationship Id="rId4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6.xml"/><Relationship Id="rId5" Type="http://schemas.openxmlformats.org/officeDocument/2006/relationships/image" Target="../media/image67.emf"/><Relationship Id="rId4" Type="http://schemas.openxmlformats.org/officeDocument/2006/relationships/package" Target="../embeddings/Microsoft_Visio_Drawing202020.vsdx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8.xml"/><Relationship Id="rId1" Type="http://schemas.openxmlformats.org/officeDocument/2006/relationships/tags" Target="../tags/tag267.xml"/><Relationship Id="rId4" Type="http://schemas.openxmlformats.org/officeDocument/2006/relationships/notesSlide" Target="../notesSlides/notesSlide124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0.xml"/><Relationship Id="rId1" Type="http://schemas.openxmlformats.org/officeDocument/2006/relationships/tags" Target="../tags/tag269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notesSlide" Target="../notesSlides/notesSlide125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2.xml"/><Relationship Id="rId1" Type="http://schemas.openxmlformats.org/officeDocument/2006/relationships/tags" Target="../tags/tag271.xml"/><Relationship Id="rId4" Type="http://schemas.openxmlformats.org/officeDocument/2006/relationships/notesSlide" Target="../notesSlides/notesSlide12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4.xml"/><Relationship Id="rId1" Type="http://schemas.openxmlformats.org/officeDocument/2006/relationships/tags" Target="../tags/tag273.xml"/><Relationship Id="rId4" Type="http://schemas.openxmlformats.org/officeDocument/2006/relationships/notesSlide" Target="../notesSlides/notesSlide127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6.xml"/><Relationship Id="rId1" Type="http://schemas.openxmlformats.org/officeDocument/2006/relationships/tags" Target="../tags/tag275.xml"/><Relationship Id="rId4" Type="http://schemas.openxmlformats.org/officeDocument/2006/relationships/notesSlide" Target="../notesSlides/notesSlide128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8.xml"/><Relationship Id="rId1" Type="http://schemas.openxmlformats.org/officeDocument/2006/relationships/tags" Target="../tags/tag277.xml"/><Relationship Id="rId4" Type="http://schemas.openxmlformats.org/officeDocument/2006/relationships/notesSlide" Target="../notesSlides/notesSlide12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tags" Target="../tags/tag281.xml"/><Relationship Id="rId2" Type="http://schemas.openxmlformats.org/officeDocument/2006/relationships/tags" Target="../tags/tag280.xml"/><Relationship Id="rId1" Type="http://schemas.openxmlformats.org/officeDocument/2006/relationships/tags" Target="../tags/tag279.xml"/><Relationship Id="rId5" Type="http://schemas.openxmlformats.org/officeDocument/2006/relationships/notesSlide" Target="../notesSlides/notesSlide130.xml"/><Relationship Id="rId4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tags" Target="../tags/tag284.xml"/><Relationship Id="rId2" Type="http://schemas.openxmlformats.org/officeDocument/2006/relationships/tags" Target="../tags/tag283.xml"/><Relationship Id="rId1" Type="http://schemas.openxmlformats.org/officeDocument/2006/relationships/tags" Target="../tags/tag282.xml"/><Relationship Id="rId6" Type="http://schemas.openxmlformats.org/officeDocument/2006/relationships/notesSlide" Target="../notesSlides/notesSlide13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85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tags" Target="../tags/tag288.xml"/><Relationship Id="rId2" Type="http://schemas.openxmlformats.org/officeDocument/2006/relationships/tags" Target="../tags/tag287.xml"/><Relationship Id="rId1" Type="http://schemas.openxmlformats.org/officeDocument/2006/relationships/tags" Target="../tags/tag286.xml"/><Relationship Id="rId6" Type="http://schemas.openxmlformats.org/officeDocument/2006/relationships/notesSlide" Target="../notesSlides/notesSlide13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289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tags" Target="../tags/tag292.xml"/><Relationship Id="rId2" Type="http://schemas.openxmlformats.org/officeDocument/2006/relationships/tags" Target="../tags/tag291.xml"/><Relationship Id="rId1" Type="http://schemas.openxmlformats.org/officeDocument/2006/relationships/tags" Target="../tags/tag290.xml"/><Relationship Id="rId5" Type="http://schemas.openxmlformats.org/officeDocument/2006/relationships/notesSlide" Target="../notesSlides/notesSlide133.xml"/><Relationship Id="rId4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tags" Target="../tags/tag293.xml"/><Relationship Id="rId5" Type="http://schemas.openxmlformats.org/officeDocument/2006/relationships/notesSlide" Target="../notesSlides/notesSlide134.xml"/><Relationship Id="rId4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tags" Target="../tags/tag298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5" Type="http://schemas.openxmlformats.org/officeDocument/2006/relationships/notesSlide" Target="../notesSlides/notesSlide135.xml"/><Relationship Id="rId4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0.xml"/><Relationship Id="rId1" Type="http://schemas.openxmlformats.org/officeDocument/2006/relationships/tags" Target="../tags/tag299.xml"/><Relationship Id="rId6" Type="http://schemas.openxmlformats.org/officeDocument/2006/relationships/image" Target="../media/image24.emf"/><Relationship Id="rId5" Type="http://schemas.openxmlformats.org/officeDocument/2006/relationships/package" Target="../embeddings/Microsoft_Visio_Drawing1616165.vsdx"/><Relationship Id="rId4" Type="http://schemas.openxmlformats.org/officeDocument/2006/relationships/notesSlide" Target="../notesSlides/notesSlide136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2.xml"/><Relationship Id="rId1" Type="http://schemas.openxmlformats.org/officeDocument/2006/relationships/tags" Target="../tags/tag301.xml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137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tags" Target="../tags/tag305.xml"/><Relationship Id="rId2" Type="http://schemas.openxmlformats.org/officeDocument/2006/relationships/tags" Target="../tags/tag304.xml"/><Relationship Id="rId1" Type="http://schemas.openxmlformats.org/officeDocument/2006/relationships/tags" Target="../tags/tag303.xml"/><Relationship Id="rId5" Type="http://schemas.openxmlformats.org/officeDocument/2006/relationships/notesSlide" Target="../notesSlides/notesSlide138.xml"/><Relationship Id="rId4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7.xml"/><Relationship Id="rId1" Type="http://schemas.openxmlformats.org/officeDocument/2006/relationships/tags" Target="../tags/tag306.xml"/><Relationship Id="rId6" Type="http://schemas.openxmlformats.org/officeDocument/2006/relationships/image" Target="../media/image68.emf"/><Relationship Id="rId5" Type="http://schemas.openxmlformats.org/officeDocument/2006/relationships/package" Target="../embeddings/Microsoft_Visio_Drawing222222.vsdx"/><Relationship Id="rId4" Type="http://schemas.openxmlformats.org/officeDocument/2006/relationships/notesSlide" Target="../notesSlides/notesSlide139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9.xml"/><Relationship Id="rId1" Type="http://schemas.openxmlformats.org/officeDocument/2006/relationships/tags" Target="../tags/tag308.xml"/><Relationship Id="rId6" Type="http://schemas.openxmlformats.org/officeDocument/2006/relationships/image" Target="../media/image69.emf"/><Relationship Id="rId5" Type="http://schemas.openxmlformats.org/officeDocument/2006/relationships/package" Target="../embeddings/Microsoft_Visio_Drawing232323.vsdx"/><Relationship Id="rId4" Type="http://schemas.openxmlformats.org/officeDocument/2006/relationships/notesSlide" Target="../notesSlides/notesSlide140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1.xml"/><Relationship Id="rId1" Type="http://schemas.openxmlformats.org/officeDocument/2006/relationships/tags" Target="../tags/tag310.xml"/><Relationship Id="rId6" Type="http://schemas.openxmlformats.org/officeDocument/2006/relationships/image" Target="../media/image70.emf"/><Relationship Id="rId5" Type="http://schemas.openxmlformats.org/officeDocument/2006/relationships/package" Target="../embeddings/Microsoft_Visio_Drawing242424.vsdx"/><Relationship Id="rId4" Type="http://schemas.openxmlformats.org/officeDocument/2006/relationships/notesSlide" Target="../notesSlides/notesSlide14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tags" Target="../tags/tag314.xml"/><Relationship Id="rId7" Type="http://schemas.openxmlformats.org/officeDocument/2006/relationships/image" Target="../media/image71.emf"/><Relationship Id="rId2" Type="http://schemas.openxmlformats.org/officeDocument/2006/relationships/tags" Target="../tags/tag313.xml"/><Relationship Id="rId1" Type="http://schemas.openxmlformats.org/officeDocument/2006/relationships/tags" Target="../tags/tag312.xml"/><Relationship Id="rId6" Type="http://schemas.openxmlformats.org/officeDocument/2006/relationships/package" Target="../embeddings/Microsoft_Visio_Drawing252525.vsdx"/><Relationship Id="rId5" Type="http://schemas.openxmlformats.org/officeDocument/2006/relationships/notesSlide" Target="../notesSlides/notesSlide142.xml"/><Relationship Id="rId4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Visio_Drawing272727.vsdx"/><Relationship Id="rId3" Type="http://schemas.openxmlformats.org/officeDocument/2006/relationships/tags" Target="../tags/tag317.xml"/><Relationship Id="rId7" Type="http://schemas.openxmlformats.org/officeDocument/2006/relationships/image" Target="../media/image72.emf"/><Relationship Id="rId2" Type="http://schemas.openxmlformats.org/officeDocument/2006/relationships/tags" Target="../tags/tag316.xml"/><Relationship Id="rId1" Type="http://schemas.openxmlformats.org/officeDocument/2006/relationships/tags" Target="../tags/tag315.xml"/><Relationship Id="rId6" Type="http://schemas.openxmlformats.org/officeDocument/2006/relationships/package" Target="../embeddings/Microsoft_Visio_Drawing262626.vsdx"/><Relationship Id="rId5" Type="http://schemas.openxmlformats.org/officeDocument/2006/relationships/notesSlide" Target="../notesSlides/notesSlide143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73.emf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tags" Target="../tags/tag320.xml"/><Relationship Id="rId7" Type="http://schemas.openxmlformats.org/officeDocument/2006/relationships/image" Target="../media/image74.emf"/><Relationship Id="rId2" Type="http://schemas.openxmlformats.org/officeDocument/2006/relationships/tags" Target="../tags/tag319.xml"/><Relationship Id="rId1" Type="http://schemas.openxmlformats.org/officeDocument/2006/relationships/tags" Target="../tags/tag318.xml"/><Relationship Id="rId6" Type="http://schemas.openxmlformats.org/officeDocument/2006/relationships/package" Target="../embeddings/Microsoft_Visio_Drawing282828.vsdx"/><Relationship Id="rId5" Type="http://schemas.openxmlformats.org/officeDocument/2006/relationships/notesSlide" Target="../notesSlides/notesSlide144.xml"/><Relationship Id="rId4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tags" Target="../tags/tag323.xml"/><Relationship Id="rId2" Type="http://schemas.openxmlformats.org/officeDocument/2006/relationships/tags" Target="../tags/tag322.xml"/><Relationship Id="rId1" Type="http://schemas.openxmlformats.org/officeDocument/2006/relationships/tags" Target="../tags/tag321.xml"/><Relationship Id="rId6" Type="http://schemas.openxmlformats.org/officeDocument/2006/relationships/notesSlide" Target="../notesSlides/notesSlide14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24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tags" Target="../tags/tag327.xml"/><Relationship Id="rId7" Type="http://schemas.openxmlformats.org/officeDocument/2006/relationships/image" Target="../media/image75.emf"/><Relationship Id="rId2" Type="http://schemas.openxmlformats.org/officeDocument/2006/relationships/tags" Target="../tags/tag326.xml"/><Relationship Id="rId1" Type="http://schemas.openxmlformats.org/officeDocument/2006/relationships/tags" Target="../tags/tag325.xml"/><Relationship Id="rId6" Type="http://schemas.openxmlformats.org/officeDocument/2006/relationships/package" Target="../embeddings/Microsoft_Visio_Drawing292929.vsdx"/><Relationship Id="rId5" Type="http://schemas.openxmlformats.org/officeDocument/2006/relationships/notesSlide" Target="../notesSlides/notesSlide146.xml"/><Relationship Id="rId4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tags" Target="../tags/tag330.xml"/><Relationship Id="rId2" Type="http://schemas.openxmlformats.org/officeDocument/2006/relationships/tags" Target="../tags/tag329.xml"/><Relationship Id="rId1" Type="http://schemas.openxmlformats.org/officeDocument/2006/relationships/tags" Target="../tags/tag328.xml"/><Relationship Id="rId6" Type="http://schemas.openxmlformats.org/officeDocument/2006/relationships/notesSlide" Target="../notesSlides/notesSlide14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1.xml"/></Relationships>
</file>

<file path=ppt/slides/_rels/slide1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emf"/><Relationship Id="rId3" Type="http://schemas.openxmlformats.org/officeDocument/2006/relationships/tags" Target="../tags/tag334.xml"/><Relationship Id="rId7" Type="http://schemas.openxmlformats.org/officeDocument/2006/relationships/package" Target="../embeddings/Microsoft_Visio_Drawing303030.vsdx"/><Relationship Id="rId2" Type="http://schemas.openxmlformats.org/officeDocument/2006/relationships/tags" Target="../tags/tag333.xml"/><Relationship Id="rId1" Type="http://schemas.openxmlformats.org/officeDocument/2006/relationships/tags" Target="../tags/tag332.xml"/><Relationship Id="rId6" Type="http://schemas.openxmlformats.org/officeDocument/2006/relationships/notesSlide" Target="../notesSlides/notesSlide14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5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tags" Target="../tags/tag338.xml"/><Relationship Id="rId7" Type="http://schemas.openxmlformats.org/officeDocument/2006/relationships/image" Target="../media/image77.emf"/><Relationship Id="rId2" Type="http://schemas.openxmlformats.org/officeDocument/2006/relationships/tags" Target="../tags/tag337.xml"/><Relationship Id="rId1" Type="http://schemas.openxmlformats.org/officeDocument/2006/relationships/tags" Target="../tags/tag336.xml"/><Relationship Id="rId6" Type="http://schemas.openxmlformats.org/officeDocument/2006/relationships/package" Target="../embeddings/Microsoft_Visio_Drawing313131.vsdx"/><Relationship Id="rId5" Type="http://schemas.openxmlformats.org/officeDocument/2006/relationships/notesSlide" Target="../notesSlides/notesSlide149.xml"/><Relationship Id="rId4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tags" Target="../tags/tag341.xml"/><Relationship Id="rId7" Type="http://schemas.openxmlformats.org/officeDocument/2006/relationships/image" Target="../media/image77.emf"/><Relationship Id="rId2" Type="http://schemas.openxmlformats.org/officeDocument/2006/relationships/tags" Target="../tags/tag340.xml"/><Relationship Id="rId1" Type="http://schemas.openxmlformats.org/officeDocument/2006/relationships/tags" Target="../tags/tag339.xml"/><Relationship Id="rId6" Type="http://schemas.openxmlformats.org/officeDocument/2006/relationships/package" Target="../embeddings/Microsoft_Visio_Drawing3131316.vsdx"/><Relationship Id="rId5" Type="http://schemas.openxmlformats.org/officeDocument/2006/relationships/notesSlide" Target="../notesSlides/notesSlide150.xml"/><Relationship Id="rId4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tags" Target="../tags/tag344.xml"/><Relationship Id="rId7" Type="http://schemas.openxmlformats.org/officeDocument/2006/relationships/image" Target="../media/image78.emf"/><Relationship Id="rId2" Type="http://schemas.openxmlformats.org/officeDocument/2006/relationships/tags" Target="../tags/tag343.xml"/><Relationship Id="rId1" Type="http://schemas.openxmlformats.org/officeDocument/2006/relationships/tags" Target="../tags/tag342.xml"/><Relationship Id="rId6" Type="http://schemas.openxmlformats.org/officeDocument/2006/relationships/package" Target="../embeddings/Microsoft_Visio_Drawing333333.vsdx"/><Relationship Id="rId5" Type="http://schemas.openxmlformats.org/officeDocument/2006/relationships/notesSlide" Target="../notesSlides/notesSlide151.xml"/><Relationship Id="rId4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6.xml"/><Relationship Id="rId1" Type="http://schemas.openxmlformats.org/officeDocument/2006/relationships/tags" Target="../tags/tag345.xml"/><Relationship Id="rId4" Type="http://schemas.openxmlformats.org/officeDocument/2006/relationships/notesSlide" Target="../notesSlides/notesSlide15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8.xml"/><Relationship Id="rId1" Type="http://schemas.openxmlformats.org/officeDocument/2006/relationships/tags" Target="../tags/tag347.xml"/><Relationship Id="rId4" Type="http://schemas.openxmlformats.org/officeDocument/2006/relationships/notesSlide" Target="../notesSlides/notesSlide153.xml"/></Relationships>
</file>

<file path=ppt/slides/_rels/slide1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emf"/><Relationship Id="rId3" Type="http://schemas.openxmlformats.org/officeDocument/2006/relationships/tags" Target="../tags/tag351.xml"/><Relationship Id="rId7" Type="http://schemas.openxmlformats.org/officeDocument/2006/relationships/package" Target="../embeddings/Microsoft_Visio_Drawing343434.vsdx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6" Type="http://schemas.openxmlformats.org/officeDocument/2006/relationships/notesSlide" Target="../notesSlides/notesSlide15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52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emf"/><Relationship Id="rId3" Type="http://schemas.openxmlformats.org/officeDocument/2006/relationships/tags" Target="../tags/tag355.xml"/><Relationship Id="rId7" Type="http://schemas.openxmlformats.org/officeDocument/2006/relationships/package" Target="../embeddings/Microsoft_Visio_Drawing353535.vsdx"/><Relationship Id="rId2" Type="http://schemas.openxmlformats.org/officeDocument/2006/relationships/tags" Target="../tags/tag354.xml"/><Relationship Id="rId1" Type="http://schemas.openxmlformats.org/officeDocument/2006/relationships/tags" Target="../tags/tag353.xml"/><Relationship Id="rId6" Type="http://schemas.openxmlformats.org/officeDocument/2006/relationships/notesSlide" Target="../notesSlides/notesSlide15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56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emf"/><Relationship Id="rId3" Type="http://schemas.openxmlformats.org/officeDocument/2006/relationships/tags" Target="../tags/tag359.xml"/><Relationship Id="rId7" Type="http://schemas.openxmlformats.org/officeDocument/2006/relationships/package" Target="../embeddings/Microsoft_Visio_Drawing363636.vsdx"/><Relationship Id="rId2" Type="http://schemas.openxmlformats.org/officeDocument/2006/relationships/tags" Target="../tags/tag358.xml"/><Relationship Id="rId1" Type="http://schemas.openxmlformats.org/officeDocument/2006/relationships/tags" Target="../tags/tag357.xml"/><Relationship Id="rId6" Type="http://schemas.openxmlformats.org/officeDocument/2006/relationships/notesSlide" Target="../notesSlides/notesSlide15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60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tags" Target="../tags/tag363.xml"/><Relationship Id="rId7" Type="http://schemas.openxmlformats.org/officeDocument/2006/relationships/notesSlide" Target="../notesSlides/notesSlide157.xml"/><Relationship Id="rId2" Type="http://schemas.openxmlformats.org/officeDocument/2006/relationships/tags" Target="../tags/tag362.xml"/><Relationship Id="rId1" Type="http://schemas.openxmlformats.org/officeDocument/2006/relationships/tags" Target="../tags/tag36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65.xml"/><Relationship Id="rId4" Type="http://schemas.openxmlformats.org/officeDocument/2006/relationships/tags" Target="../tags/tag364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tags" Target="../tags/tag368.xml"/><Relationship Id="rId7" Type="http://schemas.openxmlformats.org/officeDocument/2006/relationships/notesSlide" Target="../notesSlides/notesSlide158.xml"/><Relationship Id="rId2" Type="http://schemas.openxmlformats.org/officeDocument/2006/relationships/tags" Target="../tags/tag367.xml"/><Relationship Id="rId1" Type="http://schemas.openxmlformats.org/officeDocument/2006/relationships/tags" Target="../tags/tag36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0.xml"/><Relationship Id="rId4" Type="http://schemas.openxmlformats.org/officeDocument/2006/relationships/tags" Target="../tags/tag369.xml"/></Relationships>
</file>

<file path=ppt/slides/_rels/slide167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Visio_Drawing373737.vsdx"/><Relationship Id="rId3" Type="http://schemas.openxmlformats.org/officeDocument/2006/relationships/tags" Target="../tags/tag373.xml"/><Relationship Id="rId7" Type="http://schemas.openxmlformats.org/officeDocument/2006/relationships/notesSlide" Target="../notesSlides/notesSlide159.xml"/><Relationship Id="rId2" Type="http://schemas.openxmlformats.org/officeDocument/2006/relationships/tags" Target="../tags/tag372.xml"/><Relationship Id="rId1" Type="http://schemas.openxmlformats.org/officeDocument/2006/relationships/tags" Target="../tags/tag37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5.xml"/><Relationship Id="rId4" Type="http://schemas.openxmlformats.org/officeDocument/2006/relationships/tags" Target="../tags/tag374.xml"/><Relationship Id="rId9" Type="http://schemas.openxmlformats.org/officeDocument/2006/relationships/image" Target="../media/image82.emf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tags" Target="../tags/tag378.xml"/><Relationship Id="rId7" Type="http://schemas.openxmlformats.org/officeDocument/2006/relationships/notesSlide" Target="../notesSlides/notesSlide160.xml"/><Relationship Id="rId2" Type="http://schemas.openxmlformats.org/officeDocument/2006/relationships/tags" Target="../tags/tag377.xml"/><Relationship Id="rId1" Type="http://schemas.openxmlformats.org/officeDocument/2006/relationships/tags" Target="../tags/tag37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0.xml"/><Relationship Id="rId4" Type="http://schemas.openxmlformats.org/officeDocument/2006/relationships/tags" Target="../tags/tag379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emf"/><Relationship Id="rId3" Type="http://schemas.openxmlformats.org/officeDocument/2006/relationships/tags" Target="../tags/tag383.xml"/><Relationship Id="rId7" Type="http://schemas.openxmlformats.org/officeDocument/2006/relationships/package" Target="../embeddings/Microsoft_Visio_Drawing383838.vsdx"/><Relationship Id="rId2" Type="http://schemas.openxmlformats.org/officeDocument/2006/relationships/tags" Target="../tags/tag382.xml"/><Relationship Id="rId1" Type="http://schemas.openxmlformats.org/officeDocument/2006/relationships/tags" Target="../tags/tag381.xml"/><Relationship Id="rId6" Type="http://schemas.openxmlformats.org/officeDocument/2006/relationships/notesSlide" Target="../notesSlides/notesSlide16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84.xml"/></Relationships>
</file>

<file path=ppt/slides/_rels/slide1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emf"/><Relationship Id="rId3" Type="http://schemas.openxmlformats.org/officeDocument/2006/relationships/tags" Target="../tags/tag387.xml"/><Relationship Id="rId7" Type="http://schemas.openxmlformats.org/officeDocument/2006/relationships/package" Target="../embeddings/Microsoft_Visio_Drawing393939.vsdx"/><Relationship Id="rId2" Type="http://schemas.openxmlformats.org/officeDocument/2006/relationships/tags" Target="../tags/tag386.xml"/><Relationship Id="rId1" Type="http://schemas.openxmlformats.org/officeDocument/2006/relationships/tags" Target="../tags/tag385.xml"/><Relationship Id="rId6" Type="http://schemas.openxmlformats.org/officeDocument/2006/relationships/notesSlide" Target="../notesSlides/notesSlide16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88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tags" Target="../tags/tag391.xml"/><Relationship Id="rId7" Type="http://schemas.openxmlformats.org/officeDocument/2006/relationships/notesSlide" Target="../notesSlides/notesSlide163.xml"/><Relationship Id="rId2" Type="http://schemas.openxmlformats.org/officeDocument/2006/relationships/tags" Target="../tags/tag390.xml"/><Relationship Id="rId1" Type="http://schemas.openxmlformats.org/officeDocument/2006/relationships/tags" Target="../tags/tag38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93.xml"/><Relationship Id="rId4" Type="http://schemas.openxmlformats.org/officeDocument/2006/relationships/tags" Target="../tags/tag392.xml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emf"/><Relationship Id="rId3" Type="http://schemas.openxmlformats.org/officeDocument/2006/relationships/tags" Target="../tags/tag396.xml"/><Relationship Id="rId7" Type="http://schemas.openxmlformats.org/officeDocument/2006/relationships/package" Target="../embeddings/Microsoft_Visio_Drawing404040.vsdx"/><Relationship Id="rId2" Type="http://schemas.openxmlformats.org/officeDocument/2006/relationships/tags" Target="../tags/tag395.xml"/><Relationship Id="rId1" Type="http://schemas.openxmlformats.org/officeDocument/2006/relationships/tags" Target="../tags/tag394.xml"/><Relationship Id="rId6" Type="http://schemas.openxmlformats.org/officeDocument/2006/relationships/notesSlide" Target="../notesSlides/notesSlide16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97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9.xml"/><Relationship Id="rId1" Type="http://schemas.openxmlformats.org/officeDocument/2006/relationships/tags" Target="../tags/tag398.xml"/><Relationship Id="rId4" Type="http://schemas.openxmlformats.org/officeDocument/2006/relationships/notesSlide" Target="../notesSlides/notesSlide165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1.xml"/><Relationship Id="rId1" Type="http://schemas.openxmlformats.org/officeDocument/2006/relationships/tags" Target="../tags/tag400.xml"/><Relationship Id="rId4" Type="http://schemas.openxmlformats.org/officeDocument/2006/relationships/notesSlide" Target="../notesSlides/notesSlide16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tags" Target="../tags/tag404.xml"/><Relationship Id="rId2" Type="http://schemas.openxmlformats.org/officeDocument/2006/relationships/tags" Target="../tags/tag403.xml"/><Relationship Id="rId1" Type="http://schemas.openxmlformats.org/officeDocument/2006/relationships/tags" Target="../tags/tag402.xml"/><Relationship Id="rId5" Type="http://schemas.openxmlformats.org/officeDocument/2006/relationships/notesSlide" Target="../notesSlides/notesSlide167.xml"/><Relationship Id="rId4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tags" Target="../tags/tag407.xml"/><Relationship Id="rId2" Type="http://schemas.openxmlformats.org/officeDocument/2006/relationships/tags" Target="../tags/tag406.xml"/><Relationship Id="rId1" Type="http://schemas.openxmlformats.org/officeDocument/2006/relationships/tags" Target="../tags/tag405.xml"/><Relationship Id="rId5" Type="http://schemas.openxmlformats.org/officeDocument/2006/relationships/notesSlide" Target="../notesSlides/notesSlide168.xml"/><Relationship Id="rId4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tags" Target="../tags/tag410.xml"/><Relationship Id="rId2" Type="http://schemas.openxmlformats.org/officeDocument/2006/relationships/tags" Target="../tags/tag409.xml"/><Relationship Id="rId1" Type="http://schemas.openxmlformats.org/officeDocument/2006/relationships/tags" Target="../tags/tag408.xml"/><Relationship Id="rId5" Type="http://schemas.openxmlformats.org/officeDocument/2006/relationships/notesSlide" Target="../notesSlides/notesSlide169.xml"/><Relationship Id="rId4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tags" Target="../tags/tag413.xml"/><Relationship Id="rId2" Type="http://schemas.openxmlformats.org/officeDocument/2006/relationships/tags" Target="../tags/tag412.xml"/><Relationship Id="rId1" Type="http://schemas.openxmlformats.org/officeDocument/2006/relationships/tags" Target="../tags/tag411.xml"/><Relationship Id="rId5" Type="http://schemas.openxmlformats.org/officeDocument/2006/relationships/notesSlide" Target="../notesSlides/notesSlide170.xml"/><Relationship Id="rId4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tags" Target="../tags/tag416.xml"/><Relationship Id="rId2" Type="http://schemas.openxmlformats.org/officeDocument/2006/relationships/tags" Target="../tags/tag415.xml"/><Relationship Id="rId1" Type="http://schemas.openxmlformats.org/officeDocument/2006/relationships/tags" Target="../tags/tag414.xml"/><Relationship Id="rId5" Type="http://schemas.openxmlformats.org/officeDocument/2006/relationships/notesSlide" Target="../notesSlides/notesSlide171.xml"/><Relationship Id="rId4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tags" Target="../tags/tag419.xml"/><Relationship Id="rId2" Type="http://schemas.openxmlformats.org/officeDocument/2006/relationships/tags" Target="../tags/tag418.xml"/><Relationship Id="rId1" Type="http://schemas.openxmlformats.org/officeDocument/2006/relationships/tags" Target="../tags/tag417.xml"/><Relationship Id="rId6" Type="http://schemas.openxmlformats.org/officeDocument/2006/relationships/notesSlide" Target="../notesSlides/notesSlide17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20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tags" Target="../tags/tag423.xml"/><Relationship Id="rId2" Type="http://schemas.openxmlformats.org/officeDocument/2006/relationships/tags" Target="../tags/tag422.xml"/><Relationship Id="rId1" Type="http://schemas.openxmlformats.org/officeDocument/2006/relationships/tags" Target="../tags/tag421.xml"/><Relationship Id="rId5" Type="http://schemas.openxmlformats.org/officeDocument/2006/relationships/notesSlide" Target="../notesSlides/notesSlide173.xml"/><Relationship Id="rId4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4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5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6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tags" Target="../tags/tag429.xml"/><Relationship Id="rId2" Type="http://schemas.openxmlformats.org/officeDocument/2006/relationships/tags" Target="../tags/tag428.xml"/><Relationship Id="rId1" Type="http://schemas.openxmlformats.org/officeDocument/2006/relationships/tags" Target="../tags/tag427.xml"/><Relationship Id="rId5" Type="http://schemas.openxmlformats.org/officeDocument/2006/relationships/notesSlide" Target="../notesSlides/notesSlide177.xml"/><Relationship Id="rId4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tags" Target="../tags/tag432.xml"/><Relationship Id="rId2" Type="http://schemas.openxmlformats.org/officeDocument/2006/relationships/tags" Target="../tags/tag431.xml"/><Relationship Id="rId1" Type="http://schemas.openxmlformats.org/officeDocument/2006/relationships/tags" Target="../tags/tag430.xml"/><Relationship Id="rId5" Type="http://schemas.openxmlformats.org/officeDocument/2006/relationships/notesSlide" Target="../notesSlides/notesSlide178.xml"/><Relationship Id="rId4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tags" Target="../tags/tag435.xml"/><Relationship Id="rId2" Type="http://schemas.openxmlformats.org/officeDocument/2006/relationships/tags" Target="../tags/tag434.xml"/><Relationship Id="rId1" Type="http://schemas.openxmlformats.org/officeDocument/2006/relationships/tags" Target="../tags/tag433.xml"/><Relationship Id="rId5" Type="http://schemas.openxmlformats.org/officeDocument/2006/relationships/notesSlide" Target="../notesSlides/notesSlide179.xml"/><Relationship Id="rId4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3" Type="http://schemas.openxmlformats.org/officeDocument/2006/relationships/tags" Target="../tags/tag438.xml"/><Relationship Id="rId7" Type="http://schemas.openxmlformats.org/officeDocument/2006/relationships/oleObject" Target="../embeddings/oleObject1.bin"/><Relationship Id="rId2" Type="http://schemas.openxmlformats.org/officeDocument/2006/relationships/tags" Target="../tags/tag437.xml"/><Relationship Id="rId1" Type="http://schemas.openxmlformats.org/officeDocument/2006/relationships/tags" Target="../tags/tag436.xml"/><Relationship Id="rId6" Type="http://schemas.openxmlformats.org/officeDocument/2006/relationships/notesSlide" Target="../notesSlides/notesSlide18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39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tags" Target="../tags/tag442.xml"/><Relationship Id="rId7" Type="http://schemas.openxmlformats.org/officeDocument/2006/relationships/image" Target="../media/image87.wmf"/><Relationship Id="rId2" Type="http://schemas.openxmlformats.org/officeDocument/2006/relationships/tags" Target="../tags/tag441.xml"/><Relationship Id="rId1" Type="http://schemas.openxmlformats.org/officeDocument/2006/relationships/tags" Target="../tags/tag440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81.xml"/><Relationship Id="rId4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tags" Target="../tags/tag445.xml"/><Relationship Id="rId7" Type="http://schemas.openxmlformats.org/officeDocument/2006/relationships/image" Target="../media/image88.emf"/><Relationship Id="rId2" Type="http://schemas.openxmlformats.org/officeDocument/2006/relationships/tags" Target="../tags/tag444.xml"/><Relationship Id="rId1" Type="http://schemas.openxmlformats.org/officeDocument/2006/relationships/tags" Target="../tags/tag443.xml"/><Relationship Id="rId6" Type="http://schemas.openxmlformats.org/officeDocument/2006/relationships/package" Target="../embeddings/Microsoft_Visio_Drawing414141.vsdx"/><Relationship Id="rId5" Type="http://schemas.openxmlformats.org/officeDocument/2006/relationships/notesSlide" Target="../notesSlides/notesSlide182.xml"/><Relationship Id="rId4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tags" Target="../tags/tag448.xml"/><Relationship Id="rId7" Type="http://schemas.openxmlformats.org/officeDocument/2006/relationships/image" Target="../media/image89.emf"/><Relationship Id="rId2" Type="http://schemas.openxmlformats.org/officeDocument/2006/relationships/tags" Target="../tags/tag447.xml"/><Relationship Id="rId1" Type="http://schemas.openxmlformats.org/officeDocument/2006/relationships/tags" Target="../tags/tag446.xml"/><Relationship Id="rId6" Type="http://schemas.openxmlformats.org/officeDocument/2006/relationships/package" Target="../embeddings/Microsoft_Visio_Drawing424242.vsdx"/><Relationship Id="rId5" Type="http://schemas.openxmlformats.org/officeDocument/2006/relationships/notesSlide" Target="../notesSlides/notesSlide183.xml"/><Relationship Id="rId4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tags" Target="../tags/tag451.xml"/><Relationship Id="rId2" Type="http://schemas.openxmlformats.org/officeDocument/2006/relationships/tags" Target="../tags/tag450.xml"/><Relationship Id="rId1" Type="http://schemas.openxmlformats.org/officeDocument/2006/relationships/tags" Target="../tags/tag449.xml"/><Relationship Id="rId6" Type="http://schemas.openxmlformats.org/officeDocument/2006/relationships/notesSlide" Target="../notesSlides/notesSlide18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tags" Target="../tags/tag455.xml"/><Relationship Id="rId2" Type="http://schemas.openxmlformats.org/officeDocument/2006/relationships/tags" Target="../tags/tag454.xml"/><Relationship Id="rId1" Type="http://schemas.openxmlformats.org/officeDocument/2006/relationships/tags" Target="../tags/tag453.xml"/><Relationship Id="rId6" Type="http://schemas.openxmlformats.org/officeDocument/2006/relationships/notesSlide" Target="../notesSlides/notesSlide18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6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emf"/><Relationship Id="rId3" Type="http://schemas.openxmlformats.org/officeDocument/2006/relationships/tags" Target="../tags/tag459.xml"/><Relationship Id="rId7" Type="http://schemas.openxmlformats.org/officeDocument/2006/relationships/package" Target="../embeddings/Microsoft_Visio_Drawing434343.vsdx"/><Relationship Id="rId2" Type="http://schemas.openxmlformats.org/officeDocument/2006/relationships/tags" Target="../tags/tag458.xml"/><Relationship Id="rId1" Type="http://schemas.openxmlformats.org/officeDocument/2006/relationships/tags" Target="../tags/tag457.xml"/><Relationship Id="rId6" Type="http://schemas.openxmlformats.org/officeDocument/2006/relationships/notesSlide" Target="../notesSlides/notesSlide18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60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1.xml"/><Relationship Id="rId5" Type="http://schemas.openxmlformats.org/officeDocument/2006/relationships/image" Target="../media/image91.emf"/><Relationship Id="rId4" Type="http://schemas.openxmlformats.org/officeDocument/2006/relationships/package" Target="../embeddings/Microsoft_Visio_Drawing444444.vsdx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2.xml"/><Relationship Id="rId5" Type="http://schemas.openxmlformats.org/officeDocument/2006/relationships/image" Target="../media/image92.emf"/><Relationship Id="rId4" Type="http://schemas.openxmlformats.org/officeDocument/2006/relationships/package" Target="../embeddings/Microsoft_Visio_Drawing454545.vsdx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tags" Target="../tags/tag465.xml"/><Relationship Id="rId2" Type="http://schemas.openxmlformats.org/officeDocument/2006/relationships/tags" Target="../tags/tag464.xml"/><Relationship Id="rId1" Type="http://schemas.openxmlformats.org/officeDocument/2006/relationships/tags" Target="../tags/tag463.xml"/><Relationship Id="rId6" Type="http://schemas.openxmlformats.org/officeDocument/2006/relationships/notesSlide" Target="../notesSlides/notesSlide18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66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68.xml"/><Relationship Id="rId1" Type="http://schemas.openxmlformats.org/officeDocument/2006/relationships/tags" Target="../tags/tag467.xml"/><Relationship Id="rId4" Type="http://schemas.openxmlformats.org/officeDocument/2006/relationships/notesSlide" Target="../notesSlides/notesSlide190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70.xml"/><Relationship Id="rId1" Type="http://schemas.openxmlformats.org/officeDocument/2006/relationships/tags" Target="../tags/tag469.xml"/><Relationship Id="rId4" Type="http://schemas.openxmlformats.org/officeDocument/2006/relationships/notesSlide" Target="../notesSlides/notesSlide191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1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73.xml"/><Relationship Id="rId1" Type="http://schemas.openxmlformats.org/officeDocument/2006/relationships/tags" Target="../tags/tag472.xml"/><Relationship Id="rId4" Type="http://schemas.openxmlformats.org/officeDocument/2006/relationships/notesSlide" Target="../notesSlides/notesSlide193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43200"/>
            <a:ext cx="80772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i="1" dirty="0"/>
              <a:t>Digital Design and Computer Architecture</a:t>
            </a:r>
            <a:r>
              <a:rPr lang="en-US" sz="2600" b="1" dirty="0"/>
              <a:t>: ARM® Edition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3226713"/>
            <a:ext cx="8077200" cy="893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91000" y="3226713"/>
            <a:ext cx="4724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Sarah L. Harris and David Money Harris</a:t>
            </a:r>
          </a:p>
        </p:txBody>
      </p:sp>
    </p:spTree>
    <p:extLst>
      <p:ext uri="{BB962C8B-B14F-4D97-AF65-F5344CB8AC3E}">
        <p14:creationId xmlns:p14="http://schemas.microsoft.com/office/powerpoint/2010/main" val="534681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7 :: Topics</a:t>
            </a:r>
          </a:p>
        </p:txBody>
      </p:sp>
      <p:sp>
        <p:nvSpPr>
          <p:cNvPr id="7" name="Rectangle 3"/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685800" y="1219200"/>
            <a:ext cx="673898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Introduction</a:t>
            </a:r>
            <a:endParaRPr lang="en-US" dirty="0"/>
          </a:p>
          <a:p>
            <a:r>
              <a:rPr lang="en-US" b="1" dirty="0"/>
              <a:t>Performance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Single-Cycle Processor</a:t>
            </a:r>
          </a:p>
          <a:p>
            <a:r>
              <a:rPr lang="en-US" b="1" dirty="0" err="1">
                <a:solidFill>
                  <a:schemeClr val="bg1">
                    <a:lumMod val="65000"/>
                  </a:schemeClr>
                </a:solidFill>
              </a:rPr>
              <a:t>Multicycle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 Processor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Pipelined Processor</a:t>
            </a:r>
          </a:p>
          <a:p>
            <a:r>
              <a:rPr lang="en-US" b="1" dirty="0"/>
              <a:t>Advanced Microarchitecture</a:t>
            </a:r>
            <a:endParaRPr lang="en-US" dirty="0"/>
          </a:p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102387"/>
            <a:ext cx="1719062" cy="4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52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3BC5DB-4EA5-026C-B44D-39666FE86BF2}"/>
              </a:ext>
            </a:extLst>
          </p:cNvPr>
          <p:cNvGrpSpPr/>
          <p:nvPr/>
        </p:nvGrpSpPr>
        <p:grpSpPr>
          <a:xfrm>
            <a:off x="1219200" y="1143000"/>
            <a:ext cx="6219687" cy="3657600"/>
            <a:chOff x="1219200" y="1143000"/>
            <a:chExt cx="6219687" cy="3657600"/>
          </a:xfrm>
        </p:grpSpPr>
        <p:pic>
          <p:nvPicPr>
            <p:cNvPr id="3" name="Picture 2" descr="Diagram&#10;&#10;Description automatically generated">
              <a:extLst>
                <a:ext uri="{FF2B5EF4-FFF2-40B4-BE49-F238E27FC236}">
                  <a16:creationId xmlns:a16="http://schemas.microsoft.com/office/drawing/2014/main" id="{364B5AEB-A775-CCCD-6E6A-7393895CA5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0" y="1447800"/>
              <a:ext cx="6219687" cy="3352800"/>
            </a:xfrm>
            <a:prstGeom prst="rect">
              <a:avLst/>
            </a:prstGeom>
          </p:spPr>
        </p:pic>
        <p:sp>
          <p:nvSpPr>
            <p:cNvPr id="8" name="Rectangle 6">
              <a:extLst>
                <a:ext uri="{FF2B5EF4-FFF2-40B4-BE49-F238E27FC236}">
                  <a16:creationId xmlns:a16="http://schemas.microsoft.com/office/drawing/2014/main" id="{F17E3D37-A28E-884B-2977-2F75EF3E2DBD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>
              <a:off x="3733800" y="1143000"/>
              <a:ext cx="3352800" cy="990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342900" indent="-342900" algn="ctr">
                <a:lnSpc>
                  <a:spcPct val="90000"/>
                </a:lnSpc>
                <a:spcBef>
                  <a:spcPct val="20000"/>
                </a:spcBef>
              </a:pPr>
              <a:r>
                <a:rPr lang="en-US" dirty="0">
                  <a:latin typeface="Courier New" pitchFamily="49" charset="0"/>
                  <a:cs typeface="Arial" charset="0"/>
                </a:rPr>
                <a:t>if (</a:t>
              </a:r>
              <a:r>
                <a:rPr lang="en-US" dirty="0" err="1">
                  <a:latin typeface="Courier New" pitchFamily="49" charset="0"/>
                  <a:cs typeface="Arial" charset="0"/>
                </a:rPr>
                <a:t>i</a:t>
              </a:r>
              <a:r>
                <a:rPr lang="en-US" dirty="0">
                  <a:latin typeface="Courier New" pitchFamily="49" charset="0"/>
                  <a:cs typeface="Arial" charset="0"/>
                </a:rPr>
                <a:t> == j)</a:t>
              </a:r>
            </a:p>
            <a:p>
              <a:pPr marL="342900" indent="-342900" algn="ctr">
                <a:lnSpc>
                  <a:spcPct val="90000"/>
                </a:lnSpc>
                <a:spcBef>
                  <a:spcPct val="20000"/>
                </a:spcBef>
              </a:pPr>
              <a:r>
                <a:rPr lang="en-US" dirty="0">
                  <a:latin typeface="Courier New" pitchFamily="49" charset="0"/>
                  <a:cs typeface="Arial" charset="0"/>
                </a:rPr>
                <a:t>  f = g + h;</a:t>
              </a:r>
            </a:p>
            <a:p>
              <a:pPr marL="342900" indent="-342900" algn="ctr">
                <a:lnSpc>
                  <a:spcPct val="90000"/>
                </a:lnSpc>
                <a:spcBef>
                  <a:spcPct val="20000"/>
                </a:spcBef>
              </a:pPr>
              <a:r>
                <a:rPr lang="en-US" dirty="0">
                  <a:latin typeface="Courier New" pitchFamily="49" charset="0"/>
                  <a:cs typeface="Arial" charset="0"/>
                </a:rPr>
                <a:t>f = f – </a:t>
              </a:r>
              <a:r>
                <a:rPr lang="en-US" dirty="0" err="1">
                  <a:latin typeface="Courier New" pitchFamily="49" charset="0"/>
                  <a:cs typeface="Arial" charset="0"/>
                </a:rPr>
                <a:t>i</a:t>
              </a:r>
              <a:r>
                <a:rPr lang="en-US" dirty="0">
                  <a:latin typeface="Courier New" pitchFamily="49" charset="0"/>
                  <a:cs typeface="Arial" charset="0"/>
                </a:rPr>
                <a:t>;</a:t>
              </a:r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05FFC3FF-B343-B1E0-E2EB-A4FB64FA4648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4314687" y="2496910"/>
              <a:ext cx="3124200" cy="9320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342900" indent="-342900">
                <a:lnSpc>
                  <a:spcPct val="90000"/>
                </a:lnSpc>
                <a:spcBef>
                  <a:spcPct val="20000"/>
                </a:spcBef>
              </a:pPr>
              <a:r>
                <a:rPr lang="en-US" sz="1800" dirty="0">
                  <a:latin typeface="Courier New" pitchFamily="49" charset="0"/>
                  <a:cs typeface="Arial" charset="0"/>
                </a:rPr>
                <a:t> CMP   R3, R4</a:t>
              </a:r>
            </a:p>
            <a:p>
              <a:pPr marL="342900" indent="-342900">
                <a:lnSpc>
                  <a:spcPct val="90000"/>
                </a:lnSpc>
                <a:spcBef>
                  <a:spcPct val="20000"/>
                </a:spcBef>
              </a:pPr>
              <a:r>
                <a:rPr lang="en-US" sz="1800" dirty="0">
                  <a:latin typeface="Courier New" pitchFamily="49" charset="0"/>
                  <a:cs typeface="Arial" charset="0"/>
                </a:rPr>
                <a:t> ADDEQ R0, R1, R2</a:t>
              </a:r>
            </a:p>
            <a:p>
              <a:pPr marL="342900" indent="-342900">
                <a:lnSpc>
                  <a:spcPct val="90000"/>
                </a:lnSpc>
                <a:spcBef>
                  <a:spcPct val="20000"/>
                </a:spcBef>
              </a:pPr>
              <a:r>
                <a:rPr lang="en-US" sz="1800" dirty="0">
                  <a:latin typeface="Courier New" pitchFamily="49" charset="0"/>
                  <a:cs typeface="Arial" charset="0"/>
                </a:rPr>
                <a:t> SUB   R0, R0, R2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81486DB-F5BE-A86B-8836-91120DD072C8}"/>
                </a:ext>
              </a:extLst>
            </p:cNvPr>
            <p:cNvSpPr/>
            <p:nvPr/>
          </p:nvSpPr>
          <p:spPr>
            <a:xfrm>
              <a:off x="5943600" y="2025082"/>
              <a:ext cx="1371600" cy="4133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8B33CE1-9EBD-1C56-CE00-55EBDCEE7655}"/>
                </a:ext>
              </a:extLst>
            </p:cNvPr>
            <p:cNvSpPr/>
            <p:nvPr/>
          </p:nvSpPr>
          <p:spPr>
            <a:xfrm>
              <a:off x="5610363" y="3426617"/>
              <a:ext cx="1723887" cy="4133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ARM Assembler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CA6577-E6CA-4D2D-F28B-8F14FB58349C}"/>
              </a:ext>
            </a:extLst>
          </p:cNvPr>
          <p:cNvSpPr txBox="1"/>
          <p:nvPr/>
        </p:nvSpPr>
        <p:spPr>
          <a:xfrm>
            <a:off x="1219200" y="505471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7B3AD2-0F0D-C4BD-2C1B-8C974047A781}"/>
              </a:ext>
            </a:extLst>
          </p:cNvPr>
          <p:cNvSpPr txBox="1"/>
          <p:nvPr/>
        </p:nvSpPr>
        <p:spPr>
          <a:xfrm>
            <a:off x="1514476" y="5007091"/>
            <a:ext cx="7619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32-bit </a:t>
            </a:r>
            <a:r>
              <a:rPr lang="en-US" dirty="0" err="1"/>
              <a:t>với</a:t>
            </a:r>
            <a:r>
              <a:rPr lang="en-US" dirty="0"/>
              <a:t> opcode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hạng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6)</a:t>
            </a:r>
          </a:p>
        </p:txBody>
      </p:sp>
    </p:spTree>
    <p:extLst>
      <p:ext uri="{BB962C8B-B14F-4D97-AF65-F5344CB8AC3E}">
        <p14:creationId xmlns:p14="http://schemas.microsoft.com/office/powerpoint/2010/main" val="1211584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94FE257D-B200-FAA3-5DD8-AD01460501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962" y="1828800"/>
            <a:ext cx="6696075" cy="39909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514A9E-48A8-C37F-F057-E527E2AD6963}"/>
              </a:ext>
            </a:extLst>
          </p:cNvPr>
          <p:cNvSpPr txBox="1"/>
          <p:nvPr/>
        </p:nvSpPr>
        <p:spPr>
          <a:xfrm>
            <a:off x="2209800" y="1148834"/>
            <a:ext cx="4569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chu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– Chu </a:t>
            </a:r>
            <a:r>
              <a:rPr lang="en-US" dirty="0" err="1"/>
              <a:t>kỳ</a:t>
            </a:r>
            <a:r>
              <a:rPr lang="en-US" dirty="0"/>
              <a:t> </a:t>
            </a:r>
            <a:r>
              <a:rPr lang="en-US" dirty="0" err="1"/>
              <a:t>lệnh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0A0C7B-3635-8F64-C288-9964A2BEDF3D}"/>
              </a:ext>
            </a:extLst>
          </p:cNvPr>
          <p:cNvSpPr/>
          <p:nvPr/>
        </p:nvSpPr>
        <p:spPr>
          <a:xfrm>
            <a:off x="1066800" y="1828800"/>
            <a:ext cx="3581400" cy="3352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1301009-CDCB-EAC8-3F85-478791F45834}"/>
              </a:ext>
            </a:extLst>
          </p:cNvPr>
          <p:cNvSpPr/>
          <p:nvPr/>
        </p:nvSpPr>
        <p:spPr>
          <a:xfrm>
            <a:off x="4953000" y="4681234"/>
            <a:ext cx="1236518" cy="115759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3E15B5-0284-962C-F1D7-26F96CED3AB5}"/>
              </a:ext>
            </a:extLst>
          </p:cNvPr>
          <p:cNvSpPr txBox="1"/>
          <p:nvPr/>
        </p:nvSpPr>
        <p:spPr>
          <a:xfrm>
            <a:off x="88107" y="2057400"/>
            <a:ext cx="97869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khối</a:t>
            </a:r>
            <a:r>
              <a:rPr lang="en-US" dirty="0"/>
              <a:t> ALU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lệnh</a:t>
            </a:r>
            <a:r>
              <a:rPr lang="en-US" dirty="0"/>
              <a:t> ta </a:t>
            </a:r>
            <a:r>
              <a:rPr lang="en-US" dirty="0" err="1"/>
              <a:t>mong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5E42C8-20FB-5FD6-BE0F-939C27F7FA81}"/>
              </a:ext>
            </a:extLst>
          </p:cNvPr>
          <p:cNvSpPr txBox="1"/>
          <p:nvPr/>
        </p:nvSpPr>
        <p:spPr>
          <a:xfrm>
            <a:off x="6189518" y="5279079"/>
            <a:ext cx="28074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cần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có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bộ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điều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khiển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,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giải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mã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,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thiết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lập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thông</a:t>
            </a:r>
            <a:r>
              <a:rPr lang="en-US" sz="1400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US" sz="1400" dirty="0" err="1">
                <a:solidFill>
                  <a:srgbClr val="FF0000"/>
                </a:solidFill>
                <a:sym typeface="Wingdings" panose="05000000000000000000" pitchFamily="2" charset="2"/>
              </a:rPr>
              <a:t>số</a:t>
            </a:r>
            <a:endParaRPr 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5986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55E04B-04F8-53F9-2F32-295E0D27069C}"/>
              </a:ext>
            </a:extLst>
          </p:cNvPr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02789-F5B1-30F1-B69E-35FC3CACD1BB}"/>
              </a:ext>
            </a:extLst>
          </p:cNvPr>
          <p:cNvSpPr txBox="1"/>
          <p:nvPr/>
        </p:nvSpPr>
        <p:spPr>
          <a:xfrm>
            <a:off x="485775" y="1219200"/>
            <a:ext cx="789622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Trong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chương</a:t>
            </a:r>
            <a:r>
              <a:rPr lang="en-US" sz="2400" dirty="0"/>
              <a:t> </a:t>
            </a:r>
            <a:r>
              <a:rPr lang="en-US" sz="2400" dirty="0" err="1"/>
              <a:t>trước</a:t>
            </a:r>
            <a:r>
              <a:rPr lang="en-US" sz="2400" dirty="0"/>
              <a:t>, ta </a:t>
            </a:r>
            <a:r>
              <a:rPr lang="en-US" sz="2400" dirty="0" err="1"/>
              <a:t>đã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hiểu</a:t>
            </a:r>
            <a:r>
              <a:rPr lang="en-US" sz="2400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linh</a:t>
            </a:r>
            <a:r>
              <a:rPr lang="en-US" sz="2400" dirty="0"/>
              <a:t> </a:t>
            </a:r>
            <a:r>
              <a:rPr lang="en-US" sz="2400" dirty="0" err="1"/>
              <a:t>kiện</a:t>
            </a:r>
            <a:r>
              <a:rPr lang="en-US" sz="2400" dirty="0"/>
              <a:t> logic, </a:t>
            </a:r>
            <a:r>
              <a:rPr lang="en-US" sz="2400" dirty="0" err="1"/>
              <a:t>khối</a:t>
            </a:r>
            <a:r>
              <a:rPr lang="en-US" sz="2400" dirty="0"/>
              <a:t> logic</a:t>
            </a:r>
          </a:p>
          <a:p>
            <a:pPr marL="285750" indent="-285750">
              <a:buFontTx/>
              <a:buChar char="-"/>
            </a:pPr>
            <a:r>
              <a:rPr lang="en-US" sz="2400" dirty="0" err="1"/>
              <a:t>Cách</a:t>
            </a:r>
            <a:r>
              <a:rPr lang="en-US" sz="2400" dirty="0"/>
              <a:t> </a:t>
            </a:r>
            <a:r>
              <a:rPr lang="en-US" sz="2400" dirty="0" err="1"/>
              <a:t>thiết</a:t>
            </a:r>
            <a:r>
              <a:rPr lang="en-US" sz="2400" dirty="0"/>
              <a:t>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linh</a:t>
            </a:r>
            <a:r>
              <a:rPr lang="en-US" sz="2400" dirty="0"/>
              <a:t> </a:t>
            </a:r>
            <a:r>
              <a:rPr lang="en-US" sz="2400" dirty="0" err="1"/>
              <a:t>kiện</a:t>
            </a:r>
            <a:r>
              <a:rPr lang="en-US" sz="2400" dirty="0"/>
              <a:t>, </a:t>
            </a:r>
            <a:r>
              <a:rPr lang="en-US" sz="2400" dirty="0" err="1"/>
              <a:t>khối</a:t>
            </a:r>
            <a:r>
              <a:rPr lang="en-US" sz="2400" dirty="0"/>
              <a:t> logic</a:t>
            </a:r>
          </a:p>
          <a:p>
            <a:pPr marL="285750" indent="-285750">
              <a:buFontTx/>
              <a:buChar char="-"/>
            </a:pPr>
            <a:r>
              <a:rPr lang="en-US" sz="2400" dirty="0" err="1"/>
              <a:t>Máy</a:t>
            </a:r>
            <a:r>
              <a:rPr lang="en-US" sz="2400" dirty="0"/>
              <a:t> </a:t>
            </a: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endParaRPr lang="en-US" sz="2400" dirty="0"/>
          </a:p>
          <a:p>
            <a:pPr marL="285750" indent="-285750">
              <a:buFontTx/>
              <a:buChar char="-"/>
            </a:pP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câu</a:t>
            </a:r>
            <a:r>
              <a:rPr lang="en-US" sz="2400" dirty="0"/>
              <a:t> </a:t>
            </a:r>
            <a:r>
              <a:rPr lang="en-US" sz="2400" dirty="0" err="1"/>
              <a:t>lệnh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bản</a:t>
            </a:r>
            <a:r>
              <a:rPr lang="en-US" sz="2400" dirty="0"/>
              <a:t> </a:t>
            </a:r>
            <a:r>
              <a:rPr lang="en-US" sz="2400" dirty="0" err="1"/>
              <a:t>trong</a:t>
            </a:r>
            <a:r>
              <a:rPr lang="en-US" sz="2400" dirty="0"/>
              <a:t> ARM Assembly</a:t>
            </a:r>
          </a:p>
          <a:p>
            <a:pPr marL="285750" indent="-285750">
              <a:buFontTx/>
              <a:buChar char="-"/>
            </a:pPr>
            <a:endParaRPr lang="en-US" sz="2400" dirty="0"/>
          </a:p>
          <a:p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 err="1">
                <a:sym typeface="Wingdings" panose="05000000000000000000" pitchFamily="2" charset="2"/>
              </a:rPr>
              <a:t>Vậy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thì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thiết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kế</a:t>
            </a:r>
            <a:r>
              <a:rPr lang="en-US" sz="2400" dirty="0">
                <a:sym typeface="Wingdings" panose="05000000000000000000" pitchFamily="2" charset="2"/>
              </a:rPr>
              <a:t> chip </a:t>
            </a:r>
            <a:r>
              <a:rPr lang="en-US" sz="2400" dirty="0" err="1">
                <a:sym typeface="Wingdings" panose="05000000000000000000" pitchFamily="2" charset="2"/>
              </a:rPr>
              <a:t>như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thế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nào</a:t>
            </a:r>
            <a:r>
              <a:rPr lang="en-US" sz="2400" dirty="0">
                <a:sym typeface="Wingdings" panose="05000000000000000000" pitchFamily="2" charset="2"/>
              </a:rPr>
              <a:t>? </a:t>
            </a:r>
            <a:r>
              <a:rPr lang="en-US" sz="2400" dirty="0" err="1">
                <a:sym typeface="Wingdings" panose="05000000000000000000" pitchFamily="2" charset="2"/>
              </a:rPr>
              <a:t>Làm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sao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để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chuyển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được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từ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tập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lệnh</a:t>
            </a:r>
            <a:r>
              <a:rPr lang="en-US" sz="2400" dirty="0">
                <a:sym typeface="Wingdings" panose="05000000000000000000" pitchFamily="2" charset="2"/>
              </a:rPr>
              <a:t> sang </a:t>
            </a:r>
            <a:r>
              <a:rPr lang="en-US" sz="2400" dirty="0" err="1">
                <a:sym typeface="Wingdings" panose="05000000000000000000" pitchFamily="2" charset="2"/>
              </a:rPr>
              <a:t>thành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thiết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kế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phần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cứng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của</a:t>
            </a:r>
            <a:r>
              <a:rPr lang="en-US" sz="2400" dirty="0">
                <a:sym typeface="Wingdings" panose="05000000000000000000" pitchFamily="2" charset="2"/>
              </a:rPr>
              <a:t> chip?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931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63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09600" y="1219200"/>
            <a:ext cx="5181600" cy="49530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b="1" dirty="0"/>
              <a:t>Microarchitecture: </a:t>
            </a:r>
            <a:r>
              <a:rPr lang="en-US" sz="2800" dirty="0"/>
              <a:t>how to implement an architecture in hardware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the connection between logic and architecture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Arrangement of registers, ALUs, FSMs, memories, logic blocks…</a:t>
            </a:r>
          </a:p>
          <a:p>
            <a:pPr>
              <a:lnSpc>
                <a:spcPct val="90000"/>
              </a:lnSpc>
            </a:pPr>
            <a:r>
              <a:rPr lang="en-US" sz="2800" dirty="0"/>
              <a:t>Processor:</a:t>
            </a:r>
          </a:p>
          <a:p>
            <a:pPr lvl="1">
              <a:lnSpc>
                <a:spcPct val="90000"/>
              </a:lnSpc>
            </a:pPr>
            <a:r>
              <a:rPr lang="en-US" sz="2400" b="1" dirty="0" err="1">
                <a:solidFill>
                  <a:srgbClr val="0070C0"/>
                </a:solidFill>
              </a:rPr>
              <a:t>Datapath</a:t>
            </a:r>
            <a:r>
              <a:rPr lang="en-US" sz="2400" b="1" dirty="0">
                <a:solidFill>
                  <a:srgbClr val="0070C0"/>
                </a:solidFill>
              </a:rPr>
              <a:t>: </a:t>
            </a:r>
            <a:r>
              <a:rPr lang="en-US" sz="2400" dirty="0"/>
              <a:t>functional blocks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Control: </a:t>
            </a:r>
            <a:r>
              <a:rPr lang="en-US" sz="2400" dirty="0"/>
              <a:t>control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Introduction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102387"/>
            <a:ext cx="1719062" cy="4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569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411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28247" y="952500"/>
            <a:ext cx="3476953" cy="49530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dirty="0"/>
              <a:t>Multiple implementations for a single architecture:</a:t>
            </a:r>
          </a:p>
          <a:p>
            <a:pPr lvl="1">
              <a:lnSpc>
                <a:spcPct val="90000"/>
              </a:lnSpc>
            </a:pPr>
            <a:r>
              <a:rPr lang="en-US" sz="2000" b="1" dirty="0">
                <a:solidFill>
                  <a:srgbClr val="0070C0"/>
                </a:solidFill>
              </a:rPr>
              <a:t>Single-cycle:</a:t>
            </a:r>
            <a:r>
              <a:rPr lang="en-US" sz="2000" dirty="0"/>
              <a:t> Each instruction executes in a single cycle</a:t>
            </a:r>
          </a:p>
          <a:p>
            <a:pPr lvl="1">
              <a:lnSpc>
                <a:spcPct val="90000"/>
              </a:lnSpc>
            </a:pPr>
            <a:r>
              <a:rPr lang="en-US" sz="2000" b="1" dirty="0" err="1">
                <a:solidFill>
                  <a:srgbClr val="0070C0"/>
                </a:solidFill>
              </a:rPr>
              <a:t>Multicycle</a:t>
            </a:r>
            <a:r>
              <a:rPr lang="en-US" sz="2000" b="1" dirty="0">
                <a:solidFill>
                  <a:srgbClr val="0070C0"/>
                </a:solidFill>
              </a:rPr>
              <a:t>:</a:t>
            </a:r>
            <a:r>
              <a:rPr lang="en-US" sz="2000" dirty="0"/>
              <a:t> Each instruction is broken up into series of shorter steps</a:t>
            </a:r>
          </a:p>
          <a:p>
            <a:pPr lvl="1">
              <a:lnSpc>
                <a:spcPct val="90000"/>
              </a:lnSpc>
            </a:pPr>
            <a:r>
              <a:rPr lang="en-US" sz="2000" b="1" dirty="0">
                <a:solidFill>
                  <a:srgbClr val="0070C0"/>
                </a:solidFill>
              </a:rPr>
              <a:t>Pipelined:</a:t>
            </a:r>
            <a:r>
              <a:rPr lang="en-US" sz="2000" dirty="0"/>
              <a:t> Each instruction broken up into series of steps &amp; multiple instructions execute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Microarchitecture</a:t>
            </a:r>
          </a:p>
        </p:txBody>
      </p:sp>
      <p:pic>
        <p:nvPicPr>
          <p:cNvPr id="3" name="Picture 2" descr="Diagram, table&#10;&#10;Description automatically generated with medium confidence">
            <a:extLst>
              <a:ext uri="{FF2B5EF4-FFF2-40B4-BE49-F238E27FC236}">
                <a16:creationId xmlns:a16="http://schemas.microsoft.com/office/drawing/2014/main" id="{CB40FF80-6645-6537-5E13-573160984D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950" y="1600200"/>
            <a:ext cx="5639803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971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8229600" cy="49530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3500" b="1" dirty="0"/>
              <a:t>Program execution time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400" b="1" dirty="0">
                <a:solidFill>
                  <a:srgbClr val="0070C0"/>
                </a:solidFill>
              </a:rPr>
              <a:t>Execution Time = (#instructions)(cycles/instruction)(seconds/cycle</a:t>
            </a:r>
            <a:r>
              <a:rPr lang="en-US" sz="2400" b="1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400" b="1" dirty="0">
              <a:solidFill>
                <a:schemeClr val="accent2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3500" b="1" dirty="0"/>
              <a:t>Definitions: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CPI: Cycles/instruction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clock period: seconds/cycle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IPC: instructions/cycle = IPC</a:t>
            </a:r>
          </a:p>
          <a:p>
            <a:pPr>
              <a:lnSpc>
                <a:spcPct val="90000"/>
              </a:lnSpc>
            </a:pPr>
            <a:r>
              <a:rPr lang="en-US" sz="3500" b="1" dirty="0"/>
              <a:t>Challenge is to satisfy constraints of: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Cost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Power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Performance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0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644406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43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219200"/>
            <a:ext cx="7696200" cy="49530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b="1" dirty="0"/>
              <a:t>The CPU is like a huge FSM!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à"/>
            </a:pPr>
            <a:r>
              <a:rPr lang="en-US" b="1" dirty="0">
                <a:sym typeface="Wingdings" panose="05000000000000000000" pitchFamily="2" charset="2"/>
              </a:rPr>
              <a:t>How to store the states?</a:t>
            </a:r>
          </a:p>
          <a:p>
            <a:pPr marL="0" indent="0">
              <a:lnSpc>
                <a:spcPct val="90000"/>
              </a:lnSpc>
              <a:buNone/>
            </a:pPr>
            <a:endParaRPr lang="en-US" b="1" dirty="0"/>
          </a:p>
          <a:p>
            <a:pPr marL="0" indent="0">
              <a:lnSpc>
                <a:spcPct val="90000"/>
              </a:lnSpc>
              <a:buNone/>
            </a:pPr>
            <a:r>
              <a:rPr lang="en-US" b="1" dirty="0"/>
              <a:t>Determines everything about a processor: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Architectural state: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16 registers (including PC)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Status register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Memory</a:t>
            </a:r>
          </a:p>
          <a:p>
            <a:pPr lvl="1">
              <a:lnSpc>
                <a:spcPct val="90000"/>
              </a:lnSpc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Architectural State Elements</a:t>
            </a:r>
          </a:p>
        </p:txBody>
      </p:sp>
    </p:spTree>
    <p:extLst>
      <p:ext uri="{BB962C8B-B14F-4D97-AF65-F5344CB8AC3E}">
        <p14:creationId xmlns:p14="http://schemas.microsoft.com/office/powerpoint/2010/main" val="1981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0569216"/>
              </p:ext>
            </p:extLst>
          </p:nvPr>
        </p:nvGraphicFramePr>
        <p:xfrm>
          <a:off x="1676400" y="1524000"/>
          <a:ext cx="6324600" cy="28372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3057441" imgH="1371600" progId="Visio.Drawing.15">
                  <p:embed/>
                </p:oleObj>
              </mc:Choice>
              <mc:Fallback>
                <p:oleObj name="Visio" r:id="rId3" imgW="3057441" imgH="1371600" progId="Visio.Drawing.15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76400" y="1524000"/>
                        <a:ext cx="6324600" cy="283720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Architectural State Elements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0CFC1A-601C-1CF6-54FE-1C3CFB527900}"/>
              </a:ext>
            </a:extLst>
          </p:cNvPr>
          <p:cNvSpPr txBox="1"/>
          <p:nvPr/>
        </p:nvSpPr>
        <p:spPr>
          <a:xfrm>
            <a:off x="4457700" y="4724400"/>
            <a:ext cx="36195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1D40EF"/>
                </a:solidFill>
                <a:effectLst/>
                <a:latin typeface="AdvOTbc475f09"/>
              </a:rPr>
              <a:t>A read of R15</a:t>
            </a:r>
            <a:br>
              <a:rPr lang="en-US" sz="1400" b="0" i="0" dirty="0">
                <a:solidFill>
                  <a:srgbClr val="1D40EF"/>
                </a:solidFill>
                <a:effectLst/>
                <a:latin typeface="AdvOTbc475f09"/>
              </a:rPr>
            </a:br>
            <a:r>
              <a:rPr lang="en-US" sz="1400" b="0" i="0" dirty="0">
                <a:solidFill>
                  <a:srgbClr val="1D40EF"/>
                </a:solidFill>
                <a:effectLst/>
                <a:latin typeface="AdvOTbc475f09"/>
              </a:rPr>
              <a:t>returns the value from the PC + 8, and writes to R15 must be specially</a:t>
            </a:r>
            <a:br>
              <a:rPr lang="en-US" sz="1400" b="0" i="0" dirty="0">
                <a:solidFill>
                  <a:srgbClr val="1D40EF"/>
                </a:solidFill>
                <a:effectLst/>
                <a:latin typeface="AdvOTbc475f09"/>
              </a:rPr>
            </a:br>
            <a:r>
              <a:rPr lang="en-US" sz="1400" b="0" i="0" dirty="0">
                <a:solidFill>
                  <a:srgbClr val="1D40EF"/>
                </a:solidFill>
                <a:effectLst/>
                <a:latin typeface="AdvOTbc475f09"/>
              </a:rPr>
              <a:t>handled to update the PC because it is separate from the register file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br>
              <a:rPr lang="en-US" sz="1400" dirty="0">
                <a:solidFill>
                  <a:srgbClr val="1D40EF"/>
                </a:solidFill>
              </a:rPr>
            </a:br>
            <a:endParaRPr lang="en-US" sz="1400" dirty="0">
              <a:solidFill>
                <a:srgbClr val="1D40E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702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38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Consider </a:t>
            </a:r>
            <a:r>
              <a:rPr lang="en-US" b="1" dirty="0">
                <a:solidFill>
                  <a:srgbClr val="0070C0"/>
                </a:solidFill>
              </a:rPr>
              <a:t>subset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ARM instructions:</a:t>
            </a:r>
          </a:p>
          <a:p>
            <a:pPr lvl="1">
              <a:lnSpc>
                <a:spcPct val="90000"/>
              </a:lnSpc>
            </a:pPr>
            <a:r>
              <a:rPr lang="en-US" sz="2600" b="1" dirty="0"/>
              <a:t>Data-processing instructions: </a:t>
            </a:r>
          </a:p>
          <a:p>
            <a:pPr lvl="2">
              <a:lnSpc>
                <a:spcPct val="90000"/>
              </a:lnSpc>
            </a:pP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ADD</a:t>
            </a:r>
            <a:r>
              <a:rPr lang="en-US" sz="2200" b="1" dirty="0">
                <a:solidFill>
                  <a:srgbClr val="0070C0"/>
                </a:solidFill>
              </a:rPr>
              <a:t>, </a:t>
            </a: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SUB</a:t>
            </a:r>
            <a:r>
              <a:rPr lang="en-US" sz="2200" b="1" dirty="0">
                <a:solidFill>
                  <a:srgbClr val="0070C0"/>
                </a:solidFill>
              </a:rPr>
              <a:t>, </a:t>
            </a: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AND</a:t>
            </a:r>
            <a:r>
              <a:rPr lang="en-US" sz="2200" b="1" dirty="0">
                <a:solidFill>
                  <a:srgbClr val="0070C0"/>
                </a:solidFill>
              </a:rPr>
              <a:t>, </a:t>
            </a: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ORR</a:t>
            </a:r>
          </a:p>
          <a:p>
            <a:pPr lvl="2">
              <a:lnSpc>
                <a:spcPct val="90000"/>
              </a:lnSpc>
            </a:pPr>
            <a:r>
              <a:rPr lang="en-US" sz="2000" dirty="0"/>
              <a:t>with register and immediate Src2, but </a:t>
            </a:r>
            <a:r>
              <a:rPr lang="en-US" sz="2000" b="1" dirty="0"/>
              <a:t>no shifts</a:t>
            </a:r>
            <a:r>
              <a:rPr lang="en-US" sz="2200" b="1" dirty="0">
                <a:latin typeface="Courier New" pitchFamily="49" charset="0"/>
              </a:rPr>
              <a:t> </a:t>
            </a:r>
          </a:p>
          <a:p>
            <a:pPr lvl="1">
              <a:lnSpc>
                <a:spcPct val="90000"/>
              </a:lnSpc>
            </a:pPr>
            <a:r>
              <a:rPr lang="en-US" sz="2600" b="1" dirty="0"/>
              <a:t>Memory instructions: </a:t>
            </a:r>
          </a:p>
          <a:p>
            <a:pPr lvl="2">
              <a:lnSpc>
                <a:spcPct val="90000"/>
              </a:lnSpc>
            </a:pP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LDR</a:t>
            </a:r>
            <a:r>
              <a:rPr lang="en-US" sz="2200" b="1" dirty="0">
                <a:solidFill>
                  <a:srgbClr val="0070C0"/>
                </a:solidFill>
              </a:rPr>
              <a:t>, </a:t>
            </a: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STR</a:t>
            </a:r>
          </a:p>
          <a:p>
            <a:pPr lvl="2">
              <a:lnSpc>
                <a:spcPct val="90000"/>
              </a:lnSpc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with </a:t>
            </a:r>
            <a:r>
              <a:rPr lang="en-US" sz="2200" b="1" dirty="0">
                <a:latin typeface="+mj-lt"/>
                <a:cs typeface="Times New Roman" panose="02020603050405020304" pitchFamily="18" charset="0"/>
              </a:rPr>
              <a:t>positive immediate offset</a:t>
            </a:r>
          </a:p>
          <a:p>
            <a:pPr lvl="1">
              <a:lnSpc>
                <a:spcPct val="90000"/>
              </a:lnSpc>
            </a:pPr>
            <a:r>
              <a:rPr lang="en-US" sz="2600" b="1" dirty="0"/>
              <a:t>Branch instructions: </a:t>
            </a:r>
          </a:p>
          <a:p>
            <a:pPr lvl="2">
              <a:lnSpc>
                <a:spcPct val="90000"/>
              </a:lnSpc>
            </a:pPr>
            <a:r>
              <a:rPr lang="en-US" sz="2200" b="1" dirty="0">
                <a:solidFill>
                  <a:srgbClr val="0070C0"/>
                </a:solidFill>
                <a:latin typeface="Courier New" pitchFamily="49" charset="0"/>
              </a:rPr>
              <a:t>B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>
              <a:latin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ARM Processor</a:t>
            </a:r>
          </a:p>
        </p:txBody>
      </p:sp>
    </p:spTree>
    <p:extLst>
      <p:ext uri="{BB962C8B-B14F-4D97-AF65-F5344CB8AC3E}">
        <p14:creationId xmlns:p14="http://schemas.microsoft.com/office/powerpoint/2010/main" val="1184348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 err="1"/>
              <a:t>Datapath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ARM Processor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03FD635-75E0-EC2F-2E1F-A1B979D51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2286000"/>
            <a:ext cx="5949347" cy="354591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129395-3981-A92E-20AA-E7E4EA552A67}"/>
              </a:ext>
            </a:extLst>
          </p:cNvPr>
          <p:cNvSpPr txBox="1"/>
          <p:nvPr/>
        </p:nvSpPr>
        <p:spPr>
          <a:xfrm>
            <a:off x="5274273" y="5009849"/>
            <a:ext cx="158947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Signals:</a:t>
            </a:r>
          </a:p>
          <a:p>
            <a:r>
              <a:rPr lang="en-US" sz="1400" dirty="0"/>
              <a:t>- Multiplexer select</a:t>
            </a:r>
          </a:p>
          <a:p>
            <a:r>
              <a:rPr lang="en-US" sz="1400" dirty="0"/>
              <a:t>- Register enable</a:t>
            </a:r>
          </a:p>
          <a:p>
            <a:r>
              <a:rPr lang="en-US" sz="1400" dirty="0"/>
              <a:t>- Memory write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243255-D48A-8AB4-DD34-B48CB99D6834}"/>
              </a:ext>
            </a:extLst>
          </p:cNvPr>
          <p:cNvSpPr/>
          <p:nvPr/>
        </p:nvSpPr>
        <p:spPr>
          <a:xfrm>
            <a:off x="762001" y="2279088"/>
            <a:ext cx="3276600" cy="305491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B31EF1-D128-4BAC-5973-6695EABB4067}"/>
              </a:ext>
            </a:extLst>
          </p:cNvPr>
          <p:cNvSpPr/>
          <p:nvPr/>
        </p:nvSpPr>
        <p:spPr>
          <a:xfrm>
            <a:off x="4326084" y="4877805"/>
            <a:ext cx="1007916" cy="9895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413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b="1" dirty="0" err="1"/>
              <a:t>Datapath</a:t>
            </a:r>
            <a:endParaRPr lang="en-US" b="1" dirty="0"/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ARM Processor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1B817-9190-2766-A843-AD045CC539BF}"/>
              </a:ext>
            </a:extLst>
          </p:cNvPr>
          <p:cNvSpPr txBox="1"/>
          <p:nvPr/>
        </p:nvSpPr>
        <p:spPr>
          <a:xfrm>
            <a:off x="4557714" y="1736883"/>
            <a:ext cx="45862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We begin constructing the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datapath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by connecting the state elements from</a:t>
            </a:r>
            <a:b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</a:br>
            <a:r>
              <a:rPr lang="en-US" sz="1800" b="0" i="0" dirty="0">
                <a:solidFill>
                  <a:srgbClr val="0080AC"/>
                </a:solidFill>
                <a:effectLst/>
                <a:latin typeface="AdvOTbc475f09"/>
              </a:rPr>
              <a:t>Figure 7.1 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with combinational logic that can execute the various instructions.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1E4ADC45-0CB1-9B9B-0299-52BF707CD72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913229"/>
              </p:ext>
            </p:extLst>
          </p:nvPr>
        </p:nvGraphicFramePr>
        <p:xfrm>
          <a:off x="3758774" y="3214211"/>
          <a:ext cx="5232826" cy="23474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3057441" imgH="1371600" progId="Visio.Drawing.15">
                  <p:embed/>
                </p:oleObj>
              </mc:Choice>
              <mc:Fallback>
                <p:oleObj name="Visio" r:id="rId4" imgW="3057441" imgH="1371600" progId="Visio.Drawing.15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58774" y="3214211"/>
                        <a:ext cx="5232826" cy="23474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F1402A5-B9F5-F839-73EC-AA2DD48E4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588" y="3619500"/>
            <a:ext cx="3535186" cy="190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422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6EFD49-F262-9E81-AD9D-E09A345E28D1}"/>
              </a:ext>
            </a:extLst>
          </p:cNvPr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Datapath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53C365-180C-721B-D3B7-A1E7BF49F98A}"/>
              </a:ext>
            </a:extLst>
          </p:cNvPr>
          <p:cNvSpPr txBox="1"/>
          <p:nvPr/>
        </p:nvSpPr>
        <p:spPr>
          <a:xfrm>
            <a:off x="914400" y="28194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+mj-lt"/>
              </a:rPr>
              <a:t>Memory Instructions: LDR, STR</a:t>
            </a:r>
          </a:p>
        </p:txBody>
      </p:sp>
    </p:spTree>
    <p:extLst>
      <p:ext uri="{BB962C8B-B14F-4D97-AF65-F5344CB8AC3E}">
        <p14:creationId xmlns:p14="http://schemas.microsoft.com/office/powerpoint/2010/main" val="2715188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9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b="1" dirty="0" err="1"/>
              <a:t>Datapath</a:t>
            </a:r>
            <a:r>
              <a:rPr lang="en-US" b="1" dirty="0"/>
              <a:t>: </a:t>
            </a:r>
            <a:r>
              <a:rPr lang="en-US" dirty="0"/>
              <a:t>start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dirty="0"/>
              <a:t> instruction</a:t>
            </a:r>
          </a:p>
          <a:p>
            <a:pPr>
              <a:lnSpc>
                <a:spcPct val="90000"/>
              </a:lnSpc>
            </a:pPr>
            <a:r>
              <a:rPr lang="en-US" b="1" dirty="0">
                <a:solidFill>
                  <a:srgbClr val="0070C0"/>
                </a:solidFill>
              </a:rPr>
              <a:t>Example:  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LDR R1, [R2, #5]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			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Memory Instructions: LDR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988" y="3643665"/>
            <a:ext cx="8582025" cy="162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93680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79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b="1" dirty="0">
                <a:solidFill>
                  <a:srgbClr val="0070C0"/>
                </a:solidFill>
              </a:rPr>
              <a:t>STEP 1: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Fetch instruction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9890953"/>
              </p:ext>
            </p:extLst>
          </p:nvPr>
        </p:nvGraphicFramePr>
        <p:xfrm>
          <a:off x="914400" y="2057400"/>
          <a:ext cx="7444377" cy="175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248049" imgH="1000057" progId="Visio.Drawing.15">
                  <p:embed/>
                </p:oleObj>
              </mc:Choice>
              <mc:Fallback>
                <p:oleObj name="Visio" r:id="rId4" imgW="4248049" imgH="10000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2057400"/>
                        <a:ext cx="7444377" cy="1752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62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</a:rPr>
              <a:t>Datapath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4400" dirty="0">
                <a:solidFill>
                  <a:schemeClr val="bg1"/>
                </a:solidFill>
              </a:rPr>
              <a:t> fetch</a:t>
            </a:r>
          </a:p>
        </p:txBody>
      </p:sp>
    </p:spTree>
    <p:extLst>
      <p:ext uri="{BB962C8B-B14F-4D97-AF65-F5344CB8AC3E}">
        <p14:creationId xmlns:p14="http://schemas.microsoft.com/office/powerpoint/2010/main" val="4158462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483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STEP 2: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Read source operands from </a:t>
            </a:r>
            <a:r>
              <a:rPr lang="en-US" sz="2400" dirty="0"/>
              <a:t>Register file</a:t>
            </a:r>
            <a:endParaRPr lang="en-US" dirty="0"/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3348390"/>
              </p:ext>
            </p:extLst>
          </p:nvPr>
        </p:nvGraphicFramePr>
        <p:xfrm>
          <a:off x="762000" y="1981200"/>
          <a:ext cx="7759244" cy="18267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248049" imgH="1000057" progId="Visio.Drawing.15">
                  <p:embed/>
                </p:oleObj>
              </mc:Choice>
              <mc:Fallback>
                <p:oleObj name="Visio" r:id="rId4" imgW="4248049" imgH="10000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62000" y="1981200"/>
                        <a:ext cx="7759244" cy="18267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8759"/>
            <a:ext cx="883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</a:rPr>
              <a:t>Datapath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4400" dirty="0">
                <a:solidFill>
                  <a:schemeClr val="bg1"/>
                </a:solidFill>
              </a:rPr>
              <a:t> </a:t>
            </a:r>
            <a:r>
              <a:rPr lang="en-US" sz="4400" dirty="0" err="1">
                <a:solidFill>
                  <a:schemeClr val="bg1"/>
                </a:solidFill>
              </a:rPr>
              <a:t>Reg</a:t>
            </a:r>
            <a:r>
              <a:rPr lang="en-US" sz="4400" dirty="0">
                <a:solidFill>
                  <a:schemeClr val="bg1"/>
                </a:solidFill>
              </a:rPr>
              <a:t> Read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481217"/>
            <a:ext cx="6500812" cy="1233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967F18-FCF3-69CB-C4B9-748C30CD8F75}"/>
              </a:ext>
            </a:extLst>
          </p:cNvPr>
          <p:cNvSpPr/>
          <p:nvPr/>
        </p:nvSpPr>
        <p:spPr>
          <a:xfrm>
            <a:off x="3505200" y="1828800"/>
            <a:ext cx="2057400" cy="227141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8AE897-08CD-B9B3-6B78-B38C561644A9}"/>
              </a:ext>
            </a:extLst>
          </p:cNvPr>
          <p:cNvCxnSpPr>
            <a:cxnSpLocks/>
          </p:cNvCxnSpPr>
          <p:nvPr/>
        </p:nvCxnSpPr>
        <p:spPr>
          <a:xfrm flipH="1">
            <a:off x="5562600" y="1687749"/>
            <a:ext cx="1238250" cy="838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525C875-A66A-8333-EF1E-ED07A7AA401E}"/>
              </a:ext>
            </a:extLst>
          </p:cNvPr>
          <p:cNvCxnSpPr>
            <a:cxnSpLocks/>
          </p:cNvCxnSpPr>
          <p:nvPr/>
        </p:nvCxnSpPr>
        <p:spPr>
          <a:xfrm>
            <a:off x="6629400" y="1687749"/>
            <a:ext cx="3429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F926E35-76D8-BF77-3C85-CE9530C10E64}"/>
              </a:ext>
            </a:extLst>
          </p:cNvPr>
          <p:cNvSpPr txBox="1"/>
          <p:nvPr/>
        </p:nvSpPr>
        <p:spPr>
          <a:xfrm>
            <a:off x="2616472" y="2111316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Rn</a:t>
            </a:r>
          </a:p>
        </p:txBody>
      </p:sp>
    </p:spTree>
    <p:extLst>
      <p:ext uri="{BB962C8B-B14F-4D97-AF65-F5344CB8AC3E}">
        <p14:creationId xmlns:p14="http://schemas.microsoft.com/office/powerpoint/2010/main" val="4006417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50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STEP 3: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Extend the immediate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695683"/>
              </p:ext>
            </p:extLst>
          </p:nvPr>
        </p:nvGraphicFramePr>
        <p:xfrm>
          <a:off x="914400" y="1905000"/>
          <a:ext cx="7230893" cy="228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248049" imgH="1342957" progId="Visio.Drawing.15">
                  <p:embed/>
                </p:oleObj>
              </mc:Choice>
              <mc:Fallback>
                <p:oleObj name="Visio" r:id="rId4" imgW="4248049" imgH="13429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1905000"/>
                        <a:ext cx="7230893" cy="228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8759"/>
            <a:ext cx="883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</a:rPr>
              <a:t>Datapath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4400" dirty="0">
                <a:solidFill>
                  <a:schemeClr val="bg1"/>
                </a:solidFill>
              </a:rPr>
              <a:t> </a:t>
            </a:r>
            <a:r>
              <a:rPr lang="en-US" sz="4400" dirty="0" err="1">
                <a:solidFill>
                  <a:schemeClr val="bg1"/>
                </a:solidFill>
              </a:rPr>
              <a:t>Immed</a:t>
            </a:r>
            <a:r>
              <a:rPr lang="en-US" sz="44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481217"/>
            <a:ext cx="6500812" cy="1233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57E595-BB1D-03BA-2AFA-0206B07AA624}"/>
              </a:ext>
            </a:extLst>
          </p:cNvPr>
          <p:cNvSpPr txBox="1"/>
          <p:nvPr/>
        </p:nvSpPr>
        <p:spPr>
          <a:xfrm>
            <a:off x="2616472" y="19928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8BB4DD-3C59-A9EF-9BB2-50284FBCB09A}"/>
              </a:ext>
            </a:extLst>
          </p:cNvPr>
          <p:cNvSpPr txBox="1"/>
          <p:nvPr/>
        </p:nvSpPr>
        <p:spPr>
          <a:xfrm>
            <a:off x="2616472" y="26786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C859EC-5C4D-A7E1-9FE8-8BD6AB7AA0C3}"/>
              </a:ext>
            </a:extLst>
          </p:cNvPr>
          <p:cNvSpPr txBox="1"/>
          <p:nvPr/>
        </p:nvSpPr>
        <p:spPr>
          <a:xfrm>
            <a:off x="2616472" y="3619500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Src2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1C9F002-262F-403C-C212-A753F1543543}"/>
              </a:ext>
            </a:extLst>
          </p:cNvPr>
          <p:cNvGrpSpPr/>
          <p:nvPr/>
        </p:nvGrpSpPr>
        <p:grpSpPr>
          <a:xfrm>
            <a:off x="4648200" y="1992868"/>
            <a:ext cx="762000" cy="1817132"/>
            <a:chOff x="4648200" y="1992868"/>
            <a:chExt cx="762000" cy="1817132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A742C0-DE39-537D-C5CA-6FB13126D209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992868"/>
              <a:ext cx="0" cy="16266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03E8C1-90BD-B18C-A23F-CA94F7BC7ED9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E7B6162-F4B8-CEF8-4988-0F26C7F8B07D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1905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9CFB5CF-5E16-A18C-339E-09B77C5E43C3}"/>
              </a:ext>
            </a:extLst>
          </p:cNvPr>
          <p:cNvSpPr txBox="1"/>
          <p:nvPr/>
        </p:nvSpPr>
        <p:spPr>
          <a:xfrm>
            <a:off x="4953000" y="1774195"/>
            <a:ext cx="8963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259597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531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STEP 4: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Compute the memory address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0254220"/>
              </p:ext>
            </p:extLst>
          </p:nvPr>
        </p:nvGraphicFramePr>
        <p:xfrm>
          <a:off x="762000" y="1676400"/>
          <a:ext cx="7552267" cy="259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248049" imgH="1457257" progId="Visio.Drawing.15">
                  <p:embed/>
                </p:oleObj>
              </mc:Choice>
              <mc:Fallback>
                <p:oleObj name="Visio" r:id="rId4" imgW="4248049" imgH="14572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62000" y="1676400"/>
                        <a:ext cx="7552267" cy="2590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8759"/>
            <a:ext cx="883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</a:rPr>
              <a:t>Datapath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4400" dirty="0">
                <a:solidFill>
                  <a:schemeClr val="bg1"/>
                </a:solidFill>
              </a:rPr>
              <a:t> Address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481217"/>
            <a:ext cx="6500812" cy="1233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C1ABC3-4648-BC0E-C06B-FEDBDCBD372F}"/>
              </a:ext>
            </a:extLst>
          </p:cNvPr>
          <p:cNvSpPr txBox="1"/>
          <p:nvPr/>
        </p:nvSpPr>
        <p:spPr>
          <a:xfrm>
            <a:off x="2542181" y="19928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B31022-56A9-DB45-319C-2F29A0CEE727}"/>
              </a:ext>
            </a:extLst>
          </p:cNvPr>
          <p:cNvSpPr txBox="1"/>
          <p:nvPr/>
        </p:nvSpPr>
        <p:spPr>
          <a:xfrm>
            <a:off x="2542181" y="26786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22C6BE-FB44-C9F2-BFD8-1F775BE6B5F2}"/>
              </a:ext>
            </a:extLst>
          </p:cNvPr>
          <p:cNvSpPr txBox="1"/>
          <p:nvPr/>
        </p:nvSpPr>
        <p:spPr>
          <a:xfrm>
            <a:off x="2542181" y="3619500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Src2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6EC562-C7A1-D282-F5A7-7D9040538206}"/>
              </a:ext>
            </a:extLst>
          </p:cNvPr>
          <p:cNvSpPr txBox="1"/>
          <p:nvPr/>
        </p:nvSpPr>
        <p:spPr>
          <a:xfrm>
            <a:off x="5638800" y="3094672"/>
            <a:ext cx="16118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1D40EF"/>
                </a:solidFill>
              </a:rPr>
              <a:t>Cộng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địa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chỉ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br>
              <a:rPr lang="en-US" sz="1400" dirty="0">
                <a:solidFill>
                  <a:srgbClr val="1D40EF"/>
                </a:solidFill>
              </a:rPr>
            </a:br>
            <a:r>
              <a:rPr lang="en-US" sz="1400" dirty="0" err="1">
                <a:solidFill>
                  <a:srgbClr val="1D40EF"/>
                </a:solidFill>
              </a:rPr>
              <a:t>cơ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sở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>
                <a:solidFill>
                  <a:srgbClr val="FF0000"/>
                </a:solidFill>
              </a:rPr>
              <a:t>Rn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với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phần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mở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rộng</a:t>
            </a:r>
            <a:r>
              <a:rPr lang="en-US" sz="1400" dirty="0">
                <a:solidFill>
                  <a:srgbClr val="1D40EF"/>
                </a:solidFill>
              </a:rPr>
              <a:t> 32-bit </a:t>
            </a:r>
            <a:br>
              <a:rPr lang="en-US" sz="1400" dirty="0">
                <a:solidFill>
                  <a:srgbClr val="1D40EF"/>
                </a:solidFill>
              </a:rPr>
            </a:br>
            <a:r>
              <a:rPr lang="en-US" sz="1400" dirty="0" err="1">
                <a:solidFill>
                  <a:srgbClr val="1D40EF"/>
                </a:solidFill>
              </a:rPr>
              <a:t>của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>
                <a:solidFill>
                  <a:srgbClr val="FF0000"/>
                </a:solidFill>
              </a:rPr>
              <a:t>imm12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58E8F0-47CA-A5FA-D6CC-877FFEC9C9A1}"/>
              </a:ext>
            </a:extLst>
          </p:cNvPr>
          <p:cNvSpPr txBox="1"/>
          <p:nvPr/>
        </p:nvSpPr>
        <p:spPr>
          <a:xfrm>
            <a:off x="3726086" y="4196090"/>
            <a:ext cx="18365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1D40EF"/>
                </a:solidFill>
              </a:rPr>
              <a:t>Mở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rộng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thành</a:t>
            </a:r>
            <a:r>
              <a:rPr lang="en-US" sz="1400" dirty="0">
                <a:solidFill>
                  <a:srgbClr val="1D40EF"/>
                </a:solidFill>
              </a:rPr>
              <a:t> 32-bit</a:t>
            </a:r>
            <a:endParaRPr lang="en-US" sz="1400" dirty="0"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76C1C80-2396-C6EA-8E38-C5F6D651EF6F}"/>
              </a:ext>
            </a:extLst>
          </p:cNvPr>
          <p:cNvGrpSpPr/>
          <p:nvPr/>
        </p:nvGrpSpPr>
        <p:grpSpPr>
          <a:xfrm>
            <a:off x="4523381" y="2037732"/>
            <a:ext cx="762000" cy="1817132"/>
            <a:chOff x="4648200" y="1992868"/>
            <a:chExt cx="762000" cy="1817132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C963E7A-3B39-5D40-492D-257FC97C2A64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992868"/>
              <a:ext cx="0" cy="16266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CAD117B-2804-CC97-2063-9A66C9ED24C1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20C5E5-B28A-6FAF-0BC4-528D52892DC0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1905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FF1A421-D944-B144-DDBF-AB4FDEA80D9C}"/>
              </a:ext>
            </a:extLst>
          </p:cNvPr>
          <p:cNvSpPr txBox="1"/>
          <p:nvPr/>
        </p:nvSpPr>
        <p:spPr>
          <a:xfrm>
            <a:off x="4828181" y="1819059"/>
            <a:ext cx="8963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4005876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481217"/>
            <a:ext cx="6500812" cy="1233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1175555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914400"/>
            <a:ext cx="76962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STEP 5: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Read data from memory and write it back to register file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0308604"/>
              </p:ext>
            </p:extLst>
          </p:nvPr>
        </p:nvGraphicFramePr>
        <p:xfrm>
          <a:off x="914400" y="2038350"/>
          <a:ext cx="7187309" cy="238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4714959" imgH="1562100" progId="Visio.Drawing.15">
                  <p:embed/>
                </p:oleObj>
              </mc:Choice>
              <mc:Fallback>
                <p:oleObj name="Visio" r:id="rId5" imgW="4714959" imgH="15621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14400" y="2038350"/>
                        <a:ext cx="7187309" cy="2381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99536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</a:t>
            </a:r>
            <a:r>
              <a:rPr lang="en-US" sz="42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4200" dirty="0">
                <a:solidFill>
                  <a:schemeClr val="bg1"/>
                </a:solidFill>
              </a:rPr>
              <a:t> Mem Read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1417FD-8E4F-B30E-2041-7311DDE7FA0C}"/>
              </a:ext>
            </a:extLst>
          </p:cNvPr>
          <p:cNvSpPr txBox="1"/>
          <p:nvPr/>
        </p:nvSpPr>
        <p:spPr>
          <a:xfrm>
            <a:off x="3766053" y="1434463"/>
            <a:ext cx="2482347" cy="52322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D40EF"/>
                </a:solidFill>
              </a:rPr>
              <a:t>Cho </a:t>
            </a:r>
            <a:r>
              <a:rPr lang="en-US" sz="1400" dirty="0" err="1">
                <a:solidFill>
                  <a:srgbClr val="1D40EF"/>
                </a:solidFill>
              </a:rPr>
              <a:t>phép</a:t>
            </a:r>
            <a:r>
              <a:rPr lang="en-US" sz="1400" dirty="0">
                <a:solidFill>
                  <a:srgbClr val="1D40EF"/>
                </a:solidFill>
              </a:rPr>
              <a:t> Write </a:t>
            </a:r>
            <a:r>
              <a:rPr lang="en-US" sz="1400" dirty="0" err="1">
                <a:solidFill>
                  <a:srgbClr val="1D40EF"/>
                </a:solidFill>
              </a:rPr>
              <a:t>dữ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liệu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br>
              <a:rPr lang="en-US" sz="1400" dirty="0">
                <a:solidFill>
                  <a:srgbClr val="1D40EF"/>
                </a:solidFill>
              </a:rPr>
            </a:br>
            <a:r>
              <a:rPr lang="en-US" sz="1400" dirty="0" err="1">
                <a:solidFill>
                  <a:srgbClr val="1D40EF"/>
                </a:solidFill>
              </a:rPr>
              <a:t>đọc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từ</a:t>
            </a:r>
            <a:r>
              <a:rPr lang="en-US" sz="1400" dirty="0">
                <a:solidFill>
                  <a:srgbClr val="1D40EF"/>
                </a:solidFill>
              </a:rPr>
              <a:t> Data memory </a:t>
            </a:r>
            <a:r>
              <a:rPr lang="en-US" sz="1400" dirty="0" err="1">
                <a:solidFill>
                  <a:srgbClr val="1D40EF"/>
                </a:solidFill>
              </a:rPr>
              <a:t>vào</a:t>
            </a:r>
            <a:r>
              <a:rPr lang="en-US" sz="1400" dirty="0">
                <a:solidFill>
                  <a:srgbClr val="1D40EF"/>
                </a:solidFill>
              </a:rPr>
              <a:t> WD3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2EC9BA-78E8-0BAA-5283-AD2D773350D8}"/>
              </a:ext>
            </a:extLst>
          </p:cNvPr>
          <p:cNvCxnSpPr>
            <a:stCxn id="8" idx="2"/>
          </p:cNvCxnSpPr>
          <p:nvPr/>
        </p:nvCxnSpPr>
        <p:spPr>
          <a:xfrm flipH="1">
            <a:off x="4419600" y="1957683"/>
            <a:ext cx="587627" cy="1759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8F925FC-1CFD-F075-15F8-5CF8C28060A9}"/>
              </a:ext>
            </a:extLst>
          </p:cNvPr>
          <p:cNvSpPr txBox="1"/>
          <p:nvPr/>
        </p:nvSpPr>
        <p:spPr>
          <a:xfrm>
            <a:off x="5257801" y="3810000"/>
            <a:ext cx="2743200" cy="52322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1D40EF"/>
                </a:solidFill>
              </a:rPr>
              <a:t>Truyền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dữ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liệu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đọc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từ</a:t>
            </a:r>
            <a:r>
              <a:rPr lang="en-US" sz="1400" dirty="0">
                <a:solidFill>
                  <a:srgbClr val="1D40EF"/>
                </a:solidFill>
              </a:rPr>
              <a:t> Data memory </a:t>
            </a:r>
            <a:r>
              <a:rPr lang="en-US" sz="1400" dirty="0" err="1">
                <a:solidFill>
                  <a:srgbClr val="1D40EF"/>
                </a:solidFill>
              </a:rPr>
              <a:t>vào</a:t>
            </a:r>
            <a:r>
              <a:rPr lang="en-US" sz="1400" dirty="0">
                <a:solidFill>
                  <a:srgbClr val="1D40EF"/>
                </a:solidFill>
              </a:rPr>
              <a:t> WD3 (</a:t>
            </a:r>
            <a:r>
              <a:rPr lang="en-US" sz="1400" dirty="0" err="1">
                <a:solidFill>
                  <a:srgbClr val="1D40EF"/>
                </a:solidFill>
              </a:rPr>
              <a:t>tệp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thanh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ghi</a:t>
            </a:r>
            <a:r>
              <a:rPr lang="en-US" sz="1400" dirty="0">
                <a:solidFill>
                  <a:srgbClr val="1D40EF"/>
                </a:solidFill>
              </a:rPr>
              <a:t>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66FDAD4-2880-D0D3-43D4-DCF5F52A2417}"/>
              </a:ext>
            </a:extLst>
          </p:cNvPr>
          <p:cNvGrpSpPr/>
          <p:nvPr/>
        </p:nvGrpSpPr>
        <p:grpSpPr>
          <a:xfrm>
            <a:off x="4214640" y="2541126"/>
            <a:ext cx="586827" cy="1399399"/>
            <a:chOff x="4648200" y="1992868"/>
            <a:chExt cx="762000" cy="1817132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5B22AB8-3E3F-54A4-F32C-87A63505AE64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992868"/>
              <a:ext cx="0" cy="1626632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016F267-2906-FA57-C8D7-CF6123FB1A91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F0F414-B287-21F9-6DB0-238860ECBDA5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1905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61AC64D-4895-0212-785D-D759508334E9}"/>
              </a:ext>
            </a:extLst>
          </p:cNvPr>
          <p:cNvSpPr txBox="1"/>
          <p:nvPr/>
        </p:nvSpPr>
        <p:spPr>
          <a:xfrm>
            <a:off x="4419600" y="2239183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2750767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5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8486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STEP 6: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Determine address of next instruction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8600464"/>
              </p:ext>
            </p:extLst>
          </p:nvPr>
        </p:nvGraphicFramePr>
        <p:xfrm>
          <a:off x="914400" y="1905000"/>
          <a:ext cx="7210309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886241" imgH="1562100" progId="Visio.Drawing.15">
                  <p:embed/>
                </p:oleObj>
              </mc:Choice>
              <mc:Fallback>
                <p:oleObj name="Visio" r:id="rId4" imgW="4886241" imgH="15621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1905000"/>
                        <a:ext cx="7210309" cy="2305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76200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PC Increment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3F7E53-C961-FAF6-B417-380BDFDB5150}"/>
              </a:ext>
            </a:extLst>
          </p:cNvPr>
          <p:cNvCxnSpPr>
            <a:cxnSpLocks/>
          </p:cNvCxnSpPr>
          <p:nvPr/>
        </p:nvCxnSpPr>
        <p:spPr>
          <a:xfrm>
            <a:off x="914400" y="2590800"/>
            <a:ext cx="5334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BC53E3-8F84-D65B-DA63-E6A0E3144C6C}"/>
              </a:ext>
            </a:extLst>
          </p:cNvPr>
          <p:cNvCxnSpPr>
            <a:cxnSpLocks/>
          </p:cNvCxnSpPr>
          <p:nvPr/>
        </p:nvCxnSpPr>
        <p:spPr>
          <a:xfrm>
            <a:off x="914400" y="2590800"/>
            <a:ext cx="0" cy="12954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EC97F1-D183-DDAA-D0A0-FB03B2DF14F2}"/>
              </a:ext>
            </a:extLst>
          </p:cNvPr>
          <p:cNvCxnSpPr>
            <a:cxnSpLocks/>
          </p:cNvCxnSpPr>
          <p:nvPr/>
        </p:nvCxnSpPr>
        <p:spPr>
          <a:xfrm>
            <a:off x="914400" y="3858768"/>
            <a:ext cx="1447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A65969C-1DF7-AA4C-262E-3962DBB023DA}"/>
              </a:ext>
            </a:extLst>
          </p:cNvPr>
          <p:cNvCxnSpPr>
            <a:cxnSpLocks/>
          </p:cNvCxnSpPr>
          <p:nvPr/>
        </p:nvCxnSpPr>
        <p:spPr>
          <a:xfrm>
            <a:off x="1752600" y="3435096"/>
            <a:ext cx="1524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31DFF1-0414-E724-AEC3-9AE30DBC284A}"/>
              </a:ext>
            </a:extLst>
          </p:cNvPr>
          <p:cNvCxnSpPr>
            <a:cxnSpLocks/>
          </p:cNvCxnSpPr>
          <p:nvPr/>
        </p:nvCxnSpPr>
        <p:spPr>
          <a:xfrm>
            <a:off x="1752600" y="2590800"/>
            <a:ext cx="0" cy="8382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E73803E-72D4-59E6-5977-289BE23B60ED}"/>
              </a:ext>
            </a:extLst>
          </p:cNvPr>
          <p:cNvCxnSpPr>
            <a:cxnSpLocks/>
          </p:cNvCxnSpPr>
          <p:nvPr/>
        </p:nvCxnSpPr>
        <p:spPr>
          <a:xfrm>
            <a:off x="2362200" y="3553968"/>
            <a:ext cx="0" cy="3048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90F2A8-2AAA-5AF4-8200-A7EABC1BDDFD}"/>
              </a:ext>
            </a:extLst>
          </p:cNvPr>
          <p:cNvCxnSpPr>
            <a:cxnSpLocks/>
          </p:cNvCxnSpPr>
          <p:nvPr/>
        </p:nvCxnSpPr>
        <p:spPr>
          <a:xfrm>
            <a:off x="2133600" y="3553968"/>
            <a:ext cx="228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787BE9C-55C2-AF62-24A7-15F6613893CC}"/>
              </a:ext>
            </a:extLst>
          </p:cNvPr>
          <p:cNvCxnSpPr/>
          <p:nvPr/>
        </p:nvCxnSpPr>
        <p:spPr>
          <a:xfrm>
            <a:off x="1447800" y="3886200"/>
            <a:ext cx="0" cy="4572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B63D320-6077-AD01-BEB7-795BE0CDF0D6}"/>
              </a:ext>
            </a:extLst>
          </p:cNvPr>
          <p:cNvSpPr txBox="1"/>
          <p:nvPr/>
        </p:nvSpPr>
        <p:spPr>
          <a:xfrm>
            <a:off x="914400" y="4366980"/>
            <a:ext cx="1447800" cy="95410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1D40EF"/>
                </a:solidFill>
              </a:rPr>
              <a:t>Tăng</a:t>
            </a:r>
            <a:r>
              <a:rPr lang="en-US" sz="1400" dirty="0">
                <a:solidFill>
                  <a:srgbClr val="1D40EF"/>
                </a:solidFill>
              </a:rPr>
              <a:t> PC </a:t>
            </a:r>
            <a:r>
              <a:rPr lang="en-US" sz="1400" dirty="0" err="1">
                <a:solidFill>
                  <a:srgbClr val="1D40EF"/>
                </a:solidFill>
              </a:rPr>
              <a:t>lên</a:t>
            </a:r>
            <a:r>
              <a:rPr lang="en-US" sz="1400" dirty="0">
                <a:solidFill>
                  <a:srgbClr val="1D40EF"/>
                </a:solidFill>
              </a:rPr>
              <a:t> 01 </a:t>
            </a:r>
            <a:r>
              <a:rPr lang="en-US" sz="1400" dirty="0" err="1">
                <a:solidFill>
                  <a:srgbClr val="1D40EF"/>
                </a:solidFill>
              </a:rPr>
              <a:t>chỉ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số</a:t>
            </a:r>
            <a:r>
              <a:rPr lang="en-US" sz="1400" dirty="0">
                <a:solidFill>
                  <a:srgbClr val="1D40EF"/>
                </a:solidFill>
              </a:rPr>
              <a:t> (+4 do </a:t>
            </a:r>
            <a:r>
              <a:rPr lang="en-US" sz="1400" dirty="0" err="1">
                <a:solidFill>
                  <a:srgbClr val="1D40EF"/>
                </a:solidFill>
              </a:rPr>
              <a:t>kích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thước</a:t>
            </a:r>
            <a:r>
              <a:rPr lang="en-US" sz="1400" dirty="0">
                <a:solidFill>
                  <a:srgbClr val="1D40EF"/>
                </a:solidFill>
              </a:rPr>
              <a:t> 01 ô </a:t>
            </a:r>
            <a:r>
              <a:rPr lang="en-US" sz="1400" dirty="0" err="1">
                <a:solidFill>
                  <a:srgbClr val="1D40EF"/>
                </a:solidFill>
              </a:rPr>
              <a:t>nhớ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là</a:t>
            </a:r>
            <a:r>
              <a:rPr lang="en-US" sz="1400" dirty="0">
                <a:solidFill>
                  <a:srgbClr val="1D40EF"/>
                </a:solidFill>
              </a:rPr>
              <a:t> 4 bytes)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67FFBC-8A26-C05F-8B18-AEDF54055E84}"/>
              </a:ext>
            </a:extLst>
          </p:cNvPr>
          <p:cNvSpPr txBox="1"/>
          <p:nvPr/>
        </p:nvSpPr>
        <p:spPr>
          <a:xfrm>
            <a:off x="2590800" y="4366980"/>
            <a:ext cx="3276600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Tuy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nhiên</a:t>
            </a:r>
            <a:r>
              <a:rPr lang="en-US" sz="1400" dirty="0">
                <a:solidFill>
                  <a:srgbClr val="FF0000"/>
                </a:solidFill>
              </a:rPr>
              <a:t>, R15 </a:t>
            </a:r>
            <a:r>
              <a:rPr lang="en-US" sz="1400" dirty="0" err="1">
                <a:solidFill>
                  <a:srgbClr val="FF0000"/>
                </a:solidFill>
              </a:rPr>
              <a:t>cũng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lưu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giá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trị</a:t>
            </a:r>
            <a:r>
              <a:rPr lang="en-US" sz="1400" dirty="0">
                <a:solidFill>
                  <a:srgbClr val="FF0000"/>
                </a:solidFill>
              </a:rPr>
              <a:t> PC </a:t>
            </a:r>
            <a:r>
              <a:rPr lang="en-US" sz="1400" dirty="0" err="1">
                <a:solidFill>
                  <a:srgbClr val="FF0000"/>
                </a:solidFill>
              </a:rPr>
              <a:t>theo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nguyên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tắc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là</a:t>
            </a:r>
            <a:r>
              <a:rPr lang="en-US" sz="1400" dirty="0">
                <a:solidFill>
                  <a:srgbClr val="FF0000"/>
                </a:solidFill>
              </a:rPr>
              <a:t>:</a:t>
            </a:r>
          </a:p>
          <a:p>
            <a:pPr marL="285750" indent="-285750">
              <a:buFontTx/>
              <a:buChar char="-"/>
            </a:pPr>
            <a:r>
              <a:rPr lang="en-US" sz="1400" dirty="0" err="1">
                <a:solidFill>
                  <a:srgbClr val="FF0000"/>
                </a:solidFill>
              </a:rPr>
              <a:t>Đọc</a:t>
            </a:r>
            <a:r>
              <a:rPr lang="en-US" sz="1400" dirty="0">
                <a:solidFill>
                  <a:srgbClr val="FF0000"/>
                </a:solidFill>
              </a:rPr>
              <a:t> R15 </a:t>
            </a:r>
            <a:r>
              <a:rPr lang="en-US" sz="1400" dirty="0" err="1">
                <a:solidFill>
                  <a:srgbClr val="FF0000"/>
                </a:solidFill>
              </a:rPr>
              <a:t>sẽ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trả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về</a:t>
            </a:r>
            <a:r>
              <a:rPr lang="en-US" sz="1400" dirty="0">
                <a:solidFill>
                  <a:srgbClr val="FF0000"/>
                </a:solidFill>
              </a:rPr>
              <a:t> PC+8</a:t>
            </a:r>
          </a:p>
          <a:p>
            <a:pPr marL="285750" indent="-285750">
              <a:buFontTx/>
              <a:buChar char="-"/>
            </a:pPr>
            <a:r>
              <a:rPr lang="en-US" sz="1400" dirty="0" err="1">
                <a:solidFill>
                  <a:srgbClr val="FF0000"/>
                </a:solidFill>
              </a:rPr>
              <a:t>Ghi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vào</a:t>
            </a:r>
            <a:r>
              <a:rPr lang="en-US" sz="1400" dirty="0">
                <a:solidFill>
                  <a:srgbClr val="FF0000"/>
                </a:solidFill>
              </a:rPr>
              <a:t> R15 </a:t>
            </a:r>
            <a:r>
              <a:rPr lang="en-US" sz="1400" dirty="0" err="1">
                <a:solidFill>
                  <a:srgbClr val="FF0000"/>
                </a:solidFill>
              </a:rPr>
              <a:t>sẽ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đồng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thời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cập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nhật</a:t>
            </a:r>
            <a:r>
              <a:rPr lang="en-US" sz="1400" dirty="0">
                <a:solidFill>
                  <a:srgbClr val="FF0000"/>
                </a:solidFill>
              </a:rPr>
              <a:t> PC 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7779F-A5DA-50D5-52DA-4AAF8D033EDA}"/>
              </a:ext>
            </a:extLst>
          </p:cNvPr>
          <p:cNvCxnSpPr>
            <a:cxnSpLocks/>
          </p:cNvCxnSpPr>
          <p:nvPr/>
        </p:nvCxnSpPr>
        <p:spPr>
          <a:xfrm flipH="1">
            <a:off x="6019800" y="4844033"/>
            <a:ext cx="10014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92CD44D-534C-E15D-6D66-D712DC69B960}"/>
              </a:ext>
            </a:extLst>
          </p:cNvPr>
          <p:cNvSpPr txBox="1"/>
          <p:nvPr/>
        </p:nvSpPr>
        <p:spPr>
          <a:xfrm>
            <a:off x="7010400" y="4343400"/>
            <a:ext cx="1447800" cy="138499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1D40EF"/>
                </a:solidFill>
              </a:rPr>
              <a:t>Nguyên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tắc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này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là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áp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từ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nguyên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tắc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của</a:t>
            </a:r>
            <a:r>
              <a:rPr lang="en-US" sz="1400" dirty="0">
                <a:solidFill>
                  <a:srgbClr val="1D40EF"/>
                </a:solidFill>
              </a:rPr>
              <a:t> ARM. ARM </a:t>
            </a:r>
            <a:r>
              <a:rPr lang="en-US" sz="1400" dirty="0" err="1">
                <a:solidFill>
                  <a:srgbClr val="1D40EF"/>
                </a:solidFill>
              </a:rPr>
              <a:t>có</a:t>
            </a:r>
            <a:r>
              <a:rPr lang="en-US" sz="1400" dirty="0">
                <a:solidFill>
                  <a:srgbClr val="1D40EF"/>
                </a:solidFill>
              </a:rPr>
              <a:t>  </a:t>
            </a:r>
            <a:r>
              <a:rPr lang="en-US" sz="1400" dirty="0" err="1">
                <a:solidFill>
                  <a:srgbClr val="1D40EF"/>
                </a:solidFill>
              </a:rPr>
              <a:t>nguyên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tắc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này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là</a:t>
            </a:r>
            <a:r>
              <a:rPr lang="en-US" sz="1400" dirty="0">
                <a:solidFill>
                  <a:srgbClr val="1D40EF"/>
                </a:solidFill>
              </a:rPr>
              <a:t> do “</a:t>
            </a:r>
            <a:r>
              <a:rPr lang="en-US" sz="1400" dirty="0" err="1">
                <a:solidFill>
                  <a:srgbClr val="1D40EF"/>
                </a:solidFill>
              </a:rPr>
              <a:t>lịch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sử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để</a:t>
            </a:r>
            <a:r>
              <a:rPr lang="en-US" sz="1400" dirty="0">
                <a:solidFill>
                  <a:srgbClr val="1D40EF"/>
                </a:solidFill>
              </a:rPr>
              <a:t> </a:t>
            </a:r>
            <a:r>
              <a:rPr lang="en-US" sz="1400" dirty="0" err="1">
                <a:solidFill>
                  <a:srgbClr val="1D40EF"/>
                </a:solidFill>
              </a:rPr>
              <a:t>lại</a:t>
            </a:r>
            <a:r>
              <a:rPr lang="en-US" sz="1400" dirty="0">
                <a:solidFill>
                  <a:srgbClr val="1D40EF"/>
                </a:solidFill>
              </a:rPr>
              <a:t>.”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CFECC59-F141-4262-95F6-296A25755C95}"/>
              </a:ext>
            </a:extLst>
          </p:cNvPr>
          <p:cNvGrpSpPr/>
          <p:nvPr/>
        </p:nvGrpSpPr>
        <p:grpSpPr>
          <a:xfrm>
            <a:off x="4278586" y="2347437"/>
            <a:ext cx="586827" cy="1399399"/>
            <a:chOff x="4648200" y="1992868"/>
            <a:chExt cx="762000" cy="1817132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02BAD21-81A9-D1AF-63B8-F23B65443007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992868"/>
              <a:ext cx="0" cy="1626632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0FF3EAF-BEB6-2ADF-CAC9-E5DBC4D52B59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60AEBFA-D704-15E3-98FA-35352E87C67D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1905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1C34D28-8623-8FDB-7008-C6CEF9CD6190}"/>
              </a:ext>
            </a:extLst>
          </p:cNvPr>
          <p:cNvSpPr txBox="1"/>
          <p:nvPr/>
        </p:nvSpPr>
        <p:spPr>
          <a:xfrm>
            <a:off x="4483546" y="2045494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2848624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3141D85-33BE-69A0-0345-FBC637F93020}"/>
              </a:ext>
            </a:extLst>
          </p:cNvPr>
          <p:cNvGrpSpPr/>
          <p:nvPr/>
        </p:nvGrpSpPr>
        <p:grpSpPr>
          <a:xfrm>
            <a:off x="264536" y="1143000"/>
            <a:ext cx="8614928" cy="4415122"/>
            <a:chOff x="2160480" y="1147478"/>
            <a:chExt cx="9497342" cy="486735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D833055-3ED9-C366-C699-ECEE5E1B2E5C}"/>
                </a:ext>
              </a:extLst>
            </p:cNvPr>
            <p:cNvSpPr/>
            <p:nvPr/>
          </p:nvSpPr>
          <p:spPr>
            <a:xfrm>
              <a:off x="4267200" y="2301889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Nạp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49DECC9-D110-8380-BB2A-E0DC2BFF7ED9}"/>
                </a:ext>
              </a:extLst>
            </p:cNvPr>
            <p:cNvSpPr/>
            <p:nvPr/>
          </p:nvSpPr>
          <p:spPr>
            <a:xfrm>
              <a:off x="5181600" y="2301889"/>
              <a:ext cx="91440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Giải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 err="1"/>
                <a:t>mã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9B729C3-24CA-5F68-3A5C-8658202A6338}"/>
                </a:ext>
              </a:extLst>
            </p:cNvPr>
            <p:cNvSpPr/>
            <p:nvPr/>
          </p:nvSpPr>
          <p:spPr>
            <a:xfrm>
              <a:off x="6096000" y="2301889"/>
              <a:ext cx="914400" cy="9144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Thực</a:t>
              </a:r>
              <a:r>
                <a:rPr lang="en-US" dirty="0"/>
                <a:t> </a:t>
              </a:r>
              <a:r>
                <a:rPr lang="en-US" dirty="0" err="1"/>
                <a:t>hiện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41885D-3865-55F1-04F5-A4CBC1F01F57}"/>
                </a:ext>
              </a:extLst>
            </p:cNvPr>
            <p:cNvSpPr/>
            <p:nvPr/>
          </p:nvSpPr>
          <p:spPr>
            <a:xfrm>
              <a:off x="5181600" y="3216289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Nạp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B687B3-DD6D-1413-8727-A4D2FF59153C}"/>
                </a:ext>
              </a:extLst>
            </p:cNvPr>
            <p:cNvSpPr/>
            <p:nvPr/>
          </p:nvSpPr>
          <p:spPr>
            <a:xfrm>
              <a:off x="6096000" y="3216289"/>
              <a:ext cx="91440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Giải </a:t>
              </a:r>
              <a:br>
                <a:rPr lang="en-US"/>
              </a:br>
              <a:r>
                <a:rPr lang="en-US"/>
                <a:t>mã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A595CD-E5C5-2598-5DFE-1F2D751E5791}"/>
                </a:ext>
              </a:extLst>
            </p:cNvPr>
            <p:cNvSpPr/>
            <p:nvPr/>
          </p:nvSpPr>
          <p:spPr>
            <a:xfrm>
              <a:off x="7010400" y="3216289"/>
              <a:ext cx="914400" cy="9144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Thực hiện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E19A7F-4A77-4625-951F-DC2C37E8E53A}"/>
                </a:ext>
              </a:extLst>
            </p:cNvPr>
            <p:cNvSpPr/>
            <p:nvPr/>
          </p:nvSpPr>
          <p:spPr>
            <a:xfrm>
              <a:off x="6096000" y="4130689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Nạp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08D73A7-7330-4209-9651-668D448319D5}"/>
                </a:ext>
              </a:extLst>
            </p:cNvPr>
            <p:cNvSpPr/>
            <p:nvPr/>
          </p:nvSpPr>
          <p:spPr>
            <a:xfrm>
              <a:off x="7010400" y="4130689"/>
              <a:ext cx="91440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Giải </a:t>
              </a:r>
              <a:br>
                <a:rPr lang="en-US"/>
              </a:br>
              <a:r>
                <a:rPr lang="en-US"/>
                <a:t>mã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923B6B1-ECFE-5637-2C1D-A7D5275EE4C9}"/>
                </a:ext>
              </a:extLst>
            </p:cNvPr>
            <p:cNvSpPr/>
            <p:nvPr/>
          </p:nvSpPr>
          <p:spPr>
            <a:xfrm>
              <a:off x="7924800" y="4130689"/>
              <a:ext cx="914400" cy="9144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Thực hiện</a:t>
              </a:r>
              <a:endParaRPr lang="en-US" dirty="0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C35B15F6-0951-7199-2A3F-AA82769EA51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267202" y="1701478"/>
              <a:ext cx="914399" cy="38101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DA90FDCD-E3D7-C4D9-5996-A43F9F47DC3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181601" y="1701478"/>
              <a:ext cx="914399" cy="38101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83AD689B-A726-7863-4E27-86C1E7AE481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096000" y="1701477"/>
              <a:ext cx="914399" cy="38101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A39D4FEF-3AF5-AAF9-5AA3-48887E61167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010399" y="1701476"/>
              <a:ext cx="914399" cy="38101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2F2871DB-530C-A5D5-F4AE-424E68D47A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924800" y="1701475"/>
              <a:ext cx="914399" cy="38101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FE5F8F3-4177-909C-DE5E-8233CF444403}"/>
                </a:ext>
              </a:extLst>
            </p:cNvPr>
            <p:cNvCxnSpPr/>
            <p:nvPr/>
          </p:nvCxnSpPr>
          <p:spPr>
            <a:xfrm>
              <a:off x="5181600" y="1701474"/>
              <a:ext cx="0" cy="3810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8A8C13-2A05-1993-1A7C-A84D833B43F1}"/>
                </a:ext>
              </a:extLst>
            </p:cNvPr>
            <p:cNvCxnSpPr/>
            <p:nvPr/>
          </p:nvCxnSpPr>
          <p:spPr>
            <a:xfrm>
              <a:off x="6090983" y="1701474"/>
              <a:ext cx="0" cy="3810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FAA294D-F003-6F3C-19A6-1B766EC9F93C}"/>
                </a:ext>
              </a:extLst>
            </p:cNvPr>
            <p:cNvCxnSpPr/>
            <p:nvPr/>
          </p:nvCxnSpPr>
          <p:spPr>
            <a:xfrm>
              <a:off x="7010399" y="1701474"/>
              <a:ext cx="0" cy="3810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D16E48-C750-03DA-69D1-E7F03A7C887C}"/>
                </a:ext>
              </a:extLst>
            </p:cNvPr>
            <p:cNvCxnSpPr/>
            <p:nvPr/>
          </p:nvCxnSpPr>
          <p:spPr>
            <a:xfrm>
              <a:off x="7919782" y="1701474"/>
              <a:ext cx="0" cy="3810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4A73AE-F2C1-E287-899E-FCE19314FBE8}"/>
                </a:ext>
              </a:extLst>
            </p:cNvPr>
            <p:cNvSpPr txBox="1"/>
            <p:nvPr/>
          </p:nvSpPr>
          <p:spPr>
            <a:xfrm>
              <a:off x="4573557" y="114747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AABDD47-7764-A057-4548-A333F1CC36C8}"/>
                </a:ext>
              </a:extLst>
            </p:cNvPr>
            <p:cNvSpPr txBox="1"/>
            <p:nvPr/>
          </p:nvSpPr>
          <p:spPr>
            <a:xfrm>
              <a:off x="3394869" y="1147478"/>
              <a:ext cx="8755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Chu </a:t>
              </a:r>
              <a:r>
                <a:rPr lang="en-US" dirty="0" err="1"/>
                <a:t>kỳ</a:t>
              </a:r>
              <a:r>
                <a:rPr lang="en-US" dirty="0"/>
                <a:t>: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092A5F-14A1-E387-84DC-F52522A61891}"/>
                </a:ext>
              </a:extLst>
            </p:cNvPr>
            <p:cNvSpPr txBox="1"/>
            <p:nvPr/>
          </p:nvSpPr>
          <p:spPr>
            <a:xfrm>
              <a:off x="5487957" y="114747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E023A76-52D0-28D1-7783-A7A2C824AECA}"/>
                </a:ext>
              </a:extLst>
            </p:cNvPr>
            <p:cNvSpPr txBox="1"/>
            <p:nvPr/>
          </p:nvSpPr>
          <p:spPr>
            <a:xfrm>
              <a:off x="6439010" y="114852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71C506-ACC5-0CC0-5164-DBA02C78BAC5}"/>
                </a:ext>
              </a:extLst>
            </p:cNvPr>
            <p:cNvSpPr txBox="1"/>
            <p:nvPr/>
          </p:nvSpPr>
          <p:spPr>
            <a:xfrm>
              <a:off x="7353410" y="114852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13911D-4180-3841-A1D9-68CB15D077CA}"/>
                </a:ext>
              </a:extLst>
            </p:cNvPr>
            <p:cNvSpPr txBox="1"/>
            <p:nvPr/>
          </p:nvSpPr>
          <p:spPr>
            <a:xfrm>
              <a:off x="2160480" y="2574423"/>
              <a:ext cx="13773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Lệnh</a:t>
              </a:r>
              <a:r>
                <a:rPr lang="en-US" dirty="0"/>
                <a:t> Branch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0298D39-26E3-DBA1-0497-21311075D0DE}"/>
                </a:ext>
              </a:extLst>
            </p:cNvPr>
            <p:cNvSpPr txBox="1"/>
            <p:nvPr/>
          </p:nvSpPr>
          <p:spPr>
            <a:xfrm>
              <a:off x="2160480" y="3488823"/>
              <a:ext cx="21067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Lệnh</a:t>
              </a:r>
              <a:r>
                <a:rPr lang="en-US" dirty="0"/>
                <a:t> </a:t>
              </a:r>
              <a:r>
                <a:rPr lang="en-US" dirty="0" err="1"/>
                <a:t>tiếp</a:t>
              </a:r>
              <a:r>
                <a:rPr lang="en-US" dirty="0"/>
                <a:t> </a:t>
              </a:r>
              <a:r>
                <a:rPr lang="en-US" dirty="0" err="1"/>
                <a:t>theo</a:t>
              </a:r>
              <a:r>
                <a:rPr lang="en-US" dirty="0"/>
                <a:t> No.1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52113E6-346D-E246-7B57-B1D26DCD69A6}"/>
                </a:ext>
              </a:extLst>
            </p:cNvPr>
            <p:cNvSpPr txBox="1"/>
            <p:nvPr/>
          </p:nvSpPr>
          <p:spPr>
            <a:xfrm>
              <a:off x="2160480" y="4403223"/>
              <a:ext cx="21067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Lệnh</a:t>
              </a:r>
              <a:r>
                <a:rPr lang="en-US" dirty="0"/>
                <a:t> </a:t>
              </a:r>
              <a:r>
                <a:rPr lang="en-US" dirty="0" err="1"/>
                <a:t>tiếp</a:t>
              </a:r>
              <a:r>
                <a:rPr lang="en-US" dirty="0"/>
                <a:t> </a:t>
              </a:r>
              <a:r>
                <a:rPr lang="en-US" dirty="0" err="1"/>
                <a:t>theo</a:t>
              </a:r>
              <a:r>
                <a:rPr lang="en-US" dirty="0"/>
                <a:t> No.2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3AA85-0F86-1A53-0862-A58DCBC79D2C}"/>
                </a:ext>
              </a:extLst>
            </p:cNvPr>
            <p:cNvSpPr txBox="1"/>
            <p:nvPr/>
          </p:nvSpPr>
          <p:spPr>
            <a:xfrm>
              <a:off x="2160480" y="5645502"/>
              <a:ext cx="85545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Lúc</a:t>
              </a:r>
              <a:r>
                <a:rPr lang="en-US" dirty="0"/>
                <a:t> </a:t>
              </a:r>
              <a:r>
                <a:rPr lang="en-US" dirty="0" err="1"/>
                <a:t>thực</a:t>
              </a:r>
              <a:r>
                <a:rPr lang="en-US" dirty="0"/>
                <a:t> </a:t>
              </a:r>
              <a:r>
                <a:rPr lang="en-US" dirty="0" err="1"/>
                <a:t>hiện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r>
                <a:rPr lang="en-US" dirty="0"/>
                <a:t> Branch </a:t>
              </a:r>
              <a:r>
                <a:rPr lang="en-US" dirty="0" err="1"/>
                <a:t>thì</a:t>
              </a:r>
              <a:r>
                <a:rPr lang="en-US" dirty="0"/>
                <a:t> ARM </a:t>
              </a:r>
              <a:r>
                <a:rPr lang="en-US" dirty="0" err="1"/>
                <a:t>coi</a:t>
              </a:r>
              <a:r>
                <a:rPr lang="en-US" dirty="0"/>
                <a:t> </a:t>
              </a:r>
              <a:r>
                <a:rPr lang="en-US" dirty="0" err="1"/>
                <a:t>như</a:t>
              </a:r>
              <a:r>
                <a:rPr lang="en-US" dirty="0"/>
                <a:t>/</a:t>
              </a:r>
              <a:r>
                <a:rPr lang="en-US" dirty="0" err="1"/>
                <a:t>lựa</a:t>
              </a:r>
              <a:r>
                <a:rPr lang="en-US" dirty="0"/>
                <a:t> </a:t>
              </a:r>
              <a:r>
                <a:rPr lang="en-US" dirty="0" err="1"/>
                <a:t>chọn</a:t>
              </a:r>
              <a:r>
                <a:rPr lang="en-US" dirty="0"/>
                <a:t> PC </a:t>
              </a:r>
              <a:r>
                <a:rPr lang="en-US" dirty="0" err="1"/>
                <a:t>đang</a:t>
              </a:r>
              <a:r>
                <a:rPr lang="en-US" dirty="0"/>
                <a:t> </a:t>
              </a:r>
              <a:r>
                <a:rPr lang="en-US" dirty="0" err="1"/>
                <a:t>trỏ</a:t>
              </a:r>
              <a:r>
                <a:rPr lang="en-US" dirty="0"/>
                <a:t> </a:t>
              </a:r>
              <a:r>
                <a:rPr lang="en-US" dirty="0" err="1"/>
                <a:t>vào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r>
                <a:rPr lang="en-US" dirty="0"/>
                <a:t> </a:t>
              </a:r>
              <a:r>
                <a:rPr lang="en-US" dirty="0" err="1"/>
                <a:t>tiếp</a:t>
              </a:r>
              <a:r>
                <a:rPr lang="en-US" dirty="0"/>
                <a:t> </a:t>
              </a:r>
              <a:r>
                <a:rPr lang="en-US" dirty="0" err="1"/>
                <a:t>theo</a:t>
              </a:r>
              <a:r>
                <a:rPr lang="en-US" dirty="0"/>
                <a:t> No.2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5AAF232-114B-C736-3DEF-7D838A02FC0F}"/>
                </a:ext>
              </a:extLst>
            </p:cNvPr>
            <p:cNvSpPr txBox="1"/>
            <p:nvPr/>
          </p:nvSpPr>
          <p:spPr>
            <a:xfrm>
              <a:off x="9772309" y="2657826"/>
              <a:ext cx="1885513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Ở </a:t>
              </a:r>
              <a:r>
                <a:rPr lang="en-US" dirty="0" err="1"/>
                <a:t>thuở</a:t>
              </a:r>
              <a:r>
                <a:rPr lang="en-US" dirty="0"/>
                <a:t> </a:t>
              </a:r>
              <a:r>
                <a:rPr lang="en-US" dirty="0" err="1"/>
                <a:t>sơ</a:t>
              </a:r>
              <a:r>
                <a:rPr lang="en-US" dirty="0"/>
                <a:t> </a:t>
              </a:r>
              <a:r>
                <a:rPr lang="en-US" dirty="0" err="1"/>
                <a:t>khai</a:t>
              </a:r>
              <a:r>
                <a:rPr lang="en-US" dirty="0"/>
                <a:t>, </a:t>
              </a:r>
            </a:p>
            <a:p>
              <a:r>
                <a:rPr lang="en-US" dirty="0" err="1"/>
                <a:t>Đội</a:t>
              </a:r>
              <a:r>
                <a:rPr lang="en-US" dirty="0"/>
                <a:t> </a:t>
              </a:r>
              <a:r>
                <a:rPr lang="en-US" dirty="0" err="1"/>
                <a:t>ngũ</a:t>
              </a:r>
              <a:r>
                <a:rPr lang="en-US" dirty="0"/>
                <a:t> </a:t>
              </a:r>
              <a:r>
                <a:rPr lang="en-US" dirty="0" err="1"/>
                <a:t>thiết</a:t>
              </a:r>
              <a:r>
                <a:rPr lang="en-US" dirty="0"/>
                <a:t> </a:t>
              </a:r>
              <a:r>
                <a:rPr lang="en-US" dirty="0" err="1"/>
                <a:t>kế</a:t>
              </a:r>
              <a:r>
                <a:rPr lang="en-US" dirty="0"/>
                <a:t> ARM </a:t>
              </a:r>
              <a:r>
                <a:rPr lang="en-US" dirty="0" err="1"/>
                <a:t>áp</a:t>
              </a:r>
              <a:r>
                <a:rPr lang="en-US" dirty="0"/>
                <a:t> </a:t>
              </a:r>
              <a:r>
                <a:rPr lang="en-US" dirty="0" err="1"/>
                <a:t>dụng</a:t>
              </a:r>
              <a:r>
                <a:rPr lang="en-US" dirty="0"/>
                <a:t> pipeline </a:t>
              </a:r>
              <a:r>
                <a:rPr lang="en-US" dirty="0" err="1"/>
                <a:t>có</a:t>
              </a:r>
              <a:r>
                <a:rPr lang="en-US" dirty="0"/>
                <a:t> 3 stage </a:t>
              </a:r>
              <a:r>
                <a:rPr lang="en-US" dirty="0" err="1"/>
                <a:t>là</a:t>
              </a:r>
              <a:r>
                <a:rPr lang="en-US" dirty="0"/>
                <a:t> </a:t>
              </a:r>
              <a:r>
                <a:rPr lang="en-US" dirty="0" err="1"/>
                <a:t>Nạp</a:t>
              </a:r>
              <a:r>
                <a:rPr lang="en-US" dirty="0"/>
                <a:t> </a:t>
              </a:r>
              <a:r>
                <a:rPr lang="en-US" dirty="0" err="1"/>
                <a:t>lệnh-Giải</a:t>
              </a:r>
              <a:r>
                <a:rPr lang="en-US" dirty="0"/>
                <a:t> </a:t>
              </a:r>
              <a:r>
                <a:rPr lang="en-US" dirty="0" err="1"/>
                <a:t>mã-Thực</a:t>
              </a:r>
              <a:r>
                <a:rPr lang="en-US" dirty="0"/>
                <a:t> </a:t>
              </a:r>
              <a:r>
                <a:rPr lang="en-US" dirty="0" err="1"/>
                <a:t>hiện</a:t>
              </a:r>
              <a:r>
                <a:rPr lang="en-US" dirty="0"/>
                <a:t> </a:t>
              </a:r>
              <a:r>
                <a:rPr lang="en-US" dirty="0" err="1"/>
                <a:t>lệnh</a:t>
              </a:r>
              <a:endParaRPr lang="en-US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5FB77CF5-8923-55D0-46CD-95C5C531ABB6}"/>
              </a:ext>
            </a:extLst>
          </p:cNvPr>
          <p:cNvSpPr txBox="1"/>
          <p:nvPr/>
        </p:nvSpPr>
        <p:spPr>
          <a:xfrm>
            <a:off x="457200" y="76200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PC + 8: </a:t>
            </a:r>
            <a:r>
              <a:rPr lang="en-US" sz="4200" dirty="0" err="1">
                <a:solidFill>
                  <a:schemeClr val="bg1"/>
                </a:solidFill>
              </a:rPr>
              <a:t>Nguyên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  <a:r>
              <a:rPr lang="en-US" sz="4200" dirty="0" err="1">
                <a:solidFill>
                  <a:schemeClr val="bg1"/>
                </a:solidFill>
              </a:rPr>
              <a:t>nhân</a:t>
            </a:r>
            <a:r>
              <a:rPr lang="en-US" sz="4200" dirty="0">
                <a:solidFill>
                  <a:schemeClr val="bg1"/>
                </a:solidFill>
              </a:rPr>
              <a:t> do “</a:t>
            </a:r>
            <a:r>
              <a:rPr lang="en-US" sz="4200" dirty="0" err="1">
                <a:solidFill>
                  <a:schemeClr val="bg1"/>
                </a:solidFill>
              </a:rPr>
              <a:t>lịch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  <a:r>
              <a:rPr lang="en-US" sz="4200" dirty="0" err="1">
                <a:solidFill>
                  <a:schemeClr val="bg1"/>
                </a:solidFill>
              </a:rPr>
              <a:t>sử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  <a:r>
              <a:rPr lang="en-US" sz="4200" dirty="0" err="1">
                <a:solidFill>
                  <a:schemeClr val="bg1"/>
                </a:solidFill>
              </a:rPr>
              <a:t>để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  <a:r>
              <a:rPr lang="en-US" sz="4200" dirty="0" err="1">
                <a:solidFill>
                  <a:schemeClr val="bg1"/>
                </a:solidFill>
              </a:rPr>
              <a:t>lại</a:t>
            </a:r>
            <a:r>
              <a:rPr lang="en-US" sz="4200" dirty="0">
                <a:solidFill>
                  <a:schemeClr val="bg1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03597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5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80010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PC can be source/destination of instruction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5629439"/>
              </p:ext>
            </p:extLst>
          </p:nvPr>
        </p:nvGraphicFramePr>
        <p:xfrm>
          <a:off x="914400" y="3200400"/>
          <a:ext cx="7561921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000608" imgH="1562100" progId="Visio.Drawing.15">
                  <p:embed/>
                </p:oleObj>
              </mc:Choice>
              <mc:Fallback>
                <p:oleObj name="Visio" r:id="rId4" imgW="5000608" imgH="15621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3200400"/>
                        <a:ext cx="7561921" cy="2362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6200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Access to PC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258B8B2-FB80-F6DE-1779-10E5D18B55AD}"/>
              </a:ext>
            </a:extLst>
          </p:cNvPr>
          <p:cNvGrpSpPr/>
          <p:nvPr/>
        </p:nvGrpSpPr>
        <p:grpSpPr>
          <a:xfrm>
            <a:off x="4581144" y="3462011"/>
            <a:ext cx="586827" cy="1634804"/>
            <a:chOff x="4648200" y="1687193"/>
            <a:chExt cx="762000" cy="212280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E580AAB-0761-F57C-B486-C4329C6C2EA9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687193"/>
              <a:ext cx="0" cy="193230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805734E-9B4B-71A2-3FB8-C90D887C015E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87D612-7F03-4D39-52BB-91D81791C90D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1905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4F445C-0057-6F31-A22F-3ECD39FF4431}"/>
              </a:ext>
            </a:extLst>
          </p:cNvPr>
          <p:cNvSpPr txBox="1"/>
          <p:nvPr/>
        </p:nvSpPr>
        <p:spPr>
          <a:xfrm>
            <a:off x="4800600" y="3200400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24973823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5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80010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PC can be source/destination of instruction</a:t>
            </a:r>
          </a:p>
          <a:p>
            <a:r>
              <a:rPr lang="en-US" sz="2400" b="1" dirty="0">
                <a:solidFill>
                  <a:srgbClr val="0070C0"/>
                </a:solidFill>
              </a:rPr>
              <a:t>Source: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R15 must be available in Register File</a:t>
            </a:r>
          </a:p>
          <a:p>
            <a:pPr lvl="1"/>
            <a:r>
              <a:rPr lang="en-US" sz="2000" b="1" dirty="0"/>
              <a:t>R15 </a:t>
            </a:r>
            <a:r>
              <a:rPr lang="en-US" sz="2000" dirty="0"/>
              <a:t>is read as the current</a:t>
            </a:r>
            <a:r>
              <a:rPr lang="en-US" sz="2000" b="1" dirty="0"/>
              <a:t> PC plus 8</a:t>
            </a:r>
          </a:p>
          <a:p>
            <a:pPr lvl="1"/>
            <a:r>
              <a:rPr lang="en-US" sz="2000" b="1" dirty="0" err="1"/>
              <a:t>Để</a:t>
            </a:r>
            <a:r>
              <a:rPr lang="en-US" sz="2000" b="1" dirty="0"/>
              <a:t> R15 </a:t>
            </a:r>
            <a:r>
              <a:rPr lang="en-US" sz="2000" b="1" dirty="0" err="1"/>
              <a:t>mang</a:t>
            </a:r>
            <a:r>
              <a:rPr lang="en-US" sz="2000" b="1" dirty="0"/>
              <a:t> </a:t>
            </a:r>
            <a:r>
              <a:rPr lang="en-US" sz="2000" b="1" dirty="0" err="1"/>
              <a:t>giá</a:t>
            </a:r>
            <a:r>
              <a:rPr lang="en-US" sz="2000" b="1" dirty="0"/>
              <a:t> </a:t>
            </a:r>
            <a:r>
              <a:rPr lang="en-US" sz="2000" b="1" dirty="0" err="1"/>
              <a:t>trị</a:t>
            </a:r>
            <a:r>
              <a:rPr lang="en-US" sz="2000" b="1" dirty="0"/>
              <a:t> PC+8 </a:t>
            </a:r>
            <a:r>
              <a:rPr lang="en-US" sz="2000" b="1" dirty="0" err="1"/>
              <a:t>thì</a:t>
            </a:r>
            <a:r>
              <a:rPr lang="en-US" sz="2000" b="1" dirty="0"/>
              <a:t> </a:t>
            </a:r>
            <a:r>
              <a:rPr lang="en-US" sz="2000" b="1" dirty="0" err="1"/>
              <a:t>cần</a:t>
            </a:r>
            <a:r>
              <a:rPr lang="en-US" sz="2000" b="1" dirty="0"/>
              <a:t> </a:t>
            </a:r>
            <a:r>
              <a:rPr lang="en-US" sz="2000" b="1" dirty="0" err="1"/>
              <a:t>thêm</a:t>
            </a:r>
            <a:r>
              <a:rPr lang="en-US" sz="2000" b="1" dirty="0"/>
              <a:t> 4 </a:t>
            </a:r>
            <a:r>
              <a:rPr lang="en-US" sz="2000" b="1" dirty="0" err="1"/>
              <a:t>cho</a:t>
            </a:r>
            <a:r>
              <a:rPr lang="en-US" sz="2000" b="1" dirty="0"/>
              <a:t> PC+4.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0455273"/>
              </p:ext>
            </p:extLst>
          </p:nvPr>
        </p:nvGraphicFramePr>
        <p:xfrm>
          <a:off x="914400" y="3200400"/>
          <a:ext cx="7561921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000608" imgH="1562100" progId="Visio.Drawing.15">
                  <p:embed/>
                </p:oleObj>
              </mc:Choice>
              <mc:Fallback>
                <p:oleObj name="Visio" r:id="rId4" imgW="5000608" imgH="15621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3200400"/>
                        <a:ext cx="7561921" cy="2362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6200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Access to PC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ADDAC9-18B8-648C-1AC6-8EFB8AD24A96}"/>
              </a:ext>
            </a:extLst>
          </p:cNvPr>
          <p:cNvCxnSpPr>
            <a:cxnSpLocks/>
          </p:cNvCxnSpPr>
          <p:nvPr/>
        </p:nvCxnSpPr>
        <p:spPr>
          <a:xfrm>
            <a:off x="2590800" y="4876800"/>
            <a:ext cx="5334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310F36A-B2F9-6796-FBA2-B5DFC3B03306}"/>
              </a:ext>
            </a:extLst>
          </p:cNvPr>
          <p:cNvCxnSpPr>
            <a:cxnSpLocks/>
          </p:cNvCxnSpPr>
          <p:nvPr/>
        </p:nvCxnSpPr>
        <p:spPr>
          <a:xfrm>
            <a:off x="3352800" y="4800600"/>
            <a:ext cx="609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71F81B-CA64-8B6F-CDEF-A2BB0942CA47}"/>
              </a:ext>
            </a:extLst>
          </p:cNvPr>
          <p:cNvGrpSpPr/>
          <p:nvPr/>
        </p:nvGrpSpPr>
        <p:grpSpPr>
          <a:xfrm>
            <a:off x="4594775" y="3462493"/>
            <a:ext cx="586827" cy="1642907"/>
            <a:chOff x="4648200" y="1739520"/>
            <a:chExt cx="762000" cy="2133329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2A4E8A4-6F57-90EF-F6D9-C27A3C1C0834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739520"/>
              <a:ext cx="0" cy="187998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D98C47-DAE3-58DB-C744-53A311FB5B76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376AB79-9C38-509D-B7A9-44D8B2730436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25334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883FDA3-F2B3-F8E9-EC22-D39C3EB55425}"/>
              </a:ext>
            </a:extLst>
          </p:cNvPr>
          <p:cNvSpPr txBox="1"/>
          <p:nvPr/>
        </p:nvSpPr>
        <p:spPr>
          <a:xfrm>
            <a:off x="4799735" y="3200883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4840404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5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80010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PC can be source/destination of instruction</a:t>
            </a:r>
          </a:p>
          <a:p>
            <a:r>
              <a:rPr lang="en-US" sz="2400" b="1" dirty="0">
                <a:solidFill>
                  <a:srgbClr val="0070C0"/>
                </a:solidFill>
              </a:rPr>
              <a:t>Source: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R15 must be available in Register File</a:t>
            </a:r>
          </a:p>
          <a:p>
            <a:pPr lvl="1"/>
            <a:r>
              <a:rPr lang="en-US" sz="2000" b="1" dirty="0"/>
              <a:t>R15 </a:t>
            </a:r>
            <a:r>
              <a:rPr lang="en-US" sz="2000" dirty="0"/>
              <a:t>is read as the current</a:t>
            </a:r>
            <a:r>
              <a:rPr lang="en-US" sz="2000" b="1" dirty="0"/>
              <a:t> PC plus 8</a:t>
            </a:r>
          </a:p>
          <a:p>
            <a:r>
              <a:rPr lang="en-US" sz="2400" b="1" dirty="0">
                <a:solidFill>
                  <a:srgbClr val="0070C0"/>
                </a:solidFill>
              </a:rPr>
              <a:t>Destination: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Be able to write result to PC</a:t>
            </a:r>
          </a:p>
          <a:p>
            <a:pPr lvl="1"/>
            <a:r>
              <a:rPr lang="en-US" sz="2000" dirty="0" err="1"/>
              <a:t>Để</a:t>
            </a:r>
            <a:r>
              <a:rPr lang="en-US" sz="2000" dirty="0"/>
              <a:t> </a:t>
            </a:r>
            <a:r>
              <a:rPr lang="en-US" sz="2000" dirty="0" err="1"/>
              <a:t>Ghi</a:t>
            </a:r>
            <a:r>
              <a:rPr lang="en-US" sz="2000" dirty="0"/>
              <a:t> </a:t>
            </a:r>
            <a:r>
              <a:rPr lang="en-US" sz="2000" dirty="0" err="1"/>
              <a:t>vào</a:t>
            </a:r>
            <a:r>
              <a:rPr lang="en-US" sz="2000" dirty="0"/>
              <a:t> R15 </a:t>
            </a:r>
            <a:r>
              <a:rPr lang="en-US" sz="2000" dirty="0" err="1"/>
              <a:t>cập</a:t>
            </a:r>
            <a:r>
              <a:rPr lang="en-US" sz="2000" dirty="0"/>
              <a:t> </a:t>
            </a:r>
            <a:r>
              <a:rPr lang="en-US" sz="2000" dirty="0" err="1"/>
              <a:t>nhật</a:t>
            </a:r>
            <a:r>
              <a:rPr lang="en-US" sz="2000" dirty="0"/>
              <a:t> PC </a:t>
            </a:r>
            <a:r>
              <a:rPr lang="en-US" sz="2000" dirty="0" err="1"/>
              <a:t>thì</a:t>
            </a:r>
            <a:r>
              <a:rPr lang="en-US" sz="2000" dirty="0"/>
              <a:t> </a:t>
            </a:r>
            <a:r>
              <a:rPr lang="en-US" sz="2000" dirty="0" err="1"/>
              <a:t>kết</a:t>
            </a:r>
            <a:r>
              <a:rPr lang="en-US" sz="2000" dirty="0"/>
              <a:t> </a:t>
            </a:r>
            <a:r>
              <a:rPr lang="en-US" sz="2000" dirty="0" err="1"/>
              <a:t>nối</a:t>
            </a:r>
            <a:r>
              <a:rPr lang="en-US" sz="2000" dirty="0"/>
              <a:t> </a:t>
            </a:r>
            <a:r>
              <a:rPr lang="en-US" sz="2000" dirty="0" err="1"/>
              <a:t>ReadData</a:t>
            </a:r>
            <a:r>
              <a:rPr lang="en-US" sz="2000" dirty="0"/>
              <a:t> </a:t>
            </a:r>
            <a:r>
              <a:rPr lang="en-US" sz="2000" dirty="0" err="1"/>
              <a:t>với</a:t>
            </a:r>
            <a:r>
              <a:rPr lang="en-US" sz="2000" dirty="0"/>
              <a:t> </a:t>
            </a:r>
            <a:r>
              <a:rPr lang="en-US" sz="2000" dirty="0" err="1"/>
              <a:t>cả</a:t>
            </a:r>
            <a:r>
              <a:rPr lang="en-US" sz="2000" dirty="0"/>
              <a:t> WD3 </a:t>
            </a:r>
            <a:r>
              <a:rPr lang="en-US" sz="2000" dirty="0" err="1"/>
              <a:t>và</a:t>
            </a:r>
            <a:r>
              <a:rPr lang="en-US" sz="2000" dirty="0"/>
              <a:t> PC’.</a:t>
            </a:r>
          </a:p>
          <a:p>
            <a:endParaRPr lang="en-US" dirty="0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0455273"/>
              </p:ext>
            </p:extLst>
          </p:nvPr>
        </p:nvGraphicFramePr>
        <p:xfrm>
          <a:off x="914400" y="3200400"/>
          <a:ext cx="7561921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000608" imgH="1562100" progId="Visio.Drawing.15">
                  <p:embed/>
                </p:oleObj>
              </mc:Choice>
              <mc:Fallback>
                <p:oleObj name="Visio" r:id="rId4" imgW="5000608" imgH="15621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14400" y="3200400"/>
                        <a:ext cx="7561921" cy="2362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6200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Access to PC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75CAE0-52D1-023D-317B-2BEF2EC0642C}"/>
              </a:ext>
            </a:extLst>
          </p:cNvPr>
          <p:cNvCxnSpPr>
            <a:cxnSpLocks/>
          </p:cNvCxnSpPr>
          <p:nvPr/>
        </p:nvCxnSpPr>
        <p:spPr>
          <a:xfrm>
            <a:off x="914400" y="3810000"/>
            <a:ext cx="2667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38F2378-6012-3B1C-46DA-3FE22EC2A943}"/>
              </a:ext>
            </a:extLst>
          </p:cNvPr>
          <p:cNvCxnSpPr>
            <a:cxnSpLocks/>
          </p:cNvCxnSpPr>
          <p:nvPr/>
        </p:nvCxnSpPr>
        <p:spPr>
          <a:xfrm>
            <a:off x="914400" y="5544312"/>
            <a:ext cx="756192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ADD2F8-9C92-5FAC-B7BE-B8A967AB703E}"/>
              </a:ext>
            </a:extLst>
          </p:cNvPr>
          <p:cNvCxnSpPr>
            <a:cxnSpLocks/>
          </p:cNvCxnSpPr>
          <p:nvPr/>
        </p:nvCxnSpPr>
        <p:spPr>
          <a:xfrm>
            <a:off x="914400" y="3810000"/>
            <a:ext cx="0" cy="17526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0C9318D-5C15-578D-9E67-B2AEB6E3362B}"/>
              </a:ext>
            </a:extLst>
          </p:cNvPr>
          <p:cNvCxnSpPr>
            <a:cxnSpLocks/>
          </p:cNvCxnSpPr>
          <p:nvPr/>
        </p:nvCxnSpPr>
        <p:spPr>
          <a:xfrm>
            <a:off x="7543800" y="4038600"/>
            <a:ext cx="93252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9CF33-2BDB-8C75-DB8A-3169740FF511}"/>
              </a:ext>
            </a:extLst>
          </p:cNvPr>
          <p:cNvCxnSpPr>
            <a:cxnSpLocks/>
          </p:cNvCxnSpPr>
          <p:nvPr/>
        </p:nvCxnSpPr>
        <p:spPr>
          <a:xfrm>
            <a:off x="8476321" y="4038600"/>
            <a:ext cx="0" cy="15240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BC109B-306B-CE64-5585-6C149F569474}"/>
              </a:ext>
            </a:extLst>
          </p:cNvPr>
          <p:cNvCxnSpPr>
            <a:cxnSpLocks/>
          </p:cNvCxnSpPr>
          <p:nvPr/>
        </p:nvCxnSpPr>
        <p:spPr>
          <a:xfrm>
            <a:off x="3810000" y="4572000"/>
            <a:ext cx="0" cy="9723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B5FB0F6-9F43-4C7A-71B2-0048D52CE6DE}"/>
              </a:ext>
            </a:extLst>
          </p:cNvPr>
          <p:cNvCxnSpPr>
            <a:cxnSpLocks/>
          </p:cNvCxnSpPr>
          <p:nvPr/>
        </p:nvCxnSpPr>
        <p:spPr>
          <a:xfrm>
            <a:off x="3771900" y="4572000"/>
            <a:ext cx="1905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3F56D4B-8CD2-8CC2-DDB4-66F34C429389}"/>
              </a:ext>
            </a:extLst>
          </p:cNvPr>
          <p:cNvSpPr/>
          <p:nvPr/>
        </p:nvSpPr>
        <p:spPr>
          <a:xfrm>
            <a:off x="990599" y="3200400"/>
            <a:ext cx="533401" cy="99059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5F4C8A-A907-09C5-E01E-A764040A3275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667679" y="3695698"/>
            <a:ext cx="3229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BC004AC-54AB-DEA7-2A29-3F729FB8BB75}"/>
              </a:ext>
            </a:extLst>
          </p:cNvPr>
          <p:cNvSpPr txBox="1"/>
          <p:nvPr/>
        </p:nvSpPr>
        <p:spPr>
          <a:xfrm>
            <a:off x="-8132" y="3264810"/>
            <a:ext cx="770133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1D40EF"/>
                </a:solidFill>
              </a:rPr>
              <a:t>Cần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thêm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bộ</a:t>
            </a:r>
            <a:r>
              <a:rPr lang="en-US" sz="1000" dirty="0">
                <a:solidFill>
                  <a:srgbClr val="1D40EF"/>
                </a:solidFill>
              </a:rPr>
              <a:t> MUX </a:t>
            </a:r>
            <a:r>
              <a:rPr lang="en-US" sz="1000" dirty="0" err="1">
                <a:solidFill>
                  <a:srgbClr val="1D40EF"/>
                </a:solidFill>
              </a:rPr>
              <a:t>và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tín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hiệu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PCSrc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để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chọn</a:t>
            </a:r>
            <a:r>
              <a:rPr lang="en-US" sz="1000" dirty="0">
                <a:solidFill>
                  <a:srgbClr val="1D40EF"/>
                </a:solidFill>
              </a:rPr>
              <a:t> PC+4 hay </a:t>
            </a:r>
            <a:r>
              <a:rPr lang="en-US" sz="1000" dirty="0" err="1">
                <a:solidFill>
                  <a:srgbClr val="1D40EF"/>
                </a:solidFill>
              </a:rPr>
              <a:t>lấy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dữ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liệu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của</a:t>
            </a:r>
            <a:r>
              <a:rPr lang="en-US" sz="1000" dirty="0">
                <a:solidFill>
                  <a:srgbClr val="1D40EF"/>
                </a:solidFill>
              </a:rPr>
              <a:t> </a:t>
            </a:r>
            <a:r>
              <a:rPr lang="en-US" sz="1000" dirty="0" err="1">
                <a:solidFill>
                  <a:srgbClr val="1D40EF"/>
                </a:solidFill>
              </a:rPr>
              <a:t>ReadData</a:t>
            </a:r>
            <a:endParaRPr lang="en-US" sz="1000" dirty="0">
              <a:solidFill>
                <a:srgbClr val="1D40EF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E6225EB-7009-1BDD-A06B-E7B922FE30FB}"/>
              </a:ext>
            </a:extLst>
          </p:cNvPr>
          <p:cNvGrpSpPr/>
          <p:nvPr/>
        </p:nvGrpSpPr>
        <p:grpSpPr>
          <a:xfrm>
            <a:off x="4601507" y="3435626"/>
            <a:ext cx="586827" cy="1642907"/>
            <a:chOff x="4648200" y="1739520"/>
            <a:chExt cx="762000" cy="213332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0249A7C-FEEE-D12B-F420-1429CC6A20FF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739520"/>
              <a:ext cx="0" cy="187998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39F9B8-26DF-79DD-E950-DA20443C11B3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2177388-45E4-6F70-29BD-A18BBE019016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25334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A556742-985B-64E3-9CEC-6CB7A82D69E2}"/>
              </a:ext>
            </a:extLst>
          </p:cNvPr>
          <p:cNvSpPr txBox="1"/>
          <p:nvPr/>
        </p:nvSpPr>
        <p:spPr>
          <a:xfrm>
            <a:off x="4806467" y="3174016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4840404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03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Expand </a:t>
            </a:r>
            <a:r>
              <a:rPr lang="en-US" b="1" dirty="0" err="1">
                <a:solidFill>
                  <a:srgbClr val="0070C0"/>
                </a:solidFill>
              </a:rPr>
              <a:t>datapath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to handle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dirty="0"/>
              <a:t>:</a:t>
            </a:r>
          </a:p>
          <a:p>
            <a:r>
              <a:rPr lang="en-US" sz="2400" dirty="0"/>
              <a:t>Write data in </a:t>
            </a:r>
            <a:r>
              <a:rPr lang="en-US" sz="2400" dirty="0">
                <a:latin typeface="Courier New" pitchFamily="49" charset="0"/>
              </a:rPr>
              <a:t>Rd</a:t>
            </a:r>
            <a:r>
              <a:rPr lang="en-US" sz="2400" dirty="0"/>
              <a:t> to memory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060300"/>
              </p:ext>
            </p:extLst>
          </p:nvPr>
        </p:nvGraphicFramePr>
        <p:xfrm>
          <a:off x="796991" y="1995488"/>
          <a:ext cx="7356409" cy="2424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000608" imgH="1647757" progId="Visio.Drawing.15">
                  <p:embed/>
                </p:oleObj>
              </mc:Choice>
              <mc:Fallback>
                <p:oleObj name="Visio" r:id="rId4" imgW="5000608" imgH="16477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96991" y="1995488"/>
                        <a:ext cx="7356409" cy="24241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8759"/>
            <a:ext cx="883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</a:rPr>
              <a:t>Datapath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STR</a:t>
            </a:r>
            <a:endParaRPr lang="en-US" sz="4400" dirty="0">
              <a:solidFill>
                <a:schemeClr val="bg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788" y="4559676"/>
            <a:ext cx="5205412" cy="98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/>
          <p:cNvSpPr/>
          <p:nvPr/>
        </p:nvSpPr>
        <p:spPr>
          <a:xfrm>
            <a:off x="853627" y="5405046"/>
            <a:ext cx="2803973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STR Rd, [Rn, imm12]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9FA0150-C8DD-79CC-F61B-1A6DD3EED52B}"/>
              </a:ext>
            </a:extLst>
          </p:cNvPr>
          <p:cNvCxnSpPr>
            <a:cxnSpLocks/>
          </p:cNvCxnSpPr>
          <p:nvPr/>
        </p:nvCxnSpPr>
        <p:spPr>
          <a:xfrm>
            <a:off x="3505200" y="3048000"/>
            <a:ext cx="0" cy="3048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AFB16FA-8394-D713-A603-E6D17D71E0CD}"/>
              </a:ext>
            </a:extLst>
          </p:cNvPr>
          <p:cNvCxnSpPr>
            <a:cxnSpLocks/>
          </p:cNvCxnSpPr>
          <p:nvPr/>
        </p:nvCxnSpPr>
        <p:spPr>
          <a:xfrm>
            <a:off x="4953000" y="3048000"/>
            <a:ext cx="0" cy="3810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0D6B36-1AE3-3E47-4D0C-8A927E49DE7F}"/>
              </a:ext>
            </a:extLst>
          </p:cNvPr>
          <p:cNvCxnSpPr>
            <a:cxnSpLocks/>
          </p:cNvCxnSpPr>
          <p:nvPr/>
        </p:nvCxnSpPr>
        <p:spPr>
          <a:xfrm>
            <a:off x="4953000" y="3429000"/>
            <a:ext cx="1752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13302A-AEBF-1AE4-A739-3EEA21EE6BE7}"/>
              </a:ext>
            </a:extLst>
          </p:cNvPr>
          <p:cNvCxnSpPr>
            <a:cxnSpLocks/>
          </p:cNvCxnSpPr>
          <p:nvPr/>
        </p:nvCxnSpPr>
        <p:spPr>
          <a:xfrm>
            <a:off x="4785173" y="3051048"/>
            <a:ext cx="16782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C66D58-C474-5E41-5D97-2E056ABE75A7}"/>
              </a:ext>
            </a:extLst>
          </p:cNvPr>
          <p:cNvCxnSpPr>
            <a:cxnSpLocks/>
          </p:cNvCxnSpPr>
          <p:nvPr/>
        </p:nvCxnSpPr>
        <p:spPr>
          <a:xfrm>
            <a:off x="3505200" y="3048000"/>
            <a:ext cx="3048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113CFFF-A2C5-F35B-2A31-27BF7FCADE83}"/>
              </a:ext>
            </a:extLst>
          </p:cNvPr>
          <p:cNvCxnSpPr>
            <a:cxnSpLocks/>
          </p:cNvCxnSpPr>
          <p:nvPr/>
        </p:nvCxnSpPr>
        <p:spPr>
          <a:xfrm>
            <a:off x="2743200" y="3352800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1F337DF-6D60-A64D-B4A4-99C0C2D8D502}"/>
              </a:ext>
            </a:extLst>
          </p:cNvPr>
          <p:cNvSpPr txBox="1"/>
          <p:nvPr/>
        </p:nvSpPr>
        <p:spPr>
          <a:xfrm rot="10800000" flipV="1">
            <a:off x="6324600" y="4492629"/>
            <a:ext cx="20488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Địa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chỉ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của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memory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được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tạo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bởi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Rn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và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imm12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D9E5393-7689-1D8B-6084-E10DC5EFD534}"/>
              </a:ext>
            </a:extLst>
          </p:cNvPr>
          <p:cNvCxnSpPr>
            <a:cxnSpLocks/>
          </p:cNvCxnSpPr>
          <p:nvPr/>
        </p:nvCxnSpPr>
        <p:spPr>
          <a:xfrm>
            <a:off x="2743200" y="2743200"/>
            <a:ext cx="10668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3996362-29DC-C63F-8E49-7B81140B9CD7}"/>
              </a:ext>
            </a:extLst>
          </p:cNvPr>
          <p:cNvCxnSpPr>
            <a:cxnSpLocks/>
          </p:cNvCxnSpPr>
          <p:nvPr/>
        </p:nvCxnSpPr>
        <p:spPr>
          <a:xfrm>
            <a:off x="4762500" y="2743200"/>
            <a:ext cx="8763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C9C19FE-A808-3A8C-60EB-3B7C7B79327B}"/>
              </a:ext>
            </a:extLst>
          </p:cNvPr>
          <p:cNvCxnSpPr>
            <a:cxnSpLocks/>
          </p:cNvCxnSpPr>
          <p:nvPr/>
        </p:nvCxnSpPr>
        <p:spPr>
          <a:xfrm>
            <a:off x="2743200" y="4191000"/>
            <a:ext cx="10668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CCA8C9-F416-26B2-77E6-88ADC7142BDD}"/>
              </a:ext>
            </a:extLst>
          </p:cNvPr>
          <p:cNvCxnSpPr>
            <a:cxnSpLocks/>
          </p:cNvCxnSpPr>
          <p:nvPr/>
        </p:nvCxnSpPr>
        <p:spPr>
          <a:xfrm flipH="1">
            <a:off x="4762500" y="3147536"/>
            <a:ext cx="828000" cy="900000"/>
          </a:xfrm>
          <a:prstGeom prst="bentConnector3">
            <a:avLst>
              <a:gd name="adj1" fmla="val 7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75CFC39-A03B-E9C1-DF2A-A423E7F2D0DF}"/>
              </a:ext>
            </a:extLst>
          </p:cNvPr>
          <p:cNvCxnSpPr>
            <a:cxnSpLocks/>
          </p:cNvCxnSpPr>
          <p:nvPr/>
        </p:nvCxnSpPr>
        <p:spPr>
          <a:xfrm>
            <a:off x="5943600" y="2971800"/>
            <a:ext cx="7620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B578456-5B25-FC39-4ACB-29320F4893BD}"/>
              </a:ext>
            </a:extLst>
          </p:cNvPr>
          <p:cNvSpPr txBox="1"/>
          <p:nvPr/>
        </p:nvSpPr>
        <p:spPr>
          <a:xfrm rot="10800000" flipV="1">
            <a:off x="6324600" y="5032705"/>
            <a:ext cx="20488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Dữ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liệu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của</a:t>
            </a:r>
            <a:r>
              <a:rPr lang="en-US" sz="1400" dirty="0">
                <a:solidFill>
                  <a:srgbClr val="FF0000"/>
                </a:solidFill>
              </a:rPr>
              <a:t> Rd </a:t>
            </a:r>
            <a:r>
              <a:rPr lang="en-US" sz="1400" dirty="0" err="1">
                <a:solidFill>
                  <a:srgbClr val="FF0000"/>
                </a:solidFill>
              </a:rPr>
              <a:t>được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đọc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ra</a:t>
            </a:r>
            <a:r>
              <a:rPr lang="en-US" sz="1400" dirty="0">
                <a:solidFill>
                  <a:srgbClr val="FF0000"/>
                </a:solidFill>
              </a:rPr>
              <a:t> ở RD2 </a:t>
            </a:r>
            <a:r>
              <a:rPr lang="en-US" sz="1400" dirty="0" err="1">
                <a:solidFill>
                  <a:srgbClr val="FF0000"/>
                </a:solidFill>
              </a:rPr>
              <a:t>và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đưa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vào</a:t>
            </a:r>
            <a:r>
              <a:rPr lang="en-US" sz="1400" dirty="0">
                <a:solidFill>
                  <a:srgbClr val="FF0000"/>
                </a:solidFill>
              </a:rPr>
              <a:t> WD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891377-DCC1-5B8E-7C0B-E7174E893042}"/>
              </a:ext>
            </a:extLst>
          </p:cNvPr>
          <p:cNvGrpSpPr/>
          <p:nvPr/>
        </p:nvGrpSpPr>
        <p:grpSpPr>
          <a:xfrm>
            <a:off x="4325258" y="2343862"/>
            <a:ext cx="586827" cy="1642907"/>
            <a:chOff x="4648200" y="1739520"/>
            <a:chExt cx="762000" cy="2133329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CE6F424-D168-DB41-1000-B4C77453F2A4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1739520"/>
              <a:ext cx="0" cy="187998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14D8CB-6419-D9AD-B674-812B86150F2A}"/>
                </a:ext>
              </a:extLst>
            </p:cNvPr>
            <p:cNvCxnSpPr>
              <a:cxnSpLocks/>
            </p:cNvCxnSpPr>
            <p:nvPr/>
          </p:nvCxnSpPr>
          <p:spPr>
            <a:xfrm>
              <a:off x="4648200" y="3619500"/>
              <a:ext cx="7620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4331A9B-F75D-1ACB-4B71-30CF6A3EF9DA}"/>
                </a:ext>
              </a:extLst>
            </p:cNvPr>
            <p:cNvCxnSpPr>
              <a:cxnSpLocks/>
            </p:cNvCxnSpPr>
            <p:nvPr/>
          </p:nvCxnSpPr>
          <p:spPr>
            <a:xfrm>
              <a:off x="4651248" y="3619500"/>
              <a:ext cx="0" cy="25334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6A3C0BC-BAD6-BD9D-FCE0-B78C6983865B}"/>
              </a:ext>
            </a:extLst>
          </p:cNvPr>
          <p:cNvSpPr txBox="1"/>
          <p:nvPr/>
        </p:nvSpPr>
        <p:spPr>
          <a:xfrm>
            <a:off x="4530218" y="2082252"/>
            <a:ext cx="97529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>
                    <a:lumMod val="50000"/>
                  </a:schemeClr>
                </a:solidFill>
              </a:rPr>
              <a:t>ImmSrc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= 01</a:t>
            </a:r>
          </a:p>
        </p:txBody>
      </p:sp>
    </p:spTree>
    <p:extLst>
      <p:ext uri="{BB962C8B-B14F-4D97-AF65-F5344CB8AC3E}">
        <p14:creationId xmlns:p14="http://schemas.microsoft.com/office/powerpoint/2010/main" val="300251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EEB1B7C-6253-CD54-33D5-3BAC6993EC74}"/>
              </a:ext>
            </a:extLst>
          </p:cNvPr>
          <p:cNvSpPr txBox="1"/>
          <p:nvPr/>
        </p:nvSpPr>
        <p:spPr>
          <a:xfrm>
            <a:off x="457200" y="68759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Data-processing Instructions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76F4E1-6CB6-E1EF-60CA-794271A263C3}"/>
              </a:ext>
            </a:extLst>
          </p:cNvPr>
          <p:cNvSpPr txBox="1"/>
          <p:nvPr/>
        </p:nvSpPr>
        <p:spPr>
          <a:xfrm>
            <a:off x="457200" y="1219200"/>
            <a:ext cx="7924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42021"/>
                </a:solidFill>
                <a:effectLst/>
                <a:latin typeface="AdvOTc8acc91a"/>
              </a:rPr>
              <a:t>Limited subset: 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c8acc91a"/>
              </a:rPr>
              <a:t>ADD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bc475f09"/>
              </a:rPr>
              <a:t>, 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c8acc91a"/>
              </a:rPr>
              <a:t>SUB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bc475f09"/>
              </a:rPr>
              <a:t>, 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c8acc91a"/>
              </a:rPr>
              <a:t>AND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, and </a:t>
            </a:r>
            <a:r>
              <a:rPr lang="en-US" sz="1800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c8acc91a"/>
              </a:rPr>
              <a:t>ORR</a:t>
            </a:r>
            <a:endParaRPr lang="en-US" b="0" i="0" dirty="0">
              <a:solidFill>
                <a:schemeClr val="tx2">
                  <a:lumMod val="60000"/>
                  <a:lumOff val="40000"/>
                </a:schemeClr>
              </a:solidFill>
              <a:effectLst/>
              <a:latin typeface="AdvOTb18868a6.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AdvOTb18868a6.B"/>
              </a:rPr>
              <a:t>Immediate Addressing</a:t>
            </a:r>
            <a:r>
              <a:rPr lang="en-US" dirty="0"/>
              <a:t> and Register 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Quá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trình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thực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hiện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giống</a:t>
            </a:r>
            <a:r>
              <a:rPr lang="en-US" sz="1800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sz="1800" b="0" i="0" dirty="0" err="1">
                <a:solidFill>
                  <a:srgbClr val="242021"/>
                </a:solidFill>
                <a:effectLst/>
                <a:latin typeface="AdvOTbc475f09"/>
              </a:rPr>
              <a:t>nhau</a:t>
            </a:r>
            <a:endParaRPr lang="en-US" sz="1800" b="0" i="0" dirty="0">
              <a:solidFill>
                <a:srgbClr val="242021"/>
              </a:solidFill>
              <a:effectLst/>
              <a:latin typeface="AdvOTbc475f09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0000"/>
                </a:solidFill>
                <a:latin typeface="AdvOTbc475f09"/>
              </a:rPr>
              <a:t>Đọc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source register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từ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register file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và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một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giá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trị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immediate/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thanh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ghi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từ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4 low bits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của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câu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lệnh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0000"/>
                </a:solidFill>
                <a:latin typeface="AdvOTbc475f09"/>
              </a:rPr>
              <a:t>Thực</a:t>
            </a:r>
            <a:r>
              <a:rPr lang="en-US" dirty="0">
                <a:solidFill>
                  <a:srgbClr val="FF0000"/>
                </a:solidFill>
                <a:latin typeface="AdvOTbc475f09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AdvOTbc475f09"/>
              </a:rPr>
              <a:t>hiện</a:t>
            </a:r>
            <a:r>
              <a:rPr lang="en-US" dirty="0">
                <a:solidFill>
                  <a:srgbClr val="FF0000"/>
                </a:solidFill>
                <a:latin typeface="AdvOTbc475f09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AdvOTbc475f09"/>
              </a:rPr>
              <a:t>phép</a:t>
            </a:r>
            <a:r>
              <a:rPr lang="en-US" dirty="0">
                <a:solidFill>
                  <a:srgbClr val="FF0000"/>
                </a:solidFill>
                <a:latin typeface="AdvOTbc475f09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AdvOTbc475f09"/>
              </a:rPr>
              <a:t>toán</a:t>
            </a:r>
            <a:r>
              <a:rPr lang="en-US" dirty="0">
                <a:solidFill>
                  <a:srgbClr val="FF0000"/>
                </a:solidFill>
                <a:latin typeface="AdvOTbc475f09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AdvOTbc475f09"/>
              </a:rPr>
              <a:t>trên</a:t>
            </a:r>
            <a:r>
              <a:rPr lang="en-US" dirty="0">
                <a:solidFill>
                  <a:srgbClr val="FF0000"/>
                </a:solidFill>
                <a:latin typeface="AdvOTbc475f09"/>
              </a:rPr>
              <a:t> ALU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Ghi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kết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quả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về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thanh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ghi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AdvOTbc475f09"/>
              </a:rPr>
              <a:t>đích</a:t>
            </a:r>
            <a:r>
              <a:rPr lang="en-US" b="0" i="0" dirty="0">
                <a:solidFill>
                  <a:srgbClr val="FF0000"/>
                </a:solidFill>
                <a:effectLst/>
                <a:latin typeface="AdvOTbc475f09"/>
              </a:rPr>
              <a:t>.</a:t>
            </a:r>
            <a:r>
              <a:rPr lang="en-US" b="0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bc475f09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They differ only in the specific ALU operation. Hence, they can all be handled</a:t>
            </a:r>
            <a:b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</a:b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with the same hardware using different 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638a931c.I"/>
              </a:rPr>
              <a:t>ALUControl</a:t>
            </a:r>
            <a:r>
              <a:rPr lang="en-US" b="0" i="0" dirty="0">
                <a:solidFill>
                  <a:srgbClr val="242021"/>
                </a:solidFill>
                <a:effectLst/>
                <a:latin typeface="AdvOT638a931c.I"/>
              </a:rPr>
              <a:t> </a:t>
            </a: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signals.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242021"/>
                </a:solidFill>
                <a:effectLst/>
                <a:latin typeface="AdvOTbc475f09"/>
              </a:rPr>
              <a:t>Tín</a:t>
            </a: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bc475f09"/>
              </a:rPr>
              <a:t>hiệu</a:t>
            </a: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 </a:t>
            </a:r>
            <a:r>
              <a:rPr lang="en-US" dirty="0" err="1">
                <a:solidFill>
                  <a:srgbClr val="242021"/>
                </a:solidFill>
                <a:latin typeface="AdvOTbc475f09"/>
              </a:rPr>
              <a:t>điều</a:t>
            </a:r>
            <a:r>
              <a:rPr lang="en-US" dirty="0">
                <a:solidFill>
                  <a:srgbClr val="242021"/>
                </a:solidFill>
                <a:latin typeface="AdvOTbc475f09"/>
              </a:rPr>
              <a:t> </a:t>
            </a:r>
            <a:r>
              <a:rPr lang="en-US" dirty="0" err="1">
                <a:solidFill>
                  <a:srgbClr val="242021"/>
                </a:solidFill>
                <a:latin typeface="AdvOTbc475f09"/>
              </a:rPr>
              <a:t>khiển</a:t>
            </a:r>
            <a:r>
              <a:rPr lang="en-US" dirty="0">
                <a:solidFill>
                  <a:srgbClr val="242021"/>
                </a:solidFill>
                <a:latin typeface="AdvOTbc475f09"/>
              </a:rPr>
              <a:t> (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638a931c.I"/>
              </a:rPr>
              <a:t>ALUControl</a:t>
            </a:r>
            <a:r>
              <a:rPr lang="en-US" b="0" i="0" dirty="0">
                <a:solidFill>
                  <a:srgbClr val="242021"/>
                </a:solidFill>
                <a:effectLst/>
                <a:latin typeface="AdvOT638a931c.I"/>
              </a:rPr>
              <a:t>) 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638a931c.I"/>
              </a:rPr>
              <a:t>như</a:t>
            </a:r>
            <a:r>
              <a:rPr lang="en-US" b="0" i="0" dirty="0">
                <a:solidFill>
                  <a:srgbClr val="242021"/>
                </a:solidFill>
                <a:effectLst/>
                <a:latin typeface="AdvOT638a931c.I"/>
              </a:rPr>
              <a:t> 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638a931c.I"/>
              </a:rPr>
              <a:t>sau</a:t>
            </a:r>
            <a:endParaRPr lang="en-US" b="0" i="0" dirty="0">
              <a:solidFill>
                <a:srgbClr val="242021"/>
              </a:solidFill>
              <a:effectLst/>
              <a:latin typeface="AdvOT638a931c.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bc475f09"/>
              </a:rPr>
              <a:t>ADD : 00, SUB : 01, AND : 10, </a:t>
            </a:r>
            <a:r>
              <a:rPr lang="en-US" b="1" i="0" dirty="0">
                <a:solidFill>
                  <a:schemeClr val="tx2">
                    <a:lumMod val="60000"/>
                    <a:lumOff val="40000"/>
                  </a:schemeClr>
                </a:solidFill>
                <a:effectLst/>
                <a:latin typeface="AdvOTc8acc91a"/>
              </a:rPr>
              <a:t>ORR</a:t>
            </a:r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AdvOTbc475f09"/>
              </a:rPr>
              <a:t> : 11</a:t>
            </a:r>
            <a:endParaRPr lang="en-US" b="1" i="0" dirty="0">
              <a:solidFill>
                <a:schemeClr val="tx2">
                  <a:lumMod val="60000"/>
                  <a:lumOff val="40000"/>
                </a:schemeClr>
              </a:solidFill>
              <a:effectLst/>
              <a:latin typeface="AdvOTbc475f09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The ALU also produces four flags, </a:t>
            </a:r>
            <a:r>
              <a:rPr lang="en-US" b="0" i="0" dirty="0">
                <a:solidFill>
                  <a:srgbClr val="242021"/>
                </a:solidFill>
                <a:effectLst/>
                <a:latin typeface="AdvOT638a931c.I"/>
              </a:rPr>
              <a:t>ALUFlags</a:t>
            </a: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3:0 (Zero, Negative,</a:t>
            </a:r>
            <a:b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</a:b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Carry, </a:t>
            </a:r>
            <a:r>
              <a:rPr lang="en-US" b="0" i="0" dirty="0" err="1">
                <a:solidFill>
                  <a:srgbClr val="242021"/>
                </a:solidFill>
                <a:effectLst/>
                <a:latin typeface="AdvOTbc475f09"/>
              </a:rPr>
              <a:t>oVerflow</a:t>
            </a:r>
            <a:r>
              <a:rPr lang="en-US" b="0" i="0" dirty="0">
                <a:solidFill>
                  <a:srgbClr val="242021"/>
                </a:solidFill>
                <a:effectLst/>
                <a:latin typeface="AdvOTbc475f09"/>
              </a:rPr>
              <a:t>), that are sent back to the controller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465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309045" y="3505970"/>
            <a:ext cx="8643540" cy="2818630"/>
            <a:chOff x="309045" y="3121150"/>
            <a:chExt cx="8643540" cy="2818630"/>
          </a:xfrm>
        </p:grpSpPr>
        <p:pic>
          <p:nvPicPr>
            <p:cNvPr id="7" name="Picture 65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045" y="3121150"/>
              <a:ext cx="8492817" cy="2818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/>
            <p:cNvSpPr/>
            <p:nvPr/>
          </p:nvSpPr>
          <p:spPr>
            <a:xfrm>
              <a:off x="5992985" y="4051554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40100" y="4596215"/>
              <a:ext cx="1766630" cy="12289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9"/>
          <p:cNvSpPr/>
          <p:nvPr/>
        </p:nvSpPr>
        <p:spPr>
          <a:xfrm>
            <a:off x="2987227" y="5424699"/>
            <a:ext cx="2390398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Rd, Rn, imm8</a:t>
            </a:r>
          </a:p>
        </p:txBody>
      </p:sp>
      <p:sp>
        <p:nvSpPr>
          <p:cNvPr id="117862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09600" y="1583152"/>
            <a:ext cx="7696200" cy="24384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sz="2400" b="1" dirty="0"/>
              <a:t>With</a:t>
            </a:r>
            <a:r>
              <a:rPr lang="en-US" sz="2400" b="1" dirty="0">
                <a:solidFill>
                  <a:srgbClr val="0070C0"/>
                </a:solidFill>
              </a:rPr>
              <a:t> immediate </a:t>
            </a:r>
            <a:r>
              <a:rPr lang="en-US" sz="2400" b="1" dirty="0"/>
              <a:t>Src2: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Read from </a:t>
            </a:r>
            <a:r>
              <a:rPr lang="en-US" sz="2000" dirty="0">
                <a:latin typeface="Courier New" pitchFamily="49" charset="0"/>
              </a:rPr>
              <a:t>Rn</a:t>
            </a:r>
            <a:r>
              <a:rPr lang="en-US" sz="2000" dirty="0"/>
              <a:t> and </a:t>
            </a:r>
            <a:r>
              <a:rPr lang="en-US" sz="2000" dirty="0">
                <a:latin typeface="Courier New" pitchFamily="49" charset="0"/>
              </a:rPr>
              <a:t>Imm8</a:t>
            </a:r>
            <a:r>
              <a:rPr lang="en-US" sz="2000" dirty="0">
                <a:latin typeface="+mj-lt"/>
              </a:rPr>
              <a:t> (</a:t>
            </a:r>
            <a:r>
              <a:rPr lang="en-US" sz="2000" i="1" dirty="0" err="1">
                <a:latin typeface="+mj-lt"/>
              </a:rPr>
              <a:t>ImmSrc</a:t>
            </a:r>
            <a:r>
              <a:rPr lang="en-US" sz="2000" dirty="0">
                <a:latin typeface="+mj-lt"/>
              </a:rPr>
              <a:t> chooses the zero-extended </a:t>
            </a:r>
            <a:r>
              <a:rPr lang="en-US" sz="2000" dirty="0">
                <a:latin typeface="Courier New" pitchFamily="49" charset="0"/>
              </a:rPr>
              <a:t>Imm8</a:t>
            </a:r>
            <a:r>
              <a:rPr lang="en-US" sz="2000" dirty="0">
                <a:latin typeface="+mj-lt"/>
              </a:rPr>
              <a:t> instead of </a:t>
            </a:r>
            <a:r>
              <a:rPr lang="en-US" sz="2000" dirty="0">
                <a:latin typeface="Courier New" pitchFamily="49" charset="0"/>
              </a:rPr>
              <a:t>Imm12</a:t>
            </a:r>
            <a:r>
              <a:rPr lang="en-US" sz="2000" dirty="0">
                <a:latin typeface="+mj-lt"/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</a:t>
            </a:r>
            <a:r>
              <a:rPr lang="en-US" sz="2000" i="1" dirty="0" err="1"/>
              <a:t>ALUResult</a:t>
            </a:r>
            <a:r>
              <a:rPr lang="en-US" sz="2000" dirty="0"/>
              <a:t> to register file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to </a:t>
            </a:r>
            <a:r>
              <a:rPr lang="en-US" sz="2000" dirty="0">
                <a:latin typeface="Courier New" pitchFamily="49" charset="0"/>
              </a:rPr>
              <a:t>Rd</a:t>
            </a:r>
          </a:p>
          <a:p>
            <a:pPr>
              <a:lnSpc>
                <a:spcPct val="90000"/>
              </a:lnSpc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Cần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thêm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tín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hiệu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điều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khiển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ImmSrc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cho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bộ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extension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8759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Data-processing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A227D3-BF4A-566F-CC45-D79A1F2A5321}"/>
              </a:ext>
            </a:extLst>
          </p:cNvPr>
          <p:cNvSpPr/>
          <p:nvPr/>
        </p:nvSpPr>
        <p:spPr>
          <a:xfrm>
            <a:off x="593404" y="1139488"/>
            <a:ext cx="1425390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Lệnh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ADD: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4E67B1-83DE-C203-9F81-09FE0360D03F}"/>
              </a:ext>
            </a:extLst>
          </p:cNvPr>
          <p:cNvSpPr/>
          <p:nvPr/>
        </p:nvSpPr>
        <p:spPr>
          <a:xfrm>
            <a:off x="2174580" y="1124584"/>
            <a:ext cx="2390398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Rd, Rn, imm8</a:t>
            </a:r>
          </a:p>
        </p:txBody>
      </p:sp>
    </p:spTree>
    <p:extLst>
      <p:ext uri="{BB962C8B-B14F-4D97-AF65-F5344CB8AC3E}">
        <p14:creationId xmlns:p14="http://schemas.microsoft.com/office/powerpoint/2010/main" val="273676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62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09600" y="1143000"/>
            <a:ext cx="7696200" cy="49530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sz="2400" b="1" dirty="0"/>
              <a:t>With</a:t>
            </a:r>
            <a:r>
              <a:rPr lang="en-US" sz="2400" b="1" dirty="0">
                <a:solidFill>
                  <a:srgbClr val="0070C0"/>
                </a:solidFill>
              </a:rPr>
              <a:t> immediate </a:t>
            </a:r>
            <a:r>
              <a:rPr lang="en-US" sz="2400" b="1" dirty="0"/>
              <a:t>Src2: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Read from </a:t>
            </a:r>
            <a:r>
              <a:rPr lang="en-US" sz="2000" dirty="0">
                <a:latin typeface="Courier New" pitchFamily="49" charset="0"/>
              </a:rPr>
              <a:t>Rn</a:t>
            </a:r>
            <a:r>
              <a:rPr lang="en-US" sz="2000" dirty="0"/>
              <a:t> and </a:t>
            </a:r>
            <a:r>
              <a:rPr lang="en-US" sz="2000" dirty="0">
                <a:latin typeface="Courier New" pitchFamily="49" charset="0"/>
              </a:rPr>
              <a:t>Imm8</a:t>
            </a:r>
            <a:r>
              <a:rPr lang="en-US" sz="2000" dirty="0">
                <a:latin typeface="+mj-lt"/>
              </a:rPr>
              <a:t> (</a:t>
            </a:r>
            <a:r>
              <a:rPr lang="en-US" sz="2000" i="1" dirty="0" err="1">
                <a:latin typeface="+mj-lt"/>
              </a:rPr>
              <a:t>ImmSrc</a:t>
            </a:r>
            <a:r>
              <a:rPr lang="en-US" sz="2000" dirty="0">
                <a:latin typeface="+mj-lt"/>
              </a:rPr>
              <a:t> chooses the zero-extended </a:t>
            </a:r>
            <a:r>
              <a:rPr lang="en-US" sz="2000" dirty="0">
                <a:latin typeface="Courier New" pitchFamily="49" charset="0"/>
              </a:rPr>
              <a:t>Imm8</a:t>
            </a:r>
            <a:r>
              <a:rPr lang="en-US" sz="2000" dirty="0">
                <a:latin typeface="+mj-lt"/>
              </a:rPr>
              <a:t> instead of </a:t>
            </a:r>
            <a:r>
              <a:rPr lang="en-US" sz="2000" dirty="0">
                <a:latin typeface="Courier New" pitchFamily="49" charset="0"/>
              </a:rPr>
              <a:t>Imm12</a:t>
            </a:r>
            <a:r>
              <a:rPr lang="en-US" sz="2000" dirty="0">
                <a:latin typeface="+mj-lt"/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</a:t>
            </a:r>
            <a:r>
              <a:rPr lang="en-US" sz="2000" i="1" dirty="0" err="1"/>
              <a:t>ALUResult</a:t>
            </a:r>
            <a:r>
              <a:rPr lang="en-US" sz="2000" dirty="0"/>
              <a:t> to register file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to </a:t>
            </a:r>
            <a:r>
              <a:rPr lang="en-US" sz="2000" dirty="0">
                <a:latin typeface="Courier New" pitchFamily="49" charset="0"/>
              </a:rPr>
              <a:t>Rd</a:t>
            </a:r>
            <a:endParaRPr lang="en-US" sz="2000" dirty="0"/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1101931"/>
              </p:ext>
            </p:extLst>
          </p:nvPr>
        </p:nvGraphicFramePr>
        <p:xfrm>
          <a:off x="838200" y="2895600"/>
          <a:ext cx="7567449" cy="2438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143567" imgH="1657485" progId="Visio.Drawing.15">
                  <p:embed/>
                </p:oleObj>
              </mc:Choice>
              <mc:Fallback>
                <p:oleObj name="Visio" r:id="rId4" imgW="5143567" imgH="16574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38200" y="2895600"/>
                        <a:ext cx="7567449" cy="2438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8759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Data-processing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87227" y="5449568"/>
            <a:ext cx="2390398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Rd, Rn, imm8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7DA765D-7AC5-7D40-38DE-51CE2D99EA2B}"/>
              </a:ext>
            </a:extLst>
          </p:cNvPr>
          <p:cNvCxnSpPr>
            <a:cxnSpLocks/>
          </p:cNvCxnSpPr>
          <p:nvPr/>
        </p:nvCxnSpPr>
        <p:spPr>
          <a:xfrm>
            <a:off x="2743200" y="3657600"/>
            <a:ext cx="10668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D8EA9D-7659-39A3-9BFE-09FF3AC01FCD}"/>
              </a:ext>
            </a:extLst>
          </p:cNvPr>
          <p:cNvCxnSpPr>
            <a:cxnSpLocks/>
          </p:cNvCxnSpPr>
          <p:nvPr/>
        </p:nvCxnSpPr>
        <p:spPr>
          <a:xfrm>
            <a:off x="4800600" y="3657600"/>
            <a:ext cx="8382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09A454-80B4-B00B-577A-D1EA5F194CDF}"/>
              </a:ext>
            </a:extLst>
          </p:cNvPr>
          <p:cNvCxnSpPr>
            <a:cxnSpLocks/>
          </p:cNvCxnSpPr>
          <p:nvPr/>
        </p:nvCxnSpPr>
        <p:spPr>
          <a:xfrm>
            <a:off x="2819400" y="5105400"/>
            <a:ext cx="9906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450652D-CA0C-8286-1F2B-4B09C6A14A26}"/>
              </a:ext>
            </a:extLst>
          </p:cNvPr>
          <p:cNvCxnSpPr>
            <a:cxnSpLocks/>
          </p:cNvCxnSpPr>
          <p:nvPr/>
        </p:nvCxnSpPr>
        <p:spPr>
          <a:xfrm>
            <a:off x="4800600" y="4953000"/>
            <a:ext cx="2286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369213D-3245-9EEE-1173-CE35E7266247}"/>
              </a:ext>
            </a:extLst>
          </p:cNvPr>
          <p:cNvCxnSpPr>
            <a:cxnSpLocks/>
          </p:cNvCxnSpPr>
          <p:nvPr/>
        </p:nvCxnSpPr>
        <p:spPr>
          <a:xfrm>
            <a:off x="5029200" y="4038600"/>
            <a:ext cx="6096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581A31-3562-5ED7-2C27-95CD05A56600}"/>
              </a:ext>
            </a:extLst>
          </p:cNvPr>
          <p:cNvCxnSpPr>
            <a:cxnSpLocks/>
          </p:cNvCxnSpPr>
          <p:nvPr/>
        </p:nvCxnSpPr>
        <p:spPr>
          <a:xfrm>
            <a:off x="5029200" y="4038600"/>
            <a:ext cx="0" cy="91440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CC4757-3F2C-05B9-3214-08EE73CD0FCA}"/>
              </a:ext>
            </a:extLst>
          </p:cNvPr>
          <p:cNvCxnSpPr>
            <a:cxnSpLocks/>
          </p:cNvCxnSpPr>
          <p:nvPr/>
        </p:nvCxnSpPr>
        <p:spPr>
          <a:xfrm>
            <a:off x="6019800" y="3886200"/>
            <a:ext cx="6096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31C73A3-BF52-0F09-4E73-02A8AA5ECA4C}"/>
              </a:ext>
            </a:extLst>
          </p:cNvPr>
          <p:cNvCxnSpPr>
            <a:cxnSpLocks/>
          </p:cNvCxnSpPr>
          <p:nvPr/>
        </p:nvCxnSpPr>
        <p:spPr>
          <a:xfrm>
            <a:off x="6629400" y="4648200"/>
            <a:ext cx="12954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F9180-79C5-34BA-3D2E-C5CD88023C41}"/>
              </a:ext>
            </a:extLst>
          </p:cNvPr>
          <p:cNvCxnSpPr>
            <a:cxnSpLocks/>
          </p:cNvCxnSpPr>
          <p:nvPr/>
        </p:nvCxnSpPr>
        <p:spPr>
          <a:xfrm>
            <a:off x="6629400" y="3886200"/>
            <a:ext cx="0" cy="76200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58904FE-366B-D989-53BD-FF951477C0BA}"/>
              </a:ext>
            </a:extLst>
          </p:cNvPr>
          <p:cNvSpPr/>
          <p:nvPr/>
        </p:nvSpPr>
        <p:spPr>
          <a:xfrm>
            <a:off x="6115050" y="2971800"/>
            <a:ext cx="285750" cy="6858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8C68CB3-A610-4FF2-CF7E-EB389D2FE0BD}"/>
              </a:ext>
            </a:extLst>
          </p:cNvPr>
          <p:cNvSpPr/>
          <p:nvPr/>
        </p:nvSpPr>
        <p:spPr>
          <a:xfrm>
            <a:off x="7696199" y="2971800"/>
            <a:ext cx="709449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55D20A5-D686-89C3-7E2A-E3E4E972CE8D}"/>
              </a:ext>
            </a:extLst>
          </p:cNvPr>
          <p:cNvSpPr/>
          <p:nvPr/>
        </p:nvSpPr>
        <p:spPr>
          <a:xfrm>
            <a:off x="4648201" y="2971800"/>
            <a:ext cx="533400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BA89D90-99F1-9028-3EE1-09D0C6DE7920}"/>
              </a:ext>
            </a:extLst>
          </p:cNvPr>
          <p:cNvCxnSpPr>
            <a:cxnSpLocks/>
          </p:cNvCxnSpPr>
          <p:nvPr/>
        </p:nvCxnSpPr>
        <p:spPr>
          <a:xfrm>
            <a:off x="8153400" y="4505325"/>
            <a:ext cx="0" cy="76200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902DF8F-FC21-1E7D-7764-99A313D917A8}"/>
              </a:ext>
            </a:extLst>
          </p:cNvPr>
          <p:cNvCxnSpPr>
            <a:cxnSpLocks/>
          </p:cNvCxnSpPr>
          <p:nvPr/>
        </p:nvCxnSpPr>
        <p:spPr>
          <a:xfrm>
            <a:off x="3657600" y="5267325"/>
            <a:ext cx="44958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58CD691-392D-F2F8-CCFD-E96818B465F0}"/>
              </a:ext>
            </a:extLst>
          </p:cNvPr>
          <p:cNvCxnSpPr>
            <a:cxnSpLocks/>
          </p:cNvCxnSpPr>
          <p:nvPr/>
        </p:nvCxnSpPr>
        <p:spPr>
          <a:xfrm>
            <a:off x="3657600" y="4343400"/>
            <a:ext cx="1524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8772F-6B0C-AD1B-3845-03B0A997ABD3}"/>
              </a:ext>
            </a:extLst>
          </p:cNvPr>
          <p:cNvCxnSpPr>
            <a:cxnSpLocks/>
          </p:cNvCxnSpPr>
          <p:nvPr/>
        </p:nvCxnSpPr>
        <p:spPr>
          <a:xfrm>
            <a:off x="3648075" y="4352925"/>
            <a:ext cx="0" cy="91440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6C55E75-5427-9559-C471-3365D514F396}"/>
              </a:ext>
            </a:extLst>
          </p:cNvPr>
          <p:cNvCxnSpPr>
            <a:cxnSpLocks/>
          </p:cNvCxnSpPr>
          <p:nvPr/>
        </p:nvCxnSpPr>
        <p:spPr>
          <a:xfrm>
            <a:off x="2743200" y="4191000"/>
            <a:ext cx="10668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390478E1-965E-F761-AEF9-6B00D6FC8B18}"/>
              </a:ext>
            </a:extLst>
          </p:cNvPr>
          <p:cNvSpPr/>
          <p:nvPr/>
        </p:nvSpPr>
        <p:spPr>
          <a:xfrm>
            <a:off x="4114800" y="2971800"/>
            <a:ext cx="490728" cy="344424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2BF986-9232-B2EF-1D5F-43937E154727}"/>
              </a:ext>
            </a:extLst>
          </p:cNvPr>
          <p:cNvSpPr txBox="1"/>
          <p:nvPr/>
        </p:nvSpPr>
        <p:spPr>
          <a:xfrm>
            <a:off x="4838268" y="3137356"/>
            <a:ext cx="343333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680694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62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09600" y="1143000"/>
            <a:ext cx="7696200" cy="49530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sz="2400" b="1" dirty="0"/>
              <a:t>With </a:t>
            </a:r>
            <a:r>
              <a:rPr lang="en-US" sz="2400" b="1" dirty="0">
                <a:solidFill>
                  <a:srgbClr val="0070C0"/>
                </a:solidFill>
              </a:rPr>
              <a:t>register </a:t>
            </a:r>
            <a:r>
              <a:rPr lang="en-US" sz="2400" b="1" dirty="0"/>
              <a:t>Src2: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Read from </a:t>
            </a:r>
            <a:r>
              <a:rPr lang="en-US" sz="2000" dirty="0">
                <a:latin typeface="Courier New" pitchFamily="49" charset="0"/>
              </a:rPr>
              <a:t>Rn</a:t>
            </a:r>
            <a:r>
              <a:rPr lang="en-US" sz="2000" dirty="0"/>
              <a:t> and </a:t>
            </a:r>
            <a:r>
              <a:rPr lang="en-US" sz="2000" dirty="0">
                <a:latin typeface="Courier New" pitchFamily="49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(instead of </a:t>
            </a:r>
            <a:r>
              <a:rPr lang="en-US" sz="2000" dirty="0">
                <a:latin typeface="Courier New" pitchFamily="49" charset="0"/>
              </a:rPr>
              <a:t>Imm8)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</a:t>
            </a:r>
            <a:r>
              <a:rPr lang="en-US" sz="2000" i="1" dirty="0" err="1"/>
              <a:t>ALUResult</a:t>
            </a:r>
            <a:r>
              <a:rPr lang="en-US" sz="2000" dirty="0"/>
              <a:t> to register file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to </a:t>
            </a:r>
            <a:r>
              <a:rPr lang="en-US" sz="2000" dirty="0">
                <a:latin typeface="Courier New" pitchFamily="49" charset="0"/>
              </a:rPr>
              <a:t>Rd</a:t>
            </a: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8759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Data-processing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09045" y="2315255"/>
            <a:ext cx="8727817" cy="3548325"/>
            <a:chOff x="309045" y="2315255"/>
            <a:chExt cx="8727817" cy="3548325"/>
          </a:xfrm>
        </p:grpSpPr>
        <p:grpSp>
          <p:nvGrpSpPr>
            <p:cNvPr id="14" name="Group 13"/>
            <p:cNvGrpSpPr/>
            <p:nvPr/>
          </p:nvGrpSpPr>
          <p:grpSpPr>
            <a:xfrm>
              <a:off x="309045" y="3044950"/>
              <a:ext cx="8727817" cy="2818630"/>
              <a:chOff x="309045" y="3044950"/>
              <a:chExt cx="8727817" cy="2818630"/>
            </a:xfrm>
          </p:grpSpPr>
          <p:pic>
            <p:nvPicPr>
              <p:cNvPr id="16" name="Picture 65"/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045" y="3044950"/>
                <a:ext cx="8492817" cy="28186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Rectangle 16"/>
              <p:cNvSpPr/>
              <p:nvPr/>
            </p:nvSpPr>
            <p:spPr>
              <a:xfrm>
                <a:off x="5892171" y="4611428"/>
                <a:ext cx="3144691" cy="12440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5071266" y="3298720"/>
                <a:ext cx="1478592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6453845" y="4477125"/>
                <a:ext cx="230431" cy="8983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800960" y="4611428"/>
                <a:ext cx="182423" cy="1617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/>
            <p:cNvSpPr/>
            <p:nvPr/>
          </p:nvSpPr>
          <p:spPr>
            <a:xfrm>
              <a:off x="5992985" y="2315255"/>
              <a:ext cx="2959600" cy="1731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/>
          <p:cNvSpPr/>
          <p:nvPr/>
        </p:nvSpPr>
        <p:spPr>
          <a:xfrm>
            <a:off x="2987227" y="5449568"/>
            <a:ext cx="2114681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Rd, Rn, Rm</a:t>
            </a:r>
          </a:p>
        </p:txBody>
      </p:sp>
    </p:spTree>
    <p:extLst>
      <p:ext uri="{BB962C8B-B14F-4D97-AF65-F5344CB8AC3E}">
        <p14:creationId xmlns:p14="http://schemas.microsoft.com/office/powerpoint/2010/main" val="1038710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62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09600" y="1143000"/>
            <a:ext cx="7696200" cy="49530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sz="2400" b="1" dirty="0"/>
              <a:t>With </a:t>
            </a:r>
            <a:r>
              <a:rPr lang="en-US" sz="2400" b="1" dirty="0">
                <a:solidFill>
                  <a:srgbClr val="0070C0"/>
                </a:solidFill>
              </a:rPr>
              <a:t>register </a:t>
            </a:r>
            <a:r>
              <a:rPr lang="en-US" sz="2400" b="1" dirty="0"/>
              <a:t>Src2: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Read from </a:t>
            </a:r>
            <a:r>
              <a:rPr lang="en-US" sz="2000" dirty="0">
                <a:latin typeface="Courier New" pitchFamily="49" charset="0"/>
              </a:rPr>
              <a:t>Rn</a:t>
            </a:r>
            <a:r>
              <a:rPr lang="en-US" sz="2000" dirty="0"/>
              <a:t> and </a:t>
            </a:r>
            <a:r>
              <a:rPr lang="en-US" sz="2000" dirty="0">
                <a:latin typeface="Courier New" pitchFamily="49" charset="0"/>
              </a:rPr>
              <a:t>Rm</a:t>
            </a:r>
            <a:r>
              <a:rPr lang="en-US" sz="2000" dirty="0">
                <a:latin typeface="+mj-lt"/>
                <a:cs typeface="Times New Roman" panose="02020603050405020304" pitchFamily="18" charset="0"/>
              </a:rPr>
              <a:t> (instead of </a:t>
            </a:r>
            <a:r>
              <a:rPr lang="en-US" sz="2000" dirty="0">
                <a:latin typeface="Courier New" pitchFamily="49" charset="0"/>
              </a:rPr>
              <a:t>Imm8)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</a:t>
            </a:r>
            <a:r>
              <a:rPr lang="en-US" sz="2000" i="1" dirty="0" err="1"/>
              <a:t>ALUResult</a:t>
            </a:r>
            <a:r>
              <a:rPr lang="en-US" sz="2000" dirty="0"/>
              <a:t> to register file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Write to </a:t>
            </a:r>
            <a:r>
              <a:rPr lang="en-US" sz="2000" dirty="0">
                <a:latin typeface="Courier New" pitchFamily="49" charset="0"/>
              </a:rPr>
              <a:t>Rd</a:t>
            </a:r>
            <a:endParaRPr lang="en-US" sz="2000" dirty="0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570014"/>
              </p:ext>
            </p:extLst>
          </p:nvPr>
        </p:nvGraphicFramePr>
        <p:xfrm>
          <a:off x="762000" y="2743200"/>
          <a:ext cx="7774371" cy="2505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143567" imgH="1657485" progId="Visio.Drawing.15">
                  <p:embed/>
                </p:oleObj>
              </mc:Choice>
              <mc:Fallback>
                <p:oleObj name="Visio" r:id="rId4" imgW="5143567" imgH="16574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62000" y="2743200"/>
                        <a:ext cx="7774371" cy="2505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8759"/>
            <a:ext cx="883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</a:rPr>
              <a:t>Single-Cycle </a:t>
            </a:r>
            <a:r>
              <a:rPr lang="en-US" sz="4200" dirty="0" err="1">
                <a:solidFill>
                  <a:schemeClr val="bg1"/>
                </a:solidFill>
              </a:rPr>
              <a:t>Datapath</a:t>
            </a:r>
            <a:r>
              <a:rPr lang="en-US" sz="4200" dirty="0">
                <a:solidFill>
                  <a:schemeClr val="bg1"/>
                </a:solidFill>
              </a:rPr>
              <a:t>: Data-processing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5519" y="5449568"/>
            <a:ext cx="2114681" cy="3416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Rd, Rn, Rm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2B6293-E948-C9A9-DFD4-34DF4E096678}"/>
              </a:ext>
            </a:extLst>
          </p:cNvPr>
          <p:cNvCxnSpPr>
            <a:cxnSpLocks/>
          </p:cNvCxnSpPr>
          <p:nvPr/>
        </p:nvCxnSpPr>
        <p:spPr>
          <a:xfrm>
            <a:off x="2762119" y="4114800"/>
            <a:ext cx="10668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8B6A96-FBE4-CD3F-3376-ABE17CD077D8}"/>
              </a:ext>
            </a:extLst>
          </p:cNvPr>
          <p:cNvCxnSpPr>
            <a:cxnSpLocks/>
          </p:cNvCxnSpPr>
          <p:nvPr/>
        </p:nvCxnSpPr>
        <p:spPr>
          <a:xfrm>
            <a:off x="2762119" y="3733800"/>
            <a:ext cx="5334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52EF96-3CD4-836C-D8D4-D55CF74903B5}"/>
              </a:ext>
            </a:extLst>
          </p:cNvPr>
          <p:cNvCxnSpPr>
            <a:cxnSpLocks/>
          </p:cNvCxnSpPr>
          <p:nvPr/>
        </p:nvCxnSpPr>
        <p:spPr>
          <a:xfrm>
            <a:off x="5334000" y="3962400"/>
            <a:ext cx="3810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3BAA8A-ED8B-2310-1FFA-023BC2B280D2}"/>
              </a:ext>
            </a:extLst>
          </p:cNvPr>
          <p:cNvCxnSpPr>
            <a:cxnSpLocks/>
          </p:cNvCxnSpPr>
          <p:nvPr/>
        </p:nvCxnSpPr>
        <p:spPr>
          <a:xfrm>
            <a:off x="3486281" y="3810000"/>
            <a:ext cx="342638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90485A7-9F9B-B47D-C205-934897BCC8FE}"/>
              </a:ext>
            </a:extLst>
          </p:cNvPr>
          <p:cNvCxnSpPr>
            <a:cxnSpLocks/>
          </p:cNvCxnSpPr>
          <p:nvPr/>
        </p:nvCxnSpPr>
        <p:spPr>
          <a:xfrm>
            <a:off x="4876800" y="3810000"/>
            <a:ext cx="323719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6C287E3-ED71-C908-1F57-11F0D1F1E735}"/>
              </a:ext>
            </a:extLst>
          </p:cNvPr>
          <p:cNvCxnSpPr>
            <a:cxnSpLocks/>
          </p:cNvCxnSpPr>
          <p:nvPr/>
        </p:nvCxnSpPr>
        <p:spPr>
          <a:xfrm>
            <a:off x="6096000" y="3733800"/>
            <a:ext cx="6858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9AB76B7-25B4-CC9F-BB0E-56DB13A9BA13}"/>
              </a:ext>
            </a:extLst>
          </p:cNvPr>
          <p:cNvCxnSpPr>
            <a:cxnSpLocks/>
          </p:cNvCxnSpPr>
          <p:nvPr/>
        </p:nvCxnSpPr>
        <p:spPr>
          <a:xfrm>
            <a:off x="6781800" y="3733800"/>
            <a:ext cx="0" cy="7620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D0467E-DE98-D59A-469C-63E3EEF4F0C4}"/>
              </a:ext>
            </a:extLst>
          </p:cNvPr>
          <p:cNvCxnSpPr>
            <a:cxnSpLocks/>
          </p:cNvCxnSpPr>
          <p:nvPr/>
        </p:nvCxnSpPr>
        <p:spPr>
          <a:xfrm>
            <a:off x="6781800" y="4495800"/>
            <a:ext cx="12192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D1E9AF4-5806-9734-F789-DD2F21B3F8D7}"/>
              </a:ext>
            </a:extLst>
          </p:cNvPr>
          <p:cNvCxnSpPr>
            <a:cxnSpLocks/>
          </p:cNvCxnSpPr>
          <p:nvPr/>
        </p:nvCxnSpPr>
        <p:spPr>
          <a:xfrm>
            <a:off x="3581400" y="5181600"/>
            <a:ext cx="47244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A3BDF39-64CA-32F8-6586-85ACCF81B02F}"/>
              </a:ext>
            </a:extLst>
          </p:cNvPr>
          <p:cNvCxnSpPr>
            <a:cxnSpLocks/>
          </p:cNvCxnSpPr>
          <p:nvPr/>
        </p:nvCxnSpPr>
        <p:spPr>
          <a:xfrm>
            <a:off x="8310880" y="4419600"/>
            <a:ext cx="0" cy="7620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974952-96C1-C107-E195-4CE912EEF543}"/>
              </a:ext>
            </a:extLst>
          </p:cNvPr>
          <p:cNvCxnSpPr>
            <a:cxnSpLocks/>
          </p:cNvCxnSpPr>
          <p:nvPr/>
        </p:nvCxnSpPr>
        <p:spPr>
          <a:xfrm>
            <a:off x="8229600" y="4434840"/>
            <a:ext cx="762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D5706AE-9BD7-288F-A7BC-5E5C35845F40}"/>
              </a:ext>
            </a:extLst>
          </p:cNvPr>
          <p:cNvCxnSpPr>
            <a:cxnSpLocks/>
          </p:cNvCxnSpPr>
          <p:nvPr/>
        </p:nvCxnSpPr>
        <p:spPr>
          <a:xfrm>
            <a:off x="3657600" y="4267200"/>
            <a:ext cx="0" cy="9144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72CFD36-2F2D-CF49-6B01-3ADE6445BD3A}"/>
              </a:ext>
            </a:extLst>
          </p:cNvPr>
          <p:cNvCxnSpPr>
            <a:cxnSpLocks/>
          </p:cNvCxnSpPr>
          <p:nvPr/>
        </p:nvCxnSpPr>
        <p:spPr>
          <a:xfrm>
            <a:off x="3657600" y="4272280"/>
            <a:ext cx="171319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7996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B44D14-ADFF-CD4D-C3E5-47587D0C632B}"/>
              </a:ext>
            </a:extLst>
          </p:cNvPr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Datapath Instructions: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8CABD2-87A2-7DFA-8A5B-8438C4FED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060" y="1219200"/>
            <a:ext cx="5290740" cy="11237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CD07105-8D82-9849-9C60-368BDDD9425C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571500" y="2514600"/>
            <a:ext cx="7696200" cy="2514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itchFamily="34" charset="0"/>
              <a:buNone/>
            </a:pPr>
            <a:r>
              <a:rPr lang="en-US" b="1" dirty="0">
                <a:latin typeface="+mj-lt"/>
              </a:rPr>
              <a:t>Calculate branch target address: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dirty="0">
                <a:latin typeface="+mj-lt"/>
              </a:rPr>
              <a:t>     		BTA = (</a:t>
            </a:r>
            <a:r>
              <a:rPr lang="en-US" sz="2000" i="1" dirty="0" err="1">
                <a:latin typeface="+mj-lt"/>
                <a:cs typeface="Courier New" panose="02070309020205020404" pitchFamily="49" charset="0"/>
              </a:rPr>
              <a:t>ExtImm</a:t>
            </a:r>
            <a:r>
              <a:rPr lang="en-US" sz="2000" dirty="0">
                <a:latin typeface="+mj-lt"/>
              </a:rPr>
              <a:t>) + (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PC </a:t>
            </a:r>
            <a:r>
              <a:rPr lang="en-US" sz="2000" dirty="0">
                <a:latin typeface="+mj-lt"/>
              </a:rPr>
              <a:t>+ 8)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i="1" dirty="0">
                <a:latin typeface="+mj-lt"/>
              </a:rPr>
              <a:t>	  	</a:t>
            </a:r>
            <a:r>
              <a:rPr lang="en-US" sz="2000" i="1" dirty="0" err="1">
                <a:latin typeface="+mj-lt"/>
              </a:rPr>
              <a:t>ExtImm</a:t>
            </a:r>
            <a:r>
              <a:rPr lang="en-US" sz="2000" i="1" dirty="0">
                <a:latin typeface="+mj-lt"/>
              </a:rPr>
              <a:t> =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000" i="1" dirty="0">
                <a:latin typeface="+mj-lt"/>
              </a:rPr>
              <a:t> &lt;&lt; 2 </a:t>
            </a:r>
            <a:r>
              <a:rPr lang="en-US" sz="2000" dirty="0">
                <a:latin typeface="+mj-lt"/>
              </a:rPr>
              <a:t>and sign-extended</a:t>
            </a:r>
            <a:r>
              <a:rPr lang="en-US" sz="2000" i="1" dirty="0"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5322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651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7696200" cy="49530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b="1" dirty="0">
                <a:latin typeface="+mj-lt"/>
              </a:rPr>
              <a:t>Calculate branch target address: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dirty="0">
                <a:latin typeface="+mj-lt"/>
              </a:rPr>
              <a:t>     		BTA = (</a:t>
            </a:r>
            <a:r>
              <a:rPr lang="en-US" sz="2000" i="1" dirty="0" err="1">
                <a:latin typeface="+mj-lt"/>
                <a:cs typeface="Courier New" panose="02070309020205020404" pitchFamily="49" charset="0"/>
              </a:rPr>
              <a:t>ExtImm</a:t>
            </a:r>
            <a:r>
              <a:rPr lang="en-US" sz="2000" dirty="0">
                <a:latin typeface="+mj-lt"/>
              </a:rPr>
              <a:t>) + (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PC </a:t>
            </a:r>
            <a:r>
              <a:rPr lang="en-US" sz="2000" dirty="0">
                <a:latin typeface="+mj-lt"/>
              </a:rPr>
              <a:t>+ 8)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i="1" dirty="0">
                <a:latin typeface="+mj-lt"/>
              </a:rPr>
              <a:t>	  	</a:t>
            </a:r>
            <a:r>
              <a:rPr lang="en-US" sz="2000" i="1" dirty="0" err="1">
                <a:latin typeface="+mj-lt"/>
              </a:rPr>
              <a:t>ExtImm</a:t>
            </a:r>
            <a:r>
              <a:rPr lang="en-US" sz="2000" i="1" dirty="0">
                <a:latin typeface="+mj-lt"/>
              </a:rPr>
              <a:t> = </a:t>
            </a:r>
            <a:r>
              <a:rPr lang="en-US" sz="2000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2000" i="1" dirty="0">
                <a:latin typeface="+mj-lt"/>
              </a:rPr>
              <a:t> &lt;&lt; 2 </a:t>
            </a:r>
            <a:r>
              <a:rPr lang="en-US" sz="2000" dirty="0">
                <a:latin typeface="+mj-lt"/>
              </a:rPr>
              <a:t>and sign-extended</a:t>
            </a:r>
            <a:r>
              <a:rPr lang="en-US" sz="2000" i="1" dirty="0">
                <a:latin typeface="+mj-lt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2963171"/>
              </p:ext>
            </p:extLst>
          </p:nvPr>
        </p:nvGraphicFramePr>
        <p:xfrm>
          <a:off x="838200" y="2217419"/>
          <a:ext cx="7543800" cy="24307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143567" imgH="1657485" progId="Visio.Drawing.15">
                  <p:embed/>
                </p:oleObj>
              </mc:Choice>
              <mc:Fallback>
                <p:oleObj name="Visio" r:id="rId4" imgW="5143567" imgH="16574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38200" y="2217419"/>
                        <a:ext cx="7543800" cy="24307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060" y="4648200"/>
            <a:ext cx="5290740" cy="11237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/>
          <p:cNvSpPr/>
          <p:nvPr/>
        </p:nvSpPr>
        <p:spPr>
          <a:xfrm>
            <a:off x="3962400" y="5525768"/>
            <a:ext cx="1149674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B Label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27CB655-5DAC-820D-6702-8A131465FC0D}"/>
              </a:ext>
            </a:extLst>
          </p:cNvPr>
          <p:cNvCxnSpPr>
            <a:cxnSpLocks/>
          </p:cNvCxnSpPr>
          <p:nvPr/>
        </p:nvCxnSpPr>
        <p:spPr>
          <a:xfrm>
            <a:off x="2971800" y="3048000"/>
            <a:ext cx="1524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EF3950-D2C7-069B-77BC-91A5F7D953EA}"/>
              </a:ext>
            </a:extLst>
          </p:cNvPr>
          <p:cNvCxnSpPr>
            <a:cxnSpLocks/>
          </p:cNvCxnSpPr>
          <p:nvPr/>
        </p:nvCxnSpPr>
        <p:spPr>
          <a:xfrm>
            <a:off x="3276600" y="2971800"/>
            <a:ext cx="5334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B94FC7-FCA3-FBDD-8DF9-F519E6B77C21}"/>
              </a:ext>
            </a:extLst>
          </p:cNvPr>
          <p:cNvCxnSpPr>
            <a:cxnSpLocks/>
          </p:cNvCxnSpPr>
          <p:nvPr/>
        </p:nvCxnSpPr>
        <p:spPr>
          <a:xfrm>
            <a:off x="2781300" y="4343400"/>
            <a:ext cx="9906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EFCF1E-C78E-4BC3-B2F0-FEAE11A64283}"/>
              </a:ext>
            </a:extLst>
          </p:cNvPr>
          <p:cNvCxnSpPr>
            <a:cxnSpLocks/>
          </p:cNvCxnSpPr>
          <p:nvPr/>
        </p:nvCxnSpPr>
        <p:spPr>
          <a:xfrm>
            <a:off x="4800600" y="4267200"/>
            <a:ext cx="2286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5A3A09-C82B-9F37-C26B-D28291577D5D}"/>
              </a:ext>
            </a:extLst>
          </p:cNvPr>
          <p:cNvCxnSpPr>
            <a:cxnSpLocks/>
          </p:cNvCxnSpPr>
          <p:nvPr/>
        </p:nvCxnSpPr>
        <p:spPr>
          <a:xfrm>
            <a:off x="5029200" y="3429000"/>
            <a:ext cx="8287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DAF2A4A-D876-B243-5E07-459833017B70}"/>
              </a:ext>
            </a:extLst>
          </p:cNvPr>
          <p:cNvCxnSpPr>
            <a:cxnSpLocks/>
          </p:cNvCxnSpPr>
          <p:nvPr/>
        </p:nvCxnSpPr>
        <p:spPr>
          <a:xfrm>
            <a:off x="5029200" y="3429000"/>
            <a:ext cx="0" cy="8382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AE5A8C-751E-5A2C-F6ED-5E01427B3681}"/>
              </a:ext>
            </a:extLst>
          </p:cNvPr>
          <p:cNvCxnSpPr>
            <a:cxnSpLocks/>
          </p:cNvCxnSpPr>
          <p:nvPr/>
        </p:nvCxnSpPr>
        <p:spPr>
          <a:xfrm>
            <a:off x="6629400" y="3124200"/>
            <a:ext cx="0" cy="8382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5A97BB-1762-3C09-F9B0-C8C7B013604B}"/>
              </a:ext>
            </a:extLst>
          </p:cNvPr>
          <p:cNvCxnSpPr>
            <a:cxnSpLocks/>
          </p:cNvCxnSpPr>
          <p:nvPr/>
        </p:nvCxnSpPr>
        <p:spPr>
          <a:xfrm>
            <a:off x="8153400" y="3848100"/>
            <a:ext cx="0" cy="80010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134FB9-3D1D-4D91-E1F5-3C619D19431F}"/>
              </a:ext>
            </a:extLst>
          </p:cNvPr>
          <p:cNvCxnSpPr>
            <a:cxnSpLocks/>
          </p:cNvCxnSpPr>
          <p:nvPr/>
        </p:nvCxnSpPr>
        <p:spPr>
          <a:xfrm>
            <a:off x="6629400" y="3941064"/>
            <a:ext cx="12954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E3AF385-C4C4-2B76-1730-EA6352A031BD}"/>
              </a:ext>
            </a:extLst>
          </p:cNvPr>
          <p:cNvCxnSpPr>
            <a:cxnSpLocks/>
          </p:cNvCxnSpPr>
          <p:nvPr/>
        </p:nvCxnSpPr>
        <p:spPr>
          <a:xfrm>
            <a:off x="838200" y="4632960"/>
            <a:ext cx="73152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C19A4E2-B967-05B5-076B-1BB181C98C71}"/>
              </a:ext>
            </a:extLst>
          </p:cNvPr>
          <p:cNvCxnSpPr>
            <a:cxnSpLocks/>
          </p:cNvCxnSpPr>
          <p:nvPr/>
        </p:nvCxnSpPr>
        <p:spPr>
          <a:xfrm>
            <a:off x="850392" y="2895600"/>
            <a:ext cx="0" cy="174345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C536C17-2E73-CB21-E38E-61E59A10A6C0}"/>
              </a:ext>
            </a:extLst>
          </p:cNvPr>
          <p:cNvCxnSpPr>
            <a:cxnSpLocks/>
          </p:cNvCxnSpPr>
          <p:nvPr/>
        </p:nvCxnSpPr>
        <p:spPr>
          <a:xfrm>
            <a:off x="838200" y="2901696"/>
            <a:ext cx="3048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BA4217-0754-EF58-592B-4699306C5649}"/>
              </a:ext>
            </a:extLst>
          </p:cNvPr>
          <p:cNvCxnSpPr>
            <a:cxnSpLocks/>
          </p:cNvCxnSpPr>
          <p:nvPr/>
        </p:nvCxnSpPr>
        <p:spPr>
          <a:xfrm>
            <a:off x="5334000" y="3352800"/>
            <a:ext cx="3048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C90D15C-87E2-1D88-8814-8153810E7FC9}"/>
              </a:ext>
            </a:extLst>
          </p:cNvPr>
          <p:cNvCxnSpPr>
            <a:cxnSpLocks/>
          </p:cNvCxnSpPr>
          <p:nvPr/>
        </p:nvCxnSpPr>
        <p:spPr>
          <a:xfrm>
            <a:off x="5943600" y="3136392"/>
            <a:ext cx="6858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2CE2DC8-00D2-4F4B-45D4-B90E174CDBA2}"/>
              </a:ext>
            </a:extLst>
          </p:cNvPr>
          <p:cNvSpPr/>
          <p:nvPr/>
        </p:nvSpPr>
        <p:spPr>
          <a:xfrm>
            <a:off x="3048000" y="2293620"/>
            <a:ext cx="533400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1ECA2B64-331F-88EC-4B9D-036E0A769EF0}"/>
              </a:ext>
            </a:extLst>
          </p:cNvPr>
          <p:cNvSpPr/>
          <p:nvPr/>
        </p:nvSpPr>
        <p:spPr>
          <a:xfrm>
            <a:off x="4634122" y="2293620"/>
            <a:ext cx="450520" cy="3218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D28AAF59-F43F-D7E3-B901-6266AB41469B}"/>
              </a:ext>
            </a:extLst>
          </p:cNvPr>
          <p:cNvSpPr/>
          <p:nvPr/>
        </p:nvSpPr>
        <p:spPr>
          <a:xfrm>
            <a:off x="5486400" y="2293620"/>
            <a:ext cx="650964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24338B9-7D94-38E8-6C22-6337B445553A}"/>
              </a:ext>
            </a:extLst>
          </p:cNvPr>
          <p:cNvSpPr/>
          <p:nvPr/>
        </p:nvSpPr>
        <p:spPr>
          <a:xfrm>
            <a:off x="7658099" y="2293620"/>
            <a:ext cx="723897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0DBB98A-7385-0FD4-AFC5-1907340A0953}"/>
              </a:ext>
            </a:extLst>
          </p:cNvPr>
          <p:cNvSpPr/>
          <p:nvPr/>
        </p:nvSpPr>
        <p:spPr>
          <a:xfrm>
            <a:off x="926592" y="2293620"/>
            <a:ext cx="533400" cy="381000"/>
          </a:xfrm>
          <a:prstGeom prst="round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DA2070A-5784-A8EB-F501-BC37902E336C}"/>
              </a:ext>
            </a:extLst>
          </p:cNvPr>
          <p:cNvCxnSpPr>
            <a:cxnSpLocks/>
          </p:cNvCxnSpPr>
          <p:nvPr/>
        </p:nvCxnSpPr>
        <p:spPr>
          <a:xfrm>
            <a:off x="4797552" y="2971800"/>
            <a:ext cx="841248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94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4400" dirty="0" err="1">
                <a:solidFill>
                  <a:schemeClr val="bg1"/>
                </a:solidFill>
                <a:latin typeface="+mj-lt"/>
                <a:cs typeface="Courier New" pitchFamily="49" charset="0"/>
              </a:rPr>
              <a:t>ExtImm</a:t>
            </a:r>
            <a:endParaRPr lang="en-US" sz="4400" dirty="0">
              <a:solidFill>
                <a:schemeClr val="bg1"/>
              </a:solidFill>
              <a:latin typeface="+mj-lt"/>
              <a:cs typeface="Courier New" pitchFamily="49" charset="0"/>
            </a:endParaRPr>
          </a:p>
        </p:txBody>
      </p:sp>
      <p:graphicFrame>
        <p:nvGraphicFramePr>
          <p:cNvPr id="6" name="Group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39958872"/>
              </p:ext>
            </p:extLst>
          </p:nvPr>
        </p:nvGraphicFramePr>
        <p:xfrm>
          <a:off x="1676400" y="4191000"/>
          <a:ext cx="5486400" cy="1341120"/>
        </p:xfrm>
        <a:graphic>
          <a:graphicData uri="http://schemas.openxmlformats.org/drawingml/2006/table">
            <a:tbl>
              <a:tblPr/>
              <a:tblGrid>
                <a:gridCol w="12191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ImmSrc</a:t>
                      </a:r>
                      <a:r>
                        <a:rPr kumimoji="0" lang="en-US" sz="16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1:0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ExtImm</a:t>
                      </a:r>
                      <a:endParaRPr kumimoji="0" 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{24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urier New" panose="02070309020205020404" pitchFamily="49" charset="0"/>
                        </a:rPr>
                        <a:t>’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b0, Instr</a:t>
                      </a:r>
                      <a:r>
                        <a:rPr kumimoji="0" lang="en-US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7:0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Zero-extended </a:t>
                      </a:r>
                      <a:r>
                        <a:rPr kumimoji="0" lang="en-US" sz="16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urier New" panose="02070309020205020404" pitchFamily="49" charset="0"/>
                        </a:rPr>
                        <a:t>imm8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{20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urier New" panose="02070309020205020404" pitchFamily="49" charset="0"/>
                        </a:rPr>
                        <a:t>’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b0, Instr</a:t>
                      </a:r>
                      <a:r>
                        <a:rPr kumimoji="0" lang="en-US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11:0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Zero-extended </a:t>
                      </a:r>
                      <a:r>
                        <a:rPr kumimoji="0" lang="en-US" sz="16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urier New" panose="02070309020205020404" pitchFamily="49" charset="0"/>
                        </a:rPr>
                        <a:t>imm12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{6{Instr</a:t>
                      </a:r>
                      <a:r>
                        <a:rPr kumimoji="0" lang="en-US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23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}, Instr</a:t>
                      </a:r>
                      <a:r>
                        <a:rPr kumimoji="0" lang="en-US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23:0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Sign-extended </a:t>
                      </a:r>
                      <a:r>
                        <a:rPr kumimoji="0" lang="en-US" sz="16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urier New" panose="02070309020205020404" pitchFamily="49" charset="0"/>
                        </a:rPr>
                        <a:t>imm24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531513"/>
              </p:ext>
            </p:extLst>
          </p:nvPr>
        </p:nvGraphicFramePr>
        <p:xfrm>
          <a:off x="196850" y="1219200"/>
          <a:ext cx="8750300" cy="281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143567" imgH="1657485" progId="Visio.Drawing.15">
                  <p:embed/>
                </p:oleObj>
              </mc:Choice>
              <mc:Fallback>
                <p:oleObj name="Visio" r:id="rId4" imgW="5143567" imgH="1657485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" y="1219200"/>
                        <a:ext cx="8750300" cy="281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547755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6EFD49-F262-9E81-AD9D-E09A345E28D1}"/>
              </a:ext>
            </a:extLst>
          </p:cNvPr>
          <p:cNvSpPr txBox="1"/>
          <p:nvPr/>
        </p:nvSpPr>
        <p:spPr>
          <a:xfrm>
            <a:off x="1066800" y="26595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+mj-lt"/>
              </a:rPr>
              <a:t>Controller – </a:t>
            </a:r>
            <a:r>
              <a:rPr lang="en-US" sz="4400" dirty="0" err="1">
                <a:latin typeface="+mj-lt"/>
              </a:rPr>
              <a:t>Khối</a:t>
            </a:r>
            <a:r>
              <a:rPr lang="en-US" sz="4400" dirty="0">
                <a:latin typeface="+mj-lt"/>
              </a:rPr>
              <a:t> </a:t>
            </a:r>
            <a:r>
              <a:rPr lang="en-US" sz="4400" dirty="0" err="1">
                <a:latin typeface="+mj-lt"/>
              </a:rPr>
              <a:t>điều</a:t>
            </a:r>
            <a:r>
              <a:rPr lang="en-US" sz="4400" dirty="0">
                <a:latin typeface="+mj-lt"/>
              </a:rPr>
              <a:t> </a:t>
            </a:r>
            <a:r>
              <a:rPr lang="en-US" sz="4400" dirty="0" err="1">
                <a:latin typeface="+mj-lt"/>
              </a:rPr>
              <a:t>khiển</a:t>
            </a:r>
            <a:endParaRPr lang="en-US" sz="44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0BD397-2D9E-469D-BEA4-DC25284BA0AC}"/>
              </a:ext>
            </a:extLst>
          </p:cNvPr>
          <p:cNvSpPr txBox="1"/>
          <p:nvPr/>
        </p:nvSpPr>
        <p:spPr>
          <a:xfrm>
            <a:off x="447675" y="28575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ARM Processor</a:t>
            </a:r>
          </a:p>
        </p:txBody>
      </p:sp>
    </p:spTree>
    <p:extLst>
      <p:ext uri="{BB962C8B-B14F-4D97-AF65-F5344CB8AC3E}">
        <p14:creationId xmlns:p14="http://schemas.microsoft.com/office/powerpoint/2010/main" val="21945424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74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37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+mj-lt"/>
              </a:rPr>
              <a:t>Controller for Single-Cycle ARM Processor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7085149"/>
              </p:ext>
            </p:extLst>
          </p:nvPr>
        </p:nvGraphicFramePr>
        <p:xfrm>
          <a:off x="557439" y="1143000"/>
          <a:ext cx="8230961" cy="438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5010049" imgH="2667000" progId="Visio.Drawing.15">
                  <p:embed/>
                </p:oleObj>
              </mc:Choice>
              <mc:Fallback>
                <p:oleObj name="Visio" r:id="rId5" imgW="5010049" imgH="26670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57439" y="1143000"/>
                        <a:ext cx="8230961" cy="4381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3327CE7-4FEE-FAAF-A7E4-B392AE9F8A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5572069"/>
            <a:ext cx="2534004" cy="26673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281379-8F4E-517D-3941-D7403566CA65}"/>
              </a:ext>
            </a:extLst>
          </p:cNvPr>
          <p:cNvSpPr/>
          <p:nvPr/>
        </p:nvSpPr>
        <p:spPr>
          <a:xfrm>
            <a:off x="2590800" y="1523999"/>
            <a:ext cx="1019175" cy="1371601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34913-DB4D-C92F-0CBB-5A7E8B6DDA7C}"/>
              </a:ext>
            </a:extLst>
          </p:cNvPr>
          <p:cNvSpPr txBox="1"/>
          <p:nvPr/>
        </p:nvSpPr>
        <p:spPr>
          <a:xfrm>
            <a:off x="1814514" y="2038983"/>
            <a:ext cx="776286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1800" b="1" dirty="0">
                <a:latin typeface="+mj-lt"/>
              </a:rPr>
              <a:t>Input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BBB57D-A46E-1FB3-8A43-5AAFAFBD16B6}"/>
              </a:ext>
            </a:extLst>
          </p:cNvPr>
          <p:cNvSpPr/>
          <p:nvPr/>
        </p:nvSpPr>
        <p:spPr>
          <a:xfrm>
            <a:off x="3709761" y="1066856"/>
            <a:ext cx="962026" cy="1571606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48CDD5-CBCC-27CA-5D96-5CE00B2DE1FF}"/>
              </a:ext>
            </a:extLst>
          </p:cNvPr>
          <p:cNvSpPr txBox="1"/>
          <p:nvPr/>
        </p:nvSpPr>
        <p:spPr>
          <a:xfrm>
            <a:off x="4581524" y="1219200"/>
            <a:ext cx="962025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1800" b="1" dirty="0">
                <a:latin typeface="+mj-lt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789705260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agram, schematic&#10;&#10;Description automatically generated">
            <a:extLst>
              <a:ext uri="{FF2B5EF4-FFF2-40B4-BE49-F238E27FC236}">
                <a16:creationId xmlns:a16="http://schemas.microsoft.com/office/drawing/2014/main" id="{57BC46F5-9FF5-E6C5-5F35-00CBE4346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7" y="212725"/>
            <a:ext cx="7093905" cy="6721475"/>
          </a:xfrm>
          <a:prstGeom prst="rect">
            <a:avLst/>
          </a:prstGeom>
          <a:noFill/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82E249-C7C6-CA1A-0319-58D8D5B811D3}"/>
              </a:ext>
            </a:extLst>
          </p:cNvPr>
          <p:cNvCxnSpPr>
            <a:cxnSpLocks/>
          </p:cNvCxnSpPr>
          <p:nvPr/>
        </p:nvCxnSpPr>
        <p:spPr>
          <a:xfrm flipH="1">
            <a:off x="1600200" y="2438400"/>
            <a:ext cx="2057400" cy="6858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769902D-2C2D-C000-BB8E-2E4C62F376C7}"/>
              </a:ext>
            </a:extLst>
          </p:cNvPr>
          <p:cNvCxnSpPr>
            <a:cxnSpLocks/>
          </p:cNvCxnSpPr>
          <p:nvPr/>
        </p:nvCxnSpPr>
        <p:spPr>
          <a:xfrm>
            <a:off x="5029200" y="1981200"/>
            <a:ext cx="685800" cy="1143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45310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81000" y="1066800"/>
            <a:ext cx="6863239" cy="4648200"/>
            <a:chOff x="381000" y="1066800"/>
            <a:chExt cx="6863239" cy="4648200"/>
          </a:xfrm>
        </p:grpSpPr>
        <p:pic>
          <p:nvPicPr>
            <p:cNvPr id="167016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1264394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381000" y="1066800"/>
            <a:ext cx="6863239" cy="4648200"/>
            <a:chOff x="381000" y="1066800"/>
            <a:chExt cx="6863239" cy="4648200"/>
          </a:xfrm>
        </p:grpSpPr>
        <p:pic>
          <p:nvPicPr>
            <p:cNvPr id="14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Rectangle 14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94569" y="4114800"/>
            <a:ext cx="344431" cy="1600200"/>
            <a:chOff x="8458200" y="4513943"/>
            <a:chExt cx="304800" cy="1295400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8458200" y="45139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8763000" y="4513943"/>
              <a:ext cx="0" cy="129540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8458200" y="58093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7239000" y="4495800"/>
            <a:ext cx="17129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</a:rPr>
              <a:t>Sent directly 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to </a:t>
            </a:r>
            <a:r>
              <a:rPr lang="en-US" sz="2200" b="1" dirty="0" err="1">
                <a:solidFill>
                  <a:srgbClr val="C00000"/>
                </a:solidFill>
              </a:rPr>
              <a:t>datapath</a:t>
            </a:r>
            <a:endParaRPr lang="en-US" sz="2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554725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381000" y="1066800"/>
            <a:ext cx="6863239" cy="4648200"/>
            <a:chOff x="381000" y="1066800"/>
            <a:chExt cx="6863239" cy="4648200"/>
          </a:xfrm>
        </p:grpSpPr>
        <p:pic>
          <p:nvPicPr>
            <p:cNvPr id="14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Rectangle 14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705600" y="2971800"/>
            <a:ext cx="200388" cy="930275"/>
            <a:chOff x="8458200" y="4513943"/>
            <a:chExt cx="304800" cy="1295400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8458200" y="45139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8763000" y="4513943"/>
              <a:ext cx="0" cy="129540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8458200" y="58093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953977" y="2590800"/>
            <a:ext cx="21900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</a:rPr>
              <a:t>Sent through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Conditional Logic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first, then to </a:t>
            </a:r>
          </a:p>
          <a:p>
            <a:r>
              <a:rPr lang="en-US" sz="2200" b="1" dirty="0" err="1">
                <a:solidFill>
                  <a:srgbClr val="C00000"/>
                </a:solidFill>
              </a:rPr>
              <a:t>datapath</a:t>
            </a:r>
            <a:endParaRPr lang="en-US" sz="2200" b="1" dirty="0">
              <a:solidFill>
                <a:srgbClr val="C00000"/>
              </a:solidFill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6894569" y="4114800"/>
            <a:ext cx="344431" cy="1600200"/>
            <a:chOff x="8458200" y="4513943"/>
            <a:chExt cx="304800" cy="1295400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8458200" y="45139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8763000" y="4513943"/>
              <a:ext cx="0" cy="129540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8458200" y="58093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7239000" y="4495800"/>
            <a:ext cx="17129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</a:rPr>
              <a:t>Sent directly 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to </a:t>
            </a:r>
            <a:r>
              <a:rPr lang="en-US" sz="2200" b="1" dirty="0" err="1">
                <a:solidFill>
                  <a:srgbClr val="C00000"/>
                </a:solidFill>
              </a:rPr>
              <a:t>datapath</a:t>
            </a:r>
            <a:endParaRPr lang="en-US" sz="2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4010215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381000" y="1066800"/>
            <a:ext cx="6863239" cy="4648200"/>
            <a:chOff x="381000" y="1066800"/>
            <a:chExt cx="6863239" cy="4648200"/>
          </a:xfrm>
        </p:grpSpPr>
        <p:pic>
          <p:nvPicPr>
            <p:cNvPr id="21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Rectangle 21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990600"/>
            <a:ext cx="3657600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These signals </a:t>
            </a:r>
            <a:r>
              <a:rPr lang="en-US" sz="2200" b="1" dirty="0"/>
              <a:t>change the state</a:t>
            </a:r>
            <a:r>
              <a:rPr lang="en-US" sz="2200" dirty="0"/>
              <a:t>  (PC, RF, Memory)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If instruction shouldn’t execute, </a:t>
            </a:r>
            <a:r>
              <a:rPr lang="en-US" sz="2200" b="1" dirty="0"/>
              <a:t>forced to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977" y="2590800"/>
            <a:ext cx="21900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</a:rPr>
              <a:t>Sent through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Conditional Logic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first, then to </a:t>
            </a:r>
          </a:p>
          <a:p>
            <a:r>
              <a:rPr lang="en-US" sz="2200" b="1" dirty="0" err="1">
                <a:solidFill>
                  <a:srgbClr val="C00000"/>
                </a:solidFill>
              </a:rPr>
              <a:t>datapath</a:t>
            </a:r>
            <a:endParaRPr lang="en-US" sz="2200" b="1" dirty="0">
              <a:solidFill>
                <a:srgbClr val="C00000"/>
              </a:solidFill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6705600" y="2971800"/>
            <a:ext cx="200388" cy="930275"/>
            <a:chOff x="8458200" y="4513943"/>
            <a:chExt cx="304800" cy="129540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458200" y="45139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8763000" y="4513943"/>
              <a:ext cx="0" cy="129540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8458200" y="58093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6894569" y="4114800"/>
            <a:ext cx="344431" cy="1600200"/>
            <a:chOff x="8458200" y="4513943"/>
            <a:chExt cx="304800" cy="129540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8458200" y="45139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8763000" y="4513943"/>
              <a:ext cx="0" cy="129540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8458200" y="5809343"/>
              <a:ext cx="304800" cy="0"/>
            </a:xfrm>
            <a:prstGeom prst="line">
              <a:avLst/>
            </a:prstGeom>
            <a:ln w="158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7239000" y="4495800"/>
            <a:ext cx="17129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</a:rPr>
              <a:t>Sent directly 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to </a:t>
            </a:r>
            <a:r>
              <a:rPr lang="en-US" sz="2200" b="1" dirty="0" err="1">
                <a:solidFill>
                  <a:srgbClr val="C00000"/>
                </a:solidFill>
              </a:rPr>
              <a:t>datapath</a:t>
            </a:r>
            <a:endParaRPr lang="en-US" sz="2200" b="1" dirty="0">
              <a:solidFill>
                <a:srgbClr val="C00000"/>
              </a:solidFill>
            </a:endParaRPr>
          </a:p>
        </p:txBody>
      </p:sp>
      <p:sp>
        <p:nvSpPr>
          <p:cNvPr id="2" name="Oval 1"/>
          <p:cNvSpPr/>
          <p:nvPr/>
        </p:nvSpPr>
        <p:spPr>
          <a:xfrm>
            <a:off x="5638800" y="2819400"/>
            <a:ext cx="1238977" cy="1219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/>
          <p:cNvCxnSpPr/>
          <p:nvPr/>
        </p:nvCxnSpPr>
        <p:spPr>
          <a:xfrm flipH="1">
            <a:off x="6400800" y="2438400"/>
            <a:ext cx="152400" cy="382250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4929068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52400" y="1066800"/>
            <a:ext cx="5400582" cy="3657600"/>
            <a:chOff x="381000" y="1066800"/>
            <a:chExt cx="6863239" cy="4648200"/>
          </a:xfrm>
        </p:grpSpPr>
        <p:pic>
          <p:nvPicPr>
            <p:cNvPr id="11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ctangle 11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0200" y="1187708"/>
            <a:ext cx="3733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i="1" dirty="0"/>
              <a:t>FlagW</a:t>
            </a:r>
            <a:r>
              <a:rPr lang="en-US" sz="2200" b="1" baseline="-25000" dirty="0"/>
              <a:t>1:0</a:t>
            </a:r>
            <a:r>
              <a:rPr lang="en-US" sz="2200" b="1" dirty="0"/>
              <a:t>:</a:t>
            </a:r>
            <a:r>
              <a:rPr lang="en-US" sz="2200" dirty="0"/>
              <a:t> Flag Write signal, asserted when </a:t>
            </a:r>
            <a:r>
              <a:rPr lang="en-US" sz="2200" i="1" dirty="0" err="1"/>
              <a:t>ALUFlags</a:t>
            </a:r>
            <a:r>
              <a:rPr lang="en-US" sz="2200" dirty="0"/>
              <a:t> should be saved (i.e., on instruction with S=1)</a:t>
            </a:r>
          </a:p>
        </p:txBody>
      </p:sp>
      <p:sp>
        <p:nvSpPr>
          <p:cNvPr id="14" name="Oval 13"/>
          <p:cNvSpPr/>
          <p:nvPr/>
        </p:nvSpPr>
        <p:spPr>
          <a:xfrm>
            <a:off x="2285999" y="2057400"/>
            <a:ext cx="990601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38424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52400" y="1066800"/>
            <a:ext cx="5400582" cy="3657600"/>
            <a:chOff x="381000" y="1066800"/>
            <a:chExt cx="6863239" cy="4648200"/>
          </a:xfrm>
        </p:grpSpPr>
        <p:pic>
          <p:nvPicPr>
            <p:cNvPr id="11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ctangle 11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0200" y="1187708"/>
            <a:ext cx="37338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i="1" dirty="0"/>
              <a:t>FlagW</a:t>
            </a:r>
            <a:r>
              <a:rPr lang="en-US" sz="2200" b="1" baseline="-25000" dirty="0"/>
              <a:t>1:0</a:t>
            </a:r>
            <a:r>
              <a:rPr lang="en-US" sz="2200" b="1" dirty="0"/>
              <a:t>:</a:t>
            </a:r>
            <a:r>
              <a:rPr lang="en-US" sz="2200" dirty="0"/>
              <a:t> Flag Write signal, asserted when </a:t>
            </a:r>
            <a:r>
              <a:rPr lang="en-US" sz="2200" i="1" dirty="0" err="1"/>
              <a:t>ALUFlags</a:t>
            </a:r>
            <a:r>
              <a:rPr lang="en-US" sz="2200" dirty="0"/>
              <a:t> should be saved (i.e., on instruction with S=1)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" pitchFamily="49" charset="0"/>
              </a:rPr>
              <a:t>ADD</a:t>
            </a:r>
            <a:r>
              <a:rPr lang="en-US" sz="2200" dirty="0"/>
              <a:t>, </a:t>
            </a:r>
            <a:r>
              <a:rPr lang="en-US" sz="2200" dirty="0">
                <a:latin typeface="Courier" pitchFamily="49" charset="0"/>
              </a:rPr>
              <a:t>SUB</a:t>
            </a:r>
            <a:r>
              <a:rPr lang="en-US" sz="2200" dirty="0"/>
              <a:t> update all flags (</a:t>
            </a:r>
            <a:r>
              <a:rPr lang="en-US" sz="2200" b="1" dirty="0"/>
              <a:t>NZCV</a:t>
            </a:r>
            <a:r>
              <a:rPr lang="en-US" sz="22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" pitchFamily="49" charset="0"/>
              </a:rPr>
              <a:t>AND</a:t>
            </a:r>
            <a:r>
              <a:rPr lang="en-US" sz="2200" dirty="0"/>
              <a:t>, </a:t>
            </a:r>
            <a:r>
              <a:rPr lang="en-US" sz="2200" dirty="0">
                <a:latin typeface="Courier" pitchFamily="49" charset="0"/>
              </a:rPr>
              <a:t>ORR</a:t>
            </a:r>
            <a:r>
              <a:rPr lang="en-US" sz="2200" dirty="0"/>
              <a:t> only update </a:t>
            </a:r>
            <a:r>
              <a:rPr lang="en-US" sz="2200" b="1" dirty="0"/>
              <a:t>NZ</a:t>
            </a:r>
            <a:r>
              <a:rPr lang="en-US" sz="2200" dirty="0"/>
              <a:t> flags</a:t>
            </a:r>
          </a:p>
        </p:txBody>
      </p:sp>
      <p:sp>
        <p:nvSpPr>
          <p:cNvPr id="14" name="Oval 13"/>
          <p:cNvSpPr/>
          <p:nvPr/>
        </p:nvSpPr>
        <p:spPr>
          <a:xfrm>
            <a:off x="2285999" y="2057400"/>
            <a:ext cx="990601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62925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52400" y="1066800"/>
            <a:ext cx="5400582" cy="3657600"/>
            <a:chOff x="381000" y="1066800"/>
            <a:chExt cx="6863239" cy="4648200"/>
          </a:xfrm>
        </p:grpSpPr>
        <p:pic>
          <p:nvPicPr>
            <p:cNvPr id="11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ctangle 11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0200" y="1187708"/>
            <a:ext cx="37338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i="1" dirty="0"/>
              <a:t>FlagW</a:t>
            </a:r>
            <a:r>
              <a:rPr lang="en-US" sz="2200" b="1" baseline="-25000" dirty="0"/>
              <a:t>1:0</a:t>
            </a:r>
            <a:r>
              <a:rPr lang="en-US" sz="2200" b="1" dirty="0"/>
              <a:t>:</a:t>
            </a:r>
            <a:r>
              <a:rPr lang="en-US" sz="2200" dirty="0"/>
              <a:t> Flag Write signal, asserted when </a:t>
            </a:r>
            <a:r>
              <a:rPr lang="en-US" sz="2200" i="1" dirty="0" err="1"/>
              <a:t>ALUFlags</a:t>
            </a:r>
            <a:r>
              <a:rPr lang="en-US" sz="2200" dirty="0"/>
              <a:t> should be saved (i.e., on instruction with S=1)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" pitchFamily="49" charset="0"/>
              </a:rPr>
              <a:t>ADD</a:t>
            </a:r>
            <a:r>
              <a:rPr lang="en-US" sz="2200" dirty="0"/>
              <a:t>, </a:t>
            </a:r>
            <a:r>
              <a:rPr lang="en-US" sz="2200" dirty="0">
                <a:latin typeface="Courier" pitchFamily="49" charset="0"/>
              </a:rPr>
              <a:t>SUB</a:t>
            </a:r>
            <a:r>
              <a:rPr lang="en-US" sz="2200" dirty="0"/>
              <a:t> update all flags (</a:t>
            </a:r>
            <a:r>
              <a:rPr lang="en-US" sz="2200" b="1" dirty="0"/>
              <a:t>NZCV</a:t>
            </a:r>
            <a:r>
              <a:rPr lang="en-US" sz="22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" pitchFamily="49" charset="0"/>
              </a:rPr>
              <a:t>AND</a:t>
            </a:r>
            <a:r>
              <a:rPr lang="en-US" sz="2200" dirty="0"/>
              <a:t>, </a:t>
            </a:r>
            <a:r>
              <a:rPr lang="en-US" sz="2200" dirty="0">
                <a:latin typeface="Courier" pitchFamily="49" charset="0"/>
              </a:rPr>
              <a:t>ORR</a:t>
            </a:r>
            <a:r>
              <a:rPr lang="en-US" sz="2200" dirty="0"/>
              <a:t> only update </a:t>
            </a:r>
            <a:r>
              <a:rPr lang="en-US" sz="2200" b="1" dirty="0"/>
              <a:t>NZ</a:t>
            </a:r>
            <a:r>
              <a:rPr lang="en-US" sz="2200" dirty="0"/>
              <a:t> flags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So, two bits needed:</a:t>
            </a:r>
          </a:p>
          <a:p>
            <a:pPr lvl="1"/>
            <a:r>
              <a:rPr lang="en-US" sz="2200" b="1" i="1" dirty="0"/>
              <a:t>	FlagW</a:t>
            </a:r>
            <a:r>
              <a:rPr lang="en-US" sz="2200" b="1" baseline="-25000" dirty="0"/>
              <a:t>1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NZ </a:t>
            </a:r>
            <a:r>
              <a:rPr lang="en-US" sz="2200" dirty="0"/>
              <a:t>saved  	(</a:t>
            </a:r>
            <a:r>
              <a:rPr lang="en-US" sz="2200" i="1" dirty="0"/>
              <a:t>ALUFlags</a:t>
            </a:r>
            <a:r>
              <a:rPr lang="en-US" sz="2200" baseline="-25000" dirty="0"/>
              <a:t>3:2</a:t>
            </a:r>
            <a:r>
              <a:rPr lang="en-US" sz="2200" dirty="0"/>
              <a:t> saved)</a:t>
            </a:r>
          </a:p>
          <a:p>
            <a:pPr lvl="1"/>
            <a:r>
              <a:rPr lang="en-US" sz="2200" b="1" i="1" dirty="0"/>
              <a:t>	FlagW</a:t>
            </a:r>
            <a:r>
              <a:rPr lang="en-US" sz="2200" b="1" baseline="-25000" dirty="0"/>
              <a:t>0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CV</a:t>
            </a:r>
            <a:r>
              <a:rPr lang="en-US" sz="2200" dirty="0"/>
              <a:t> saved 	(</a:t>
            </a:r>
            <a:r>
              <a:rPr lang="en-US" sz="2200" i="1" dirty="0"/>
              <a:t>ALUFlags</a:t>
            </a:r>
            <a:r>
              <a:rPr lang="en-US" sz="2200" baseline="-25000" dirty="0"/>
              <a:t>1:0</a:t>
            </a:r>
            <a:r>
              <a:rPr lang="en-US" sz="2200" dirty="0"/>
              <a:t> saved)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14" name="Oval 13"/>
          <p:cNvSpPr/>
          <p:nvPr/>
        </p:nvSpPr>
        <p:spPr>
          <a:xfrm>
            <a:off x="2285999" y="2057400"/>
            <a:ext cx="990601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62925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13" name="Group 12"/>
          <p:cNvGrpSpPr/>
          <p:nvPr/>
        </p:nvGrpSpPr>
        <p:grpSpPr>
          <a:xfrm>
            <a:off x="1152618" y="1098429"/>
            <a:ext cx="6924582" cy="4689745"/>
            <a:chOff x="381000" y="1066800"/>
            <a:chExt cx="6863239" cy="4648200"/>
          </a:xfrm>
        </p:grpSpPr>
        <p:pic>
          <p:nvPicPr>
            <p:cNvPr id="14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Rectangle 14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</p:spTree>
    <p:extLst>
      <p:ext uri="{BB962C8B-B14F-4D97-AF65-F5344CB8AC3E}">
        <p14:creationId xmlns:p14="http://schemas.microsoft.com/office/powerpoint/2010/main" val="2595652736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990600" y="1066800"/>
            <a:ext cx="7772400" cy="4721374"/>
            <a:chOff x="990600" y="1066800"/>
            <a:chExt cx="7772400" cy="4721374"/>
          </a:xfrm>
        </p:grpSpPr>
        <p:grpSp>
          <p:nvGrpSpPr>
            <p:cNvPr id="13" name="Group 12"/>
            <p:cNvGrpSpPr/>
            <p:nvPr/>
          </p:nvGrpSpPr>
          <p:grpSpPr>
            <a:xfrm>
              <a:off x="1152618" y="1098429"/>
              <a:ext cx="6924582" cy="4689745"/>
              <a:chOff x="381000" y="1066800"/>
              <a:chExt cx="6863239" cy="4648200"/>
            </a:xfrm>
          </p:grpSpPr>
          <p:pic>
            <p:nvPicPr>
              <p:cNvPr id="14" name="Picture 104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1066800"/>
                <a:ext cx="6710839" cy="4648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81000" y="5257800"/>
                <a:ext cx="18288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5029200" y="1066800"/>
              <a:ext cx="3733800" cy="30925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990600" y="1066800"/>
              <a:ext cx="4267200" cy="1339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36580453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238669" name="Picture 7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028473"/>
            <a:ext cx="4419600" cy="4801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28600" y="2363450"/>
            <a:ext cx="2438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Submodules: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Main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ALU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PC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</p:spTree>
    <p:extLst>
      <p:ext uri="{BB962C8B-B14F-4D97-AF65-F5344CB8AC3E}">
        <p14:creationId xmlns:p14="http://schemas.microsoft.com/office/powerpoint/2010/main" val="4011790358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238669" name="Picture 7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028473"/>
            <a:ext cx="4419600" cy="4801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28600" y="2363450"/>
            <a:ext cx="2438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Submodules: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070C0"/>
                </a:solidFill>
              </a:rPr>
              <a:t>Main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ALU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PC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</p:spTree>
    <p:extLst>
      <p:ext uri="{BB962C8B-B14F-4D97-AF65-F5344CB8AC3E}">
        <p14:creationId xmlns:p14="http://schemas.microsoft.com/office/powerpoint/2010/main" val="133508551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87878" name="Group 6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20555331"/>
              </p:ext>
            </p:extLst>
          </p:nvPr>
        </p:nvGraphicFramePr>
        <p:xfrm>
          <a:off x="609600" y="1295400"/>
          <a:ext cx="7696196" cy="4038599"/>
        </p:xfrm>
        <a:graphic>
          <a:graphicData uri="http://schemas.openxmlformats.org/drawingml/2006/table">
            <a:tbl>
              <a:tblPr/>
              <a:tblGrid>
                <a:gridCol w="4925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49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4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60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41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49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766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320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6495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6495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50346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Type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Branch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MemtoReg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MemW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ALUSrc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ImmSrc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RegW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RegSrc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026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DP </a:t>
                      </a:r>
                      <a:r>
                        <a:rPr kumimoji="0" lang="en-US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Reg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026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DP </a:t>
                      </a:r>
                      <a:r>
                        <a:rPr kumimoji="0" lang="en-US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Imm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026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STR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026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LDR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026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B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878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878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Control Unit: Main Decoder</a:t>
            </a:r>
          </a:p>
        </p:txBody>
      </p:sp>
    </p:spTree>
    <p:extLst>
      <p:ext uri="{BB962C8B-B14F-4D97-AF65-F5344CB8AC3E}">
        <p14:creationId xmlns:p14="http://schemas.microsoft.com/office/powerpoint/2010/main" val="85647930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  <p:pic>
        <p:nvPicPr>
          <p:cNvPr id="238669" name="Picture 7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028473"/>
            <a:ext cx="4419600" cy="4801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28600" y="2363450"/>
            <a:ext cx="2438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Submodules: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Main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070C0"/>
                </a:solidFill>
              </a:rPr>
              <a:t>ALU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PC Logic</a:t>
            </a:r>
          </a:p>
        </p:txBody>
      </p:sp>
    </p:spTree>
    <p:extLst>
      <p:ext uri="{BB962C8B-B14F-4D97-AF65-F5344CB8AC3E}">
        <p14:creationId xmlns:p14="http://schemas.microsoft.com/office/powerpoint/2010/main" val="841079898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038" name="Picture 10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983" y="1828800"/>
            <a:ext cx="4380742" cy="297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6755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1226757" name="Group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70032720"/>
              </p:ext>
            </p:extLst>
          </p:nvPr>
        </p:nvGraphicFramePr>
        <p:xfrm>
          <a:off x="533400" y="1981200"/>
          <a:ext cx="3657600" cy="2381250"/>
        </p:xfrm>
        <a:graphic>
          <a:graphicData uri="http://schemas.openxmlformats.org/drawingml/2006/table">
            <a:tbl>
              <a:tblPr/>
              <a:tblGrid>
                <a:gridCol w="2161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62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ALUControl</a:t>
                      </a:r>
                      <a:r>
                        <a:rPr kumimoji="0" lang="en-US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1:0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Function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Add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Subtract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AND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ALU</a:t>
            </a:r>
          </a:p>
        </p:txBody>
      </p:sp>
    </p:spTree>
    <p:extLst>
      <p:ext uri="{BB962C8B-B14F-4D97-AF65-F5344CB8AC3E}">
        <p14:creationId xmlns:p14="http://schemas.microsoft.com/office/powerpoint/2010/main" val="158941309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779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ALU</a:t>
            </a:r>
          </a:p>
        </p:txBody>
      </p:sp>
      <p:pic>
        <p:nvPicPr>
          <p:cNvPr id="169064" name="Picture 10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1045779"/>
            <a:ext cx="6553200" cy="4745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23817857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  <p:pic>
        <p:nvPicPr>
          <p:cNvPr id="238669" name="Picture 7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028473"/>
            <a:ext cx="4419600" cy="4801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28600" y="2363450"/>
            <a:ext cx="2438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Submodules: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Main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070C0"/>
                </a:solidFill>
              </a:rPr>
              <a:t>ALU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PC Logic</a:t>
            </a:r>
          </a:p>
        </p:txBody>
      </p:sp>
    </p:spTree>
    <p:extLst>
      <p:ext uri="{BB962C8B-B14F-4D97-AF65-F5344CB8AC3E}">
        <p14:creationId xmlns:p14="http://schemas.microsoft.com/office/powerpoint/2010/main" val="2103843914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87878" name="Group 6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5209612"/>
              </p:ext>
            </p:extLst>
          </p:nvPr>
        </p:nvGraphicFramePr>
        <p:xfrm>
          <a:off x="1066801" y="1097280"/>
          <a:ext cx="7162799" cy="3931920"/>
        </p:xfrm>
        <a:graphic>
          <a:graphicData uri="http://schemas.openxmlformats.org/drawingml/2006/table">
            <a:tbl>
              <a:tblPr/>
              <a:tblGrid>
                <a:gridCol w="1012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96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2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659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4:1 </a:t>
                      </a: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cmd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Type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ALUControl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FlagW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31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Not DP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31">
                <a:tc rowSpan="8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ADD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SUB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AND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ORR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4878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878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Control Unit: ALU Decoder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5029200"/>
            <a:ext cx="63246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1" i="1" dirty="0">
                <a:solidFill>
                  <a:srgbClr val="0070C0"/>
                </a:solidFill>
              </a:rPr>
              <a:t>FlagW</a:t>
            </a:r>
            <a:r>
              <a:rPr lang="en-US" sz="2200" b="1" baseline="-25000" dirty="0">
                <a:solidFill>
                  <a:srgbClr val="0070C0"/>
                </a:solidFill>
              </a:rPr>
              <a:t>1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NZ</a:t>
            </a:r>
            <a:r>
              <a:rPr lang="en-US" sz="2200" dirty="0"/>
              <a:t> (</a:t>
            </a:r>
            <a:r>
              <a:rPr lang="en-US" sz="2200" i="1" dirty="0"/>
              <a:t>Flags</a:t>
            </a:r>
            <a:r>
              <a:rPr lang="en-US" sz="2200" baseline="-25000" dirty="0"/>
              <a:t>3:2</a:t>
            </a:r>
            <a:r>
              <a:rPr lang="en-US" sz="2200" dirty="0"/>
              <a:t>) should be saved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1" i="1" dirty="0">
                <a:solidFill>
                  <a:srgbClr val="0070C0"/>
                </a:solidFill>
              </a:rPr>
              <a:t>FlagW</a:t>
            </a:r>
            <a:r>
              <a:rPr lang="en-US" sz="2200" b="1" baseline="-25000" dirty="0">
                <a:solidFill>
                  <a:srgbClr val="0070C0"/>
                </a:solidFill>
              </a:rPr>
              <a:t>0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CV</a:t>
            </a:r>
            <a:r>
              <a:rPr lang="en-US" sz="2200" dirty="0"/>
              <a:t> (</a:t>
            </a:r>
            <a:r>
              <a:rPr lang="en-US" sz="2200" i="1" dirty="0"/>
              <a:t>Flags</a:t>
            </a:r>
            <a:r>
              <a:rPr lang="en-US" sz="2200" baseline="-25000" dirty="0"/>
              <a:t>1:0</a:t>
            </a:r>
            <a:r>
              <a:rPr lang="en-US" sz="2200" dirty="0"/>
              <a:t>) should be saved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705573743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Decoder</a:t>
            </a:r>
          </a:p>
        </p:txBody>
      </p:sp>
      <p:pic>
        <p:nvPicPr>
          <p:cNvPr id="238669" name="Picture 7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028473"/>
            <a:ext cx="4419600" cy="4801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28600" y="2363450"/>
            <a:ext cx="2438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Submodules: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Main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ALU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070C0"/>
                </a:solidFill>
              </a:rPr>
              <a:t>PC Logic</a:t>
            </a:r>
          </a:p>
        </p:txBody>
      </p:sp>
    </p:spTree>
    <p:extLst>
      <p:ext uri="{BB962C8B-B14F-4D97-AF65-F5344CB8AC3E}">
        <p14:creationId xmlns:p14="http://schemas.microsoft.com/office/powerpoint/2010/main" val="3470030579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627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685800" y="914400"/>
            <a:ext cx="7696200" cy="49530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sz="2400" b="1" i="1" dirty="0"/>
              <a:t>      PCS</a:t>
            </a:r>
            <a:r>
              <a:rPr lang="en-US" sz="2400" b="1" dirty="0"/>
              <a:t> = 1 if PC is written by an instruction or branch (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2400" b="1" dirty="0">
                <a:sym typeface="Wingdings" panose="05000000000000000000" pitchFamily="2" charset="2"/>
              </a:rPr>
              <a:t>):</a:t>
            </a:r>
            <a:endParaRPr lang="en-US" sz="2400" b="1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400" dirty="0"/>
              <a:t>		</a:t>
            </a:r>
            <a:r>
              <a:rPr lang="en-US" sz="2400" i="1" dirty="0"/>
              <a:t>PCS</a:t>
            </a:r>
            <a:r>
              <a:rPr lang="en-US" sz="2400" dirty="0"/>
              <a:t> = ((</a:t>
            </a:r>
            <a:r>
              <a:rPr lang="en-US" sz="2400" i="1" dirty="0"/>
              <a:t>Rd</a:t>
            </a:r>
            <a:r>
              <a:rPr lang="en-US" sz="2400" dirty="0"/>
              <a:t> == 15) &amp; </a:t>
            </a:r>
            <a:r>
              <a:rPr lang="en-US" sz="2400" i="1" dirty="0" err="1"/>
              <a:t>RegW</a:t>
            </a:r>
            <a:r>
              <a:rPr lang="en-US" sz="2400" dirty="0"/>
              <a:t>) | </a:t>
            </a:r>
            <a:r>
              <a:rPr lang="en-US" sz="2400" i="1" dirty="0"/>
              <a:t>Branch</a:t>
            </a:r>
            <a:endParaRPr lang="en-US" sz="2400" i="1" dirty="0">
              <a:latin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Single-Cycle Control: PC Logic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43367268"/>
              </p:ext>
            </p:extLst>
          </p:nvPr>
        </p:nvGraphicFramePr>
        <p:xfrm>
          <a:off x="1331686" y="1752600"/>
          <a:ext cx="6593114" cy="35096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010049" imgH="2667000" progId="Visio.Drawing.15">
                  <p:embed/>
                </p:oleObj>
              </mc:Choice>
              <mc:Fallback>
                <p:oleObj name="Visio" r:id="rId4" imgW="5010049" imgH="2667000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686" y="1752600"/>
                        <a:ext cx="6593114" cy="350964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/>
          <p:cNvSpPr/>
          <p:nvPr/>
        </p:nvSpPr>
        <p:spPr>
          <a:xfrm>
            <a:off x="1331686" y="5181600"/>
            <a:ext cx="68580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/>
              <a:t>If instruction is executed:   </a:t>
            </a:r>
            <a:r>
              <a:rPr lang="en-US" sz="2200" b="1" i="1" dirty="0" err="1"/>
              <a:t>PCSrc</a:t>
            </a:r>
            <a:r>
              <a:rPr lang="en-US" sz="2200" b="1" dirty="0"/>
              <a:t> = </a:t>
            </a:r>
            <a:r>
              <a:rPr lang="en-US" sz="2200" b="1" i="1" dirty="0"/>
              <a:t>PCS</a:t>
            </a:r>
            <a:endParaRPr lang="en-US" sz="2200" b="1" dirty="0"/>
          </a:p>
          <a:p>
            <a:r>
              <a:rPr lang="en-US" sz="2200" b="1" dirty="0"/>
              <a:t>Else			      </a:t>
            </a:r>
            <a:r>
              <a:rPr lang="en-US" sz="2200" b="1" i="1" dirty="0" err="1"/>
              <a:t>PCSrc</a:t>
            </a:r>
            <a:r>
              <a:rPr lang="en-US" sz="2200" b="1" dirty="0"/>
              <a:t> = 0 (i.e., PC = PC + 4)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3316778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13" name="Group 12"/>
          <p:cNvGrpSpPr/>
          <p:nvPr/>
        </p:nvGrpSpPr>
        <p:grpSpPr>
          <a:xfrm>
            <a:off x="1152618" y="1098429"/>
            <a:ext cx="6924582" cy="4689745"/>
            <a:chOff x="381000" y="1066800"/>
            <a:chExt cx="6863239" cy="4648200"/>
          </a:xfrm>
        </p:grpSpPr>
        <p:pic>
          <p:nvPicPr>
            <p:cNvPr id="14" name="Picture 10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1066800"/>
              <a:ext cx="6710839" cy="4648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Rectangle 14"/>
            <p:cNvSpPr/>
            <p:nvPr/>
          </p:nvSpPr>
          <p:spPr>
            <a:xfrm>
              <a:off x="381000" y="525780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</a:t>
            </a:r>
          </a:p>
        </p:txBody>
      </p:sp>
    </p:spTree>
    <p:extLst>
      <p:ext uri="{BB962C8B-B14F-4D97-AF65-F5344CB8AC3E}">
        <p14:creationId xmlns:p14="http://schemas.microsoft.com/office/powerpoint/2010/main" val="2406945077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Control: Cond. Logic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066800" y="1098429"/>
            <a:ext cx="7086600" cy="4729358"/>
            <a:chOff x="1066800" y="1098429"/>
            <a:chExt cx="7086600" cy="4729358"/>
          </a:xfrm>
        </p:grpSpPr>
        <p:grpSp>
          <p:nvGrpSpPr>
            <p:cNvPr id="13" name="Group 12"/>
            <p:cNvGrpSpPr/>
            <p:nvPr/>
          </p:nvGrpSpPr>
          <p:grpSpPr>
            <a:xfrm>
              <a:off x="1152618" y="1098429"/>
              <a:ext cx="6924582" cy="4689745"/>
              <a:chOff x="381000" y="1066800"/>
              <a:chExt cx="6863239" cy="4648200"/>
            </a:xfrm>
          </p:grpSpPr>
          <p:pic>
            <p:nvPicPr>
              <p:cNvPr id="14" name="Picture 104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1066800"/>
                <a:ext cx="6710839" cy="4648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81000" y="5257800"/>
                <a:ext cx="18288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1066800" y="2514600"/>
              <a:ext cx="3048000" cy="32735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4800" y="4191000"/>
              <a:ext cx="4038600" cy="16367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54857277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Logic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066800" y="1098429"/>
            <a:ext cx="7086600" cy="4729358"/>
            <a:chOff x="1066800" y="1098429"/>
            <a:chExt cx="7086600" cy="4729358"/>
          </a:xfrm>
        </p:grpSpPr>
        <p:grpSp>
          <p:nvGrpSpPr>
            <p:cNvPr id="13" name="Group 12"/>
            <p:cNvGrpSpPr/>
            <p:nvPr/>
          </p:nvGrpSpPr>
          <p:grpSpPr>
            <a:xfrm>
              <a:off x="1152618" y="1098429"/>
              <a:ext cx="6924582" cy="4689745"/>
              <a:chOff x="381000" y="1066800"/>
              <a:chExt cx="6863239" cy="4648200"/>
            </a:xfrm>
          </p:grpSpPr>
          <p:pic>
            <p:nvPicPr>
              <p:cNvPr id="14" name="Picture 104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1066800"/>
                <a:ext cx="6710839" cy="4648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81000" y="5257800"/>
                <a:ext cx="18288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1066800" y="2514600"/>
              <a:ext cx="3048000" cy="32735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4800" y="4191000"/>
              <a:ext cx="4038600" cy="16367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" y="4264680"/>
            <a:ext cx="66294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Function: </a:t>
            </a:r>
            <a:r>
              <a:rPr lang="en-US" sz="2200" dirty="0"/>
              <a:t>	</a:t>
            </a:r>
          </a:p>
          <a:p>
            <a:pPr marL="457200" indent="-457200">
              <a:buAutoNum type="arabicPeriod"/>
            </a:pPr>
            <a:r>
              <a:rPr lang="en-US" sz="2200" dirty="0"/>
              <a:t>Check if instruction should execute (if not, force </a:t>
            </a:r>
            <a:r>
              <a:rPr lang="en-US" sz="2200" dirty="0" err="1"/>
              <a:t>PCSrc</a:t>
            </a:r>
            <a:r>
              <a:rPr lang="en-US" sz="2200" dirty="0"/>
              <a:t>, </a:t>
            </a:r>
            <a:r>
              <a:rPr lang="en-US" sz="2200" dirty="0" err="1"/>
              <a:t>RegWrite</a:t>
            </a:r>
            <a:r>
              <a:rPr lang="en-US" sz="2200" dirty="0"/>
              <a:t>, and </a:t>
            </a:r>
            <a:r>
              <a:rPr lang="en-US" sz="2200" dirty="0" err="1"/>
              <a:t>MemWrite</a:t>
            </a:r>
            <a:r>
              <a:rPr lang="en-US" sz="2200" dirty="0"/>
              <a:t> to 0)</a:t>
            </a:r>
          </a:p>
          <a:p>
            <a:pPr marL="457200" indent="-457200">
              <a:buAutoNum type="arabicPeriod"/>
            </a:pPr>
            <a:r>
              <a:rPr lang="en-US" sz="2200" dirty="0"/>
              <a:t>Possibly update Status Register (Flags</a:t>
            </a:r>
            <a:r>
              <a:rPr lang="en-US" sz="2200" baseline="-25000" dirty="0"/>
              <a:t>3:0</a:t>
            </a:r>
            <a:r>
              <a:rPr lang="en-US" sz="2200" dirty="0"/>
              <a:t>)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592550886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Logic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066800" y="1098429"/>
            <a:ext cx="7086600" cy="4729358"/>
            <a:chOff x="1066800" y="1098429"/>
            <a:chExt cx="7086600" cy="4729358"/>
          </a:xfrm>
        </p:grpSpPr>
        <p:grpSp>
          <p:nvGrpSpPr>
            <p:cNvPr id="13" name="Group 12"/>
            <p:cNvGrpSpPr/>
            <p:nvPr/>
          </p:nvGrpSpPr>
          <p:grpSpPr>
            <a:xfrm>
              <a:off x="1152618" y="1098429"/>
              <a:ext cx="6924582" cy="4689745"/>
              <a:chOff x="381000" y="1066800"/>
              <a:chExt cx="6863239" cy="4648200"/>
            </a:xfrm>
          </p:grpSpPr>
          <p:pic>
            <p:nvPicPr>
              <p:cNvPr id="14" name="Picture 104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1066800"/>
                <a:ext cx="6710839" cy="4648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81000" y="5257800"/>
                <a:ext cx="18288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1066800" y="2514600"/>
              <a:ext cx="3048000" cy="32735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4800" y="4191000"/>
              <a:ext cx="4038600" cy="16367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" y="4264680"/>
            <a:ext cx="66294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Function: </a:t>
            </a:r>
            <a:r>
              <a:rPr lang="en-US" sz="2200" dirty="0"/>
              <a:t>	</a:t>
            </a:r>
          </a:p>
          <a:p>
            <a:pPr marL="457200" indent="-457200">
              <a:buAutoNum type="arabicPeriod"/>
            </a:pPr>
            <a:r>
              <a:rPr lang="en-US" sz="2200" b="1" dirty="0"/>
              <a:t>Check if instruction should execute (if not, force </a:t>
            </a:r>
            <a:r>
              <a:rPr lang="en-US" sz="2200" b="1" dirty="0" err="1"/>
              <a:t>PCSrc</a:t>
            </a:r>
            <a:r>
              <a:rPr lang="en-US" sz="2200" b="1" dirty="0"/>
              <a:t>, </a:t>
            </a:r>
            <a:r>
              <a:rPr lang="en-US" sz="2200" b="1" dirty="0" err="1"/>
              <a:t>RegWrite</a:t>
            </a:r>
            <a:r>
              <a:rPr lang="en-US" sz="2200" b="1" dirty="0"/>
              <a:t>, and </a:t>
            </a:r>
            <a:r>
              <a:rPr lang="en-US" sz="2200" b="1" dirty="0" err="1"/>
              <a:t>MemWrite</a:t>
            </a:r>
            <a:r>
              <a:rPr lang="en-US" sz="2200" b="1" dirty="0"/>
              <a:t> to 0)</a:t>
            </a:r>
          </a:p>
          <a:p>
            <a:pPr marL="457200" indent="-457200">
              <a:buAutoNum type="arabicPeriod"/>
            </a:pPr>
            <a:r>
              <a:rPr lang="en-US" sz="2200" dirty="0"/>
              <a:t>Possibly update Status Register (Flags</a:t>
            </a:r>
            <a:r>
              <a:rPr lang="en-US" sz="2200" baseline="-25000" dirty="0"/>
              <a:t>3:0</a:t>
            </a:r>
            <a:r>
              <a:rPr lang="en-US" sz="2200" dirty="0"/>
              <a:t>)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919575937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Single-Cycle Control: Conditional Logic</a:t>
            </a:r>
          </a:p>
        </p:txBody>
      </p:sp>
      <p:pic>
        <p:nvPicPr>
          <p:cNvPr id="7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24486497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305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Conditional Logic: Conditional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953000"/>
            <a:ext cx="7548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Depending on condition mnemonic (</a:t>
            </a:r>
            <a:r>
              <a:rPr lang="en-US" sz="2200" b="1" i="1" dirty="0"/>
              <a:t>Cond</a:t>
            </a:r>
            <a:r>
              <a:rPr lang="en-US" sz="2200" b="1" baseline="-25000" dirty="0"/>
              <a:t>3:0</a:t>
            </a:r>
            <a:r>
              <a:rPr lang="en-US" sz="2200" dirty="0"/>
              <a:t>) and condition flags (</a:t>
            </a:r>
            <a:r>
              <a:rPr lang="en-US" sz="2200" b="1" i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) the instruction is executed (</a:t>
            </a:r>
            <a:r>
              <a:rPr lang="en-US" sz="2200" b="1" i="1" dirty="0" err="1"/>
              <a:t>CondEx</a:t>
            </a:r>
            <a:r>
              <a:rPr lang="en-US" sz="2200" dirty="0"/>
              <a:t> = 1)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667000" y="2590800"/>
            <a:ext cx="6096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886200" y="2971800"/>
            <a:ext cx="838200" cy="1600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87611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143000" y="4953000"/>
            <a:ext cx="7548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Depending on condition mnemonic (</a:t>
            </a:r>
            <a:r>
              <a:rPr lang="en-US" sz="2200" b="1" i="1" dirty="0"/>
              <a:t>Cond</a:t>
            </a:r>
            <a:r>
              <a:rPr lang="en-US" sz="2200" b="1" baseline="-25000" dirty="0"/>
              <a:t>3:0</a:t>
            </a:r>
            <a:r>
              <a:rPr lang="en-US" sz="2200" dirty="0"/>
              <a:t>) and condition flags (</a:t>
            </a:r>
            <a:r>
              <a:rPr lang="en-US" sz="2200" b="1" i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) the instruction is executed (</a:t>
            </a:r>
            <a:r>
              <a:rPr lang="en-US" sz="2200" b="1" i="1" dirty="0" err="1"/>
              <a:t>CondEx</a:t>
            </a:r>
            <a:r>
              <a:rPr lang="en-US" sz="2200" dirty="0"/>
              <a:t> = 1)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667000" y="2590800"/>
            <a:ext cx="6096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886200" y="2971800"/>
            <a:ext cx="838200" cy="1600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35475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 is the </a:t>
            </a:r>
            <a:r>
              <a:rPr lang="en-US" sz="2200" b="1" dirty="0">
                <a:solidFill>
                  <a:srgbClr val="0070C0"/>
                </a:solidFill>
              </a:rPr>
              <a:t>status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8759"/>
            <a:ext cx="8305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Conditional Logic: Conditional Execution</a:t>
            </a:r>
          </a:p>
        </p:txBody>
      </p:sp>
    </p:spTree>
    <p:extLst>
      <p:ext uri="{BB962C8B-B14F-4D97-AF65-F5344CB8AC3E}">
        <p14:creationId xmlns:p14="http://schemas.microsoft.com/office/powerpoint/2010/main" val="2184954974"/>
      </p:ext>
    </p:extLst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4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294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5855" y="68759"/>
            <a:ext cx="86819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Condition Mnemonics</a:t>
            </a:r>
            <a:endParaRPr lang="en-US" sz="4400" i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2055" y="1047890"/>
            <a:ext cx="5091572" cy="48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66118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2628" y="4953000"/>
            <a:ext cx="85389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0070C0"/>
                </a:solidFill>
              </a:rPr>
              <a:t>Example: </a:t>
            </a:r>
            <a:r>
              <a:rPr lang="en-US" sz="2200" dirty="0"/>
              <a:t>	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AND R1, R2, R3</a:t>
            </a:r>
          </a:p>
          <a:p>
            <a:r>
              <a:rPr lang="en-US" sz="2200" dirty="0"/>
              <a:t>		</a:t>
            </a:r>
            <a:r>
              <a:rPr lang="en-US" sz="2200" b="1" dirty="0"/>
              <a:t>Cond</a:t>
            </a:r>
            <a:r>
              <a:rPr lang="en-US" sz="2200" b="1" baseline="-25000" dirty="0"/>
              <a:t>3:0</a:t>
            </a:r>
            <a:r>
              <a:rPr lang="en-US" sz="2200" dirty="0"/>
              <a:t>=1110 (unconditional)		=&gt; </a:t>
            </a:r>
            <a:r>
              <a:rPr lang="en-US" sz="2200" b="1" dirty="0" err="1">
                <a:solidFill>
                  <a:srgbClr val="0070C0"/>
                </a:solidFill>
              </a:rPr>
              <a:t>CondEx</a:t>
            </a:r>
            <a:r>
              <a:rPr lang="en-US" sz="2200" dirty="0"/>
              <a:t> = 1</a:t>
            </a:r>
          </a:p>
          <a:p>
            <a:r>
              <a:rPr lang="en-US" sz="2200" dirty="0"/>
              <a:t>		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667000" y="2590800"/>
            <a:ext cx="6096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886200" y="2971800"/>
            <a:ext cx="838200" cy="1600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354759"/>
            <a:ext cx="1905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 = NZCV</a:t>
            </a:r>
            <a:endParaRPr lang="en-US" sz="2200" b="1" dirty="0">
              <a:solidFill>
                <a:srgbClr val="0070C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84892"/>
            <a:ext cx="8305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Conditional Logic: Conditional Execution</a:t>
            </a:r>
          </a:p>
        </p:txBody>
      </p:sp>
    </p:spTree>
    <p:extLst>
      <p:ext uri="{BB962C8B-B14F-4D97-AF65-F5344CB8AC3E}">
        <p14:creationId xmlns:p14="http://schemas.microsoft.com/office/powerpoint/2010/main" val="1759707619"/>
      </p:ext>
    </p:extLst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2628" y="4953000"/>
            <a:ext cx="85389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0070C0"/>
                </a:solidFill>
              </a:rPr>
              <a:t>Example: </a:t>
            </a:r>
            <a:r>
              <a:rPr lang="en-US" sz="2200" dirty="0"/>
              <a:t>	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EOREQ R5, R6, R7</a:t>
            </a:r>
          </a:p>
          <a:p>
            <a:r>
              <a:rPr lang="en-US" sz="2200" dirty="0"/>
              <a:t>		</a:t>
            </a:r>
            <a:r>
              <a:rPr lang="en-US" sz="2200" b="1" dirty="0"/>
              <a:t>Cond</a:t>
            </a:r>
            <a:r>
              <a:rPr lang="en-US" sz="2200" b="1" baseline="-25000" dirty="0"/>
              <a:t>3:0</a:t>
            </a:r>
            <a:r>
              <a:rPr lang="en-US" sz="2200" dirty="0"/>
              <a:t>=0000 (EQ): 	if </a:t>
            </a:r>
            <a:r>
              <a:rPr lang="en-US" sz="2200" b="1" dirty="0"/>
              <a:t>Flags</a:t>
            </a:r>
            <a:r>
              <a:rPr lang="en-US" sz="2200" b="1" baseline="-25000" dirty="0"/>
              <a:t> </a:t>
            </a:r>
            <a:r>
              <a:rPr lang="en-US" sz="2200" dirty="0"/>
              <a:t>= x1xx    =&gt; </a:t>
            </a:r>
            <a:r>
              <a:rPr lang="en-US" sz="2200" b="1" dirty="0" err="1">
                <a:solidFill>
                  <a:srgbClr val="0070C0"/>
                </a:solidFill>
              </a:rPr>
              <a:t>CondEx</a:t>
            </a:r>
            <a:r>
              <a:rPr lang="en-US" sz="2200" dirty="0">
                <a:solidFill>
                  <a:srgbClr val="0070C0"/>
                </a:solidFill>
              </a:rPr>
              <a:t> </a:t>
            </a:r>
            <a:r>
              <a:rPr lang="en-US" sz="2200" dirty="0"/>
              <a:t>= 1 	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667000" y="2590800"/>
            <a:ext cx="6096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886200" y="2971800"/>
            <a:ext cx="838200" cy="1600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354759"/>
            <a:ext cx="1905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 = NZCV</a:t>
            </a:r>
            <a:endParaRPr lang="en-US" sz="2200" b="1" dirty="0">
              <a:solidFill>
                <a:srgbClr val="0070C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84892"/>
            <a:ext cx="8305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Conditional Logic: Conditional Execution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DB6D36-AB4C-B013-16C5-BB5B20FA7CBC}"/>
              </a:ext>
            </a:extLst>
          </p:cNvPr>
          <p:cNvSpPr txBox="1"/>
          <p:nvPr/>
        </p:nvSpPr>
        <p:spPr>
          <a:xfrm>
            <a:off x="5943600" y="5107513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 Z C V</a:t>
            </a:r>
          </a:p>
        </p:txBody>
      </p:sp>
    </p:spTree>
    <p:extLst>
      <p:ext uri="{BB962C8B-B14F-4D97-AF65-F5344CB8AC3E}">
        <p14:creationId xmlns:p14="http://schemas.microsoft.com/office/powerpoint/2010/main" val="275239905"/>
      </p:ext>
    </p:extLst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Logic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066800" y="1098429"/>
            <a:ext cx="7086600" cy="4729358"/>
            <a:chOff x="1066800" y="1098429"/>
            <a:chExt cx="7086600" cy="4729358"/>
          </a:xfrm>
        </p:grpSpPr>
        <p:grpSp>
          <p:nvGrpSpPr>
            <p:cNvPr id="13" name="Group 12"/>
            <p:cNvGrpSpPr/>
            <p:nvPr/>
          </p:nvGrpSpPr>
          <p:grpSpPr>
            <a:xfrm>
              <a:off x="1152618" y="1098429"/>
              <a:ext cx="6924582" cy="4689745"/>
              <a:chOff x="381000" y="1066800"/>
              <a:chExt cx="6863239" cy="4648200"/>
            </a:xfrm>
          </p:grpSpPr>
          <p:pic>
            <p:nvPicPr>
              <p:cNvPr id="14" name="Picture 104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400" y="1066800"/>
                <a:ext cx="6710839" cy="4648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81000" y="5257800"/>
                <a:ext cx="18288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1066800" y="2514600"/>
              <a:ext cx="3048000" cy="32735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4800" y="4191000"/>
              <a:ext cx="4038600" cy="16367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" y="4264680"/>
            <a:ext cx="66294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Function: </a:t>
            </a:r>
            <a:r>
              <a:rPr lang="en-US" sz="2200" dirty="0"/>
              <a:t>	</a:t>
            </a:r>
          </a:p>
          <a:p>
            <a:pPr marL="457200" indent="-457200">
              <a:buAutoNum type="arabicPeriod"/>
            </a:pPr>
            <a:r>
              <a:rPr lang="en-US" sz="2200" dirty="0"/>
              <a:t>Check if instruction should execute (if not, force </a:t>
            </a:r>
            <a:r>
              <a:rPr lang="en-US" sz="2200" dirty="0" err="1"/>
              <a:t>PCSrc</a:t>
            </a:r>
            <a:r>
              <a:rPr lang="en-US" sz="2200" dirty="0"/>
              <a:t>, </a:t>
            </a:r>
            <a:r>
              <a:rPr lang="en-US" sz="2200" dirty="0" err="1"/>
              <a:t>RegWrite</a:t>
            </a:r>
            <a:r>
              <a:rPr lang="en-US" sz="2200" dirty="0"/>
              <a:t>, and </a:t>
            </a:r>
            <a:r>
              <a:rPr lang="en-US" sz="2200" dirty="0" err="1"/>
              <a:t>MemWrite</a:t>
            </a:r>
            <a:r>
              <a:rPr lang="en-US" sz="2200" dirty="0"/>
              <a:t> to 0)</a:t>
            </a:r>
          </a:p>
          <a:p>
            <a:pPr marL="457200" indent="-457200">
              <a:buAutoNum type="arabicPeriod"/>
            </a:pPr>
            <a:r>
              <a:rPr lang="en-US" sz="2200" b="1" dirty="0"/>
              <a:t>Possibly update Status Register (Flags</a:t>
            </a:r>
            <a:r>
              <a:rPr lang="en-US" sz="2200" b="1" baseline="-25000" dirty="0"/>
              <a:t>3:0</a:t>
            </a:r>
            <a:r>
              <a:rPr lang="en-US" sz="2200" b="1" dirty="0"/>
              <a:t>)</a:t>
            </a:r>
          </a:p>
          <a:p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919575937"/>
      </p:ext>
    </p:extLst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057400" y="4953000"/>
            <a:ext cx="5793486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Flags</a:t>
            </a:r>
            <a:r>
              <a:rPr lang="en-US" sz="2200" baseline="-25000" dirty="0"/>
              <a:t>3:0</a:t>
            </a:r>
            <a:r>
              <a:rPr lang="en-US" sz="2200" dirty="0"/>
              <a:t> </a:t>
            </a:r>
            <a:r>
              <a:rPr lang="en-US" sz="2200" b="1" dirty="0"/>
              <a:t>updated</a:t>
            </a:r>
            <a:r>
              <a:rPr lang="en-US" sz="2200" dirty="0"/>
              <a:t> (with ALUFlags</a:t>
            </a:r>
            <a:r>
              <a:rPr lang="en-US" sz="2200" baseline="-25000" dirty="0"/>
              <a:t>3:0</a:t>
            </a:r>
            <a:r>
              <a:rPr lang="en-US" sz="2200" dirty="0"/>
              <a:t>) if: 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000" b="1" dirty="0" err="1"/>
              <a:t>FlagW</a:t>
            </a:r>
            <a:r>
              <a:rPr lang="en-US" sz="2000" dirty="0"/>
              <a:t> is 1 (i.e., the instruction’s S-bit is 1) AND 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000" b="1" dirty="0" err="1"/>
              <a:t>CondEx</a:t>
            </a:r>
            <a:r>
              <a:rPr lang="en-US" sz="2000" dirty="0"/>
              <a:t> is 1 (the instruction should be executed)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590800" y="1828800"/>
            <a:ext cx="6858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354759"/>
            <a:ext cx="1905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 = NZCV</a:t>
            </a:r>
            <a:endParaRPr lang="en-US" sz="2200" b="1" dirty="0">
              <a:solidFill>
                <a:srgbClr val="0070C0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400300" y="3657600"/>
            <a:ext cx="8763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57200" y="68759"/>
            <a:ext cx="7924800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00" dirty="0">
                <a:solidFill>
                  <a:schemeClr val="bg1"/>
                </a:solidFill>
                <a:latin typeface="+mj-lt"/>
              </a:rPr>
              <a:t>Conditional Logic: Update (Set) Flags</a:t>
            </a:r>
          </a:p>
        </p:txBody>
      </p:sp>
    </p:spTree>
    <p:extLst>
      <p:ext uri="{BB962C8B-B14F-4D97-AF65-F5344CB8AC3E}">
        <p14:creationId xmlns:p14="http://schemas.microsoft.com/office/powerpoint/2010/main" val="275239905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867400" y="1219200"/>
            <a:ext cx="31242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Recall: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800" dirty="0"/>
              <a:t>,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sz="2800" dirty="0"/>
              <a:t> update </a:t>
            </a:r>
            <a:r>
              <a:rPr lang="en-US" sz="2800" b="1" dirty="0">
                <a:solidFill>
                  <a:srgbClr val="0070C0"/>
                </a:solidFill>
              </a:rPr>
              <a:t>all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Flags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800" dirty="0"/>
              <a:t>,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sz="2800" dirty="0"/>
              <a:t> update </a:t>
            </a:r>
            <a:r>
              <a:rPr lang="en-US" sz="2800" b="1" dirty="0">
                <a:solidFill>
                  <a:srgbClr val="0070C0"/>
                </a:solidFill>
              </a:rPr>
              <a:t>NZ only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So Flags status register has two write enables: </a:t>
            </a:r>
            <a:r>
              <a:rPr lang="en-US" sz="2800" b="1" dirty="0">
                <a:solidFill>
                  <a:srgbClr val="0070C0"/>
                </a:solidFill>
              </a:rPr>
              <a:t>FlagW</a:t>
            </a:r>
            <a:r>
              <a:rPr lang="en-US" sz="2800" b="1" baseline="-25000" dirty="0">
                <a:solidFill>
                  <a:srgbClr val="0070C0"/>
                </a:solidFill>
              </a:rPr>
              <a:t>1:0</a:t>
            </a:r>
          </a:p>
        </p:txBody>
      </p:sp>
      <p:pic>
        <p:nvPicPr>
          <p:cNvPr id="251966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219200"/>
            <a:ext cx="5301103" cy="45180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57200" y="68759"/>
            <a:ext cx="7924800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00" dirty="0">
                <a:solidFill>
                  <a:schemeClr val="bg1"/>
                </a:solidFill>
                <a:latin typeface="+mj-lt"/>
              </a:rPr>
              <a:t>Conditional Logic: Update (Set) Flags</a:t>
            </a:r>
          </a:p>
        </p:txBody>
      </p:sp>
    </p:spTree>
    <p:extLst>
      <p:ext uri="{BB962C8B-B14F-4D97-AF65-F5344CB8AC3E}">
        <p14:creationId xmlns:p14="http://schemas.microsoft.com/office/powerpoint/2010/main" val="316695746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87878" name="Group 6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689954"/>
              </p:ext>
            </p:extLst>
          </p:nvPr>
        </p:nvGraphicFramePr>
        <p:xfrm>
          <a:off x="1066801" y="1097280"/>
          <a:ext cx="7162799" cy="3931920"/>
        </p:xfrm>
        <a:graphic>
          <a:graphicData uri="http://schemas.openxmlformats.org/drawingml/2006/table">
            <a:tbl>
              <a:tblPr/>
              <a:tblGrid>
                <a:gridCol w="1012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96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2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659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4:1 </a:t>
                      </a: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cmd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Type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ALUControl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FlagW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31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Not DP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31">
                <a:tc rowSpan="8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ADD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SUB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AND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ORR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9731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48787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8787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ALU Decoder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5029200"/>
            <a:ext cx="63246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1" i="1" dirty="0">
                <a:solidFill>
                  <a:srgbClr val="0070C0"/>
                </a:solidFill>
              </a:rPr>
              <a:t>FlagW</a:t>
            </a:r>
            <a:r>
              <a:rPr lang="en-US" sz="2200" b="1" baseline="-25000" dirty="0">
                <a:solidFill>
                  <a:srgbClr val="0070C0"/>
                </a:solidFill>
              </a:rPr>
              <a:t>1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NZ</a:t>
            </a:r>
            <a:r>
              <a:rPr lang="en-US" sz="2200" dirty="0"/>
              <a:t> (</a:t>
            </a:r>
            <a:r>
              <a:rPr lang="en-US" sz="2200" i="1" dirty="0"/>
              <a:t>Flags</a:t>
            </a:r>
            <a:r>
              <a:rPr lang="en-US" sz="2200" baseline="-25000" dirty="0"/>
              <a:t>3:2</a:t>
            </a:r>
            <a:r>
              <a:rPr lang="en-US" sz="2200" dirty="0"/>
              <a:t>) should be saved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1" i="1" dirty="0">
                <a:solidFill>
                  <a:srgbClr val="0070C0"/>
                </a:solidFill>
              </a:rPr>
              <a:t>FlagW</a:t>
            </a:r>
            <a:r>
              <a:rPr lang="en-US" sz="2200" b="1" baseline="-25000" dirty="0">
                <a:solidFill>
                  <a:srgbClr val="0070C0"/>
                </a:solidFill>
              </a:rPr>
              <a:t>0</a:t>
            </a:r>
            <a:r>
              <a:rPr lang="en-US" sz="2200" baseline="-25000" dirty="0"/>
              <a:t> </a:t>
            </a:r>
            <a:r>
              <a:rPr lang="en-US" sz="2200" dirty="0"/>
              <a:t>= 1: </a:t>
            </a:r>
            <a:r>
              <a:rPr lang="en-US" sz="2200" i="1" dirty="0"/>
              <a:t>CV</a:t>
            </a:r>
            <a:r>
              <a:rPr lang="en-US" sz="2200" dirty="0"/>
              <a:t> (</a:t>
            </a:r>
            <a:r>
              <a:rPr lang="en-US" sz="2200" i="1" dirty="0"/>
              <a:t>Flags</a:t>
            </a:r>
            <a:r>
              <a:rPr lang="en-US" sz="2200" baseline="-25000" dirty="0"/>
              <a:t>1:0</a:t>
            </a:r>
            <a:r>
              <a:rPr lang="en-US" sz="2200" dirty="0"/>
              <a:t>) should be saved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72867476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00" dirty="0">
                <a:solidFill>
                  <a:schemeClr val="bg1"/>
                </a:solidFill>
                <a:latin typeface="+mj-lt"/>
              </a:rPr>
              <a:t>Conditional Logic: Update (Set) Flags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590800" y="1828800"/>
            <a:ext cx="6858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2354759"/>
            <a:ext cx="152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All Flags updated</a:t>
            </a:r>
            <a:endParaRPr lang="en-US" sz="2200" b="1" dirty="0">
              <a:solidFill>
                <a:srgbClr val="0070C0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400300" y="3657600"/>
            <a:ext cx="8763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52628" y="4953000"/>
            <a:ext cx="85389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0070C0"/>
                </a:solidFill>
              </a:rPr>
              <a:t>Example: </a:t>
            </a:r>
            <a:r>
              <a:rPr lang="en-US" sz="2200" dirty="0"/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SUBS R5, R6, R7</a:t>
            </a:r>
          </a:p>
          <a:p>
            <a:r>
              <a:rPr lang="en-US" sz="2200" dirty="0"/>
              <a:t>     </a:t>
            </a:r>
            <a:r>
              <a:rPr lang="en-US" sz="2200" b="1" dirty="0"/>
              <a:t>FlagW</a:t>
            </a:r>
            <a:r>
              <a:rPr lang="en-US" sz="2200" b="1" baseline="-25000" dirty="0"/>
              <a:t>1:0 </a:t>
            </a:r>
            <a:r>
              <a:rPr lang="en-US" sz="2200" dirty="0"/>
              <a:t>= 11 AND </a:t>
            </a:r>
            <a:r>
              <a:rPr lang="en-US" sz="2200" b="1" dirty="0" err="1">
                <a:solidFill>
                  <a:srgbClr val="0070C0"/>
                </a:solidFill>
              </a:rPr>
              <a:t>CondEx</a:t>
            </a:r>
            <a:r>
              <a:rPr lang="en-US" sz="2200" dirty="0">
                <a:solidFill>
                  <a:srgbClr val="0070C0"/>
                </a:solidFill>
              </a:rPr>
              <a:t> </a:t>
            </a:r>
            <a:r>
              <a:rPr lang="en-US" sz="2200" dirty="0"/>
              <a:t>= 1 (unconditional) =&gt; </a:t>
            </a:r>
            <a:r>
              <a:rPr lang="en-US" sz="2200" b="1" dirty="0">
                <a:solidFill>
                  <a:srgbClr val="0070C0"/>
                </a:solidFill>
              </a:rPr>
              <a:t>FlagWrite</a:t>
            </a:r>
            <a:r>
              <a:rPr lang="en-US" sz="2200" b="1" baseline="-25000" dirty="0">
                <a:solidFill>
                  <a:srgbClr val="0070C0"/>
                </a:solidFill>
              </a:rPr>
              <a:t>1:0</a:t>
            </a:r>
            <a:r>
              <a:rPr lang="en-US" sz="2200" dirty="0"/>
              <a:t> = 11 	</a:t>
            </a:r>
          </a:p>
        </p:txBody>
      </p:sp>
    </p:spTree>
    <p:extLst>
      <p:ext uri="{BB962C8B-B14F-4D97-AF65-F5344CB8AC3E}">
        <p14:creationId xmlns:p14="http://schemas.microsoft.com/office/powerpoint/2010/main" val="3833291831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800" dirty="0">
                <a:solidFill>
                  <a:schemeClr val="bg1"/>
                </a:solidFill>
                <a:latin typeface="+mj-lt"/>
              </a:rPr>
              <a:t>Conditional Logic: Update (Set) Flags</a:t>
            </a:r>
          </a:p>
        </p:txBody>
      </p:sp>
      <p:pic>
        <p:nvPicPr>
          <p:cNvPr id="250942" name="Picture 6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66" y="958953"/>
            <a:ext cx="4686300" cy="399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val 1"/>
          <p:cNvSpPr/>
          <p:nvPr/>
        </p:nvSpPr>
        <p:spPr>
          <a:xfrm>
            <a:off x="2590800" y="1828800"/>
            <a:ext cx="6858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105400" y="1981200"/>
            <a:ext cx="457200" cy="66778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1676400"/>
            <a:ext cx="19812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Flags</a:t>
            </a:r>
            <a:r>
              <a:rPr lang="en-US" sz="2200" b="1" baseline="-25000" dirty="0"/>
              <a:t>3:0</a:t>
            </a:r>
            <a:r>
              <a:rPr lang="en-US" sz="2200" dirty="0"/>
              <a:t> = NZCV</a:t>
            </a:r>
          </a:p>
          <a:p>
            <a:endParaRPr lang="en-US" sz="2200" dirty="0"/>
          </a:p>
          <a:p>
            <a:pPr marL="342900" indent="-342900">
              <a:buFont typeface="Arial" charset="0"/>
              <a:buChar char="•"/>
            </a:pPr>
            <a:r>
              <a:rPr lang="en-US" sz="2200" dirty="0"/>
              <a:t>Only </a:t>
            </a:r>
            <a:r>
              <a:rPr lang="en-US" sz="2200" b="1" dirty="0"/>
              <a:t>Flags</a:t>
            </a:r>
            <a:r>
              <a:rPr lang="en-US" sz="2200" b="1" baseline="-25000" dirty="0"/>
              <a:t>3:2</a:t>
            </a:r>
            <a:r>
              <a:rPr lang="en-US" sz="2200" dirty="0"/>
              <a:t> updated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200" dirty="0"/>
              <a:t>i.e., only </a:t>
            </a:r>
            <a:r>
              <a:rPr lang="en-US" sz="2200" b="1" dirty="0"/>
              <a:t>NZ</a:t>
            </a:r>
            <a:r>
              <a:rPr lang="en-US" sz="2200" dirty="0"/>
              <a:t> Flags updated</a:t>
            </a:r>
          </a:p>
        </p:txBody>
      </p:sp>
      <p:sp>
        <p:nvSpPr>
          <p:cNvPr id="12" name="Oval 11"/>
          <p:cNvSpPr/>
          <p:nvPr/>
        </p:nvSpPr>
        <p:spPr>
          <a:xfrm>
            <a:off x="2400300" y="3657600"/>
            <a:ext cx="876300" cy="4572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52628" y="4953000"/>
            <a:ext cx="85389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0070C0"/>
                </a:solidFill>
              </a:rPr>
              <a:t>Example: </a:t>
            </a:r>
            <a:r>
              <a:rPr lang="en-US" sz="2200" dirty="0"/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ANDS R7, R1, R3</a:t>
            </a:r>
          </a:p>
          <a:p>
            <a:r>
              <a:rPr lang="en-US" sz="2200" dirty="0"/>
              <a:t>     </a:t>
            </a:r>
            <a:r>
              <a:rPr lang="en-US" sz="2200" b="1" dirty="0"/>
              <a:t>FlagW</a:t>
            </a:r>
            <a:r>
              <a:rPr lang="en-US" sz="2200" b="1" baseline="-25000" dirty="0"/>
              <a:t>1:0 </a:t>
            </a:r>
            <a:r>
              <a:rPr lang="en-US" sz="2200" dirty="0"/>
              <a:t>= 10 AND </a:t>
            </a:r>
            <a:r>
              <a:rPr lang="en-US" sz="2200" b="1" dirty="0" err="1">
                <a:solidFill>
                  <a:srgbClr val="0070C0"/>
                </a:solidFill>
              </a:rPr>
              <a:t>CondEx</a:t>
            </a:r>
            <a:r>
              <a:rPr lang="en-US" sz="2200" dirty="0">
                <a:solidFill>
                  <a:srgbClr val="0070C0"/>
                </a:solidFill>
              </a:rPr>
              <a:t> </a:t>
            </a:r>
            <a:r>
              <a:rPr lang="en-US" sz="2200" dirty="0"/>
              <a:t>= 1 (unconditional) =&gt; </a:t>
            </a:r>
            <a:r>
              <a:rPr lang="en-US" sz="2200" b="1" dirty="0">
                <a:solidFill>
                  <a:srgbClr val="0070C0"/>
                </a:solidFill>
              </a:rPr>
              <a:t>FlagWrite</a:t>
            </a:r>
            <a:r>
              <a:rPr lang="en-US" sz="2200" b="1" baseline="-25000" dirty="0">
                <a:solidFill>
                  <a:srgbClr val="0070C0"/>
                </a:solidFill>
              </a:rPr>
              <a:t>1:0</a:t>
            </a:r>
            <a:r>
              <a:rPr lang="en-US" sz="2200" dirty="0"/>
              <a:t> = 10 	</a:t>
            </a:r>
          </a:p>
        </p:txBody>
      </p:sp>
    </p:spTree>
    <p:extLst>
      <p:ext uri="{BB962C8B-B14F-4D97-AF65-F5344CB8AC3E}">
        <p14:creationId xmlns:p14="http://schemas.microsoft.com/office/powerpoint/2010/main" val="357409193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891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989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989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Example: </a:t>
            </a:r>
            <a:r>
              <a:rPr lang="en-US" sz="4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</a:p>
        </p:txBody>
      </p:sp>
      <p:graphicFrame>
        <p:nvGraphicFramePr>
          <p:cNvPr id="8" name="Group 6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214389801"/>
              </p:ext>
            </p:extLst>
          </p:nvPr>
        </p:nvGraphicFramePr>
        <p:xfrm>
          <a:off x="1371600" y="990600"/>
          <a:ext cx="7162792" cy="1630360"/>
        </p:xfrm>
        <a:graphic>
          <a:graphicData uri="http://schemas.openxmlformats.org/drawingml/2006/table">
            <a:tbl>
              <a:tblPr/>
              <a:tblGrid>
                <a:gridCol w="4584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8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8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8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80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57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8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28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148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886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886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2192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Type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Branch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MemtoReg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MemW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ALUSrc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ImmSrc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RegW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RegSrc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vert="vert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DP </a:t>
                      </a:r>
                      <a:r>
                        <a:rPr kumimoji="0" lang="en-US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Reg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0088" name="Picture 104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636828"/>
            <a:ext cx="6019800" cy="3195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67512587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891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989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989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Example: </a:t>
            </a:r>
            <a:r>
              <a:rPr lang="en-US" sz="4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ORR</a:t>
            </a:r>
          </a:p>
        </p:txBody>
      </p:sp>
      <p:pic>
        <p:nvPicPr>
          <p:cNvPr id="170088" name="Picture 104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" y="1066800"/>
            <a:ext cx="8473440" cy="4497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12733544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CMP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447800" y="990600"/>
            <a:ext cx="6177768" cy="4267200"/>
            <a:chOff x="1066800" y="1066800"/>
            <a:chExt cx="6984999" cy="4824783"/>
          </a:xfrm>
        </p:grpSpPr>
        <p:pic>
          <p:nvPicPr>
            <p:cNvPr id="172138" name="Picture 106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1066800"/>
              <a:ext cx="6908799" cy="48247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1066800" y="5486400"/>
              <a:ext cx="1828800" cy="40518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45696506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CMP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447800" y="990600"/>
            <a:ext cx="6177768" cy="4267200"/>
            <a:chOff x="1066800" y="1066800"/>
            <a:chExt cx="6984999" cy="4824783"/>
          </a:xfrm>
        </p:grpSpPr>
        <p:pic>
          <p:nvPicPr>
            <p:cNvPr id="172138" name="Picture 10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1066800"/>
              <a:ext cx="6908799" cy="48247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1066800" y="5486400"/>
              <a:ext cx="1828800" cy="40518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362200" y="5257800"/>
            <a:ext cx="51054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No change to </a:t>
            </a:r>
            <a:r>
              <a:rPr lang="en-US" sz="3200" b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datapath</a:t>
            </a:r>
            <a:endParaRPr lang="en-US" sz="3200" b="1" dirty="0">
              <a:solidFill>
                <a:srgbClr val="0070C0"/>
              </a:solidFill>
              <a:latin typeface="Times New Roman" pitchFamily="18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404054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CMP</a:t>
            </a:r>
          </a:p>
        </p:txBody>
      </p:sp>
      <p:pic>
        <p:nvPicPr>
          <p:cNvPr id="252985" name="Picture 57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263641"/>
            <a:ext cx="8763000" cy="4170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9790319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CMP</a:t>
            </a:r>
          </a:p>
        </p:txBody>
      </p:sp>
      <p:graphicFrame>
        <p:nvGraphicFramePr>
          <p:cNvPr id="7" name="Group 6"/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9195576"/>
              </p:ext>
            </p:extLst>
          </p:nvPr>
        </p:nvGraphicFramePr>
        <p:xfrm>
          <a:off x="685800" y="1066800"/>
          <a:ext cx="7772402" cy="4797400"/>
        </p:xfrm>
        <a:graphic>
          <a:graphicData uri="http://schemas.openxmlformats.org/drawingml/2006/table">
            <a:tbl>
              <a:tblPr/>
              <a:tblGrid>
                <a:gridCol w="1056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6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53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5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01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64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19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ALUOp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4:1 </a:t>
                      </a: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cmd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Funct</a:t>
                      </a:r>
                      <a:r>
                        <a:rPr kumimoji="0" lang="en-US" sz="1800" b="1" i="0" u="none" strike="noStrike" cap="none" normalizeH="0" baseline="-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Type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ALUControl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FlagW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1:0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NoWrite</a:t>
                      </a: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Not DP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60">
                <a:tc rowSpan="9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ADD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Times New Roman" pitchFamily="18" charset="0"/>
                        </a:rPr>
                        <a:t>SUB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AND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ORR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160">
                <a:tc vMerge="1"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CMP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5343487"/>
      </p:ext>
    </p:extLst>
  </p:cSld>
  <p:clrMapOvr>
    <a:masterClrMapping/>
  </p:clrMapOvr>
  <p:transition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3820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3900" dirty="0">
                <a:solidFill>
                  <a:schemeClr val="bg1"/>
                </a:solidFill>
                <a:latin typeface="+mj-lt"/>
                <a:cs typeface="Courier New" pitchFamily="49" charset="0"/>
              </a:rPr>
              <a:t>Shifted Register</a:t>
            </a:r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8781832"/>
              </p:ext>
            </p:extLst>
          </p:nvPr>
        </p:nvGraphicFramePr>
        <p:xfrm>
          <a:off x="990601" y="4648200"/>
          <a:ext cx="7010399" cy="13215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5280754" imgH="937314" progId="Visio.Drawing.15">
                  <p:embed/>
                </p:oleObj>
              </mc:Choice>
              <mc:Fallback>
                <p:oleObj name="Visio" r:id="rId5" imgW="5280754" imgH="937314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0601" y="4648200"/>
                        <a:ext cx="7010399" cy="13215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55090" name="Picture 114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990600"/>
            <a:ext cx="8229600" cy="409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6754222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91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0917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324100" y="5181600"/>
            <a:ext cx="44958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No change to controller</a:t>
            </a:r>
          </a:p>
        </p:txBody>
      </p:sp>
      <p:pic>
        <p:nvPicPr>
          <p:cNvPr id="7" name="Picture 114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990600"/>
            <a:ext cx="8229600" cy="409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83820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>
                <a:solidFill>
                  <a:schemeClr val="bg1"/>
                </a:solidFill>
                <a:latin typeface="+mj-lt"/>
              </a:rPr>
              <a:t>Extended Functionality: </a:t>
            </a:r>
            <a:r>
              <a:rPr lang="en-US" sz="3900" dirty="0">
                <a:solidFill>
                  <a:schemeClr val="bg1"/>
                </a:solidFill>
                <a:latin typeface="+mj-lt"/>
                <a:cs typeface="Courier New" pitchFamily="49" charset="0"/>
              </a:rPr>
              <a:t>Shifted Register</a:t>
            </a:r>
          </a:p>
        </p:txBody>
      </p:sp>
    </p:spTree>
    <p:extLst>
      <p:ext uri="{BB962C8B-B14F-4D97-AF65-F5344CB8AC3E}">
        <p14:creationId xmlns:p14="http://schemas.microsoft.com/office/powerpoint/2010/main" val="283955671"/>
      </p:ext>
    </p:extLst>
  </p:cSld>
  <p:clrMapOvr>
    <a:masterClrMapping/>
  </p:clrMapOvr>
  <p:transition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97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533400" y="1143000"/>
            <a:ext cx="8229600" cy="4953000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b="1" dirty="0"/>
              <a:t>Program Execution Time </a:t>
            </a:r>
          </a:p>
          <a:p>
            <a:pPr>
              <a:buFontTx/>
              <a:buNone/>
            </a:pPr>
            <a:r>
              <a:rPr lang="en-US" sz="2800" b="1" dirty="0"/>
              <a:t>      </a:t>
            </a:r>
            <a:r>
              <a:rPr lang="en-US" sz="2800" dirty="0"/>
              <a:t>= (#instructions)(cycles/instruction)(seconds/cycle)</a:t>
            </a:r>
          </a:p>
          <a:p>
            <a:pPr>
              <a:buFontTx/>
              <a:buNone/>
            </a:pPr>
            <a:r>
              <a:rPr lang="en-US" sz="2800" dirty="0"/>
              <a:t>      = # instructions x CPI x </a:t>
            </a:r>
            <a:r>
              <a:rPr lang="en-US" sz="2800" i="1" dirty="0"/>
              <a:t>T</a:t>
            </a:r>
            <a:r>
              <a:rPr lang="en-US" sz="2800" i="1" baseline="-25000" dirty="0"/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369235925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98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9398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9398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710000" y="5334000"/>
            <a:ext cx="6553200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i="1" dirty="0">
                <a:latin typeface="+mj-lt"/>
                <a:cs typeface="Arial" charset="0"/>
              </a:rPr>
              <a:t>T</a:t>
            </a:r>
            <a:r>
              <a:rPr lang="en-US" sz="3200" b="1" i="1" baseline="-25000" dirty="0">
                <a:latin typeface="+mj-lt"/>
                <a:cs typeface="Arial" charset="0"/>
              </a:rPr>
              <a:t>C</a:t>
            </a:r>
            <a:r>
              <a:rPr lang="en-US" sz="3200" b="1" dirty="0">
                <a:latin typeface="+mj-lt"/>
                <a:cs typeface="Arial" charset="0"/>
              </a:rPr>
              <a:t> limited by critical path (</a:t>
            </a:r>
            <a:r>
              <a:rPr lang="en-US" sz="3200" b="1" dirty="0">
                <a:latin typeface="Courier New" pitchFamily="49" charset="0"/>
                <a:cs typeface="Arial" charset="0"/>
              </a:rPr>
              <a:t>LDR</a:t>
            </a:r>
            <a:r>
              <a:rPr lang="en-US" sz="3200" b="1" dirty="0">
                <a:latin typeface="+mj-lt"/>
                <a:cs typeface="Arial" charset="0"/>
              </a:rPr>
              <a:t>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b="1" i="1" dirty="0">
                <a:latin typeface="Times New Roman" pitchFamily="18" charset="0"/>
                <a:cs typeface="Arial" charset="0"/>
              </a:rPr>
              <a:t>  	</a:t>
            </a:r>
            <a:endParaRPr lang="en-US" sz="2000" b="1" dirty="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Performance</a:t>
            </a:r>
          </a:p>
        </p:txBody>
      </p:sp>
      <p:pic>
        <p:nvPicPr>
          <p:cNvPr id="8" name="Picture 7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066800"/>
            <a:ext cx="7992000" cy="4229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1713269"/>
      </p:ext>
    </p:extLst>
  </p:cSld>
  <p:clrMapOvr>
    <a:masterClrMapping/>
  </p:clrMapOvr>
  <p:transition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0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400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400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143000"/>
            <a:ext cx="75438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Single-cycle critical path</a:t>
            </a:r>
            <a:r>
              <a:rPr lang="en-US" sz="3200" dirty="0">
                <a:latin typeface="+mj-lt"/>
                <a:cs typeface="Arial" charset="0"/>
              </a:rPr>
              <a:t>: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000" i="1" dirty="0">
                <a:latin typeface="Times New Roman" pitchFamily="18" charset="0"/>
                <a:cs typeface="Arial" charset="0"/>
              </a:rPr>
              <a:t>  	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>
                <a:latin typeface="Times New Roman" pitchFamily="18" charset="0"/>
                <a:cs typeface="Arial" charset="0"/>
              </a:rPr>
              <a:t>c1</a:t>
            </a:r>
            <a:r>
              <a:rPr lang="en-US" sz="2600" dirty="0">
                <a:latin typeface="Times New Roman" pitchFamily="18" charset="0"/>
                <a:cs typeface="Arial" charset="0"/>
              </a:rPr>
              <a:t> =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pcq_PC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mem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dec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600" dirty="0">
                <a:latin typeface="Times New Roman" pitchFamily="18" charset="0"/>
                <a:cs typeface="Arial" charset="0"/>
              </a:rPr>
              <a:t>		max[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read</a:t>
            </a:r>
            <a:r>
              <a:rPr lang="en-US" sz="2600" dirty="0">
                <a:latin typeface="Times New Roman" pitchFamily="18" charset="0"/>
                <a:cs typeface="Arial" charset="0"/>
              </a:rPr>
              <a:t>,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sext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] +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600" dirty="0">
                <a:latin typeface="Times New Roman" pitchFamily="18" charset="0"/>
                <a:cs typeface="Arial" charset="0"/>
              </a:rPr>
              <a:t>		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ALU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mem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setup</a:t>
            </a:r>
            <a:endParaRPr lang="en-US" sz="2600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b="1" dirty="0">
                <a:latin typeface="+mj-lt"/>
                <a:cs typeface="Arial" charset="0"/>
              </a:rPr>
              <a:t>Typically, limiting paths are: 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memory, ALU, register file 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>
                <a:latin typeface="Times New Roman" pitchFamily="18" charset="0"/>
                <a:cs typeface="Arial" charset="0"/>
              </a:rPr>
              <a:t>c1</a:t>
            </a:r>
            <a:r>
              <a:rPr lang="en-US" sz="2600" dirty="0">
                <a:latin typeface="Times New Roman" pitchFamily="18" charset="0"/>
                <a:cs typeface="Arial" charset="0"/>
              </a:rPr>
              <a:t> =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pcq_PC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+ 2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>
                <a:latin typeface="Times New Roman" pitchFamily="18" charset="0"/>
                <a:cs typeface="Arial" charset="0"/>
              </a:rPr>
              <a:t>mem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dec</a:t>
            </a:r>
            <a:r>
              <a:rPr lang="en-US" sz="2600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read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ALU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+ 2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setup</a:t>
            </a:r>
            <a:endParaRPr lang="en-US" sz="2600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0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Performance</a:t>
            </a:r>
          </a:p>
        </p:txBody>
      </p:sp>
    </p:spTree>
    <p:extLst>
      <p:ext uri="{BB962C8B-B14F-4D97-AF65-F5344CB8AC3E}">
        <p14:creationId xmlns:p14="http://schemas.microsoft.com/office/powerpoint/2010/main" val="60511221"/>
      </p:ext>
    </p:extLst>
  </p:cSld>
  <p:clrMapOvr>
    <a:masterClrMapping/>
  </p:clrMapOvr>
  <p:transition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5286" name="Group 6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4661199"/>
              </p:ext>
            </p:extLst>
          </p:nvPr>
        </p:nvGraphicFramePr>
        <p:xfrm>
          <a:off x="1447800" y="1003679"/>
          <a:ext cx="6248400" cy="3720721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49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Decoder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8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2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0528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528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5285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143000" y="4724400"/>
            <a:ext cx="76962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lvl="1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>
                <a:latin typeface="Times New Roman" pitchFamily="18" charset="0"/>
                <a:cs typeface="Arial" charset="0"/>
              </a:rPr>
              <a:t>c1</a:t>
            </a:r>
            <a:r>
              <a:rPr lang="en-US" sz="2400" dirty="0">
                <a:latin typeface="Times New Roman" pitchFamily="18" charset="0"/>
                <a:cs typeface="Arial" charset="0"/>
              </a:rPr>
              <a:t> = </a:t>
            </a:r>
            <a:r>
              <a:rPr lang="en-US" sz="2400" i="1" dirty="0">
                <a:latin typeface="Times New Roman" pitchFamily="18" charset="0"/>
                <a:cs typeface="Arial" charset="0"/>
              </a:rPr>
              <a:t>?</a:t>
            </a:r>
            <a:endParaRPr lang="en-US" sz="24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300" dirty="0">
                <a:solidFill>
                  <a:schemeClr val="bg1"/>
                </a:solidFill>
                <a:latin typeface="+mj-lt"/>
              </a:rPr>
              <a:t>Single-Cycle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1051386136"/>
      </p:ext>
    </p:extLst>
  </p:cSld>
  <p:clrMapOvr>
    <a:masterClrMapping/>
  </p:clrMapOvr>
  <p:transition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28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528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528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143000" y="4724400"/>
            <a:ext cx="76962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lvl="1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>
                <a:latin typeface="Times New Roman" pitchFamily="18" charset="0"/>
                <a:cs typeface="Arial" charset="0"/>
              </a:rPr>
              <a:t>c1</a:t>
            </a:r>
            <a:r>
              <a:rPr lang="en-US" sz="2400" dirty="0">
                <a:latin typeface="Times New Roman" pitchFamily="18" charset="0"/>
                <a:cs typeface="Arial" charset="0"/>
              </a:rPr>
              <a:t> = </a:t>
            </a:r>
            <a:r>
              <a:rPr lang="en-US" sz="24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 err="1">
                <a:latin typeface="Times New Roman" pitchFamily="18" charset="0"/>
                <a:cs typeface="Arial" charset="0"/>
              </a:rPr>
              <a:t>pcq_PC</a:t>
            </a:r>
            <a:r>
              <a:rPr lang="en-US" sz="2400" dirty="0">
                <a:latin typeface="Times New Roman" pitchFamily="18" charset="0"/>
                <a:cs typeface="Arial" charset="0"/>
              </a:rPr>
              <a:t> + 2</a:t>
            </a:r>
            <a:r>
              <a:rPr lang="en-US" sz="24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400" baseline="-25000" dirty="0">
                <a:latin typeface="Times New Roman" pitchFamily="18" charset="0"/>
                <a:cs typeface="Arial" charset="0"/>
              </a:rPr>
              <a:t>mem</a:t>
            </a:r>
            <a:r>
              <a:rPr lang="en-US" sz="2400" dirty="0">
                <a:latin typeface="Times New Roman" pitchFamily="18" charset="0"/>
                <a:cs typeface="Arial" charset="0"/>
              </a:rPr>
              <a:t> + </a:t>
            </a:r>
            <a:r>
              <a:rPr lang="en-US" sz="24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 err="1">
                <a:latin typeface="Times New Roman" pitchFamily="18" charset="0"/>
                <a:cs typeface="Arial" charset="0"/>
              </a:rPr>
              <a:t>dec</a:t>
            </a:r>
            <a:r>
              <a:rPr lang="en-US" sz="2400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Times New Roman" pitchFamily="18" charset="0"/>
                <a:cs typeface="Arial" charset="0"/>
              </a:rPr>
              <a:t>+ </a:t>
            </a:r>
            <a:r>
              <a:rPr lang="en-US" sz="24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400" baseline="-25000" dirty="0" err="1">
                <a:latin typeface="Times New Roman" pitchFamily="18" charset="0"/>
                <a:cs typeface="Arial" charset="0"/>
              </a:rPr>
              <a:t>read</a:t>
            </a:r>
            <a:r>
              <a:rPr lang="en-US" sz="2400" dirty="0">
                <a:latin typeface="Times New Roman" pitchFamily="18" charset="0"/>
                <a:cs typeface="Arial" charset="0"/>
              </a:rPr>
              <a:t> + </a:t>
            </a:r>
            <a:r>
              <a:rPr lang="en-US" sz="24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400" baseline="-25000" dirty="0" err="1">
                <a:latin typeface="Times New Roman" pitchFamily="18" charset="0"/>
                <a:cs typeface="Arial" charset="0"/>
              </a:rPr>
              <a:t>ALU</a:t>
            </a:r>
            <a:r>
              <a:rPr lang="en-US" sz="2400" dirty="0">
                <a:latin typeface="Times New Roman" pitchFamily="18" charset="0"/>
                <a:cs typeface="Arial" charset="0"/>
              </a:rPr>
              <a:t> + 2</a:t>
            </a:r>
            <a:r>
              <a:rPr lang="en-US" sz="24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400" baseline="-25000" dirty="0">
                <a:latin typeface="Times New Roman" pitchFamily="18" charset="0"/>
                <a:cs typeface="Arial" charset="0"/>
              </a:rPr>
              <a:t>mux</a:t>
            </a:r>
            <a:r>
              <a:rPr lang="en-US" sz="2400" dirty="0">
                <a:latin typeface="Times New Roman" pitchFamily="18" charset="0"/>
                <a:cs typeface="Arial" charset="0"/>
              </a:rPr>
              <a:t> + </a:t>
            </a:r>
            <a:r>
              <a:rPr lang="en-US" sz="24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400" i="1" baseline="-25000" dirty="0" err="1">
                <a:latin typeface="Times New Roman" pitchFamily="18" charset="0"/>
                <a:cs typeface="Arial" charset="0"/>
              </a:rPr>
              <a:t>RF</a:t>
            </a:r>
            <a:r>
              <a:rPr lang="en-US" sz="2400" baseline="-25000" dirty="0" err="1">
                <a:latin typeface="Times New Roman" pitchFamily="18" charset="0"/>
                <a:cs typeface="Arial" charset="0"/>
              </a:rPr>
              <a:t>setup</a:t>
            </a:r>
            <a:endParaRPr lang="en-US" sz="2400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i="1" dirty="0">
                <a:latin typeface="Times New Roman" pitchFamily="18" charset="0"/>
                <a:cs typeface="Arial" charset="0"/>
              </a:rPr>
              <a:t>    </a:t>
            </a:r>
            <a:r>
              <a:rPr lang="en-US" sz="2400" dirty="0">
                <a:latin typeface="Times New Roman" pitchFamily="18" charset="0"/>
                <a:cs typeface="Arial" charset="0"/>
              </a:rPr>
              <a:t> = [40 + 2(200) + 70 + 100 + 120 + 2(25) + 60] </a:t>
            </a:r>
            <a:r>
              <a:rPr lang="en-US" sz="2400" dirty="0" err="1">
                <a:latin typeface="Times New Roman" pitchFamily="18" charset="0"/>
                <a:cs typeface="Arial" charset="0"/>
              </a:rPr>
              <a:t>ps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Times New Roman" pitchFamily="18" charset="0"/>
                <a:cs typeface="Arial" charset="0"/>
              </a:rPr>
              <a:t>    = </a:t>
            </a:r>
            <a:r>
              <a:rPr lang="en-US" sz="2400" b="1" dirty="0">
                <a:latin typeface="Times New Roman" pitchFamily="18" charset="0"/>
                <a:cs typeface="Arial" charset="0"/>
              </a:rPr>
              <a:t>840 </a:t>
            </a:r>
            <a:r>
              <a:rPr lang="en-US" sz="2400" b="1" dirty="0" err="1">
                <a:latin typeface="Times New Roman" pitchFamily="18" charset="0"/>
                <a:cs typeface="Arial" charset="0"/>
              </a:rPr>
              <a:t>ps</a:t>
            </a:r>
            <a:endParaRPr lang="en-US" sz="24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300" dirty="0">
                <a:solidFill>
                  <a:schemeClr val="bg1"/>
                </a:solidFill>
                <a:latin typeface="+mj-lt"/>
              </a:rPr>
              <a:t>Single-Cycle Performance Example</a:t>
            </a:r>
          </a:p>
        </p:txBody>
      </p:sp>
      <p:graphicFrame>
        <p:nvGraphicFramePr>
          <p:cNvPr id="7" name="Group 6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3191616916"/>
              </p:ext>
            </p:extLst>
          </p:nvPr>
        </p:nvGraphicFramePr>
        <p:xfrm>
          <a:off x="1447800" y="1003679"/>
          <a:ext cx="6248400" cy="3720721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499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Decoder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9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8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2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0827421"/>
      </p:ext>
    </p:extLst>
  </p:cSld>
  <p:clrMapOvr>
    <a:masterClrMapping/>
  </p:clrMapOvr>
  <p:transition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13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49914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9914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09600" y="1219200"/>
            <a:ext cx="7924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Program with 100 billion instructions: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i="1" dirty="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Execution Time</a:t>
            </a:r>
            <a:r>
              <a:rPr lang="en-US" sz="3200" dirty="0">
                <a:latin typeface="+mj-lt"/>
                <a:cs typeface="Arial" charset="0"/>
              </a:rPr>
              <a:t> = # instructions x CPI x </a:t>
            </a:r>
            <a:r>
              <a:rPr lang="en-US" sz="3200" i="1" dirty="0">
                <a:latin typeface="+mj-lt"/>
                <a:cs typeface="Arial" charset="0"/>
              </a:rPr>
              <a:t>T</a:t>
            </a:r>
            <a:r>
              <a:rPr lang="en-US" sz="3200" i="1" baseline="-25000" dirty="0">
                <a:latin typeface="+mj-lt"/>
                <a:cs typeface="Arial" charset="0"/>
              </a:rPr>
              <a:t>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i="1" dirty="0">
                <a:latin typeface="+mj-lt"/>
                <a:cs typeface="Arial" charset="0"/>
              </a:rPr>
              <a:t>		                   </a:t>
            </a:r>
            <a:r>
              <a:rPr lang="en-US" sz="3200" dirty="0">
                <a:latin typeface="+mj-lt"/>
                <a:cs typeface="Arial" charset="0"/>
              </a:rPr>
              <a:t>= (100 </a:t>
            </a:r>
            <a:r>
              <a:rPr lang="en-US" sz="3200" dirty="0">
                <a:latin typeface="+mj-lt"/>
                <a:cs typeface="Times New Roman" pitchFamily="18" charset="0"/>
              </a:rPr>
              <a:t>× 10</a:t>
            </a:r>
            <a:r>
              <a:rPr lang="en-US" sz="3200" baseline="30000" dirty="0">
                <a:latin typeface="+mj-lt"/>
                <a:cs typeface="Times New Roman" pitchFamily="18" charset="0"/>
              </a:rPr>
              <a:t>9</a:t>
            </a:r>
            <a:r>
              <a:rPr lang="en-US" sz="3200" dirty="0">
                <a:latin typeface="+mj-lt"/>
                <a:cs typeface="Arial" charset="0"/>
              </a:rPr>
              <a:t>)(1)(840  </a:t>
            </a:r>
            <a:r>
              <a:rPr lang="en-US" sz="3200" dirty="0">
                <a:latin typeface="+mj-lt"/>
                <a:cs typeface="Times New Roman" pitchFamily="18" charset="0"/>
              </a:rPr>
              <a:t>× 10</a:t>
            </a:r>
            <a:r>
              <a:rPr lang="en-US" sz="3200" baseline="30000" dirty="0">
                <a:latin typeface="+mj-lt"/>
                <a:cs typeface="Times New Roman" pitchFamily="18" charset="0"/>
              </a:rPr>
              <a:t>-12 </a:t>
            </a:r>
            <a:r>
              <a:rPr lang="en-US" sz="3200" dirty="0">
                <a:latin typeface="+mj-lt"/>
                <a:cs typeface="Arial" charset="0"/>
              </a:rPr>
              <a:t>s)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		                   = </a:t>
            </a:r>
            <a:r>
              <a:rPr lang="en-US" sz="3200" b="1" dirty="0">
                <a:latin typeface="+mj-lt"/>
                <a:cs typeface="Arial" charset="0"/>
              </a:rPr>
              <a:t>84 seconds</a:t>
            </a:r>
            <a:r>
              <a:rPr lang="en-US" sz="3200" b="1" i="1" dirty="0">
                <a:latin typeface="Times New Roman" pitchFamily="18" charset="0"/>
                <a:cs typeface="Arial" charset="0"/>
              </a:rPr>
              <a:t>	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32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300" dirty="0">
                <a:solidFill>
                  <a:schemeClr val="bg1"/>
                </a:solidFill>
                <a:latin typeface="+mj-lt"/>
              </a:rPr>
              <a:t>Single-Cycle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3662684435"/>
      </p:ext>
    </p:extLst>
  </p:cSld>
  <p:clrMapOvr>
    <a:masterClrMapping/>
  </p:clrMapOvr>
  <p:transition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81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990600"/>
            <a:ext cx="8458200" cy="48006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b="1" dirty="0"/>
              <a:t>Single-cycle: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simple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cycle time limited by longest instruction (</a:t>
            </a:r>
            <a:r>
              <a:rPr lang="en-US" sz="2600" dirty="0">
                <a:latin typeface="Courier New" pitchFamily="49" charset="0"/>
              </a:rPr>
              <a:t>LDR</a:t>
            </a:r>
            <a:r>
              <a:rPr lang="en-US" sz="2600" dirty="0"/>
              <a:t>)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separate memories for instruction and data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3 adders/ALUs</a:t>
            </a:r>
          </a:p>
          <a:p>
            <a:pPr>
              <a:lnSpc>
                <a:spcPct val="90000"/>
              </a:lnSpc>
            </a:pPr>
            <a:r>
              <a:rPr lang="en-US" b="1" dirty="0" err="1"/>
              <a:t>Multicycle</a:t>
            </a:r>
            <a:r>
              <a:rPr lang="en-US" b="1" dirty="0"/>
              <a:t> processor addresses these issues by breaking instruction into shorter steps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shorter instructions take fewer steps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can re-use hardware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cycle time is faster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b="1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</p:spTree>
    <p:extLst>
      <p:ext uri="{BB962C8B-B14F-4D97-AF65-F5344CB8AC3E}">
        <p14:creationId xmlns:p14="http://schemas.microsoft.com/office/powerpoint/2010/main" val="154117448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81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990600"/>
            <a:ext cx="7696200" cy="48006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b="1" dirty="0"/>
              <a:t>Single-cycle: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simple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cycle time limited by longest instruction (</a:t>
            </a:r>
            <a:r>
              <a:rPr lang="en-US" sz="2600" dirty="0">
                <a:latin typeface="Courier New" pitchFamily="49" charset="0"/>
              </a:rPr>
              <a:t>LDR</a:t>
            </a:r>
            <a:r>
              <a:rPr lang="en-US" sz="2600" dirty="0"/>
              <a:t>)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separate memories for instruction and data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3 adders/ALUs</a:t>
            </a:r>
          </a:p>
          <a:p>
            <a:pPr>
              <a:lnSpc>
                <a:spcPct val="90000"/>
              </a:lnSpc>
            </a:pPr>
            <a:r>
              <a:rPr lang="en-US" b="1" dirty="0" err="1"/>
              <a:t>Multicycle</a:t>
            </a:r>
            <a:r>
              <a:rPr lang="en-US" b="1" dirty="0"/>
              <a:t>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higher clock speed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simpler instructions run faster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reuse expensive hardware on multiple cycles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-  sequencing overhead paid many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</p:spTree>
    <p:extLst>
      <p:ext uri="{BB962C8B-B14F-4D97-AF65-F5344CB8AC3E}">
        <p14:creationId xmlns:p14="http://schemas.microsoft.com/office/powerpoint/2010/main" val="216812324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819" name="Rectangle 3"/>
          <p:cNvSpPr>
            <a:spLocks noGrp="1" noChangeArrowheads="1"/>
          </p:cNvSpPr>
          <p:nvPr>
            <p:ph type="body" sz="half" idx="4294967295"/>
            <p:custDataLst>
              <p:tags r:id="rId1"/>
            </p:custDataLst>
          </p:nvPr>
        </p:nvSpPr>
        <p:spPr>
          <a:xfrm>
            <a:off x="381000" y="990600"/>
            <a:ext cx="7696200" cy="48006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b="1" dirty="0"/>
              <a:t>Single-cycle: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simple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cycle time limited by longest instruction (</a:t>
            </a:r>
            <a:r>
              <a:rPr lang="en-US" sz="2600" dirty="0">
                <a:latin typeface="Courier New" pitchFamily="49" charset="0"/>
              </a:rPr>
              <a:t>LDR</a:t>
            </a:r>
            <a:r>
              <a:rPr lang="en-US" sz="2600" dirty="0"/>
              <a:t>)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separate memories for instruction and data</a:t>
            </a:r>
          </a:p>
          <a:p>
            <a:pPr lvl="1">
              <a:lnSpc>
                <a:spcPct val="90000"/>
              </a:lnSpc>
              <a:buFontTx/>
              <a:buChar char="-"/>
            </a:pPr>
            <a:r>
              <a:rPr lang="en-US" sz="2600" dirty="0"/>
              <a:t>3 adders/ALUs</a:t>
            </a:r>
          </a:p>
          <a:p>
            <a:pPr>
              <a:lnSpc>
                <a:spcPct val="90000"/>
              </a:lnSpc>
            </a:pPr>
            <a:r>
              <a:rPr lang="en-US" b="1" dirty="0" err="1"/>
              <a:t>Multicycle</a:t>
            </a:r>
            <a:r>
              <a:rPr lang="en-US" b="1" dirty="0"/>
              <a:t>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higher clock speed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simpler instructions run faster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+ reuse expensive hardware on multiple cycles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2600" dirty="0"/>
              <a:t>-  sequencing overhead paid many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  <p:sp>
        <p:nvSpPr>
          <p:cNvPr id="2" name="Rectangle 1"/>
          <p:cNvSpPr/>
          <p:nvPr/>
        </p:nvSpPr>
        <p:spPr>
          <a:xfrm>
            <a:off x="5867400" y="3004673"/>
            <a:ext cx="3072439" cy="16435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solidFill>
                  <a:srgbClr val="0070C0"/>
                </a:solidFill>
              </a:rPr>
              <a:t>Same design steps as single-cycle: </a:t>
            </a:r>
          </a:p>
          <a:p>
            <a:pPr marL="457200" indent="-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70C0"/>
                </a:solidFill>
              </a:rPr>
              <a:t>first </a:t>
            </a:r>
            <a:r>
              <a:rPr lang="en-US" sz="2800" b="1" dirty="0" err="1">
                <a:solidFill>
                  <a:srgbClr val="0070C0"/>
                </a:solidFill>
              </a:rPr>
              <a:t>datapath</a:t>
            </a:r>
            <a:r>
              <a:rPr lang="en-US" sz="2800" b="1" dirty="0">
                <a:solidFill>
                  <a:srgbClr val="0070C0"/>
                </a:solidFill>
              </a:rPr>
              <a:t> </a:t>
            </a:r>
          </a:p>
          <a:p>
            <a:pPr marL="457200" indent="-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070C0"/>
                </a:solidFill>
              </a:rPr>
              <a:t>then control</a:t>
            </a:r>
          </a:p>
        </p:txBody>
      </p:sp>
    </p:spTree>
    <p:extLst>
      <p:ext uri="{BB962C8B-B14F-4D97-AF65-F5344CB8AC3E}">
        <p14:creationId xmlns:p14="http://schemas.microsoft.com/office/powerpoint/2010/main" val="234208742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180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02191" name="Rectangle 1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1143000"/>
            <a:ext cx="7924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Replace Instruction and Data memories with a single unified memory – more realistic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State Elements</a:t>
            </a:r>
          </a:p>
        </p:txBody>
      </p:sp>
      <p:pic>
        <p:nvPicPr>
          <p:cNvPr id="175211" name="Picture 10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286000"/>
            <a:ext cx="8620125" cy="276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0355921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20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032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03206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STEP 1: </a:t>
            </a:r>
            <a:r>
              <a:rPr lang="en-US" sz="3200" dirty="0">
                <a:latin typeface="+mj-lt"/>
                <a:cs typeface="Arial" charset="0"/>
              </a:rPr>
              <a:t>Fetch instruction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Instruction Fetch</a:t>
            </a:r>
          </a:p>
        </p:txBody>
      </p:sp>
      <p:pic>
        <p:nvPicPr>
          <p:cNvPr id="176235" name="Picture 10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578470"/>
            <a:ext cx="6172200" cy="2388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988" y="4625836"/>
            <a:ext cx="5738812" cy="108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</p:spTree>
    <p:extLst>
      <p:ext uri="{BB962C8B-B14F-4D97-AF65-F5344CB8AC3E}">
        <p14:creationId xmlns:p14="http://schemas.microsoft.com/office/powerpoint/2010/main" val="2416390857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988" y="4625836"/>
            <a:ext cx="5738812" cy="108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12052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0525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7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7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37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 Register Read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b="1" dirty="0">
                <a:solidFill>
                  <a:srgbClr val="0070C0"/>
                </a:solidFill>
              </a:rPr>
              <a:t>STEP 2: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Read source operands from RF</a:t>
            </a:r>
          </a:p>
        </p:txBody>
      </p:sp>
      <p:pic>
        <p:nvPicPr>
          <p:cNvPr id="177260" name="Picture 10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1628267"/>
            <a:ext cx="6440266" cy="2997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97118405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988" y="4625836"/>
            <a:ext cx="5738812" cy="108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12083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0832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39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Address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b="1" dirty="0">
                <a:solidFill>
                  <a:srgbClr val="0070C0"/>
                </a:solidFill>
              </a:rPr>
              <a:t>STEP 3: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Compute the memory address</a:t>
            </a:r>
          </a:p>
        </p:txBody>
      </p:sp>
      <p:pic>
        <p:nvPicPr>
          <p:cNvPr id="179306" name="Picture 10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75" y="2018364"/>
            <a:ext cx="8836025" cy="2638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85345415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988" y="4625836"/>
            <a:ext cx="5738812" cy="108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120934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093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115669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6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6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3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3600" dirty="0">
                <a:solidFill>
                  <a:schemeClr val="bg1"/>
                </a:solidFill>
                <a:latin typeface="+mj-lt"/>
              </a:rPr>
              <a:t> Memory Read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b="1" dirty="0">
                <a:solidFill>
                  <a:srgbClr val="0070C0"/>
                </a:solidFill>
              </a:rPr>
              <a:t>STEP 4: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Read data from memory</a:t>
            </a:r>
          </a:p>
        </p:txBody>
      </p:sp>
      <p:pic>
        <p:nvPicPr>
          <p:cNvPr id="180331" name="Picture 107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" y="1981200"/>
            <a:ext cx="8486775" cy="2835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7609935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988" y="4625836"/>
            <a:ext cx="5738812" cy="108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/>
        </p:nvSpPr>
        <p:spPr>
          <a:xfrm>
            <a:off x="2362200" y="5562600"/>
            <a:ext cx="2803973" cy="3485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LDR Rd, [Rn, imm12]</a:t>
            </a:r>
          </a:p>
        </p:txBody>
      </p:sp>
      <p:sp>
        <p:nvSpPr>
          <p:cNvPr id="121037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037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7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7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37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  <a:r>
              <a:rPr lang="en-US" sz="3700" dirty="0">
                <a:solidFill>
                  <a:schemeClr val="bg1"/>
                </a:solidFill>
                <a:latin typeface="+mj-lt"/>
              </a:rPr>
              <a:t> Write Register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b="1" dirty="0">
                <a:solidFill>
                  <a:srgbClr val="0070C0"/>
                </a:solidFill>
              </a:rPr>
              <a:t>STEP 5: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Write data back to register file</a:t>
            </a:r>
          </a:p>
        </p:txBody>
      </p:sp>
      <p:pic>
        <p:nvPicPr>
          <p:cNvPr id="181354" name="Picture 10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25" y="1996540"/>
            <a:ext cx="8448675" cy="28040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66469904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Increment PC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b="1" dirty="0">
                <a:solidFill>
                  <a:srgbClr val="0070C0"/>
                </a:solidFill>
              </a:rPr>
              <a:t>Meanwhile: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Increment PC</a:t>
            </a:r>
          </a:p>
          <a:p>
            <a:pPr marL="0" indent="0">
              <a:buFont typeface="Arial" pitchFamily="34" charset="0"/>
              <a:buNone/>
            </a:pPr>
            <a:r>
              <a:rPr lang="en-US" dirty="0"/>
              <a:t>	Concurrent with fetching instruction</a:t>
            </a:r>
          </a:p>
        </p:txBody>
      </p:sp>
      <p:pic>
        <p:nvPicPr>
          <p:cNvPr id="182378" name="Picture 10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0" y="2444750"/>
            <a:ext cx="8788400" cy="288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4209197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Access to PC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81534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00" dirty="0"/>
              <a:t>PC can be read/written by instruction</a:t>
            </a:r>
          </a:p>
          <a:p>
            <a:pPr marL="0" indent="0">
              <a:buFont typeface="Arial" pitchFamily="34" charset="0"/>
              <a:buNone/>
            </a:pPr>
            <a:endParaRPr lang="en-US" dirty="0"/>
          </a:p>
        </p:txBody>
      </p:sp>
      <p:pic>
        <p:nvPicPr>
          <p:cNvPr id="257083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2736850"/>
            <a:ext cx="8807450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7147332"/>
      </p:ext>
    </p:extLst>
  </p:cSld>
  <p:clrMapOvr>
    <a:masterClrMapping/>
  </p:clrMapOvr>
  <p:transition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Access to PC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81534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00" dirty="0"/>
              <a:t>PC can be read/written by instruction</a:t>
            </a:r>
          </a:p>
          <a:p>
            <a:r>
              <a:rPr lang="en-US" sz="2400" b="1" dirty="0">
                <a:solidFill>
                  <a:srgbClr val="0070C0"/>
                </a:solidFill>
              </a:rPr>
              <a:t>Read: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R15 (PC+8) available in Register File</a:t>
            </a:r>
          </a:p>
        </p:txBody>
      </p:sp>
      <p:pic>
        <p:nvPicPr>
          <p:cNvPr id="257083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2736850"/>
            <a:ext cx="8807450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7133788"/>
      </p:ext>
    </p:extLst>
  </p:cSld>
  <p:clrMapOvr>
    <a:masterClrMapping/>
  </p:clrMapOvr>
  <p:transition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Read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 R1,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R2</a:t>
            </a:r>
          </a:p>
        </p:txBody>
      </p:sp>
    </p:spTree>
    <p:extLst>
      <p:ext uri="{BB962C8B-B14F-4D97-AF65-F5344CB8AC3E}">
        <p14:creationId xmlns:p14="http://schemas.microsoft.com/office/powerpoint/2010/main" val="2507915346"/>
      </p:ext>
    </p:extLst>
  </p:cSld>
  <p:clrMapOvr>
    <a:masterClrMapping/>
  </p:clrMapOvr>
  <p:transition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Read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 R1,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R2</a:t>
            </a:r>
          </a:p>
          <a:p>
            <a:r>
              <a:rPr lang="en-US" sz="2400" dirty="0"/>
              <a:t>R15 needs to be read as PC+8 from Register File (RF) in 2</a:t>
            </a:r>
            <a:r>
              <a:rPr lang="en-US" sz="2400" baseline="30000" dirty="0"/>
              <a:t>nd</a:t>
            </a:r>
            <a:r>
              <a:rPr lang="en-US" sz="2400" dirty="0"/>
              <a:t> step</a:t>
            </a:r>
          </a:p>
          <a:p>
            <a:r>
              <a:rPr lang="en-US" sz="2400" dirty="0"/>
              <a:t>PC+4 was computed in 1</a:t>
            </a:r>
            <a:r>
              <a:rPr lang="en-US" sz="2400" baseline="30000" dirty="0"/>
              <a:t>st</a:t>
            </a:r>
            <a:r>
              <a:rPr lang="en-US" sz="2400" dirty="0"/>
              <a:t> step</a:t>
            </a:r>
          </a:p>
          <a:p>
            <a:r>
              <a:rPr lang="en-US" sz="2400" dirty="0"/>
              <a:t>So (also in 2</a:t>
            </a:r>
            <a:r>
              <a:rPr lang="en-US" sz="2400" baseline="30000" dirty="0"/>
              <a:t>nd</a:t>
            </a:r>
            <a:r>
              <a:rPr lang="en-US" sz="2400" dirty="0"/>
              <a:t> step) ALU computes (PC+4) + 4 for R15 input</a:t>
            </a:r>
          </a:p>
        </p:txBody>
      </p:sp>
      <p:pic>
        <p:nvPicPr>
          <p:cNvPr id="6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3048000"/>
            <a:ext cx="8807450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 flipH="1" flipV="1">
            <a:off x="3962400" y="5486400"/>
            <a:ext cx="609600" cy="387350"/>
          </a:xfrm>
          <a:prstGeom prst="straightConnector1">
            <a:avLst/>
          </a:prstGeom>
          <a:ln w="31750">
            <a:solidFill>
              <a:srgbClr val="C00000"/>
            </a:solidFill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431025"/>
      </p:ext>
    </p:extLst>
  </p:cSld>
  <p:clrMapOvr>
    <a:masterClrMapping/>
  </p:clrMapOvr>
  <p:transition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Read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ADD R1,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R2</a:t>
            </a:r>
          </a:p>
          <a:p>
            <a:r>
              <a:rPr lang="en-US" sz="2400" dirty="0"/>
              <a:t>R15 needs to be read as PC+8 from Register File (RF) in 2</a:t>
            </a:r>
            <a:r>
              <a:rPr lang="en-US" sz="2400" baseline="30000" dirty="0"/>
              <a:t>nd</a:t>
            </a:r>
            <a:r>
              <a:rPr lang="en-US" sz="2400" dirty="0"/>
              <a:t> step</a:t>
            </a:r>
          </a:p>
          <a:p>
            <a:r>
              <a:rPr lang="en-US" sz="2400" dirty="0"/>
              <a:t>PC+4 was computed in 1</a:t>
            </a:r>
            <a:r>
              <a:rPr lang="en-US" sz="2400" baseline="30000" dirty="0"/>
              <a:t>st</a:t>
            </a:r>
            <a:r>
              <a:rPr lang="en-US" sz="2400" dirty="0"/>
              <a:t> step</a:t>
            </a:r>
          </a:p>
          <a:p>
            <a:r>
              <a:rPr lang="en-US" sz="2400" dirty="0"/>
              <a:t>So (also in 2</a:t>
            </a:r>
            <a:r>
              <a:rPr lang="en-US" sz="2400" baseline="30000" dirty="0"/>
              <a:t>nd</a:t>
            </a:r>
            <a:r>
              <a:rPr lang="en-US" sz="2400" dirty="0"/>
              <a:t> step) ALU computes (PC+4) + 4 for R15 input</a:t>
            </a:r>
          </a:p>
          <a:p>
            <a:pPr lvl="1"/>
            <a:r>
              <a:rPr lang="en-US" sz="2400" i="1" dirty="0" err="1"/>
              <a:t>SrcA</a:t>
            </a:r>
            <a:r>
              <a:rPr lang="en-US" sz="2400" dirty="0"/>
              <a:t> = </a:t>
            </a:r>
            <a:r>
              <a:rPr lang="en-US" sz="2400" i="1" dirty="0"/>
              <a:t>PC</a:t>
            </a:r>
            <a:r>
              <a:rPr lang="en-US" sz="2400" dirty="0"/>
              <a:t> (which was already updated in step 1 to PC+4)</a:t>
            </a:r>
          </a:p>
          <a:p>
            <a:pPr lvl="1"/>
            <a:r>
              <a:rPr lang="en-US" sz="2400" i="1" dirty="0" err="1"/>
              <a:t>SrcB</a:t>
            </a:r>
            <a:r>
              <a:rPr lang="en-US" sz="2400" dirty="0"/>
              <a:t> = 4</a:t>
            </a:r>
          </a:p>
          <a:p>
            <a:pPr lvl="1"/>
            <a:r>
              <a:rPr lang="en-US" sz="2400" i="1" dirty="0" err="1"/>
              <a:t>ALUResult</a:t>
            </a:r>
            <a:r>
              <a:rPr lang="en-US" sz="2400" dirty="0"/>
              <a:t> = </a:t>
            </a:r>
            <a:r>
              <a:rPr lang="en-US" sz="2400" i="1" dirty="0"/>
              <a:t>PC</a:t>
            </a:r>
            <a:r>
              <a:rPr lang="en-US" sz="2400" dirty="0"/>
              <a:t> + 8 </a:t>
            </a:r>
          </a:p>
          <a:p>
            <a:r>
              <a:rPr lang="en-US" sz="2400" dirty="0" err="1"/>
              <a:t>ALUResult</a:t>
            </a:r>
            <a:r>
              <a:rPr lang="en-US" sz="2400" dirty="0"/>
              <a:t> is fed to R15 input port of RF in 2</a:t>
            </a:r>
            <a:r>
              <a:rPr lang="en-US" sz="2400" baseline="30000" dirty="0"/>
              <a:t>nd</a:t>
            </a:r>
            <a:r>
              <a:rPr lang="en-US" sz="2400" dirty="0"/>
              <a:t> step (which is then routed to RD1 output of RF)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93642168"/>
      </p:ext>
    </p:extLst>
  </p:cSld>
  <p:clrMapOvr>
    <a:masterClrMapping/>
  </p:clrMapOvr>
  <p:transition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Access to PC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14400" y="1143000"/>
            <a:ext cx="81534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00" dirty="0"/>
              <a:t>PC can be read/written by instruction</a:t>
            </a:r>
          </a:p>
          <a:p>
            <a:r>
              <a:rPr lang="en-US" sz="2400" b="1" dirty="0"/>
              <a:t>Read:</a:t>
            </a:r>
            <a:r>
              <a:rPr lang="en-US" sz="2400" dirty="0"/>
              <a:t> R15 (PC+8) available in Register File</a:t>
            </a:r>
          </a:p>
          <a:p>
            <a:r>
              <a:rPr lang="en-US" sz="2400" b="1" dirty="0">
                <a:solidFill>
                  <a:srgbClr val="0070C0"/>
                </a:solidFill>
              </a:rPr>
              <a:t>Write: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Be able to write result of instruction to PC</a:t>
            </a:r>
          </a:p>
          <a:p>
            <a:pPr marL="0" indent="0">
              <a:buFont typeface="Arial" pitchFamily="34" charset="0"/>
              <a:buNone/>
            </a:pPr>
            <a:endParaRPr lang="en-US" dirty="0"/>
          </a:p>
        </p:txBody>
      </p:sp>
      <p:pic>
        <p:nvPicPr>
          <p:cNvPr id="257083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2736850"/>
            <a:ext cx="8807450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7133788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3820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Write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R8, R3</a:t>
            </a:r>
          </a:p>
        </p:txBody>
      </p:sp>
    </p:spTree>
    <p:extLst>
      <p:ext uri="{BB962C8B-B14F-4D97-AF65-F5344CB8AC3E}">
        <p14:creationId xmlns:p14="http://schemas.microsoft.com/office/powerpoint/2010/main" val="3423034915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3820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Write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R8, R3</a:t>
            </a:r>
          </a:p>
          <a:p>
            <a:r>
              <a:rPr lang="en-US" sz="2400" dirty="0"/>
              <a:t>Result of instruction needs to be written to the PC register</a:t>
            </a:r>
          </a:p>
          <a:p>
            <a:r>
              <a:rPr lang="en-US" sz="2400" dirty="0" err="1"/>
              <a:t>ALUResult</a:t>
            </a:r>
            <a:r>
              <a:rPr lang="en-US" sz="2400" dirty="0"/>
              <a:t> already routed to the PC register, just assert </a:t>
            </a:r>
            <a:r>
              <a:rPr lang="en-US" sz="2400" dirty="0" err="1"/>
              <a:t>PCWrite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99472938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3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13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3820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39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3900" dirty="0">
                <a:solidFill>
                  <a:schemeClr val="bg1"/>
                </a:solidFill>
                <a:latin typeface="+mj-lt"/>
              </a:rPr>
              <a:t>: Write to PC (R15)</a:t>
            </a:r>
          </a:p>
        </p:txBody>
      </p:sp>
      <p:sp>
        <p:nvSpPr>
          <p:cNvPr id="10" name="Rectangle 3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80999" y="1143000"/>
            <a:ext cx="8763001" cy="495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Example: 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R15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, R8, R3</a:t>
            </a:r>
          </a:p>
          <a:p>
            <a:r>
              <a:rPr lang="en-US" sz="2400" dirty="0"/>
              <a:t>Result of instruction needs to be written to the PC register</a:t>
            </a:r>
          </a:p>
          <a:p>
            <a:r>
              <a:rPr lang="en-US" sz="2400" dirty="0" err="1"/>
              <a:t>ALUResult</a:t>
            </a:r>
            <a:r>
              <a:rPr lang="en-US" sz="2400" dirty="0"/>
              <a:t> already routed to the PC register, just assert </a:t>
            </a:r>
            <a:r>
              <a:rPr lang="en-US" sz="2400" dirty="0" err="1"/>
              <a:t>PCWrite</a:t>
            </a:r>
            <a:endParaRPr lang="en-US" sz="2400" dirty="0"/>
          </a:p>
        </p:txBody>
      </p:sp>
      <p:pic>
        <p:nvPicPr>
          <p:cNvPr id="6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2889250"/>
            <a:ext cx="8807450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 flipH="1">
            <a:off x="533400" y="2743200"/>
            <a:ext cx="457200" cy="146050"/>
          </a:xfrm>
          <a:prstGeom prst="straightConnector1">
            <a:avLst/>
          </a:prstGeom>
          <a:ln w="31750">
            <a:solidFill>
              <a:srgbClr val="C00000"/>
            </a:solidFill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472938"/>
      </p:ext>
    </p:extLst>
  </p:cSld>
  <p:clrMapOvr>
    <a:masterClrMapping/>
  </p:clrMapOvr>
  <p:transition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4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242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12422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Write data in </a:t>
            </a:r>
            <a:r>
              <a:rPr lang="en-US" sz="3200" dirty="0">
                <a:latin typeface="Courier New" pitchFamily="49" charset="0"/>
                <a:cs typeface="Arial" charset="0"/>
              </a:rPr>
              <a:t>Rn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to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STR</a:t>
            </a:r>
          </a:p>
        </p:txBody>
      </p:sp>
      <p:pic>
        <p:nvPicPr>
          <p:cNvPr id="183405" name="Picture 10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" y="1930400"/>
            <a:ext cx="8877300" cy="299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9191202"/>
      </p:ext>
    </p:extLst>
  </p:cSld>
  <p:clrMapOvr>
    <a:masterClrMapping/>
  </p:clrMapOvr>
  <p:transition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44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14470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With immediate addressing (i.e., an immediate </a:t>
            </a:r>
            <a:r>
              <a:rPr lang="en-US" sz="3200" i="1" dirty="0">
                <a:latin typeface="+mj-lt"/>
                <a:cs typeface="Arial" charset="0"/>
              </a:rPr>
              <a:t>Src2</a:t>
            </a:r>
            <a:r>
              <a:rPr lang="en-US" sz="3200" dirty="0">
                <a:latin typeface="+mj-lt"/>
                <a:cs typeface="Arial" charset="0"/>
              </a:rPr>
              <a:t>), no additional changes needed for </a:t>
            </a:r>
            <a:r>
              <a:rPr lang="en-US" sz="3200" dirty="0" err="1">
                <a:latin typeface="+mj-lt"/>
                <a:cs typeface="Arial" charset="0"/>
              </a:rPr>
              <a:t>datapath</a:t>
            </a:r>
            <a:endParaRPr lang="en-US" sz="3200" dirty="0">
              <a:latin typeface="+mj-lt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0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000" dirty="0">
                <a:solidFill>
                  <a:schemeClr val="bg1"/>
                </a:solidFill>
                <a:latin typeface="+mj-lt"/>
              </a:rPr>
              <a:t>: Data-processing</a:t>
            </a:r>
          </a:p>
        </p:txBody>
      </p:sp>
      <p:pic>
        <p:nvPicPr>
          <p:cNvPr id="8" name="Picture 10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" y="2794000"/>
            <a:ext cx="8877300" cy="299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7015175"/>
      </p:ext>
    </p:extLst>
  </p:cSld>
  <p:clrMapOvr>
    <a:masterClrMapping/>
  </p:clrMapOvr>
  <p:transition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144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14470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With register addressing (register </a:t>
            </a:r>
            <a:r>
              <a:rPr lang="en-US" sz="3200" i="1" dirty="0">
                <a:latin typeface="+mj-lt"/>
                <a:cs typeface="Arial" charset="0"/>
              </a:rPr>
              <a:t>Src2</a:t>
            </a:r>
            <a:r>
              <a:rPr lang="en-US" sz="3200" dirty="0">
                <a:latin typeface="+mj-lt"/>
                <a:cs typeface="Arial" charset="0"/>
              </a:rPr>
              <a:t>):</a:t>
            </a:r>
          </a:p>
          <a:p>
            <a:pPr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	Read from Rn and 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0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000" dirty="0">
                <a:solidFill>
                  <a:schemeClr val="bg1"/>
                </a:solidFill>
                <a:latin typeface="+mj-lt"/>
              </a:rPr>
              <a:t>: Data-processing</a:t>
            </a:r>
          </a:p>
        </p:txBody>
      </p:sp>
      <p:pic>
        <p:nvPicPr>
          <p:cNvPr id="258107" name="Picture 5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0" y="2571750"/>
            <a:ext cx="8788400" cy="291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60378143"/>
      </p:ext>
    </p:extLst>
  </p:cSld>
  <p:clrMapOvr>
    <a:masterClrMapping/>
  </p:clrMapOvr>
  <p:transition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49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914400" y="1143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3200" dirty="0">
                <a:latin typeface="+mj-lt"/>
              </a:rPr>
              <a:t>Calculate branch target address: </a:t>
            </a:r>
          </a:p>
          <a:p>
            <a:pPr>
              <a:lnSpc>
                <a:spcPct val="90000"/>
              </a:lnSpc>
            </a:pPr>
            <a:r>
              <a:rPr lang="en-US" sz="3200" dirty="0">
                <a:latin typeface="+mj-lt"/>
              </a:rPr>
              <a:t>        	BTA = (</a:t>
            </a:r>
            <a:r>
              <a:rPr lang="en-US" sz="3200" i="1" dirty="0" err="1">
                <a:latin typeface="+mj-lt"/>
                <a:cs typeface="Courier New" panose="02070309020205020404" pitchFamily="49" charset="0"/>
              </a:rPr>
              <a:t>ExtImm</a:t>
            </a:r>
            <a:r>
              <a:rPr lang="en-US" sz="3200" dirty="0">
                <a:latin typeface="+mj-lt"/>
              </a:rPr>
              <a:t>) + (</a:t>
            </a:r>
            <a:r>
              <a:rPr lang="en-US" sz="3200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sz="3200" dirty="0">
                <a:latin typeface="+mj-lt"/>
              </a:rPr>
              <a:t>+8)</a:t>
            </a:r>
          </a:p>
          <a:p>
            <a:pPr>
              <a:lnSpc>
                <a:spcPct val="90000"/>
              </a:lnSpc>
            </a:pPr>
            <a:r>
              <a:rPr lang="en-US" sz="3200" i="1" dirty="0">
                <a:latin typeface="+mj-lt"/>
              </a:rPr>
              <a:t>	</a:t>
            </a:r>
            <a:r>
              <a:rPr lang="en-US" sz="3200" i="1" dirty="0" err="1">
                <a:latin typeface="+mj-lt"/>
              </a:rPr>
              <a:t>ExtImm</a:t>
            </a:r>
            <a:r>
              <a:rPr lang="en-US" sz="3200" i="1" dirty="0">
                <a:latin typeface="+mj-lt"/>
              </a:rPr>
              <a:t> = </a:t>
            </a:r>
            <a:r>
              <a:rPr lang="en-US" sz="3200" i="1" dirty="0">
                <a:latin typeface="+mj-lt"/>
                <a:cs typeface="Courier New" panose="02070309020205020404" pitchFamily="49" charset="0"/>
              </a:rPr>
              <a:t>Imm24</a:t>
            </a:r>
            <a:r>
              <a:rPr lang="en-US" sz="3200" i="1" dirty="0">
                <a:latin typeface="+mj-lt"/>
              </a:rPr>
              <a:t> &lt;&lt; 2 </a:t>
            </a:r>
            <a:r>
              <a:rPr lang="en-US" sz="3200" dirty="0">
                <a:latin typeface="+mj-lt"/>
              </a:rPr>
              <a:t>and sign-extended</a:t>
            </a:r>
            <a:r>
              <a:rPr lang="en-US" sz="3200" i="1" dirty="0">
                <a:latin typeface="+mj-lt"/>
              </a:rPr>
              <a:t> </a:t>
            </a:r>
          </a:p>
        </p:txBody>
      </p:sp>
      <p:sp>
        <p:nvSpPr>
          <p:cNvPr id="121549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</a:t>
            </a:r>
          </a:p>
        </p:txBody>
      </p:sp>
      <p:pic>
        <p:nvPicPr>
          <p:cNvPr id="28467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25" y="2667000"/>
            <a:ext cx="8845550" cy="300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12798697"/>
      </p:ext>
    </p:extLst>
  </p:cSld>
  <p:clrMapOvr>
    <a:masterClrMapping/>
  </p:clrMapOvr>
  <p:transition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6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06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  <p:pic>
        <p:nvPicPr>
          <p:cNvPr id="262200" name="Picture 5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990600"/>
            <a:ext cx="8457563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265313"/>
      </p:ext>
    </p:extLst>
  </p:cSld>
  <p:clrMapOvr>
    <a:masterClrMapping/>
  </p:clrMapOvr>
  <p:transition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24000" y="1066800"/>
            <a:ext cx="5791200" cy="4797706"/>
            <a:chOff x="1524000" y="1066800"/>
            <a:chExt cx="5791200" cy="4797706"/>
          </a:xfrm>
        </p:grpSpPr>
        <p:pic>
          <p:nvPicPr>
            <p:cNvPr id="187500" name="Picture 10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4839" y="1066800"/>
              <a:ext cx="5440361" cy="47977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1524000" y="5334000"/>
              <a:ext cx="1752600" cy="5305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28600" y="4800600"/>
            <a:ext cx="32436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discuss</a:t>
            </a:r>
            <a:r>
              <a:rPr lang="en-US" sz="2000" b="1" dirty="0">
                <a:solidFill>
                  <a:srgbClr val="0070C0"/>
                </a:solidFill>
              </a:rPr>
              <a:t>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Then, </a:t>
            </a:r>
            <a:r>
              <a:rPr lang="en-US" sz="2000" b="1" dirty="0">
                <a:solidFill>
                  <a:srgbClr val="0070C0"/>
                </a:solidFill>
              </a:rPr>
              <a:t>Conditional Logic</a:t>
            </a:r>
          </a:p>
        </p:txBody>
      </p:sp>
    </p:spTree>
    <p:extLst>
      <p:ext uri="{BB962C8B-B14F-4D97-AF65-F5344CB8AC3E}">
        <p14:creationId xmlns:p14="http://schemas.microsoft.com/office/powerpoint/2010/main" val="335817806"/>
      </p:ext>
    </p:extLst>
  </p:cSld>
  <p:clrMapOvr>
    <a:masterClrMapping/>
  </p:clrMapOvr>
  <p:transition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1524000" y="990600"/>
            <a:ext cx="5791200" cy="4873906"/>
            <a:chOff x="1524000" y="990600"/>
            <a:chExt cx="5791200" cy="4873906"/>
          </a:xfrm>
        </p:grpSpPr>
        <p:grpSp>
          <p:nvGrpSpPr>
            <p:cNvPr id="4" name="Group 3"/>
            <p:cNvGrpSpPr/>
            <p:nvPr/>
          </p:nvGrpSpPr>
          <p:grpSpPr>
            <a:xfrm>
              <a:off x="1524000" y="1066800"/>
              <a:ext cx="5791200" cy="4797706"/>
              <a:chOff x="1524000" y="1066800"/>
              <a:chExt cx="5791200" cy="4797706"/>
            </a:xfrm>
          </p:grpSpPr>
          <p:pic>
            <p:nvPicPr>
              <p:cNvPr id="187500" name="Picture 108"/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4839" y="1066800"/>
                <a:ext cx="5440361" cy="47977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" name="Rectangle 2"/>
              <p:cNvSpPr/>
              <p:nvPr/>
            </p:nvSpPr>
            <p:spPr>
              <a:xfrm>
                <a:off x="1524000" y="5334000"/>
                <a:ext cx="1752600" cy="5305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1676400" y="990600"/>
              <a:ext cx="4876800" cy="990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76800" y="1143000"/>
              <a:ext cx="2362200" cy="2362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Multicycle Control: Decoder</a:t>
            </a:r>
          </a:p>
        </p:txBody>
      </p:sp>
    </p:spTree>
    <p:extLst>
      <p:ext uri="{BB962C8B-B14F-4D97-AF65-F5344CB8AC3E}">
        <p14:creationId xmlns:p14="http://schemas.microsoft.com/office/powerpoint/2010/main" val="2722187498"/>
      </p:ext>
    </p:extLst>
  </p:cSld>
  <p:clrMapOvr>
    <a:masterClrMapping/>
  </p:clrMapOvr>
  <p:transition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Control: Decoder</a:t>
            </a:r>
          </a:p>
        </p:txBody>
      </p:sp>
      <p:pic>
        <p:nvPicPr>
          <p:cNvPr id="259130" name="Picture 5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990600"/>
            <a:ext cx="4154662" cy="441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5638800" y="5314890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2623267071"/>
      </p:ext>
    </p:extLst>
  </p:cSld>
  <p:clrMapOvr>
    <a:masterClrMapping/>
  </p:clrMapOvr>
  <p:transition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Control: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7800" y="5410200"/>
            <a:ext cx="6629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ALU Decoder </a:t>
            </a:r>
            <a:r>
              <a:rPr lang="en-US" sz="2400" b="1" dirty="0"/>
              <a:t>and </a:t>
            </a:r>
            <a:r>
              <a:rPr lang="en-US" sz="2400" b="1" dirty="0">
                <a:solidFill>
                  <a:srgbClr val="0070C0"/>
                </a:solidFill>
              </a:rPr>
              <a:t>PC Logic </a:t>
            </a:r>
            <a:r>
              <a:rPr lang="en-US" sz="2400" b="1" dirty="0"/>
              <a:t>same as single-cycle</a:t>
            </a:r>
          </a:p>
        </p:txBody>
      </p:sp>
      <p:pic>
        <p:nvPicPr>
          <p:cNvPr id="259130" name="Picture 5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990600"/>
            <a:ext cx="4154662" cy="441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48035448"/>
      </p:ext>
    </p:extLst>
  </p:cSld>
  <p:clrMapOvr>
    <a:masterClrMapping/>
  </p:clrMapOvr>
  <p:transition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Control: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Instr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33700" y="2133600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RegSrc</a:t>
            </a:r>
            <a:r>
              <a:rPr lang="en-US" sz="2400" baseline="-25000" dirty="0">
                <a:solidFill>
                  <a:srgbClr val="0070C0"/>
                </a:solidFill>
              </a:rPr>
              <a:t>0</a:t>
            </a:r>
            <a:r>
              <a:rPr lang="en-US" sz="2400" dirty="0">
                <a:solidFill>
                  <a:schemeClr val="accent1"/>
                </a:solidFill>
              </a:rPr>
              <a:t> </a:t>
            </a:r>
            <a:r>
              <a:rPr lang="en-US" sz="2400" dirty="0"/>
              <a:t>= (</a:t>
            </a:r>
            <a:r>
              <a:rPr lang="en-US" sz="2400" i="1" dirty="0"/>
              <a:t>Op</a:t>
            </a:r>
            <a:r>
              <a:rPr lang="en-US" sz="2400" dirty="0"/>
              <a:t> == 10</a:t>
            </a:r>
            <a:r>
              <a:rPr lang="en-US" sz="2400" baseline="-25000" dirty="0"/>
              <a:t>2</a:t>
            </a:r>
            <a:r>
              <a:rPr lang="en-US" sz="2400" dirty="0"/>
              <a:t>)</a:t>
            </a:r>
          </a:p>
          <a:p>
            <a:r>
              <a:rPr lang="en-US" sz="2400" i="1" dirty="0">
                <a:solidFill>
                  <a:srgbClr val="0070C0"/>
                </a:solidFill>
              </a:rPr>
              <a:t>RegSrc</a:t>
            </a:r>
            <a:r>
              <a:rPr lang="en-US" sz="2400" baseline="-25000" dirty="0">
                <a:solidFill>
                  <a:srgbClr val="0070C0"/>
                </a:solidFill>
              </a:rPr>
              <a:t>1</a:t>
            </a:r>
            <a:r>
              <a:rPr lang="en-US" sz="2400" dirty="0">
                <a:solidFill>
                  <a:schemeClr val="accent1"/>
                </a:solidFill>
              </a:rPr>
              <a:t> </a:t>
            </a:r>
            <a:r>
              <a:rPr lang="en-US" sz="2400" dirty="0"/>
              <a:t>= (</a:t>
            </a:r>
            <a:r>
              <a:rPr lang="en-US" sz="2400" i="1" dirty="0"/>
              <a:t>Op</a:t>
            </a:r>
            <a:r>
              <a:rPr lang="en-US" sz="2400" dirty="0"/>
              <a:t> == 01</a:t>
            </a:r>
            <a:r>
              <a:rPr lang="en-US" sz="2400" baseline="-25000" dirty="0"/>
              <a:t>2</a:t>
            </a:r>
            <a:r>
              <a:rPr lang="en-US" sz="2400" dirty="0"/>
              <a:t>)</a:t>
            </a:r>
          </a:p>
          <a:p>
            <a:r>
              <a:rPr lang="en-US" sz="2400" i="1" dirty="0"/>
              <a:t>ImmSrc</a:t>
            </a:r>
            <a:r>
              <a:rPr lang="en-US" sz="2400" baseline="-25000" dirty="0"/>
              <a:t>1:0</a:t>
            </a:r>
            <a:r>
              <a:rPr lang="en-US" sz="2400" dirty="0"/>
              <a:t> = </a:t>
            </a:r>
            <a:r>
              <a:rPr lang="en-US" sz="2400" i="1" dirty="0"/>
              <a:t>Op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5135039"/>
              </p:ext>
            </p:extLst>
          </p:nvPr>
        </p:nvGraphicFramePr>
        <p:xfrm>
          <a:off x="2438400" y="1143000"/>
          <a:ext cx="4090305" cy="795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1371600" imgH="266700" progId="Visio.Drawing.15">
                  <p:embed/>
                </p:oleObj>
              </mc:Choice>
              <mc:Fallback>
                <p:oleObj name="Visio" r:id="rId5" imgW="1371600" imgH="2667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438400" y="1143000"/>
                        <a:ext cx="4090305" cy="7953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541879"/>
              </p:ext>
            </p:extLst>
          </p:nvPr>
        </p:nvGraphicFramePr>
        <p:xfrm>
          <a:off x="1295400" y="3581400"/>
          <a:ext cx="6667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490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Op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Funct</a:t>
                      </a:r>
                      <a:r>
                        <a:rPr lang="en-US" baseline="-250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dirty="0"/>
                        <a:t>Funct</a:t>
                      </a:r>
                      <a:r>
                        <a:rPr lang="en-US" baseline="-25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RegSrc</a:t>
                      </a:r>
                      <a:r>
                        <a:rPr lang="en-US" baseline="-25000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dirty="0"/>
                        <a:t>RegSrc</a:t>
                      </a:r>
                      <a:r>
                        <a:rPr lang="en-US" baseline="-250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ImmSrc</a:t>
                      </a:r>
                      <a:r>
                        <a:rPr lang="en-US" baseline="-25000" dirty="0"/>
                        <a:t>1:0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DP immediate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DP register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23933"/>
      </p:ext>
    </p:extLst>
  </p:cSld>
  <p:clrMapOvr>
    <a:masterClrMapping/>
  </p:clrMapOvr>
  <p:transition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6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06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  <p:pic>
        <p:nvPicPr>
          <p:cNvPr id="262200" name="Picture 5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990600"/>
            <a:ext cx="8457563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75644304"/>
      </p:ext>
    </p:extLst>
  </p:cSld>
  <p:clrMapOvr>
    <a:masterClrMapping/>
  </p:clrMapOvr>
  <p:transition/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534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Control: Main FSM</a:t>
            </a:r>
          </a:p>
        </p:txBody>
      </p:sp>
      <p:pic>
        <p:nvPicPr>
          <p:cNvPr id="259130" name="Picture 5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990600"/>
            <a:ext cx="4154662" cy="441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638800" y="5314890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3066241965"/>
      </p:ext>
    </p:extLst>
  </p:cSld>
  <p:clrMapOvr>
    <a:masterClrMapping/>
  </p:clrMapOvr>
  <p:transition/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631" name="Picture 21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449" y="1066800"/>
            <a:ext cx="8024151" cy="48028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368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Fetch</a:t>
            </a:r>
          </a:p>
        </p:txBody>
      </p:sp>
      <p:pic>
        <p:nvPicPr>
          <p:cNvPr id="188630" name="Picture 21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678" y="1066800"/>
            <a:ext cx="1543922" cy="1304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4929174"/>
      </p:ext>
    </p:extLst>
  </p:cSld>
  <p:clrMapOvr>
    <a:masterClrMapping/>
  </p:clrMapOvr>
  <p:transition/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80" name="Picture 21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952451"/>
            <a:ext cx="8391525" cy="491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4416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Decode</a:t>
            </a:r>
          </a:p>
        </p:txBody>
      </p:sp>
      <p:pic>
        <p:nvPicPr>
          <p:cNvPr id="190679" name="Picture 21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1" y="990601"/>
            <a:ext cx="2819399" cy="1235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0188243"/>
      </p:ext>
    </p:extLst>
  </p:cSld>
  <p:clrMapOvr>
    <a:masterClrMapping/>
  </p:clrMapOvr>
  <p:transition/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703" name="Picture 21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0874" y="1905000"/>
            <a:ext cx="6276926" cy="3677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4518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Address</a:t>
            </a:r>
          </a:p>
        </p:txBody>
      </p:sp>
      <p:pic>
        <p:nvPicPr>
          <p:cNvPr id="191702" name="Picture 214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5051"/>
          <a:stretch/>
        </p:blipFill>
        <p:spPr bwMode="auto">
          <a:xfrm>
            <a:off x="0" y="972502"/>
            <a:ext cx="2942892" cy="2220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95631491"/>
      </p:ext>
    </p:extLst>
  </p:cSld>
  <p:clrMapOvr>
    <a:masterClrMapping/>
  </p:clrMapOvr>
  <p:transition/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188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38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Read Memory</a:t>
            </a:r>
          </a:p>
        </p:txBody>
      </p:sp>
      <p:pic>
        <p:nvPicPr>
          <p:cNvPr id="191702" name="Picture 21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1413"/>
          <a:stretch/>
        </p:blipFill>
        <p:spPr bwMode="auto">
          <a:xfrm>
            <a:off x="2514600" y="972502"/>
            <a:ext cx="4062246" cy="4786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73957819"/>
      </p:ext>
    </p:extLst>
  </p:cSld>
  <p:clrMapOvr>
    <a:masterClrMapping/>
  </p:clrMapOvr>
  <p:transition/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6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06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  <p:pic>
        <p:nvPicPr>
          <p:cNvPr id="262200" name="Picture 5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990600"/>
            <a:ext cx="8457563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61994946"/>
      </p:ext>
    </p:extLst>
  </p:cSld>
  <p:clrMapOvr>
    <a:masterClrMapping/>
  </p:clrMapOvr>
  <p:transition/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211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LDR</a:t>
            </a:r>
          </a:p>
        </p:txBody>
      </p:sp>
      <p:pic>
        <p:nvPicPr>
          <p:cNvPr id="27853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700" y="1006263"/>
            <a:ext cx="4838700" cy="478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39075093"/>
      </p:ext>
    </p:extLst>
  </p:cSld>
  <p:clrMapOvr>
    <a:masterClrMapping/>
  </p:clrMapOvr>
  <p:transition/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259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Main Controller FSM: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STR</a:t>
            </a:r>
          </a:p>
        </p:txBody>
      </p:sp>
      <p:pic>
        <p:nvPicPr>
          <p:cNvPr id="194669" name="Picture 10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952500"/>
            <a:ext cx="48768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3364702"/>
      </p:ext>
    </p:extLst>
  </p:cSld>
  <p:clrMapOvr>
    <a:masterClrMapping/>
  </p:clrMapOvr>
  <p:transition/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>
                <a:solidFill>
                  <a:schemeClr val="bg1"/>
                </a:solidFill>
                <a:latin typeface="+mj-lt"/>
              </a:rPr>
              <a:t>Main Controller FSM: Data-processing</a:t>
            </a:r>
          </a:p>
        </p:txBody>
      </p:sp>
      <p:pic>
        <p:nvPicPr>
          <p:cNvPr id="195694" name="Picture 1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990600"/>
            <a:ext cx="4798913" cy="4859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58063323"/>
      </p:ext>
    </p:extLst>
  </p:cSld>
  <p:clrMapOvr>
    <a:masterClrMapping/>
  </p:clrMapOvr>
  <p:transition/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28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 dirty="0">
                <a:solidFill>
                  <a:schemeClr val="bg1"/>
                </a:solidFill>
                <a:latin typeface="+mj-lt"/>
              </a:rPr>
              <a:t>Main Controller FSM: Data-processing</a:t>
            </a:r>
          </a:p>
        </p:txBody>
      </p:sp>
      <p:pic>
        <p:nvPicPr>
          <p:cNvPr id="195694" name="Picture 1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990600"/>
            <a:ext cx="4798913" cy="4859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63556354"/>
      </p:ext>
    </p:extLst>
  </p:cSld>
  <p:clrMapOvr>
    <a:masterClrMapping/>
  </p:clrMapOvr>
  <p:transition/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1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4211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Controller FSM</a:t>
            </a:r>
          </a:p>
        </p:txBody>
      </p:sp>
      <p:pic>
        <p:nvPicPr>
          <p:cNvPr id="197742" name="Picture 1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82" y="1079863"/>
            <a:ext cx="4744518" cy="476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743" name="Picture 111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1905000"/>
            <a:ext cx="3463925" cy="2315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50378445"/>
      </p:ext>
    </p:extLst>
  </p:cSld>
  <p:clrMapOvr>
    <a:masterClrMapping/>
  </p:clrMapOvr>
  <p:transition/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24000" y="1066800"/>
            <a:ext cx="5791200" cy="4797706"/>
            <a:chOff x="1524000" y="1066800"/>
            <a:chExt cx="5791200" cy="4797706"/>
          </a:xfrm>
        </p:grpSpPr>
        <p:pic>
          <p:nvPicPr>
            <p:cNvPr id="187500" name="Picture 10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4839" y="1066800"/>
              <a:ext cx="5440361" cy="47977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1524000" y="5334000"/>
              <a:ext cx="1752600" cy="5305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28600" y="4800600"/>
            <a:ext cx="32436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First, discuss Decoder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Then, </a:t>
            </a:r>
            <a:r>
              <a:rPr lang="en-US" sz="2000" b="1" dirty="0">
                <a:solidFill>
                  <a:srgbClr val="0070C0"/>
                </a:solidFill>
              </a:rPr>
              <a:t>Conditional Logic</a:t>
            </a:r>
          </a:p>
        </p:txBody>
      </p:sp>
    </p:spTree>
    <p:extLst>
      <p:ext uri="{BB962C8B-B14F-4D97-AF65-F5344CB8AC3E}">
        <p14:creationId xmlns:p14="http://schemas.microsoft.com/office/powerpoint/2010/main" val="1984726759"/>
      </p:ext>
    </p:extLst>
  </p:cSld>
  <p:clrMapOvr>
    <a:masterClrMapping/>
  </p:clrMapOvr>
  <p:transition/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26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Multicycle Control: Cond. Logic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24000" y="1066800"/>
            <a:ext cx="5791200" cy="4797706"/>
            <a:chOff x="1524000" y="1066800"/>
            <a:chExt cx="5791200" cy="4797706"/>
          </a:xfrm>
        </p:grpSpPr>
        <p:pic>
          <p:nvPicPr>
            <p:cNvPr id="187500" name="Picture 10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4839" y="1066800"/>
              <a:ext cx="5440361" cy="47977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1524000" y="5334000"/>
              <a:ext cx="1752600" cy="5305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1802130" y="2057400"/>
            <a:ext cx="2362200" cy="38071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886200" y="3544747"/>
            <a:ext cx="3429000" cy="20940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34409"/>
      </p:ext>
    </p:extLst>
  </p:cSld>
  <p:clrMapOvr>
    <a:masterClrMapping/>
  </p:clrMapOvr>
  <p:transition/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7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18784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Conditional Logic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799" y="1143000"/>
            <a:ext cx="535577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28729"/>
      </p:ext>
    </p:extLst>
  </p:cSld>
  <p:clrMapOvr>
    <a:masterClrMapping/>
  </p:clrMapOvr>
  <p:transition/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660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114925"/>
            <a:ext cx="7924800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100" dirty="0">
                <a:solidFill>
                  <a:schemeClr val="bg1"/>
                </a:solidFill>
                <a:latin typeface="+mj-lt"/>
              </a:rPr>
              <a:t> Conditional Logic</a:t>
            </a: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2922481"/>
              </p:ext>
            </p:extLst>
          </p:nvPr>
        </p:nvGraphicFramePr>
        <p:xfrm>
          <a:off x="990600" y="1142999"/>
          <a:ext cx="4536196" cy="46482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2314592" imgH="2371657" progId="Visio.Drawing.15">
                  <p:embed/>
                </p:oleObj>
              </mc:Choice>
              <mc:Fallback>
                <p:oleObj name="Visio" r:id="rId4" imgW="2314592" imgH="23716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90600" y="1142999"/>
                        <a:ext cx="4536196" cy="46482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562600" y="1077754"/>
            <a:ext cx="34290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PCWrite</a:t>
            </a:r>
            <a:r>
              <a:rPr lang="en-US" sz="2000" dirty="0"/>
              <a:t> asserted in Fetch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ExecuteI</a:t>
            </a:r>
            <a:r>
              <a:rPr lang="en-US" sz="2000" b="1" dirty="0"/>
              <a:t>/</a:t>
            </a:r>
            <a:r>
              <a:rPr lang="en-US" sz="2000" b="1" dirty="0" err="1"/>
              <a:t>ExecuteR</a:t>
            </a:r>
            <a:r>
              <a:rPr lang="en-US" sz="2000" b="1" dirty="0"/>
              <a:t> </a:t>
            </a:r>
            <a:r>
              <a:rPr lang="en-US" sz="2000" dirty="0"/>
              <a:t>state</a:t>
            </a:r>
            <a:r>
              <a:rPr lang="en-US" sz="2000" b="1" dirty="0"/>
              <a:t>:</a:t>
            </a:r>
          </a:p>
          <a:p>
            <a:r>
              <a:rPr lang="en-US" sz="2000" b="1" dirty="0"/>
              <a:t>      </a:t>
            </a:r>
            <a:r>
              <a:rPr lang="en-US" sz="2000" b="1" i="1" dirty="0" err="1">
                <a:solidFill>
                  <a:srgbClr val="0070C0"/>
                </a:solidFill>
              </a:rPr>
              <a:t>CondEx</a:t>
            </a:r>
            <a:r>
              <a:rPr lang="en-US" sz="2000" b="1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asserts       </a:t>
            </a:r>
          </a:p>
          <a:p>
            <a:r>
              <a:rPr lang="en-US" sz="2000" b="1" dirty="0"/>
              <a:t>      </a:t>
            </a:r>
            <a:r>
              <a:rPr lang="en-US" sz="2000" b="1" i="1" dirty="0" err="1">
                <a:solidFill>
                  <a:srgbClr val="0070C0"/>
                </a:solidFill>
              </a:rPr>
              <a:t>ALUFlags</a:t>
            </a:r>
            <a:r>
              <a:rPr lang="en-US" sz="2000" b="1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generated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ALUWB </a:t>
            </a:r>
            <a:r>
              <a:rPr lang="en-US" sz="2000" dirty="0"/>
              <a:t>state</a:t>
            </a:r>
            <a:r>
              <a:rPr lang="en-US" sz="2000" b="1" dirty="0"/>
              <a:t>:</a:t>
            </a:r>
          </a:p>
          <a:p>
            <a:r>
              <a:rPr lang="en-US" sz="2000" dirty="0"/>
              <a:t>       </a:t>
            </a:r>
            <a:r>
              <a:rPr lang="en-US" sz="2000" b="1" i="1" dirty="0">
                <a:solidFill>
                  <a:srgbClr val="0070C0"/>
                </a:solidFill>
              </a:rPr>
              <a:t>Flags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updated</a:t>
            </a:r>
          </a:p>
          <a:p>
            <a:r>
              <a:rPr lang="en-US" sz="2000" b="1" dirty="0"/>
              <a:t>       </a:t>
            </a:r>
            <a:r>
              <a:rPr lang="en-US" sz="2000" b="1" i="1" dirty="0" err="1">
                <a:solidFill>
                  <a:srgbClr val="0070C0"/>
                </a:solidFill>
              </a:rPr>
              <a:t>CondEx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changes</a:t>
            </a:r>
          </a:p>
          <a:p>
            <a:r>
              <a:rPr lang="en-US" sz="2000" b="1" dirty="0"/>
              <a:t>       </a:t>
            </a:r>
            <a:r>
              <a:rPr lang="en-US" sz="2000" b="1" i="1" dirty="0" err="1">
                <a:solidFill>
                  <a:srgbClr val="0070C0"/>
                </a:solidFill>
              </a:rPr>
              <a:t>PCWrite</a:t>
            </a:r>
            <a:r>
              <a:rPr lang="en-US" sz="2000" dirty="0"/>
              <a:t>, </a:t>
            </a:r>
            <a:r>
              <a:rPr lang="en-US" sz="2000" b="1" i="1" dirty="0" err="1">
                <a:solidFill>
                  <a:srgbClr val="0070C0"/>
                </a:solidFill>
              </a:rPr>
              <a:t>RegWrite</a:t>
            </a:r>
            <a:r>
              <a:rPr lang="en-US" sz="2000" dirty="0"/>
              <a:t>, and </a:t>
            </a:r>
          </a:p>
          <a:p>
            <a:r>
              <a:rPr lang="en-US" sz="2000" b="1" dirty="0"/>
              <a:t>       </a:t>
            </a:r>
            <a:r>
              <a:rPr lang="en-US" sz="2000" b="1" i="1" dirty="0" err="1">
                <a:solidFill>
                  <a:srgbClr val="0070C0"/>
                </a:solidFill>
              </a:rPr>
              <a:t>MemWrite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don’t see </a:t>
            </a:r>
          </a:p>
          <a:p>
            <a:r>
              <a:rPr lang="en-US" sz="2000" dirty="0"/>
              <a:t>       change till new </a:t>
            </a:r>
          </a:p>
          <a:p>
            <a:r>
              <a:rPr lang="en-US" sz="2000" dirty="0"/>
              <a:t>       instruction (Fetch state)</a:t>
            </a:r>
          </a:p>
        </p:txBody>
      </p:sp>
    </p:spTree>
    <p:extLst>
      <p:ext uri="{BB962C8B-B14F-4D97-AF65-F5344CB8AC3E}">
        <p14:creationId xmlns:p14="http://schemas.microsoft.com/office/powerpoint/2010/main" val="3999177110"/>
      </p:ext>
    </p:extLst>
  </p:cSld>
  <p:clrMapOvr>
    <a:masterClrMapping/>
  </p:clrMapOvr>
  <p:transition/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4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54405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7200" y="9906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Instructions take different number of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458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3893222262"/>
      </p:ext>
    </p:extLst>
  </p:cSld>
  <p:clrMapOvr>
    <a:masterClrMapping/>
  </p:clrMapOvr>
  <p:transition/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1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4211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Controller FSM</a:t>
            </a:r>
          </a:p>
        </p:txBody>
      </p:sp>
      <p:pic>
        <p:nvPicPr>
          <p:cNvPr id="197742" name="Picture 1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82" y="1079863"/>
            <a:ext cx="4744518" cy="476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743" name="Picture 111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1905000"/>
            <a:ext cx="3463925" cy="2315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79338186"/>
      </p:ext>
    </p:extLst>
  </p:cSld>
  <p:clrMapOvr>
    <a:masterClrMapping/>
  </p:clrMapOvr>
  <p:transition/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4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54405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906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Instructions take different number of cycles: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3 cycles: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4 cycles: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5 cycles:</a:t>
            </a: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458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43955327"/>
      </p:ext>
    </p:extLst>
  </p:cSld>
  <p:clrMapOvr>
    <a:masterClrMapping/>
  </p:clrMapOvr>
  <p:transition/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4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54405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906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Instructions take different number of cycles: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3 cycles: </a:t>
            </a:r>
            <a:r>
              <a:rPr lang="en-US" sz="2400" dirty="0">
                <a:latin typeface="Courier New" pitchFamily="49" charset="0"/>
                <a:cs typeface="Arial" charset="0"/>
              </a:rPr>
              <a:t>B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4 cycles: DP,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STR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5 cycles: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LDR</a:t>
            </a: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458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2193982980"/>
      </p:ext>
    </p:extLst>
  </p:cSld>
  <p:clrMapOvr>
    <a:masterClrMapping/>
  </p:clrMapOvr>
  <p:transition/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4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54405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906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Instructions take different number of cycles: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3 cycles: </a:t>
            </a:r>
            <a:r>
              <a:rPr lang="en-US" sz="2400" dirty="0">
                <a:latin typeface="Courier New" pitchFamily="49" charset="0"/>
                <a:cs typeface="Arial" charset="0"/>
              </a:rPr>
              <a:t>B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4 cycles: DP,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STR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5 cycles: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LDR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CPI is weighted average</a:t>
            </a: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SPECINT2000 benchmark: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25% loads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10% stores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13% branches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52% data processing</a:t>
            </a:r>
            <a:endParaRPr lang="en-US" sz="20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</a:pPr>
            <a:endParaRPr lang="en-US" sz="1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534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626390333"/>
      </p:ext>
    </p:extLst>
  </p:cSld>
  <p:clrMapOvr>
    <a:masterClrMapping/>
  </p:clrMapOvr>
  <p:transition/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404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54405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9906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Instructions take different number of cycles: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3 cycles: </a:t>
            </a:r>
            <a:r>
              <a:rPr lang="en-US" sz="2400" dirty="0">
                <a:latin typeface="Courier New" pitchFamily="49" charset="0"/>
                <a:cs typeface="Arial" charset="0"/>
              </a:rPr>
              <a:t>B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4 cycles: DP,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STR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5 cycles: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LDR</a:t>
            </a:r>
            <a:endParaRPr lang="en-US" sz="24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CPI is weighted average</a:t>
            </a: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800" dirty="0">
                <a:latin typeface="+mj-lt"/>
                <a:cs typeface="Arial" charset="0"/>
              </a:rPr>
              <a:t>SPECINT2000 benchmark: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+mj-lt"/>
                <a:cs typeface="Arial" charset="0"/>
              </a:rPr>
              <a:t>25%</a:t>
            </a:r>
            <a:r>
              <a:rPr lang="en-US" sz="2400" dirty="0">
                <a:latin typeface="+mj-lt"/>
                <a:cs typeface="Arial" charset="0"/>
              </a:rPr>
              <a:t> loads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+mj-lt"/>
                <a:cs typeface="Arial" charset="0"/>
              </a:rPr>
              <a:t>10%</a:t>
            </a:r>
            <a:r>
              <a:rPr lang="en-US" sz="2400" dirty="0">
                <a:latin typeface="+mj-lt"/>
                <a:cs typeface="Arial" charset="0"/>
              </a:rPr>
              <a:t> stores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b="1" dirty="0">
                <a:solidFill>
                  <a:srgbClr val="00B050"/>
                </a:solidFill>
                <a:latin typeface="+mj-lt"/>
                <a:cs typeface="Arial" charset="0"/>
              </a:rPr>
              <a:t>13%</a:t>
            </a:r>
            <a:r>
              <a:rPr lang="en-US" sz="2400" dirty="0">
                <a:latin typeface="+mj-lt"/>
                <a:cs typeface="Arial" charset="0"/>
              </a:rPr>
              <a:t> branches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+mj-lt"/>
                <a:cs typeface="Arial" charset="0"/>
              </a:rPr>
              <a:t>52%</a:t>
            </a:r>
            <a:r>
              <a:rPr lang="en-US" sz="2400" dirty="0">
                <a:latin typeface="+mj-lt"/>
                <a:cs typeface="Arial" charset="0"/>
              </a:rPr>
              <a:t> </a:t>
            </a:r>
            <a:r>
              <a:rPr lang="en-US" sz="2400">
                <a:latin typeface="+mj-lt"/>
                <a:cs typeface="Arial" charset="0"/>
              </a:rPr>
              <a:t>data processing</a:t>
            </a:r>
            <a:endParaRPr lang="en-US" sz="20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</a:pPr>
            <a:endParaRPr lang="en-US" sz="1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Average CPI</a:t>
            </a:r>
            <a:r>
              <a:rPr lang="en-US" sz="2000" b="1" dirty="0">
                <a:latin typeface="Times New Roman" pitchFamily="18" charset="0"/>
                <a:cs typeface="Arial" charset="0"/>
              </a:rPr>
              <a:t> = </a:t>
            </a:r>
            <a:r>
              <a:rPr lang="en-US" sz="2000" dirty="0">
                <a:latin typeface="Times New Roman" pitchFamily="18" charset="0"/>
                <a:cs typeface="Arial" charset="0"/>
              </a:rPr>
              <a:t>(</a:t>
            </a:r>
            <a:r>
              <a:rPr lang="en-US" sz="2000" b="1" dirty="0">
                <a:solidFill>
                  <a:srgbClr val="00B050"/>
                </a:solidFill>
                <a:latin typeface="Times New Roman" pitchFamily="18" charset="0"/>
                <a:cs typeface="Arial" charset="0"/>
              </a:rPr>
              <a:t>0.13</a:t>
            </a:r>
            <a:r>
              <a:rPr lang="en-US" sz="2000" dirty="0">
                <a:latin typeface="Times New Roman" pitchFamily="18" charset="0"/>
                <a:cs typeface="Arial" charset="0"/>
              </a:rPr>
              <a:t>)(3) + (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itchFamily="18" charset="0"/>
                <a:cs typeface="Arial" charset="0"/>
              </a:rPr>
              <a:t>0.52 + 0.10</a:t>
            </a:r>
            <a:r>
              <a:rPr lang="en-US" sz="2000" dirty="0">
                <a:latin typeface="Times New Roman" pitchFamily="18" charset="0"/>
                <a:cs typeface="Arial" charset="0"/>
              </a:rPr>
              <a:t>)(4) + (</a:t>
            </a:r>
            <a:r>
              <a:rPr lang="en-US" sz="2000" b="1" dirty="0">
                <a:solidFill>
                  <a:schemeClr val="accent4">
                    <a:lumMod val="75000"/>
                  </a:schemeClr>
                </a:solidFill>
                <a:latin typeface="Times New Roman" pitchFamily="18" charset="0"/>
                <a:cs typeface="Arial" charset="0"/>
              </a:rPr>
              <a:t>0.25</a:t>
            </a:r>
            <a:r>
              <a:rPr lang="en-US" sz="2000" dirty="0">
                <a:latin typeface="Times New Roman" pitchFamily="18" charset="0"/>
                <a:cs typeface="Arial" charset="0"/>
              </a:rPr>
              <a:t>)(5) </a:t>
            </a:r>
            <a:r>
              <a:rPr lang="en-US" sz="2000" b="1" dirty="0">
                <a:latin typeface="Times New Roman" pitchFamily="18" charset="0"/>
                <a:cs typeface="Arial" charset="0"/>
              </a:rPr>
              <a:t>= 4.12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534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176344651"/>
      </p:ext>
    </p:extLst>
  </p:cSld>
  <p:clrMapOvr>
    <a:masterClrMapping/>
  </p:clrMapOvr>
  <p:transition/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6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216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216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 err="1">
                <a:latin typeface="+mj-lt"/>
                <a:cs typeface="Arial" charset="0"/>
              </a:rPr>
              <a:t>Multicycle</a:t>
            </a:r>
            <a:r>
              <a:rPr lang="en-US" sz="3200" dirty="0">
                <a:latin typeface="+mj-lt"/>
                <a:cs typeface="Arial" charset="0"/>
              </a:rPr>
              <a:t> critical path: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latin typeface="+mj-lt"/>
                <a:cs typeface="Arial" charset="0"/>
              </a:rPr>
              <a:t>Assumptions: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600" dirty="0">
                <a:latin typeface="+mj-lt"/>
                <a:cs typeface="Arial" charset="0"/>
              </a:rPr>
              <a:t>RF is faster than memory</a:t>
            </a:r>
          </a:p>
          <a:p>
            <a:pPr marL="914400" lvl="1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600" dirty="0">
                <a:latin typeface="+mj-lt"/>
                <a:cs typeface="Arial" charset="0"/>
              </a:rPr>
              <a:t>writing memory is faster than reading memory</a:t>
            </a:r>
          </a:p>
          <a:p>
            <a:pPr>
              <a:lnSpc>
                <a:spcPct val="90000"/>
              </a:lnSpc>
              <a:spcBef>
                <a:spcPct val="20000"/>
              </a:spcBef>
            </a:pPr>
            <a:endParaRPr lang="en-US" sz="3200" b="1" i="1" dirty="0">
              <a:latin typeface="Times New Roman" pitchFamily="18" charset="0"/>
              <a:cs typeface="Arial" charset="0"/>
            </a:endParaRPr>
          </a:p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000" b="1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3000" b="1" i="1" baseline="-25000" dirty="0">
                <a:latin typeface="Times New Roman" pitchFamily="18" charset="0"/>
                <a:cs typeface="Arial" charset="0"/>
              </a:rPr>
              <a:t>c2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 = </a:t>
            </a:r>
            <a:r>
              <a:rPr lang="en-US" sz="3000" b="1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3000" b="1" i="1" baseline="-25000" dirty="0" err="1">
                <a:latin typeface="Times New Roman" pitchFamily="18" charset="0"/>
                <a:cs typeface="Arial" charset="0"/>
              </a:rPr>
              <a:t>pcq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 + 2</a:t>
            </a:r>
            <a:r>
              <a:rPr lang="en-US" sz="3000" b="1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3000" b="1" baseline="-25000" dirty="0">
                <a:latin typeface="Times New Roman" pitchFamily="18" charset="0"/>
                <a:cs typeface="Arial" charset="0"/>
              </a:rPr>
              <a:t>mux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 + max(</a:t>
            </a:r>
            <a:r>
              <a:rPr lang="en-US" sz="3000" b="1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3000" b="1" baseline="-25000" dirty="0" err="1">
                <a:latin typeface="Times New Roman" pitchFamily="18" charset="0"/>
                <a:cs typeface="Arial" charset="0"/>
              </a:rPr>
              <a:t>ALU</a:t>
            </a:r>
            <a:r>
              <a:rPr lang="en-US" sz="3000" b="1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+ </a:t>
            </a:r>
            <a:r>
              <a:rPr lang="en-US" sz="3000" b="1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3000" b="1" baseline="-25000" dirty="0" err="1">
                <a:latin typeface="Times New Roman" pitchFamily="18" charset="0"/>
                <a:cs typeface="Arial" charset="0"/>
              </a:rPr>
              <a:t>mux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, </a:t>
            </a:r>
            <a:r>
              <a:rPr lang="en-US" sz="3000" b="1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3000" b="1" baseline="-25000" dirty="0" err="1">
                <a:latin typeface="Times New Roman" pitchFamily="18" charset="0"/>
                <a:cs typeface="Arial" charset="0"/>
              </a:rPr>
              <a:t>mem</a:t>
            </a:r>
            <a:r>
              <a:rPr lang="en-US" sz="3000" b="1" dirty="0">
                <a:latin typeface="Times New Roman" pitchFamily="18" charset="0"/>
                <a:cs typeface="Arial" charset="0"/>
              </a:rPr>
              <a:t>) + </a:t>
            </a:r>
            <a:r>
              <a:rPr lang="en-US" sz="3000" b="1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3000" b="1" baseline="-25000" dirty="0" err="1">
                <a:latin typeface="Times New Roman" pitchFamily="18" charset="0"/>
                <a:cs typeface="Arial" charset="0"/>
              </a:rPr>
              <a:t>setup</a:t>
            </a:r>
            <a:endParaRPr lang="en-US" sz="3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i="1" dirty="0">
                <a:solidFill>
                  <a:schemeClr val="accent2"/>
                </a:solidFill>
                <a:latin typeface="Times New Roman" pitchFamily="18" charset="0"/>
                <a:cs typeface="Arial" charset="0"/>
              </a:rPr>
              <a:t>  	</a:t>
            </a:r>
            <a:endParaRPr lang="en-US" sz="28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0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8458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Processor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561044027"/>
      </p:ext>
    </p:extLst>
  </p:cSld>
  <p:clrMapOvr>
    <a:masterClrMapping/>
  </p:clrMapOvr>
  <p:transition/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2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32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323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447800" y="5029200"/>
            <a:ext cx="69342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600" b="1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b="1" i="1" baseline="-25000" dirty="0">
                <a:latin typeface="Times New Roman" pitchFamily="18" charset="0"/>
                <a:cs typeface="Arial" charset="0"/>
              </a:rPr>
              <a:t>c2</a:t>
            </a:r>
            <a:r>
              <a:rPr lang="en-US" sz="2600" b="1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= 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?</a:t>
            </a:r>
            <a:endParaRPr lang="en-US" sz="26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6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Performance Example</a:t>
            </a:r>
          </a:p>
        </p:txBody>
      </p:sp>
      <p:graphicFrame>
        <p:nvGraphicFramePr>
          <p:cNvPr id="8" name="Group 6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83647483"/>
              </p:ext>
            </p:extLst>
          </p:nvPr>
        </p:nvGraphicFramePr>
        <p:xfrm>
          <a:off x="1676400" y="1066800"/>
          <a:ext cx="6248400" cy="399002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Decoder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92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4257007"/>
      </p:ext>
    </p:extLst>
  </p:cSld>
  <p:clrMapOvr>
    <a:masterClrMapping/>
  </p:clrMapOvr>
  <p:transition/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2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32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323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447800" y="5029200"/>
            <a:ext cx="69342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600" b="1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b="1" i="1" baseline="-25000" dirty="0">
                <a:latin typeface="Times New Roman" pitchFamily="18" charset="0"/>
                <a:cs typeface="Arial" charset="0"/>
              </a:rPr>
              <a:t>c2</a:t>
            </a:r>
            <a:r>
              <a:rPr lang="en-US" sz="2600" b="1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=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i="1" baseline="-25000" dirty="0" err="1">
                <a:latin typeface="Times New Roman" pitchFamily="18" charset="0"/>
                <a:cs typeface="Arial" charset="0"/>
              </a:rPr>
              <a:t>pcq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+ 2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 + max[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ALU</a:t>
            </a:r>
            <a:r>
              <a:rPr lang="en-US" sz="2600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mux</a:t>
            </a:r>
            <a:r>
              <a:rPr lang="en-US" sz="2600" dirty="0">
                <a:latin typeface="Times New Roman" pitchFamily="18" charset="0"/>
                <a:cs typeface="Arial" charset="0"/>
              </a:rPr>
              <a:t>,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mem</a:t>
            </a:r>
            <a:r>
              <a:rPr lang="en-US" sz="2600" dirty="0">
                <a:latin typeface="Times New Roman" pitchFamily="18" charset="0"/>
                <a:cs typeface="Arial" charset="0"/>
              </a:rPr>
              <a:t>] + </a:t>
            </a:r>
            <a:r>
              <a:rPr lang="en-US" sz="26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600" baseline="-25000" dirty="0" err="1">
                <a:latin typeface="Times New Roman" pitchFamily="18" charset="0"/>
                <a:cs typeface="Arial" charset="0"/>
              </a:rPr>
              <a:t>setup</a:t>
            </a:r>
            <a:endParaRPr lang="en-US" sz="2600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600" i="1" dirty="0">
                <a:latin typeface="Times New Roman" pitchFamily="18" charset="0"/>
                <a:cs typeface="Arial" charset="0"/>
              </a:rPr>
              <a:t>     </a:t>
            </a:r>
            <a:r>
              <a:rPr lang="en-US" sz="2600" b="1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=</a:t>
            </a:r>
            <a:r>
              <a:rPr lang="en-US" sz="2600" i="1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Times New Roman" pitchFamily="18" charset="0"/>
                <a:cs typeface="Arial" charset="0"/>
              </a:rPr>
              <a:t>[40 + 2(25) + 200 + 50] </a:t>
            </a:r>
            <a:r>
              <a:rPr lang="en-US" sz="2600" dirty="0" err="1">
                <a:latin typeface="Times New Roman" pitchFamily="18" charset="0"/>
                <a:cs typeface="Arial" charset="0"/>
              </a:rPr>
              <a:t>ps</a:t>
            </a:r>
            <a:r>
              <a:rPr lang="en-US" sz="2600" dirty="0">
                <a:latin typeface="Times New Roman" pitchFamily="18" charset="0"/>
                <a:cs typeface="Arial" charset="0"/>
              </a:rPr>
              <a:t> = </a:t>
            </a:r>
            <a:r>
              <a:rPr lang="en-US" sz="2600" b="1" dirty="0">
                <a:latin typeface="Times New Roman" pitchFamily="18" charset="0"/>
                <a:cs typeface="Arial" charset="0"/>
              </a:rPr>
              <a:t>340 </a:t>
            </a:r>
            <a:r>
              <a:rPr lang="en-US" sz="2600" b="1" dirty="0" err="1">
                <a:latin typeface="Times New Roman" pitchFamily="18" charset="0"/>
                <a:cs typeface="Arial" charset="0"/>
              </a:rPr>
              <a:t>ps</a:t>
            </a:r>
            <a:endParaRPr lang="en-US" sz="26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6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6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Performance Example</a:t>
            </a:r>
          </a:p>
        </p:txBody>
      </p:sp>
      <p:graphicFrame>
        <p:nvGraphicFramePr>
          <p:cNvPr id="8" name="Group 6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639988472"/>
              </p:ext>
            </p:extLst>
          </p:nvPr>
        </p:nvGraphicFramePr>
        <p:xfrm>
          <a:off x="1676400" y="1066800"/>
          <a:ext cx="6248400" cy="399002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Decoder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92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20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20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1205822"/>
      </p:ext>
    </p:extLst>
  </p:cSld>
  <p:clrMapOvr>
    <a:masterClrMapping/>
  </p:clrMapOvr>
  <p:transition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93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93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0668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For a program with </a:t>
            </a:r>
            <a:r>
              <a:rPr lang="en-US" sz="3200" b="1" dirty="0">
                <a:latin typeface="+mj-lt"/>
                <a:cs typeface="Arial" charset="0"/>
              </a:rPr>
              <a:t>100 billion</a:t>
            </a:r>
            <a:r>
              <a:rPr lang="en-US" sz="3200" dirty="0">
                <a:latin typeface="+mj-lt"/>
                <a:cs typeface="Arial" charset="0"/>
              </a:rPr>
              <a:t> instructions executing on a </a:t>
            </a:r>
            <a:r>
              <a:rPr lang="en-US" sz="3200" b="1" dirty="0" err="1">
                <a:latin typeface="+mj-lt"/>
                <a:cs typeface="Arial" charset="0"/>
              </a:rPr>
              <a:t>multicycle</a:t>
            </a:r>
            <a:r>
              <a:rPr lang="en-US" sz="3200" dirty="0">
                <a:latin typeface="+mj-lt"/>
                <a:cs typeface="Arial" charset="0"/>
              </a:rPr>
              <a:t> ARM processor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CPI</a:t>
            </a:r>
            <a:r>
              <a:rPr lang="en-US" sz="3200" dirty="0">
                <a:latin typeface="+mj-lt"/>
                <a:cs typeface="Arial" charset="0"/>
              </a:rPr>
              <a:t> = 4.12 cycles/instruction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Clock cycle time: </a:t>
            </a:r>
            <a:r>
              <a:rPr lang="en-US" sz="3200" i="1" dirty="0">
                <a:latin typeface="+mj-lt"/>
                <a:cs typeface="Arial" charset="0"/>
              </a:rPr>
              <a:t>T</a:t>
            </a:r>
            <a:r>
              <a:rPr lang="en-US" sz="3200" i="1" baseline="-25000" dirty="0">
                <a:latin typeface="+mj-lt"/>
                <a:cs typeface="Arial" charset="0"/>
              </a:rPr>
              <a:t>c2</a:t>
            </a:r>
            <a:r>
              <a:rPr lang="en-US" sz="3200" dirty="0">
                <a:latin typeface="+mj-lt"/>
                <a:cs typeface="Arial" charset="0"/>
              </a:rPr>
              <a:t> = 340 </a:t>
            </a:r>
            <a:r>
              <a:rPr lang="en-US" sz="3200" dirty="0" err="1">
                <a:latin typeface="+mj-lt"/>
                <a:cs typeface="Arial" charset="0"/>
              </a:rPr>
              <a:t>ps</a:t>
            </a:r>
            <a:endParaRPr lang="en-US" sz="3200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i="1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Execution Time = </a:t>
            </a:r>
            <a:r>
              <a:rPr lang="en-US" sz="2800" b="1" dirty="0">
                <a:latin typeface="+mj-lt"/>
                <a:cs typeface="Arial" charset="0"/>
              </a:rPr>
              <a:t>?</a:t>
            </a: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	</a:t>
            </a: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4112769852"/>
      </p:ext>
    </p:extLst>
  </p:cSld>
  <p:clrMapOvr>
    <a:masterClrMapping/>
  </p:clrMapOvr>
  <p:transition/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93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93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0668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For a program with </a:t>
            </a:r>
            <a:r>
              <a:rPr lang="en-US" sz="3200" b="1" dirty="0">
                <a:latin typeface="+mj-lt"/>
                <a:cs typeface="Arial" charset="0"/>
              </a:rPr>
              <a:t>100 billion</a:t>
            </a:r>
            <a:r>
              <a:rPr lang="en-US" sz="3200" dirty="0">
                <a:latin typeface="+mj-lt"/>
                <a:cs typeface="Arial" charset="0"/>
              </a:rPr>
              <a:t> instructions executing on a </a:t>
            </a:r>
            <a:r>
              <a:rPr lang="en-US" sz="3200" b="1" dirty="0" err="1">
                <a:latin typeface="+mj-lt"/>
                <a:cs typeface="Arial" charset="0"/>
              </a:rPr>
              <a:t>multicycle</a:t>
            </a:r>
            <a:r>
              <a:rPr lang="en-US" sz="3200" dirty="0">
                <a:latin typeface="+mj-lt"/>
                <a:cs typeface="Arial" charset="0"/>
              </a:rPr>
              <a:t> ARM processor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CPI</a:t>
            </a:r>
            <a:r>
              <a:rPr lang="en-US" sz="3200" dirty="0">
                <a:latin typeface="+mj-lt"/>
                <a:cs typeface="Arial" charset="0"/>
              </a:rPr>
              <a:t> = 4.12 cycles/instruction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Clock cycle time: </a:t>
            </a:r>
            <a:r>
              <a:rPr lang="en-US" sz="3200" i="1" dirty="0">
                <a:latin typeface="+mj-lt"/>
                <a:cs typeface="Arial" charset="0"/>
              </a:rPr>
              <a:t>T</a:t>
            </a:r>
            <a:r>
              <a:rPr lang="en-US" sz="3200" i="1" baseline="-25000" dirty="0">
                <a:latin typeface="+mj-lt"/>
                <a:cs typeface="Arial" charset="0"/>
              </a:rPr>
              <a:t>c2</a:t>
            </a:r>
            <a:r>
              <a:rPr lang="en-US" sz="3200" dirty="0">
                <a:latin typeface="+mj-lt"/>
                <a:cs typeface="Arial" charset="0"/>
              </a:rPr>
              <a:t> = 340 </a:t>
            </a:r>
            <a:r>
              <a:rPr lang="en-US" sz="3200" dirty="0" err="1">
                <a:latin typeface="+mj-lt"/>
                <a:cs typeface="Arial" charset="0"/>
              </a:rPr>
              <a:t>ps</a:t>
            </a:r>
            <a:endParaRPr lang="en-US" sz="3200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i="1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Execution Time = </a:t>
            </a:r>
            <a:r>
              <a:rPr lang="en-US" sz="2800" dirty="0">
                <a:latin typeface="+mj-lt"/>
                <a:cs typeface="Arial" charset="0"/>
              </a:rPr>
              <a:t>(# instructions) </a:t>
            </a:r>
            <a:r>
              <a:rPr lang="en-US" sz="2800" dirty="0">
                <a:latin typeface="+mj-lt"/>
                <a:cs typeface="Times New Roman" pitchFamily="18" charset="0"/>
              </a:rPr>
              <a:t>× </a:t>
            </a:r>
            <a:r>
              <a:rPr lang="en-US" sz="2800" dirty="0">
                <a:latin typeface="+mj-lt"/>
                <a:cs typeface="Arial" charset="0"/>
              </a:rPr>
              <a:t>CPI </a:t>
            </a:r>
            <a:r>
              <a:rPr lang="en-US" sz="2800" dirty="0">
                <a:latin typeface="+mj-lt"/>
                <a:cs typeface="Times New Roman" pitchFamily="18" charset="0"/>
              </a:rPr>
              <a:t>×</a:t>
            </a:r>
            <a:r>
              <a:rPr lang="en-US" sz="2800" dirty="0">
                <a:latin typeface="+mj-lt"/>
                <a:cs typeface="Arial" charset="0"/>
              </a:rPr>
              <a:t> </a:t>
            </a:r>
            <a:r>
              <a:rPr lang="en-US" sz="2800" i="1" dirty="0">
                <a:latin typeface="+mj-lt"/>
                <a:cs typeface="Arial" charset="0"/>
              </a:rPr>
              <a:t>T</a:t>
            </a:r>
            <a:r>
              <a:rPr lang="en-US" sz="2800" i="1" baseline="-25000" dirty="0">
                <a:latin typeface="+mj-lt"/>
                <a:cs typeface="Arial" charset="0"/>
              </a:rPr>
              <a:t>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i="1" dirty="0">
                <a:latin typeface="+mj-lt"/>
                <a:cs typeface="Arial" charset="0"/>
              </a:rPr>
              <a:t>		                 </a:t>
            </a:r>
            <a:r>
              <a:rPr lang="en-US" sz="2800" dirty="0">
                <a:latin typeface="+mj-lt"/>
                <a:cs typeface="Arial" charset="0"/>
              </a:rPr>
              <a:t>= (100 </a:t>
            </a:r>
            <a:r>
              <a:rPr lang="en-US" sz="2800" dirty="0">
                <a:latin typeface="+mj-lt"/>
                <a:cs typeface="Times New Roman" pitchFamily="18" charset="0"/>
              </a:rPr>
              <a:t>× 10</a:t>
            </a:r>
            <a:r>
              <a:rPr lang="en-US" sz="2800" baseline="30000" dirty="0">
                <a:latin typeface="+mj-lt"/>
                <a:cs typeface="Times New Roman" pitchFamily="18" charset="0"/>
              </a:rPr>
              <a:t>9</a:t>
            </a:r>
            <a:r>
              <a:rPr lang="en-US" sz="2800" dirty="0">
                <a:latin typeface="+mj-lt"/>
                <a:cs typeface="Arial" charset="0"/>
              </a:rPr>
              <a:t>)(4.12)(340  </a:t>
            </a:r>
            <a:r>
              <a:rPr lang="en-US" sz="2800" dirty="0">
                <a:latin typeface="+mj-lt"/>
                <a:cs typeface="Times New Roman" pitchFamily="18" charset="0"/>
              </a:rPr>
              <a:t>× 10</a:t>
            </a:r>
            <a:r>
              <a:rPr lang="en-US" sz="2800" baseline="30000" dirty="0">
                <a:latin typeface="+mj-lt"/>
                <a:cs typeface="Times New Roman" pitchFamily="18" charset="0"/>
              </a:rPr>
              <a:t>-12</a:t>
            </a:r>
            <a:r>
              <a:rPr lang="en-US" sz="2800" dirty="0">
                <a:latin typeface="+mj-lt"/>
                <a:cs typeface="Arial" charset="0"/>
              </a:rPr>
              <a:t>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	                 = </a:t>
            </a:r>
            <a:r>
              <a:rPr lang="en-US" sz="2800" b="1" dirty="0">
                <a:latin typeface="+mj-lt"/>
                <a:cs typeface="Arial" charset="0"/>
              </a:rPr>
              <a:t>140 seconds</a:t>
            </a:r>
            <a:endParaRPr lang="en-US" sz="2800" b="1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	</a:t>
            </a: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646261127"/>
      </p:ext>
    </p:extLst>
  </p:cSld>
  <p:clrMapOvr>
    <a:masterClrMapping/>
  </p:clrMapOvr>
  <p:transition/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093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093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7200" y="10668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200" dirty="0">
                <a:latin typeface="+mj-lt"/>
                <a:cs typeface="Arial" charset="0"/>
              </a:rPr>
              <a:t>For a program with </a:t>
            </a:r>
            <a:r>
              <a:rPr lang="en-US" sz="3200" b="1" dirty="0">
                <a:latin typeface="+mj-lt"/>
                <a:cs typeface="Arial" charset="0"/>
              </a:rPr>
              <a:t>100 billion</a:t>
            </a:r>
            <a:r>
              <a:rPr lang="en-US" sz="3200" dirty="0">
                <a:latin typeface="+mj-lt"/>
                <a:cs typeface="Arial" charset="0"/>
              </a:rPr>
              <a:t> instructions executing on a </a:t>
            </a:r>
            <a:r>
              <a:rPr lang="en-US" sz="3200" b="1" dirty="0" err="1">
                <a:latin typeface="+mj-lt"/>
                <a:cs typeface="Arial" charset="0"/>
              </a:rPr>
              <a:t>multicycle</a:t>
            </a:r>
            <a:r>
              <a:rPr lang="en-US" sz="3200" dirty="0">
                <a:latin typeface="+mj-lt"/>
                <a:cs typeface="Arial" charset="0"/>
              </a:rPr>
              <a:t> ARM processor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CPI</a:t>
            </a:r>
            <a:r>
              <a:rPr lang="en-US" sz="3200" dirty="0">
                <a:latin typeface="+mj-lt"/>
                <a:cs typeface="Arial" charset="0"/>
              </a:rPr>
              <a:t> = 4.12 cycles/instruction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3200" b="1" dirty="0">
                <a:latin typeface="+mj-lt"/>
                <a:cs typeface="Arial" charset="0"/>
              </a:rPr>
              <a:t>Clock cycle time: </a:t>
            </a:r>
            <a:r>
              <a:rPr lang="en-US" sz="3200" i="1" dirty="0">
                <a:latin typeface="+mj-lt"/>
                <a:cs typeface="Arial" charset="0"/>
              </a:rPr>
              <a:t>T</a:t>
            </a:r>
            <a:r>
              <a:rPr lang="en-US" sz="3200" i="1" baseline="-25000" dirty="0">
                <a:latin typeface="+mj-lt"/>
                <a:cs typeface="Arial" charset="0"/>
              </a:rPr>
              <a:t>c2</a:t>
            </a:r>
            <a:r>
              <a:rPr lang="en-US" sz="3200" dirty="0">
                <a:latin typeface="+mj-lt"/>
                <a:cs typeface="Arial" charset="0"/>
              </a:rPr>
              <a:t> = 340 </a:t>
            </a:r>
            <a:r>
              <a:rPr lang="en-US" sz="3200" dirty="0" err="1">
                <a:latin typeface="+mj-lt"/>
                <a:cs typeface="Arial" charset="0"/>
              </a:rPr>
              <a:t>ps</a:t>
            </a:r>
            <a:endParaRPr lang="en-US" sz="3200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US" sz="2400" i="1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Execution Time = </a:t>
            </a:r>
            <a:r>
              <a:rPr lang="en-US" sz="2800" dirty="0">
                <a:latin typeface="+mj-lt"/>
                <a:cs typeface="Arial" charset="0"/>
              </a:rPr>
              <a:t>(# instructions) </a:t>
            </a:r>
            <a:r>
              <a:rPr lang="en-US" sz="2800" dirty="0">
                <a:latin typeface="+mj-lt"/>
                <a:cs typeface="Times New Roman" pitchFamily="18" charset="0"/>
              </a:rPr>
              <a:t>× </a:t>
            </a:r>
            <a:r>
              <a:rPr lang="en-US" sz="2800" dirty="0">
                <a:latin typeface="+mj-lt"/>
                <a:cs typeface="Arial" charset="0"/>
              </a:rPr>
              <a:t>CPI </a:t>
            </a:r>
            <a:r>
              <a:rPr lang="en-US" sz="2800" dirty="0">
                <a:latin typeface="+mj-lt"/>
                <a:cs typeface="Times New Roman" pitchFamily="18" charset="0"/>
              </a:rPr>
              <a:t>×</a:t>
            </a:r>
            <a:r>
              <a:rPr lang="en-US" sz="2800" dirty="0">
                <a:latin typeface="+mj-lt"/>
                <a:cs typeface="Arial" charset="0"/>
              </a:rPr>
              <a:t> </a:t>
            </a:r>
            <a:r>
              <a:rPr lang="en-US" sz="2800" i="1" dirty="0">
                <a:latin typeface="+mj-lt"/>
                <a:cs typeface="Arial" charset="0"/>
              </a:rPr>
              <a:t>T</a:t>
            </a:r>
            <a:r>
              <a:rPr lang="en-US" sz="2800" i="1" baseline="-25000" dirty="0">
                <a:latin typeface="+mj-lt"/>
                <a:cs typeface="Arial" charset="0"/>
              </a:rPr>
              <a:t>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i="1" dirty="0">
                <a:latin typeface="+mj-lt"/>
                <a:cs typeface="Arial" charset="0"/>
              </a:rPr>
              <a:t>		                 </a:t>
            </a:r>
            <a:r>
              <a:rPr lang="en-US" sz="2800" dirty="0">
                <a:latin typeface="+mj-lt"/>
                <a:cs typeface="Arial" charset="0"/>
              </a:rPr>
              <a:t>= (100 </a:t>
            </a:r>
            <a:r>
              <a:rPr lang="en-US" sz="2800" dirty="0">
                <a:latin typeface="+mj-lt"/>
                <a:cs typeface="Times New Roman" pitchFamily="18" charset="0"/>
              </a:rPr>
              <a:t>× 10</a:t>
            </a:r>
            <a:r>
              <a:rPr lang="en-US" sz="2800" baseline="30000" dirty="0">
                <a:latin typeface="+mj-lt"/>
                <a:cs typeface="Times New Roman" pitchFamily="18" charset="0"/>
              </a:rPr>
              <a:t>9</a:t>
            </a:r>
            <a:r>
              <a:rPr lang="en-US" sz="2800" dirty="0">
                <a:latin typeface="+mj-lt"/>
                <a:cs typeface="Arial" charset="0"/>
              </a:rPr>
              <a:t>)(4.12)(340  </a:t>
            </a:r>
            <a:r>
              <a:rPr lang="en-US" sz="2800" dirty="0">
                <a:latin typeface="+mj-lt"/>
                <a:cs typeface="Times New Roman" pitchFamily="18" charset="0"/>
              </a:rPr>
              <a:t>× 10</a:t>
            </a:r>
            <a:r>
              <a:rPr lang="en-US" sz="2800" baseline="30000" dirty="0">
                <a:latin typeface="+mj-lt"/>
                <a:cs typeface="Times New Roman" pitchFamily="18" charset="0"/>
              </a:rPr>
              <a:t>-12</a:t>
            </a:r>
            <a:r>
              <a:rPr lang="en-US" sz="2800" dirty="0">
                <a:latin typeface="+mj-lt"/>
                <a:cs typeface="Arial" charset="0"/>
              </a:rPr>
              <a:t>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+mj-lt"/>
                <a:cs typeface="Arial" charset="0"/>
              </a:rPr>
              <a:t>		                 = </a:t>
            </a:r>
            <a:r>
              <a:rPr lang="en-US" sz="2800" b="1" dirty="0">
                <a:latin typeface="+mj-lt"/>
                <a:cs typeface="Arial" charset="0"/>
              </a:rPr>
              <a:t>140 seconds</a:t>
            </a:r>
            <a:endParaRPr lang="en-US" sz="2800" b="1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This is </a:t>
            </a:r>
            <a:r>
              <a:rPr lang="en-US" sz="2800" b="1" dirty="0">
                <a:solidFill>
                  <a:srgbClr val="C00000"/>
                </a:solidFill>
                <a:latin typeface="+mj-lt"/>
                <a:cs typeface="Arial" charset="0"/>
              </a:rPr>
              <a:t>slower</a:t>
            </a:r>
            <a:r>
              <a:rPr lang="en-US" sz="2800" b="1" dirty="0">
                <a:latin typeface="+mj-lt"/>
                <a:cs typeface="Arial" charset="0"/>
              </a:rPr>
              <a:t> than the single-cycle processor (84 sec.)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400" b="1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	</a:t>
            </a:r>
            <a:endParaRPr lang="en-US" sz="2400" dirty="0">
              <a:latin typeface="+mj-lt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39292932"/>
      </p:ext>
    </p:extLst>
  </p:cSld>
  <p:clrMapOvr>
    <a:masterClrMapping/>
  </p:clrMapOvr>
  <p:transition/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747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18374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Single-Cycle ARM Processor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5031351"/>
              </p:ext>
            </p:extLst>
          </p:nvPr>
        </p:nvGraphicFramePr>
        <p:xfrm>
          <a:off x="557439" y="1143000"/>
          <a:ext cx="8230961" cy="438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5010049" imgH="2667000" progId="Visio.Drawing.15">
                  <p:embed/>
                </p:oleObj>
              </mc:Choice>
              <mc:Fallback>
                <p:oleObj name="Visio" r:id="rId5" imgW="5010049" imgH="26670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57439" y="1143000"/>
                        <a:ext cx="8230961" cy="4381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6321115"/>
      </p:ext>
    </p:extLst>
  </p:cSld>
  <p:clrMapOvr>
    <a:masterClrMapping/>
  </p:clrMapOvr>
  <p:transition/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6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206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868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Review: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Multicycle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ARM Processor</a:t>
            </a:r>
          </a:p>
        </p:txBody>
      </p:sp>
      <p:pic>
        <p:nvPicPr>
          <p:cNvPr id="262200" name="Picture 5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914400"/>
            <a:ext cx="8457563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00037829"/>
      </p:ext>
    </p:extLst>
  </p:cSld>
  <p:clrMapOvr>
    <a:masterClrMapping/>
  </p:clrMapOvr>
  <p:transition/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77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277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277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219200"/>
            <a:ext cx="76962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Aim to really improve performance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Use temporal parallelism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Divide single-cycle processor into 5 stages: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Fetch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Decode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Execute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Memory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2600" dirty="0" err="1">
                <a:latin typeface="+mj-lt"/>
                <a:cs typeface="Arial" charset="0"/>
              </a:rPr>
              <a:t>Writeback</a:t>
            </a:r>
            <a:endParaRPr lang="en-US" sz="2600" dirty="0">
              <a:latin typeface="+mj-lt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Add pipeline registers between stages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ARM Processor</a:t>
            </a:r>
          </a:p>
        </p:txBody>
      </p:sp>
    </p:spTree>
    <p:extLst>
      <p:ext uri="{BB962C8B-B14F-4D97-AF65-F5344CB8AC3E}">
        <p14:creationId xmlns:p14="http://schemas.microsoft.com/office/powerpoint/2010/main" val="929339638"/>
      </p:ext>
    </p:extLst>
  </p:cSld>
  <p:clrMapOvr>
    <a:masterClrMapping/>
  </p:clrMapOvr>
  <p:transition/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84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584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vs. Pipelined</a:t>
            </a: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591286"/>
              </p:ext>
            </p:extLst>
          </p:nvPr>
        </p:nvGraphicFramePr>
        <p:xfrm>
          <a:off x="838200" y="838200"/>
          <a:ext cx="7391400" cy="52977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3867184" imgH="2771843" progId="Visio.Drawing.15">
                  <p:embed/>
                </p:oleObj>
              </mc:Choice>
              <mc:Fallback>
                <p:oleObj name="Visio" r:id="rId5" imgW="3867184" imgH="2771843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38200" y="838200"/>
                        <a:ext cx="7391400" cy="52977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6544287"/>
      </p:ext>
    </p:extLst>
  </p:cSld>
  <p:clrMapOvr>
    <a:masterClrMapping/>
  </p:clrMapOvr>
  <p:transition/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36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9536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Processor Abstraction</a:t>
            </a: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6733070"/>
              </p:ext>
            </p:extLst>
          </p:nvPr>
        </p:nvGraphicFramePr>
        <p:xfrm>
          <a:off x="533400" y="1221014"/>
          <a:ext cx="8051167" cy="34271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5638800" imgH="2400300" progId="Visio.Drawing.15">
                  <p:embed/>
                </p:oleObj>
              </mc:Choice>
              <mc:Fallback>
                <p:oleObj name="Visio" r:id="rId5" imgW="5638800" imgH="24003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33400" y="1221014"/>
                        <a:ext cx="8051167" cy="342718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29060700"/>
      </p:ext>
    </p:extLst>
  </p:cSld>
  <p:clrMapOvr>
    <a:masterClrMapping/>
  </p:clrMapOvr>
  <p:transition/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38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9638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Single-Cycle &amp; Pipelined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02755256"/>
              </p:ext>
            </p:extLst>
          </p:nvPr>
        </p:nvGraphicFramePr>
        <p:xfrm>
          <a:off x="838200" y="1314450"/>
          <a:ext cx="7513012" cy="432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6553200" imgH="3771900" progId="Visio.Drawing.15">
                  <p:embed/>
                </p:oleObj>
              </mc:Choice>
              <mc:Fallback>
                <p:oleObj name="Visio" r:id="rId5" imgW="6553200" imgH="37719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38200" y="1314450"/>
                        <a:ext cx="7513012" cy="432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84801743"/>
      </p:ext>
    </p:extLst>
  </p:cSld>
  <p:clrMapOvr>
    <a:masterClrMapping/>
  </p:clrMapOvr>
  <p:transition/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4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974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97415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09600" y="4038600"/>
            <a:ext cx="800100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000" b="1" i="1" dirty="0">
                <a:latin typeface="+mj-lt"/>
                <a:cs typeface="Arial" charset="0"/>
              </a:rPr>
              <a:t>WA3</a:t>
            </a:r>
            <a:r>
              <a:rPr lang="en-US" sz="3000" b="1" dirty="0">
                <a:latin typeface="+mj-lt"/>
                <a:cs typeface="Arial" charset="0"/>
              </a:rPr>
              <a:t> must arrive at same time as </a:t>
            </a:r>
            <a:r>
              <a:rPr lang="en-US" sz="3000" b="1" i="1" dirty="0">
                <a:latin typeface="+mj-lt"/>
                <a:cs typeface="Arial" charset="0"/>
              </a:rPr>
              <a:t>Result</a:t>
            </a:r>
          </a:p>
          <a:p>
            <a:pPr marL="457200" indent="-457200">
              <a:lnSpc>
                <a:spcPct val="90000"/>
              </a:lnSpc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3000" b="1" dirty="0">
                <a:latin typeface="+mj-lt"/>
                <a:cs typeface="Arial" charset="0"/>
              </a:rPr>
              <a:t>Register file written on falling edge of </a:t>
            </a:r>
            <a:r>
              <a:rPr lang="en-US" sz="3000" b="1" i="1" dirty="0">
                <a:latin typeface="+mj-lt"/>
                <a:cs typeface="Arial" charset="0"/>
              </a:rPr>
              <a:t>CLK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Corrected Pipelined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6760878"/>
              </p:ext>
            </p:extLst>
          </p:nvPr>
        </p:nvGraphicFramePr>
        <p:xfrm>
          <a:off x="609600" y="1295400"/>
          <a:ext cx="7963756" cy="205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6562641" imgH="1695585" progId="Visio.Drawing.15">
                  <p:embed/>
                </p:oleObj>
              </mc:Choice>
              <mc:Fallback>
                <p:oleObj name="Visio" r:id="rId6" imgW="6562641" imgH="16955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09600" y="1295400"/>
                        <a:ext cx="7963756" cy="2057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02103387"/>
      </p:ext>
    </p:extLst>
  </p:cSld>
  <p:clrMapOvr>
    <a:masterClrMapping/>
  </p:clrMapOvr>
  <p:transition/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4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974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97415" name="Rectangle 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52400" y="5143500"/>
            <a:ext cx="899160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2400" b="1" dirty="0">
                <a:latin typeface="+mj-lt"/>
                <a:cs typeface="Arial" charset="0"/>
              </a:rPr>
              <a:t>Remove adder by using </a:t>
            </a:r>
            <a:r>
              <a:rPr lang="en-US" sz="2400" b="1" i="1" dirty="0">
                <a:latin typeface="+mj-lt"/>
                <a:cs typeface="Arial" charset="0"/>
              </a:rPr>
              <a:t>PCPlus4F</a:t>
            </a:r>
            <a:r>
              <a:rPr lang="en-US" sz="2400" b="1" dirty="0">
                <a:latin typeface="+mj-lt"/>
                <a:cs typeface="Arial" charset="0"/>
              </a:rPr>
              <a:t> after </a:t>
            </a:r>
            <a:r>
              <a:rPr lang="en-US" sz="2400" b="1" i="1" dirty="0">
                <a:latin typeface="+mj-lt"/>
                <a:cs typeface="Arial" charset="0"/>
              </a:rPr>
              <a:t>PC</a:t>
            </a:r>
            <a:r>
              <a:rPr lang="en-US" sz="2400" b="1" dirty="0">
                <a:latin typeface="+mj-lt"/>
                <a:cs typeface="Arial" charset="0"/>
              </a:rPr>
              <a:t> has been updated to </a:t>
            </a:r>
            <a:r>
              <a:rPr lang="en-US" sz="2400" b="1" i="1" dirty="0">
                <a:latin typeface="+mj-lt"/>
                <a:cs typeface="Arial" charset="0"/>
              </a:rPr>
              <a:t>PC</a:t>
            </a:r>
            <a:r>
              <a:rPr lang="en-US" sz="2400" b="1" dirty="0">
                <a:latin typeface="+mj-lt"/>
                <a:cs typeface="Arial" charset="0"/>
              </a:rPr>
              <a:t>+4</a:t>
            </a:r>
            <a:endParaRPr lang="en-US" sz="2400" b="1" i="1" dirty="0">
              <a:latin typeface="+mj-lt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Optimized Pipelined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Datapath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8030225"/>
              </p:ext>
            </p:extLst>
          </p:nvPr>
        </p:nvGraphicFramePr>
        <p:xfrm>
          <a:off x="686758" y="3048000"/>
          <a:ext cx="7963756" cy="205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6562641" imgH="1695585" progId="Visio.Drawing.15">
                  <p:embed/>
                </p:oleObj>
              </mc:Choice>
              <mc:Fallback>
                <p:oleObj name="Visio" r:id="rId6" imgW="6562641" imgH="16955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86758" y="3048000"/>
                        <a:ext cx="7963756" cy="2057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2730647"/>
              </p:ext>
            </p:extLst>
          </p:nvPr>
        </p:nvGraphicFramePr>
        <p:xfrm>
          <a:off x="685800" y="914400"/>
          <a:ext cx="7964488" cy="205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8" imgW="6591233" imgH="1790700" progId="Visio.Drawing.15">
                  <p:embed/>
                </p:oleObj>
              </mc:Choice>
              <mc:Fallback>
                <p:oleObj name="Visio" r:id="rId8" imgW="6591233" imgH="1790700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914400"/>
                        <a:ext cx="7964488" cy="2057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70331291"/>
      </p:ext>
    </p:extLst>
  </p:cSld>
  <p:clrMapOvr>
    <a:masterClrMapping/>
  </p:clrMapOvr>
  <p:transition/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4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2984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298438" name="Text Box 6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066800" y="5112603"/>
            <a:ext cx="71628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b="1" dirty="0"/>
              <a:t>Same control unit as single-cycle processor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b="1" dirty="0"/>
              <a:t>Control delayed to proper pipeline 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Processor Control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7274604"/>
              </p:ext>
            </p:extLst>
          </p:nvPr>
        </p:nvGraphicFramePr>
        <p:xfrm>
          <a:off x="914400" y="1099456"/>
          <a:ext cx="7836771" cy="39297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6572351" imgH="3295785" progId="Visio.Drawing.15">
                  <p:embed/>
                </p:oleObj>
              </mc:Choice>
              <mc:Fallback>
                <p:oleObj name="Visio" r:id="rId6" imgW="6572351" imgH="32957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4400" y="1099456"/>
                        <a:ext cx="7836771" cy="39297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57369504"/>
      </p:ext>
    </p:extLst>
  </p:cSld>
  <p:clrMapOvr>
    <a:masterClrMapping/>
  </p:clrMapOvr>
  <p:transition/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87" name="Rectangle 7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533400" y="1219200"/>
            <a:ext cx="8229600" cy="4525963"/>
          </a:xfrm>
        </p:spPr>
        <p:txBody>
          <a:bodyPr/>
          <a:lstStyle/>
          <a:p>
            <a:r>
              <a:rPr lang="en-US" dirty="0"/>
              <a:t>When an instruction depends on result from instruction that hasn’t completed</a:t>
            </a:r>
          </a:p>
          <a:p>
            <a:r>
              <a:rPr lang="en-US" dirty="0"/>
              <a:t>Types:</a:t>
            </a:r>
          </a:p>
          <a:p>
            <a:pPr lvl="1"/>
            <a:r>
              <a:rPr lang="en-US" b="1" dirty="0">
                <a:solidFill>
                  <a:srgbClr val="0070C0"/>
                </a:solidFill>
              </a:rPr>
              <a:t>Data hazard: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register value not yet written back to register file</a:t>
            </a:r>
          </a:p>
          <a:p>
            <a:pPr lvl="1"/>
            <a:r>
              <a:rPr lang="en-US" b="1" dirty="0">
                <a:solidFill>
                  <a:srgbClr val="0070C0"/>
                </a:solidFill>
              </a:rPr>
              <a:t>Control hazard: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next instruction not decided yet (caused by branch)</a:t>
            </a:r>
          </a:p>
        </p:txBody>
      </p:sp>
      <p:sp>
        <p:nvSpPr>
          <p:cNvPr id="130048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048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0485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 Hazards</a:t>
            </a:r>
          </a:p>
        </p:txBody>
      </p:sp>
    </p:spTree>
    <p:extLst>
      <p:ext uri="{BB962C8B-B14F-4D97-AF65-F5344CB8AC3E}">
        <p14:creationId xmlns:p14="http://schemas.microsoft.com/office/powerpoint/2010/main" val="2651106084"/>
      </p:ext>
    </p:extLst>
  </p:cSld>
  <p:clrMapOvr>
    <a:masterClrMapping/>
  </p:clrMapOvr>
  <p:transition/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8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68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686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Hazard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037754"/>
              </p:ext>
            </p:extLst>
          </p:nvPr>
        </p:nvGraphicFramePr>
        <p:xfrm>
          <a:off x="609600" y="1414462"/>
          <a:ext cx="7695960" cy="2700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4886241" imgH="1714500" progId="Visio.Drawing.15">
                  <p:embed/>
                </p:oleObj>
              </mc:Choice>
              <mc:Fallback>
                <p:oleObj name="Visio" r:id="rId6" imgW="4886241" imgH="17145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09600" y="1414462"/>
                        <a:ext cx="7695960" cy="27003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0143037"/>
      </p:ext>
    </p:extLst>
  </p:cSld>
  <p:clrMapOvr>
    <a:masterClrMapping/>
  </p:clrMapOvr>
  <p:transition/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66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14400" y="1295400"/>
            <a:ext cx="8229600" cy="4525963"/>
          </a:xfrm>
        </p:spPr>
        <p:txBody>
          <a:bodyPr/>
          <a:lstStyle/>
          <a:p>
            <a:r>
              <a:rPr lang="en-US" dirty="0"/>
              <a:t>Insert </a:t>
            </a:r>
            <a:r>
              <a:rPr lang="en-US" dirty="0">
                <a:latin typeface="Courier New" pitchFamily="49" charset="0"/>
              </a:rPr>
              <a:t>NOP</a:t>
            </a:r>
            <a:r>
              <a:rPr lang="en-US" dirty="0"/>
              <a:t>s in code at compile time</a:t>
            </a:r>
          </a:p>
          <a:p>
            <a:r>
              <a:rPr lang="en-US" dirty="0"/>
              <a:t>Rearrange code at compile time</a:t>
            </a:r>
          </a:p>
          <a:p>
            <a:r>
              <a:rPr lang="en-US" dirty="0"/>
              <a:t>Forward data at run time</a:t>
            </a:r>
          </a:p>
          <a:p>
            <a:r>
              <a:rPr lang="en-US" dirty="0"/>
              <a:t>Stall the processor at run time</a:t>
            </a:r>
          </a:p>
        </p:txBody>
      </p:sp>
      <p:sp>
        <p:nvSpPr>
          <p:cNvPr id="132096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096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0965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Handling Data Hazards</a:t>
            </a:r>
          </a:p>
        </p:txBody>
      </p:sp>
    </p:spTree>
    <p:extLst>
      <p:ext uri="{BB962C8B-B14F-4D97-AF65-F5344CB8AC3E}">
        <p14:creationId xmlns:p14="http://schemas.microsoft.com/office/powerpoint/2010/main" val="897730830"/>
      </p:ext>
    </p:extLst>
  </p:cSld>
  <p:clrMapOvr>
    <a:masterClrMapping/>
  </p:clrMapOvr>
  <p:transition/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8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5288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2883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28842" name="Rectangle 10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533400" y="1219200"/>
            <a:ext cx="82296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000" dirty="0">
                <a:latin typeface="+mj-lt"/>
                <a:cs typeface="Arial" charset="0"/>
              </a:rPr>
              <a:t>Insert enough NOPs for result to be ready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000" dirty="0">
                <a:latin typeface="+mj-lt"/>
                <a:cs typeface="Arial" charset="0"/>
              </a:rPr>
              <a:t>Or move independent useful instructions 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Compile-Time Hazard Elimination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41326240"/>
              </p:ext>
            </p:extLst>
          </p:nvPr>
        </p:nvGraphicFramePr>
        <p:xfrm>
          <a:off x="1066799" y="2495550"/>
          <a:ext cx="7409089" cy="314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5772049" imgH="2419485" progId="Visio.Drawing.15">
                  <p:embed/>
                </p:oleObj>
              </mc:Choice>
              <mc:Fallback>
                <p:oleObj name="Visio" r:id="rId7" imgW="5772049" imgH="2419485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66799" y="2495550"/>
                        <a:ext cx="7409089" cy="3143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19660153"/>
      </p:ext>
    </p:extLst>
  </p:cSld>
  <p:clrMapOvr>
    <a:masterClrMapping/>
  </p:clrMapOvr>
  <p:transition/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5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150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150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Forwarding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4288"/>
              </p:ext>
            </p:extLst>
          </p:nvPr>
        </p:nvGraphicFramePr>
        <p:xfrm>
          <a:off x="685800" y="1295400"/>
          <a:ext cx="8035290" cy="281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4886241" imgH="1714500" progId="Visio.Drawing.15">
                  <p:embed/>
                </p:oleObj>
              </mc:Choice>
              <mc:Fallback>
                <p:oleObj name="Visio" r:id="rId6" imgW="4886241" imgH="17145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85800" y="1295400"/>
                        <a:ext cx="8035290" cy="2819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87392054"/>
      </p:ext>
    </p:extLst>
  </p:cSld>
  <p:clrMapOvr>
    <a:masterClrMapping/>
  </p:clrMapOvr>
  <p:transition/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5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150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150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Forwarding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43400"/>
            <a:ext cx="7239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Check if register read in Execute stage matches register written in Memory or </a:t>
            </a:r>
            <a:r>
              <a:rPr lang="en-US" sz="2200" dirty="0" err="1"/>
              <a:t>Writeback</a:t>
            </a:r>
            <a:r>
              <a:rPr lang="en-US" sz="2200" dirty="0"/>
              <a:t> stage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If so, forward result</a:t>
            </a: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4288"/>
              </p:ext>
            </p:extLst>
          </p:nvPr>
        </p:nvGraphicFramePr>
        <p:xfrm>
          <a:off x="685800" y="1295400"/>
          <a:ext cx="8035925" cy="281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4886241" imgH="1714500" progId="Visio.Drawing.15">
                  <p:embed/>
                </p:oleObj>
              </mc:Choice>
              <mc:Fallback>
                <p:oleObj name="Visio" r:id="rId6" imgW="4886241" imgH="1714500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1295400"/>
                        <a:ext cx="8035925" cy="281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2789567"/>
      </p:ext>
    </p:extLst>
  </p:cSld>
  <p:clrMapOvr>
    <a:masterClrMapping/>
  </p:clrMapOvr>
  <p:transition/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53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253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253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Forwarding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1749092"/>
              </p:ext>
            </p:extLst>
          </p:nvPr>
        </p:nvGraphicFramePr>
        <p:xfrm>
          <a:off x="624055" y="990600"/>
          <a:ext cx="7453145" cy="4633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6572351" imgH="4086157" progId="Visio.Drawing.15">
                  <p:embed/>
                </p:oleObj>
              </mc:Choice>
              <mc:Fallback>
                <p:oleObj name="Visio" r:id="rId6" imgW="6572351" imgH="40861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4055" y="990600"/>
                        <a:ext cx="7453145" cy="4633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24410228"/>
      </p:ext>
    </p:extLst>
  </p:cSld>
  <p:clrMapOvr>
    <a:masterClrMapping/>
  </p:clrMapOvr>
  <p:transition/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8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789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Forwarding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90600"/>
            <a:ext cx="8153400" cy="475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Execute</a:t>
            </a:r>
            <a:r>
              <a:rPr lang="en-US" sz="2400" dirty="0"/>
              <a:t> stage register matches </a:t>
            </a:r>
            <a:r>
              <a:rPr lang="en-US" sz="2400" b="1" dirty="0"/>
              <a:t>Memory</a:t>
            </a:r>
            <a:r>
              <a:rPr lang="en-US" sz="2400" dirty="0"/>
              <a:t> stage register?</a:t>
            </a:r>
          </a:p>
          <a:p>
            <a:r>
              <a:rPr lang="en-US" sz="2400" dirty="0"/>
              <a:t>	Match_1E_M = (RA1E == WA3M)</a:t>
            </a:r>
          </a:p>
          <a:p>
            <a:r>
              <a:rPr lang="en-US" sz="2400" dirty="0"/>
              <a:t>	Match_2E_M = (RA2E == WA3M)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Execute</a:t>
            </a:r>
            <a:r>
              <a:rPr lang="en-US" sz="2400" dirty="0"/>
              <a:t> stage register matches </a:t>
            </a:r>
            <a:r>
              <a:rPr lang="en-US" sz="2400" b="1" dirty="0" err="1"/>
              <a:t>Writeback</a:t>
            </a:r>
            <a:r>
              <a:rPr lang="en-US" sz="2400" dirty="0"/>
              <a:t> stage register?</a:t>
            </a:r>
          </a:p>
          <a:p>
            <a:r>
              <a:rPr lang="en-US" sz="2400" dirty="0"/>
              <a:t>	Match_1E_W = (RA1E == WA3W)</a:t>
            </a:r>
          </a:p>
          <a:p>
            <a:r>
              <a:rPr lang="en-US" sz="2400" dirty="0"/>
              <a:t>	Match_2E_W = (RA2E == WA3W)</a:t>
            </a:r>
          </a:p>
          <a:p>
            <a:r>
              <a:rPr lang="en-US" sz="500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If it matches, forward result:</a:t>
            </a:r>
          </a:p>
          <a:p>
            <a:r>
              <a:rPr lang="en-US" sz="2400" dirty="0"/>
              <a:t>       </a:t>
            </a:r>
          </a:p>
          <a:p>
            <a:r>
              <a:rPr lang="en-US" sz="2400" b="1" dirty="0"/>
              <a:t>       if          (Match_1E_M • </a:t>
            </a:r>
            <a:r>
              <a:rPr lang="en-US" sz="2400" b="1" dirty="0" err="1"/>
              <a:t>RegWriteM</a:t>
            </a:r>
            <a:r>
              <a:rPr lang="en-US" sz="2400" b="1" dirty="0"/>
              <a:t>)  	</a:t>
            </a:r>
            <a:r>
              <a:rPr lang="en-US" sz="2400" b="1" dirty="0" err="1"/>
              <a:t>ForwardAE</a:t>
            </a:r>
            <a:r>
              <a:rPr lang="en-US" sz="2400" b="1" dirty="0"/>
              <a:t> = 10; </a:t>
            </a:r>
          </a:p>
          <a:p>
            <a:r>
              <a:rPr lang="en-US" sz="2400" b="1" dirty="0"/>
              <a:t>       else if  (Match_1E_W • </a:t>
            </a:r>
            <a:r>
              <a:rPr lang="en-US" sz="2400" b="1" dirty="0" err="1"/>
              <a:t>RegWriteW</a:t>
            </a:r>
            <a:r>
              <a:rPr lang="en-US" sz="2400" b="1" dirty="0"/>
              <a:t>) 	</a:t>
            </a:r>
            <a:r>
              <a:rPr lang="en-US" sz="2400" b="1" dirty="0" err="1"/>
              <a:t>ForwardAE</a:t>
            </a:r>
            <a:r>
              <a:rPr lang="en-US" sz="2400" b="1" dirty="0"/>
              <a:t> = 01; </a:t>
            </a:r>
          </a:p>
          <a:p>
            <a:r>
              <a:rPr lang="en-US" sz="2400" b="1" dirty="0"/>
              <a:t>       else                             			</a:t>
            </a:r>
            <a:r>
              <a:rPr lang="en-US" sz="2400" b="1" dirty="0" err="1"/>
              <a:t>ForwardAE</a:t>
            </a:r>
            <a:r>
              <a:rPr lang="en-US" sz="2400" b="1" dirty="0"/>
              <a:t> = 00;</a:t>
            </a:r>
          </a:p>
          <a:p>
            <a:endParaRPr lang="en-US" sz="500" dirty="0"/>
          </a:p>
          <a:p>
            <a:r>
              <a:rPr lang="en-US" sz="2400" dirty="0"/>
              <a:t>		</a:t>
            </a:r>
            <a:endParaRPr lang="en-US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9288"/>
      </p:ext>
    </p:extLst>
  </p:cSld>
  <p:clrMapOvr>
    <a:masterClrMapping/>
  </p:clrMapOvr>
  <p:transition/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89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789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Data Forwarding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90600"/>
            <a:ext cx="8153400" cy="475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Execute</a:t>
            </a:r>
            <a:r>
              <a:rPr lang="en-US" sz="2400" dirty="0"/>
              <a:t> stage register matches </a:t>
            </a:r>
            <a:r>
              <a:rPr lang="en-US" sz="2400" b="1" dirty="0"/>
              <a:t>Memory</a:t>
            </a:r>
            <a:r>
              <a:rPr lang="en-US" sz="2400" dirty="0"/>
              <a:t> stage register?</a:t>
            </a:r>
          </a:p>
          <a:p>
            <a:r>
              <a:rPr lang="en-US" sz="2400" dirty="0"/>
              <a:t>	Match_1E_M = (RA1E == WA3M)</a:t>
            </a:r>
          </a:p>
          <a:p>
            <a:r>
              <a:rPr lang="en-US" sz="2400" dirty="0"/>
              <a:t>	Match_2E_M = (RA2E == WA3M)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Execute</a:t>
            </a:r>
            <a:r>
              <a:rPr lang="en-US" sz="2400" dirty="0"/>
              <a:t> stage register matches </a:t>
            </a:r>
            <a:r>
              <a:rPr lang="en-US" sz="2400" b="1" dirty="0" err="1"/>
              <a:t>Writeback</a:t>
            </a:r>
            <a:r>
              <a:rPr lang="en-US" sz="2400" dirty="0"/>
              <a:t> stage register?</a:t>
            </a:r>
          </a:p>
          <a:p>
            <a:r>
              <a:rPr lang="en-US" sz="2400" dirty="0"/>
              <a:t>	Match_1E_W = (RA1E == WA3W)</a:t>
            </a:r>
          </a:p>
          <a:p>
            <a:r>
              <a:rPr lang="en-US" sz="2400" dirty="0"/>
              <a:t>	Match_2E_W = (RA2E == WA3W)</a:t>
            </a:r>
          </a:p>
          <a:p>
            <a:r>
              <a:rPr lang="en-US" sz="500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If it matches, forward result:</a:t>
            </a:r>
          </a:p>
          <a:p>
            <a:r>
              <a:rPr lang="en-US" sz="2400" dirty="0"/>
              <a:t>       </a:t>
            </a:r>
          </a:p>
          <a:p>
            <a:r>
              <a:rPr lang="en-US" sz="2400" b="1" dirty="0"/>
              <a:t>       if          (Match_1E_M • </a:t>
            </a:r>
            <a:r>
              <a:rPr lang="en-US" sz="2400" b="1" dirty="0" err="1"/>
              <a:t>RegWriteM</a:t>
            </a:r>
            <a:r>
              <a:rPr lang="en-US" sz="2400" b="1" dirty="0"/>
              <a:t>)  	</a:t>
            </a:r>
            <a:r>
              <a:rPr lang="en-US" sz="2400" b="1" dirty="0" err="1"/>
              <a:t>ForwardAE</a:t>
            </a:r>
            <a:r>
              <a:rPr lang="en-US" sz="2400" b="1" dirty="0"/>
              <a:t> = 10; </a:t>
            </a:r>
          </a:p>
          <a:p>
            <a:r>
              <a:rPr lang="en-US" sz="2400" b="1" dirty="0"/>
              <a:t>       else if  (Match_1E_W • </a:t>
            </a:r>
            <a:r>
              <a:rPr lang="en-US" sz="2400" b="1" dirty="0" err="1"/>
              <a:t>RegWriteW</a:t>
            </a:r>
            <a:r>
              <a:rPr lang="en-US" sz="2400" b="1" dirty="0"/>
              <a:t>) 	</a:t>
            </a:r>
            <a:r>
              <a:rPr lang="en-US" sz="2400" b="1" dirty="0" err="1"/>
              <a:t>ForwardAE</a:t>
            </a:r>
            <a:r>
              <a:rPr lang="en-US" sz="2400" b="1" dirty="0"/>
              <a:t> = 01; </a:t>
            </a:r>
          </a:p>
          <a:p>
            <a:r>
              <a:rPr lang="en-US" sz="2400" b="1" dirty="0"/>
              <a:t>       else                             			</a:t>
            </a:r>
            <a:r>
              <a:rPr lang="en-US" sz="2400" b="1" dirty="0" err="1"/>
              <a:t>ForwardAE</a:t>
            </a:r>
            <a:r>
              <a:rPr lang="en-US" sz="2400" b="1" dirty="0"/>
              <a:t> = 00;</a:t>
            </a:r>
          </a:p>
          <a:p>
            <a:endParaRPr lang="en-US" sz="500" dirty="0"/>
          </a:p>
          <a:p>
            <a:r>
              <a:rPr lang="en-US" sz="2400" dirty="0"/>
              <a:t>		</a:t>
            </a:r>
            <a:r>
              <a:rPr lang="en-US" sz="2400" b="1" dirty="0" err="1">
                <a:solidFill>
                  <a:srgbClr val="0070C0"/>
                </a:solidFill>
              </a:rPr>
              <a:t>ForwardBE</a:t>
            </a:r>
            <a:r>
              <a:rPr lang="en-US" sz="2400" b="1" dirty="0">
                <a:solidFill>
                  <a:srgbClr val="0070C0"/>
                </a:solidFill>
              </a:rPr>
              <a:t> same but with Match2E</a:t>
            </a:r>
          </a:p>
        </p:txBody>
      </p:sp>
    </p:spTree>
    <p:extLst>
      <p:ext uri="{BB962C8B-B14F-4D97-AF65-F5344CB8AC3E}">
        <p14:creationId xmlns:p14="http://schemas.microsoft.com/office/powerpoint/2010/main" val="1507256853"/>
      </p:ext>
    </p:extLst>
  </p:cSld>
  <p:clrMapOvr>
    <a:masterClrMapping/>
  </p:clrMapOvr>
  <p:transition/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55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355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355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355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Stalling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596430"/>
              </p:ext>
            </p:extLst>
          </p:nvPr>
        </p:nvGraphicFramePr>
        <p:xfrm>
          <a:off x="152400" y="1398337"/>
          <a:ext cx="8534400" cy="29945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4886241" imgH="1714500" progId="Visio.Drawing.15">
                  <p:embed/>
                </p:oleObj>
              </mc:Choice>
              <mc:Fallback>
                <p:oleObj name="Visio" r:id="rId7" imgW="4886241" imgH="17145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2400" y="1398337"/>
                        <a:ext cx="8534400" cy="29945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06250618"/>
      </p:ext>
    </p:extLst>
  </p:cSld>
  <p:clrMapOvr>
    <a:masterClrMapping/>
  </p:clrMapOvr>
  <p:transition/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5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45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45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458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Stalling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5335558"/>
              </p:ext>
            </p:extLst>
          </p:nvPr>
        </p:nvGraphicFramePr>
        <p:xfrm>
          <a:off x="205377" y="1447800"/>
          <a:ext cx="8638540" cy="289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5114976" imgH="1714500" progId="Visio.Drawing.15">
                  <p:embed/>
                </p:oleObj>
              </mc:Choice>
              <mc:Fallback>
                <p:oleObj name="Visio" r:id="rId7" imgW="5114976" imgH="17145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05377" y="1447800"/>
                        <a:ext cx="8638540" cy="2895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88167138"/>
      </p:ext>
    </p:extLst>
  </p:cSld>
  <p:clrMapOvr>
    <a:masterClrMapping/>
  </p:clrMapOvr>
  <p:transition/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60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56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560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5606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Stalling Hardware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0908894"/>
              </p:ext>
            </p:extLst>
          </p:nvPr>
        </p:nvGraphicFramePr>
        <p:xfrm>
          <a:off x="762000" y="1066800"/>
          <a:ext cx="7784276" cy="48397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6572351" imgH="4086157" progId="Visio.Drawing.15">
                  <p:embed/>
                </p:oleObj>
              </mc:Choice>
              <mc:Fallback>
                <p:oleObj name="Visio" r:id="rId7" imgW="6572351" imgH="40861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62000" y="1066800"/>
                        <a:ext cx="7784276" cy="483978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98662937"/>
      </p:ext>
    </p:extLst>
  </p:cSld>
  <p:clrMapOvr>
    <a:masterClrMapping/>
  </p:clrMapOvr>
  <p:transition/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920" name="Rectangle 8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533400" y="1219200"/>
            <a:ext cx="8001000" cy="4953000"/>
          </a:xfrm>
        </p:spPr>
        <p:txBody>
          <a:bodyPr>
            <a:normAutofit/>
          </a:bodyPr>
          <a:lstStyle/>
          <a:p>
            <a:r>
              <a:rPr lang="en-US" sz="2800" dirty="0"/>
              <a:t>Is either source register in the Decode stage the same as the one being written in the Execute stage?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sz="2800" i="1" dirty="0"/>
              <a:t>Match_12D_E</a:t>
            </a:r>
            <a:r>
              <a:rPr lang="en-US" sz="2800" dirty="0"/>
              <a:t> = (</a:t>
            </a:r>
            <a:r>
              <a:rPr lang="en-US" sz="2800" i="1" dirty="0"/>
              <a:t>RA1D</a:t>
            </a:r>
            <a:r>
              <a:rPr lang="en-US" sz="2800" dirty="0"/>
              <a:t> == </a:t>
            </a:r>
            <a:r>
              <a:rPr lang="en-US" sz="2800" i="1" dirty="0"/>
              <a:t>WA3E</a:t>
            </a:r>
            <a:r>
              <a:rPr lang="en-US" sz="2800" dirty="0"/>
              <a:t>) + (</a:t>
            </a:r>
            <a:r>
              <a:rPr lang="en-US" sz="2800" i="1" dirty="0"/>
              <a:t>RA2D</a:t>
            </a:r>
            <a:r>
              <a:rPr lang="en-US" sz="2800" dirty="0"/>
              <a:t> == </a:t>
            </a:r>
            <a:r>
              <a:rPr lang="en-US" sz="2800" i="1" dirty="0"/>
              <a:t>WA3E</a:t>
            </a:r>
            <a:r>
              <a:rPr lang="en-US" sz="2800" dirty="0"/>
              <a:t>)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Is a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LDR</a:t>
            </a:r>
            <a:r>
              <a:rPr lang="en-US" sz="2800" dirty="0"/>
              <a:t> in the Execute stage AND </a:t>
            </a:r>
            <a:r>
              <a:rPr lang="en-US" sz="2800" i="1" dirty="0"/>
              <a:t>Match_12D_E</a:t>
            </a:r>
            <a:r>
              <a:rPr lang="en-US" sz="2800" dirty="0"/>
              <a:t>?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sz="2800" i="1" dirty="0" err="1"/>
              <a:t>ldrstall</a:t>
            </a:r>
            <a:r>
              <a:rPr lang="en-US" sz="2800" dirty="0"/>
              <a:t> = </a:t>
            </a:r>
            <a:r>
              <a:rPr lang="en-US" sz="2800" i="1" dirty="0"/>
              <a:t>Match_12D_E</a:t>
            </a:r>
            <a:r>
              <a:rPr lang="en-US" sz="2800" dirty="0"/>
              <a:t> • </a:t>
            </a:r>
            <a:r>
              <a:rPr lang="en-US" sz="2800" i="1" dirty="0" err="1"/>
              <a:t>MemtoRegE</a:t>
            </a:r>
            <a:endParaRPr lang="en-US" sz="2800" i="1" dirty="0"/>
          </a:p>
          <a:p>
            <a:pPr marL="0" indent="0">
              <a:buNone/>
            </a:pPr>
            <a:r>
              <a:rPr lang="en-US" sz="2800" i="1" dirty="0" err="1"/>
              <a:t>StallF</a:t>
            </a:r>
            <a:r>
              <a:rPr lang="en-US" sz="2800" dirty="0"/>
              <a:t> = </a:t>
            </a:r>
            <a:r>
              <a:rPr lang="en-US" sz="2800" i="1" dirty="0" err="1"/>
              <a:t>StallD</a:t>
            </a:r>
            <a:r>
              <a:rPr lang="en-US" sz="2800" dirty="0"/>
              <a:t> = </a:t>
            </a:r>
            <a:r>
              <a:rPr lang="en-US" sz="2800" i="1" dirty="0" err="1"/>
              <a:t>FlushE</a:t>
            </a:r>
            <a:r>
              <a:rPr lang="en-US" sz="2800" dirty="0"/>
              <a:t> = </a:t>
            </a:r>
            <a:r>
              <a:rPr lang="en-US" sz="2800" i="1" dirty="0" err="1"/>
              <a:t>ldrstall</a:t>
            </a:r>
            <a:endParaRPr lang="en-US" sz="2800" i="1" dirty="0"/>
          </a:p>
        </p:txBody>
      </p:sp>
      <p:sp>
        <p:nvSpPr>
          <p:cNvPr id="1318914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18916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8917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18918" name="Rectangle 6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Stalling Logic</a:t>
            </a:r>
          </a:p>
        </p:txBody>
      </p:sp>
    </p:spTree>
    <p:extLst>
      <p:ext uri="{BB962C8B-B14F-4D97-AF65-F5344CB8AC3E}">
        <p14:creationId xmlns:p14="http://schemas.microsoft.com/office/powerpoint/2010/main" val="2277159698"/>
      </p:ext>
    </p:extLst>
  </p:cSld>
  <p:clrMapOvr>
    <a:masterClrMapping/>
  </p:clrMapOvr>
  <p:transition/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632" name="Rectangle 8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886097" y="1219200"/>
            <a:ext cx="7724503" cy="4525963"/>
          </a:xfrm>
        </p:spPr>
        <p:txBody>
          <a:bodyPr>
            <a:noAutofit/>
          </a:bodyPr>
          <a:lstStyle/>
          <a:p>
            <a:r>
              <a:rPr lang="en-US" b="1" dirty="0">
                <a:latin typeface="Courier New" pitchFamily="49" charset="0"/>
              </a:rPr>
              <a:t>B</a:t>
            </a:r>
            <a:r>
              <a:rPr lang="en-US" b="1" dirty="0"/>
              <a:t>: </a:t>
            </a:r>
          </a:p>
          <a:p>
            <a:pPr lvl="1"/>
            <a:r>
              <a:rPr lang="en-US" sz="2600" dirty="0"/>
              <a:t>branch not determined until the </a:t>
            </a:r>
            <a:r>
              <a:rPr lang="en-US" sz="2600" dirty="0" err="1"/>
              <a:t>Writeback</a:t>
            </a:r>
            <a:r>
              <a:rPr lang="en-US" sz="2600" dirty="0"/>
              <a:t> stage of pipeline</a:t>
            </a:r>
          </a:p>
          <a:p>
            <a:pPr lvl="1"/>
            <a:r>
              <a:rPr lang="en-US" sz="2600" dirty="0"/>
              <a:t>Instructions after branch fetched before branch occurs</a:t>
            </a:r>
          </a:p>
          <a:p>
            <a:pPr lvl="1"/>
            <a:r>
              <a:rPr lang="en-US" sz="2600" dirty="0"/>
              <a:t>These 4 instructions must be flushed if branch happens</a:t>
            </a:r>
          </a:p>
          <a:p>
            <a:r>
              <a:rPr lang="en-US" b="1" dirty="0"/>
              <a:t>Writes t</a:t>
            </a:r>
            <a:r>
              <a:rPr lang="en-US" b="1" dirty="0">
                <a:latin typeface="+mj-lt"/>
              </a:rPr>
              <a:t>o </a:t>
            </a:r>
            <a:r>
              <a:rPr lang="en-US" b="1" dirty="0">
                <a:latin typeface="+mj-lt"/>
                <a:cs typeface="Courier New" panose="02070309020205020404" pitchFamily="49" charset="0"/>
              </a:rPr>
              <a:t>PC</a:t>
            </a:r>
            <a:r>
              <a:rPr lang="en-US" b="1" dirty="0">
                <a:latin typeface="+mj-lt"/>
              </a:rPr>
              <a:t> (</a:t>
            </a:r>
            <a:r>
              <a:rPr lang="en-US" b="1" dirty="0">
                <a:latin typeface="+mj-lt"/>
                <a:cs typeface="Courier New" panose="02070309020205020404" pitchFamily="49" charset="0"/>
              </a:rPr>
              <a:t>R15</a:t>
            </a:r>
            <a:r>
              <a:rPr lang="en-US" b="1" dirty="0">
                <a:latin typeface="+mj-lt"/>
              </a:rPr>
              <a:t>) similar</a:t>
            </a:r>
            <a:endParaRPr lang="en-US" sz="2600" dirty="0">
              <a:latin typeface="+mj-lt"/>
            </a:endParaRPr>
          </a:p>
        </p:txBody>
      </p:sp>
      <p:sp>
        <p:nvSpPr>
          <p:cNvPr id="1306626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662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29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30" name="Rectangle 6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Control Hazards</a:t>
            </a:r>
          </a:p>
        </p:txBody>
      </p:sp>
    </p:spTree>
    <p:extLst>
      <p:ext uri="{BB962C8B-B14F-4D97-AF65-F5344CB8AC3E}">
        <p14:creationId xmlns:p14="http://schemas.microsoft.com/office/powerpoint/2010/main" val="1001441083"/>
      </p:ext>
    </p:extLst>
  </p:cSld>
  <p:clrMapOvr>
    <a:masterClrMapping/>
  </p:clrMapOvr>
  <p:transition/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6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66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2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3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Control Hazards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1633297"/>
              </p:ext>
            </p:extLst>
          </p:nvPr>
        </p:nvGraphicFramePr>
        <p:xfrm>
          <a:off x="838200" y="990600"/>
          <a:ext cx="7757102" cy="3276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8" imgW="5953041" imgH="2514600" progId="Visio.Drawing.15">
                  <p:embed/>
                </p:oleObj>
              </mc:Choice>
              <mc:Fallback>
                <p:oleObj name="Visio" r:id="rId8" imgW="5953041" imgH="25146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38200" y="990600"/>
                        <a:ext cx="7757102" cy="3276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/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886097" y="4343400"/>
            <a:ext cx="8181703" cy="1600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Branch </a:t>
            </a:r>
            <a:r>
              <a:rPr lang="en-US" b="1" dirty="0" err="1"/>
              <a:t>misprediction</a:t>
            </a:r>
            <a:r>
              <a:rPr lang="en-US" b="1" dirty="0"/>
              <a:t> penalty</a:t>
            </a:r>
          </a:p>
          <a:p>
            <a:r>
              <a:rPr lang="en-US" sz="2600" dirty="0"/>
              <a:t>number of instruction flushed when branch is taken (4)</a:t>
            </a:r>
          </a:p>
          <a:p>
            <a:r>
              <a:rPr lang="en-US" sz="2600" dirty="0"/>
              <a:t>May be reduced by determining BTA earlier</a:t>
            </a:r>
          </a:p>
        </p:txBody>
      </p:sp>
    </p:spTree>
    <p:extLst>
      <p:ext uri="{BB962C8B-B14F-4D97-AF65-F5344CB8AC3E}">
        <p14:creationId xmlns:p14="http://schemas.microsoft.com/office/powerpoint/2010/main" val="3143513038"/>
      </p:ext>
    </p:extLst>
  </p:cSld>
  <p:clrMapOvr>
    <a:masterClrMapping/>
  </p:clrMapOvr>
  <p:transition/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6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66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2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3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Early Branch Resolution</a:t>
            </a:r>
          </a:p>
        </p:txBody>
      </p:sp>
      <p:sp>
        <p:nvSpPr>
          <p:cNvPr id="9" name="Rectangle 8"/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944880" y="1143000"/>
            <a:ext cx="8181703" cy="1600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Determine BTA in Execute stage</a:t>
            </a:r>
          </a:p>
          <a:p>
            <a:pPr lvl="1"/>
            <a:r>
              <a:rPr lang="en-US" dirty="0"/>
              <a:t>Branch </a:t>
            </a:r>
            <a:r>
              <a:rPr lang="en-US" dirty="0" err="1"/>
              <a:t>misprediction</a:t>
            </a:r>
            <a:r>
              <a:rPr lang="en-US" dirty="0"/>
              <a:t> penalty = 2 cycles</a:t>
            </a:r>
          </a:p>
          <a:p>
            <a:r>
              <a:rPr lang="en-US" b="1" dirty="0"/>
              <a:t>Hardware changes</a:t>
            </a:r>
          </a:p>
          <a:p>
            <a:pPr lvl="1"/>
            <a:r>
              <a:rPr lang="en-US" sz="2400" dirty="0"/>
              <a:t>Add a branch multiplexer before </a:t>
            </a:r>
            <a:r>
              <a:rPr lang="en-US" sz="2400" i="1" dirty="0"/>
              <a:t>PC</a:t>
            </a:r>
            <a:r>
              <a:rPr lang="en-US" sz="2400" dirty="0"/>
              <a:t> register to select BTA from </a:t>
            </a:r>
            <a:r>
              <a:rPr lang="en-US" sz="2400" i="1" dirty="0" err="1"/>
              <a:t>ALUResultE</a:t>
            </a:r>
            <a:endParaRPr lang="en-US" sz="2400" dirty="0"/>
          </a:p>
          <a:p>
            <a:pPr lvl="1"/>
            <a:r>
              <a:rPr lang="en-US" sz="2400" dirty="0"/>
              <a:t>Add </a:t>
            </a:r>
            <a:r>
              <a:rPr lang="en-US" sz="2400" i="1" dirty="0" err="1"/>
              <a:t>BranchTakenE</a:t>
            </a:r>
            <a:r>
              <a:rPr lang="en-US" sz="2400" dirty="0"/>
              <a:t> select signal for this multiplexer (only asserted if branch condition satisfied)</a:t>
            </a:r>
          </a:p>
          <a:p>
            <a:pPr lvl="1"/>
            <a:r>
              <a:rPr lang="en-US" sz="2400" i="1" dirty="0" err="1"/>
              <a:t>PCSrcW</a:t>
            </a:r>
            <a:r>
              <a:rPr lang="en-US" sz="2400" dirty="0"/>
              <a:t> now only asserted for writes to </a:t>
            </a:r>
            <a:r>
              <a:rPr lang="en-US" sz="2400" i="1" dirty="0"/>
              <a:t>PC</a:t>
            </a:r>
            <a:r>
              <a:rPr lang="en-US" sz="2400" dirty="0"/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681042940"/>
      </p:ext>
    </p:extLst>
  </p:cSld>
  <p:clrMapOvr>
    <a:masterClrMapping/>
  </p:clrMapOvr>
  <p:transition/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6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66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2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3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+mj-lt"/>
              </a:rPr>
              <a:t>Pipelined processor with Early BTA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4849373"/>
              </p:ext>
            </p:extLst>
          </p:nvPr>
        </p:nvGraphicFramePr>
        <p:xfrm>
          <a:off x="762000" y="990600"/>
          <a:ext cx="7915564" cy="47693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6781935" imgH="4086157" progId="Visio.Drawing.15">
                  <p:embed/>
                </p:oleObj>
              </mc:Choice>
              <mc:Fallback>
                <p:oleObj name="Visio" r:id="rId7" imgW="6781935" imgH="40861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62000" y="990600"/>
                        <a:ext cx="7915564" cy="47693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89074361"/>
      </p:ext>
    </p:extLst>
  </p:cSld>
  <p:clrMapOvr>
    <a:masterClrMapping/>
  </p:clrMapOvr>
  <p:transition/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6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066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2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0663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Control Hazards with Early BTA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900176"/>
              </p:ext>
            </p:extLst>
          </p:nvPr>
        </p:nvGraphicFramePr>
        <p:xfrm>
          <a:off x="990600" y="1066800"/>
          <a:ext cx="7924800" cy="335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5943600" imgH="2514600" progId="Visio.Drawing.15">
                  <p:embed/>
                </p:oleObj>
              </mc:Choice>
              <mc:Fallback>
                <p:oleObj name="Visio" r:id="rId7" imgW="5943600" imgH="2514600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990600" y="1066800"/>
                        <a:ext cx="7924800" cy="3352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27742017"/>
      </p:ext>
    </p:extLst>
  </p:cSld>
  <p:clrMapOvr>
    <a:masterClrMapping/>
  </p:clrMapOvr>
  <p:transition/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91" name="Rectangle 7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533400" y="990600"/>
            <a:ext cx="8001000" cy="4953000"/>
          </a:xfrm>
        </p:spPr>
        <p:txBody>
          <a:bodyPr>
            <a:normAutofit fontScale="70000" lnSpcReduction="20000"/>
          </a:bodyPr>
          <a:lstStyle/>
          <a:p>
            <a:r>
              <a:rPr lang="en-US" sz="3700" b="1" i="1" dirty="0" err="1"/>
              <a:t>PCWrPendingF</a:t>
            </a:r>
            <a:r>
              <a:rPr lang="en-US" sz="3700" b="1" dirty="0"/>
              <a:t> = 1</a:t>
            </a:r>
            <a:r>
              <a:rPr lang="en-US" sz="3700" dirty="0"/>
              <a:t> if write to </a:t>
            </a:r>
            <a:r>
              <a:rPr lang="en-US" sz="3700" i="1" dirty="0"/>
              <a:t>PC</a:t>
            </a:r>
            <a:r>
              <a:rPr lang="en-US" sz="3700" dirty="0"/>
              <a:t> in Decode, Execute or Memory</a:t>
            </a:r>
          </a:p>
          <a:p>
            <a:pPr marL="0" indent="0">
              <a:buNone/>
            </a:pPr>
            <a:r>
              <a:rPr lang="en-US" i="1" dirty="0"/>
              <a:t>	</a:t>
            </a:r>
            <a:r>
              <a:rPr lang="en-US" i="1" dirty="0" err="1"/>
              <a:t>PCWrPendingF</a:t>
            </a:r>
            <a:r>
              <a:rPr lang="en-US" dirty="0"/>
              <a:t> = </a:t>
            </a:r>
            <a:r>
              <a:rPr lang="en-US" i="1" dirty="0" err="1"/>
              <a:t>PCSrcD</a:t>
            </a:r>
            <a:r>
              <a:rPr lang="en-US" dirty="0"/>
              <a:t> + </a:t>
            </a:r>
            <a:r>
              <a:rPr lang="en-US" i="1" dirty="0" err="1"/>
              <a:t>PCSrcE</a:t>
            </a:r>
            <a:r>
              <a:rPr lang="en-US" dirty="0"/>
              <a:t> + </a:t>
            </a:r>
            <a:r>
              <a:rPr lang="en-US" i="1" dirty="0" err="1"/>
              <a:t>PCSrcM</a:t>
            </a:r>
            <a:endParaRPr lang="en-US" dirty="0"/>
          </a:p>
          <a:p>
            <a:pPr marL="0" indent="0">
              <a:buNone/>
            </a:pPr>
            <a:endParaRPr lang="en-US" sz="1400" dirty="0"/>
          </a:p>
          <a:p>
            <a:r>
              <a:rPr lang="en-US" sz="3700" b="1" dirty="0"/>
              <a:t>Stall Fetch</a:t>
            </a:r>
            <a:r>
              <a:rPr lang="en-US" sz="3700" dirty="0"/>
              <a:t> if </a:t>
            </a:r>
            <a:r>
              <a:rPr lang="en-US" sz="3700" i="1" dirty="0" err="1"/>
              <a:t>PCWrPendingF</a:t>
            </a:r>
            <a:endParaRPr lang="en-US" sz="3700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StallF</a:t>
            </a:r>
            <a:r>
              <a:rPr lang="en-US" dirty="0"/>
              <a:t> = </a:t>
            </a:r>
            <a:r>
              <a:rPr lang="en-US" dirty="0" err="1"/>
              <a:t>ldrStallD</a:t>
            </a:r>
            <a:r>
              <a:rPr lang="en-US" dirty="0"/>
              <a:t> + </a:t>
            </a:r>
            <a:r>
              <a:rPr lang="en-US" dirty="0" err="1"/>
              <a:t>PCWrPendingF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3700" b="1" dirty="0"/>
              <a:t>Flush Decode</a:t>
            </a:r>
            <a:r>
              <a:rPr lang="en-US" sz="3700" dirty="0"/>
              <a:t> if </a:t>
            </a:r>
            <a:r>
              <a:rPr lang="en-US" sz="3700" i="1" dirty="0" err="1"/>
              <a:t>PCWrPendingF</a:t>
            </a:r>
            <a:r>
              <a:rPr lang="en-US" sz="3700" dirty="0"/>
              <a:t> OR </a:t>
            </a:r>
            <a:r>
              <a:rPr lang="en-US" sz="3700" i="1" dirty="0"/>
              <a:t>PC</a:t>
            </a:r>
            <a:r>
              <a:rPr lang="en-US" sz="3700" dirty="0"/>
              <a:t> is written in </a:t>
            </a:r>
            <a:r>
              <a:rPr lang="en-US" sz="3700" dirty="0" err="1"/>
              <a:t>Writeback</a:t>
            </a:r>
            <a:r>
              <a:rPr lang="en-US" sz="3700" dirty="0"/>
              <a:t> OR branch is taken</a:t>
            </a:r>
            <a:endParaRPr lang="en-US" sz="3700" i="1" dirty="0"/>
          </a:p>
          <a:p>
            <a:pPr marL="0" indent="0">
              <a:buNone/>
            </a:pPr>
            <a:r>
              <a:rPr lang="en-US" i="1" dirty="0"/>
              <a:t>	</a:t>
            </a:r>
            <a:r>
              <a:rPr lang="en-US" i="1" dirty="0" err="1"/>
              <a:t>FlushD</a:t>
            </a:r>
            <a:r>
              <a:rPr lang="en-US" dirty="0"/>
              <a:t> = </a:t>
            </a:r>
            <a:r>
              <a:rPr lang="en-US" i="1" dirty="0" err="1"/>
              <a:t>PCWrPendingF</a:t>
            </a:r>
            <a:r>
              <a:rPr lang="en-US" dirty="0"/>
              <a:t> + </a:t>
            </a:r>
            <a:r>
              <a:rPr lang="en-US" i="1" dirty="0" err="1"/>
              <a:t>PCSrcW</a:t>
            </a:r>
            <a:r>
              <a:rPr lang="en-US" dirty="0"/>
              <a:t> + </a:t>
            </a:r>
            <a:r>
              <a:rPr lang="en-US" i="1" dirty="0" err="1"/>
              <a:t>BranchTakenE</a:t>
            </a:r>
            <a:endParaRPr lang="en-US" i="1" dirty="0"/>
          </a:p>
          <a:p>
            <a:endParaRPr lang="en-US" sz="1400" dirty="0"/>
          </a:p>
          <a:p>
            <a:r>
              <a:rPr lang="en-US" sz="3700" b="1" dirty="0"/>
              <a:t>Flush Execute</a:t>
            </a:r>
            <a:r>
              <a:rPr lang="en-US" sz="3700" dirty="0"/>
              <a:t> if branch is taken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i="1" dirty="0" err="1"/>
              <a:t>FlushE</a:t>
            </a:r>
            <a:r>
              <a:rPr lang="en-US" dirty="0"/>
              <a:t> = </a:t>
            </a:r>
            <a:r>
              <a:rPr lang="en-US" i="1" dirty="0" err="1"/>
              <a:t>ldrStallD</a:t>
            </a:r>
            <a:r>
              <a:rPr lang="en-US" dirty="0"/>
              <a:t> + </a:t>
            </a:r>
            <a:r>
              <a:rPr lang="en-US" i="1" dirty="0" err="1"/>
              <a:t>BranchTakenE</a:t>
            </a:r>
            <a:endParaRPr lang="en-US" i="1" dirty="0"/>
          </a:p>
          <a:p>
            <a:pPr marL="0" indent="0">
              <a:buNone/>
            </a:pPr>
            <a:endParaRPr lang="en-US" sz="1400" i="1" dirty="0"/>
          </a:p>
          <a:p>
            <a:r>
              <a:rPr lang="en-US" sz="3700" b="1" dirty="0"/>
              <a:t>Stall Decode</a:t>
            </a:r>
            <a:r>
              <a:rPr lang="en-US" sz="3700" dirty="0"/>
              <a:t> if </a:t>
            </a:r>
            <a:r>
              <a:rPr lang="en-US" sz="3700" i="1" dirty="0" err="1"/>
              <a:t>ldrStallD</a:t>
            </a:r>
            <a:r>
              <a:rPr lang="en-US" sz="3700" dirty="0"/>
              <a:t> (as before)</a:t>
            </a:r>
          </a:p>
          <a:p>
            <a:pPr marL="0" indent="0">
              <a:buNone/>
            </a:pPr>
            <a:r>
              <a:rPr lang="en-US" i="1" dirty="0"/>
              <a:t>	</a:t>
            </a:r>
            <a:r>
              <a:rPr lang="en-US" i="1" dirty="0" err="1"/>
              <a:t>StallD</a:t>
            </a:r>
            <a:r>
              <a:rPr lang="en-US" dirty="0"/>
              <a:t> = </a:t>
            </a:r>
            <a:r>
              <a:rPr lang="en-US" i="1" dirty="0" err="1"/>
              <a:t>ldrStallD</a:t>
            </a:r>
            <a:endParaRPr lang="en-US" dirty="0"/>
          </a:p>
          <a:p>
            <a:pPr marL="0" indent="0">
              <a:buNone/>
            </a:pPr>
            <a:endParaRPr lang="en-US" i="1" dirty="0"/>
          </a:p>
        </p:txBody>
      </p:sp>
      <p:sp>
        <p:nvSpPr>
          <p:cNvPr id="1321986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198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1989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1990" name="Rectangle 6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Control Stalling Logic</a:t>
            </a:r>
          </a:p>
        </p:txBody>
      </p:sp>
    </p:spTree>
    <p:extLst>
      <p:ext uri="{BB962C8B-B14F-4D97-AF65-F5344CB8AC3E}">
        <p14:creationId xmlns:p14="http://schemas.microsoft.com/office/powerpoint/2010/main" val="3780032861"/>
      </p:ext>
    </p:extLst>
  </p:cSld>
  <p:clrMapOvr>
    <a:masterClrMapping/>
  </p:clrMapOvr>
  <p:transition/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198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198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1990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416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 sz="2400">
              <a:latin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31058"/>
            <a:ext cx="79248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+mj-lt"/>
              </a:rPr>
              <a:t>ARM Pipelined Processor with Hazard Unit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6570421"/>
              </p:ext>
            </p:extLst>
          </p:nvPr>
        </p:nvGraphicFramePr>
        <p:xfrm>
          <a:off x="609600" y="990600"/>
          <a:ext cx="8093897" cy="487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6781935" imgH="4086157" progId="Visio.Drawing.15">
                  <p:embed/>
                </p:oleObj>
              </mc:Choice>
              <mc:Fallback>
                <p:oleObj name="Visio" r:id="rId7" imgW="6781935" imgH="40861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09600" y="990600"/>
                        <a:ext cx="8093897" cy="4876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105753"/>
      </p:ext>
    </p:extLst>
  </p:cSld>
  <p:clrMapOvr>
    <a:masterClrMapping/>
  </p:clrMapOvr>
  <p:transition/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01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301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990600"/>
            <a:ext cx="8534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SPECINT2000 benchmark: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25% loads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10% stores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13% branches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52% </a:t>
            </a:r>
            <a:r>
              <a:rPr lang="en-US" sz="1800">
                <a:latin typeface="+mj-lt"/>
                <a:cs typeface="Arial" charset="0"/>
              </a:rPr>
              <a:t>data processing</a:t>
            </a:r>
            <a:endParaRPr lang="en-US" sz="18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Suppose: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40% of loads used by next instruction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50% of branches </a:t>
            </a:r>
            <a:r>
              <a:rPr lang="en-US" sz="1800" dirty="0" err="1">
                <a:latin typeface="+mj-lt"/>
                <a:cs typeface="Arial" charset="0"/>
              </a:rPr>
              <a:t>mispredicted</a:t>
            </a:r>
            <a:endParaRPr lang="en-US" sz="18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solidFill>
                  <a:srgbClr val="0070C0"/>
                </a:solidFill>
                <a:latin typeface="+mj-lt"/>
                <a:cs typeface="Arial" charset="0"/>
              </a:rPr>
              <a:t>What is the average CPI?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160302735"/>
      </p:ext>
    </p:extLst>
  </p:cSld>
  <p:clrMapOvr>
    <a:masterClrMapping/>
  </p:clrMapOvr>
  <p:transition/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012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3013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990600"/>
            <a:ext cx="8534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SPECINT2000 benchmark: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25% loads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10% stores 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13% branches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52% </a:t>
            </a:r>
            <a:r>
              <a:rPr lang="en-US" dirty="0">
                <a:latin typeface="+mj-lt"/>
                <a:cs typeface="Arial" charset="0"/>
              </a:rPr>
              <a:t>data processing</a:t>
            </a:r>
            <a:endParaRPr lang="en-US" sz="18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Suppose: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40% of loads used by next instruction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50% of branches </a:t>
            </a:r>
            <a:r>
              <a:rPr lang="en-US" sz="1800" dirty="0" err="1">
                <a:latin typeface="+mj-lt"/>
                <a:cs typeface="Arial" charset="0"/>
              </a:rPr>
              <a:t>mispredicted</a:t>
            </a:r>
            <a:endParaRPr lang="en-US" sz="1800" dirty="0">
              <a:latin typeface="+mj-lt"/>
              <a:cs typeface="Arial" charset="0"/>
            </a:endParaRPr>
          </a:p>
          <a:p>
            <a:pPr marL="342900" indent="-342900" algn="just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400" b="1" dirty="0">
                <a:solidFill>
                  <a:srgbClr val="0070C0"/>
                </a:solidFill>
                <a:latin typeface="+mj-lt"/>
                <a:cs typeface="Arial" charset="0"/>
              </a:rPr>
              <a:t>What is the average CPI?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sz="1800" dirty="0">
                <a:latin typeface="+mj-lt"/>
                <a:cs typeface="Arial" charset="0"/>
              </a:rPr>
              <a:t>Load CPI = 1 when not stalling, 2 when stalling</a:t>
            </a:r>
          </a:p>
          <a:p>
            <a:pPr lvl="2" algn="just">
              <a:lnSpc>
                <a:spcPct val="90000"/>
              </a:lnSpc>
              <a:spcBef>
                <a:spcPct val="20000"/>
              </a:spcBef>
            </a:pPr>
            <a:r>
              <a:rPr lang="en-US" dirty="0">
                <a:latin typeface="+mj-lt"/>
                <a:cs typeface="Arial" charset="0"/>
              </a:rPr>
              <a:t>So, </a:t>
            </a:r>
            <a:r>
              <a:rPr lang="en-US" b="1" dirty="0" err="1">
                <a:latin typeface="+mj-lt"/>
                <a:cs typeface="Arial" charset="0"/>
              </a:rPr>
              <a:t>CPI</a:t>
            </a:r>
            <a:r>
              <a:rPr lang="en-US" b="1" baseline="-25000" dirty="0" err="1">
                <a:latin typeface="+mj-lt"/>
                <a:cs typeface="Arial" charset="0"/>
              </a:rPr>
              <a:t>lw</a:t>
            </a:r>
            <a:r>
              <a:rPr lang="en-US" dirty="0">
                <a:latin typeface="+mj-lt"/>
                <a:cs typeface="Arial" charset="0"/>
              </a:rPr>
              <a:t> = 1(0.6) + 2(0.4) = 1.4</a:t>
            </a:r>
          </a:p>
          <a:p>
            <a:pPr marL="742950" lvl="1" indent="-285750" algn="just">
              <a:lnSpc>
                <a:spcPct val="90000"/>
              </a:lnSpc>
              <a:spcBef>
                <a:spcPct val="20000"/>
              </a:spcBef>
              <a:buFontTx/>
              <a:buChar char="–"/>
            </a:pPr>
            <a:r>
              <a:rPr lang="en-US" dirty="0">
                <a:latin typeface="+mj-lt"/>
                <a:cs typeface="Arial" charset="0"/>
              </a:rPr>
              <a:t>Branch CPI = 1 when not stalling, 3 when stalling</a:t>
            </a:r>
          </a:p>
          <a:p>
            <a:pPr lvl="1" algn="just">
              <a:lnSpc>
                <a:spcPct val="90000"/>
              </a:lnSpc>
              <a:spcBef>
                <a:spcPct val="20000"/>
              </a:spcBef>
            </a:pPr>
            <a:r>
              <a:rPr lang="en-US" sz="1800" dirty="0">
                <a:latin typeface="+mj-lt"/>
                <a:cs typeface="Arial" charset="0"/>
              </a:rPr>
              <a:t>	So, </a:t>
            </a:r>
            <a:r>
              <a:rPr lang="en-US" sz="1800" b="1" dirty="0" err="1">
                <a:latin typeface="+mj-lt"/>
                <a:cs typeface="Arial" charset="0"/>
              </a:rPr>
              <a:t>CPI</a:t>
            </a:r>
            <a:r>
              <a:rPr lang="en-US" sz="1800" b="1" baseline="-25000" dirty="0" err="1">
                <a:latin typeface="+mj-lt"/>
                <a:cs typeface="Arial" charset="0"/>
              </a:rPr>
              <a:t>beq</a:t>
            </a:r>
            <a:r>
              <a:rPr lang="en-US" sz="1800" dirty="0">
                <a:latin typeface="+mj-lt"/>
                <a:cs typeface="Arial" charset="0"/>
              </a:rPr>
              <a:t> = 1(0.5) + 3(0.5) = 2</a:t>
            </a:r>
          </a:p>
          <a:p>
            <a:pPr marL="742950" lvl="1" indent="-285750" algn="just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" b="1" dirty="0">
              <a:latin typeface="+mj-lt"/>
              <a:cs typeface="Arial" charset="0"/>
            </a:endParaRPr>
          </a:p>
          <a:p>
            <a:pPr marL="742950" lvl="1" indent="-285750" algn="just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latin typeface="+mj-lt"/>
                <a:cs typeface="Arial" charset="0"/>
              </a:rPr>
              <a:t>Average CPI = </a:t>
            </a:r>
            <a:r>
              <a:rPr lang="en-US" sz="2000" dirty="0">
                <a:latin typeface="+mj-lt"/>
                <a:cs typeface="Arial" charset="0"/>
              </a:rPr>
              <a:t>(0.25)(1.4) + (0.1)(1) + (0.13)(2) + (0.52)(1)</a:t>
            </a:r>
            <a:r>
              <a:rPr lang="en-US" sz="2000" b="1" dirty="0">
                <a:latin typeface="+mj-lt"/>
                <a:cs typeface="Arial" charset="0"/>
              </a:rPr>
              <a:t>  = 1.23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2905790049"/>
      </p:ext>
    </p:extLst>
  </p:cSld>
  <p:clrMapOvr>
    <a:masterClrMapping/>
  </p:clrMapOvr>
  <p:transition/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0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403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403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76962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Times New Roman" pitchFamily="18" charset="0"/>
                <a:cs typeface="Arial" charset="0"/>
              </a:rPr>
              <a:t>Pipelined processor critical path: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200" b="1" i="1" dirty="0">
                <a:solidFill>
                  <a:schemeClr val="accent2"/>
                </a:solidFill>
                <a:latin typeface="Times New Roman" pitchFamily="18" charset="0"/>
                <a:cs typeface="Arial" charset="0"/>
              </a:rPr>
              <a:t>  	</a:t>
            </a:r>
            <a:r>
              <a:rPr lang="en-US" sz="2800" b="1" i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i="1" baseline="-25000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c3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	= max [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   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i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pcq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mem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setup</a:t>
            </a:r>
            <a:r>
              <a:rPr lang="en-US" sz="2800" b="1" baseline="-25000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Fetch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    2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(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RFread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setup</a:t>
            </a:r>
            <a:r>
              <a:rPr lang="en-US" sz="2800" b="1" baseline="-25000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)	</a:t>
            </a: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Decode</a:t>
            </a:r>
            <a:endParaRPr lang="en-US" sz="28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   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i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pcq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+ 2</a:t>
            </a:r>
            <a:r>
              <a:rPr lang="en-US" sz="2800" b="1" i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mux 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ALU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setup</a:t>
            </a:r>
            <a:r>
              <a:rPr lang="en-US" sz="2800" b="1" baseline="-25000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Execute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  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i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pcq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mem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setup</a:t>
            </a:r>
            <a:r>
              <a:rPr lang="en-US" sz="2800" b="1" baseline="-25000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	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Memory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	    2(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i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pcq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mux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 + </a:t>
            </a:r>
            <a:r>
              <a:rPr lang="en-US" sz="2800" b="1" i="1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t</a:t>
            </a:r>
            <a:r>
              <a:rPr lang="en-US" sz="2800" b="1" baseline="-25000" dirty="0" err="1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RFwrite</a:t>
            </a:r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Arial" charset="0"/>
              </a:rPr>
              <a:t>) ]</a:t>
            </a:r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Arial" charset="0"/>
              </a:rPr>
              <a:t>	</a:t>
            </a:r>
            <a:r>
              <a:rPr lang="en-US" sz="2800" b="1" dirty="0" err="1">
                <a:latin typeface="Times New Roman" pitchFamily="18" charset="0"/>
                <a:cs typeface="Arial" charset="0"/>
              </a:rPr>
              <a:t>Writeback</a:t>
            </a:r>
            <a:endParaRPr lang="en-US" sz="2800" b="1" dirty="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</a:t>
            </a:r>
          </a:p>
        </p:txBody>
      </p:sp>
    </p:spTree>
    <p:extLst>
      <p:ext uri="{BB962C8B-B14F-4D97-AF65-F5344CB8AC3E}">
        <p14:creationId xmlns:p14="http://schemas.microsoft.com/office/powerpoint/2010/main" val="3985933319"/>
      </p:ext>
    </p:extLst>
  </p:cSld>
  <p:clrMapOvr>
    <a:masterClrMapping/>
  </p:clrMapOvr>
  <p:transition/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141" name="Group 85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55165850"/>
              </p:ext>
            </p:extLst>
          </p:nvPr>
        </p:nvGraphicFramePr>
        <p:xfrm>
          <a:off x="1371600" y="1066800"/>
          <a:ext cx="6934200" cy="326136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8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17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  <a:endParaRPr kumimoji="0" lang="en-US" sz="17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  <a:endParaRPr kumimoji="0" lang="en-US" sz="17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8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write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write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3250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5142" name="Rectangle 8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696453" y="4572000"/>
            <a:ext cx="6685547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Cycle time: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 </a:t>
            </a:r>
            <a:r>
              <a:rPr lang="en-US" sz="28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800" i="1" baseline="-25000" dirty="0">
                <a:latin typeface="Times New Roman" pitchFamily="18" charset="0"/>
                <a:cs typeface="Arial" charset="0"/>
              </a:rPr>
              <a:t>c3</a:t>
            </a:r>
            <a:r>
              <a:rPr lang="en-US" sz="2800" dirty="0">
                <a:latin typeface="Times New Roman" pitchFamily="18" charset="0"/>
                <a:cs typeface="Arial" charset="0"/>
              </a:rPr>
              <a:t> = ?</a:t>
            </a:r>
            <a:endParaRPr lang="en-US" sz="28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3928753239"/>
      </p:ext>
    </p:extLst>
  </p:cSld>
  <p:clrMapOvr>
    <a:masterClrMapping/>
  </p:clrMapOvr>
  <p:transition/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141" name="Group 85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9579523"/>
              </p:ext>
            </p:extLst>
          </p:nvPr>
        </p:nvGraphicFramePr>
        <p:xfrm>
          <a:off x="1371600" y="1066800"/>
          <a:ext cx="6934200" cy="326136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Element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Parameter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Delay (</a:t>
                      </a:r>
                      <a:r>
                        <a:rPr kumimoji="0" lang="en-US" sz="2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ps</a:t>
                      </a: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8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clock-to-Q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pcq</a:t>
                      </a:r>
                      <a:r>
                        <a:rPr kumimoji="0" lang="en-US" sz="17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_PC</a:t>
                      </a:r>
                      <a:endParaRPr kumimoji="0" lang="en-US" sz="17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  <a:endParaRPr kumimoji="0" lang="en-US" sz="17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Multiplexer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mux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ALU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8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Memory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mem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read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read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setup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setup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Register file write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t</a:t>
                      </a:r>
                      <a:r>
                        <a:rPr kumimoji="0" lang="en-US" sz="1700" b="0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RF</a:t>
                      </a:r>
                      <a:r>
                        <a:rPr kumimoji="0" lang="en-US" sz="1700" b="0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write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70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32506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5142" name="Rectangle 8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696453" y="4572000"/>
            <a:ext cx="6685547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b="1" dirty="0">
                <a:latin typeface="+mj-lt"/>
                <a:cs typeface="Arial" charset="0"/>
              </a:rPr>
              <a:t>Cycle time: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 </a:t>
            </a:r>
            <a:r>
              <a:rPr lang="en-US" sz="2800" i="1" dirty="0">
                <a:latin typeface="Times New Roman" pitchFamily="18" charset="0"/>
                <a:cs typeface="Arial" charset="0"/>
              </a:rPr>
              <a:t>T</a:t>
            </a:r>
            <a:r>
              <a:rPr lang="en-US" sz="2800" i="1" baseline="-25000" dirty="0">
                <a:latin typeface="Times New Roman" pitchFamily="18" charset="0"/>
                <a:cs typeface="Arial" charset="0"/>
              </a:rPr>
              <a:t>c3</a:t>
            </a:r>
            <a:r>
              <a:rPr lang="en-US" sz="2800" dirty="0">
                <a:latin typeface="Times New Roman" pitchFamily="18" charset="0"/>
                <a:cs typeface="Arial" charset="0"/>
              </a:rPr>
              <a:t> = 2(</a:t>
            </a:r>
            <a:r>
              <a:rPr lang="en-US" sz="28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800" i="1" baseline="-25000" dirty="0" err="1">
                <a:latin typeface="Times New Roman" pitchFamily="18" charset="0"/>
                <a:cs typeface="Arial" charset="0"/>
              </a:rPr>
              <a:t>RFread</a:t>
            </a:r>
            <a:r>
              <a:rPr lang="en-US" sz="2800" dirty="0">
                <a:latin typeface="Times New Roman" pitchFamily="18" charset="0"/>
                <a:cs typeface="Arial" charset="0"/>
              </a:rPr>
              <a:t> + </a:t>
            </a:r>
            <a:r>
              <a:rPr lang="en-US" sz="2800" i="1" dirty="0" err="1">
                <a:latin typeface="Times New Roman" pitchFamily="18" charset="0"/>
                <a:cs typeface="Arial" charset="0"/>
              </a:rPr>
              <a:t>t</a:t>
            </a:r>
            <a:r>
              <a:rPr lang="en-US" sz="2800" baseline="-25000" dirty="0" err="1">
                <a:latin typeface="Times New Roman" pitchFamily="18" charset="0"/>
                <a:cs typeface="Arial" charset="0"/>
              </a:rPr>
              <a:t>setup</a:t>
            </a:r>
            <a:r>
              <a:rPr lang="en-US" sz="2800" baseline="-25000" dirty="0">
                <a:latin typeface="Times New Roman" pitchFamily="18" charset="0"/>
                <a:cs typeface="Arial" charset="0"/>
              </a:rPr>
              <a:t> </a:t>
            </a:r>
            <a:r>
              <a:rPr lang="en-US" sz="2800" dirty="0">
                <a:latin typeface="Times New Roman" pitchFamily="18" charset="0"/>
                <a:cs typeface="Arial" charset="0"/>
              </a:rPr>
              <a:t>)</a:t>
            </a:r>
            <a:endParaRPr lang="en-US" sz="2800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2800" dirty="0">
                <a:latin typeface="Times New Roman" pitchFamily="18" charset="0"/>
                <a:cs typeface="Arial" charset="0"/>
              </a:rPr>
              <a:t>    		     = 2[100 + 50] </a:t>
            </a:r>
            <a:r>
              <a:rPr lang="en-US" sz="2800" dirty="0" err="1">
                <a:latin typeface="Times New Roman" pitchFamily="18" charset="0"/>
                <a:cs typeface="Arial" charset="0"/>
              </a:rPr>
              <a:t>ps</a:t>
            </a:r>
            <a:r>
              <a:rPr lang="en-US" sz="2800" baseline="-25000" dirty="0">
                <a:latin typeface="Times New Roman" pitchFamily="18" charset="0"/>
                <a:cs typeface="Arial" charset="0"/>
              </a:rPr>
              <a:t>  </a:t>
            </a:r>
            <a:r>
              <a:rPr lang="en-US" sz="2800" b="1" dirty="0">
                <a:latin typeface="Times New Roman" pitchFamily="18" charset="0"/>
                <a:cs typeface="Arial" charset="0"/>
              </a:rPr>
              <a:t>= 300 </a:t>
            </a:r>
            <a:r>
              <a:rPr lang="en-US" sz="2800" b="1" dirty="0" err="1">
                <a:latin typeface="Times New Roman" pitchFamily="18" charset="0"/>
                <a:cs typeface="Arial" charset="0"/>
              </a:rPr>
              <a:t>ps</a:t>
            </a:r>
            <a:endParaRPr lang="en-US" sz="2800" b="1" baseline="-25000" dirty="0">
              <a:latin typeface="Times New Roman" pitchFamily="18" charset="0"/>
              <a:cs typeface="Arial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endParaRPr lang="en-US" sz="28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254565953"/>
      </p:ext>
    </p:extLst>
  </p:cSld>
  <p:clrMapOvr>
    <a:masterClrMapping/>
  </p:clrMapOvr>
  <p:transition/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08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608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608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143000"/>
            <a:ext cx="80010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sz="3000" dirty="0">
                <a:latin typeface="+mj-lt"/>
                <a:cs typeface="Arial" charset="0"/>
              </a:rPr>
              <a:t>Program with 100 billion instructions</a:t>
            </a:r>
            <a:endParaRPr lang="en-US" sz="3000" i="1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3000" b="1" dirty="0">
                <a:latin typeface="+mj-lt"/>
                <a:cs typeface="Arial" charset="0"/>
              </a:rPr>
              <a:t>Execution Time  	</a:t>
            </a:r>
            <a:r>
              <a:rPr lang="en-US" sz="3000" dirty="0">
                <a:latin typeface="+mj-lt"/>
                <a:cs typeface="Arial" charset="0"/>
              </a:rPr>
              <a:t>= (# instructions) </a:t>
            </a:r>
            <a:r>
              <a:rPr lang="en-US" sz="3000" dirty="0">
                <a:latin typeface="+mj-lt"/>
                <a:cs typeface="Times New Roman" pitchFamily="18" charset="0"/>
              </a:rPr>
              <a:t>× </a:t>
            </a:r>
            <a:r>
              <a:rPr lang="en-US" sz="3000" dirty="0">
                <a:latin typeface="+mj-lt"/>
                <a:cs typeface="Arial" charset="0"/>
              </a:rPr>
              <a:t>CPI </a:t>
            </a:r>
            <a:r>
              <a:rPr lang="en-US" sz="3000" dirty="0">
                <a:latin typeface="+mj-lt"/>
                <a:cs typeface="Times New Roman" pitchFamily="18" charset="0"/>
              </a:rPr>
              <a:t>×</a:t>
            </a:r>
            <a:r>
              <a:rPr lang="en-US" sz="3000" dirty="0">
                <a:latin typeface="+mj-lt"/>
                <a:cs typeface="Arial" charset="0"/>
              </a:rPr>
              <a:t> </a:t>
            </a:r>
            <a:r>
              <a:rPr lang="en-US" sz="3000" i="1" dirty="0">
                <a:latin typeface="+mj-lt"/>
                <a:cs typeface="Arial" charset="0"/>
              </a:rPr>
              <a:t>T</a:t>
            </a:r>
            <a:r>
              <a:rPr lang="en-US" sz="3000" i="1" baseline="-25000" dirty="0">
                <a:latin typeface="+mj-lt"/>
                <a:cs typeface="Arial" charset="0"/>
              </a:rPr>
              <a:t>c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000" i="1" dirty="0">
                <a:latin typeface="+mj-lt"/>
                <a:cs typeface="Arial" charset="0"/>
              </a:rPr>
              <a:t>		              	</a:t>
            </a:r>
            <a:r>
              <a:rPr lang="en-US" sz="3000" dirty="0">
                <a:latin typeface="+mj-lt"/>
                <a:cs typeface="Arial" charset="0"/>
              </a:rPr>
              <a:t>= (100 </a:t>
            </a:r>
            <a:r>
              <a:rPr lang="en-US" sz="3000" dirty="0">
                <a:latin typeface="+mj-lt"/>
                <a:cs typeface="Times New Roman" pitchFamily="18" charset="0"/>
              </a:rPr>
              <a:t>× 10</a:t>
            </a:r>
            <a:r>
              <a:rPr lang="en-US" sz="3000" baseline="30000" dirty="0">
                <a:latin typeface="+mj-lt"/>
                <a:cs typeface="Times New Roman" pitchFamily="18" charset="0"/>
              </a:rPr>
              <a:t>9</a:t>
            </a:r>
            <a:r>
              <a:rPr lang="en-US" sz="3000" dirty="0">
                <a:latin typeface="+mj-lt"/>
                <a:cs typeface="Arial" charset="0"/>
              </a:rPr>
              <a:t>)(1.23)(300  </a:t>
            </a:r>
            <a:r>
              <a:rPr lang="en-US" sz="3000" dirty="0">
                <a:latin typeface="+mj-lt"/>
                <a:cs typeface="Times New Roman" pitchFamily="18" charset="0"/>
              </a:rPr>
              <a:t>× 10</a:t>
            </a:r>
            <a:r>
              <a:rPr lang="en-US" sz="3000" baseline="30000" dirty="0">
                <a:latin typeface="+mj-lt"/>
                <a:cs typeface="Times New Roman" pitchFamily="18" charset="0"/>
              </a:rPr>
              <a:t>-12</a:t>
            </a:r>
            <a:r>
              <a:rPr lang="en-US" sz="3000" dirty="0">
                <a:latin typeface="+mj-lt"/>
                <a:cs typeface="Arial" charset="0"/>
              </a:rPr>
              <a:t>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</a:pPr>
            <a:r>
              <a:rPr lang="en-US" sz="3000" dirty="0">
                <a:latin typeface="+mj-lt"/>
                <a:cs typeface="Arial" charset="0"/>
              </a:rPr>
              <a:t>		            	</a:t>
            </a:r>
            <a:r>
              <a:rPr lang="en-US" sz="3000" b="1" dirty="0">
                <a:latin typeface="+mj-lt"/>
                <a:cs typeface="Arial" charset="0"/>
              </a:rPr>
              <a:t>= 36.9 seconds</a:t>
            </a:r>
            <a:endParaRPr lang="en-US" sz="3000" b="1" i="1" dirty="0">
              <a:latin typeface="+mj-lt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Pipelined Performance Example</a:t>
            </a:r>
          </a:p>
        </p:txBody>
      </p:sp>
    </p:spTree>
    <p:extLst>
      <p:ext uri="{BB962C8B-B14F-4D97-AF65-F5344CB8AC3E}">
        <p14:creationId xmlns:p14="http://schemas.microsoft.com/office/powerpoint/2010/main" val="3714441212"/>
      </p:ext>
    </p:extLst>
  </p:cSld>
  <p:clrMapOvr>
    <a:masterClrMapping/>
  </p:clrMapOvr>
  <p:transition/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6133" name="Group 53"/>
          <p:cNvGraphicFramePr>
            <a:graphicFrameLocks noGrp="1"/>
          </p:cNvGraphicFramePr>
          <p:nvPr>
            <p:ph idx="4294967295"/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6575226"/>
              </p:ext>
            </p:extLst>
          </p:nvPr>
        </p:nvGraphicFramePr>
        <p:xfrm>
          <a:off x="1066800" y="1305441"/>
          <a:ext cx="7848600" cy="3266559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5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1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6000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Processor</a:t>
                      </a:r>
                    </a:p>
                  </a:txBody>
                  <a:tcPr anchor="b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Execution Time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(seconds)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Speedup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(single-cycle as baseline)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2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Single-cycle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2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Multicycle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0.6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2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Pipelined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36.9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2.28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2608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608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00" dirty="0">
                <a:solidFill>
                  <a:schemeClr val="bg1"/>
                </a:solidFill>
                <a:latin typeface="+mj-lt"/>
              </a:rPr>
              <a:t>Processor Performance Comparison</a:t>
            </a:r>
          </a:p>
        </p:txBody>
      </p:sp>
    </p:spTree>
    <p:extLst>
      <p:ext uri="{BB962C8B-B14F-4D97-AF65-F5344CB8AC3E}">
        <p14:creationId xmlns:p14="http://schemas.microsoft.com/office/powerpoint/2010/main" val="652882238"/>
      </p:ext>
    </p:extLst>
  </p:cSld>
  <p:clrMapOvr>
    <a:masterClrMapping/>
  </p:clrMapOvr>
  <p:transition/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134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27463" y="1219200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Deep Pipelining</a:t>
            </a:r>
          </a:p>
          <a:p>
            <a:r>
              <a:rPr lang="en-US" dirty="0"/>
              <a:t>Micro-operations</a:t>
            </a:r>
          </a:p>
          <a:p>
            <a:r>
              <a:rPr lang="en-US" dirty="0"/>
              <a:t>Branch Prediction</a:t>
            </a:r>
          </a:p>
          <a:p>
            <a:r>
              <a:rPr lang="en-US" dirty="0"/>
              <a:t>Superscalar Processors</a:t>
            </a:r>
          </a:p>
          <a:p>
            <a:r>
              <a:rPr lang="en-US" dirty="0"/>
              <a:t>Out of Order Processors</a:t>
            </a:r>
          </a:p>
          <a:p>
            <a:r>
              <a:rPr lang="en-US" dirty="0"/>
              <a:t>Register Renaming</a:t>
            </a:r>
          </a:p>
          <a:p>
            <a:r>
              <a:rPr lang="en-US" dirty="0"/>
              <a:t>SIMD</a:t>
            </a:r>
          </a:p>
          <a:p>
            <a:r>
              <a:rPr lang="en-US" dirty="0"/>
              <a:t>Multithreading</a:t>
            </a:r>
          </a:p>
          <a:p>
            <a:r>
              <a:rPr lang="en-US" dirty="0"/>
              <a:t>Multiprocessors</a:t>
            </a:r>
          </a:p>
        </p:txBody>
      </p:sp>
      <p:sp>
        <p:nvSpPr>
          <p:cNvPr id="1328130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28132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28133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Advanced Microarchitecture</a:t>
            </a:r>
          </a:p>
        </p:txBody>
      </p:sp>
    </p:spTree>
    <p:extLst>
      <p:ext uri="{BB962C8B-B14F-4D97-AF65-F5344CB8AC3E}">
        <p14:creationId xmlns:p14="http://schemas.microsoft.com/office/powerpoint/2010/main" val="1292051143"/>
      </p:ext>
    </p:extLst>
  </p:cSld>
  <p:clrMapOvr>
    <a:masterClrMapping/>
  </p:clrMapOvr>
  <p:transition/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254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14400" y="1189037"/>
            <a:ext cx="8229600" cy="4525963"/>
          </a:xfrm>
        </p:spPr>
        <p:txBody>
          <a:bodyPr/>
          <a:lstStyle/>
          <a:p>
            <a:r>
              <a:rPr lang="en-US" dirty="0"/>
              <a:t>10-20 stages typical</a:t>
            </a:r>
          </a:p>
          <a:p>
            <a:r>
              <a:rPr lang="en-US" dirty="0"/>
              <a:t>Number of stages limited by:</a:t>
            </a:r>
          </a:p>
          <a:p>
            <a:pPr lvl="1"/>
            <a:r>
              <a:rPr lang="en-US" dirty="0"/>
              <a:t>Pipeline hazards</a:t>
            </a:r>
          </a:p>
          <a:p>
            <a:pPr lvl="1"/>
            <a:r>
              <a:rPr lang="en-US" dirty="0"/>
              <a:t>Sequencing overhead</a:t>
            </a:r>
          </a:p>
          <a:p>
            <a:pPr lvl="1"/>
            <a:r>
              <a:rPr lang="en-US" dirty="0"/>
              <a:t>Power</a:t>
            </a:r>
          </a:p>
          <a:p>
            <a:pPr lvl="1"/>
            <a:r>
              <a:rPr lang="en-US" dirty="0"/>
              <a:t>Cost</a:t>
            </a:r>
          </a:p>
          <a:p>
            <a:endParaRPr lang="en-US" dirty="0"/>
          </a:p>
        </p:txBody>
      </p:sp>
      <p:sp>
        <p:nvSpPr>
          <p:cNvPr id="133325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3253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Deep Pipelining</a:t>
            </a:r>
          </a:p>
        </p:txBody>
      </p:sp>
    </p:spTree>
    <p:extLst>
      <p:ext uri="{BB962C8B-B14F-4D97-AF65-F5344CB8AC3E}">
        <p14:creationId xmlns:p14="http://schemas.microsoft.com/office/powerpoint/2010/main" val="1464454508"/>
      </p:ext>
    </p:extLst>
  </p:cSld>
  <p:clrMapOvr>
    <a:masterClrMapping/>
  </p:clrMapOvr>
  <p:transition/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883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609600" y="990600"/>
            <a:ext cx="8229600" cy="5181600"/>
          </a:xfrm>
        </p:spPr>
        <p:txBody>
          <a:bodyPr>
            <a:noAutofit/>
          </a:bodyPr>
          <a:lstStyle/>
          <a:p>
            <a:r>
              <a:rPr lang="en-US" sz="2400" dirty="0"/>
              <a:t>Decompose more complex instructions into a series of simple instructions called </a:t>
            </a:r>
            <a:r>
              <a:rPr lang="en-US" sz="2400" i="1" dirty="0"/>
              <a:t>micro-operations</a:t>
            </a:r>
            <a:r>
              <a:rPr lang="en-US" sz="2400" dirty="0"/>
              <a:t> (</a:t>
            </a:r>
            <a:r>
              <a:rPr lang="en-US" sz="2400" i="1" dirty="0"/>
              <a:t>micro-ops</a:t>
            </a:r>
            <a:r>
              <a:rPr lang="en-US" sz="2400" dirty="0"/>
              <a:t> or </a:t>
            </a:r>
            <a:r>
              <a:rPr lang="en-US" sz="2400" i="1" dirty="0"/>
              <a:t>µ-ops</a:t>
            </a:r>
            <a:r>
              <a:rPr lang="en-US" sz="2400" dirty="0"/>
              <a:t>)</a:t>
            </a:r>
          </a:p>
          <a:p>
            <a:r>
              <a:rPr lang="en-US" sz="2400" dirty="0"/>
              <a:t>At run-time, complex instructions are decoded into one or more micro-ops</a:t>
            </a:r>
          </a:p>
          <a:p>
            <a:r>
              <a:rPr lang="en-US" sz="2400" dirty="0"/>
              <a:t>Used heavily in CISC (complex instruction set computer) architectures (e.g., x86)</a:t>
            </a:r>
          </a:p>
          <a:p>
            <a:r>
              <a:rPr lang="en-US" sz="2400" dirty="0"/>
              <a:t>Used for some ARM instructions, for example: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0070C0"/>
                </a:solidFill>
              </a:rPr>
              <a:t>Complex Op			Micro-op Sequence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LDR R1, [R2], #4	LDR R1, [R2]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			ADD R2, R2, #4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2400" b="1" dirty="0">
                <a:solidFill>
                  <a:srgbClr val="0070C0"/>
                </a:solidFill>
                <a:latin typeface="+mj-lt"/>
                <a:cs typeface="Courier New" panose="02070309020205020404" pitchFamily="49" charset="0"/>
              </a:rPr>
              <a:t>  Without u-ops, would need 2nd write port on the register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Micro-operations</a:t>
            </a:r>
          </a:p>
        </p:txBody>
      </p:sp>
    </p:spTree>
    <p:extLst>
      <p:ext uri="{BB962C8B-B14F-4D97-AF65-F5344CB8AC3E}">
        <p14:creationId xmlns:p14="http://schemas.microsoft.com/office/powerpoint/2010/main" val="29515704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883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914400" y="1143000"/>
            <a:ext cx="8001000" cy="5181600"/>
          </a:xfrm>
        </p:spPr>
        <p:txBody>
          <a:bodyPr>
            <a:normAutofit/>
          </a:bodyPr>
          <a:lstStyle/>
          <a:p>
            <a:r>
              <a:rPr lang="en-US" sz="2800" dirty="0"/>
              <a:t>Allow for dense code (fewer memory accesses)</a:t>
            </a:r>
          </a:p>
          <a:p>
            <a:r>
              <a:rPr lang="en-US" sz="2800" dirty="0">
                <a:latin typeface="+mj-lt"/>
                <a:cs typeface="Courier New" panose="02070309020205020404" pitchFamily="49" charset="0"/>
              </a:rPr>
              <a:t>Yet preserve simplicity of RISC hardware</a:t>
            </a:r>
          </a:p>
          <a:p>
            <a:r>
              <a:rPr lang="en-US" sz="2800" dirty="0">
                <a:latin typeface="+mj-lt"/>
                <a:cs typeface="Courier New" panose="02070309020205020404" pitchFamily="49" charset="0"/>
              </a:rPr>
              <a:t>ARM strikes balance by choosing instructions that:</a:t>
            </a:r>
          </a:p>
          <a:p>
            <a:pPr lvl="1"/>
            <a:r>
              <a:rPr lang="en-US" sz="2400" dirty="0">
                <a:latin typeface="+mj-lt"/>
                <a:cs typeface="Courier New" panose="02070309020205020404" pitchFamily="49" charset="0"/>
              </a:rPr>
              <a:t>Give better code density than pure RISC instruction sets (such as MIPS)</a:t>
            </a:r>
          </a:p>
          <a:p>
            <a:pPr lvl="1"/>
            <a:r>
              <a:rPr lang="en-US" sz="2400" dirty="0">
                <a:latin typeface="+mj-lt"/>
                <a:cs typeface="Courier New" panose="02070309020205020404" pitchFamily="49" charset="0"/>
              </a:rPr>
              <a:t>Enable more efficient decoding than CISC instruction sets (such as x86)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Micro-operations</a:t>
            </a:r>
          </a:p>
        </p:txBody>
      </p:sp>
    </p:spTree>
    <p:extLst>
      <p:ext uri="{BB962C8B-B14F-4D97-AF65-F5344CB8AC3E}">
        <p14:creationId xmlns:p14="http://schemas.microsoft.com/office/powerpoint/2010/main" val="7305333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883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914400" y="1143000"/>
            <a:ext cx="8229600" cy="4525963"/>
          </a:xfrm>
        </p:spPr>
        <p:txBody>
          <a:bodyPr/>
          <a:lstStyle/>
          <a:p>
            <a:r>
              <a:rPr lang="en-US" dirty="0"/>
              <a:t>Guess whether branch will be taken</a:t>
            </a:r>
          </a:p>
          <a:p>
            <a:pPr lvl="1"/>
            <a:r>
              <a:rPr lang="en-US" dirty="0"/>
              <a:t>Backward branches are usually taken (loops)</a:t>
            </a:r>
          </a:p>
          <a:p>
            <a:pPr lvl="1"/>
            <a:r>
              <a:rPr lang="en-US" dirty="0"/>
              <a:t>Consider history to improve guess</a:t>
            </a:r>
          </a:p>
          <a:p>
            <a:r>
              <a:rPr lang="en-US" dirty="0"/>
              <a:t>Good prediction reduces fraction of branches requiring a flush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Branch Prediction</a:t>
            </a:r>
          </a:p>
        </p:txBody>
      </p:sp>
    </p:spTree>
    <p:extLst>
      <p:ext uri="{BB962C8B-B14F-4D97-AF65-F5344CB8AC3E}">
        <p14:creationId xmlns:p14="http://schemas.microsoft.com/office/powerpoint/2010/main" val="299691034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277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14400" y="1219200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Ideal pipelined processor: CPI = 1</a:t>
            </a:r>
          </a:p>
          <a:p>
            <a:r>
              <a:rPr lang="en-US" dirty="0"/>
              <a:t>Branch </a:t>
            </a:r>
            <a:r>
              <a:rPr lang="en-US" dirty="0" err="1"/>
              <a:t>misprediction</a:t>
            </a:r>
            <a:r>
              <a:rPr lang="en-US" dirty="0"/>
              <a:t> increases CPI</a:t>
            </a:r>
          </a:p>
          <a:p>
            <a:r>
              <a:rPr lang="en-US" b="1" dirty="0"/>
              <a:t>Static branch prediction:</a:t>
            </a:r>
          </a:p>
          <a:p>
            <a:pPr lvl="1"/>
            <a:r>
              <a:rPr lang="en-US" dirty="0"/>
              <a:t>Check direction of branch (forward or backward)</a:t>
            </a:r>
          </a:p>
          <a:p>
            <a:pPr lvl="1"/>
            <a:r>
              <a:rPr lang="en-US" dirty="0"/>
              <a:t>If backward, predict taken</a:t>
            </a:r>
          </a:p>
          <a:p>
            <a:pPr lvl="1"/>
            <a:r>
              <a:rPr lang="en-US" dirty="0"/>
              <a:t>Else, predict not taken</a:t>
            </a:r>
          </a:p>
          <a:p>
            <a:r>
              <a:rPr lang="en-US" b="1" dirty="0"/>
              <a:t>Dynamic branch prediction:</a:t>
            </a:r>
          </a:p>
          <a:p>
            <a:pPr lvl="1"/>
            <a:r>
              <a:rPr lang="en-US" dirty="0"/>
              <a:t>Keep history of last several hundred (or thousand) branches in </a:t>
            </a:r>
            <a:r>
              <a:rPr lang="en-US" i="1" dirty="0"/>
              <a:t>branch target buffer</a:t>
            </a:r>
            <a:r>
              <a:rPr lang="en-US" dirty="0"/>
              <a:t>, record:</a:t>
            </a:r>
          </a:p>
          <a:p>
            <a:pPr lvl="2"/>
            <a:r>
              <a:rPr lang="en-US" dirty="0"/>
              <a:t>Branch destination</a:t>
            </a:r>
          </a:p>
          <a:p>
            <a:pPr lvl="2"/>
            <a:r>
              <a:rPr lang="en-US" dirty="0"/>
              <a:t>Whether branch was taken</a:t>
            </a:r>
          </a:p>
          <a:p>
            <a:endParaRPr lang="en-US" dirty="0"/>
          </a:p>
        </p:txBody>
      </p:sp>
      <p:sp>
        <p:nvSpPr>
          <p:cNvPr id="1334275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4276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Branch Prediction</a:t>
            </a:r>
          </a:p>
        </p:txBody>
      </p:sp>
    </p:spTree>
    <p:extLst>
      <p:ext uri="{BB962C8B-B14F-4D97-AF65-F5344CB8AC3E}">
        <p14:creationId xmlns:p14="http://schemas.microsoft.com/office/powerpoint/2010/main" val="2370915636"/>
      </p:ext>
    </p:extLst>
  </p:cSld>
  <p:clrMapOvr>
    <a:masterClrMapping/>
  </p:clrMapOvr>
  <p:transition/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325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31817" y="1295400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MOV R1, #0		; R1 = sum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MOV R0, #0		; R0 = </a:t>
            </a:r>
            <a:r>
              <a:rPr lang="en-US" sz="2000" dirty="0" err="1">
                <a:latin typeface="Courier New" pitchFamily="49" charset="0"/>
              </a:rPr>
              <a:t>i</a:t>
            </a:r>
            <a:endParaRPr lang="en-US" sz="20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FOR				; for (</a:t>
            </a:r>
            <a:r>
              <a:rPr lang="en-US" sz="2000" dirty="0" err="1">
                <a:latin typeface="Courier New" pitchFamily="49" charset="0"/>
              </a:rPr>
              <a:t>i</a:t>
            </a:r>
            <a:r>
              <a:rPr lang="en-US" sz="2000" dirty="0">
                <a:latin typeface="Courier New" pitchFamily="49" charset="0"/>
              </a:rPr>
              <a:t>=0; </a:t>
            </a:r>
            <a:r>
              <a:rPr lang="en-US" sz="2000" dirty="0" err="1">
                <a:latin typeface="Courier New" pitchFamily="49" charset="0"/>
              </a:rPr>
              <a:t>i</a:t>
            </a:r>
            <a:r>
              <a:rPr lang="en-US" sz="2000" dirty="0">
                <a:latin typeface="Courier New" pitchFamily="49" charset="0"/>
              </a:rPr>
              <a:t>&lt;10; </a:t>
            </a:r>
            <a:r>
              <a:rPr lang="en-US" sz="2000" dirty="0" err="1">
                <a:latin typeface="Courier New" pitchFamily="49" charset="0"/>
              </a:rPr>
              <a:t>i</a:t>
            </a:r>
            <a:r>
              <a:rPr lang="en-US" sz="2000" dirty="0">
                <a:latin typeface="Courier New" pitchFamily="49" charset="0"/>
              </a:rPr>
              <a:t>=i+1)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CMP R0, #10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BGE DONE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ADD R1, R1, R0		; sum = sum + </a:t>
            </a:r>
            <a:r>
              <a:rPr lang="en-US" sz="2000" dirty="0" err="1">
                <a:latin typeface="Courier New" pitchFamily="49" charset="0"/>
              </a:rPr>
              <a:t>i</a:t>
            </a:r>
            <a:endParaRPr lang="en-US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ADD R0, R0, #1</a:t>
            </a: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  B   FOR</a:t>
            </a: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000" dirty="0">
                <a:latin typeface="Courier New" pitchFamily="49" charset="0"/>
              </a:rPr>
              <a:t>DONE</a:t>
            </a:r>
          </a:p>
          <a:p>
            <a:pPr>
              <a:buFontTx/>
              <a:buNone/>
            </a:pPr>
            <a:endParaRPr lang="en-US" sz="2000" dirty="0">
              <a:latin typeface="Courier New" pitchFamily="49" charset="0"/>
            </a:endParaRPr>
          </a:p>
        </p:txBody>
      </p:sp>
      <p:sp>
        <p:nvSpPr>
          <p:cNvPr id="1336323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632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Branch Prediction Example</a:t>
            </a:r>
          </a:p>
        </p:txBody>
      </p:sp>
    </p:spTree>
    <p:extLst>
      <p:ext uri="{BB962C8B-B14F-4D97-AF65-F5344CB8AC3E}">
        <p14:creationId xmlns:p14="http://schemas.microsoft.com/office/powerpoint/2010/main" val="3288470576"/>
      </p:ext>
    </p:extLst>
  </p:cSld>
  <p:clrMapOvr>
    <a:masterClrMapping/>
  </p:clrMapOvr>
  <p:transition/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301" name="Rectangle 5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914400" y="1219200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Remembers whether branch was taken the last time and does the same thing</a:t>
            </a:r>
          </a:p>
          <a:p>
            <a:r>
              <a:rPr lang="en-US" dirty="0" err="1"/>
              <a:t>Mispredicts</a:t>
            </a:r>
            <a:r>
              <a:rPr lang="en-US" dirty="0"/>
              <a:t> first and last branch of loop</a:t>
            </a:r>
          </a:p>
        </p:txBody>
      </p:sp>
      <p:sp>
        <p:nvSpPr>
          <p:cNvPr id="1335299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530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1-Bit Branch Predictor</a:t>
            </a:r>
          </a:p>
        </p:txBody>
      </p:sp>
    </p:spTree>
    <p:extLst>
      <p:ext uri="{BB962C8B-B14F-4D97-AF65-F5344CB8AC3E}">
        <p14:creationId xmlns:p14="http://schemas.microsoft.com/office/powerpoint/2010/main" val="155930806"/>
      </p:ext>
    </p:extLst>
  </p:cSld>
  <p:clrMapOvr>
    <a:masterClrMapping/>
  </p:clrMapOvr>
  <p:transition/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349" name="Rectangle 5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1828800" y="4038600"/>
            <a:ext cx="6324600" cy="91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Only </a:t>
            </a:r>
            <a:r>
              <a:rPr lang="en-US" b="1" dirty="0" err="1"/>
              <a:t>mispredicts</a:t>
            </a:r>
            <a:r>
              <a:rPr lang="en-US" b="1" dirty="0"/>
              <a:t> last branch of loop</a:t>
            </a:r>
          </a:p>
        </p:txBody>
      </p:sp>
      <p:graphicFrame>
        <p:nvGraphicFramePr>
          <p:cNvPr id="1337350" name="Object 6"/>
          <p:cNvGraphicFramePr>
            <a:graphicFrameLocks noGrp="1" noChangeAspect="1"/>
          </p:cNvGraphicFramePr>
          <p:nvPr>
            <p:ph sz="half"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15459"/>
              </p:ext>
            </p:extLst>
          </p:nvPr>
        </p:nvGraphicFramePr>
        <p:xfrm>
          <a:off x="533400" y="1631950"/>
          <a:ext cx="8458200" cy="156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4943520" imgH="918000" progId="Visio.Drawing.6">
                  <p:embed/>
                </p:oleObj>
              </mc:Choice>
              <mc:Fallback>
                <p:oleObj name="VISIO" r:id="rId7" imgW="4943520" imgH="91800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631950"/>
                        <a:ext cx="8458200" cy="156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7347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7348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2-Bit Branch Predictor</a:t>
            </a:r>
          </a:p>
        </p:txBody>
      </p:sp>
    </p:spTree>
    <p:extLst>
      <p:ext uri="{BB962C8B-B14F-4D97-AF65-F5344CB8AC3E}">
        <p14:creationId xmlns:p14="http://schemas.microsoft.com/office/powerpoint/2010/main" val="265678028"/>
      </p:ext>
    </p:extLst>
  </p:cSld>
  <p:clrMapOvr>
    <a:masterClrMapping/>
  </p:clrMapOvr>
  <p:transition/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156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533400" y="1219200"/>
            <a:ext cx="8153400" cy="4953000"/>
          </a:xfrm>
        </p:spPr>
        <p:txBody>
          <a:bodyPr>
            <a:normAutofit/>
          </a:bodyPr>
          <a:lstStyle/>
          <a:p>
            <a:r>
              <a:rPr lang="en-US" dirty="0"/>
              <a:t>Multiple copies of </a:t>
            </a:r>
            <a:r>
              <a:rPr lang="en-US" dirty="0" err="1"/>
              <a:t>datapath</a:t>
            </a:r>
            <a:r>
              <a:rPr lang="en-US" dirty="0"/>
              <a:t> execute multiple instructions at once</a:t>
            </a:r>
          </a:p>
          <a:p>
            <a:r>
              <a:rPr lang="en-US" dirty="0"/>
              <a:t>Dependencies make it tricky to issue multiple instructions at once</a:t>
            </a:r>
          </a:p>
        </p:txBody>
      </p:sp>
      <p:graphicFrame>
        <p:nvGraphicFramePr>
          <p:cNvPr id="1329159" name="Object 7"/>
          <p:cNvGraphicFramePr>
            <a:graphicFrameLocks noGrp="1" noChangeAspect="1"/>
          </p:cNvGraphicFramePr>
          <p:nvPr>
            <p:ph sz="half"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6525036"/>
              </p:ext>
            </p:extLst>
          </p:nvPr>
        </p:nvGraphicFramePr>
        <p:xfrm>
          <a:off x="685800" y="3352800"/>
          <a:ext cx="7696200" cy="2459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4701600" imgH="1572480" progId="Visio.Drawing.6">
                  <p:embed/>
                </p:oleObj>
              </mc:Choice>
              <mc:Fallback>
                <p:oleObj name="VISIO" r:id="rId6" imgW="4701600" imgH="157248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3352800"/>
                        <a:ext cx="7696200" cy="24590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9154" name="Rectangle 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Superscalar</a:t>
            </a:r>
          </a:p>
        </p:txBody>
      </p:sp>
    </p:spTree>
    <p:extLst>
      <p:ext uri="{BB962C8B-B14F-4D97-AF65-F5344CB8AC3E}">
        <p14:creationId xmlns:p14="http://schemas.microsoft.com/office/powerpoint/2010/main" val="3099767552"/>
      </p:ext>
    </p:extLst>
  </p:cSld>
  <p:clrMapOvr>
    <a:masterClrMapping/>
  </p:clrMapOvr>
  <p:transition/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44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609600" y="1219200"/>
            <a:ext cx="7696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2000" b="1" dirty="0">
                <a:solidFill>
                  <a:schemeClr val="accent1"/>
                </a:solidFill>
              </a:rPr>
              <a:t>Ideal IPC: 	2</a:t>
            </a:r>
            <a:endParaRPr lang="en-US" sz="2000" dirty="0">
              <a:solidFill>
                <a:schemeClr val="accent1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000" b="1" dirty="0">
                <a:solidFill>
                  <a:schemeClr val="accent1"/>
                </a:solidFill>
              </a:rPr>
              <a:t>Actual IPC:	2</a:t>
            </a:r>
          </a:p>
        </p:txBody>
      </p:sp>
      <p:sp>
        <p:nvSpPr>
          <p:cNvPr id="134144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41446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Superscalar Example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4462761"/>
              </p:ext>
            </p:extLst>
          </p:nvPr>
        </p:nvGraphicFramePr>
        <p:xfrm>
          <a:off x="914400" y="2133600"/>
          <a:ext cx="7276605" cy="3276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4886241" imgH="2200343" progId="Visio.Drawing.15">
                  <p:embed/>
                </p:oleObj>
              </mc:Choice>
              <mc:Fallback>
                <p:oleObj name="Visio" r:id="rId6" imgW="4886241" imgH="2200343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4400" y="2133600"/>
                        <a:ext cx="7276605" cy="3276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98914404"/>
      </p:ext>
    </p:extLst>
  </p:cSld>
  <p:clrMapOvr>
    <a:masterClrMapping/>
  </p:clrMapOvr>
  <p:transition/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4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42469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Superscalar with Dependencies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7055589"/>
              </p:ext>
            </p:extLst>
          </p:nvPr>
        </p:nvGraphicFramePr>
        <p:xfrm>
          <a:off x="1143000" y="2133600"/>
          <a:ext cx="7095504" cy="3733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5267376" imgH="2771843" progId="Visio.Drawing.15">
                  <p:embed/>
                </p:oleObj>
              </mc:Choice>
              <mc:Fallback>
                <p:oleObj name="Visio" r:id="rId6" imgW="5267376" imgH="2771843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143000" y="2133600"/>
                        <a:ext cx="7095504" cy="3733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4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09600" y="1219200"/>
            <a:ext cx="7696200" cy="495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en-US" sz="2000" b="1" dirty="0">
                <a:solidFill>
                  <a:schemeClr val="accent1"/>
                </a:solidFill>
              </a:rPr>
              <a:t>Ideal IPC: 	2</a:t>
            </a:r>
            <a:endParaRPr lang="en-US" sz="2000" dirty="0">
              <a:solidFill>
                <a:schemeClr val="accent1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000" b="1" dirty="0">
                <a:solidFill>
                  <a:schemeClr val="accent1"/>
                </a:solidFill>
              </a:rPr>
              <a:t>Actual IPC:	6/5 = 1.2</a:t>
            </a:r>
          </a:p>
        </p:txBody>
      </p:sp>
    </p:spTree>
    <p:extLst>
      <p:ext uri="{BB962C8B-B14F-4D97-AF65-F5344CB8AC3E}">
        <p14:creationId xmlns:p14="http://schemas.microsoft.com/office/powerpoint/2010/main" val="2408746101"/>
      </p:ext>
    </p:extLst>
  </p:cSld>
  <p:clrMapOvr>
    <a:masterClrMapping/>
  </p:clrMapOvr>
  <p:transition/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180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381000" y="1066800"/>
            <a:ext cx="7924800" cy="4953000"/>
          </a:xfrm>
        </p:spPr>
        <p:txBody>
          <a:bodyPr>
            <a:noAutofit/>
          </a:bodyPr>
          <a:lstStyle/>
          <a:p>
            <a:r>
              <a:rPr lang="en-US" sz="2800" dirty="0"/>
              <a:t>Looks ahead across multiple instructions</a:t>
            </a:r>
          </a:p>
          <a:p>
            <a:r>
              <a:rPr lang="en-US" sz="2800" dirty="0"/>
              <a:t>Issues as many instructions as possible at once</a:t>
            </a:r>
          </a:p>
          <a:p>
            <a:r>
              <a:rPr lang="en-US" sz="2800" dirty="0"/>
              <a:t>Issues instructions out of order (as long as no dependencies)</a:t>
            </a:r>
          </a:p>
          <a:p>
            <a:r>
              <a:rPr lang="en-US" sz="2800" b="1" dirty="0"/>
              <a:t>Dependencies:</a:t>
            </a:r>
          </a:p>
          <a:p>
            <a:pPr lvl="1"/>
            <a:r>
              <a:rPr lang="en-US" sz="2200" b="1" dirty="0">
                <a:solidFill>
                  <a:schemeClr val="accent1"/>
                </a:solidFill>
              </a:rPr>
              <a:t>RAW</a:t>
            </a:r>
            <a:r>
              <a:rPr lang="en-US" sz="2200" dirty="0"/>
              <a:t> (read after write): one instruction writes, later instruction reads a register</a:t>
            </a:r>
          </a:p>
          <a:p>
            <a:pPr lvl="1"/>
            <a:r>
              <a:rPr lang="en-US" sz="2200" b="1" dirty="0">
                <a:solidFill>
                  <a:schemeClr val="accent1"/>
                </a:solidFill>
              </a:rPr>
              <a:t>WAR</a:t>
            </a:r>
            <a:r>
              <a:rPr lang="en-US" sz="2200" dirty="0"/>
              <a:t> (write after read): one instruction reads, later instruction writes a register</a:t>
            </a:r>
          </a:p>
          <a:p>
            <a:pPr lvl="1"/>
            <a:r>
              <a:rPr lang="en-US" sz="2200" b="1" dirty="0">
                <a:solidFill>
                  <a:schemeClr val="accent1"/>
                </a:solidFill>
              </a:rPr>
              <a:t>WAW</a:t>
            </a:r>
            <a:r>
              <a:rPr lang="en-US" sz="2200" dirty="0">
                <a:solidFill>
                  <a:schemeClr val="accent1"/>
                </a:solidFill>
              </a:rPr>
              <a:t> </a:t>
            </a:r>
            <a:r>
              <a:rPr lang="en-US" sz="2200" dirty="0"/>
              <a:t>(write after write): one instruction writes, later instruction writes a register</a:t>
            </a:r>
          </a:p>
        </p:txBody>
      </p:sp>
      <p:sp>
        <p:nvSpPr>
          <p:cNvPr id="133017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3018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018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Out of Order Processor</a:t>
            </a:r>
          </a:p>
        </p:txBody>
      </p:sp>
    </p:spTree>
    <p:extLst>
      <p:ext uri="{BB962C8B-B14F-4D97-AF65-F5344CB8AC3E}">
        <p14:creationId xmlns:p14="http://schemas.microsoft.com/office/powerpoint/2010/main" val="1057088822"/>
      </p:ext>
    </p:extLst>
  </p:cSld>
  <p:clrMapOvr>
    <a:masterClrMapping/>
  </p:clrMapOvr>
  <p:transition/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516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609600" y="1219200"/>
            <a:ext cx="7924800" cy="4953000"/>
          </a:xfrm>
        </p:spPr>
        <p:txBody>
          <a:bodyPr>
            <a:normAutofit/>
          </a:bodyPr>
          <a:lstStyle/>
          <a:p>
            <a:r>
              <a:rPr lang="en-US" b="1" dirty="0"/>
              <a:t>Instruction level parallelism (ILP): </a:t>
            </a:r>
            <a:r>
              <a:rPr lang="en-US" dirty="0"/>
              <a:t>number of  instruction that can be issued simultaneously (average &lt; 3)</a:t>
            </a:r>
          </a:p>
          <a:p>
            <a:r>
              <a:rPr lang="en-US" b="1" dirty="0"/>
              <a:t>Scoreboard:</a:t>
            </a:r>
            <a:r>
              <a:rPr lang="en-US" dirty="0"/>
              <a:t> table that keeps track of:</a:t>
            </a:r>
          </a:p>
          <a:p>
            <a:pPr lvl="1"/>
            <a:r>
              <a:rPr lang="en-US" sz="3200" dirty="0"/>
              <a:t>Instructions waiting to issue</a:t>
            </a:r>
          </a:p>
          <a:p>
            <a:pPr lvl="1"/>
            <a:r>
              <a:rPr lang="en-US" sz="3200" dirty="0"/>
              <a:t>Available functional units</a:t>
            </a:r>
          </a:p>
          <a:p>
            <a:pPr lvl="1"/>
            <a:r>
              <a:rPr lang="en-US" sz="3200" dirty="0"/>
              <a:t>Dependencies</a:t>
            </a:r>
          </a:p>
        </p:txBody>
      </p:sp>
      <p:sp>
        <p:nvSpPr>
          <p:cNvPr id="1344514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4451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44518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Out of Order Processor</a:t>
            </a:r>
          </a:p>
        </p:txBody>
      </p:sp>
    </p:spTree>
    <p:extLst>
      <p:ext uri="{BB962C8B-B14F-4D97-AF65-F5344CB8AC3E}">
        <p14:creationId xmlns:p14="http://schemas.microsoft.com/office/powerpoint/2010/main" val="3989188235"/>
      </p:ext>
    </p:extLst>
  </p:cSld>
  <p:clrMapOvr>
    <a:masterClrMapping/>
  </p:clrMapOvr>
  <p:transition/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420" name="Rectangle 4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609600" y="1219200"/>
            <a:ext cx="6705600" cy="4953000"/>
          </a:xfrm>
        </p:spPr>
        <p:txBody>
          <a:bodyPr/>
          <a:lstStyle/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LDR  R8, [R0, #40]		</a:t>
            </a:r>
            <a:endParaRPr lang="en-US" sz="1800" b="1" dirty="0">
              <a:solidFill>
                <a:schemeClr val="accent2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ADD  R9,  R8, R1		</a:t>
            </a:r>
            <a:endParaRPr lang="en-US" sz="1800" b="1" dirty="0"/>
          </a:p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SUB  R8,  R2, R3</a:t>
            </a:r>
            <a:r>
              <a:rPr lang="en-US" sz="1800" dirty="0"/>
              <a:t>	</a:t>
            </a:r>
            <a:r>
              <a:rPr lang="en-US" sz="1800" dirty="0">
                <a:latin typeface="Courier New" pitchFamily="49" charset="0"/>
              </a:rPr>
              <a:t>	 </a:t>
            </a:r>
            <a:r>
              <a:rPr lang="en-US" sz="1800" b="1" dirty="0">
                <a:solidFill>
                  <a:schemeClr val="accent1"/>
                </a:solidFill>
              </a:rPr>
              <a:t>Ideal IPC: 	2</a:t>
            </a:r>
            <a:endParaRPr lang="en-US" sz="1800" dirty="0">
              <a:solidFill>
                <a:schemeClr val="accent1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AND  R10, R4, R8		 </a:t>
            </a:r>
            <a:r>
              <a:rPr lang="en-US" sz="1800" b="1" dirty="0">
                <a:solidFill>
                  <a:schemeClr val="accent1"/>
                </a:solidFill>
              </a:rPr>
              <a:t>Actual IPC:	6/4 = 1.5</a:t>
            </a:r>
            <a:endParaRPr lang="en-US" sz="1800" dirty="0">
              <a:solidFill>
                <a:schemeClr val="accent1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ORR  R11, R5, R6</a:t>
            </a:r>
          </a:p>
          <a:p>
            <a:pPr algn="just">
              <a:buFontTx/>
              <a:buNone/>
            </a:pPr>
            <a:r>
              <a:rPr lang="en-US" sz="1800" dirty="0">
                <a:latin typeface="Courier New" pitchFamily="49" charset="0"/>
              </a:rPr>
              <a:t>STR  R7, [R11, #80]</a:t>
            </a:r>
          </a:p>
        </p:txBody>
      </p:sp>
      <p:sp>
        <p:nvSpPr>
          <p:cNvPr id="1340418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4042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40422" name="Rectangle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Out of Order Processor Example</a:t>
            </a: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5812999"/>
              </p:ext>
            </p:extLst>
          </p:nvPr>
        </p:nvGraphicFramePr>
        <p:xfrm>
          <a:off x="1981200" y="2743200"/>
          <a:ext cx="5971880" cy="320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5172159" imgH="2771843" progId="Visio.Drawing.15">
                  <p:embed/>
                </p:oleObj>
              </mc:Choice>
              <mc:Fallback>
                <p:oleObj name="Visio" r:id="rId7" imgW="5172159" imgH="2771843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81200" y="2743200"/>
                        <a:ext cx="5971880" cy="3200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39517570"/>
      </p:ext>
    </p:extLst>
  </p:cSld>
  <p:clrMapOvr>
    <a:masterClrMapping/>
  </p:clrMapOvr>
  <p:transition/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403" name="Rectangle 11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609600" y="1219200"/>
            <a:ext cx="6705600" cy="4953000"/>
          </a:xfrm>
          <a:noFill/>
          <a:ln/>
        </p:spPr>
        <p:txBody>
          <a:bodyPr/>
          <a:lstStyle/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LDR  R8, [R0, #40]		</a:t>
            </a:r>
            <a:endParaRPr lang="en-US" sz="2000" b="1" dirty="0">
              <a:solidFill>
                <a:schemeClr val="accent2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ADD  R9,  R8, R1		</a:t>
            </a:r>
            <a:endParaRPr lang="en-US" sz="2000" b="1" dirty="0"/>
          </a:p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SUB  R8,  R2, R3</a:t>
            </a:r>
            <a:r>
              <a:rPr lang="en-US" sz="2000" dirty="0"/>
              <a:t>	</a:t>
            </a:r>
            <a:r>
              <a:rPr lang="en-US" sz="2000" dirty="0">
                <a:latin typeface="Courier New" pitchFamily="49" charset="0"/>
              </a:rPr>
              <a:t>	 </a:t>
            </a:r>
            <a:r>
              <a:rPr lang="en-US" sz="2000" b="1" dirty="0">
                <a:solidFill>
                  <a:schemeClr val="accent1"/>
                </a:solidFill>
              </a:rPr>
              <a:t>Ideal IPC: 	2</a:t>
            </a:r>
            <a:endParaRPr lang="en-US" sz="2000" dirty="0">
              <a:solidFill>
                <a:schemeClr val="accent1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AND  R10, R4, R8		 </a:t>
            </a:r>
            <a:r>
              <a:rPr lang="en-US" sz="2000" b="1" dirty="0">
                <a:solidFill>
                  <a:schemeClr val="accent1"/>
                </a:solidFill>
              </a:rPr>
              <a:t>Actual IPC:	6/3 = 2</a:t>
            </a:r>
            <a:endParaRPr lang="en-US" sz="2000" dirty="0">
              <a:solidFill>
                <a:schemeClr val="accent1"/>
              </a:solidFill>
              <a:latin typeface="Courier New" pitchFamily="49" charset="0"/>
            </a:endParaRPr>
          </a:p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ORR  R11, R5, R6</a:t>
            </a:r>
          </a:p>
          <a:p>
            <a:pPr algn="just">
              <a:buFontTx/>
              <a:buNone/>
            </a:pPr>
            <a:r>
              <a:rPr lang="en-US" sz="2000" dirty="0">
                <a:latin typeface="Courier New" pitchFamily="49" charset="0"/>
              </a:rPr>
              <a:t>STR  R7, [R11, #80]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Register Renaming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3111228"/>
              </p:ext>
            </p:extLst>
          </p:nvPr>
        </p:nvGraphicFramePr>
        <p:xfrm>
          <a:off x="1981200" y="3048000"/>
          <a:ext cx="6129647" cy="289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657776" imgH="2200343" progId="Visio.Drawing.15">
                  <p:embed/>
                </p:oleObj>
              </mc:Choice>
              <mc:Fallback>
                <p:oleObj name="Visio" r:id="rId4" imgW="4657776" imgH="2200343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81200" y="3048000"/>
                        <a:ext cx="6129647" cy="2895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6712175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491" name="Rectangle 3"/>
          <p:cNvSpPr>
            <a:spLocks noGrp="1" noChangeArrowheads="1"/>
          </p:cNvSpPr>
          <p:nvPr>
            <p:ph sz="half" idx="4294967295"/>
            <p:custDataLst>
              <p:tags r:id="rId1"/>
            </p:custDataLst>
          </p:nvPr>
        </p:nvSpPr>
        <p:spPr>
          <a:xfrm>
            <a:off x="457200" y="1066800"/>
            <a:ext cx="8001000" cy="4953000"/>
          </a:xfrm>
        </p:spPr>
        <p:txBody>
          <a:bodyPr>
            <a:noAutofit/>
          </a:bodyPr>
          <a:lstStyle/>
          <a:p>
            <a:r>
              <a:rPr lang="en-US" dirty="0"/>
              <a:t>Single Instruction Multiple Data (SIMD)</a:t>
            </a:r>
          </a:p>
          <a:p>
            <a:pPr lvl="1"/>
            <a:r>
              <a:rPr lang="en-US" sz="2400" dirty="0"/>
              <a:t>Single instruction acts on multiple pieces of data at once</a:t>
            </a:r>
          </a:p>
          <a:p>
            <a:pPr lvl="1"/>
            <a:r>
              <a:rPr lang="en-US" sz="2400" dirty="0"/>
              <a:t>Common application: graphics</a:t>
            </a:r>
          </a:p>
          <a:p>
            <a:pPr lvl="1"/>
            <a:r>
              <a:rPr lang="en-US" sz="2400" dirty="0"/>
              <a:t>Perform short arithmetic operations (also called </a:t>
            </a:r>
            <a:r>
              <a:rPr lang="en-US" sz="2400" i="1" dirty="0"/>
              <a:t>packed arithmetic</a:t>
            </a:r>
            <a:r>
              <a:rPr lang="en-US" sz="2400" dirty="0"/>
              <a:t>)</a:t>
            </a:r>
          </a:p>
          <a:p>
            <a:r>
              <a:rPr lang="en-US" dirty="0"/>
              <a:t>For example, add eight 8-bit elements</a:t>
            </a:r>
          </a:p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SIMD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7138223"/>
              </p:ext>
            </p:extLst>
          </p:nvPr>
        </p:nvGraphicFramePr>
        <p:xfrm>
          <a:off x="1066800" y="4114800"/>
          <a:ext cx="6979920" cy="160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4362416" imgH="1000057" progId="Visio.Drawing.15">
                  <p:embed/>
                </p:oleObj>
              </mc:Choice>
              <mc:Fallback>
                <p:oleObj name="Visio" r:id="rId4" imgW="4362416" imgH="1000057" progId="Visio.Drawing.15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66800" y="4114800"/>
                        <a:ext cx="6979920" cy="160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8416448"/>
      </p:ext>
    </p:extLst>
  </p:cSld>
  <p:clrMapOvr>
    <a:masterClrMapping/>
  </p:clrMapOvr>
  <p:transition/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06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219200"/>
            <a:ext cx="8229600" cy="4525963"/>
          </a:xfrm>
        </p:spPr>
        <p:txBody>
          <a:bodyPr/>
          <a:lstStyle/>
          <a:p>
            <a:r>
              <a:rPr lang="en-US" b="1" dirty="0"/>
              <a:t>Multithreading</a:t>
            </a:r>
          </a:p>
          <a:p>
            <a:pPr lvl="1"/>
            <a:r>
              <a:rPr lang="en-US" dirty="0"/>
              <a:t>Word processor: thread for typing, spell checking, printing</a:t>
            </a:r>
          </a:p>
          <a:p>
            <a:r>
              <a:rPr lang="en-US" b="1" dirty="0"/>
              <a:t>Multiprocessors</a:t>
            </a:r>
          </a:p>
          <a:p>
            <a:pPr lvl="1"/>
            <a:r>
              <a:rPr lang="en-US" dirty="0"/>
              <a:t>Multiple processors (cores) on a single chip</a:t>
            </a:r>
          </a:p>
          <a:p>
            <a:endParaRPr lang="en-US" dirty="0"/>
          </a:p>
        </p:txBody>
      </p:sp>
      <p:sp>
        <p:nvSpPr>
          <p:cNvPr id="1331202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133120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1414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1205" name="Rectangle 5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Advanced Architecture Techniques</a:t>
            </a:r>
          </a:p>
        </p:txBody>
      </p:sp>
    </p:spTree>
    <p:extLst>
      <p:ext uri="{BB962C8B-B14F-4D97-AF65-F5344CB8AC3E}">
        <p14:creationId xmlns:p14="http://schemas.microsoft.com/office/powerpoint/2010/main" val="298874937"/>
      </p:ext>
    </p:extLst>
  </p:cSld>
  <p:clrMapOvr>
    <a:masterClrMapping/>
  </p:clrMapOvr>
  <p:transition/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542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143000"/>
            <a:ext cx="8077200" cy="4953000"/>
          </a:xfrm>
        </p:spPr>
        <p:txBody>
          <a:bodyPr>
            <a:normAutofit/>
          </a:bodyPr>
          <a:lstStyle/>
          <a:p>
            <a:r>
              <a:rPr lang="en-US" b="1" dirty="0"/>
              <a:t>Process:</a:t>
            </a:r>
            <a:r>
              <a:rPr lang="en-US" dirty="0"/>
              <a:t> program running on a computer</a:t>
            </a:r>
          </a:p>
          <a:p>
            <a:pPr lvl="1"/>
            <a:r>
              <a:rPr lang="en-US" dirty="0"/>
              <a:t>Multiple processes can run at once: e.g., surfing Web, playing music, writing a paper</a:t>
            </a:r>
          </a:p>
          <a:p>
            <a:r>
              <a:rPr lang="en-US" b="1" dirty="0"/>
              <a:t>Thread:</a:t>
            </a:r>
            <a:r>
              <a:rPr lang="en-US" dirty="0"/>
              <a:t> part of a program</a:t>
            </a:r>
          </a:p>
          <a:p>
            <a:pPr lvl="1"/>
            <a:r>
              <a:rPr lang="en-US" dirty="0"/>
              <a:t>Each process has multiple threads: e.g., a word processor may have threads for typing, spell checking, printing</a:t>
            </a:r>
          </a:p>
        </p:txBody>
      </p:sp>
      <p:sp>
        <p:nvSpPr>
          <p:cNvPr id="134554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Threading: Definitions</a:t>
            </a:r>
          </a:p>
        </p:txBody>
      </p:sp>
    </p:spTree>
    <p:extLst>
      <p:ext uri="{BB962C8B-B14F-4D97-AF65-F5344CB8AC3E}">
        <p14:creationId xmlns:p14="http://schemas.microsoft.com/office/powerpoint/2010/main" val="2584296093"/>
      </p:ext>
    </p:extLst>
  </p:cSld>
  <p:clrMapOvr>
    <a:masterClrMapping/>
  </p:clrMapOvr>
  <p:transition/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542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143000"/>
            <a:ext cx="8077200" cy="4953000"/>
          </a:xfrm>
        </p:spPr>
        <p:txBody>
          <a:bodyPr>
            <a:noAutofit/>
          </a:bodyPr>
          <a:lstStyle/>
          <a:p>
            <a:r>
              <a:rPr lang="en-US" dirty="0"/>
              <a:t>One thread runs at at at a time</a:t>
            </a:r>
          </a:p>
          <a:p>
            <a:r>
              <a:rPr lang="en-US" dirty="0"/>
              <a:t>When one thread stalls (for example, waiting for memory):</a:t>
            </a:r>
          </a:p>
          <a:p>
            <a:pPr lvl="1"/>
            <a:r>
              <a:rPr lang="en-US" sz="2600" dirty="0"/>
              <a:t>Architectural state of that thread stored</a:t>
            </a:r>
          </a:p>
          <a:p>
            <a:pPr lvl="1"/>
            <a:r>
              <a:rPr lang="en-US" sz="2600" dirty="0"/>
              <a:t>Architectural state of waiting thread loaded into processor and it runs</a:t>
            </a:r>
          </a:p>
          <a:p>
            <a:pPr lvl="1"/>
            <a:r>
              <a:rPr lang="en-US" sz="2600" dirty="0"/>
              <a:t>Called </a:t>
            </a:r>
            <a:r>
              <a:rPr lang="en-US" sz="2600" b="1" dirty="0">
                <a:solidFill>
                  <a:schemeClr val="accent1"/>
                </a:solidFill>
              </a:rPr>
              <a:t>context switching</a:t>
            </a:r>
          </a:p>
          <a:p>
            <a:r>
              <a:rPr lang="en-US" dirty="0"/>
              <a:t>Appears to user like all threads running simultaneously</a:t>
            </a:r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134554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300" dirty="0">
                <a:solidFill>
                  <a:schemeClr val="bg1"/>
                </a:solidFill>
                <a:latin typeface="+mj-lt"/>
              </a:rPr>
              <a:t>Threads in Conventional Processor</a:t>
            </a:r>
          </a:p>
        </p:txBody>
      </p:sp>
    </p:spTree>
    <p:extLst>
      <p:ext uri="{BB962C8B-B14F-4D97-AF65-F5344CB8AC3E}">
        <p14:creationId xmlns:p14="http://schemas.microsoft.com/office/powerpoint/2010/main" val="2785042438"/>
      </p:ext>
    </p:extLst>
  </p:cSld>
  <p:clrMapOvr>
    <a:masterClrMapping/>
  </p:clrMapOvr>
  <p:transition/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588" name="Rectangle 4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219200"/>
            <a:ext cx="8229600" cy="4525963"/>
          </a:xfrm>
        </p:spPr>
        <p:txBody>
          <a:bodyPr>
            <a:noAutofit/>
          </a:bodyPr>
          <a:lstStyle/>
          <a:p>
            <a:r>
              <a:rPr lang="en-US" dirty="0"/>
              <a:t>Multiple copies of architectural state</a:t>
            </a:r>
          </a:p>
          <a:p>
            <a:r>
              <a:rPr lang="en-US" dirty="0"/>
              <a:t>Multiple threads </a:t>
            </a:r>
            <a:r>
              <a:rPr lang="en-US" b="1" dirty="0">
                <a:solidFill>
                  <a:srgbClr val="0070C0"/>
                </a:solidFill>
              </a:rPr>
              <a:t>active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at once:</a:t>
            </a:r>
          </a:p>
          <a:p>
            <a:pPr lvl="1"/>
            <a:r>
              <a:rPr lang="en-US" sz="2600" dirty="0"/>
              <a:t>When one thread stalls, another runs immediately</a:t>
            </a:r>
          </a:p>
          <a:p>
            <a:pPr lvl="1"/>
            <a:r>
              <a:rPr lang="en-US" sz="2600" dirty="0"/>
              <a:t>If one thread can’t keep all execution units busy, another thread can use them</a:t>
            </a:r>
          </a:p>
          <a:p>
            <a:r>
              <a:rPr lang="en-US" dirty="0"/>
              <a:t>Does not increase instruction-level parallelism (ILP) of single thread, but increases throughput </a:t>
            </a:r>
            <a:endParaRPr lang="en-US" sz="1000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	Intel calls this “</a:t>
            </a:r>
            <a:r>
              <a:rPr lang="en-US" b="1" dirty="0" err="1">
                <a:solidFill>
                  <a:srgbClr val="0070C0"/>
                </a:solidFill>
              </a:rPr>
              <a:t>hyperthreading</a:t>
            </a:r>
            <a:r>
              <a:rPr lang="en-US" b="1" dirty="0">
                <a:solidFill>
                  <a:srgbClr val="0070C0"/>
                </a:solidFill>
              </a:rPr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Multithreading</a:t>
            </a:r>
          </a:p>
        </p:txBody>
      </p:sp>
    </p:spTree>
    <p:extLst>
      <p:ext uri="{BB962C8B-B14F-4D97-AF65-F5344CB8AC3E}">
        <p14:creationId xmlns:p14="http://schemas.microsoft.com/office/powerpoint/2010/main" val="4053041888"/>
      </p:ext>
    </p:extLst>
  </p:cSld>
  <p:clrMapOvr>
    <a:masterClrMapping/>
  </p:clrMapOvr>
  <p:transition/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564" name="Rectangle 4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295400"/>
            <a:ext cx="8229600" cy="4525963"/>
          </a:xfrm>
        </p:spPr>
        <p:txBody>
          <a:bodyPr>
            <a:noAutofit/>
          </a:bodyPr>
          <a:lstStyle/>
          <a:p>
            <a:r>
              <a:rPr lang="en-US" dirty="0"/>
              <a:t>Multiple processors (cores) with a method of communication between them</a:t>
            </a:r>
          </a:p>
          <a:p>
            <a:r>
              <a:rPr lang="en-US" dirty="0"/>
              <a:t>Types:</a:t>
            </a:r>
          </a:p>
          <a:p>
            <a:pPr lvl="1"/>
            <a:r>
              <a:rPr lang="en-US" sz="2600" b="1" dirty="0">
                <a:solidFill>
                  <a:srgbClr val="0070C0"/>
                </a:solidFill>
              </a:rPr>
              <a:t>Homogeneous:</a:t>
            </a:r>
            <a:r>
              <a:rPr lang="en-US" sz="2600" dirty="0"/>
              <a:t> multiple cores with shared main memory</a:t>
            </a:r>
          </a:p>
          <a:p>
            <a:pPr lvl="1"/>
            <a:r>
              <a:rPr lang="en-US" sz="2600" b="1" dirty="0">
                <a:solidFill>
                  <a:srgbClr val="0070C0"/>
                </a:solidFill>
              </a:rPr>
              <a:t>Heterogeneous:</a:t>
            </a:r>
            <a:r>
              <a:rPr lang="en-US" sz="2600" dirty="0">
                <a:solidFill>
                  <a:schemeClr val="accent1"/>
                </a:solidFill>
              </a:rPr>
              <a:t> </a:t>
            </a:r>
            <a:r>
              <a:rPr lang="en-US" sz="2600" dirty="0"/>
              <a:t>separate cores for different tasks (for example, DSP and CPU in cell phone)</a:t>
            </a:r>
          </a:p>
          <a:p>
            <a:pPr lvl="1"/>
            <a:r>
              <a:rPr lang="en-US" sz="2600" b="1" dirty="0">
                <a:solidFill>
                  <a:srgbClr val="0070C0"/>
                </a:solidFill>
              </a:rPr>
              <a:t>Clusters:</a:t>
            </a:r>
            <a:r>
              <a:rPr lang="en-US" sz="2600" dirty="0"/>
              <a:t> each core has own memory system</a:t>
            </a:r>
          </a:p>
          <a:p>
            <a:pPr lvl="1"/>
            <a:endParaRPr lang="en-US" sz="3200" dirty="0"/>
          </a:p>
          <a:p>
            <a:endParaRPr lang="en-US" dirty="0"/>
          </a:p>
        </p:txBody>
      </p:sp>
      <p:sp>
        <p:nvSpPr>
          <p:cNvPr id="1346563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8572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Multiprocessors</a:t>
            </a:r>
          </a:p>
        </p:txBody>
      </p:sp>
    </p:spTree>
    <p:extLst>
      <p:ext uri="{BB962C8B-B14F-4D97-AF65-F5344CB8AC3E}">
        <p14:creationId xmlns:p14="http://schemas.microsoft.com/office/powerpoint/2010/main" val="3701239916"/>
      </p:ext>
    </p:extLst>
  </p:cSld>
  <p:clrMapOvr>
    <a:masterClrMapping/>
  </p:clrMapOvr>
  <p:transition/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230" name="Rectangle 6"/>
          <p:cNvSpPr>
            <a:spLocks noGrp="1" noChangeArrowheads="1"/>
          </p:cNvSpPr>
          <p:nvPr>
            <p:ph idx="4294967295"/>
            <p:custDataLst>
              <p:tags r:id="rId1"/>
            </p:custDataLst>
          </p:nvPr>
        </p:nvSpPr>
        <p:spPr>
          <a:xfrm>
            <a:off x="609600" y="1219200"/>
            <a:ext cx="8305800" cy="4525963"/>
          </a:xfrm>
          <a:noFill/>
          <a:ln/>
        </p:spPr>
        <p:txBody>
          <a:bodyPr/>
          <a:lstStyle/>
          <a:p>
            <a:r>
              <a:rPr lang="en-US" dirty="0"/>
              <a:t>Patterson &amp; Hennessy’s: </a:t>
            </a:r>
            <a:r>
              <a:rPr lang="en-US" i="1" dirty="0"/>
              <a:t>Computer Architecture: A Quantitative Approach</a:t>
            </a:r>
            <a:endParaRPr lang="en-US" dirty="0"/>
          </a:p>
          <a:p>
            <a:r>
              <a:rPr lang="en-US" dirty="0"/>
              <a:t>Conferences:</a:t>
            </a:r>
          </a:p>
          <a:p>
            <a:pPr lvl="1"/>
            <a:r>
              <a:rPr lang="en-US" sz="2600" dirty="0"/>
              <a:t>www.cs.wisc.edu/~arch/www/</a:t>
            </a:r>
          </a:p>
          <a:p>
            <a:pPr lvl="1"/>
            <a:r>
              <a:rPr lang="en-US" sz="2600" dirty="0"/>
              <a:t>ISCA (International Symposium on Computer Architecture)</a:t>
            </a:r>
          </a:p>
          <a:p>
            <a:pPr lvl="1"/>
            <a:r>
              <a:rPr lang="en-US" sz="2600" dirty="0"/>
              <a:t>HPCA (International Symposium on High Performance Computer Architecture)</a:t>
            </a:r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84973126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38436</TotalTime>
  <Words>6687</Words>
  <Application>Microsoft Office PowerPoint</Application>
  <PresentationFormat>On-screen Show (4:3)</PresentationFormat>
  <Paragraphs>1688</Paragraphs>
  <Slides>202</Slides>
  <Notes>194</Notes>
  <HiddenSlides>1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202</vt:i4>
      </vt:variant>
    </vt:vector>
  </HeadingPairs>
  <TitlesOfParts>
    <vt:vector size="215" baseType="lpstr">
      <vt:lpstr>AdvOT638a931c.I</vt:lpstr>
      <vt:lpstr>AdvOTb18868a6.B</vt:lpstr>
      <vt:lpstr>AdvOTbc475f09</vt:lpstr>
      <vt:lpstr>AdvOTc8acc91a</vt:lpstr>
      <vt:lpstr>Courier</vt:lpstr>
      <vt:lpstr>Arial</vt:lpstr>
      <vt:lpstr>Calibri</vt:lpstr>
      <vt:lpstr>Courier New</vt:lpstr>
      <vt:lpstr>Times New Roman</vt:lpstr>
      <vt:lpstr>Wingdings</vt:lpstr>
      <vt:lpstr>Office Theme</vt:lpstr>
      <vt:lpstr>Visio</vt:lpstr>
      <vt:lpstr>VISIO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Harvey Mudd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sharris</dc:creator>
  <cp:lastModifiedBy>An</cp:lastModifiedBy>
  <cp:revision>344</cp:revision>
  <cp:lastPrinted>2017-04-03T14:46:54Z</cp:lastPrinted>
  <dcterms:created xsi:type="dcterms:W3CDTF">2012-08-07T04:56:47Z</dcterms:created>
  <dcterms:modified xsi:type="dcterms:W3CDTF">2023-05-11T22:59:51Z</dcterms:modified>
</cp:coreProperties>
</file>