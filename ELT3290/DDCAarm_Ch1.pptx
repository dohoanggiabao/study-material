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7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8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9.xml" ContentType="application/vnd.openxmlformats-officedocument.presentationml.notesSlide+xml"/>
  <Override PartName="/ppt/tags/tag19.xml" ContentType="application/vnd.openxmlformats-officedocument.presentationml.tags+xml"/>
  <Override PartName="/ppt/notesSlides/notesSlide10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11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2.xml" ContentType="application/vnd.openxmlformats-officedocument.presentationml.notesSlide+xml"/>
  <Override PartName="/ppt/tags/tag26.xml" ContentType="application/vnd.openxmlformats-officedocument.presentationml.tags+xml"/>
  <Override PartName="/ppt/notesSlides/notesSlide13.xml" ContentType="application/vnd.openxmlformats-officedocument.presentationml.notesSlide+xml"/>
  <Override PartName="/ppt/tags/tag27.xml" ContentType="application/vnd.openxmlformats-officedocument.presentationml.tags+xml"/>
  <Override PartName="/ppt/notesSlides/notesSlide14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5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6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7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18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19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20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21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22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23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24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25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26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27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28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29.xml" ContentType="application/vnd.openxmlformats-officedocument.presentationml.notesSl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30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31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32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33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34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35.xml" ContentType="application/vnd.openxmlformats-officedocument.presentationml.notesSlid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notesSlides/notesSlide36.xml" ContentType="application/vnd.openxmlformats-officedocument.presentationml.notesSlide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notesSlides/notesSlide37.xml" ContentType="application/vnd.openxmlformats-officedocument.presentationml.notesSlide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notesSlides/notesSlide38.xml" ContentType="application/vnd.openxmlformats-officedocument.presentationml.notesSlide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notesSlides/notesSlide39.xml" ContentType="application/vnd.openxmlformats-officedocument.presentationml.notesSlide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notesSlides/notesSlide40.xml" ContentType="application/vnd.openxmlformats-officedocument.presentationml.notesSlide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notesSlides/notesSlide41.xml" ContentType="application/vnd.openxmlformats-officedocument.presentationml.notesSlide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notesSlides/notesSlide42.xml" ContentType="application/vnd.openxmlformats-officedocument.presentationml.notesSlide+xml"/>
  <Override PartName="/ppt/tags/tag102.xml" ContentType="application/vnd.openxmlformats-officedocument.presentationml.tags+xml"/>
  <Override PartName="/ppt/notesSlides/notesSlide43.xml" ContentType="application/vnd.openxmlformats-officedocument.presentationml.notesSlide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notesSlides/notesSlide44.xml" ContentType="application/vnd.openxmlformats-officedocument.presentationml.notesSlide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notesSlides/notesSlide45.xml" ContentType="application/vnd.openxmlformats-officedocument.presentationml.notesSlide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notesSlides/notesSlide46.xml" ContentType="application/vnd.openxmlformats-officedocument.presentationml.notesSlide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notesSlides/notesSlide47.xml" ContentType="application/vnd.openxmlformats-officedocument.presentationml.notesSlide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notesSlides/notesSlide48.xml" ContentType="application/vnd.openxmlformats-officedocument.presentationml.notesSlide+xml"/>
  <Override PartName="/ppt/tags/tag117.xml" ContentType="application/vnd.openxmlformats-officedocument.presentationml.tags+xml"/>
  <Override PartName="/ppt/notesSlides/notesSlide49.xml" ContentType="application/vnd.openxmlformats-officedocument.presentationml.notesSlide+xml"/>
  <Override PartName="/ppt/tags/tag118.xml" ContentType="application/vnd.openxmlformats-officedocument.presentationml.tags+xml"/>
  <Override PartName="/ppt/notesSlides/notesSlide50.xml" ContentType="application/vnd.openxmlformats-officedocument.presentationml.notesSlide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notesSlides/notesSlide51.xml" ContentType="application/vnd.openxmlformats-officedocument.presentationml.notesSlide+xml"/>
  <Override PartName="/ppt/tags/tag121.xml" ContentType="application/vnd.openxmlformats-officedocument.presentationml.tags+xml"/>
  <Override PartName="/ppt/notesSlides/notesSlide52.xml" ContentType="application/vnd.openxmlformats-officedocument.presentationml.notesSlide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notesSlides/notesSlide53.xml" ContentType="application/vnd.openxmlformats-officedocument.presentationml.notesSlide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notesSlides/notesSlide54.xml" ContentType="application/vnd.openxmlformats-officedocument.presentationml.notesSlide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notesSlides/notesSlide55.xml" ContentType="application/vnd.openxmlformats-officedocument.presentationml.notesSlide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notesSlides/notesSlide56.xml" ContentType="application/vnd.openxmlformats-officedocument.presentationml.notesSlide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notesSlides/notesSlide57.xml" ContentType="application/vnd.openxmlformats-officedocument.presentationml.notesSlide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notesSlides/notesSlide58.xml" ContentType="application/vnd.openxmlformats-officedocument.presentationml.notesSlide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notesSlides/notesSlide59.xml" ContentType="application/vnd.openxmlformats-officedocument.presentationml.notesSlide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notesSlides/notesSlide60.xml" ContentType="application/vnd.openxmlformats-officedocument.presentationml.notesSlide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notesSlides/notesSlide61.xml" ContentType="application/vnd.openxmlformats-officedocument.presentationml.notesSlide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notesSlides/notesSlide62.xml" ContentType="application/vnd.openxmlformats-officedocument.presentationml.notesSlide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notesSlides/notesSlide63.xml" ContentType="application/vnd.openxmlformats-officedocument.presentationml.notesSlide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notesSlides/notesSlide64.xml" ContentType="application/vnd.openxmlformats-officedocument.presentationml.notesSlide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notesSlides/notesSlide65.xml" ContentType="application/vnd.openxmlformats-officedocument.presentationml.notesSlide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notesSlides/notesSlide66.xml" ContentType="application/vnd.openxmlformats-officedocument.presentationml.notesSlide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notesSlides/notesSlide67.xml" ContentType="application/vnd.openxmlformats-officedocument.presentationml.notesSlide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notesSlides/notesSlide68.xml" ContentType="application/vnd.openxmlformats-officedocument.presentationml.notesSlide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notesSlides/notesSlide69.xml" ContentType="application/vnd.openxmlformats-officedocument.presentationml.notesSlide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notesSlides/notesSlide70.xml" ContentType="application/vnd.openxmlformats-officedocument.presentationml.notesSlide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notesSlides/notesSlide71.xml" ContentType="application/vnd.openxmlformats-officedocument.presentationml.notesSlide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notesSlides/notesSlide72.xml" ContentType="application/vnd.openxmlformats-officedocument.presentationml.notesSlide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notesSlides/notesSlide73.xml" ContentType="application/vnd.openxmlformats-officedocument.presentationml.notesSlide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notesSlides/notesSlide74.xml" ContentType="application/vnd.openxmlformats-officedocument.presentationml.notesSlide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notesSlides/notesSlide75.xml" ContentType="application/vnd.openxmlformats-officedocument.presentationml.notesSlide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notesSlides/notesSlide76.xml" ContentType="application/vnd.openxmlformats-officedocument.presentationml.notesSlide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notesSlides/notesSlide77.xml" ContentType="application/vnd.openxmlformats-officedocument.presentationml.notesSlide+xml"/>
  <Override PartName="/ppt/tags/tag204.xml" ContentType="application/vnd.openxmlformats-officedocument.presentationml.tags+xml"/>
  <Override PartName="/ppt/notesSlides/notesSlide78.xml" ContentType="application/vnd.openxmlformats-officedocument.presentationml.notesSlide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notesSlides/notesSlide79.xml" ContentType="application/vnd.openxmlformats-officedocument.presentationml.notesSlide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notesSlides/notesSlide80.xml" ContentType="application/vnd.openxmlformats-officedocument.presentationml.notesSlide+xml"/>
  <Override PartName="/ppt/tags/tag209.xml" ContentType="application/vnd.openxmlformats-officedocument.presentationml.tags+xml"/>
  <Override PartName="/ppt/notesSlides/notesSlide8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4"/>
  </p:notesMasterIdLst>
  <p:handoutMasterIdLst>
    <p:handoutMasterId r:id="rId85"/>
  </p:handoutMasterIdLst>
  <p:sldIdLst>
    <p:sldId id="256" r:id="rId2"/>
    <p:sldId id="257" r:id="rId3"/>
    <p:sldId id="258" r:id="rId4"/>
    <p:sldId id="259" r:id="rId5"/>
    <p:sldId id="260" r:id="rId6"/>
    <p:sldId id="261" r:id="rId7"/>
    <p:sldId id="361" r:id="rId8"/>
    <p:sldId id="264" r:id="rId9"/>
    <p:sldId id="265" r:id="rId10"/>
    <p:sldId id="262" r:id="rId11"/>
    <p:sldId id="266" r:id="rId12"/>
    <p:sldId id="267" r:id="rId13"/>
    <p:sldId id="269" r:id="rId14"/>
    <p:sldId id="268" r:id="rId15"/>
    <p:sldId id="277" r:id="rId16"/>
    <p:sldId id="271" r:id="rId17"/>
    <p:sldId id="273" r:id="rId18"/>
    <p:sldId id="378" r:id="rId19"/>
    <p:sldId id="274" r:id="rId20"/>
    <p:sldId id="376" r:id="rId21"/>
    <p:sldId id="381" r:id="rId22"/>
    <p:sldId id="280" r:id="rId23"/>
    <p:sldId id="363" r:id="rId24"/>
    <p:sldId id="282" r:id="rId25"/>
    <p:sldId id="283" r:id="rId26"/>
    <p:sldId id="284" r:id="rId27"/>
    <p:sldId id="286" r:id="rId28"/>
    <p:sldId id="362" r:id="rId29"/>
    <p:sldId id="289" r:id="rId30"/>
    <p:sldId id="290" r:id="rId31"/>
    <p:sldId id="291" r:id="rId32"/>
    <p:sldId id="365" r:id="rId33"/>
    <p:sldId id="294" r:id="rId34"/>
    <p:sldId id="295" r:id="rId35"/>
    <p:sldId id="367" r:id="rId36"/>
    <p:sldId id="368" r:id="rId37"/>
    <p:sldId id="369" r:id="rId38"/>
    <p:sldId id="302" r:id="rId39"/>
    <p:sldId id="303" r:id="rId40"/>
    <p:sldId id="304" r:id="rId41"/>
    <p:sldId id="305" r:id="rId42"/>
    <p:sldId id="306" r:id="rId43"/>
    <p:sldId id="307" r:id="rId44"/>
    <p:sldId id="308" r:id="rId45"/>
    <p:sldId id="355" r:id="rId46"/>
    <p:sldId id="356" r:id="rId47"/>
    <p:sldId id="357" r:id="rId48"/>
    <p:sldId id="316" r:id="rId49"/>
    <p:sldId id="383" r:id="rId50"/>
    <p:sldId id="317" r:id="rId51"/>
    <p:sldId id="318" r:id="rId52"/>
    <p:sldId id="320" r:id="rId53"/>
    <p:sldId id="321" r:id="rId54"/>
    <p:sldId id="323" r:id="rId55"/>
    <p:sldId id="370" r:id="rId56"/>
    <p:sldId id="324" r:id="rId57"/>
    <p:sldId id="325" r:id="rId58"/>
    <p:sldId id="326" r:id="rId59"/>
    <p:sldId id="372" r:id="rId60"/>
    <p:sldId id="327" r:id="rId61"/>
    <p:sldId id="328" r:id="rId62"/>
    <p:sldId id="329" r:id="rId63"/>
    <p:sldId id="330" r:id="rId64"/>
    <p:sldId id="331" r:id="rId65"/>
    <p:sldId id="332" r:id="rId66"/>
    <p:sldId id="333" r:id="rId67"/>
    <p:sldId id="334" r:id="rId68"/>
    <p:sldId id="335" r:id="rId69"/>
    <p:sldId id="359" r:id="rId70"/>
    <p:sldId id="371" r:id="rId71"/>
    <p:sldId id="340" r:id="rId72"/>
    <p:sldId id="342" r:id="rId73"/>
    <p:sldId id="344" r:id="rId74"/>
    <p:sldId id="345" r:id="rId75"/>
    <p:sldId id="346" r:id="rId76"/>
    <p:sldId id="347" r:id="rId77"/>
    <p:sldId id="348" r:id="rId78"/>
    <p:sldId id="349" r:id="rId79"/>
    <p:sldId id="350" r:id="rId80"/>
    <p:sldId id="351" r:id="rId81"/>
    <p:sldId id="352" r:id="rId82"/>
    <p:sldId id="354" r:id="rId83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bw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A6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24" autoAdjust="0"/>
    <p:restoredTop sz="90812" autoAdjust="0"/>
  </p:normalViewPr>
  <p:slideViewPr>
    <p:cSldViewPr>
      <p:cViewPr varScale="1">
        <p:scale>
          <a:sx n="72" d="100"/>
          <a:sy n="72" d="100"/>
        </p:scale>
        <p:origin x="1421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358DC7-2DB0-F743-B206-666BD2CB356D}" type="datetimeFigureOut">
              <a:rPr lang="en-US" smtClean="0"/>
              <a:t>9/14/2022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EB4F19-52D0-CA4D-A6ED-ADA89533F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4364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D5E47-F045-4C01-A154-66E3997AD169}" type="datetimeFigureOut">
              <a:rPr lang="en-US" smtClean="0"/>
              <a:t>9/14/2022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3EC52C-64D1-4EF5-AC14-14AF6A3FC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810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07E65D-A422-4C30-B3F0-AE1AD199FA59}" type="slidenum">
              <a:rPr lang="en-US" sz="1200">
                <a:latin typeface="Times New Roman" pitchFamily="18" charset="0"/>
              </a:rPr>
              <a:pPr eaLnBrk="1" hangingPunct="1"/>
              <a:t>2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9B557E0-04ED-4DD6-BE7E-549CE9FF4F43}" type="slidenum">
              <a:rPr lang="en-US" sz="1200">
                <a:latin typeface="Times New Roman" pitchFamily="18" charset="0"/>
              </a:rPr>
              <a:pPr eaLnBrk="1" hangingPunct="1"/>
              <a:t>3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93B0B37-60B7-4955-9467-637411B21646}" type="slidenum">
              <a:rPr lang="en-US" sz="1200">
                <a:latin typeface="Times New Roman" pitchFamily="18" charset="0"/>
              </a:rPr>
              <a:pPr eaLnBrk="1" hangingPunct="1"/>
              <a:t>4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6A05548-152E-4744-A3EA-B22B905FD732}" type="slidenum">
              <a:rPr lang="en-US" sz="1200">
                <a:latin typeface="Times New Roman" pitchFamily="18" charset="0"/>
              </a:rPr>
              <a:pPr eaLnBrk="1" hangingPunct="1"/>
              <a:t>5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B409BFF7-25AE-4F28-9571-4D1575142BE4}" type="slidenum">
              <a:rPr lang="en-US" sz="1200">
                <a:latin typeface="Times New Roman" pitchFamily="18" charset="0"/>
              </a:rPr>
              <a:pPr eaLnBrk="1" hangingPunct="1"/>
              <a:t>6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F2239DFA-09D8-45AE-AF3C-A417B5C075BE}" type="slidenum">
              <a:rPr lang="en-US" sz="1200">
                <a:latin typeface="Times New Roman" pitchFamily="18" charset="0"/>
              </a:rPr>
              <a:pPr eaLnBrk="1" hangingPunct="1"/>
              <a:t>7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9CBF49D-D58F-40B2-8D65-6660682D97F2}" type="slidenum">
              <a:rPr lang="en-US" sz="1200">
                <a:latin typeface="Times New Roman" pitchFamily="18" charset="0"/>
              </a:rPr>
              <a:pPr eaLnBrk="1" hangingPunct="1"/>
              <a:t>8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26A480A-1991-415C-9DC8-0C9A82E0FC6B}" type="slidenum">
              <a:rPr lang="en-US" sz="1200">
                <a:latin typeface="Times New Roman" pitchFamily="18" charset="0"/>
              </a:rPr>
              <a:pPr eaLnBrk="1" hangingPunct="1"/>
              <a:t>9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9B21376A-9235-459F-9EEF-E435CD3F2A62}" type="slidenum">
              <a:rPr lang="en-US" sz="1200">
                <a:latin typeface="Times New Roman" pitchFamily="18" charset="0"/>
              </a:rPr>
              <a:pPr eaLnBrk="1" hangingPunct="1"/>
              <a:t>10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5C17A317-E611-48B8-864E-A7147738E169}" type="slidenum">
              <a:rPr lang="en-US" sz="1200">
                <a:latin typeface="Times New Roman" pitchFamily="18" charset="0"/>
              </a:rPr>
              <a:pPr eaLnBrk="1" hangingPunct="1"/>
              <a:t>11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077FF55-6D47-485E-A169-7AA98629BC0F}" type="slidenum">
              <a:rPr lang="en-US" sz="1200">
                <a:latin typeface="Times New Roman" pitchFamily="18" charset="0"/>
              </a:rPr>
              <a:pPr eaLnBrk="1" hangingPunct="1"/>
              <a:t>12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0A1951D-89A3-4897-955C-54C22CCA78F1}" type="slidenum">
              <a:rPr lang="en-US" sz="1200">
                <a:latin typeface="Times New Roman" pitchFamily="18" charset="0"/>
              </a:rPr>
              <a:pPr eaLnBrk="1" hangingPunct="1"/>
              <a:t>13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A7079C1-9890-4ABE-84A9-0DF2CD4C7F8A}" type="slidenum">
              <a:rPr lang="en-US" sz="1200">
                <a:latin typeface="Times New Roman" pitchFamily="18" charset="0"/>
              </a:rPr>
              <a:pPr eaLnBrk="1" hangingPunct="1"/>
              <a:t>14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7A30C677-1DE6-4DC4-8C19-8E725DEB7533}" type="slidenum">
              <a:rPr lang="en-US" sz="1200">
                <a:latin typeface="Times New Roman" pitchFamily="18" charset="0"/>
              </a:rPr>
              <a:pPr eaLnBrk="1" hangingPunct="1"/>
              <a:t>15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4C31AEFE-CFFB-4813-BD81-B8BE1CA6C693}" type="slidenum">
              <a:rPr lang="en-US" sz="1200">
                <a:latin typeface="Times New Roman" pitchFamily="18" charset="0"/>
              </a:rPr>
              <a:pPr eaLnBrk="1" hangingPunct="1"/>
              <a:t>16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08F31FC-A4B5-4841-A68E-31207F3929AD}" type="slidenum">
              <a:rPr lang="en-US" sz="1200">
                <a:latin typeface="Times New Roman" pitchFamily="18" charset="0"/>
              </a:rPr>
              <a:pPr eaLnBrk="1" hangingPunct="1"/>
              <a:t>17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BD8F3F-F50B-4D2D-9088-20983DC5CDB3}" type="slidenum">
              <a:rPr lang="en-US" sz="1200">
                <a:latin typeface="Times New Roman" pitchFamily="18" charset="0"/>
              </a:rPr>
              <a:pPr eaLnBrk="1" hangingPunct="1"/>
              <a:t>18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477A3AC-D42F-4D0B-9EF9-E4E1B354D284}" type="slidenum">
              <a:rPr lang="en-US" sz="1200">
                <a:latin typeface="Times New Roman" pitchFamily="18" charset="0"/>
              </a:rPr>
              <a:pPr eaLnBrk="1" hangingPunct="1"/>
              <a:t>19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477A3AC-D42F-4D0B-9EF9-E4E1B354D284}" type="slidenum">
              <a:rPr lang="en-US" sz="1200">
                <a:latin typeface="Times New Roman" pitchFamily="18" charset="0"/>
              </a:rPr>
              <a:pPr eaLnBrk="1" hangingPunct="1"/>
              <a:t>20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477A3AC-D42F-4D0B-9EF9-E4E1B354D284}" type="slidenum">
              <a:rPr lang="en-US" sz="1200">
                <a:latin typeface="Times New Roman" pitchFamily="18" charset="0"/>
              </a:rPr>
              <a:pPr eaLnBrk="1" hangingPunct="1"/>
              <a:t>21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DA6ED039-A1F1-44BE-8E16-1A39D5826A03}" type="slidenum">
              <a:rPr lang="en-US" sz="1200">
                <a:latin typeface="Times New Roman" pitchFamily="18" charset="0"/>
              </a:rPr>
              <a:pPr eaLnBrk="1" hangingPunct="1"/>
              <a:t>22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49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CFF139FA-840F-4B42-8A3A-EA6EEE9A30BF}" type="slidenum">
              <a:rPr lang="en-US" sz="1200">
                <a:latin typeface="Times New Roman" pitchFamily="18" charset="0"/>
              </a:rPr>
              <a:pPr eaLnBrk="1" hangingPunct="1"/>
              <a:t>23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2D1E3FB6-9A85-4B1C-9E09-1A180F2215D9}" type="slidenum">
              <a:rPr lang="en-US" sz="1200">
                <a:latin typeface="Times New Roman" pitchFamily="18" charset="0"/>
              </a:rPr>
              <a:pPr eaLnBrk="1" hangingPunct="1"/>
              <a:t>24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5A5088C4-3084-40AD-9F6F-70700F29887E}" type="slidenum">
              <a:rPr lang="en-US" sz="1200">
                <a:latin typeface="Times New Roman" pitchFamily="18" charset="0"/>
              </a:rPr>
              <a:pPr eaLnBrk="1" hangingPunct="1"/>
              <a:t>25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7938063-1D29-4B05-9212-3D783BAEE8ED}" type="slidenum">
              <a:rPr lang="en-US" sz="1200">
                <a:latin typeface="Times New Roman" pitchFamily="18" charset="0"/>
              </a:rPr>
              <a:pPr eaLnBrk="1" hangingPunct="1"/>
              <a:t>26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53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48447544-2DD3-4828-8D05-3DC499B78283}" type="slidenum">
              <a:rPr lang="en-US" sz="1200">
                <a:latin typeface="Times New Roman" pitchFamily="18" charset="0"/>
              </a:rPr>
              <a:pPr eaLnBrk="1" hangingPunct="1"/>
              <a:t>27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B0AA32E3-F1F4-48E7-9A2C-16548E9979D3}" type="slidenum">
              <a:rPr lang="en-US" sz="1200">
                <a:latin typeface="Times New Roman" pitchFamily="18" charset="0"/>
              </a:rPr>
              <a:pPr eaLnBrk="1" hangingPunct="1"/>
              <a:t>28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9E1435A7-99F8-4630-901C-D04F7ADA3649}" type="slidenum">
              <a:rPr lang="en-US" sz="1200">
                <a:latin typeface="Times New Roman" pitchFamily="18" charset="0"/>
              </a:rPr>
              <a:pPr eaLnBrk="1" hangingPunct="1"/>
              <a:t>29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5035135-D519-44EB-8BBC-75CDFE0DE662}" type="slidenum">
              <a:rPr lang="en-US" sz="1200">
                <a:latin typeface="Times New Roman" pitchFamily="18" charset="0"/>
              </a:rPr>
              <a:pPr eaLnBrk="1" hangingPunct="1"/>
              <a:t>30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5339334B-667E-4594-8258-137D32A046CA}" type="slidenum">
              <a:rPr lang="en-US" sz="1200">
                <a:latin typeface="Times New Roman" pitchFamily="18" charset="0"/>
              </a:rPr>
              <a:pPr eaLnBrk="1" hangingPunct="1"/>
              <a:t>31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F0635FA3-67BB-4B04-A76B-39A6E620BF9C}" type="slidenum">
              <a:rPr lang="en-US" sz="1200">
                <a:latin typeface="Times New Roman" pitchFamily="18" charset="0"/>
              </a:rPr>
              <a:pPr eaLnBrk="1" hangingPunct="1"/>
              <a:t>32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22F91A6F-0A81-42D9-BBC6-DD8E71355CC8}" type="slidenum">
              <a:rPr lang="en-US" sz="1200">
                <a:latin typeface="Times New Roman" pitchFamily="18" charset="0"/>
              </a:rPr>
              <a:pPr eaLnBrk="1" hangingPunct="1"/>
              <a:t>33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63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7F53544F-2C95-4111-865C-3BBF9FCAE9AF}" type="slidenum">
              <a:rPr lang="en-US" sz="1200">
                <a:latin typeface="Times New Roman" pitchFamily="18" charset="0"/>
              </a:rPr>
              <a:pPr eaLnBrk="1" hangingPunct="1"/>
              <a:t>34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344E06FF-C554-4B41-BA7D-66095FF1D435}" type="slidenum">
              <a:rPr lang="en-US" sz="1200">
                <a:latin typeface="Times New Roman" pitchFamily="18" charset="0"/>
              </a:rPr>
              <a:pPr eaLnBrk="1" hangingPunct="1"/>
              <a:t>35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65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95E3A068-D972-43A1-84DA-2F21E1A7801D}" type="slidenum">
              <a:rPr lang="en-US" sz="1200">
                <a:latin typeface="Times New Roman" pitchFamily="18" charset="0"/>
              </a:rPr>
              <a:pPr eaLnBrk="1" hangingPunct="1"/>
              <a:t>36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68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78393523-AE5F-4CC2-8C01-8DB325F3D588}" type="slidenum">
              <a:rPr lang="en-US" sz="1200">
                <a:latin typeface="Times New Roman" pitchFamily="18" charset="0"/>
              </a:rPr>
              <a:pPr eaLnBrk="1" hangingPunct="1"/>
              <a:t>37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CDDCE0E-3B5F-4D31-9115-C75D58EBF9C3}" type="slidenum">
              <a:rPr lang="en-US" sz="1200">
                <a:latin typeface="Times New Roman" pitchFamily="18" charset="0"/>
              </a:rPr>
              <a:pPr eaLnBrk="1" hangingPunct="1"/>
              <a:t>38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72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278DB572-2D98-4747-8FB9-A71BF1000741}" type="slidenum">
              <a:rPr lang="en-US" sz="1200">
                <a:latin typeface="Times New Roman" pitchFamily="18" charset="0"/>
              </a:rPr>
              <a:pPr eaLnBrk="1" hangingPunct="1"/>
              <a:t>39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73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58023A50-BFCC-4310-9FD0-57FA7B27842B}" type="slidenum">
              <a:rPr lang="en-US" sz="1200">
                <a:latin typeface="Times New Roman" pitchFamily="18" charset="0"/>
              </a:rPr>
              <a:pPr eaLnBrk="1" hangingPunct="1"/>
              <a:t>40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74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5210D49-1C52-4C6E-9816-42C6EC609C7F}" type="slidenum">
              <a:rPr lang="en-US" sz="1200">
                <a:latin typeface="Times New Roman" pitchFamily="18" charset="0"/>
              </a:rPr>
              <a:pPr eaLnBrk="1" hangingPunct="1"/>
              <a:t>41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75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40B6C57-ECBA-4633-8A56-B9E37246B3C4}" type="slidenum">
              <a:rPr lang="en-US" sz="1200">
                <a:latin typeface="Times New Roman" pitchFamily="18" charset="0"/>
              </a:rPr>
              <a:pPr eaLnBrk="1" hangingPunct="1"/>
              <a:t>42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76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FE80E4FC-1DE9-40A3-B263-D26044C04868}" type="slidenum">
              <a:rPr lang="en-US" sz="1200">
                <a:latin typeface="Times New Roman" pitchFamily="18" charset="0"/>
              </a:rPr>
              <a:pPr eaLnBrk="1" hangingPunct="1"/>
              <a:t>43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77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11D70FC9-A22A-407D-B969-78AC1F11984F}" type="slidenum">
              <a:rPr lang="en-US" sz="1200">
                <a:latin typeface="Times New Roman" pitchFamily="18" charset="0"/>
              </a:rPr>
              <a:pPr eaLnBrk="1" hangingPunct="1"/>
              <a:t>44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78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81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844B878-D8C0-4972-9E07-115C052BC283}" type="slidenum">
              <a:rPr lang="en-US" sz="1200">
                <a:latin typeface="Times New Roman" pitchFamily="18" charset="0"/>
              </a:rPr>
              <a:pPr eaLnBrk="1" hangingPunct="1"/>
              <a:t>45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80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5503468C-CA1C-4B48-85A9-1B6877AA5843}" type="slidenum">
              <a:rPr lang="en-US" sz="1200">
                <a:latin typeface="Times New Roman" pitchFamily="18" charset="0"/>
              </a:rPr>
              <a:pPr eaLnBrk="1" hangingPunct="1"/>
              <a:t>46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82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22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BF1CEF1B-20D7-451B-9708-678FAE7257D1}" type="slidenum">
              <a:rPr lang="en-US" sz="1200">
                <a:latin typeface="Times New Roman" pitchFamily="18" charset="0"/>
              </a:rPr>
              <a:pPr eaLnBrk="1" hangingPunct="1"/>
              <a:t>47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84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11FD7DE5-E181-45B2-BC13-47077D38CFD4}" type="slidenum">
              <a:rPr lang="en-US" sz="1200">
                <a:latin typeface="Times New Roman" pitchFamily="18" charset="0"/>
              </a:rPr>
              <a:pPr eaLnBrk="1" hangingPunct="1"/>
              <a:t>48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86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63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11FD7DE5-E181-45B2-BC13-47077D38CFD4}" type="slidenum">
              <a:rPr lang="en-US" sz="1200">
                <a:latin typeface="Times New Roman" pitchFamily="18" charset="0"/>
              </a:rPr>
              <a:pPr eaLnBrk="1" hangingPunct="1"/>
              <a:t>49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86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63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CDE2C106-5550-49C0-B9AF-0E2635E1E763}" type="slidenum">
              <a:rPr lang="en-US" sz="1200">
                <a:latin typeface="Times New Roman" pitchFamily="18" charset="0"/>
              </a:rPr>
              <a:pPr eaLnBrk="1" hangingPunct="1"/>
              <a:t>50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87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171A05CD-CDDC-4A64-9050-62428A336E5E}" type="slidenum">
              <a:rPr lang="en-US" sz="1200">
                <a:latin typeface="Times New Roman" pitchFamily="18" charset="0"/>
              </a:rPr>
              <a:pPr eaLnBrk="1" hangingPunct="1"/>
              <a:t>51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88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F7C137A5-8623-4AB4-B21D-6D793B97EA62}" type="slidenum">
              <a:rPr lang="en-US" sz="1200">
                <a:latin typeface="Times New Roman" pitchFamily="18" charset="0"/>
              </a:rPr>
              <a:pPr eaLnBrk="1" hangingPunct="1"/>
              <a:t>52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90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04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FCDAA42D-9E72-45B1-8B1A-E7E8CFA0AABC}" type="slidenum">
              <a:rPr lang="en-US" sz="1200">
                <a:latin typeface="Times New Roman" pitchFamily="18" charset="0"/>
              </a:rPr>
              <a:pPr eaLnBrk="1" hangingPunct="1"/>
              <a:t>53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91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813E2BE-5D51-45C5-A5EF-A78FC474626B}" type="slidenum">
              <a:rPr lang="en-US" sz="1200">
                <a:latin typeface="Times New Roman" pitchFamily="18" charset="0"/>
              </a:rPr>
              <a:pPr eaLnBrk="1" hangingPunct="1"/>
              <a:t>54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93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813E2BE-5D51-45C5-A5EF-A78FC474626B}" type="slidenum">
              <a:rPr lang="en-US" sz="1200">
                <a:latin typeface="Times New Roman" pitchFamily="18" charset="0"/>
              </a:rPr>
              <a:pPr eaLnBrk="1" hangingPunct="1"/>
              <a:t>55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93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40EC7D34-458C-4EBB-871D-041F048DB2F0}" type="slidenum">
              <a:rPr lang="en-US" sz="1200">
                <a:latin typeface="Times New Roman" pitchFamily="18" charset="0"/>
              </a:rPr>
              <a:pPr eaLnBrk="1" hangingPunct="1"/>
              <a:t>56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94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529BD32D-C3B9-4824-9A86-0317BA4011AA}" type="slidenum">
              <a:rPr lang="en-US" sz="1200">
                <a:latin typeface="Times New Roman" pitchFamily="18" charset="0"/>
              </a:rPr>
              <a:pPr eaLnBrk="1" hangingPunct="1"/>
              <a:t>57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95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5C935BDC-FA2B-414F-B3D2-A6D8B7AC8E54}" type="slidenum">
              <a:rPr lang="en-US" sz="1200">
                <a:latin typeface="Times New Roman" pitchFamily="18" charset="0"/>
              </a:rPr>
              <a:pPr eaLnBrk="1" hangingPunct="1"/>
              <a:t>58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96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66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5C935BDC-FA2B-414F-B3D2-A6D8B7AC8E54}" type="slidenum">
              <a:rPr lang="en-US" sz="1200">
                <a:latin typeface="Times New Roman" pitchFamily="18" charset="0"/>
              </a:rPr>
              <a:pPr eaLnBrk="1" hangingPunct="1"/>
              <a:t>59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96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66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34D6D8F9-6D6D-4E15-96F3-4707350B2089}" type="slidenum">
              <a:rPr lang="en-US" sz="1200">
                <a:latin typeface="Times New Roman" pitchFamily="18" charset="0"/>
              </a:rPr>
              <a:pPr eaLnBrk="1" hangingPunct="1"/>
              <a:t>60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97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76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40E068FC-6F3C-48FC-BE47-1E7015EE6C30}" type="slidenum">
              <a:rPr lang="en-US" sz="1200">
                <a:latin typeface="Times New Roman" pitchFamily="18" charset="0"/>
              </a:rPr>
              <a:pPr eaLnBrk="1" hangingPunct="1"/>
              <a:t>61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98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86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575256CB-B654-4454-8520-E1C278F4F4FF}" type="slidenum">
              <a:rPr lang="en-US" sz="1200">
                <a:latin typeface="Times New Roman" pitchFamily="18" charset="0"/>
              </a:rPr>
              <a:pPr eaLnBrk="1" hangingPunct="1"/>
              <a:t>62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99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96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85D868C7-EB3D-4BD8-BE98-DE15BBB3312C}" type="slidenum">
              <a:rPr lang="en-US" sz="1200">
                <a:latin typeface="Times New Roman" pitchFamily="18" charset="0"/>
              </a:rPr>
              <a:pPr eaLnBrk="1" hangingPunct="1"/>
              <a:t>63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200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07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8F1576B7-6CAC-4A2C-8184-345092644C2F}" type="slidenum">
              <a:rPr lang="en-US" sz="1200">
                <a:latin typeface="Times New Roman" pitchFamily="18" charset="0"/>
              </a:rPr>
              <a:pPr eaLnBrk="1" hangingPunct="1"/>
              <a:t>64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201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5575018A-654D-4038-8D2C-194BC930AB34}" type="slidenum">
              <a:rPr lang="en-US" sz="1200">
                <a:latin typeface="Times New Roman" pitchFamily="18" charset="0"/>
              </a:rPr>
              <a:pPr eaLnBrk="1" hangingPunct="1"/>
              <a:t>65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202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AF8F795-E1DC-4906-9F9A-27660F8590ED}" type="slidenum">
              <a:rPr lang="en-US" sz="1200">
                <a:latin typeface="Times New Roman" pitchFamily="18" charset="0"/>
              </a:rPr>
              <a:pPr eaLnBrk="1" hangingPunct="1"/>
              <a:t>66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203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37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9B686970-16F1-4FDB-8660-55AAC5791302}" type="slidenum">
              <a:rPr lang="en-US" sz="1200">
                <a:latin typeface="Times New Roman" pitchFamily="18" charset="0"/>
              </a:rPr>
              <a:pPr eaLnBrk="1" hangingPunct="1"/>
              <a:t>67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204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A872AEE-AEC8-460B-BDA8-68C02E8C5CA7}" type="slidenum">
              <a:rPr lang="en-US" sz="1200">
                <a:latin typeface="Times New Roman" pitchFamily="18" charset="0"/>
              </a:rPr>
              <a:pPr eaLnBrk="1" hangingPunct="1"/>
              <a:t>68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205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58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9C65B18B-0E44-461A-9811-85C7AD414D3E}" type="slidenum">
              <a:rPr lang="en-US" sz="1200">
                <a:latin typeface="Times New Roman" pitchFamily="18" charset="0"/>
              </a:rPr>
              <a:pPr eaLnBrk="1" hangingPunct="1"/>
              <a:t>69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206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68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3FFD030-A0B1-446E-B499-F35380CC3C38}" type="slidenum">
              <a:rPr lang="en-US" sz="1200">
                <a:latin typeface="Times New Roman" pitchFamily="18" charset="0"/>
              </a:rPr>
              <a:pPr eaLnBrk="1" hangingPunct="1"/>
              <a:t>70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209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99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354E480-4E67-474A-BF3E-D012FFEEF7B8}" type="slidenum">
              <a:rPr lang="en-US" sz="1200">
                <a:latin typeface="Times New Roman" pitchFamily="18" charset="0"/>
              </a:rPr>
              <a:pPr eaLnBrk="1" hangingPunct="1"/>
              <a:t>71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210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09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1F2023E-AC73-4F97-B898-9F5D904D8792}" type="slidenum">
              <a:rPr lang="en-US" sz="1200">
                <a:latin typeface="Times New Roman" pitchFamily="18" charset="0"/>
              </a:rPr>
              <a:pPr eaLnBrk="1" hangingPunct="1"/>
              <a:t>72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212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29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1F7A05FF-4A23-492C-8145-7162E0DE3366}" type="slidenum">
              <a:rPr lang="en-US" sz="1200">
                <a:latin typeface="Times New Roman" pitchFamily="18" charset="0"/>
              </a:rPr>
              <a:pPr eaLnBrk="1" hangingPunct="1"/>
              <a:t>73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215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417AC6A7-5EB7-4146-84C7-7625646C11FA}" type="slidenum">
              <a:rPr lang="en-US" sz="1200">
                <a:latin typeface="Times New Roman" pitchFamily="18" charset="0"/>
              </a:rPr>
              <a:pPr eaLnBrk="1" hangingPunct="1"/>
              <a:t>74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216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60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F0657857-3019-42C1-B33D-92B87CE6D8AF}" type="slidenum">
              <a:rPr lang="en-US" sz="1200">
                <a:latin typeface="Times New Roman" pitchFamily="18" charset="0"/>
              </a:rPr>
              <a:pPr eaLnBrk="1" hangingPunct="1"/>
              <a:t>75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217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70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746863BD-4217-46FA-BED9-A0DDE58F6A77}" type="slidenum">
              <a:rPr lang="en-US" sz="1200">
                <a:latin typeface="Times New Roman" pitchFamily="18" charset="0"/>
              </a:rPr>
              <a:pPr eaLnBrk="1" hangingPunct="1"/>
              <a:t>76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218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81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1FC8FFBA-F205-41E2-9B9F-64A28369384A}" type="slidenum">
              <a:rPr lang="en-US" sz="1200">
                <a:latin typeface="Times New Roman" pitchFamily="18" charset="0"/>
              </a:rPr>
              <a:pPr eaLnBrk="1" hangingPunct="1"/>
              <a:t>77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219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91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02FE142-970F-46F7-998C-E2B1FA9AB1CF}" type="slidenum">
              <a:rPr lang="en-US" sz="1200">
                <a:latin typeface="Times New Roman" pitchFamily="18" charset="0"/>
              </a:rPr>
              <a:pPr eaLnBrk="1" hangingPunct="1"/>
              <a:t>78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220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0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401CA65E-DE54-490A-BEF6-3A928E6212C8}" type="slidenum">
              <a:rPr lang="en-US" sz="1200">
                <a:latin typeface="Times New Roman" pitchFamily="18" charset="0"/>
              </a:rPr>
              <a:pPr eaLnBrk="1" hangingPunct="1"/>
              <a:t>79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221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11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4DAFFB50-450D-46D2-A078-F9C1C15BEEBF}" type="slidenum">
              <a:rPr lang="en-US" sz="1200">
                <a:latin typeface="Times New Roman" pitchFamily="18" charset="0"/>
              </a:rPr>
              <a:pPr eaLnBrk="1" hangingPunct="1"/>
              <a:t>80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222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22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4793B22B-66AB-4904-AA7E-6596F69FC24E}" type="slidenum">
              <a:rPr lang="en-US" sz="1200">
                <a:latin typeface="Times New Roman" pitchFamily="18" charset="0"/>
              </a:rPr>
              <a:pPr eaLnBrk="1" hangingPunct="1"/>
              <a:t>81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223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32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9316B91-6EC7-44FA-904A-DEB4C956EB6A}" type="slidenum">
              <a:rPr lang="en-US" sz="1200">
                <a:latin typeface="Times New Roman" pitchFamily="18" charset="0"/>
              </a:rPr>
              <a:pPr eaLnBrk="1" hangingPunct="1"/>
              <a:t>82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225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2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5928846"/>
            <a:ext cx="9144000" cy="929154"/>
          </a:xfrm>
          <a:prstGeom prst="rect">
            <a:avLst/>
          </a:prstGeom>
          <a:solidFill>
            <a:srgbClr val="231F20"/>
          </a:solidFill>
          <a:ln>
            <a:solidFill>
              <a:srgbClr val="231F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919089"/>
          </a:xfrm>
          <a:prstGeom prst="rect">
            <a:avLst/>
          </a:prstGeom>
          <a:solidFill>
            <a:srgbClr val="231F20"/>
          </a:solidFill>
          <a:ln>
            <a:solidFill>
              <a:srgbClr val="231F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72064"/>
            <a:ext cx="990600" cy="885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5943600"/>
            <a:ext cx="773569" cy="864310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6477000" y="6248400"/>
            <a:ext cx="1981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aseline="0" dirty="0">
                <a:solidFill>
                  <a:schemeClr val="bg1"/>
                </a:solidFill>
              </a:rPr>
              <a:t>Chapter 1 &lt;</a:t>
            </a:r>
            <a:fld id="{D1B2EFE9-D440-4A3B-858C-5FEDF5DD0E10}" type="slidenum">
              <a:rPr lang="en-US" sz="1400" smtClean="0">
                <a:solidFill>
                  <a:schemeClr val="bg1"/>
                </a:solidFill>
              </a:rPr>
              <a:pPr/>
              <a:t>‹#›</a:t>
            </a:fld>
            <a:r>
              <a:rPr lang="en-US" sz="1400" dirty="0">
                <a:solidFill>
                  <a:schemeClr val="bg1"/>
                </a:solidFill>
              </a:rPr>
              <a:t>&gt; 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295400" y="6248400"/>
            <a:ext cx="525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Digital Design and Computer Architecture:</a:t>
            </a:r>
            <a:r>
              <a:rPr lang="en-US" sz="1400" baseline="0" dirty="0">
                <a:solidFill>
                  <a:schemeClr val="bg1"/>
                </a:solidFill>
              </a:rPr>
              <a:t> ARM® Edition © 2015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1393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5928846"/>
            <a:ext cx="9144000" cy="929154"/>
          </a:xfrm>
          <a:prstGeom prst="rect">
            <a:avLst/>
          </a:prstGeom>
          <a:solidFill>
            <a:srgbClr val="231F20"/>
          </a:solidFill>
          <a:ln>
            <a:solidFill>
              <a:srgbClr val="231F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9144000" cy="919089"/>
          </a:xfrm>
          <a:prstGeom prst="rect">
            <a:avLst/>
          </a:prstGeom>
          <a:solidFill>
            <a:srgbClr val="231F20"/>
          </a:solidFill>
          <a:ln>
            <a:solidFill>
              <a:srgbClr val="231F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72064"/>
            <a:ext cx="990600" cy="885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5943600"/>
            <a:ext cx="773569" cy="864310"/>
          </a:xfrm>
          <a:prstGeom prst="rect">
            <a:avLst/>
          </a:prstGeom>
        </p:spPr>
      </p:pic>
      <p:sp>
        <p:nvSpPr>
          <p:cNvPr id="12" name="TextBox 11"/>
          <p:cNvSpPr txBox="1"/>
          <p:nvPr userDrawn="1"/>
        </p:nvSpPr>
        <p:spPr>
          <a:xfrm>
            <a:off x="6477000" y="6248400"/>
            <a:ext cx="1981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aseline="0" dirty="0">
                <a:solidFill>
                  <a:schemeClr val="bg1"/>
                </a:solidFill>
              </a:rPr>
              <a:t>Chapter 1 &lt;</a:t>
            </a:r>
            <a:fld id="{D1B2EFE9-D440-4A3B-858C-5FEDF5DD0E10}" type="slidenum">
              <a:rPr lang="en-US" sz="1400" smtClean="0">
                <a:solidFill>
                  <a:schemeClr val="bg1"/>
                </a:solidFill>
              </a:rPr>
              <a:pPr/>
              <a:t>‹#›</a:t>
            </a:fld>
            <a:r>
              <a:rPr lang="en-US" sz="1400" dirty="0">
                <a:solidFill>
                  <a:schemeClr val="bg1"/>
                </a:solidFill>
              </a:rPr>
              <a:t>&gt; 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6248400"/>
            <a:ext cx="525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Digital Design and Computer Architecture:</a:t>
            </a:r>
            <a:r>
              <a:rPr lang="en-US" sz="1400" baseline="0" dirty="0">
                <a:solidFill>
                  <a:schemeClr val="bg1"/>
                </a:solidFill>
              </a:rPr>
              <a:t> ARM® Edition © 2015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43080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 smtClean="0"/>
            </a:lvl1pPr>
          </a:lstStyle>
          <a:p>
            <a:pPr>
              <a:defRPr/>
            </a:pPr>
            <a:r>
              <a:rPr lang="en-US"/>
              <a:t>Copyright © 2012  Elsevier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1-&lt;</a:t>
            </a:r>
            <a:fld id="{CC12C447-90FA-420C-B74C-1A635C444937}" type="slidenum">
              <a:rPr lang="en-US"/>
              <a:pPr>
                <a:defRPr/>
              </a:pPr>
              <a:t>‹#›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29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101600"/>
            <a:ext cx="7772400" cy="889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19200"/>
            <a:ext cx="38100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2192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7719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 smtClean="0"/>
            </a:lvl1pPr>
          </a:lstStyle>
          <a:p>
            <a:pPr>
              <a:defRPr/>
            </a:pPr>
            <a:r>
              <a:rPr lang="en-US"/>
              <a:t>Copyright © 2012  Elsevier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1-&lt;</a:t>
            </a:r>
            <a:fld id="{E7ED6BBA-2425-4A43-B586-383F2BB07C4C}" type="slidenum">
              <a:rPr lang="en-US"/>
              <a:pPr>
                <a:defRPr/>
              </a:pPr>
              <a:t>‹#›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136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101600"/>
            <a:ext cx="7772400" cy="889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219200"/>
            <a:ext cx="7772400" cy="49530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Copyright © 2012  Elsevier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1-&lt;</a:t>
            </a:r>
            <a:fld id="{68946159-E475-47D9-8550-A9F0B445C791}" type="slidenum">
              <a:rPr lang="en-US"/>
              <a:pPr>
                <a:defRPr/>
              </a:pPr>
              <a:t>‹#›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33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101600" y="101600"/>
            <a:ext cx="7772400" cy="889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2192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2192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5800" y="37719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7719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Copyright © 2012  Elsevier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1-&lt;</a:t>
            </a:r>
            <a:fld id="{CCDCC2DC-EBCD-44EE-92DB-9C06DDE632FD}" type="slidenum">
              <a:rPr lang="en-US"/>
              <a:pPr>
                <a:defRPr/>
              </a:pPr>
              <a:t>‹#›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3468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192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 Elsevier</a:t>
            </a:r>
            <a:endParaRPr lang="en-GB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1-&lt;</a:t>
            </a:r>
            <a:fld id="{B4FEF99E-A19F-4A0B-A62E-3729EECDD901}" type="slidenum">
              <a:rPr lang="en-US"/>
              <a:pPr>
                <a:defRPr/>
              </a:pPr>
              <a:t>‹#›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9501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101600"/>
            <a:ext cx="7772400" cy="889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219200"/>
            <a:ext cx="38100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100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Copyright © 2012  Elsevier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1-&lt;</a:t>
            </a:r>
            <a:fld id="{9F7ADD3E-E1D6-46D5-BCAD-B4AEBA813F75}" type="slidenum">
              <a:rPr lang="en-US"/>
              <a:pPr>
                <a:defRPr/>
              </a:pPr>
              <a:t>‹#›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7660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46080-453C-4BEF-9A1F-F094B996EB79}" type="datetimeFigureOut">
              <a:rPr lang="en-US" smtClean="0"/>
              <a:t>9/14/2022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B2EFE9-D440-4A3B-858C-5FEDF5DD0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500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slide" Target="slide5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slide" Target="slide44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4.xml"/><Relationship Id="rId7" Type="http://schemas.openxmlformats.org/officeDocument/2006/relationships/image" Target="../media/image5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4.jpe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7.emf"/><Relationship Id="rId4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8.png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8.pn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4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7" Type="http://schemas.openxmlformats.org/officeDocument/2006/relationships/image" Target="../media/image10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9.png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11.png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tags" Target="../tags/tag30.xml"/><Relationship Id="rId7" Type="http://schemas.openxmlformats.org/officeDocument/2006/relationships/oleObject" Target="../embeddings/oleObject1.bin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13.wmf"/><Relationship Id="rId4" Type="http://schemas.openxmlformats.org/officeDocument/2006/relationships/tags" Target="../tags/tag31.xml"/><Relationship Id="rId9" Type="http://schemas.openxmlformats.org/officeDocument/2006/relationships/oleObject" Target="../embeddings/oleObject2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4" Type="http://schemas.openxmlformats.org/officeDocument/2006/relationships/notesSlide" Target="../notesSlides/notesSlide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4" Type="http://schemas.openxmlformats.org/officeDocument/2006/relationships/notesSlide" Target="../notesSlides/notesSlide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4" Type="http://schemas.openxmlformats.org/officeDocument/2006/relationships/notesSlide" Target="../notesSlides/notesSlide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notesSlide" Target="../notesSlides/notesSlide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4" Type="http://schemas.openxmlformats.org/officeDocument/2006/relationships/notesSlide" Target="../notesSlides/notesSlide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4" Type="http://schemas.openxmlformats.org/officeDocument/2006/relationships/notesSlide" Target="../notesSlides/notesSlide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4" Type="http://schemas.openxmlformats.org/officeDocument/2006/relationships/notesSlide" Target="../notesSlides/notesSlide2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16.wmf"/><Relationship Id="rId3" Type="http://schemas.openxmlformats.org/officeDocument/2006/relationships/tags" Target="../tags/tag51.xml"/><Relationship Id="rId7" Type="http://schemas.openxmlformats.org/officeDocument/2006/relationships/notesSlide" Target="../notesSlides/notesSlide24.xml"/><Relationship Id="rId12" Type="http://schemas.openxmlformats.org/officeDocument/2006/relationships/oleObject" Target="../embeddings/oleObject5.bin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15.wmf"/><Relationship Id="rId5" Type="http://schemas.openxmlformats.org/officeDocument/2006/relationships/tags" Target="../tags/tag53.xml"/><Relationship Id="rId10" Type="http://schemas.openxmlformats.org/officeDocument/2006/relationships/oleObject" Target="../embeddings/oleObject4.bin"/><Relationship Id="rId4" Type="http://schemas.openxmlformats.org/officeDocument/2006/relationships/tags" Target="../tags/tag52.xml"/><Relationship Id="rId9" Type="http://schemas.openxmlformats.org/officeDocument/2006/relationships/image" Target="../media/image14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4" Type="http://schemas.openxmlformats.org/officeDocument/2006/relationships/notesSlide" Target="../notesSlides/notesSlide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4" Type="http://schemas.openxmlformats.org/officeDocument/2006/relationships/notesSlide" Target="../notesSlides/notesSlide26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tags" Target="../tags/tag60.xml"/><Relationship Id="rId7" Type="http://schemas.openxmlformats.org/officeDocument/2006/relationships/oleObject" Target="../embeddings/oleObject6.bin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18.wmf"/><Relationship Id="rId4" Type="http://schemas.openxmlformats.org/officeDocument/2006/relationships/tags" Target="../tags/tag61.xml"/><Relationship Id="rId9" Type="http://schemas.openxmlformats.org/officeDocument/2006/relationships/oleObject" Target="../embeddings/oleObject7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tags" Target="../tags/tag64.xml"/><Relationship Id="rId7" Type="http://schemas.openxmlformats.org/officeDocument/2006/relationships/oleObject" Target="../embeddings/oleObject8.bin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notesSlide" Target="../notesSlides/notesSlide28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20.emf"/><Relationship Id="rId4" Type="http://schemas.openxmlformats.org/officeDocument/2006/relationships/tags" Target="../tags/tag65.xml"/><Relationship Id="rId9" Type="http://schemas.openxmlformats.org/officeDocument/2006/relationships/oleObject" Target="../embeddings/oleObject9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4" Type="http://schemas.openxmlformats.org/officeDocument/2006/relationships/notesSlide" Target="../notesSlides/notesSlide2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4" Type="http://schemas.openxmlformats.org/officeDocument/2006/relationships/notesSlide" Target="../notesSlides/notesSlide3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5" Type="http://schemas.openxmlformats.org/officeDocument/2006/relationships/image" Target="../media/image21.png"/><Relationship Id="rId4" Type="http://schemas.openxmlformats.org/officeDocument/2006/relationships/notesSlide" Target="../notesSlides/notesSlide3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4" Type="http://schemas.openxmlformats.org/officeDocument/2006/relationships/notesSlide" Target="../notesSlides/notesSlide3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5" Type="http://schemas.openxmlformats.org/officeDocument/2006/relationships/image" Target="../media/image22.png"/><Relationship Id="rId4" Type="http://schemas.openxmlformats.org/officeDocument/2006/relationships/notesSlide" Target="../notesSlides/notesSlide3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5" Type="http://schemas.openxmlformats.org/officeDocument/2006/relationships/notesSlide" Target="../notesSlides/notesSlide35.xml"/><Relationship Id="rId4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notesSlide" Target="../notesSlides/notesSlide3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5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tags" Target="../tags/tag88.xml"/><Relationship Id="rId7" Type="http://schemas.openxmlformats.org/officeDocument/2006/relationships/image" Target="../media/image23.wmf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oleObject" Target="../embeddings/oleObject10.bin"/><Relationship Id="rId5" Type="http://schemas.openxmlformats.org/officeDocument/2006/relationships/notesSlide" Target="../notesSlides/notesSlide37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24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tags" Target="../tags/tag91.xml"/><Relationship Id="rId7" Type="http://schemas.openxmlformats.org/officeDocument/2006/relationships/image" Target="../media/image25.wmf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oleObject" Target="../embeddings/oleObject12.bin"/><Relationship Id="rId5" Type="http://schemas.openxmlformats.org/officeDocument/2006/relationships/notesSlide" Target="../notesSlides/notesSlide38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26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4" Type="http://schemas.openxmlformats.org/officeDocument/2006/relationships/notesSlide" Target="../notesSlides/notesSlide3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4" Type="http://schemas.openxmlformats.org/officeDocument/2006/relationships/notesSlide" Target="../notesSlides/notesSlide4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4" Type="http://schemas.openxmlformats.org/officeDocument/2006/relationships/notesSlide" Target="../notesSlides/notesSlide41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tags" Target="../tags/tag100.xml"/><Relationship Id="rId7" Type="http://schemas.openxmlformats.org/officeDocument/2006/relationships/oleObject" Target="../embeddings/oleObject14.bin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6" Type="http://schemas.openxmlformats.org/officeDocument/2006/relationships/notesSlide" Target="../notesSlides/notesSlide4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tags" Target="../tags/tag105.xml"/><Relationship Id="rId7" Type="http://schemas.openxmlformats.org/officeDocument/2006/relationships/image" Target="../media/image28.emf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oleObject" Target="../embeddings/oleObject15.bin"/><Relationship Id="rId5" Type="http://schemas.openxmlformats.org/officeDocument/2006/relationships/notesSlide" Target="../notesSlides/notesSlide44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29.e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tags" Target="../tags/tag108.xml"/><Relationship Id="rId7" Type="http://schemas.openxmlformats.org/officeDocument/2006/relationships/image" Target="../media/image30.emf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oleObject" Target="../embeddings/oleObject17.bin"/><Relationship Id="rId5" Type="http://schemas.openxmlformats.org/officeDocument/2006/relationships/notesSlide" Target="../notesSlides/notesSlide45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31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19.bin"/><Relationship Id="rId4" Type="http://schemas.openxmlformats.org/officeDocument/2006/relationships/notesSlide" Target="../notesSlides/notesSlide46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tags" Target="../tags/tag113.xml"/><Relationship Id="rId7" Type="http://schemas.openxmlformats.org/officeDocument/2006/relationships/image" Target="../media/image33.wmf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6" Type="http://schemas.openxmlformats.org/officeDocument/2006/relationships/oleObject" Target="../embeddings/oleObject20.bin"/><Relationship Id="rId5" Type="http://schemas.openxmlformats.org/officeDocument/2006/relationships/notesSlide" Target="../notesSlides/notesSlide47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34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5" Type="http://schemas.openxmlformats.org/officeDocument/2006/relationships/notesSlide" Target="../notesSlides/notesSlide48.xml"/><Relationship Id="rId4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22.bin"/><Relationship Id="rId4" Type="http://schemas.openxmlformats.org/officeDocument/2006/relationships/notesSlide" Target="../notesSlides/notesSlide5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1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tags" Target="../tags/tag124.xml"/><Relationship Id="rId7" Type="http://schemas.openxmlformats.org/officeDocument/2006/relationships/oleObject" Target="../embeddings/oleObject23.bin"/><Relationship Id="rId2" Type="http://schemas.openxmlformats.org/officeDocument/2006/relationships/tags" Target="../tags/tag123.xml"/><Relationship Id="rId1" Type="http://schemas.openxmlformats.org/officeDocument/2006/relationships/tags" Target="../tags/tag122.xml"/><Relationship Id="rId6" Type="http://schemas.openxmlformats.org/officeDocument/2006/relationships/notesSlide" Target="../notesSlides/notesSlide53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37.wmf"/><Relationship Id="rId4" Type="http://schemas.openxmlformats.org/officeDocument/2006/relationships/tags" Target="../tags/tag125.xml"/><Relationship Id="rId9" Type="http://schemas.openxmlformats.org/officeDocument/2006/relationships/oleObject" Target="../embeddings/oleObject24.bin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4.xml"/><Relationship Id="rId3" Type="http://schemas.openxmlformats.org/officeDocument/2006/relationships/tags" Target="../tags/tag128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37.wmf"/><Relationship Id="rId2" Type="http://schemas.openxmlformats.org/officeDocument/2006/relationships/tags" Target="../tags/tag127.xml"/><Relationship Id="rId1" Type="http://schemas.openxmlformats.org/officeDocument/2006/relationships/tags" Target="../tags/tag126.xml"/><Relationship Id="rId6" Type="http://schemas.openxmlformats.org/officeDocument/2006/relationships/tags" Target="../tags/tag131.xml"/><Relationship Id="rId11" Type="http://schemas.openxmlformats.org/officeDocument/2006/relationships/oleObject" Target="../embeddings/oleObject26.bin"/><Relationship Id="rId5" Type="http://schemas.openxmlformats.org/officeDocument/2006/relationships/tags" Target="../tags/tag130.xml"/><Relationship Id="rId10" Type="http://schemas.openxmlformats.org/officeDocument/2006/relationships/image" Target="../media/image36.wmf"/><Relationship Id="rId4" Type="http://schemas.openxmlformats.org/officeDocument/2006/relationships/tags" Target="../tags/tag129.xml"/><Relationship Id="rId9" Type="http://schemas.openxmlformats.org/officeDocument/2006/relationships/oleObject" Target="../embeddings/oleObject25.bin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tags" Target="../tags/tag139.xml"/><Relationship Id="rId3" Type="http://schemas.openxmlformats.org/officeDocument/2006/relationships/tags" Target="../tags/tag134.xml"/><Relationship Id="rId7" Type="http://schemas.openxmlformats.org/officeDocument/2006/relationships/tags" Target="../tags/tag138.xml"/><Relationship Id="rId12" Type="http://schemas.openxmlformats.org/officeDocument/2006/relationships/image" Target="../media/image38.wmf"/><Relationship Id="rId2" Type="http://schemas.openxmlformats.org/officeDocument/2006/relationships/tags" Target="../tags/tag133.xml"/><Relationship Id="rId1" Type="http://schemas.openxmlformats.org/officeDocument/2006/relationships/tags" Target="../tags/tag132.xml"/><Relationship Id="rId6" Type="http://schemas.openxmlformats.org/officeDocument/2006/relationships/tags" Target="../tags/tag137.xml"/><Relationship Id="rId11" Type="http://schemas.openxmlformats.org/officeDocument/2006/relationships/oleObject" Target="../embeddings/oleObject27.bin"/><Relationship Id="rId5" Type="http://schemas.openxmlformats.org/officeDocument/2006/relationships/tags" Target="../tags/tag136.xml"/><Relationship Id="rId10" Type="http://schemas.openxmlformats.org/officeDocument/2006/relationships/notesSlide" Target="../notesSlides/notesSlide55.xml"/><Relationship Id="rId4" Type="http://schemas.openxmlformats.org/officeDocument/2006/relationships/tags" Target="../tags/tag135.xml"/><Relationship Id="rId9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13" Type="http://schemas.openxmlformats.org/officeDocument/2006/relationships/image" Target="../media/image41.wmf"/><Relationship Id="rId3" Type="http://schemas.openxmlformats.org/officeDocument/2006/relationships/tags" Target="../tags/tag142.xml"/><Relationship Id="rId7" Type="http://schemas.openxmlformats.org/officeDocument/2006/relationships/notesSlide" Target="../notesSlides/notesSlide56.xml"/><Relationship Id="rId12" Type="http://schemas.openxmlformats.org/officeDocument/2006/relationships/oleObject" Target="../embeddings/oleObject30.bin"/><Relationship Id="rId2" Type="http://schemas.openxmlformats.org/officeDocument/2006/relationships/tags" Target="../tags/tag141.xml"/><Relationship Id="rId1" Type="http://schemas.openxmlformats.org/officeDocument/2006/relationships/tags" Target="../tags/tag140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40.wmf"/><Relationship Id="rId5" Type="http://schemas.openxmlformats.org/officeDocument/2006/relationships/tags" Target="../tags/tag144.xml"/><Relationship Id="rId10" Type="http://schemas.openxmlformats.org/officeDocument/2006/relationships/oleObject" Target="../embeddings/oleObject29.bin"/><Relationship Id="rId4" Type="http://schemas.openxmlformats.org/officeDocument/2006/relationships/tags" Target="../tags/tag143.xml"/><Relationship Id="rId9" Type="http://schemas.openxmlformats.org/officeDocument/2006/relationships/image" Target="../media/image39.w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6.xml"/><Relationship Id="rId1" Type="http://schemas.openxmlformats.org/officeDocument/2006/relationships/tags" Target="../tags/tag145.xml"/><Relationship Id="rId4" Type="http://schemas.openxmlformats.org/officeDocument/2006/relationships/notesSlide" Target="../notesSlides/notesSlide5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tags" Target="../tags/tag149.xml"/><Relationship Id="rId7" Type="http://schemas.openxmlformats.org/officeDocument/2006/relationships/image" Target="../media/image42.emf"/><Relationship Id="rId2" Type="http://schemas.openxmlformats.org/officeDocument/2006/relationships/tags" Target="../tags/tag148.xml"/><Relationship Id="rId1" Type="http://schemas.openxmlformats.org/officeDocument/2006/relationships/tags" Target="../tags/tag147.xml"/><Relationship Id="rId6" Type="http://schemas.openxmlformats.org/officeDocument/2006/relationships/oleObject" Target="../embeddings/oleObject31.bin"/><Relationship Id="rId5" Type="http://schemas.openxmlformats.org/officeDocument/2006/relationships/notesSlide" Target="../notesSlides/notesSlide58.xml"/><Relationship Id="rId4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" Type="http://schemas.openxmlformats.org/officeDocument/2006/relationships/tags" Target="../tags/tag150.xml"/><Relationship Id="rId5" Type="http://schemas.openxmlformats.org/officeDocument/2006/relationships/notesSlide" Target="../notesSlides/notesSlide59.xml"/><Relationship Id="rId4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4.xml"/><Relationship Id="rId1" Type="http://schemas.openxmlformats.org/officeDocument/2006/relationships/tags" Target="../tags/tag153.x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32.bin"/><Relationship Id="rId4" Type="http://schemas.openxmlformats.org/officeDocument/2006/relationships/notesSlide" Target="../notesSlides/notesSlide60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" Type="http://schemas.openxmlformats.org/officeDocument/2006/relationships/tags" Target="../tags/tag155.xml"/><Relationship Id="rId6" Type="http://schemas.openxmlformats.org/officeDocument/2006/relationships/image" Target="../media/image44.png"/><Relationship Id="rId5" Type="http://schemas.openxmlformats.org/officeDocument/2006/relationships/notesSlide" Target="../notesSlides/notesSlide61.xml"/><Relationship Id="rId4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tags" Target="../tags/tag160.xml"/><Relationship Id="rId7" Type="http://schemas.openxmlformats.org/officeDocument/2006/relationships/image" Target="../media/image45.wmf"/><Relationship Id="rId2" Type="http://schemas.openxmlformats.org/officeDocument/2006/relationships/tags" Target="../tags/tag159.xml"/><Relationship Id="rId1" Type="http://schemas.openxmlformats.org/officeDocument/2006/relationships/tags" Target="../tags/tag158.xml"/><Relationship Id="rId6" Type="http://schemas.openxmlformats.org/officeDocument/2006/relationships/oleObject" Target="../embeddings/oleObject33.bin"/><Relationship Id="rId5" Type="http://schemas.openxmlformats.org/officeDocument/2006/relationships/notesSlide" Target="../notesSlides/notesSlide62.xml"/><Relationship Id="rId4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tags" Target="../tags/tag163.xml"/><Relationship Id="rId7" Type="http://schemas.openxmlformats.org/officeDocument/2006/relationships/image" Target="../media/image46.wmf"/><Relationship Id="rId2" Type="http://schemas.openxmlformats.org/officeDocument/2006/relationships/tags" Target="../tags/tag162.xml"/><Relationship Id="rId1" Type="http://schemas.openxmlformats.org/officeDocument/2006/relationships/tags" Target="../tags/tag161.xml"/><Relationship Id="rId6" Type="http://schemas.openxmlformats.org/officeDocument/2006/relationships/oleObject" Target="../embeddings/oleObject34.bin"/><Relationship Id="rId5" Type="http://schemas.openxmlformats.org/officeDocument/2006/relationships/notesSlide" Target="../notesSlides/notesSlide63.xml"/><Relationship Id="rId4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tags" Target="../tags/tag166.xml"/><Relationship Id="rId7" Type="http://schemas.openxmlformats.org/officeDocument/2006/relationships/oleObject" Target="../embeddings/oleObject35.bin"/><Relationship Id="rId2" Type="http://schemas.openxmlformats.org/officeDocument/2006/relationships/tags" Target="../tags/tag165.xml"/><Relationship Id="rId1" Type="http://schemas.openxmlformats.org/officeDocument/2006/relationships/tags" Target="../tags/tag164.xml"/><Relationship Id="rId6" Type="http://schemas.openxmlformats.org/officeDocument/2006/relationships/notesSlide" Target="../notesSlides/notesSlide6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6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9.xml"/><Relationship Id="rId1" Type="http://schemas.openxmlformats.org/officeDocument/2006/relationships/tags" Target="../tags/tag168.xml"/><Relationship Id="rId6" Type="http://schemas.openxmlformats.org/officeDocument/2006/relationships/image" Target="../media/image48.emf"/><Relationship Id="rId5" Type="http://schemas.openxmlformats.org/officeDocument/2006/relationships/oleObject" Target="../embeddings/oleObject36.bin"/><Relationship Id="rId4" Type="http://schemas.openxmlformats.org/officeDocument/2006/relationships/notesSlide" Target="../notesSlides/notesSlide6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1.xml"/><Relationship Id="rId1" Type="http://schemas.openxmlformats.org/officeDocument/2006/relationships/tags" Target="../tags/tag170.x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37.bin"/><Relationship Id="rId4" Type="http://schemas.openxmlformats.org/officeDocument/2006/relationships/notesSlide" Target="../notesSlides/notesSlide6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tags" Target="../tags/tag174.xml"/><Relationship Id="rId7" Type="http://schemas.openxmlformats.org/officeDocument/2006/relationships/image" Target="../media/image50.wmf"/><Relationship Id="rId2" Type="http://schemas.openxmlformats.org/officeDocument/2006/relationships/tags" Target="../tags/tag173.xml"/><Relationship Id="rId1" Type="http://schemas.openxmlformats.org/officeDocument/2006/relationships/tags" Target="../tags/tag172.xml"/><Relationship Id="rId6" Type="http://schemas.openxmlformats.org/officeDocument/2006/relationships/oleObject" Target="../embeddings/oleObject38.bin"/><Relationship Id="rId5" Type="http://schemas.openxmlformats.org/officeDocument/2006/relationships/notesSlide" Target="../notesSlides/notesSlide67.xml"/><Relationship Id="rId4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tags" Target="../tags/tag177.xml"/><Relationship Id="rId7" Type="http://schemas.openxmlformats.org/officeDocument/2006/relationships/oleObject" Target="../embeddings/oleObject39.bin"/><Relationship Id="rId2" Type="http://schemas.openxmlformats.org/officeDocument/2006/relationships/tags" Target="../tags/tag176.xml"/><Relationship Id="rId1" Type="http://schemas.openxmlformats.org/officeDocument/2006/relationships/tags" Target="../tags/tag175.xml"/><Relationship Id="rId6" Type="http://schemas.openxmlformats.org/officeDocument/2006/relationships/notesSlide" Target="../notesSlides/notesSlide68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52.wmf"/><Relationship Id="rId4" Type="http://schemas.openxmlformats.org/officeDocument/2006/relationships/tags" Target="../tags/tag178.xml"/><Relationship Id="rId9" Type="http://schemas.openxmlformats.org/officeDocument/2006/relationships/oleObject" Target="../embeddings/oleObject40.bin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tags" Target="../tags/tag181.xml"/><Relationship Id="rId7" Type="http://schemas.openxmlformats.org/officeDocument/2006/relationships/oleObject" Target="../embeddings/oleObject41.bin"/><Relationship Id="rId2" Type="http://schemas.openxmlformats.org/officeDocument/2006/relationships/tags" Target="../tags/tag180.xml"/><Relationship Id="rId1" Type="http://schemas.openxmlformats.org/officeDocument/2006/relationships/tags" Target="../tags/tag179.xml"/><Relationship Id="rId6" Type="http://schemas.openxmlformats.org/officeDocument/2006/relationships/notesSlide" Target="../notesSlides/notesSlide69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54.wmf"/><Relationship Id="rId4" Type="http://schemas.openxmlformats.org/officeDocument/2006/relationships/tags" Target="../tags/tag182.xml"/><Relationship Id="rId9" Type="http://schemas.openxmlformats.org/officeDocument/2006/relationships/oleObject" Target="../embeddings/oleObject42.bin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4.xml"/><Relationship Id="rId1" Type="http://schemas.openxmlformats.org/officeDocument/2006/relationships/tags" Target="../tags/tag183.x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43.bin"/><Relationship Id="rId4" Type="http://schemas.openxmlformats.org/officeDocument/2006/relationships/notesSlide" Target="../notesSlides/notesSlide70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tags" Target="../tags/tag187.xml"/><Relationship Id="rId7" Type="http://schemas.openxmlformats.org/officeDocument/2006/relationships/oleObject" Target="../embeddings/oleObject44.bin"/><Relationship Id="rId2" Type="http://schemas.openxmlformats.org/officeDocument/2006/relationships/tags" Target="../tags/tag186.xml"/><Relationship Id="rId1" Type="http://schemas.openxmlformats.org/officeDocument/2006/relationships/tags" Target="../tags/tag185.xml"/><Relationship Id="rId6" Type="http://schemas.openxmlformats.org/officeDocument/2006/relationships/notesSlide" Target="../notesSlides/notesSlide71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33.wmf"/><Relationship Id="rId4" Type="http://schemas.openxmlformats.org/officeDocument/2006/relationships/tags" Target="../tags/tag188.xml"/><Relationship Id="rId9" Type="http://schemas.openxmlformats.org/officeDocument/2006/relationships/oleObject" Target="../embeddings/oleObject20.bin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tags" Target="../tags/tag191.xml"/><Relationship Id="rId7" Type="http://schemas.openxmlformats.org/officeDocument/2006/relationships/oleObject" Target="../embeddings/oleObject45.bin"/><Relationship Id="rId2" Type="http://schemas.openxmlformats.org/officeDocument/2006/relationships/tags" Target="../tags/tag190.xml"/><Relationship Id="rId1" Type="http://schemas.openxmlformats.org/officeDocument/2006/relationships/tags" Target="../tags/tag189.xml"/><Relationship Id="rId6" Type="http://schemas.openxmlformats.org/officeDocument/2006/relationships/notesSlide" Target="../notesSlides/notesSlide72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30.emf"/><Relationship Id="rId4" Type="http://schemas.openxmlformats.org/officeDocument/2006/relationships/tags" Target="../tags/tag192.xml"/><Relationship Id="rId9" Type="http://schemas.openxmlformats.org/officeDocument/2006/relationships/oleObject" Target="../embeddings/oleObject17.bin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4.xml"/><Relationship Id="rId1" Type="http://schemas.openxmlformats.org/officeDocument/2006/relationships/tags" Target="../tags/tag193.xml"/><Relationship Id="rId6" Type="http://schemas.openxmlformats.org/officeDocument/2006/relationships/image" Target="../media/image57.wmf"/><Relationship Id="rId5" Type="http://schemas.openxmlformats.org/officeDocument/2006/relationships/oleObject" Target="../embeddings/oleObject46.bin"/><Relationship Id="rId4" Type="http://schemas.openxmlformats.org/officeDocument/2006/relationships/notesSlide" Target="../notesSlides/notesSlide7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6.xml"/><Relationship Id="rId1" Type="http://schemas.openxmlformats.org/officeDocument/2006/relationships/tags" Target="../tags/tag195.x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47.bin"/><Relationship Id="rId4" Type="http://schemas.openxmlformats.org/officeDocument/2006/relationships/notesSlide" Target="../notesSlides/notesSlide7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8.xml"/><Relationship Id="rId1" Type="http://schemas.openxmlformats.org/officeDocument/2006/relationships/tags" Target="../tags/tag197.xml"/><Relationship Id="rId6" Type="http://schemas.openxmlformats.org/officeDocument/2006/relationships/image" Target="../media/image59.wmf"/><Relationship Id="rId5" Type="http://schemas.openxmlformats.org/officeDocument/2006/relationships/oleObject" Target="../embeddings/oleObject48.bin"/><Relationship Id="rId4" Type="http://schemas.openxmlformats.org/officeDocument/2006/relationships/notesSlide" Target="../notesSlides/notesSlide75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tags" Target="../tags/tag201.xml"/><Relationship Id="rId2" Type="http://schemas.openxmlformats.org/officeDocument/2006/relationships/tags" Target="../tags/tag200.xml"/><Relationship Id="rId1" Type="http://schemas.openxmlformats.org/officeDocument/2006/relationships/tags" Target="../tags/tag199.xml"/><Relationship Id="rId6" Type="http://schemas.openxmlformats.org/officeDocument/2006/relationships/image" Target="../media/image60.png"/><Relationship Id="rId5" Type="http://schemas.openxmlformats.org/officeDocument/2006/relationships/notesSlide" Target="../notesSlides/notesSlide76.xml"/><Relationship Id="rId4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3.xml"/><Relationship Id="rId1" Type="http://schemas.openxmlformats.org/officeDocument/2006/relationships/tags" Target="../tags/tag202.xml"/><Relationship Id="rId5" Type="http://schemas.openxmlformats.org/officeDocument/2006/relationships/image" Target="../media/image61.png"/><Relationship Id="rId4" Type="http://schemas.openxmlformats.org/officeDocument/2006/relationships/notesSlide" Target="../notesSlides/notesSlide7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4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6.xml"/><Relationship Id="rId1" Type="http://schemas.openxmlformats.org/officeDocument/2006/relationships/tags" Target="../tags/tag205.xml"/><Relationship Id="rId4" Type="http://schemas.openxmlformats.org/officeDocument/2006/relationships/notesSlide" Target="../notesSlides/notesSlide79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8.xml"/><Relationship Id="rId1" Type="http://schemas.openxmlformats.org/officeDocument/2006/relationships/tags" Target="../tags/tag207.xml"/><Relationship Id="rId4" Type="http://schemas.openxmlformats.org/officeDocument/2006/relationships/notesSlide" Target="../notesSlides/notesSlide80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57200" y="76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Chapter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743200"/>
            <a:ext cx="80772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i="1" dirty="0"/>
              <a:t>Digital Design and Computer Architecture</a:t>
            </a:r>
            <a:r>
              <a:rPr lang="en-US" sz="2600" b="1" dirty="0"/>
              <a:t>: ARM® Edition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3226713"/>
            <a:ext cx="8077200" cy="8930"/>
          </a:xfrm>
          <a:prstGeom prst="line">
            <a:avLst/>
          </a:prstGeom>
          <a:ln w="3492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191000" y="3226713"/>
            <a:ext cx="4724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Sarah L. Harris and David Money Harris</a:t>
            </a:r>
          </a:p>
        </p:txBody>
      </p:sp>
    </p:spTree>
    <p:extLst>
      <p:ext uri="{BB962C8B-B14F-4D97-AF65-F5344CB8AC3E}">
        <p14:creationId xmlns:p14="http://schemas.microsoft.com/office/powerpoint/2010/main" val="534681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5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916858" y="1371600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b="1" dirty="0"/>
              <a:t>Background</a:t>
            </a:r>
          </a:p>
          <a:p>
            <a:pPr eaLnBrk="1" hangingPunct="1"/>
            <a:r>
              <a:rPr lang="en-US" b="1" dirty="0">
                <a:hlinkClick r:id="rId4" action="ppaction://hlinksldjump"/>
              </a:rPr>
              <a:t>The Game Plan</a:t>
            </a:r>
            <a:endParaRPr lang="en-US" dirty="0"/>
          </a:p>
          <a:p>
            <a:pPr eaLnBrk="1" hangingPunct="1"/>
            <a:r>
              <a:rPr lang="en-US" b="1" dirty="0">
                <a:hlinkClick r:id="rId5" action="ppaction://hlinksldjump"/>
              </a:rPr>
              <a:t>The Art of Managing Complexity</a:t>
            </a:r>
            <a:endParaRPr lang="en-US" dirty="0"/>
          </a:p>
          <a:p>
            <a:pPr eaLnBrk="1" hangingPunct="1"/>
            <a:r>
              <a:rPr lang="en-US" b="1" dirty="0"/>
              <a:t>The Digital Abstraction</a:t>
            </a:r>
            <a:endParaRPr lang="en-US" dirty="0"/>
          </a:p>
          <a:p>
            <a:pPr eaLnBrk="1" hangingPunct="1"/>
            <a:r>
              <a:rPr lang="en-US" b="1" dirty="0"/>
              <a:t>Number Systems</a:t>
            </a:r>
            <a:endParaRPr lang="en-US" dirty="0"/>
          </a:p>
          <a:p>
            <a:pPr eaLnBrk="1" hangingPunct="1"/>
            <a:r>
              <a:rPr lang="en-US" b="1" dirty="0">
                <a:hlinkClick r:id="rId6" action="ppaction://hlinksldjump"/>
              </a:rPr>
              <a:t>Logic Gates</a:t>
            </a:r>
            <a:endParaRPr lang="en-US" dirty="0"/>
          </a:p>
          <a:p>
            <a:pPr eaLnBrk="1" hangingPunct="1"/>
            <a:r>
              <a:rPr lang="en-US" b="1" dirty="0">
                <a:hlinkClick r:id="rId7" action="ppaction://hlinksldjump"/>
              </a:rPr>
              <a:t>Logic Levels</a:t>
            </a:r>
            <a:endParaRPr lang="en-US" dirty="0"/>
          </a:p>
          <a:p>
            <a:pPr eaLnBrk="1" hangingPunct="1"/>
            <a:r>
              <a:rPr lang="en-US" b="1" dirty="0"/>
              <a:t>CMOS Transistors</a:t>
            </a:r>
            <a:endParaRPr lang="en-US" dirty="0"/>
          </a:p>
          <a:p>
            <a:pPr eaLnBrk="1" hangingPunct="1"/>
            <a:r>
              <a:rPr lang="en-US" b="1" dirty="0"/>
              <a:t>Power Consumption</a:t>
            </a:r>
            <a:endParaRPr lang="en-US" dirty="0"/>
          </a:p>
          <a:p>
            <a:pPr eaLnBrk="1" hangingPunct="1"/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Chapter 1 :: Topics</a:t>
            </a:r>
          </a:p>
        </p:txBody>
      </p:sp>
    </p:spTree>
    <p:extLst>
      <p:ext uri="{BB962C8B-B14F-4D97-AF65-F5344CB8AC3E}">
        <p14:creationId xmlns:p14="http://schemas.microsoft.com/office/powerpoint/2010/main" val="737524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https://encrypted-tbn0.gstatic.com/images?q=tbn:ANd9GcSzT8e8hJI1F1NrpqvsckecSRkhEwaoV1Oy6HFbiTjh3_4ztjrR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6744" y="2882462"/>
            <a:ext cx="3569056" cy="202406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630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533400" y="1066800"/>
            <a:ext cx="7772400" cy="49530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600" dirty="0"/>
              <a:t>Microprocessors have revolutionized our world</a:t>
            </a:r>
          </a:p>
          <a:p>
            <a:pPr lvl="1" eaLnBrk="1" hangingPunct="1"/>
            <a:r>
              <a:rPr lang="en-US" sz="2200" dirty="0"/>
              <a:t>Cell phones, Internet, rapid advances in medicine, etc.</a:t>
            </a:r>
          </a:p>
          <a:p>
            <a:pPr eaLnBrk="1" hangingPunct="1"/>
            <a:r>
              <a:rPr lang="en-US" sz="2600" dirty="0"/>
              <a:t>The semiconductor industry has grown from $21 billion in 1985 to $306 billion in 2013</a:t>
            </a:r>
          </a:p>
        </p:txBody>
      </p:sp>
      <p:pic>
        <p:nvPicPr>
          <p:cNvPr id="26631" name="Picture 11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0649" y="3353622"/>
            <a:ext cx="2439495" cy="2459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Background</a:t>
            </a:r>
          </a:p>
        </p:txBody>
      </p:sp>
      <p:pic>
        <p:nvPicPr>
          <p:cNvPr id="26632" name="Picture 4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144" y="2819400"/>
            <a:ext cx="1864450" cy="28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68970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3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533400" y="1189037"/>
            <a:ext cx="8229600" cy="4525963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b="1" dirty="0"/>
              <a:t>Purpose of course:</a:t>
            </a:r>
          </a:p>
          <a:p>
            <a:r>
              <a:rPr lang="en-US" sz="2800" dirty="0"/>
              <a:t>Understand what’s under the hood of a computer</a:t>
            </a:r>
          </a:p>
          <a:p>
            <a:r>
              <a:rPr lang="en-US" sz="2800" dirty="0"/>
              <a:t>Learn the principles of digital design</a:t>
            </a:r>
          </a:p>
          <a:p>
            <a:r>
              <a:rPr lang="en-US" sz="2800" dirty="0"/>
              <a:t>Learn to systematically debug increasingly complex designs </a:t>
            </a:r>
          </a:p>
          <a:p>
            <a:r>
              <a:rPr lang="en-US" sz="2800" dirty="0"/>
              <a:t>Design and build a microprocessor</a:t>
            </a:r>
          </a:p>
          <a:p>
            <a:pPr lvl="1" eaLnBrk="1" hangingPunct="1"/>
            <a:endParaRPr lang="en-US" dirty="0"/>
          </a:p>
          <a:p>
            <a:pPr eaLnBrk="1" hangingPunct="1">
              <a:buFontTx/>
              <a:buNone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The Game Plan</a:t>
            </a:r>
          </a:p>
        </p:txBody>
      </p:sp>
    </p:spTree>
    <p:extLst>
      <p:ext uri="{BB962C8B-B14F-4D97-AF65-F5344CB8AC3E}">
        <p14:creationId xmlns:p14="http://schemas.microsoft.com/office/powerpoint/2010/main" val="1826218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7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533400" y="114300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Abstraction</a:t>
            </a:r>
          </a:p>
          <a:p>
            <a:pPr eaLnBrk="1" hangingPunct="1"/>
            <a:r>
              <a:rPr lang="en-US" dirty="0"/>
              <a:t>Discipline</a:t>
            </a:r>
          </a:p>
          <a:p>
            <a:pPr eaLnBrk="1" hangingPunct="1"/>
            <a:r>
              <a:rPr lang="en-US" dirty="0"/>
              <a:t>The Three –y’s</a:t>
            </a:r>
          </a:p>
          <a:p>
            <a:pPr lvl="1" eaLnBrk="1" hangingPunct="1"/>
            <a:r>
              <a:rPr lang="en-US" dirty="0"/>
              <a:t>Hierarch</a:t>
            </a:r>
            <a:r>
              <a:rPr lang="en-US" b="1" dirty="0">
                <a:solidFill>
                  <a:srgbClr val="0070C0"/>
                </a:solidFill>
              </a:rPr>
              <a:t>y</a:t>
            </a:r>
          </a:p>
          <a:p>
            <a:pPr lvl="1" eaLnBrk="1" hangingPunct="1"/>
            <a:r>
              <a:rPr lang="en-US" dirty="0"/>
              <a:t>Modularit</a:t>
            </a:r>
            <a:r>
              <a:rPr lang="en-US" b="1" dirty="0">
                <a:solidFill>
                  <a:srgbClr val="0070C0"/>
                </a:solidFill>
              </a:rPr>
              <a:t>y</a:t>
            </a:r>
          </a:p>
          <a:p>
            <a:pPr lvl="1" eaLnBrk="1" hangingPunct="1"/>
            <a:r>
              <a:rPr lang="en-US" dirty="0"/>
              <a:t>Regularit</a:t>
            </a:r>
            <a:r>
              <a:rPr lang="en-US" b="1" dirty="0">
                <a:solidFill>
                  <a:srgbClr val="0070C0"/>
                </a:solidFill>
              </a:rPr>
              <a:t>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The Art of Managing Complexity</a:t>
            </a:r>
          </a:p>
        </p:txBody>
      </p:sp>
    </p:spTree>
    <p:extLst>
      <p:ext uri="{BB962C8B-B14F-4D97-AF65-F5344CB8AC3E}">
        <p14:creationId xmlns:p14="http://schemas.microsoft.com/office/powerpoint/2010/main" val="957641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29702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81000" y="1181100"/>
            <a:ext cx="44196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3200" dirty="0">
                <a:latin typeface="+mj-lt"/>
              </a:rPr>
              <a:t>Hiding details when they aren’t important</a:t>
            </a:r>
          </a:p>
        </p:txBody>
      </p:sp>
      <p:pic>
        <p:nvPicPr>
          <p:cNvPr id="29707" name="Picture 1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7369" y="998227"/>
            <a:ext cx="3528431" cy="4869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Abstraction</a:t>
            </a:r>
          </a:p>
        </p:txBody>
      </p:sp>
    </p:spTree>
    <p:extLst>
      <p:ext uri="{BB962C8B-B14F-4D97-AF65-F5344CB8AC3E}">
        <p14:creationId xmlns:p14="http://schemas.microsoft.com/office/powerpoint/2010/main" val="84305512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31750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09600" y="1219200"/>
            <a:ext cx="83058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</a:rPr>
              <a:t>Hierarchy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800" dirty="0">
                <a:latin typeface="+mj-lt"/>
              </a:rPr>
              <a:t>A system divided into modules and </a:t>
            </a:r>
            <a:r>
              <a:rPr lang="en-US" sz="2800" dirty="0" err="1">
                <a:latin typeface="+mj-lt"/>
              </a:rPr>
              <a:t>submodules</a:t>
            </a:r>
            <a:endParaRPr lang="en-US" sz="2800" dirty="0">
              <a:latin typeface="+mj-lt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</a:rPr>
              <a:t>Modularity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800" dirty="0">
                <a:latin typeface="+mj-lt"/>
              </a:rPr>
              <a:t>Having well-defined functions and interfaces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</a:rPr>
              <a:t>Regularity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800" dirty="0">
                <a:latin typeface="+mj-lt"/>
              </a:rPr>
              <a:t>Encouraging uniformity, so modules can be easily reused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dirty="0"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The Three -y’s</a:t>
            </a:r>
          </a:p>
        </p:txBody>
      </p:sp>
      <p:sp>
        <p:nvSpPr>
          <p:cNvPr id="2" name="Rectangle 1"/>
          <p:cNvSpPr/>
          <p:nvPr/>
        </p:nvSpPr>
        <p:spPr>
          <a:xfrm>
            <a:off x="1447800" y="4114800"/>
            <a:ext cx="7162800" cy="838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447800" y="2971800"/>
            <a:ext cx="7162800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447800" y="1828800"/>
            <a:ext cx="7162800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5195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32774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09600" y="1219200"/>
            <a:ext cx="38100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</a:rPr>
              <a:t>Hierarchy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3200" b="1" dirty="0">
                <a:latin typeface="+mj-lt"/>
              </a:rPr>
              <a:t>Three main modules: </a:t>
            </a:r>
            <a:r>
              <a:rPr lang="en-US" sz="3200" dirty="0">
                <a:latin typeface="+mj-lt"/>
              </a:rPr>
              <a:t>lock, stock, and barrel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3200" b="1" dirty="0" err="1">
                <a:latin typeface="+mj-lt"/>
              </a:rPr>
              <a:t>Submodules</a:t>
            </a:r>
            <a:r>
              <a:rPr lang="en-US" sz="3200" b="1" dirty="0">
                <a:latin typeface="+mj-lt"/>
              </a:rPr>
              <a:t> of lock: </a:t>
            </a:r>
            <a:r>
              <a:rPr lang="en-US" sz="3200" dirty="0">
                <a:latin typeface="+mj-lt"/>
              </a:rPr>
              <a:t>hammer, flint, </a:t>
            </a:r>
            <a:r>
              <a:rPr lang="en-US" sz="3200" dirty="0" err="1">
                <a:latin typeface="+mj-lt"/>
              </a:rPr>
              <a:t>frizzen</a:t>
            </a:r>
            <a:r>
              <a:rPr lang="en-US" sz="3200" dirty="0">
                <a:latin typeface="+mj-lt"/>
              </a:rPr>
              <a:t>, etc. </a:t>
            </a:r>
          </a:p>
        </p:txBody>
      </p:sp>
      <p:pic>
        <p:nvPicPr>
          <p:cNvPr id="32775" name="Picture 5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524000"/>
            <a:ext cx="4495800" cy="3795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Example: The Flintlock Rifle</a:t>
            </a:r>
          </a:p>
        </p:txBody>
      </p:sp>
    </p:spTree>
    <p:extLst>
      <p:ext uri="{BB962C8B-B14F-4D97-AF65-F5344CB8AC3E}">
        <p14:creationId xmlns:p14="http://schemas.microsoft.com/office/powerpoint/2010/main" val="99429956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33798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990600"/>
            <a:ext cx="3886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</a:rPr>
              <a:t>Modularity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800" b="1" dirty="0">
                <a:latin typeface="+mj-lt"/>
              </a:rPr>
              <a:t>Function of stock: </a:t>
            </a:r>
            <a:r>
              <a:rPr lang="en-US" sz="2800" dirty="0">
                <a:latin typeface="+mj-lt"/>
              </a:rPr>
              <a:t>mount barrel and lock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800" b="1" dirty="0">
                <a:latin typeface="+mj-lt"/>
              </a:rPr>
              <a:t>Interface of stock: </a:t>
            </a:r>
            <a:r>
              <a:rPr lang="en-US" sz="2800" dirty="0">
                <a:latin typeface="+mj-lt"/>
              </a:rPr>
              <a:t>length and location of mounting pins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</a:rPr>
              <a:t>Regularity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800" dirty="0">
                <a:latin typeface="+mj-lt"/>
              </a:rPr>
              <a:t>Interchangeable parts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800" dirty="0">
              <a:latin typeface="+mj-lt"/>
            </a:endParaRPr>
          </a:p>
        </p:txBody>
      </p:sp>
      <p:pic>
        <p:nvPicPr>
          <p:cNvPr id="33799" name="Picture 5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524000"/>
            <a:ext cx="4495800" cy="3795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Example: The Flintlock Rifle</a:t>
            </a:r>
          </a:p>
        </p:txBody>
      </p:sp>
    </p:spTree>
    <p:extLst>
      <p:ext uri="{BB962C8B-B14F-4D97-AF65-F5344CB8AC3E}">
        <p14:creationId xmlns:p14="http://schemas.microsoft.com/office/powerpoint/2010/main" val="180372471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30726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09600" y="1219200"/>
            <a:ext cx="78867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Intentionally restrict design choices 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Example: Digital discipline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800" dirty="0">
                <a:latin typeface="+mj-lt"/>
              </a:rPr>
              <a:t>Discrete voltages instead of continuous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800" dirty="0">
                <a:latin typeface="+mj-lt"/>
              </a:rPr>
              <a:t>Simpler to design than analog circuits – can build more sophisticated systems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800" dirty="0">
                <a:latin typeface="+mj-lt"/>
              </a:rPr>
              <a:t>Digital systems replacing analog predecessors: i.e., digital cameras, digital television, cell phones, CDs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Discipline</a:t>
            </a:r>
          </a:p>
        </p:txBody>
      </p:sp>
    </p:spTree>
    <p:extLst>
      <p:ext uri="{BB962C8B-B14F-4D97-AF65-F5344CB8AC3E}">
        <p14:creationId xmlns:p14="http://schemas.microsoft.com/office/powerpoint/2010/main" val="66676615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1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533400" y="1219200"/>
            <a:ext cx="7488115" cy="4525963"/>
          </a:xfrm>
        </p:spPr>
        <p:txBody>
          <a:bodyPr/>
          <a:lstStyle/>
          <a:p>
            <a:pPr eaLnBrk="1" hangingPunct="1"/>
            <a:r>
              <a:rPr lang="en-US" dirty="0"/>
              <a:t>Most physical variables are </a:t>
            </a:r>
            <a:r>
              <a:rPr lang="en-US" b="1" dirty="0"/>
              <a:t>continuous</a:t>
            </a:r>
          </a:p>
          <a:p>
            <a:pPr lvl="1" eaLnBrk="1" hangingPunct="1"/>
            <a:r>
              <a:rPr lang="en-US" dirty="0"/>
              <a:t>Voltage on a wire</a:t>
            </a:r>
          </a:p>
          <a:p>
            <a:pPr lvl="1" eaLnBrk="1" hangingPunct="1"/>
            <a:r>
              <a:rPr lang="en-US" dirty="0"/>
              <a:t>Frequency of an oscillation</a:t>
            </a:r>
          </a:p>
          <a:p>
            <a:pPr lvl="1" eaLnBrk="1" hangingPunct="1"/>
            <a:r>
              <a:rPr lang="en-US" dirty="0"/>
              <a:t>Position of a mass</a:t>
            </a:r>
          </a:p>
          <a:p>
            <a:pPr eaLnBrk="1" hangingPunct="1"/>
            <a:r>
              <a:rPr lang="en-US" dirty="0"/>
              <a:t>Digital abstraction considers </a:t>
            </a:r>
            <a:r>
              <a:rPr lang="en-US" b="1" dirty="0"/>
              <a:t>discrete subset</a:t>
            </a:r>
            <a:r>
              <a:rPr lang="en-US" dirty="0"/>
              <a:t> of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The Digital Abstraction</a:t>
            </a:r>
          </a:p>
        </p:txBody>
      </p:sp>
    </p:spTree>
    <p:extLst>
      <p:ext uri="{BB962C8B-B14F-4D97-AF65-F5344CB8AC3E}">
        <p14:creationId xmlns:p14="http://schemas.microsoft.com/office/powerpoint/2010/main" val="2102651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533400" y="1066800"/>
            <a:ext cx="4953000" cy="49530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3000" dirty="0"/>
              <a:t>Designed by Charles Babbage from 1834 – 1871</a:t>
            </a:r>
          </a:p>
          <a:p>
            <a:pPr eaLnBrk="1" hangingPunct="1">
              <a:lnSpc>
                <a:spcPct val="90000"/>
              </a:lnSpc>
            </a:pPr>
            <a:r>
              <a:rPr lang="en-US" sz="3000" dirty="0"/>
              <a:t>Considered to be the first digital computer</a:t>
            </a:r>
          </a:p>
          <a:p>
            <a:pPr eaLnBrk="1" hangingPunct="1">
              <a:lnSpc>
                <a:spcPct val="90000"/>
              </a:lnSpc>
            </a:pPr>
            <a:r>
              <a:rPr lang="en-US" sz="3000" dirty="0"/>
              <a:t>Built from mechanical gears, where each gear represented a discrete value (0-9)</a:t>
            </a:r>
          </a:p>
          <a:p>
            <a:pPr eaLnBrk="1" hangingPunct="1">
              <a:lnSpc>
                <a:spcPct val="90000"/>
              </a:lnSpc>
            </a:pPr>
            <a:r>
              <a:rPr lang="en-US" sz="3000" dirty="0"/>
              <a:t>Babbage died before it was finished</a:t>
            </a:r>
          </a:p>
        </p:txBody>
      </p:sp>
      <p:pic>
        <p:nvPicPr>
          <p:cNvPr id="35846" name="Picture 4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307" y="990600"/>
            <a:ext cx="2711768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847" name="Picture 5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3991" y="3823459"/>
            <a:ext cx="1676400" cy="1972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The Analytical Engine</a:t>
            </a:r>
          </a:p>
        </p:txBody>
      </p:sp>
    </p:spTree>
    <p:extLst>
      <p:ext uri="{BB962C8B-B14F-4D97-AF65-F5344CB8AC3E}">
        <p14:creationId xmlns:p14="http://schemas.microsoft.com/office/powerpoint/2010/main" val="4192117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04800" y="1143000"/>
            <a:ext cx="5553075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+mj-lt"/>
              </a:rPr>
              <a:t>Born to working class parents</a:t>
            </a:r>
          </a:p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+mj-lt"/>
              </a:rPr>
              <a:t>Taught himself mathematics and joined the faculty of Queen’s College in Ireland </a:t>
            </a:r>
          </a:p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+mj-lt"/>
              </a:rPr>
              <a:t>Wrote </a:t>
            </a:r>
            <a:r>
              <a:rPr lang="en-US" sz="2800" i="1" dirty="0">
                <a:latin typeface="+mj-lt"/>
              </a:rPr>
              <a:t>An Investigation of the Laws of Thought</a:t>
            </a:r>
            <a:r>
              <a:rPr lang="en-US" sz="2800" dirty="0">
                <a:latin typeface="+mj-lt"/>
              </a:rPr>
              <a:t> (1854)</a:t>
            </a:r>
          </a:p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+mj-lt"/>
              </a:rPr>
              <a:t>Introduced binary variables</a:t>
            </a:r>
          </a:p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+mj-lt"/>
              </a:rPr>
              <a:t>Introduced the three fundamental logic operations: AND, OR, and NOT</a:t>
            </a:r>
          </a:p>
        </p:txBody>
      </p:sp>
      <p:sp>
        <p:nvSpPr>
          <p:cNvPr id="37893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pic>
        <p:nvPicPr>
          <p:cNvPr id="37895" name="Picture 9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6475" y="1676400"/>
            <a:ext cx="2571750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George Boole, 1815-1864</a:t>
            </a:r>
          </a:p>
        </p:txBody>
      </p:sp>
    </p:spTree>
    <p:extLst>
      <p:ext uri="{BB962C8B-B14F-4D97-AF65-F5344CB8AC3E}">
        <p14:creationId xmlns:p14="http://schemas.microsoft.com/office/powerpoint/2010/main" val="387064679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9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533400" y="1143000"/>
            <a:ext cx="8229600" cy="4525963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b="1" dirty="0"/>
              <a:t>Two discrete values:</a:t>
            </a:r>
          </a:p>
          <a:p>
            <a:pPr lvl="1" eaLnBrk="1" hangingPunct="1"/>
            <a:r>
              <a:rPr lang="en-US" dirty="0"/>
              <a:t>1’s and 0’s</a:t>
            </a:r>
          </a:p>
          <a:p>
            <a:pPr lvl="1" eaLnBrk="1" hangingPunct="1"/>
            <a:r>
              <a:rPr lang="en-US" dirty="0"/>
              <a:t>1, TRUE, HIGH</a:t>
            </a:r>
          </a:p>
          <a:p>
            <a:pPr lvl="1" eaLnBrk="1" hangingPunct="1"/>
            <a:r>
              <a:rPr lang="en-US" dirty="0"/>
              <a:t>0, FALSE, LOW</a:t>
            </a:r>
          </a:p>
          <a:p>
            <a:pPr eaLnBrk="1" hangingPunct="1"/>
            <a:r>
              <a:rPr lang="en-US" b="1" dirty="0"/>
              <a:t>1 and 0: </a:t>
            </a:r>
            <a:r>
              <a:rPr lang="en-US" dirty="0"/>
              <a:t>voltage levels, rotating gears, fluid levels, etc. </a:t>
            </a:r>
          </a:p>
          <a:p>
            <a:pPr eaLnBrk="1" hangingPunct="1"/>
            <a:r>
              <a:rPr lang="en-US" dirty="0"/>
              <a:t>Digital circuits use </a:t>
            </a:r>
            <a:r>
              <a:rPr lang="en-US" b="1" dirty="0"/>
              <a:t>voltage</a:t>
            </a:r>
            <a:r>
              <a:rPr lang="en-US" dirty="0"/>
              <a:t> levels to represent 1 and 0</a:t>
            </a:r>
            <a:endParaRPr lang="en-US" i="1" dirty="0"/>
          </a:p>
          <a:p>
            <a:pPr eaLnBrk="1" hangingPunct="1"/>
            <a:r>
              <a:rPr lang="en-US" b="1" i="1" dirty="0"/>
              <a:t>Bit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i="1" dirty="0"/>
              <a:t>B</a:t>
            </a:r>
            <a:r>
              <a:rPr lang="en-US" dirty="0"/>
              <a:t>inary dig</a:t>
            </a:r>
            <a:r>
              <a:rPr lang="en-US" i="1" dirty="0"/>
              <a:t>it</a:t>
            </a:r>
            <a:endParaRPr lang="en-US" dirty="0"/>
          </a:p>
          <a:p>
            <a:pPr eaLnBrk="1" hangingPunct="1">
              <a:buFontTx/>
              <a:buNone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Digital Discipline: Binary Values</a:t>
            </a:r>
          </a:p>
        </p:txBody>
      </p:sp>
    </p:spTree>
    <p:extLst>
      <p:ext uri="{BB962C8B-B14F-4D97-AF65-F5344CB8AC3E}">
        <p14:creationId xmlns:p14="http://schemas.microsoft.com/office/powerpoint/2010/main" val="3457452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1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533400" y="1295400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b="1" i="1" dirty="0"/>
              <a:t>N</a:t>
            </a:r>
            <a:r>
              <a:rPr lang="en-US" b="1" dirty="0"/>
              <a:t>-digit decimal number 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How many values? </a:t>
            </a:r>
            <a:r>
              <a:rPr lang="en-US" b="1" dirty="0">
                <a:solidFill>
                  <a:schemeClr val="accent1"/>
                </a:solidFill>
              </a:rPr>
              <a:t>10</a:t>
            </a:r>
            <a:r>
              <a:rPr lang="en-US" b="1" i="1" baseline="30000" dirty="0">
                <a:solidFill>
                  <a:schemeClr val="accent1"/>
                </a:solidFill>
              </a:rPr>
              <a:t>N</a:t>
            </a:r>
            <a:endParaRPr lang="en-US" b="1" dirty="0">
              <a:solidFill>
                <a:schemeClr val="accent1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Range?  </a:t>
            </a:r>
            <a:r>
              <a:rPr lang="en-US" b="1" dirty="0">
                <a:solidFill>
                  <a:schemeClr val="accent1"/>
                </a:solidFill>
              </a:rPr>
              <a:t>[0, 10</a:t>
            </a:r>
            <a:r>
              <a:rPr lang="en-US" b="1" i="1" baseline="30000" dirty="0">
                <a:solidFill>
                  <a:schemeClr val="accent1"/>
                </a:solidFill>
              </a:rPr>
              <a:t>N</a:t>
            </a:r>
            <a:r>
              <a:rPr lang="en-US" b="1" dirty="0">
                <a:solidFill>
                  <a:schemeClr val="accent1"/>
                </a:solidFill>
              </a:rPr>
              <a:t> - 1]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Example: 3-digit decimal number: </a:t>
            </a:r>
          </a:p>
          <a:p>
            <a:pPr lvl="2" eaLnBrk="1" hangingPunct="1">
              <a:lnSpc>
                <a:spcPct val="90000"/>
              </a:lnSpc>
            </a:pPr>
            <a:r>
              <a:rPr lang="en-US" b="1" dirty="0">
                <a:solidFill>
                  <a:schemeClr val="accent1"/>
                </a:solidFill>
              </a:rPr>
              <a:t>10</a:t>
            </a:r>
            <a:r>
              <a:rPr lang="en-US" b="1" baseline="30000" dirty="0">
                <a:solidFill>
                  <a:schemeClr val="accent1"/>
                </a:solidFill>
              </a:rPr>
              <a:t>3</a:t>
            </a:r>
            <a:r>
              <a:rPr lang="en-US" b="1" dirty="0">
                <a:solidFill>
                  <a:schemeClr val="accent1"/>
                </a:solidFill>
              </a:rPr>
              <a:t> = 1000 possible values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b="1" dirty="0">
                <a:solidFill>
                  <a:schemeClr val="accent1"/>
                </a:solidFill>
              </a:rPr>
              <a:t>Range: [0, 999]</a:t>
            </a:r>
          </a:p>
          <a:p>
            <a:pPr lvl="2" eaLnBrk="1" hangingPunct="1">
              <a:lnSpc>
                <a:spcPct val="90000"/>
              </a:lnSpc>
            </a:pPr>
            <a:endParaRPr lang="en-US" b="1" dirty="0">
              <a:solidFill>
                <a:schemeClr val="accent1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b="1" i="1" dirty="0"/>
              <a:t>N</a:t>
            </a:r>
            <a:r>
              <a:rPr lang="en-US" b="1" dirty="0"/>
              <a:t>-bit binary number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How many values? </a:t>
            </a:r>
            <a:r>
              <a:rPr lang="en-US" b="1" dirty="0">
                <a:solidFill>
                  <a:schemeClr val="accent1"/>
                </a:solidFill>
              </a:rPr>
              <a:t>2</a:t>
            </a:r>
            <a:r>
              <a:rPr lang="en-US" b="1" i="1" baseline="30000" dirty="0">
                <a:solidFill>
                  <a:schemeClr val="accent1"/>
                </a:solidFill>
              </a:rPr>
              <a:t>N</a:t>
            </a:r>
            <a:endParaRPr lang="en-US" b="1" dirty="0">
              <a:solidFill>
                <a:schemeClr val="accent1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Range: </a:t>
            </a:r>
            <a:r>
              <a:rPr lang="en-US" b="1" dirty="0">
                <a:solidFill>
                  <a:schemeClr val="accent1"/>
                </a:solidFill>
              </a:rPr>
              <a:t>[0, 2</a:t>
            </a:r>
            <a:r>
              <a:rPr lang="en-US" b="1" i="1" baseline="30000" dirty="0">
                <a:solidFill>
                  <a:schemeClr val="accent1"/>
                </a:solidFill>
              </a:rPr>
              <a:t>N</a:t>
            </a:r>
            <a:r>
              <a:rPr lang="en-US" b="1" dirty="0">
                <a:solidFill>
                  <a:schemeClr val="accent1"/>
                </a:solidFill>
              </a:rPr>
              <a:t> - 1]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Example: 3-digit binary number:</a:t>
            </a:r>
          </a:p>
          <a:p>
            <a:pPr lvl="2" eaLnBrk="1" hangingPunct="1">
              <a:lnSpc>
                <a:spcPct val="90000"/>
              </a:lnSpc>
            </a:pPr>
            <a:r>
              <a:rPr lang="en-US" b="1" dirty="0">
                <a:solidFill>
                  <a:schemeClr val="accent1"/>
                </a:solidFill>
              </a:rPr>
              <a:t>2</a:t>
            </a:r>
            <a:r>
              <a:rPr lang="en-US" b="1" baseline="30000" dirty="0">
                <a:solidFill>
                  <a:schemeClr val="accent1"/>
                </a:solidFill>
              </a:rPr>
              <a:t>3</a:t>
            </a:r>
            <a:r>
              <a:rPr lang="en-US" b="1" dirty="0">
                <a:solidFill>
                  <a:schemeClr val="accent1"/>
                </a:solidFill>
              </a:rPr>
              <a:t> = 8 possible values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b="1" dirty="0">
                <a:solidFill>
                  <a:schemeClr val="accent1"/>
                </a:solidFill>
              </a:rPr>
              <a:t>Range: [0, 7] = [000</a:t>
            </a:r>
            <a:r>
              <a:rPr lang="en-US" b="1" baseline="-25000" dirty="0">
                <a:solidFill>
                  <a:schemeClr val="accent1"/>
                </a:solidFill>
              </a:rPr>
              <a:t>2</a:t>
            </a:r>
            <a:r>
              <a:rPr lang="en-US" b="1" dirty="0">
                <a:solidFill>
                  <a:schemeClr val="accent1"/>
                </a:solidFill>
              </a:rPr>
              <a:t> to 111</a:t>
            </a:r>
            <a:r>
              <a:rPr lang="en-US" b="1" baseline="-25000" dirty="0">
                <a:solidFill>
                  <a:schemeClr val="accent1"/>
                </a:solidFill>
              </a:rPr>
              <a:t>2</a:t>
            </a:r>
            <a:r>
              <a:rPr lang="en-US" b="1" dirty="0">
                <a:solidFill>
                  <a:schemeClr val="accent1"/>
                </a:solidFill>
              </a:rPr>
              <a:t>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Binary Values and Range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962400" y="1676400"/>
            <a:ext cx="4191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514600" y="2057400"/>
            <a:ext cx="4191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676400" y="2743200"/>
            <a:ext cx="4191000" cy="60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962400" y="4114800"/>
            <a:ext cx="4191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362200" y="4419600"/>
            <a:ext cx="4191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676400" y="5181600"/>
            <a:ext cx="4191000" cy="60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884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943" name="Object 5"/>
          <p:cNvGraphicFramePr>
            <a:graphicFrameLocks noGrp="1" noChangeAspect="1"/>
          </p:cNvGraphicFramePr>
          <p:nvPr>
            <p:ph sz="half"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94602515"/>
              </p:ext>
            </p:extLst>
          </p:nvPr>
        </p:nvGraphicFramePr>
        <p:xfrm>
          <a:off x="971550" y="1614488"/>
          <a:ext cx="7562850" cy="227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3546348" imgH="1112520" progId="Visio.Drawing.6">
                  <p:embed/>
                </p:oleObj>
              </mc:Choice>
              <mc:Fallback>
                <p:oleObj name="VISIO" r:id="rId7" imgW="3546348" imgH="11125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614488"/>
                        <a:ext cx="7562850" cy="227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4" name="Object 6"/>
          <p:cNvGraphicFramePr>
            <a:graphicFrameLocks noGrp="1" noChangeAspect="1"/>
          </p:cNvGraphicFramePr>
          <p:nvPr>
            <p:ph sz="quarter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1990317"/>
              </p:ext>
            </p:extLst>
          </p:nvPr>
        </p:nvGraphicFramePr>
        <p:xfrm>
          <a:off x="914400" y="4203700"/>
          <a:ext cx="7620000" cy="196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3546348" imgH="955548" progId="Visio.Drawing.6">
                  <p:embed/>
                </p:oleObj>
              </mc:Choice>
              <mc:Fallback>
                <p:oleObj name="VISIO" r:id="rId9" imgW="3546348" imgH="955548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203700"/>
                        <a:ext cx="7620000" cy="196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1" name="Rectangle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33400" y="11430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Decimal numbers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1000" dirty="0">
              <a:latin typeface="+mj-lt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Binary numbers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Number Systems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48000" y="4800600"/>
            <a:ext cx="5715000" cy="1066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2175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906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2</a:t>
            </a:r>
            <a:r>
              <a:rPr lang="en-US" sz="3200" baseline="30000" dirty="0">
                <a:latin typeface="+mj-lt"/>
              </a:rPr>
              <a:t>0</a:t>
            </a:r>
            <a:r>
              <a:rPr lang="en-US" sz="3200" dirty="0">
                <a:latin typeface="+mj-lt"/>
              </a:rPr>
              <a:t> = 1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2</a:t>
            </a:r>
            <a:r>
              <a:rPr lang="en-US" sz="3200" baseline="30000" dirty="0">
                <a:latin typeface="+mj-lt"/>
              </a:rPr>
              <a:t>1</a:t>
            </a:r>
            <a:r>
              <a:rPr lang="en-US" sz="3200" dirty="0">
                <a:latin typeface="+mj-lt"/>
              </a:rPr>
              <a:t> = 2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2</a:t>
            </a:r>
            <a:r>
              <a:rPr lang="en-US" sz="3200" baseline="30000" dirty="0">
                <a:latin typeface="+mj-lt"/>
              </a:rPr>
              <a:t>2</a:t>
            </a:r>
            <a:r>
              <a:rPr lang="en-US" sz="3200" dirty="0">
                <a:latin typeface="+mj-lt"/>
              </a:rPr>
              <a:t> = 4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2</a:t>
            </a:r>
            <a:r>
              <a:rPr lang="en-US" sz="3200" baseline="30000" dirty="0">
                <a:latin typeface="+mj-lt"/>
              </a:rPr>
              <a:t>3</a:t>
            </a:r>
            <a:r>
              <a:rPr lang="en-US" sz="3200" dirty="0">
                <a:latin typeface="+mj-lt"/>
              </a:rPr>
              <a:t> = 8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2</a:t>
            </a:r>
            <a:r>
              <a:rPr lang="en-US" sz="3200" baseline="30000" dirty="0">
                <a:latin typeface="+mj-lt"/>
              </a:rPr>
              <a:t>4</a:t>
            </a:r>
            <a:r>
              <a:rPr lang="en-US" sz="3200" dirty="0">
                <a:latin typeface="+mj-lt"/>
              </a:rPr>
              <a:t> = 16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2</a:t>
            </a:r>
            <a:r>
              <a:rPr lang="en-US" sz="3200" baseline="30000" dirty="0">
                <a:latin typeface="+mj-lt"/>
              </a:rPr>
              <a:t>5</a:t>
            </a:r>
            <a:r>
              <a:rPr lang="en-US" sz="3200" dirty="0">
                <a:latin typeface="+mj-lt"/>
              </a:rPr>
              <a:t> = 32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2</a:t>
            </a:r>
            <a:r>
              <a:rPr lang="en-US" sz="3200" baseline="30000" dirty="0">
                <a:latin typeface="+mj-lt"/>
              </a:rPr>
              <a:t>6</a:t>
            </a:r>
            <a:r>
              <a:rPr lang="en-US" sz="3200" dirty="0">
                <a:latin typeface="+mj-lt"/>
              </a:rPr>
              <a:t> = 64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2</a:t>
            </a:r>
            <a:r>
              <a:rPr lang="en-US" sz="3200" baseline="30000" dirty="0">
                <a:latin typeface="+mj-lt"/>
              </a:rPr>
              <a:t>7</a:t>
            </a:r>
            <a:r>
              <a:rPr lang="en-US" sz="3200" dirty="0">
                <a:latin typeface="+mj-lt"/>
              </a:rPr>
              <a:t> = 128</a:t>
            </a:r>
          </a:p>
        </p:txBody>
      </p:sp>
      <p:sp>
        <p:nvSpPr>
          <p:cNvPr id="41989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41991" name="Rectangle 10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0386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2</a:t>
            </a:r>
            <a:r>
              <a:rPr lang="en-US" sz="3200" baseline="30000" dirty="0">
                <a:latin typeface="+mj-lt"/>
              </a:rPr>
              <a:t>8  </a:t>
            </a:r>
            <a:r>
              <a:rPr lang="en-US" sz="3200" dirty="0">
                <a:latin typeface="+mj-lt"/>
              </a:rPr>
              <a:t> = 256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2</a:t>
            </a:r>
            <a:r>
              <a:rPr lang="en-US" sz="3200" baseline="30000" dirty="0">
                <a:latin typeface="+mj-lt"/>
              </a:rPr>
              <a:t>9 </a:t>
            </a:r>
            <a:r>
              <a:rPr lang="en-US" sz="3200" dirty="0">
                <a:latin typeface="+mj-lt"/>
              </a:rPr>
              <a:t>  = 512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2</a:t>
            </a:r>
            <a:r>
              <a:rPr lang="en-US" sz="3200" baseline="30000" dirty="0">
                <a:latin typeface="+mj-lt"/>
              </a:rPr>
              <a:t>10</a:t>
            </a:r>
            <a:r>
              <a:rPr lang="en-US" sz="3200" dirty="0">
                <a:latin typeface="+mj-lt"/>
              </a:rPr>
              <a:t> = 1024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2</a:t>
            </a:r>
            <a:r>
              <a:rPr lang="en-US" sz="3200" baseline="30000" dirty="0">
                <a:latin typeface="+mj-lt"/>
              </a:rPr>
              <a:t>11</a:t>
            </a:r>
            <a:r>
              <a:rPr lang="en-US" sz="3200" dirty="0">
                <a:latin typeface="+mj-lt"/>
              </a:rPr>
              <a:t> = 2048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2</a:t>
            </a:r>
            <a:r>
              <a:rPr lang="en-US" sz="3200" baseline="30000" dirty="0">
                <a:latin typeface="+mj-lt"/>
              </a:rPr>
              <a:t>12</a:t>
            </a:r>
            <a:r>
              <a:rPr lang="en-US" sz="3200" dirty="0">
                <a:latin typeface="+mj-lt"/>
              </a:rPr>
              <a:t> = 4096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2</a:t>
            </a:r>
            <a:r>
              <a:rPr lang="en-US" sz="3200" baseline="30000" dirty="0">
                <a:latin typeface="+mj-lt"/>
              </a:rPr>
              <a:t>13</a:t>
            </a:r>
            <a:r>
              <a:rPr lang="en-US" sz="3200" dirty="0">
                <a:latin typeface="+mj-lt"/>
              </a:rPr>
              <a:t> = 8192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2</a:t>
            </a:r>
            <a:r>
              <a:rPr lang="en-US" sz="3200" baseline="30000" dirty="0">
                <a:latin typeface="+mj-lt"/>
              </a:rPr>
              <a:t>14</a:t>
            </a:r>
            <a:r>
              <a:rPr lang="en-US" sz="3200" dirty="0">
                <a:latin typeface="+mj-lt"/>
              </a:rPr>
              <a:t> = 16384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2</a:t>
            </a:r>
            <a:r>
              <a:rPr lang="en-US" sz="3200" baseline="30000" dirty="0">
                <a:latin typeface="+mj-lt"/>
              </a:rPr>
              <a:t>15</a:t>
            </a:r>
            <a:r>
              <a:rPr lang="en-US" sz="3200" dirty="0">
                <a:latin typeface="+mj-lt"/>
              </a:rPr>
              <a:t> = 32768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Powers of Two</a:t>
            </a:r>
          </a:p>
        </p:txBody>
      </p:sp>
      <p:sp>
        <p:nvSpPr>
          <p:cNvPr id="2" name="Rectangle 1"/>
          <p:cNvSpPr/>
          <p:nvPr/>
        </p:nvSpPr>
        <p:spPr>
          <a:xfrm>
            <a:off x="7239000" y="2286000"/>
            <a:ext cx="233230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3200" b="1" dirty="0">
                <a:solidFill>
                  <a:srgbClr val="0070C0"/>
                </a:solidFill>
                <a:latin typeface="+mj-lt"/>
              </a:rPr>
              <a:t>Handy to memorize</a:t>
            </a:r>
            <a:endParaRPr lang="en-US" sz="3200" b="1" baseline="300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33600" y="1219200"/>
            <a:ext cx="1905000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133600" y="1752600"/>
            <a:ext cx="1905000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133600" y="2209800"/>
            <a:ext cx="1905000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133600" y="2819400"/>
            <a:ext cx="1905000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133600" y="3429000"/>
            <a:ext cx="1905000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133600" y="3962400"/>
            <a:ext cx="1905000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133600" y="4572000"/>
            <a:ext cx="1905000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133600" y="5105400"/>
            <a:ext cx="1905000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334000" y="1219200"/>
            <a:ext cx="1905000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334000" y="1752600"/>
            <a:ext cx="1905000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334000" y="2209800"/>
            <a:ext cx="1905000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5334000" y="2819400"/>
            <a:ext cx="1905000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334000" y="3429000"/>
            <a:ext cx="1905000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5334000" y="3962400"/>
            <a:ext cx="1905000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5334000" y="4572000"/>
            <a:ext cx="1905000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334000" y="5105400"/>
            <a:ext cx="1905000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6385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219200"/>
            <a:ext cx="83058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Binary to decimal conversion: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400" dirty="0">
                <a:latin typeface="+mj-lt"/>
              </a:rPr>
              <a:t>Convert 10011</a:t>
            </a:r>
            <a:r>
              <a:rPr lang="en-US" sz="2400" baseline="-25000" dirty="0">
                <a:latin typeface="+mj-lt"/>
              </a:rPr>
              <a:t>2</a:t>
            </a:r>
            <a:r>
              <a:rPr lang="en-US" sz="2400" dirty="0">
                <a:latin typeface="+mj-lt"/>
              </a:rPr>
              <a:t> to decimal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400" dirty="0">
                <a:latin typeface="+mj-lt"/>
              </a:rPr>
              <a:t>16</a:t>
            </a:r>
            <a:r>
              <a:rPr lang="en-US" sz="2400" dirty="0">
                <a:latin typeface="+mj-lt"/>
                <a:cs typeface="Times New Roman" pitchFamily="18" charset="0"/>
              </a:rPr>
              <a:t>×</a:t>
            </a:r>
            <a:r>
              <a:rPr lang="en-US" sz="2400" dirty="0">
                <a:latin typeface="+mj-lt"/>
              </a:rPr>
              <a:t>1 + 8</a:t>
            </a:r>
            <a:r>
              <a:rPr lang="en-US" sz="2400" dirty="0">
                <a:latin typeface="+mj-lt"/>
                <a:cs typeface="Times New Roman" pitchFamily="18" charset="0"/>
              </a:rPr>
              <a:t>×</a:t>
            </a:r>
            <a:r>
              <a:rPr lang="en-US" sz="2400" dirty="0">
                <a:latin typeface="+mj-lt"/>
              </a:rPr>
              <a:t>0 + 4</a:t>
            </a:r>
            <a:r>
              <a:rPr lang="en-US" sz="2400" dirty="0">
                <a:latin typeface="+mj-lt"/>
                <a:cs typeface="Times New Roman" pitchFamily="18" charset="0"/>
              </a:rPr>
              <a:t>×</a:t>
            </a:r>
            <a:r>
              <a:rPr lang="en-US" sz="2400" dirty="0">
                <a:latin typeface="+mj-lt"/>
              </a:rPr>
              <a:t>0 + 2</a:t>
            </a:r>
            <a:r>
              <a:rPr lang="en-US" sz="2400" dirty="0">
                <a:latin typeface="+mj-lt"/>
                <a:cs typeface="Times New Roman" pitchFamily="18" charset="0"/>
              </a:rPr>
              <a:t>×</a:t>
            </a:r>
            <a:r>
              <a:rPr lang="en-US" sz="2400" dirty="0">
                <a:latin typeface="+mj-lt"/>
              </a:rPr>
              <a:t>1 + 1</a:t>
            </a:r>
            <a:r>
              <a:rPr lang="en-US" sz="2400" dirty="0">
                <a:latin typeface="+mj-lt"/>
                <a:cs typeface="Times New Roman" pitchFamily="18" charset="0"/>
              </a:rPr>
              <a:t>×</a:t>
            </a:r>
            <a:r>
              <a:rPr lang="en-US" sz="2400" dirty="0">
                <a:latin typeface="+mj-lt"/>
              </a:rPr>
              <a:t>1 = 19</a:t>
            </a:r>
            <a:r>
              <a:rPr lang="en-US" sz="2400" baseline="-25000" dirty="0">
                <a:latin typeface="+mj-lt"/>
              </a:rPr>
              <a:t>10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baseline="-25000" dirty="0">
              <a:latin typeface="+mj-lt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Decimal to binary conversion: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400" dirty="0">
                <a:latin typeface="+mj-lt"/>
              </a:rPr>
              <a:t>Convert 47</a:t>
            </a:r>
            <a:r>
              <a:rPr lang="en-US" sz="2400" baseline="-25000" dirty="0">
                <a:latin typeface="+mj-lt"/>
              </a:rPr>
              <a:t>10</a:t>
            </a:r>
            <a:r>
              <a:rPr lang="en-US" sz="2400" dirty="0">
                <a:latin typeface="+mj-lt"/>
              </a:rPr>
              <a:t> to binary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400" dirty="0">
                <a:latin typeface="+mj-lt"/>
              </a:rPr>
              <a:t>32</a:t>
            </a:r>
            <a:r>
              <a:rPr lang="en-US" sz="2400" dirty="0">
                <a:latin typeface="+mj-lt"/>
                <a:cs typeface="Times New Roman" pitchFamily="18" charset="0"/>
              </a:rPr>
              <a:t>×</a:t>
            </a:r>
            <a:r>
              <a:rPr lang="en-US" sz="2400" dirty="0">
                <a:latin typeface="+mj-lt"/>
              </a:rPr>
              <a:t>1 + 16</a:t>
            </a:r>
            <a:r>
              <a:rPr lang="en-US" sz="2400" dirty="0">
                <a:latin typeface="+mj-lt"/>
                <a:cs typeface="Times New Roman" pitchFamily="18" charset="0"/>
              </a:rPr>
              <a:t>×</a:t>
            </a:r>
            <a:r>
              <a:rPr lang="en-US" sz="2400" dirty="0">
                <a:latin typeface="+mj-lt"/>
              </a:rPr>
              <a:t>0 + 8</a:t>
            </a:r>
            <a:r>
              <a:rPr lang="en-US" sz="2400" dirty="0">
                <a:latin typeface="+mj-lt"/>
                <a:cs typeface="Times New Roman" pitchFamily="18" charset="0"/>
              </a:rPr>
              <a:t>×1</a:t>
            </a:r>
            <a:r>
              <a:rPr lang="en-US" sz="2400" dirty="0">
                <a:latin typeface="+mj-lt"/>
              </a:rPr>
              <a:t> + 4</a:t>
            </a:r>
            <a:r>
              <a:rPr lang="en-US" sz="2400" dirty="0">
                <a:latin typeface="+mj-lt"/>
                <a:cs typeface="Times New Roman" pitchFamily="18" charset="0"/>
              </a:rPr>
              <a:t>×</a:t>
            </a:r>
            <a:r>
              <a:rPr lang="en-US" sz="2400" dirty="0">
                <a:latin typeface="+mj-lt"/>
              </a:rPr>
              <a:t>1 + 2</a:t>
            </a:r>
            <a:r>
              <a:rPr lang="en-US" sz="2400" dirty="0">
                <a:latin typeface="+mj-lt"/>
                <a:cs typeface="Times New Roman" pitchFamily="18" charset="0"/>
              </a:rPr>
              <a:t>×</a:t>
            </a:r>
            <a:r>
              <a:rPr lang="en-US" sz="2400" dirty="0">
                <a:latin typeface="+mj-lt"/>
              </a:rPr>
              <a:t>1 + 1</a:t>
            </a:r>
            <a:r>
              <a:rPr lang="en-US" sz="2400" dirty="0">
                <a:latin typeface="+mj-lt"/>
                <a:cs typeface="Times New Roman" pitchFamily="18" charset="0"/>
              </a:rPr>
              <a:t>×</a:t>
            </a:r>
            <a:r>
              <a:rPr lang="en-US" sz="2400" dirty="0">
                <a:latin typeface="+mj-lt"/>
              </a:rPr>
              <a:t>1 = 101111</a:t>
            </a:r>
            <a:r>
              <a:rPr lang="en-US" sz="2400" baseline="-25000" dirty="0">
                <a:latin typeface="+mj-lt"/>
              </a:rPr>
              <a:t>2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</a:endParaRPr>
          </a:p>
        </p:txBody>
      </p:sp>
      <p:sp>
        <p:nvSpPr>
          <p:cNvPr id="44037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Number Conversion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5400" y="2209800"/>
            <a:ext cx="7391400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371600" y="4572000"/>
            <a:ext cx="7391400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433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Two methods:</a:t>
            </a:r>
          </a:p>
          <a:p>
            <a:pPr marL="914400" lvl="1" indent="-457200">
              <a:spcBef>
                <a:spcPct val="20000"/>
              </a:spcBef>
              <a:buFont typeface="Courier New" panose="02070309020205020404" pitchFamily="49" charset="0"/>
              <a:buChar char="o"/>
            </a:pPr>
            <a:r>
              <a:rPr lang="en-US" sz="2600" b="1" dirty="0">
                <a:latin typeface="+mj-lt"/>
              </a:rPr>
              <a:t>Method 1: </a:t>
            </a:r>
            <a:r>
              <a:rPr lang="en-US" sz="2600" dirty="0">
                <a:latin typeface="+mj-lt"/>
              </a:rPr>
              <a:t>Find the largest power of 2 that fits, subtract and repeat</a:t>
            </a:r>
          </a:p>
          <a:p>
            <a:pPr marL="914400" lvl="1" indent="-457200">
              <a:spcBef>
                <a:spcPct val="20000"/>
              </a:spcBef>
              <a:buFont typeface="Courier New" panose="02070309020205020404" pitchFamily="49" charset="0"/>
              <a:buChar char="o"/>
            </a:pPr>
            <a:r>
              <a:rPr lang="en-US" sz="2600" b="1" dirty="0">
                <a:latin typeface="+mj-lt"/>
              </a:rPr>
              <a:t>Method 2: </a:t>
            </a:r>
            <a:r>
              <a:rPr lang="en-US" sz="2600" dirty="0">
                <a:latin typeface="+mj-lt"/>
              </a:rPr>
              <a:t>Repeatedly divide by 2, remainder goes in next most significant bit</a:t>
            </a:r>
          </a:p>
        </p:txBody>
      </p:sp>
      <p:sp>
        <p:nvSpPr>
          <p:cNvPr id="43013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Decimal to Binary Conversion</a:t>
            </a:r>
          </a:p>
        </p:txBody>
      </p:sp>
    </p:spTree>
    <p:extLst>
      <p:ext uri="{BB962C8B-B14F-4D97-AF65-F5344CB8AC3E}">
        <p14:creationId xmlns:p14="http://schemas.microsoft.com/office/powerpoint/2010/main" val="1425216174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458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lvl="1">
              <a:spcBef>
                <a:spcPct val="20000"/>
              </a:spcBef>
            </a:pPr>
            <a:r>
              <a:rPr lang="en-US" sz="2000" dirty="0"/>
              <a:t>53</a:t>
            </a:r>
            <a:r>
              <a:rPr lang="en-US" sz="2000" baseline="-25000" dirty="0"/>
              <a:t>10</a:t>
            </a:r>
            <a:r>
              <a:rPr lang="en-US" sz="2000" dirty="0"/>
              <a:t> </a:t>
            </a:r>
            <a:endParaRPr lang="en-US" sz="2000" b="1" dirty="0">
              <a:latin typeface="+mj-lt"/>
            </a:endParaRPr>
          </a:p>
          <a:p>
            <a:pPr marL="0" lvl="1">
              <a:spcBef>
                <a:spcPct val="20000"/>
              </a:spcBef>
            </a:pPr>
            <a:r>
              <a:rPr lang="en-US" sz="2000" b="1" dirty="0">
                <a:latin typeface="+mj-lt"/>
              </a:rPr>
              <a:t>Method 1: </a:t>
            </a:r>
            <a:r>
              <a:rPr lang="en-US" sz="2000" dirty="0">
                <a:latin typeface="+mj-lt"/>
              </a:rPr>
              <a:t>Find the largest power of 2 that fits, subtract and repeat</a:t>
            </a:r>
          </a:p>
          <a:p>
            <a:pPr lvl="1">
              <a:spcBef>
                <a:spcPct val="20000"/>
              </a:spcBef>
            </a:pPr>
            <a:r>
              <a:rPr lang="en-US" sz="2000" dirty="0">
                <a:latin typeface="+mj-lt"/>
              </a:rPr>
              <a:t>53</a:t>
            </a:r>
            <a:r>
              <a:rPr lang="en-US" sz="2000" baseline="-25000" dirty="0">
                <a:latin typeface="+mj-lt"/>
              </a:rPr>
              <a:t>10</a:t>
            </a:r>
            <a:r>
              <a:rPr lang="en-US" sz="2000" dirty="0">
                <a:latin typeface="+mj-lt"/>
              </a:rPr>
              <a:t> 		 32×1</a:t>
            </a:r>
          </a:p>
          <a:p>
            <a:pPr lvl="1">
              <a:spcBef>
                <a:spcPct val="20000"/>
              </a:spcBef>
            </a:pPr>
            <a:r>
              <a:rPr lang="en-US" sz="2000" dirty="0">
                <a:latin typeface="+mj-lt"/>
              </a:rPr>
              <a:t>53-32 = 21 		 16×1</a:t>
            </a:r>
          </a:p>
          <a:p>
            <a:pPr lvl="1">
              <a:spcBef>
                <a:spcPct val="20000"/>
              </a:spcBef>
            </a:pPr>
            <a:r>
              <a:rPr lang="en-US" sz="2000" dirty="0">
                <a:latin typeface="+mj-lt"/>
              </a:rPr>
              <a:t>21-16 = 5 		 4×1</a:t>
            </a:r>
          </a:p>
          <a:p>
            <a:pPr lvl="1">
              <a:spcBef>
                <a:spcPct val="20000"/>
              </a:spcBef>
            </a:pPr>
            <a:r>
              <a:rPr lang="en-US" sz="2000" dirty="0">
                <a:latin typeface="+mj-lt"/>
              </a:rPr>
              <a:t>5-4 = 1 		 1×1                         </a:t>
            </a:r>
            <a:r>
              <a:rPr lang="en-US" sz="2000" b="1" dirty="0">
                <a:latin typeface="+mj-lt"/>
              </a:rPr>
              <a:t>= 110101</a:t>
            </a:r>
            <a:r>
              <a:rPr lang="en-US" sz="2000" b="1" baseline="-25000" dirty="0">
                <a:latin typeface="+mj-lt"/>
              </a:rPr>
              <a:t>2</a:t>
            </a:r>
          </a:p>
          <a:p>
            <a:pPr>
              <a:spcBef>
                <a:spcPct val="20000"/>
              </a:spcBef>
            </a:pPr>
            <a:r>
              <a:rPr lang="en-US" sz="2000" b="1" dirty="0">
                <a:latin typeface="+mj-lt"/>
              </a:rPr>
              <a:t>Method 2: </a:t>
            </a:r>
            <a:r>
              <a:rPr lang="en-US" sz="2000" dirty="0">
                <a:latin typeface="+mj-lt"/>
              </a:rPr>
              <a:t>Repeatedly divide by 2, remainder goes in next most significant bit</a:t>
            </a:r>
          </a:p>
          <a:p>
            <a:pPr lvl="1">
              <a:spcBef>
                <a:spcPct val="20000"/>
              </a:spcBef>
            </a:pPr>
            <a:r>
              <a:rPr lang="en-US" sz="2000" dirty="0">
                <a:latin typeface="+mj-lt"/>
              </a:rPr>
              <a:t>53</a:t>
            </a:r>
            <a:r>
              <a:rPr lang="en-US" sz="2000" baseline="-25000" dirty="0">
                <a:latin typeface="+mj-lt"/>
              </a:rPr>
              <a:t>10</a:t>
            </a:r>
            <a:r>
              <a:rPr lang="en-US" sz="2000" dirty="0">
                <a:latin typeface="+mj-lt"/>
              </a:rPr>
              <a:t> = 	53/2 = 26 R1</a:t>
            </a:r>
          </a:p>
          <a:p>
            <a:pPr lvl="1">
              <a:spcBef>
                <a:spcPct val="20000"/>
              </a:spcBef>
            </a:pPr>
            <a:r>
              <a:rPr lang="en-US" sz="2000" dirty="0">
                <a:latin typeface="+mj-lt"/>
              </a:rPr>
              <a:t> 		26/2 = 13 R0</a:t>
            </a:r>
          </a:p>
          <a:p>
            <a:pPr lvl="1">
              <a:spcBef>
                <a:spcPct val="20000"/>
              </a:spcBef>
            </a:pPr>
            <a:r>
              <a:rPr lang="en-US" sz="2000" dirty="0">
                <a:latin typeface="+mj-lt"/>
              </a:rPr>
              <a:t>		13/2 = 6   R1</a:t>
            </a:r>
          </a:p>
          <a:p>
            <a:pPr lvl="1">
              <a:spcBef>
                <a:spcPct val="20000"/>
              </a:spcBef>
            </a:pPr>
            <a:r>
              <a:rPr lang="en-US" sz="2000" dirty="0">
                <a:latin typeface="+mj-lt"/>
              </a:rPr>
              <a:t>		6/2   = 3   R0</a:t>
            </a:r>
          </a:p>
          <a:p>
            <a:pPr lvl="1">
              <a:spcBef>
                <a:spcPct val="20000"/>
              </a:spcBef>
            </a:pPr>
            <a:r>
              <a:rPr lang="en-US" sz="2000" dirty="0">
                <a:latin typeface="+mj-lt"/>
              </a:rPr>
              <a:t>		3/2   = 1   R1</a:t>
            </a:r>
          </a:p>
          <a:p>
            <a:pPr lvl="1">
              <a:spcBef>
                <a:spcPct val="20000"/>
              </a:spcBef>
            </a:pPr>
            <a:r>
              <a:rPr lang="en-US" sz="2000" dirty="0">
                <a:latin typeface="+mj-lt"/>
              </a:rPr>
              <a:t>		1/2   = 0   R1		</a:t>
            </a:r>
            <a:r>
              <a:rPr lang="en-US" sz="2000" b="1" dirty="0">
                <a:latin typeface="+mj-lt"/>
              </a:rPr>
              <a:t>= 110101</a:t>
            </a:r>
            <a:r>
              <a:rPr lang="en-US" sz="2000" b="1" baseline="-25000" dirty="0">
                <a:latin typeface="+mj-lt"/>
              </a:rPr>
              <a:t>2</a:t>
            </a:r>
          </a:p>
          <a:p>
            <a:pPr lvl="1">
              <a:spcBef>
                <a:spcPct val="20000"/>
              </a:spcBef>
            </a:pPr>
            <a:endParaRPr lang="en-US" sz="2000" dirty="0">
              <a:latin typeface="+mj-lt"/>
            </a:endParaRPr>
          </a:p>
          <a:p>
            <a:pPr>
              <a:spcBef>
                <a:spcPct val="20000"/>
              </a:spcBef>
            </a:pPr>
            <a:endParaRPr lang="en-US" sz="2600" dirty="0">
              <a:latin typeface="+mj-lt"/>
            </a:endParaRPr>
          </a:p>
        </p:txBody>
      </p:sp>
      <p:sp>
        <p:nvSpPr>
          <p:cNvPr id="43013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Decimal to Binary Conversion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1828800"/>
            <a:ext cx="7391400" cy="1524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38200" y="3733800"/>
            <a:ext cx="7391400" cy="2133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4438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458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lvl="1"/>
            <a:r>
              <a:rPr lang="en-US" sz="3200" b="1" dirty="0">
                <a:latin typeface="+mj-lt"/>
              </a:rPr>
              <a:t>Another example: </a:t>
            </a:r>
            <a:r>
              <a:rPr lang="en-US" sz="3200" dirty="0">
                <a:latin typeface="+mj-lt"/>
              </a:rPr>
              <a:t>Convert 75</a:t>
            </a:r>
            <a:r>
              <a:rPr lang="en-US" sz="3200" baseline="-25000" dirty="0">
                <a:latin typeface="+mj-lt"/>
              </a:rPr>
              <a:t>10</a:t>
            </a:r>
            <a:r>
              <a:rPr lang="en-US" sz="3200" dirty="0">
                <a:latin typeface="+mj-lt"/>
              </a:rPr>
              <a:t> to binary.</a:t>
            </a:r>
          </a:p>
          <a:p>
            <a:pPr marL="0" lvl="1"/>
            <a:endParaRPr lang="en-US" sz="2000" dirty="0">
              <a:latin typeface="+mj-lt"/>
            </a:endParaRPr>
          </a:p>
          <a:p>
            <a:pPr marL="0" lvl="1"/>
            <a:r>
              <a:rPr lang="en-US" sz="2400" dirty="0">
                <a:latin typeface="+mj-lt"/>
              </a:rPr>
              <a:t>75</a:t>
            </a:r>
            <a:r>
              <a:rPr lang="en-US" sz="2400" baseline="-25000" dirty="0">
                <a:latin typeface="+mj-lt"/>
              </a:rPr>
              <a:t>10</a:t>
            </a:r>
            <a:r>
              <a:rPr lang="en-US" sz="2400" dirty="0">
                <a:latin typeface="+mj-lt"/>
              </a:rPr>
              <a:t>= 64 + 8 + 2 + 1 = 1001011</a:t>
            </a:r>
            <a:r>
              <a:rPr lang="en-US" sz="2400" baseline="-25000" dirty="0">
                <a:latin typeface="+mj-lt"/>
              </a:rPr>
              <a:t>2</a:t>
            </a:r>
          </a:p>
          <a:p>
            <a:endParaRPr lang="en-US" sz="1000" b="1" dirty="0">
              <a:latin typeface="+mj-lt"/>
            </a:endParaRPr>
          </a:p>
          <a:p>
            <a:r>
              <a:rPr lang="en-US" sz="2400" b="1" dirty="0">
                <a:latin typeface="+mj-lt"/>
              </a:rPr>
              <a:t>or</a:t>
            </a:r>
          </a:p>
          <a:p>
            <a:endParaRPr lang="en-US" sz="1000" dirty="0">
              <a:latin typeface="+mj-lt"/>
            </a:endParaRPr>
          </a:p>
          <a:p>
            <a:r>
              <a:rPr lang="en-US" sz="2400" dirty="0">
                <a:latin typeface="+mj-lt"/>
              </a:rPr>
              <a:t>75/2 	= 37 	R1</a:t>
            </a:r>
          </a:p>
          <a:p>
            <a:r>
              <a:rPr lang="en-US" sz="2400" dirty="0">
                <a:latin typeface="+mj-lt"/>
              </a:rPr>
              <a:t>37/2 	= 18	R1</a:t>
            </a:r>
          </a:p>
          <a:p>
            <a:r>
              <a:rPr lang="en-US" sz="2400" dirty="0">
                <a:latin typeface="+mj-lt"/>
              </a:rPr>
              <a:t>18/2 	= 9	R0</a:t>
            </a:r>
          </a:p>
          <a:p>
            <a:r>
              <a:rPr lang="en-US" sz="2400" dirty="0">
                <a:latin typeface="+mj-lt"/>
              </a:rPr>
              <a:t>9/2	= 4	R1</a:t>
            </a:r>
          </a:p>
          <a:p>
            <a:r>
              <a:rPr lang="en-US" sz="2400" dirty="0">
                <a:latin typeface="+mj-lt"/>
              </a:rPr>
              <a:t>4/2	= 2	R0</a:t>
            </a:r>
          </a:p>
          <a:p>
            <a:r>
              <a:rPr lang="en-US" sz="2400" dirty="0">
                <a:latin typeface="+mj-lt"/>
              </a:rPr>
              <a:t>2/2	= 1	R0</a:t>
            </a:r>
          </a:p>
          <a:p>
            <a:r>
              <a:rPr lang="en-US" sz="2400" dirty="0">
                <a:latin typeface="+mj-lt"/>
              </a:rPr>
              <a:t>1/2	= 0	R1</a:t>
            </a:r>
          </a:p>
          <a:p>
            <a:endParaRPr lang="en-US" sz="2000" b="1" dirty="0">
              <a:latin typeface="+mj-lt"/>
            </a:endParaRPr>
          </a:p>
        </p:txBody>
      </p:sp>
      <p:sp>
        <p:nvSpPr>
          <p:cNvPr id="43013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Decimal to Binary Conversion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828800"/>
            <a:ext cx="7391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33400" y="2819400"/>
            <a:ext cx="7391400" cy="2819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9443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48134" name="Rectangle 7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233854"/>
            <a:ext cx="7772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Base 16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Shorthand for binary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Hexadecimal Numbers</a:t>
            </a:r>
          </a:p>
        </p:txBody>
      </p:sp>
    </p:spTree>
    <p:extLst>
      <p:ext uri="{BB962C8B-B14F-4D97-AF65-F5344CB8AC3E}">
        <p14:creationId xmlns:p14="http://schemas.microsoft.com/office/powerpoint/2010/main" val="611446160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Hexadecimal Numbers</a:t>
            </a:r>
          </a:p>
        </p:txBody>
      </p:sp>
      <p:graphicFrame>
        <p:nvGraphicFramePr>
          <p:cNvPr id="5" name="Group 4"/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23147849"/>
              </p:ext>
            </p:extLst>
          </p:nvPr>
        </p:nvGraphicFramePr>
        <p:xfrm>
          <a:off x="1752600" y="1082040"/>
          <a:ext cx="5562600" cy="475488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Hex Digit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Decimal Equivalent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Binary Equivalent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4186592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0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1430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Hexadecimal to binary conversion: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400" dirty="0">
                <a:latin typeface="+mj-lt"/>
              </a:rPr>
              <a:t>Convert 4AF</a:t>
            </a:r>
            <a:r>
              <a:rPr lang="en-US" sz="2400" baseline="-25000" dirty="0">
                <a:latin typeface="+mj-lt"/>
              </a:rPr>
              <a:t>16</a:t>
            </a:r>
            <a:r>
              <a:rPr lang="en-US" sz="2400" dirty="0">
                <a:latin typeface="+mj-lt"/>
              </a:rPr>
              <a:t> (also written 0x4AF) to binary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400" dirty="0">
                <a:latin typeface="+mj-lt"/>
              </a:rPr>
              <a:t>0100 1010 1111</a:t>
            </a:r>
            <a:r>
              <a:rPr lang="en-US" sz="2400" baseline="-25000" dirty="0">
                <a:latin typeface="+mj-lt"/>
              </a:rPr>
              <a:t>2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Hexadecimal to decimal conversion: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400" dirty="0">
                <a:latin typeface="+mj-lt"/>
              </a:rPr>
              <a:t>Convert 4AF</a:t>
            </a:r>
            <a:r>
              <a:rPr lang="en-US" sz="2400" baseline="-25000" dirty="0">
                <a:latin typeface="+mj-lt"/>
              </a:rPr>
              <a:t>16</a:t>
            </a:r>
            <a:r>
              <a:rPr lang="en-US" sz="2400" dirty="0">
                <a:latin typeface="+mj-lt"/>
              </a:rPr>
              <a:t> to decimal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400" dirty="0">
                <a:latin typeface="+mj-lt"/>
              </a:rPr>
              <a:t>16</a:t>
            </a:r>
            <a:r>
              <a:rPr lang="en-US" sz="2400" baseline="30000" dirty="0">
                <a:latin typeface="+mj-lt"/>
              </a:rPr>
              <a:t>2</a:t>
            </a:r>
            <a:r>
              <a:rPr lang="en-US" sz="2400" dirty="0">
                <a:latin typeface="+mj-lt"/>
                <a:cs typeface="Times New Roman" pitchFamily="18" charset="0"/>
              </a:rPr>
              <a:t>×</a:t>
            </a:r>
            <a:r>
              <a:rPr lang="en-US" sz="2400" dirty="0">
                <a:latin typeface="+mj-lt"/>
              </a:rPr>
              <a:t>4 + 16</a:t>
            </a:r>
            <a:r>
              <a:rPr lang="en-US" sz="2400" baseline="30000" dirty="0">
                <a:latin typeface="+mj-lt"/>
              </a:rPr>
              <a:t>1</a:t>
            </a:r>
            <a:r>
              <a:rPr lang="en-US" sz="2400" dirty="0">
                <a:latin typeface="+mj-lt"/>
                <a:cs typeface="Times New Roman" pitchFamily="18" charset="0"/>
              </a:rPr>
              <a:t>×</a:t>
            </a:r>
            <a:r>
              <a:rPr lang="en-US" sz="2400" dirty="0">
                <a:latin typeface="+mj-lt"/>
              </a:rPr>
              <a:t>10 + 16</a:t>
            </a:r>
            <a:r>
              <a:rPr lang="en-US" sz="2400" baseline="30000" dirty="0">
                <a:latin typeface="+mj-lt"/>
              </a:rPr>
              <a:t>0</a:t>
            </a:r>
            <a:r>
              <a:rPr lang="en-US" sz="2400" dirty="0">
                <a:latin typeface="+mj-lt"/>
                <a:cs typeface="Times New Roman" pitchFamily="18" charset="0"/>
              </a:rPr>
              <a:t>×</a:t>
            </a:r>
            <a:r>
              <a:rPr lang="en-US" sz="2400" dirty="0">
                <a:latin typeface="+mj-lt"/>
              </a:rPr>
              <a:t>15 = 1199</a:t>
            </a:r>
            <a:r>
              <a:rPr lang="en-US" sz="2400" baseline="-25000" dirty="0">
                <a:latin typeface="+mj-lt"/>
              </a:rPr>
              <a:t>10</a:t>
            </a:r>
            <a:endParaRPr lang="en-US" sz="2400" dirty="0">
              <a:latin typeface="+mj-lt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</a:endParaRPr>
          </a:p>
        </p:txBody>
      </p:sp>
      <p:sp>
        <p:nvSpPr>
          <p:cNvPr id="50181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Hexadecimal to Binary Conversion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209800"/>
            <a:ext cx="4191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371600" y="4267200"/>
            <a:ext cx="434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6475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6" name="Rectangle 4"/>
          <p:cNvSpPr>
            <a:spLocks noGrp="1" noChangeArrowheads="1"/>
          </p:cNvSpPr>
          <p:nvPr>
            <p:ph sz="quarter" idx="4294967295"/>
            <p:custDataLst>
              <p:tags r:id="rId1"/>
            </p:custDataLst>
          </p:nvPr>
        </p:nvSpPr>
        <p:spPr>
          <a:xfrm>
            <a:off x="609600" y="1066800"/>
            <a:ext cx="8077200" cy="4648200"/>
          </a:xfrm>
        </p:spPr>
        <p:txBody>
          <a:bodyPr/>
          <a:lstStyle/>
          <a:p>
            <a:pPr eaLnBrk="1" hangingPunct="1"/>
            <a:r>
              <a:rPr lang="en-US" sz="3200" dirty="0"/>
              <a:t>Bits</a:t>
            </a:r>
          </a:p>
          <a:p>
            <a:pPr marL="0" indent="0" eaLnBrk="1" hangingPunct="1">
              <a:buNone/>
            </a:pPr>
            <a:endParaRPr lang="en-US" sz="3000" dirty="0"/>
          </a:p>
          <a:p>
            <a:pPr marL="0" indent="0" eaLnBrk="1" hangingPunct="1">
              <a:buNone/>
            </a:pPr>
            <a:endParaRPr lang="en-US" sz="3000" dirty="0"/>
          </a:p>
          <a:p>
            <a:pPr eaLnBrk="1" hangingPunct="1"/>
            <a:r>
              <a:rPr lang="en-US" sz="3200" dirty="0"/>
              <a:t>Bytes &amp; Nibbles</a:t>
            </a:r>
          </a:p>
          <a:p>
            <a:pPr marL="0" indent="0" eaLnBrk="1" hangingPunct="1">
              <a:buNone/>
            </a:pPr>
            <a:endParaRPr lang="en-US" sz="3000" dirty="0"/>
          </a:p>
          <a:p>
            <a:pPr marL="0" indent="0" eaLnBrk="1" hangingPunct="1">
              <a:buNone/>
            </a:pPr>
            <a:endParaRPr lang="en-US" sz="3000" dirty="0"/>
          </a:p>
          <a:p>
            <a:pPr eaLnBrk="1" hangingPunct="1"/>
            <a:r>
              <a:rPr lang="en-US" sz="3200" dirty="0"/>
              <a:t>Bytes</a:t>
            </a:r>
          </a:p>
        </p:txBody>
      </p:sp>
      <p:graphicFrame>
        <p:nvGraphicFramePr>
          <p:cNvPr id="51207" name="Object 5"/>
          <p:cNvGraphicFramePr>
            <a:graphicFrameLocks noGrp="1" noChangeAspect="1"/>
          </p:cNvGraphicFramePr>
          <p:nvPr>
            <p:ph sz="quarter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93693161"/>
              </p:ext>
            </p:extLst>
          </p:nvPr>
        </p:nvGraphicFramePr>
        <p:xfrm>
          <a:off x="4800600" y="2362200"/>
          <a:ext cx="2590800" cy="169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937260" imgH="638556" progId="Visio.Drawing.6">
                  <p:embed/>
                </p:oleObj>
              </mc:Choice>
              <mc:Fallback>
                <p:oleObj name="VISIO" r:id="rId8" imgW="937260" imgH="638556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2362200"/>
                        <a:ext cx="2590800" cy="169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8" name="Object 6"/>
          <p:cNvGraphicFramePr>
            <a:graphicFrameLocks noGrp="1" noChangeAspect="1"/>
          </p:cNvGraphicFramePr>
          <p:nvPr>
            <p:ph sz="quarter" idx="4294967295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934436170"/>
              </p:ext>
            </p:extLst>
          </p:nvPr>
        </p:nvGraphicFramePr>
        <p:xfrm>
          <a:off x="4267200" y="4364037"/>
          <a:ext cx="3657600" cy="157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0" imgW="1301496" imgH="560832" progId="Visio.Drawing.6">
                  <p:embed/>
                </p:oleObj>
              </mc:Choice>
              <mc:Fallback>
                <p:oleObj name="VISIO" r:id="rId10" imgW="1301496" imgH="56083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364037"/>
                        <a:ext cx="3657600" cy="1579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9" name="Object 7"/>
          <p:cNvGraphicFramePr>
            <a:graphicFrameLocks noGrp="1" noChangeAspect="1"/>
          </p:cNvGraphicFramePr>
          <p:nvPr>
            <p:ph sz="quarter" idx="4294967295"/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555756685"/>
              </p:ext>
            </p:extLst>
          </p:nvPr>
        </p:nvGraphicFramePr>
        <p:xfrm>
          <a:off x="4191000" y="1017587"/>
          <a:ext cx="3581400" cy="1497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2" imgW="1286256" imgH="562356" progId="Visio.Drawing.6">
                  <p:embed/>
                </p:oleObj>
              </mc:Choice>
              <mc:Fallback>
                <p:oleObj name="VISIO" r:id="rId12" imgW="1286256" imgH="562356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017587"/>
                        <a:ext cx="3581400" cy="1497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4" name="Rectangle 2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Bits, Bytes, Nibbles…</a:t>
            </a:r>
          </a:p>
        </p:txBody>
      </p:sp>
    </p:spTree>
    <p:extLst>
      <p:ext uri="{BB962C8B-B14F-4D97-AF65-F5344CB8AC3E}">
        <p14:creationId xmlns:p14="http://schemas.microsoft.com/office/powerpoint/2010/main" val="3379351694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30" name="Rectangle 4"/>
          <p:cNvSpPr>
            <a:spLocks noGrp="1" noChangeArrowheads="1"/>
          </p:cNvSpPr>
          <p:nvPr>
            <p:ph sz="quarter" idx="4294967295"/>
            <p:custDataLst>
              <p:tags r:id="rId1"/>
            </p:custDataLst>
          </p:nvPr>
        </p:nvSpPr>
        <p:spPr>
          <a:xfrm>
            <a:off x="533400" y="1143000"/>
            <a:ext cx="8077200" cy="4648200"/>
          </a:xfrm>
        </p:spPr>
        <p:txBody>
          <a:bodyPr/>
          <a:lstStyle/>
          <a:p>
            <a:pPr eaLnBrk="1" hangingPunct="1"/>
            <a:r>
              <a:rPr lang="en-US" sz="3200" dirty="0"/>
              <a:t>2</a:t>
            </a:r>
            <a:r>
              <a:rPr lang="en-US" sz="3200" baseline="30000" dirty="0"/>
              <a:t>10</a:t>
            </a:r>
            <a:r>
              <a:rPr lang="en-US" sz="3200" dirty="0"/>
              <a:t> = 1 kilo 	</a:t>
            </a:r>
            <a:r>
              <a:rPr lang="en-US" sz="2000" dirty="0"/>
              <a:t>≈</a:t>
            </a:r>
            <a:r>
              <a:rPr lang="en-US" sz="3200" dirty="0"/>
              <a:t> 1000  (1024)</a:t>
            </a:r>
          </a:p>
          <a:p>
            <a:pPr eaLnBrk="1" hangingPunct="1"/>
            <a:r>
              <a:rPr lang="en-US" sz="3200" dirty="0"/>
              <a:t>2</a:t>
            </a:r>
            <a:r>
              <a:rPr lang="en-US" sz="3200" baseline="30000" dirty="0"/>
              <a:t>20</a:t>
            </a:r>
            <a:r>
              <a:rPr lang="en-US" sz="3200" dirty="0"/>
              <a:t> = 1 mega 	</a:t>
            </a:r>
            <a:r>
              <a:rPr lang="en-US" sz="2000" dirty="0"/>
              <a:t>≈</a:t>
            </a:r>
            <a:r>
              <a:rPr lang="en-US" sz="3200" dirty="0"/>
              <a:t> 1 million  (1,048,576)</a:t>
            </a:r>
          </a:p>
          <a:p>
            <a:pPr eaLnBrk="1" hangingPunct="1"/>
            <a:r>
              <a:rPr lang="en-US" sz="3200" dirty="0"/>
              <a:t>2</a:t>
            </a:r>
            <a:r>
              <a:rPr lang="en-US" sz="3200" baseline="30000" dirty="0"/>
              <a:t>30</a:t>
            </a:r>
            <a:r>
              <a:rPr lang="en-US" sz="3200" dirty="0"/>
              <a:t> = 1 </a:t>
            </a:r>
            <a:r>
              <a:rPr lang="en-US" sz="3200" dirty="0" err="1"/>
              <a:t>giga</a:t>
            </a:r>
            <a:r>
              <a:rPr lang="en-US" sz="3200" dirty="0"/>
              <a:t> 	</a:t>
            </a:r>
            <a:r>
              <a:rPr lang="en-US" sz="2000" dirty="0"/>
              <a:t>≈</a:t>
            </a:r>
            <a:r>
              <a:rPr lang="en-US" sz="3200" dirty="0"/>
              <a:t> 1 billion (1,073,741,824)</a:t>
            </a:r>
          </a:p>
          <a:p>
            <a:pPr eaLnBrk="1" hangingPunct="1">
              <a:buFontTx/>
              <a:buNone/>
            </a:pPr>
            <a:endParaRPr lang="en-US" sz="3200" dirty="0"/>
          </a:p>
          <a:p>
            <a:pPr eaLnBrk="1" hangingPunct="1"/>
            <a:endParaRPr lang="en-US" sz="3200" dirty="0"/>
          </a:p>
        </p:txBody>
      </p:sp>
      <p:sp>
        <p:nvSpPr>
          <p:cNvPr id="52228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Large Powers of Two</a:t>
            </a:r>
          </a:p>
        </p:txBody>
      </p:sp>
    </p:spTree>
    <p:extLst>
      <p:ext uri="{BB962C8B-B14F-4D97-AF65-F5344CB8AC3E}">
        <p14:creationId xmlns:p14="http://schemas.microsoft.com/office/powerpoint/2010/main" val="2461692320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8" name="Rectangle 4"/>
          <p:cNvSpPr>
            <a:spLocks noGrp="1" noChangeArrowheads="1"/>
          </p:cNvSpPr>
          <p:nvPr>
            <p:ph sz="quarter" idx="4294967295"/>
            <p:custDataLst>
              <p:tags r:id="rId1"/>
            </p:custDataLst>
          </p:nvPr>
        </p:nvSpPr>
        <p:spPr>
          <a:xfrm>
            <a:off x="533400" y="1143000"/>
            <a:ext cx="8077200" cy="4648200"/>
          </a:xfrm>
        </p:spPr>
        <p:txBody>
          <a:bodyPr/>
          <a:lstStyle/>
          <a:p>
            <a:pPr eaLnBrk="1" hangingPunct="1"/>
            <a:r>
              <a:rPr lang="en-US" sz="3200" dirty="0"/>
              <a:t>What is the value of 2</a:t>
            </a:r>
            <a:r>
              <a:rPr lang="en-US" sz="3200" baseline="30000" dirty="0"/>
              <a:t>24</a:t>
            </a:r>
            <a:r>
              <a:rPr lang="en-US" sz="3200" dirty="0"/>
              <a:t>?</a:t>
            </a:r>
          </a:p>
          <a:p>
            <a:pPr eaLnBrk="1" hangingPunct="1">
              <a:buFontTx/>
              <a:buNone/>
            </a:pPr>
            <a:r>
              <a:rPr lang="en-US" sz="3200" dirty="0">
                <a:solidFill>
                  <a:schemeClr val="accent2"/>
                </a:solidFill>
              </a:rPr>
              <a:t>	</a:t>
            </a:r>
            <a:r>
              <a:rPr lang="en-US" sz="3200" dirty="0"/>
              <a:t> </a:t>
            </a:r>
            <a:r>
              <a:rPr lang="en-US" sz="3200" b="1" dirty="0">
                <a:solidFill>
                  <a:schemeClr val="accent1"/>
                </a:solidFill>
              </a:rPr>
              <a:t>2</a:t>
            </a:r>
            <a:r>
              <a:rPr lang="en-US" sz="3200" b="1" baseline="30000" dirty="0">
                <a:solidFill>
                  <a:schemeClr val="accent1"/>
                </a:solidFill>
              </a:rPr>
              <a:t>4</a:t>
            </a:r>
            <a:r>
              <a:rPr lang="en-US" sz="3200" b="1" dirty="0">
                <a:solidFill>
                  <a:schemeClr val="accent1"/>
                </a:solidFill>
              </a:rPr>
              <a:t> </a:t>
            </a:r>
            <a:r>
              <a:rPr lang="en-US" sz="3200" b="1" dirty="0">
                <a:solidFill>
                  <a:schemeClr val="accent1"/>
                </a:solidFill>
                <a:cs typeface="Times New Roman" pitchFamily="18" charset="0"/>
              </a:rPr>
              <a:t>×</a:t>
            </a:r>
            <a:r>
              <a:rPr lang="en-US" sz="3200" b="1" dirty="0">
                <a:solidFill>
                  <a:schemeClr val="accent1"/>
                </a:solidFill>
              </a:rPr>
              <a:t> 2</a:t>
            </a:r>
            <a:r>
              <a:rPr lang="en-US" sz="3200" b="1" baseline="30000" dirty="0">
                <a:solidFill>
                  <a:schemeClr val="accent1"/>
                </a:solidFill>
              </a:rPr>
              <a:t>20</a:t>
            </a:r>
            <a:r>
              <a:rPr lang="en-US" sz="3200" b="1" dirty="0">
                <a:solidFill>
                  <a:schemeClr val="accent1"/>
                </a:solidFill>
              </a:rPr>
              <a:t> ≈ 16 million</a:t>
            </a:r>
          </a:p>
          <a:p>
            <a:pPr eaLnBrk="1" hangingPunct="1">
              <a:buFontTx/>
              <a:buNone/>
            </a:pPr>
            <a:endParaRPr lang="en-US" sz="3200" b="1" dirty="0">
              <a:solidFill>
                <a:schemeClr val="accent2"/>
              </a:solidFill>
            </a:endParaRPr>
          </a:p>
          <a:p>
            <a:pPr eaLnBrk="1" hangingPunct="1"/>
            <a:r>
              <a:rPr lang="en-US" sz="3200" dirty="0"/>
              <a:t>How many values can a 32-bit variable represent?</a:t>
            </a:r>
          </a:p>
          <a:p>
            <a:pPr eaLnBrk="1" hangingPunct="1">
              <a:buFontTx/>
              <a:buNone/>
            </a:pPr>
            <a:r>
              <a:rPr lang="en-US" sz="3200" dirty="0">
                <a:solidFill>
                  <a:schemeClr val="accent1"/>
                </a:solidFill>
              </a:rPr>
              <a:t>	</a:t>
            </a:r>
            <a:r>
              <a:rPr lang="en-US" sz="3200" b="1" dirty="0">
                <a:solidFill>
                  <a:schemeClr val="accent1"/>
                </a:solidFill>
              </a:rPr>
              <a:t>2</a:t>
            </a:r>
            <a:r>
              <a:rPr lang="en-US" sz="3200" b="1" baseline="30000" dirty="0">
                <a:solidFill>
                  <a:schemeClr val="accent1"/>
                </a:solidFill>
              </a:rPr>
              <a:t>2</a:t>
            </a:r>
            <a:r>
              <a:rPr lang="en-US" sz="3200" b="1" dirty="0">
                <a:solidFill>
                  <a:schemeClr val="accent1"/>
                </a:solidFill>
              </a:rPr>
              <a:t> </a:t>
            </a:r>
            <a:r>
              <a:rPr lang="en-US" sz="3200" b="1" dirty="0">
                <a:solidFill>
                  <a:schemeClr val="accent1"/>
                </a:solidFill>
                <a:cs typeface="Times New Roman" pitchFamily="18" charset="0"/>
              </a:rPr>
              <a:t>×</a:t>
            </a:r>
            <a:r>
              <a:rPr lang="en-US" sz="3200" b="1" dirty="0">
                <a:solidFill>
                  <a:schemeClr val="accent1"/>
                </a:solidFill>
              </a:rPr>
              <a:t> 2</a:t>
            </a:r>
            <a:r>
              <a:rPr lang="en-US" sz="3200" b="1" baseline="30000" dirty="0">
                <a:solidFill>
                  <a:schemeClr val="accent1"/>
                </a:solidFill>
              </a:rPr>
              <a:t>30</a:t>
            </a:r>
            <a:r>
              <a:rPr lang="en-US" sz="3200" b="1" dirty="0">
                <a:solidFill>
                  <a:schemeClr val="accent1"/>
                </a:solidFill>
              </a:rPr>
              <a:t> ≈ 4 billion</a:t>
            </a:r>
          </a:p>
          <a:p>
            <a:pPr eaLnBrk="1" hangingPunct="1">
              <a:buFontTx/>
              <a:buNone/>
            </a:pPr>
            <a:endParaRPr lang="en-US" sz="3200" dirty="0"/>
          </a:p>
        </p:txBody>
      </p:sp>
      <p:sp>
        <p:nvSpPr>
          <p:cNvPr id="54276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Estimating Powers of Two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1828800"/>
            <a:ext cx="4191000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962400"/>
            <a:ext cx="4191000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3739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303" name="Object 5"/>
          <p:cNvGraphicFramePr>
            <a:graphicFrameLocks noGrp="1" noChangeAspect="1"/>
          </p:cNvGraphicFramePr>
          <p:nvPr>
            <p:ph sz="half"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85445869"/>
              </p:ext>
            </p:extLst>
          </p:nvPr>
        </p:nvGraphicFramePr>
        <p:xfrm>
          <a:off x="2925763" y="1365250"/>
          <a:ext cx="3246437" cy="192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854964" imgH="527304" progId="Visio.Drawing.6">
                  <p:embed/>
                </p:oleObj>
              </mc:Choice>
              <mc:Fallback>
                <p:oleObj name="VISIO" r:id="rId7" imgW="854964" imgH="527304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5763" y="1365250"/>
                        <a:ext cx="3246437" cy="192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4" name="Object 6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70400450"/>
              </p:ext>
            </p:extLst>
          </p:nvPr>
        </p:nvGraphicFramePr>
        <p:xfrm>
          <a:off x="3048000" y="3713163"/>
          <a:ext cx="3124200" cy="187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858012" imgH="536448" progId="Visio.Drawing.6">
                  <p:embed/>
                </p:oleObj>
              </mc:Choice>
              <mc:Fallback>
                <p:oleObj name="VISIO" r:id="rId9" imgW="858012" imgH="536448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713163"/>
                        <a:ext cx="3124200" cy="187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0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Decimal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Binary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</a:endParaRPr>
          </a:p>
        </p:txBody>
      </p:sp>
      <p:sp>
        <p:nvSpPr>
          <p:cNvPr id="55301" name="Rectangle 3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Addition</a:t>
            </a:r>
          </a:p>
        </p:txBody>
      </p:sp>
    </p:spTree>
    <p:extLst>
      <p:ext uri="{BB962C8B-B14F-4D97-AF65-F5344CB8AC3E}">
        <p14:creationId xmlns:p14="http://schemas.microsoft.com/office/powerpoint/2010/main" val="1212756759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351" name="Object 5"/>
          <p:cNvGraphicFramePr>
            <a:graphicFrameLocks noGrp="1" noChangeAspect="1"/>
          </p:cNvGraphicFramePr>
          <p:nvPr>
            <p:ph sz="half"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40317479"/>
              </p:ext>
            </p:extLst>
          </p:nvPr>
        </p:nvGraphicFramePr>
        <p:xfrm>
          <a:off x="5486401" y="1023938"/>
          <a:ext cx="2133600" cy="240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503605" imgH="590328" progId="Visio.Drawing.6">
                  <p:embed/>
                </p:oleObj>
              </mc:Choice>
              <mc:Fallback>
                <p:oleObj name="VISIO" r:id="rId7" imgW="503605" imgH="590328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1" y="1023938"/>
                        <a:ext cx="2133600" cy="2401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2" name="Object 6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3800566"/>
              </p:ext>
            </p:extLst>
          </p:nvPr>
        </p:nvGraphicFramePr>
        <p:xfrm>
          <a:off x="5334000" y="3429000"/>
          <a:ext cx="2236788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503640" imgH="514080" progId="Visio.Drawing.6">
                  <p:embed/>
                </p:oleObj>
              </mc:Choice>
              <mc:Fallback>
                <p:oleObj name="VISIO" r:id="rId9" imgW="503640" imgH="514080" progId="Visio.Drawing.6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3429000"/>
                        <a:ext cx="2236788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48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219200"/>
            <a:ext cx="38100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Add the following 4-bit binary numbers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Add the following 4-bit binary numbers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</a:endParaRPr>
          </a:p>
        </p:txBody>
      </p:sp>
      <p:sp>
        <p:nvSpPr>
          <p:cNvPr id="57349" name="Rectangle 3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Binary Addition Examples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096000" y="1066800"/>
            <a:ext cx="1524000" cy="2057400"/>
            <a:chOff x="6096000" y="1066800"/>
            <a:chExt cx="1524000" cy="2057400"/>
          </a:xfrm>
        </p:grpSpPr>
        <p:sp>
          <p:nvSpPr>
            <p:cNvPr id="7" name="Rectangle 6"/>
            <p:cNvSpPr/>
            <p:nvPr/>
          </p:nvSpPr>
          <p:spPr>
            <a:xfrm>
              <a:off x="6096000" y="2590800"/>
              <a:ext cx="1524000" cy="533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096000" y="1066800"/>
              <a:ext cx="1524000" cy="533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5867400" y="3505200"/>
            <a:ext cx="1524000" cy="2057400"/>
            <a:chOff x="5867400" y="3505200"/>
            <a:chExt cx="1524000" cy="2057400"/>
          </a:xfrm>
        </p:grpSpPr>
        <p:sp>
          <p:nvSpPr>
            <p:cNvPr id="11" name="Rectangle 10"/>
            <p:cNvSpPr/>
            <p:nvPr/>
          </p:nvSpPr>
          <p:spPr>
            <a:xfrm>
              <a:off x="5867400" y="5029200"/>
              <a:ext cx="1524000" cy="533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867400" y="3505200"/>
              <a:ext cx="1524000" cy="533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241364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2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58374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572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Digital systems operate on a </a:t>
            </a:r>
            <a:r>
              <a:rPr lang="en-US" sz="3200" b="1" dirty="0">
                <a:latin typeface="+mj-lt"/>
              </a:rPr>
              <a:t>fixed number of bits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Overflow: when result is too big to fit in the available number of bits</a:t>
            </a:r>
            <a:endParaRPr lang="en-US" sz="1600" dirty="0">
              <a:latin typeface="+mj-lt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See previous example of 11 + 6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Overflow</a:t>
            </a:r>
          </a:p>
        </p:txBody>
      </p:sp>
    </p:spTree>
    <p:extLst>
      <p:ext uri="{BB962C8B-B14F-4D97-AF65-F5344CB8AC3E}">
        <p14:creationId xmlns:p14="http://schemas.microsoft.com/office/powerpoint/2010/main" val="1076768013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6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59398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572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Sign/Magnitude Numbers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Two’s Complement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Signed Binary Numbers</a:t>
            </a:r>
          </a:p>
        </p:txBody>
      </p:sp>
    </p:spTree>
    <p:extLst>
      <p:ext uri="{BB962C8B-B14F-4D97-AF65-F5344CB8AC3E}">
        <p14:creationId xmlns:p14="http://schemas.microsoft.com/office/powerpoint/2010/main" val="3070960590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61446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+mj-lt"/>
              </a:rPr>
              <a:t>1 sign bit, </a:t>
            </a:r>
            <a:r>
              <a:rPr lang="en-US" sz="2800" i="1" dirty="0">
                <a:latin typeface="+mj-lt"/>
              </a:rPr>
              <a:t>N</a:t>
            </a:r>
            <a:r>
              <a:rPr lang="en-US" sz="2800" b="1" dirty="0">
                <a:latin typeface="+mj-lt"/>
              </a:rPr>
              <a:t>-</a:t>
            </a:r>
            <a:r>
              <a:rPr lang="en-US" sz="2800" dirty="0">
                <a:latin typeface="+mj-lt"/>
              </a:rPr>
              <a:t>1 magnitude bits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+mj-lt"/>
              </a:rPr>
              <a:t>Sign bit is the most significant (left-most) bit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400" dirty="0">
                <a:latin typeface="+mj-lt"/>
              </a:rPr>
              <a:t>Positive number: sign bit = 0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400" dirty="0">
                <a:latin typeface="+mj-lt"/>
              </a:rPr>
              <a:t>Negative number: sign bit = 1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dirty="0">
              <a:latin typeface="+mj-lt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dirty="0">
              <a:latin typeface="+mj-lt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+mj-lt"/>
              </a:rPr>
              <a:t>Example, 4</a:t>
            </a:r>
            <a:r>
              <a:rPr lang="en-US" sz="2800" b="1" dirty="0">
                <a:latin typeface="+mj-lt"/>
              </a:rPr>
              <a:t>-</a:t>
            </a:r>
            <a:r>
              <a:rPr lang="en-US" sz="2800" dirty="0">
                <a:latin typeface="+mj-lt"/>
              </a:rPr>
              <a:t>bit sign/mag representations of ± 6:</a:t>
            </a:r>
          </a:p>
          <a:p>
            <a:pPr marL="342900" indent="-342900">
              <a:spcBef>
                <a:spcPct val="20000"/>
              </a:spcBef>
            </a:pPr>
            <a:r>
              <a:rPr lang="en-US" dirty="0">
                <a:latin typeface="+mj-lt"/>
              </a:rPr>
              <a:t>	    +6 = </a:t>
            </a:r>
            <a:r>
              <a:rPr lang="en-US" b="1" dirty="0">
                <a:solidFill>
                  <a:schemeClr val="accent1"/>
                </a:solidFill>
                <a:latin typeface="+mj-lt"/>
              </a:rPr>
              <a:t>0110</a:t>
            </a:r>
          </a:p>
          <a:p>
            <a:pPr marL="342900" indent="-342900">
              <a:spcBef>
                <a:spcPct val="20000"/>
              </a:spcBef>
            </a:pPr>
            <a:r>
              <a:rPr lang="en-US" dirty="0">
                <a:latin typeface="+mj-lt"/>
              </a:rPr>
              <a:t>          </a:t>
            </a:r>
            <a:r>
              <a:rPr lang="en-US" b="1" dirty="0">
                <a:latin typeface="+mj-lt"/>
              </a:rPr>
              <a:t>- </a:t>
            </a:r>
            <a:r>
              <a:rPr lang="en-US" dirty="0">
                <a:latin typeface="+mj-lt"/>
              </a:rPr>
              <a:t>6 = </a:t>
            </a:r>
            <a:r>
              <a:rPr lang="en-US" b="1" dirty="0">
                <a:solidFill>
                  <a:schemeClr val="accent1"/>
                </a:solidFill>
                <a:latin typeface="+mj-lt"/>
              </a:rPr>
              <a:t>1110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+mj-lt"/>
              </a:rPr>
              <a:t>Range of an </a:t>
            </a:r>
            <a:r>
              <a:rPr lang="en-US" sz="2800" i="1" dirty="0">
                <a:latin typeface="+mj-lt"/>
              </a:rPr>
              <a:t>N</a:t>
            </a:r>
            <a:r>
              <a:rPr lang="en-US" sz="2800" dirty="0">
                <a:latin typeface="+mj-lt"/>
              </a:rPr>
              <a:t>-bit sign/magnitude number:</a:t>
            </a:r>
          </a:p>
          <a:p>
            <a:pPr marL="342900" indent="-342900">
              <a:spcBef>
                <a:spcPct val="20000"/>
              </a:spcBef>
            </a:pPr>
            <a:r>
              <a:rPr lang="en-US" dirty="0">
                <a:latin typeface="+mj-lt"/>
              </a:rPr>
              <a:t>		</a:t>
            </a:r>
            <a:r>
              <a:rPr lang="en-US" b="1" dirty="0">
                <a:solidFill>
                  <a:schemeClr val="accent1"/>
                </a:solidFill>
                <a:latin typeface="+mj-lt"/>
              </a:rPr>
              <a:t>[-(2</a:t>
            </a:r>
            <a:r>
              <a:rPr lang="en-US" b="1" baseline="30000" dirty="0">
                <a:solidFill>
                  <a:schemeClr val="accent1"/>
                </a:solidFill>
                <a:latin typeface="+mj-lt"/>
              </a:rPr>
              <a:t>N-1</a:t>
            </a:r>
            <a:r>
              <a:rPr lang="en-US" b="1" dirty="0">
                <a:solidFill>
                  <a:schemeClr val="accent1"/>
                </a:solidFill>
                <a:latin typeface="+mj-lt"/>
              </a:rPr>
              <a:t>-1), 2</a:t>
            </a:r>
            <a:r>
              <a:rPr lang="en-US" b="1" baseline="30000" dirty="0">
                <a:solidFill>
                  <a:schemeClr val="accent1"/>
                </a:solidFill>
                <a:latin typeface="+mj-lt"/>
              </a:rPr>
              <a:t>N-1</a:t>
            </a:r>
            <a:r>
              <a:rPr lang="en-US" b="1" dirty="0">
                <a:solidFill>
                  <a:schemeClr val="accent1"/>
                </a:solidFill>
                <a:latin typeface="+mj-lt"/>
              </a:rPr>
              <a:t>-1]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Sign/Magnitude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4114800"/>
            <a:ext cx="1524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600200" y="4495800"/>
            <a:ext cx="1524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24000" y="5257800"/>
            <a:ext cx="2895600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1" y="2057400"/>
            <a:ext cx="3124200" cy="1600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43840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8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+mj-lt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+mj-lt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+mj-lt"/>
            </a:endParaRPr>
          </a:p>
        </p:txBody>
      </p:sp>
      <p:sp>
        <p:nvSpPr>
          <p:cNvPr id="62470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57200" y="9906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3200" b="1" dirty="0">
                <a:solidFill>
                  <a:srgbClr val="0070C0"/>
                </a:solidFill>
                <a:latin typeface="+mj-lt"/>
              </a:rPr>
              <a:t>Problems: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Addition doesn’t work, for example -6 + 6:</a:t>
            </a:r>
          </a:p>
          <a:p>
            <a:pPr marL="342900" indent="-342900">
              <a:spcBef>
                <a:spcPct val="20000"/>
              </a:spcBef>
            </a:pPr>
            <a:r>
              <a:rPr lang="en-US" sz="3200" dirty="0">
                <a:latin typeface="+mj-lt"/>
              </a:rPr>
              <a:t>              1110                   </a:t>
            </a:r>
          </a:p>
          <a:p>
            <a:pPr marL="342900" indent="-342900">
              <a:spcBef>
                <a:spcPct val="20000"/>
              </a:spcBef>
            </a:pPr>
            <a:r>
              <a:rPr lang="en-US" sz="3200" dirty="0">
                <a:latin typeface="+mj-lt"/>
              </a:rPr>
              <a:t>           + 0110</a:t>
            </a:r>
          </a:p>
          <a:p>
            <a:pPr marL="342900" indent="-342900">
              <a:spcBef>
                <a:spcPct val="20000"/>
              </a:spcBef>
            </a:pPr>
            <a:r>
              <a:rPr lang="en-US" sz="3200" dirty="0">
                <a:latin typeface="+mj-lt"/>
              </a:rPr>
              <a:t>            10100 </a:t>
            </a:r>
            <a:r>
              <a:rPr lang="en-US" sz="3200" dirty="0">
                <a:solidFill>
                  <a:schemeClr val="accent2"/>
                </a:solidFill>
                <a:latin typeface="+mj-lt"/>
              </a:rPr>
              <a:t>(wrong!)</a:t>
            </a:r>
          </a:p>
          <a:p>
            <a:pPr marL="342900" indent="-342900">
              <a:spcBef>
                <a:spcPct val="20000"/>
              </a:spcBef>
            </a:pPr>
            <a:endParaRPr lang="en-US" sz="1600" dirty="0">
              <a:solidFill>
                <a:schemeClr val="accent2"/>
              </a:solidFill>
              <a:latin typeface="+mj-lt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Two representations of 0 (± 0):</a:t>
            </a:r>
          </a:p>
          <a:p>
            <a:pPr marL="342900" indent="-342900">
              <a:spcBef>
                <a:spcPct val="20000"/>
              </a:spcBef>
            </a:pPr>
            <a:r>
              <a:rPr lang="en-US" sz="3200" dirty="0">
                <a:latin typeface="+mj-lt"/>
              </a:rPr>
              <a:t>              1000                   </a:t>
            </a:r>
          </a:p>
          <a:p>
            <a:pPr marL="342900" indent="-342900">
              <a:spcBef>
                <a:spcPct val="20000"/>
              </a:spcBef>
            </a:pPr>
            <a:r>
              <a:rPr lang="en-US" sz="3200" dirty="0">
                <a:latin typeface="+mj-lt"/>
              </a:rPr>
              <a:t>              0000</a:t>
            </a:r>
          </a:p>
          <a:p>
            <a:pPr marL="342900" indent="-342900">
              <a:spcBef>
                <a:spcPct val="20000"/>
              </a:spcBef>
            </a:pPr>
            <a:endParaRPr lang="en-US" sz="3200" dirty="0">
              <a:latin typeface="+mj-lt"/>
            </a:endParaRPr>
          </a:p>
        </p:txBody>
      </p:sp>
      <p:sp>
        <p:nvSpPr>
          <p:cNvPr id="62471" name="Line 5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H="1">
            <a:off x="1447800" y="32766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Sign/Magnitude Numbers</a:t>
            </a:r>
          </a:p>
        </p:txBody>
      </p:sp>
    </p:spTree>
    <p:extLst>
      <p:ext uri="{BB962C8B-B14F-4D97-AF65-F5344CB8AC3E}">
        <p14:creationId xmlns:p14="http://schemas.microsoft.com/office/powerpoint/2010/main" val="518005100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63494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57200" y="1066800"/>
            <a:ext cx="85344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Don’t have same problems as sign/magnitude numbers: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3200" b="1" dirty="0">
                <a:latin typeface="+mj-lt"/>
              </a:rPr>
              <a:t>Addition works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3200" b="1" dirty="0">
                <a:latin typeface="+mj-lt"/>
              </a:rPr>
              <a:t>Single representation for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Two’s Complement Numbers</a:t>
            </a:r>
          </a:p>
        </p:txBody>
      </p:sp>
    </p:spTree>
    <p:extLst>
      <p:ext uri="{BB962C8B-B14F-4D97-AF65-F5344CB8AC3E}">
        <p14:creationId xmlns:p14="http://schemas.microsoft.com/office/powerpoint/2010/main" val="1188206998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64518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09600" y="9144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100" dirty="0" err="1">
                <a:latin typeface="+mj-lt"/>
              </a:rPr>
              <a:t>msb</a:t>
            </a:r>
            <a:r>
              <a:rPr lang="en-US" sz="3100" dirty="0">
                <a:latin typeface="+mj-lt"/>
              </a:rPr>
              <a:t> has value of </a:t>
            </a:r>
            <a:r>
              <a:rPr lang="en-US" sz="3100" b="1" dirty="0">
                <a:latin typeface="+mj-lt"/>
              </a:rPr>
              <a:t>-</a:t>
            </a:r>
            <a:r>
              <a:rPr lang="en-US" sz="3100" dirty="0">
                <a:latin typeface="+mj-lt"/>
              </a:rPr>
              <a:t>2</a:t>
            </a:r>
            <a:r>
              <a:rPr lang="en-US" sz="3100" i="1" baseline="30000" dirty="0">
                <a:latin typeface="+mj-lt"/>
              </a:rPr>
              <a:t>N</a:t>
            </a:r>
            <a:r>
              <a:rPr lang="en-US" sz="3100" baseline="30000" dirty="0">
                <a:latin typeface="+mj-lt"/>
              </a:rPr>
              <a:t>-1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100" dirty="0">
              <a:latin typeface="+mj-lt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100" dirty="0">
              <a:latin typeface="+mj-lt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100" dirty="0">
                <a:latin typeface="+mj-lt"/>
              </a:rPr>
              <a:t>Most positive 4-bit number: </a:t>
            </a:r>
            <a:r>
              <a:rPr lang="en-US" sz="3100" b="1" dirty="0">
                <a:solidFill>
                  <a:schemeClr val="accent1"/>
                </a:solidFill>
                <a:latin typeface="+mj-lt"/>
              </a:rPr>
              <a:t>0111</a:t>
            </a:r>
            <a:endParaRPr lang="en-US" sz="3100" dirty="0">
              <a:solidFill>
                <a:schemeClr val="accent1"/>
              </a:solidFill>
              <a:latin typeface="+mj-lt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100" dirty="0">
                <a:latin typeface="+mj-lt"/>
              </a:rPr>
              <a:t>Most negative 4-bit number: </a:t>
            </a:r>
            <a:r>
              <a:rPr lang="en-US" sz="3100" b="1" dirty="0">
                <a:solidFill>
                  <a:schemeClr val="accent1"/>
                </a:solidFill>
                <a:latin typeface="+mj-lt"/>
              </a:rPr>
              <a:t>1000</a:t>
            </a:r>
            <a:endParaRPr lang="en-US" sz="3100" dirty="0">
              <a:solidFill>
                <a:schemeClr val="accent1"/>
              </a:solidFill>
              <a:latin typeface="+mj-lt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100" dirty="0">
                <a:latin typeface="+mj-lt"/>
              </a:rPr>
              <a:t>The most significant bit still indicates the sign (1 = negative, 0 = positive)</a:t>
            </a:r>
          </a:p>
          <a:p>
            <a:pPr marL="342900" lvl="1" indent="-342900">
              <a:spcBef>
                <a:spcPct val="20000"/>
              </a:spcBef>
              <a:buFontTx/>
              <a:buChar char="•"/>
            </a:pPr>
            <a:r>
              <a:rPr lang="en-US" sz="3100" dirty="0">
                <a:latin typeface="+mj-lt"/>
              </a:rPr>
              <a:t>Range of an </a:t>
            </a:r>
            <a:r>
              <a:rPr lang="en-US" sz="3100" i="1" dirty="0">
                <a:latin typeface="+mj-lt"/>
              </a:rPr>
              <a:t>N</a:t>
            </a:r>
            <a:r>
              <a:rPr lang="en-US" sz="3100" dirty="0">
                <a:latin typeface="+mj-lt"/>
              </a:rPr>
              <a:t>-bit two’s complement number:</a:t>
            </a:r>
          </a:p>
          <a:p>
            <a:pPr marL="0" lvl="1">
              <a:spcBef>
                <a:spcPct val="20000"/>
              </a:spcBef>
            </a:pPr>
            <a:r>
              <a:rPr lang="en-US" sz="3100" b="1" dirty="0">
                <a:solidFill>
                  <a:schemeClr val="accent1"/>
                </a:solidFill>
                <a:latin typeface="+mj-lt"/>
              </a:rPr>
              <a:t>                        [-(2</a:t>
            </a:r>
            <a:r>
              <a:rPr lang="en-US" sz="3100" b="1" baseline="30000" dirty="0">
                <a:solidFill>
                  <a:schemeClr val="accent1"/>
                </a:solidFill>
                <a:latin typeface="+mj-lt"/>
              </a:rPr>
              <a:t>N-1</a:t>
            </a:r>
            <a:r>
              <a:rPr lang="en-US" sz="3100" b="1" dirty="0">
                <a:solidFill>
                  <a:schemeClr val="accent1"/>
                </a:solidFill>
                <a:latin typeface="+mj-lt"/>
              </a:rPr>
              <a:t>), 2</a:t>
            </a:r>
            <a:r>
              <a:rPr lang="en-US" sz="3100" b="1" baseline="30000" dirty="0">
                <a:solidFill>
                  <a:schemeClr val="accent1"/>
                </a:solidFill>
                <a:latin typeface="+mj-lt"/>
              </a:rPr>
              <a:t>N-1</a:t>
            </a:r>
            <a:r>
              <a:rPr lang="en-US" sz="3100" b="1" dirty="0">
                <a:solidFill>
                  <a:schemeClr val="accent1"/>
                </a:solidFill>
                <a:latin typeface="+mj-lt"/>
              </a:rPr>
              <a:t>-1]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100" dirty="0"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Two’s Complement Numbers</a:t>
            </a:r>
          </a:p>
        </p:txBody>
      </p:sp>
      <p:pic>
        <p:nvPicPr>
          <p:cNvPr id="6" name="Picture 4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371600"/>
            <a:ext cx="4657726" cy="1400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257800" y="1794606"/>
            <a:ext cx="60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62600" y="2743200"/>
            <a:ext cx="1524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715000" y="3276600"/>
            <a:ext cx="1524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19400" y="5334000"/>
            <a:ext cx="2362200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1573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8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67590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533400" indent="-5334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“Taking the Two’s complement” </a:t>
            </a:r>
            <a:r>
              <a:rPr lang="en-US" sz="3200" b="1" dirty="0">
                <a:latin typeface="+mj-lt"/>
              </a:rPr>
              <a:t>flips the sign</a:t>
            </a:r>
            <a:r>
              <a:rPr lang="en-US" sz="3200" dirty="0">
                <a:latin typeface="+mj-lt"/>
              </a:rPr>
              <a:t> of a two’s complement number</a:t>
            </a:r>
          </a:p>
          <a:p>
            <a:pPr marL="533400" indent="-5334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</a:rPr>
              <a:t>Method:</a:t>
            </a:r>
          </a:p>
          <a:p>
            <a:pPr marL="1371600" lvl="2" indent="-457200">
              <a:spcBef>
                <a:spcPct val="20000"/>
              </a:spcBef>
              <a:buFontTx/>
              <a:buAutoNum type="arabicPeriod"/>
            </a:pPr>
            <a:r>
              <a:rPr lang="en-US" sz="2400" dirty="0">
                <a:latin typeface="+mj-lt"/>
              </a:rPr>
              <a:t>Invert the bits</a:t>
            </a:r>
          </a:p>
          <a:p>
            <a:pPr marL="1371600" lvl="2" indent="-457200">
              <a:spcBef>
                <a:spcPct val="20000"/>
              </a:spcBef>
              <a:buFontTx/>
              <a:buAutoNum type="arabicPeriod"/>
            </a:pPr>
            <a:r>
              <a:rPr lang="en-US" sz="2400" dirty="0">
                <a:latin typeface="+mj-lt"/>
              </a:rPr>
              <a:t>Add 1</a:t>
            </a:r>
          </a:p>
          <a:p>
            <a:pPr marL="533400" indent="-5334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rgbClr val="0070C0"/>
                </a:solidFill>
                <a:latin typeface="+mj-lt"/>
              </a:rPr>
              <a:t>Example:</a:t>
            </a:r>
            <a:r>
              <a:rPr lang="en-US" sz="3200" dirty="0">
                <a:latin typeface="+mj-lt"/>
              </a:rPr>
              <a:t> Flip the sign of 3</a:t>
            </a:r>
            <a:r>
              <a:rPr lang="en-US" sz="3200" baseline="-25000" dirty="0">
                <a:latin typeface="+mj-lt"/>
              </a:rPr>
              <a:t>10</a:t>
            </a:r>
            <a:r>
              <a:rPr lang="en-US" sz="3200" dirty="0">
                <a:latin typeface="+mj-lt"/>
              </a:rPr>
              <a:t> = 0011</a:t>
            </a:r>
            <a:r>
              <a:rPr lang="en-US" sz="3200" baseline="-25000" dirty="0">
                <a:latin typeface="+mj-lt"/>
              </a:rPr>
              <a:t>2</a:t>
            </a:r>
          </a:p>
          <a:p>
            <a:pPr marL="1371600" lvl="2" indent="-457200">
              <a:spcBef>
                <a:spcPct val="20000"/>
              </a:spcBef>
              <a:buFontTx/>
              <a:buAutoNum type="arabicPeriod"/>
            </a:pPr>
            <a:r>
              <a:rPr lang="en-US" sz="2400" b="1" dirty="0">
                <a:solidFill>
                  <a:srgbClr val="0070C0"/>
                </a:solidFill>
                <a:latin typeface="+mj-lt"/>
              </a:rPr>
              <a:t>1100</a:t>
            </a:r>
          </a:p>
          <a:p>
            <a:pPr marL="1371600" lvl="2" indent="-457200">
              <a:spcBef>
                <a:spcPct val="20000"/>
              </a:spcBef>
              <a:buFontTx/>
              <a:buAutoNum type="arabicPeriod"/>
            </a:pPr>
            <a:r>
              <a:rPr lang="en-US" sz="2400" b="1" dirty="0">
                <a:solidFill>
                  <a:srgbClr val="0070C0"/>
                </a:solidFill>
                <a:latin typeface="+mj-lt"/>
              </a:rPr>
              <a:t>+    1</a:t>
            </a:r>
          </a:p>
          <a:p>
            <a:pPr marL="1371600" lvl="2" indent="-457200">
              <a:spcBef>
                <a:spcPct val="20000"/>
              </a:spcBef>
            </a:pPr>
            <a:r>
              <a:rPr lang="en-US" sz="2400" b="1" dirty="0">
                <a:solidFill>
                  <a:srgbClr val="0070C0"/>
                </a:solidFill>
                <a:latin typeface="+mj-lt"/>
              </a:rPr>
              <a:t>      </a:t>
            </a:r>
            <a:r>
              <a:rPr lang="en-US" sz="1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+mj-lt"/>
              </a:rPr>
              <a:t>1101 = -3</a:t>
            </a:r>
            <a:r>
              <a:rPr lang="en-US" sz="2400" b="1" baseline="-25000" dirty="0">
                <a:solidFill>
                  <a:srgbClr val="0070C0"/>
                </a:solidFill>
                <a:latin typeface="+mj-lt"/>
              </a:rPr>
              <a:t>10</a:t>
            </a:r>
          </a:p>
        </p:txBody>
      </p:sp>
      <p:sp>
        <p:nvSpPr>
          <p:cNvPr id="67591" name="Line 5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H="1">
            <a:off x="1981200" y="5029200"/>
            <a:ext cx="9144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“Taking the Two’s Complement”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1905000" y="4191000"/>
            <a:ext cx="1524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905000" y="4724400"/>
            <a:ext cx="1524000" cy="838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0219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6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69638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9906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533400" indent="-5334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Take the two’s complement of 6</a:t>
            </a:r>
            <a:r>
              <a:rPr lang="en-US" sz="3200" baseline="-25000" dirty="0">
                <a:latin typeface="+mj-lt"/>
              </a:rPr>
              <a:t>10</a:t>
            </a:r>
            <a:r>
              <a:rPr lang="en-US" sz="3200" dirty="0">
                <a:latin typeface="+mj-lt"/>
              </a:rPr>
              <a:t> = 0110</a:t>
            </a:r>
            <a:r>
              <a:rPr lang="en-US" sz="3200" baseline="-25000" dirty="0">
                <a:latin typeface="+mj-lt"/>
              </a:rPr>
              <a:t>2</a:t>
            </a:r>
          </a:p>
          <a:p>
            <a:pPr marL="1371600" lvl="2" indent="-457200">
              <a:spcBef>
                <a:spcPct val="20000"/>
              </a:spcBef>
              <a:buFontTx/>
              <a:buAutoNum type="arabicPeriod"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1001</a:t>
            </a:r>
          </a:p>
          <a:p>
            <a:pPr marL="1371600" lvl="2" indent="-457200">
              <a:spcBef>
                <a:spcPct val="20000"/>
              </a:spcBef>
              <a:buFontTx/>
              <a:buAutoNum type="arabicPeriod"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+    1</a:t>
            </a:r>
          </a:p>
          <a:p>
            <a:pPr marL="1371600" lvl="2" indent="-457200">
              <a:spcBef>
                <a:spcPct val="20000"/>
              </a:spcBef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      </a:t>
            </a:r>
            <a:r>
              <a:rPr lang="en-US" sz="1000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0070C0"/>
                </a:solidFill>
                <a:latin typeface="+mj-lt"/>
              </a:rPr>
              <a:t>1010</a:t>
            </a:r>
            <a:r>
              <a:rPr lang="en-US" sz="2400" baseline="-25000" dirty="0">
                <a:solidFill>
                  <a:srgbClr val="0070C0"/>
                </a:solidFill>
                <a:latin typeface="+mj-lt"/>
              </a:rPr>
              <a:t>2</a:t>
            </a:r>
            <a:r>
              <a:rPr lang="en-US" sz="2400" dirty="0">
                <a:solidFill>
                  <a:srgbClr val="0070C0"/>
                </a:solidFill>
                <a:latin typeface="+mj-lt"/>
              </a:rPr>
              <a:t> = -6</a:t>
            </a:r>
            <a:r>
              <a:rPr lang="en-US" sz="2400" baseline="-25000" dirty="0">
                <a:solidFill>
                  <a:srgbClr val="0070C0"/>
                </a:solidFill>
                <a:latin typeface="+mj-lt"/>
              </a:rPr>
              <a:t>10</a:t>
            </a:r>
          </a:p>
          <a:p>
            <a:pPr marL="533400" indent="-533400"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</a:endParaRPr>
          </a:p>
          <a:p>
            <a:pPr marL="533400" indent="-5334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What is the decimal value of the two’s complement number 1001</a:t>
            </a:r>
            <a:r>
              <a:rPr lang="en-US" sz="3200" baseline="-25000" dirty="0">
                <a:latin typeface="+mj-lt"/>
              </a:rPr>
              <a:t>2</a:t>
            </a:r>
            <a:r>
              <a:rPr lang="en-US" sz="3200" dirty="0">
                <a:latin typeface="+mj-lt"/>
              </a:rPr>
              <a:t>?</a:t>
            </a:r>
          </a:p>
          <a:p>
            <a:pPr marL="1371600" lvl="2" indent="-457200">
              <a:spcBef>
                <a:spcPct val="20000"/>
              </a:spcBef>
              <a:buFontTx/>
              <a:buAutoNum type="arabicPeriod"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0110</a:t>
            </a:r>
          </a:p>
          <a:p>
            <a:pPr marL="1371600" lvl="2" indent="-457200">
              <a:spcBef>
                <a:spcPct val="20000"/>
              </a:spcBef>
              <a:buFontTx/>
              <a:buAutoNum type="arabicPeriod"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+    1</a:t>
            </a:r>
          </a:p>
          <a:p>
            <a:pPr marL="1371600" lvl="2" indent="-457200">
              <a:spcBef>
                <a:spcPct val="20000"/>
              </a:spcBef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      </a:t>
            </a:r>
            <a:r>
              <a:rPr lang="en-US" sz="1000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0070C0"/>
                </a:solidFill>
                <a:latin typeface="+mj-lt"/>
              </a:rPr>
              <a:t>0111</a:t>
            </a:r>
            <a:r>
              <a:rPr lang="en-US" sz="2400" baseline="-25000" dirty="0">
                <a:solidFill>
                  <a:srgbClr val="0070C0"/>
                </a:solidFill>
                <a:latin typeface="+mj-lt"/>
              </a:rPr>
              <a:t>2</a:t>
            </a:r>
            <a:r>
              <a:rPr lang="en-US" sz="2400" dirty="0">
                <a:solidFill>
                  <a:srgbClr val="0070C0"/>
                </a:solidFill>
                <a:latin typeface="+mj-lt"/>
              </a:rPr>
              <a:t> = 7</a:t>
            </a:r>
            <a:r>
              <a:rPr lang="en-US" sz="2400" baseline="-25000" dirty="0">
                <a:solidFill>
                  <a:srgbClr val="0070C0"/>
                </a:solidFill>
                <a:latin typeface="+mj-lt"/>
              </a:rPr>
              <a:t>10</a:t>
            </a:r>
            <a:r>
              <a:rPr lang="en-US" sz="2400" dirty="0">
                <a:solidFill>
                  <a:srgbClr val="0070C0"/>
                </a:solidFill>
                <a:latin typeface="+mj-lt"/>
              </a:rPr>
              <a:t>, so 1001</a:t>
            </a:r>
            <a:r>
              <a:rPr lang="en-US" sz="2400" baseline="-25000" dirty="0">
                <a:solidFill>
                  <a:srgbClr val="0070C0"/>
                </a:solidFill>
                <a:latin typeface="+mj-lt"/>
              </a:rPr>
              <a:t>2</a:t>
            </a:r>
            <a:r>
              <a:rPr lang="en-US" sz="2400" dirty="0">
                <a:solidFill>
                  <a:srgbClr val="0070C0"/>
                </a:solidFill>
                <a:latin typeface="+mj-lt"/>
              </a:rPr>
              <a:t> = -7</a:t>
            </a:r>
            <a:r>
              <a:rPr lang="en-US" sz="2400" baseline="-25000" dirty="0">
                <a:solidFill>
                  <a:srgbClr val="0070C0"/>
                </a:solidFill>
                <a:latin typeface="+mj-lt"/>
              </a:rPr>
              <a:t>10</a:t>
            </a:r>
          </a:p>
        </p:txBody>
      </p:sp>
      <p:sp>
        <p:nvSpPr>
          <p:cNvPr id="69639" name="Line 5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H="1">
            <a:off x="1905000" y="5410200"/>
            <a:ext cx="914400" cy="0"/>
          </a:xfrm>
          <a:prstGeom prst="line">
            <a:avLst/>
          </a:prstGeom>
          <a:noFill/>
          <a:ln w="952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0" name="Line 6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 flipH="1">
            <a:off x="1905000" y="2438400"/>
            <a:ext cx="914400" cy="0"/>
          </a:xfrm>
          <a:prstGeom prst="line">
            <a:avLst/>
          </a:prstGeom>
          <a:noFill/>
          <a:ln w="952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Two’s Complement Examples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905000" y="1676400"/>
            <a:ext cx="1524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905000" y="2057400"/>
            <a:ext cx="1524000" cy="914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905000" y="4572000"/>
            <a:ext cx="1524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905000" y="4953000"/>
            <a:ext cx="3429000" cy="914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1030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662" name="Object 5"/>
          <p:cNvGraphicFramePr>
            <a:graphicFrameLocks noGrp="1" noChangeAspect="1"/>
          </p:cNvGraphicFramePr>
          <p:nvPr>
            <p:ph sz="half"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56504950"/>
              </p:ext>
            </p:extLst>
          </p:nvPr>
        </p:nvGraphicFramePr>
        <p:xfrm>
          <a:off x="2971800" y="1538287"/>
          <a:ext cx="2333625" cy="211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550770" imgH="502083" progId="Visio.Drawing.6">
                  <p:embed/>
                </p:oleObj>
              </mc:Choice>
              <mc:Fallback>
                <p:oleObj name="VISIO" r:id="rId6" imgW="550770" imgH="502083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538287"/>
                        <a:ext cx="2333625" cy="211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3" name="Object 6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28265381"/>
              </p:ext>
            </p:extLst>
          </p:nvPr>
        </p:nvGraphicFramePr>
        <p:xfrm>
          <a:off x="2895600" y="3832225"/>
          <a:ext cx="2409825" cy="218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550770" imgH="502083" progId="Visio.Drawing.6">
                  <p:embed/>
                </p:oleObj>
              </mc:Choice>
              <mc:Fallback>
                <p:oleObj name="VISIO" r:id="rId8" imgW="550770" imgH="502083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832225"/>
                        <a:ext cx="2409825" cy="218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Two’s Complement Addition</a:t>
            </a:r>
          </a:p>
        </p:txBody>
      </p:sp>
      <p:sp>
        <p:nvSpPr>
          <p:cNvPr id="6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57200" y="1066800"/>
            <a:ext cx="8458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533400" indent="-5334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Add 6 + (-6) using two’s complement numbers</a:t>
            </a:r>
          </a:p>
          <a:p>
            <a:pPr marL="533400" indent="-533400"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</a:endParaRPr>
          </a:p>
          <a:p>
            <a:pPr marL="533400" indent="-533400"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</a:endParaRPr>
          </a:p>
          <a:p>
            <a:pPr marL="533400" indent="-533400">
              <a:spcBef>
                <a:spcPct val="20000"/>
              </a:spcBef>
              <a:buFontTx/>
              <a:buChar char="•"/>
            </a:pPr>
            <a:endParaRPr lang="en-US" sz="1800" dirty="0">
              <a:latin typeface="+mj-lt"/>
            </a:endParaRPr>
          </a:p>
          <a:p>
            <a:pPr marL="533400" indent="-533400">
              <a:spcBef>
                <a:spcPct val="20000"/>
              </a:spcBef>
              <a:buFontTx/>
              <a:buChar char="•"/>
            </a:pPr>
            <a:endParaRPr lang="en-US" sz="1800" dirty="0">
              <a:latin typeface="+mj-lt"/>
            </a:endParaRPr>
          </a:p>
          <a:p>
            <a:pPr marL="533400" indent="-5334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Add </a:t>
            </a:r>
            <a:r>
              <a:rPr lang="en-US" sz="3200" b="1" dirty="0">
                <a:latin typeface="+mj-lt"/>
              </a:rPr>
              <a:t>-</a:t>
            </a:r>
            <a:r>
              <a:rPr lang="en-US" sz="3200" dirty="0">
                <a:latin typeface="+mj-lt"/>
              </a:rPr>
              <a:t>2 + 3 using two’s complement numbers</a:t>
            </a:r>
          </a:p>
        </p:txBody>
      </p:sp>
    </p:spTree>
    <p:extLst>
      <p:ext uri="{BB962C8B-B14F-4D97-AF65-F5344CB8AC3E}">
        <p14:creationId xmlns:p14="http://schemas.microsoft.com/office/powerpoint/2010/main" val="824917509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686" name="Object 4"/>
          <p:cNvGraphicFramePr>
            <a:graphicFrameLocks noGrp="1" noChangeAspect="1"/>
          </p:cNvGraphicFramePr>
          <p:nvPr>
            <p:ph sz="half"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93949985"/>
              </p:ext>
            </p:extLst>
          </p:nvPr>
        </p:nvGraphicFramePr>
        <p:xfrm>
          <a:off x="2971800" y="1538287"/>
          <a:ext cx="2333625" cy="211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551688" imgH="501396" progId="Visio.Drawing.6">
                  <p:embed/>
                </p:oleObj>
              </mc:Choice>
              <mc:Fallback>
                <p:oleObj name="VISIO" r:id="rId6" imgW="551688" imgH="501396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538287"/>
                        <a:ext cx="2333625" cy="211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7" name="Object 5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44464298"/>
              </p:ext>
            </p:extLst>
          </p:nvPr>
        </p:nvGraphicFramePr>
        <p:xfrm>
          <a:off x="2895600" y="3832225"/>
          <a:ext cx="2409825" cy="218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551688" imgH="501396" progId="Visio.Drawing.6">
                  <p:embed/>
                </p:oleObj>
              </mc:Choice>
              <mc:Fallback>
                <p:oleObj name="VISIO" r:id="rId8" imgW="551688" imgH="501396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832225"/>
                        <a:ext cx="2409825" cy="218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4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57200" y="1066800"/>
            <a:ext cx="8458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533400" indent="-5334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Add 6 + (-6) using two’s complement numbers</a:t>
            </a:r>
          </a:p>
          <a:p>
            <a:pPr marL="533400" indent="-533400"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</a:endParaRPr>
          </a:p>
          <a:p>
            <a:pPr marL="533400" indent="-533400"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</a:endParaRPr>
          </a:p>
          <a:p>
            <a:pPr marL="533400" indent="-533400">
              <a:spcBef>
                <a:spcPct val="20000"/>
              </a:spcBef>
              <a:buFontTx/>
              <a:buChar char="•"/>
            </a:pPr>
            <a:endParaRPr lang="en-US" sz="1800" dirty="0">
              <a:latin typeface="+mj-lt"/>
            </a:endParaRPr>
          </a:p>
          <a:p>
            <a:pPr marL="533400" indent="-533400">
              <a:spcBef>
                <a:spcPct val="20000"/>
              </a:spcBef>
              <a:buFontTx/>
              <a:buChar char="•"/>
            </a:pPr>
            <a:endParaRPr lang="en-US" sz="1800" dirty="0">
              <a:latin typeface="+mj-lt"/>
            </a:endParaRPr>
          </a:p>
          <a:p>
            <a:pPr marL="533400" indent="-5334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Add </a:t>
            </a:r>
            <a:r>
              <a:rPr lang="en-US" sz="3200" b="1" dirty="0">
                <a:latin typeface="+mj-lt"/>
              </a:rPr>
              <a:t>-</a:t>
            </a:r>
            <a:r>
              <a:rPr lang="en-US" sz="3200" dirty="0">
                <a:latin typeface="+mj-lt"/>
              </a:rPr>
              <a:t>2 + 3 using two’s complement numbers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Two’s Complement Addition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657600" y="1676400"/>
            <a:ext cx="1600200" cy="1905000"/>
            <a:chOff x="3657600" y="1676400"/>
            <a:chExt cx="1600200" cy="1905000"/>
          </a:xfrm>
        </p:grpSpPr>
        <p:sp>
          <p:nvSpPr>
            <p:cNvPr id="6" name="Rectangle 5"/>
            <p:cNvSpPr/>
            <p:nvPr/>
          </p:nvSpPr>
          <p:spPr>
            <a:xfrm>
              <a:off x="3657600" y="1676400"/>
              <a:ext cx="1524000" cy="381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733800" y="3124200"/>
              <a:ext cx="152400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581400" y="4038600"/>
            <a:ext cx="1600200" cy="1828800"/>
            <a:chOff x="3657600" y="1676400"/>
            <a:chExt cx="1600200" cy="1828800"/>
          </a:xfrm>
        </p:grpSpPr>
        <p:sp>
          <p:nvSpPr>
            <p:cNvPr id="12" name="Rectangle 11"/>
            <p:cNvSpPr/>
            <p:nvPr/>
          </p:nvSpPr>
          <p:spPr>
            <a:xfrm>
              <a:off x="3657600" y="1676400"/>
              <a:ext cx="1524000" cy="381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733800" y="3124200"/>
              <a:ext cx="1524000" cy="381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8838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0" y="6356350"/>
            <a:ext cx="2895600" cy="365125"/>
          </a:xfrm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000"/>
              <a:t>Copyright © 2012  Elsevier</a:t>
            </a:r>
            <a:endParaRPr lang="en-GB" sz="1000"/>
          </a:p>
        </p:txBody>
      </p:sp>
      <p:sp>
        <p:nvSpPr>
          <p:cNvPr id="72708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72710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just">
              <a:spcBef>
                <a:spcPct val="20000"/>
              </a:spcBef>
            </a:pPr>
            <a:r>
              <a:rPr lang="en-US" sz="3200" b="1" dirty="0">
                <a:latin typeface="+mj-lt"/>
              </a:rPr>
              <a:t>Extend number from </a:t>
            </a:r>
            <a:r>
              <a:rPr lang="en-US" sz="3200" b="1" i="1" dirty="0">
                <a:latin typeface="+mj-lt"/>
              </a:rPr>
              <a:t>N</a:t>
            </a:r>
            <a:r>
              <a:rPr lang="en-US" sz="3200" b="1" dirty="0">
                <a:latin typeface="+mj-lt"/>
              </a:rPr>
              <a:t> to </a:t>
            </a:r>
            <a:r>
              <a:rPr lang="en-US" sz="3200" b="1" i="1" dirty="0">
                <a:latin typeface="+mj-lt"/>
              </a:rPr>
              <a:t>M</a:t>
            </a:r>
            <a:r>
              <a:rPr lang="en-US" sz="3200" b="1" dirty="0">
                <a:latin typeface="+mj-lt"/>
              </a:rPr>
              <a:t> bits (</a:t>
            </a:r>
            <a:r>
              <a:rPr lang="en-US" sz="3200" b="1" i="1" dirty="0">
                <a:latin typeface="+mj-lt"/>
              </a:rPr>
              <a:t>M</a:t>
            </a:r>
            <a:r>
              <a:rPr lang="en-US" sz="3200" b="1" dirty="0">
                <a:latin typeface="+mj-lt"/>
              </a:rPr>
              <a:t> &gt; </a:t>
            </a:r>
            <a:r>
              <a:rPr lang="en-US" sz="3200" b="1" i="1" dirty="0">
                <a:latin typeface="+mj-lt"/>
              </a:rPr>
              <a:t>N</a:t>
            </a:r>
            <a:r>
              <a:rPr lang="en-US" sz="3200" b="1" dirty="0">
                <a:latin typeface="+mj-lt"/>
              </a:rPr>
              <a:t>) :</a:t>
            </a:r>
          </a:p>
          <a:p>
            <a:pPr marL="914400" lvl="1" indent="-457200" algn="just">
              <a:spcBef>
                <a:spcPct val="20000"/>
              </a:spcBef>
              <a:buFontTx/>
              <a:buChar char="–"/>
            </a:pPr>
            <a:r>
              <a:rPr lang="en-US" sz="3200" dirty="0">
                <a:latin typeface="+mj-lt"/>
              </a:rPr>
              <a:t>Sign-extension</a:t>
            </a:r>
          </a:p>
          <a:p>
            <a:pPr marL="914400" lvl="1" indent="-457200" algn="just">
              <a:spcBef>
                <a:spcPct val="20000"/>
              </a:spcBef>
              <a:buFontTx/>
              <a:buChar char="–"/>
            </a:pPr>
            <a:r>
              <a:rPr lang="en-US" sz="3200" dirty="0">
                <a:latin typeface="+mj-lt"/>
              </a:rPr>
              <a:t>Zero-extension</a:t>
            </a:r>
          </a:p>
          <a:p>
            <a:pPr marL="533400" indent="-533400" algn="just"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Increasing Bit Width</a:t>
            </a:r>
          </a:p>
        </p:txBody>
      </p:sp>
    </p:spTree>
    <p:extLst>
      <p:ext uri="{BB962C8B-B14F-4D97-AF65-F5344CB8AC3E}">
        <p14:creationId xmlns:p14="http://schemas.microsoft.com/office/powerpoint/2010/main" val="4224192840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2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73734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533400" indent="-533400" algn="just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Sign bit copied to </a:t>
            </a:r>
            <a:r>
              <a:rPr lang="en-US" sz="3200" dirty="0" err="1">
                <a:latin typeface="+mj-lt"/>
              </a:rPr>
              <a:t>msb’s</a:t>
            </a:r>
            <a:endParaRPr lang="en-US" sz="3200" dirty="0">
              <a:latin typeface="+mj-lt"/>
            </a:endParaRPr>
          </a:p>
          <a:p>
            <a:pPr marL="533400" indent="-533400" algn="just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Number value is same</a:t>
            </a:r>
          </a:p>
          <a:p>
            <a:pPr marL="533400" indent="-533400" algn="just">
              <a:spcBef>
                <a:spcPct val="20000"/>
              </a:spcBef>
              <a:buFontTx/>
              <a:buChar char="•"/>
            </a:pPr>
            <a:endParaRPr lang="en-US" sz="500" dirty="0">
              <a:latin typeface="+mj-lt"/>
            </a:endParaRPr>
          </a:p>
          <a:p>
            <a:pPr marL="533400" indent="-533400" algn="just"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rgbClr val="0070C0"/>
                </a:solidFill>
                <a:latin typeface="+mj-lt"/>
              </a:rPr>
              <a:t>Example 1:</a:t>
            </a:r>
          </a:p>
          <a:p>
            <a:pPr marL="914400" lvl="1" indent="-457200" algn="just">
              <a:spcBef>
                <a:spcPct val="20000"/>
              </a:spcBef>
              <a:buFontTx/>
              <a:buChar char="–"/>
            </a:pPr>
            <a:r>
              <a:rPr lang="en-US" sz="2400" dirty="0">
                <a:latin typeface="+mj-lt"/>
              </a:rPr>
              <a:t>4-bit representation of 3 =          </a:t>
            </a:r>
            <a:r>
              <a:rPr lang="en-US" sz="2400" b="1" dirty="0">
                <a:solidFill>
                  <a:srgbClr val="0070C0"/>
                </a:solidFill>
                <a:latin typeface="+mj-lt"/>
              </a:rPr>
              <a:t>0</a:t>
            </a:r>
            <a:r>
              <a:rPr lang="en-US" sz="2400" dirty="0">
                <a:latin typeface="+mj-lt"/>
              </a:rPr>
              <a:t>011</a:t>
            </a:r>
          </a:p>
          <a:p>
            <a:pPr marL="914400" lvl="1" indent="-457200" algn="just">
              <a:spcBef>
                <a:spcPct val="20000"/>
              </a:spcBef>
              <a:buFontTx/>
              <a:buChar char="–"/>
            </a:pPr>
            <a:r>
              <a:rPr lang="en-US" sz="2400" dirty="0">
                <a:latin typeface="+mj-lt"/>
              </a:rPr>
              <a:t>8-bit sign-extended value: </a:t>
            </a:r>
            <a:r>
              <a:rPr lang="en-US" sz="2400" b="1" dirty="0">
                <a:solidFill>
                  <a:srgbClr val="0070C0"/>
                </a:solidFill>
                <a:latin typeface="+mj-lt"/>
              </a:rPr>
              <a:t>0000</a:t>
            </a:r>
            <a:r>
              <a:rPr lang="en-US" sz="2400" dirty="0">
                <a:latin typeface="+mj-lt"/>
              </a:rPr>
              <a:t>0011</a:t>
            </a:r>
          </a:p>
          <a:p>
            <a:pPr marL="533400" indent="-533400" algn="just"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rgbClr val="0070C0"/>
                </a:solidFill>
                <a:latin typeface="+mj-lt"/>
              </a:rPr>
              <a:t>Example 2:</a:t>
            </a:r>
          </a:p>
          <a:p>
            <a:pPr marL="914400" lvl="1" indent="-457200" algn="just">
              <a:spcBef>
                <a:spcPct val="20000"/>
              </a:spcBef>
              <a:buFontTx/>
              <a:buChar char="–"/>
            </a:pPr>
            <a:r>
              <a:rPr lang="en-US" sz="2400" dirty="0">
                <a:latin typeface="+mj-lt"/>
              </a:rPr>
              <a:t>4-bit representation of -5 =         </a:t>
            </a:r>
            <a:r>
              <a:rPr lang="en-US" sz="2400" b="1" dirty="0">
                <a:solidFill>
                  <a:srgbClr val="0070C0"/>
                </a:solidFill>
                <a:latin typeface="+mj-lt"/>
              </a:rPr>
              <a:t>1</a:t>
            </a:r>
            <a:r>
              <a:rPr lang="en-US" sz="2400" dirty="0">
                <a:latin typeface="+mj-lt"/>
              </a:rPr>
              <a:t>011</a:t>
            </a:r>
          </a:p>
          <a:p>
            <a:pPr marL="914400" lvl="1" indent="-457200" algn="just">
              <a:spcBef>
                <a:spcPct val="20000"/>
              </a:spcBef>
              <a:buFontTx/>
              <a:buChar char="–"/>
            </a:pPr>
            <a:r>
              <a:rPr lang="en-US" sz="2400" dirty="0">
                <a:latin typeface="+mj-lt"/>
              </a:rPr>
              <a:t>8-bit sign-extended value:  </a:t>
            </a:r>
            <a:r>
              <a:rPr lang="en-US" sz="2400" b="1" dirty="0">
                <a:solidFill>
                  <a:srgbClr val="0070C0"/>
                </a:solidFill>
                <a:latin typeface="+mj-lt"/>
              </a:rPr>
              <a:t>1111</a:t>
            </a:r>
            <a:r>
              <a:rPr lang="en-US" sz="2400" dirty="0">
                <a:latin typeface="+mj-lt"/>
              </a:rPr>
              <a:t>1011</a:t>
            </a:r>
          </a:p>
          <a:p>
            <a:pPr marL="533400" indent="-533400" algn="just"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Sign-Extension</a:t>
            </a:r>
          </a:p>
        </p:txBody>
      </p:sp>
    </p:spTree>
    <p:extLst>
      <p:ext uri="{BB962C8B-B14F-4D97-AF65-F5344CB8AC3E}">
        <p14:creationId xmlns:p14="http://schemas.microsoft.com/office/powerpoint/2010/main" val="4160044859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6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74758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533400" indent="-533400" algn="just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Zeros copied to </a:t>
            </a:r>
            <a:r>
              <a:rPr lang="en-US" sz="3200" dirty="0" err="1">
                <a:latin typeface="+mj-lt"/>
              </a:rPr>
              <a:t>msb’s</a:t>
            </a:r>
            <a:endParaRPr lang="en-US" sz="3200" dirty="0">
              <a:latin typeface="+mj-lt"/>
            </a:endParaRPr>
          </a:p>
          <a:p>
            <a:pPr marL="533400" indent="-533400" algn="just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Value changes for negative numbers</a:t>
            </a:r>
          </a:p>
          <a:p>
            <a:pPr marL="533400" indent="-533400" algn="just">
              <a:spcBef>
                <a:spcPct val="20000"/>
              </a:spcBef>
              <a:buFontTx/>
              <a:buChar char="•"/>
            </a:pPr>
            <a:endParaRPr lang="en-US" sz="500" dirty="0">
              <a:latin typeface="+mj-lt"/>
            </a:endParaRPr>
          </a:p>
          <a:p>
            <a:pPr marL="533400" indent="-533400" algn="just"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rgbClr val="0070C0"/>
                </a:solidFill>
                <a:latin typeface="+mj-lt"/>
              </a:rPr>
              <a:t>Example 1:</a:t>
            </a:r>
          </a:p>
          <a:p>
            <a:pPr marL="914400" lvl="1" indent="-457200" algn="just">
              <a:spcBef>
                <a:spcPct val="20000"/>
              </a:spcBef>
              <a:buFontTx/>
              <a:buChar char="–"/>
            </a:pPr>
            <a:r>
              <a:rPr lang="en-US" sz="2400" dirty="0">
                <a:latin typeface="+mj-lt"/>
              </a:rPr>
              <a:t>4-bit value =                                   0011 = 3</a:t>
            </a:r>
            <a:r>
              <a:rPr lang="en-US" sz="2400" baseline="-25000" dirty="0">
                <a:latin typeface="+mj-lt"/>
              </a:rPr>
              <a:t>10</a:t>
            </a:r>
          </a:p>
          <a:p>
            <a:pPr marL="914400" lvl="1" indent="-457200" algn="just">
              <a:spcBef>
                <a:spcPct val="20000"/>
              </a:spcBef>
              <a:buFontTx/>
              <a:buChar char="–"/>
            </a:pPr>
            <a:r>
              <a:rPr lang="en-US" sz="2400" dirty="0">
                <a:latin typeface="+mj-lt"/>
              </a:rPr>
              <a:t>8-bit zero-extended value: </a:t>
            </a:r>
            <a:r>
              <a:rPr lang="en-US" sz="2400" b="1" dirty="0">
                <a:solidFill>
                  <a:srgbClr val="0070C0"/>
                </a:solidFill>
                <a:latin typeface="+mj-lt"/>
              </a:rPr>
              <a:t>0000</a:t>
            </a:r>
            <a:r>
              <a:rPr lang="en-US" sz="2400" dirty="0">
                <a:latin typeface="+mj-lt"/>
              </a:rPr>
              <a:t>0011 = 3</a:t>
            </a:r>
            <a:r>
              <a:rPr lang="en-US" sz="2400" baseline="-25000" dirty="0">
                <a:latin typeface="+mj-lt"/>
              </a:rPr>
              <a:t>10</a:t>
            </a:r>
          </a:p>
          <a:p>
            <a:pPr marL="533400" indent="-533400" algn="just"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rgbClr val="0070C0"/>
                </a:solidFill>
                <a:latin typeface="+mj-lt"/>
              </a:rPr>
              <a:t>Example 2:</a:t>
            </a:r>
          </a:p>
          <a:p>
            <a:pPr marL="914400" lvl="1" indent="-457200" algn="just">
              <a:spcBef>
                <a:spcPct val="20000"/>
              </a:spcBef>
              <a:buFontTx/>
              <a:buChar char="–"/>
            </a:pPr>
            <a:r>
              <a:rPr lang="en-US" sz="2400" dirty="0">
                <a:latin typeface="+mj-lt"/>
              </a:rPr>
              <a:t>4-bit value =                                   1011 = -5</a:t>
            </a:r>
            <a:r>
              <a:rPr lang="en-US" sz="2400" baseline="-25000" dirty="0">
                <a:latin typeface="+mj-lt"/>
              </a:rPr>
              <a:t>10</a:t>
            </a:r>
            <a:endParaRPr lang="en-US" sz="2400" dirty="0">
              <a:latin typeface="+mj-lt"/>
            </a:endParaRPr>
          </a:p>
          <a:p>
            <a:pPr marL="914400" lvl="1" indent="-457200" algn="just">
              <a:spcBef>
                <a:spcPct val="20000"/>
              </a:spcBef>
              <a:buFontTx/>
              <a:buChar char="–"/>
            </a:pPr>
            <a:r>
              <a:rPr lang="en-US" sz="2400" dirty="0">
                <a:latin typeface="+mj-lt"/>
              </a:rPr>
              <a:t>8-bit zero-extended value: </a:t>
            </a:r>
            <a:r>
              <a:rPr lang="en-US" sz="2400" b="1" dirty="0">
                <a:solidFill>
                  <a:srgbClr val="0070C0"/>
                </a:solidFill>
                <a:latin typeface="+mj-lt"/>
              </a:rPr>
              <a:t>0000</a:t>
            </a:r>
            <a:r>
              <a:rPr lang="en-US" sz="2400" dirty="0">
                <a:latin typeface="+mj-lt"/>
              </a:rPr>
              <a:t>1011 = 11</a:t>
            </a:r>
            <a:r>
              <a:rPr lang="en-US" sz="2400" baseline="-25000" dirty="0">
                <a:latin typeface="+mj-lt"/>
              </a:rPr>
              <a:t>10</a:t>
            </a:r>
            <a:endParaRPr lang="en-US" sz="2400" dirty="0">
              <a:latin typeface="+mj-lt"/>
            </a:endParaRPr>
          </a:p>
          <a:p>
            <a:pPr marL="533400" indent="-533400" algn="just"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Zero-Extension</a:t>
            </a:r>
          </a:p>
        </p:txBody>
      </p:sp>
    </p:spTree>
    <p:extLst>
      <p:ext uri="{BB962C8B-B14F-4D97-AF65-F5344CB8AC3E}">
        <p14:creationId xmlns:p14="http://schemas.microsoft.com/office/powerpoint/2010/main" val="1958698572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782" name="Object 6"/>
          <p:cNvGraphicFramePr>
            <a:graphicFrameLocks noGrp="1" noChangeAspect="1"/>
          </p:cNvGraphicFramePr>
          <p:nvPr>
            <p:ph sz="half"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82983078"/>
              </p:ext>
            </p:extLst>
          </p:nvPr>
        </p:nvGraphicFramePr>
        <p:xfrm>
          <a:off x="-152400" y="3581400"/>
          <a:ext cx="9412611" cy="220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5744386" imgH="1346412" progId="Visio.Drawing.6">
                  <p:embed/>
                </p:oleObj>
              </mc:Choice>
              <mc:Fallback>
                <p:oleObj name="VISIO" r:id="rId7" imgW="5744386" imgH="134641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52400" y="3581400"/>
                        <a:ext cx="9412611" cy="220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1894" name="Group 102"/>
          <p:cNvGraphicFramePr>
            <a:graphicFrameLocks noGrp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84983086"/>
              </p:ext>
            </p:extLst>
          </p:nvPr>
        </p:nvGraphicFramePr>
        <p:xfrm>
          <a:off x="1981200" y="1096961"/>
          <a:ext cx="4876800" cy="1646239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Number System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Range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Unsigned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[0, 2</a:t>
                      </a:r>
                      <a:r>
                        <a:rPr kumimoji="0" lang="en-US" sz="2000" b="0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-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1]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Sign/Magnitude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[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-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(2</a:t>
                      </a:r>
                      <a:r>
                        <a:rPr kumimoji="0" lang="en-US" sz="2000" b="0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-1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-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1), 2</a:t>
                      </a:r>
                      <a:r>
                        <a:rPr kumimoji="0" lang="en-US" sz="2000" b="0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-1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-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1]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Two’s Complement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[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-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-1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, 2</a:t>
                      </a:r>
                      <a:r>
                        <a:rPr kumimoji="0" lang="en-US" sz="2000" b="0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-1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-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1]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5780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75800" name="Text Box 100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752600" y="2971800"/>
            <a:ext cx="624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For example, 4-bit representation: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Number System Comparison</a:t>
            </a:r>
          </a:p>
        </p:txBody>
      </p:sp>
    </p:spTree>
    <p:extLst>
      <p:ext uri="{BB962C8B-B14F-4D97-AF65-F5344CB8AC3E}">
        <p14:creationId xmlns:p14="http://schemas.microsoft.com/office/powerpoint/2010/main" val="282515410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5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609600" y="1219200"/>
            <a:ext cx="8229600" cy="4525963"/>
          </a:xfrm>
        </p:spPr>
        <p:txBody>
          <a:bodyPr/>
          <a:lstStyle/>
          <a:p>
            <a:pPr eaLnBrk="1" hangingPunct="1"/>
            <a:r>
              <a:rPr lang="en-US" b="1" dirty="0"/>
              <a:t>Perform logic functions: </a:t>
            </a:r>
          </a:p>
          <a:p>
            <a:pPr lvl="1" eaLnBrk="1" hangingPunct="1"/>
            <a:r>
              <a:rPr lang="en-US" dirty="0"/>
              <a:t>inversion (NOT), AND, OR, NAND, NOR, etc.</a:t>
            </a:r>
          </a:p>
          <a:p>
            <a:pPr eaLnBrk="1" hangingPunct="1"/>
            <a:r>
              <a:rPr lang="en-US" b="1" dirty="0"/>
              <a:t>Single-input: </a:t>
            </a:r>
          </a:p>
          <a:p>
            <a:pPr lvl="1" eaLnBrk="1" hangingPunct="1"/>
            <a:r>
              <a:rPr lang="en-US" dirty="0"/>
              <a:t>NOT gate, buffer</a:t>
            </a:r>
          </a:p>
          <a:p>
            <a:pPr eaLnBrk="1" hangingPunct="1"/>
            <a:r>
              <a:rPr lang="en-US" b="1" dirty="0"/>
              <a:t>Two-input: </a:t>
            </a:r>
          </a:p>
          <a:p>
            <a:pPr lvl="1" eaLnBrk="1" hangingPunct="1"/>
            <a:r>
              <a:rPr lang="en-US" dirty="0"/>
              <a:t>AND, OR, XOR, NAND, NOR, XNOR</a:t>
            </a:r>
          </a:p>
          <a:p>
            <a:pPr eaLnBrk="1" hangingPunct="1"/>
            <a:r>
              <a:rPr lang="en-US" b="1" dirty="0"/>
              <a:t>Multiple-input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Logic Gates</a:t>
            </a:r>
          </a:p>
        </p:txBody>
      </p:sp>
    </p:spTree>
    <p:extLst>
      <p:ext uri="{BB962C8B-B14F-4D97-AF65-F5344CB8AC3E}">
        <p14:creationId xmlns:p14="http://schemas.microsoft.com/office/powerpoint/2010/main" val="27063568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854" name="Object 4"/>
          <p:cNvGraphicFramePr>
            <a:graphicFrameLocks noGrp="1" noChangeAspect="1"/>
          </p:cNvGraphicFramePr>
          <p:nvPr>
            <p:ph sz="half"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4423294"/>
              </p:ext>
            </p:extLst>
          </p:nvPr>
        </p:nvGraphicFramePr>
        <p:xfrm>
          <a:off x="1943100" y="1365250"/>
          <a:ext cx="2641600" cy="366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885960" imgH="1228680" progId="Visio.Drawing.6">
                  <p:embed/>
                </p:oleObj>
              </mc:Choice>
              <mc:Fallback>
                <p:oleObj name="VISIO" r:id="rId6" imgW="885960" imgH="12286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100" y="1365250"/>
                        <a:ext cx="2641600" cy="366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5" name="Object 5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46575575"/>
              </p:ext>
            </p:extLst>
          </p:nvPr>
        </p:nvGraphicFramePr>
        <p:xfrm>
          <a:off x="5316538" y="1447800"/>
          <a:ext cx="2535237" cy="351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885960" imgH="1228680" progId="Visio.Drawing.6">
                  <p:embed/>
                </p:oleObj>
              </mc:Choice>
              <mc:Fallback>
                <p:oleObj name="VISIO" r:id="rId8" imgW="885960" imgH="12286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6538" y="1447800"/>
                        <a:ext cx="2535237" cy="351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2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Single-Input Logic Gates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52800" y="4191000"/>
            <a:ext cx="381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352800" y="4419600"/>
            <a:ext cx="381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629400" y="4114800"/>
            <a:ext cx="381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629400" y="4343400"/>
            <a:ext cx="381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3636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902" name="Object 4"/>
          <p:cNvGraphicFramePr>
            <a:graphicFrameLocks noGrp="1" noChangeAspect="1"/>
          </p:cNvGraphicFramePr>
          <p:nvPr>
            <p:ph sz="half"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63158048"/>
              </p:ext>
            </p:extLst>
          </p:nvPr>
        </p:nvGraphicFramePr>
        <p:xfrm>
          <a:off x="1682750" y="1438275"/>
          <a:ext cx="2301875" cy="378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885960" imgH="1457280" progId="Visio.Drawing.6">
                  <p:embed/>
                </p:oleObj>
              </mc:Choice>
              <mc:Fallback>
                <p:oleObj name="VISIO" r:id="rId6" imgW="885960" imgH="14572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2750" y="1438275"/>
                        <a:ext cx="2301875" cy="3787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3" name="Object 5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48940321"/>
              </p:ext>
            </p:extLst>
          </p:nvPr>
        </p:nvGraphicFramePr>
        <p:xfrm>
          <a:off x="5005388" y="1447800"/>
          <a:ext cx="2332037" cy="383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885960" imgH="1457280" progId="Visio.Drawing.6">
                  <p:embed/>
                </p:oleObj>
              </mc:Choice>
              <mc:Fallback>
                <p:oleObj name="VISIO" r:id="rId8" imgW="885960" imgH="14572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5388" y="1447800"/>
                        <a:ext cx="2332037" cy="383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0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Two-Input Logic Gates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124200" y="3886200"/>
            <a:ext cx="381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124200" y="4114800"/>
            <a:ext cx="381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124200" y="4419600"/>
            <a:ext cx="381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124200" y="4648200"/>
            <a:ext cx="381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553200" y="3886200"/>
            <a:ext cx="381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553200" y="4114800"/>
            <a:ext cx="381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553200" y="4419600"/>
            <a:ext cx="381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6553200" y="4648200"/>
            <a:ext cx="381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3466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950" name="Object 4"/>
          <p:cNvGraphicFramePr>
            <a:graphicFrameLocks noGrp="1" noChangeAspect="1"/>
          </p:cNvGraphicFramePr>
          <p:nvPr>
            <p:ph sz="half"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20827044"/>
              </p:ext>
            </p:extLst>
          </p:nvPr>
        </p:nvGraphicFramePr>
        <p:xfrm>
          <a:off x="914400" y="1466850"/>
          <a:ext cx="8001000" cy="325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3584448" imgH="1456944" progId="Visio.Drawing.6">
                  <p:embed/>
                </p:oleObj>
              </mc:Choice>
              <mc:Fallback>
                <p:oleObj name="VISIO" r:id="rId5" imgW="3584448" imgH="1456944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466850"/>
                        <a:ext cx="8001000" cy="325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8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More Two-Input Logic Gates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438400" y="3581400"/>
            <a:ext cx="381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438400" y="3810000"/>
            <a:ext cx="381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438400" y="4114800"/>
            <a:ext cx="381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438400" y="4343400"/>
            <a:ext cx="381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495800" y="3581400"/>
            <a:ext cx="381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495800" y="3810000"/>
            <a:ext cx="381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495800" y="4114800"/>
            <a:ext cx="381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495800" y="4343400"/>
            <a:ext cx="381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6553200" y="3581400"/>
            <a:ext cx="381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6553200" y="3810000"/>
            <a:ext cx="381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553200" y="4114800"/>
            <a:ext cx="381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6553200" y="4343400"/>
            <a:ext cx="381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8534400" y="3581400"/>
            <a:ext cx="381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8534400" y="3810000"/>
            <a:ext cx="381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8534400" y="4114800"/>
            <a:ext cx="381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8534400" y="4343400"/>
            <a:ext cx="381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215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998" name="Object 4"/>
          <p:cNvGraphicFramePr>
            <a:graphicFrameLocks noGrp="1" noChangeAspect="1"/>
          </p:cNvGraphicFramePr>
          <p:nvPr>
            <p:ph sz="half"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67714415"/>
              </p:ext>
            </p:extLst>
          </p:nvPr>
        </p:nvGraphicFramePr>
        <p:xfrm>
          <a:off x="1477962" y="1219200"/>
          <a:ext cx="2484438" cy="473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961644" imgH="1914144" progId="Visio.Drawing.6">
                  <p:embed/>
                </p:oleObj>
              </mc:Choice>
              <mc:Fallback>
                <p:oleObj name="VISIO" r:id="rId6" imgW="961644" imgH="1914144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7962" y="1219200"/>
                        <a:ext cx="2484438" cy="473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84999" name="Rectangle 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362200" y="5943600"/>
            <a:ext cx="4759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FontTx/>
              <a:buChar char="•"/>
            </a:pPr>
            <a:r>
              <a:rPr lang="en-US"/>
              <a:t> Multi-input XOR: Odd parity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Multiple-Input Logic Gates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0692270"/>
              </p:ext>
            </p:extLst>
          </p:nvPr>
        </p:nvGraphicFramePr>
        <p:xfrm>
          <a:off x="5126038" y="1219200"/>
          <a:ext cx="2341562" cy="466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961200" imgH="1914480" progId="Visio.Drawing.6">
                  <p:embed/>
                </p:oleObj>
              </mc:Choice>
              <mc:Fallback>
                <p:oleObj name="VISIO" r:id="rId8" imgW="961200" imgH="1914480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6038" y="1219200"/>
                        <a:ext cx="2341562" cy="466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3429000" y="3581400"/>
            <a:ext cx="381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429000" y="3810000"/>
            <a:ext cx="381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429000" y="4114800"/>
            <a:ext cx="381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429000" y="4343400"/>
            <a:ext cx="381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429000" y="4648200"/>
            <a:ext cx="381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429000" y="4876800"/>
            <a:ext cx="381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429000" y="5181600"/>
            <a:ext cx="381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429000" y="5410200"/>
            <a:ext cx="381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010400" y="3505200"/>
            <a:ext cx="381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010400" y="3733800"/>
            <a:ext cx="381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010400" y="4038600"/>
            <a:ext cx="381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010400" y="4267200"/>
            <a:ext cx="381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7010400" y="4572000"/>
            <a:ext cx="381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010400" y="4800600"/>
            <a:ext cx="381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010400" y="5105400"/>
            <a:ext cx="381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7010400" y="5334000"/>
            <a:ext cx="381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8460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84999" name="Rectangle 6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362200" y="5943600"/>
            <a:ext cx="4759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FontTx/>
              <a:buChar char="•"/>
            </a:pPr>
            <a:r>
              <a:rPr lang="en-US"/>
              <a:t> Multi-input XOR: Odd parity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>
                <a:solidFill>
                  <a:schemeClr val="bg1"/>
                </a:solidFill>
                <a:latin typeface="+mj-lt"/>
              </a:rPr>
              <a:t>SystemVerilog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 Description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3581400"/>
            <a:ext cx="381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429000" y="3810000"/>
            <a:ext cx="381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429000" y="4114800"/>
            <a:ext cx="381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429000" y="4343400"/>
            <a:ext cx="381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429000" y="4648200"/>
            <a:ext cx="381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429000" y="4876800"/>
            <a:ext cx="381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429000" y="5181600"/>
            <a:ext cx="381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429000" y="5410200"/>
            <a:ext cx="381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010400" y="3505200"/>
            <a:ext cx="381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010400" y="3733800"/>
            <a:ext cx="381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010400" y="4038600"/>
            <a:ext cx="381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010400" y="4267200"/>
            <a:ext cx="381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7010400" y="4572000"/>
            <a:ext cx="381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010400" y="4800600"/>
            <a:ext cx="381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010400" y="5105400"/>
            <a:ext cx="381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7010400" y="5334000"/>
            <a:ext cx="381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3"/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533400" y="1219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latin typeface="Courier New"/>
                <a:cs typeface="Courier New"/>
              </a:rPr>
              <a:t>module gates(input  logic a, b, c,</a:t>
            </a:r>
          </a:p>
          <a:p>
            <a:pPr marL="0" indent="0">
              <a:buNone/>
            </a:pPr>
            <a:r>
              <a:rPr lang="en-US" sz="2000" dirty="0">
                <a:latin typeface="Courier New"/>
                <a:cs typeface="Courier New"/>
              </a:rPr>
              <a:t>		   output logic y1, y2, y3, y4, y5);</a:t>
            </a:r>
          </a:p>
          <a:p>
            <a:pPr marL="0" indent="0">
              <a:buNone/>
            </a:pPr>
            <a:endParaRPr lang="en-US" sz="2000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000" dirty="0">
                <a:latin typeface="Courier New"/>
                <a:cs typeface="Courier New"/>
              </a:rPr>
              <a:t>  not  g1(y1, a);</a:t>
            </a:r>
          </a:p>
          <a:p>
            <a:pPr marL="0" indent="0">
              <a:buNone/>
            </a:pPr>
            <a:r>
              <a:rPr lang="en-US" sz="2000" dirty="0">
                <a:latin typeface="Courier New"/>
                <a:cs typeface="Courier New"/>
              </a:rPr>
              <a:t>  and  g2(y2, a, b);</a:t>
            </a:r>
          </a:p>
          <a:p>
            <a:pPr marL="0" indent="0">
              <a:buNone/>
            </a:pPr>
            <a:r>
              <a:rPr lang="en-US" sz="2000" dirty="0">
                <a:latin typeface="Courier New"/>
                <a:cs typeface="Courier New"/>
              </a:rPr>
              <a:t>  or   g3(y3, a, b, c);</a:t>
            </a:r>
          </a:p>
          <a:p>
            <a:pPr marL="0" indent="0">
              <a:buNone/>
            </a:pPr>
            <a:r>
              <a:rPr lang="en-US" sz="2000" dirty="0">
                <a:latin typeface="Courier New"/>
                <a:cs typeface="Courier New"/>
              </a:rPr>
              <a:t>  </a:t>
            </a:r>
            <a:r>
              <a:rPr lang="en-US" sz="2000" dirty="0" err="1">
                <a:latin typeface="Courier New"/>
                <a:cs typeface="Courier New"/>
              </a:rPr>
              <a:t>nand</a:t>
            </a:r>
            <a:r>
              <a:rPr lang="en-US" sz="2000" dirty="0">
                <a:latin typeface="Courier New"/>
                <a:cs typeface="Courier New"/>
              </a:rPr>
              <a:t> g4(y4, b, c);</a:t>
            </a:r>
          </a:p>
          <a:p>
            <a:pPr marL="0" indent="0">
              <a:buNone/>
            </a:pPr>
            <a:r>
              <a:rPr lang="en-US" sz="2000" dirty="0">
                <a:latin typeface="Courier New"/>
                <a:cs typeface="Courier New"/>
              </a:rPr>
              <a:t>  </a:t>
            </a:r>
            <a:r>
              <a:rPr lang="en-US" sz="2000" dirty="0" err="1">
                <a:latin typeface="Courier New"/>
                <a:cs typeface="Courier New"/>
              </a:rPr>
              <a:t>xor</a:t>
            </a:r>
            <a:r>
              <a:rPr lang="en-US" sz="2000" dirty="0">
                <a:latin typeface="Courier New"/>
                <a:cs typeface="Courier New"/>
              </a:rPr>
              <a:t>  g5(y5, a, c);</a:t>
            </a:r>
          </a:p>
          <a:p>
            <a:pPr marL="0" indent="0">
              <a:buNone/>
            </a:pPr>
            <a:r>
              <a:rPr lang="en-US" sz="2000" dirty="0" err="1">
                <a:latin typeface="Courier New"/>
                <a:cs typeface="Courier New"/>
              </a:rPr>
              <a:t>endmodule</a:t>
            </a:r>
            <a:endParaRPr lang="en-US" sz="2000" dirty="0">
              <a:latin typeface="Courier New"/>
              <a:cs typeface="Courier New"/>
            </a:endParaRPr>
          </a:p>
          <a:p>
            <a:pPr marL="0" indent="0">
              <a:buNone/>
            </a:pPr>
            <a:endParaRPr lang="en-US" sz="2000" dirty="0">
              <a:latin typeface="Courier New"/>
              <a:cs typeface="Courier New"/>
            </a:endParaRPr>
          </a:p>
          <a:p>
            <a:pPr marL="0" indent="0">
              <a:buNone/>
            </a:pPr>
            <a:endParaRPr lang="en-US"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424147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1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533400" y="121920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Discrete voltages represent 1 and 0</a:t>
            </a:r>
          </a:p>
          <a:p>
            <a:pPr eaLnBrk="1" hangingPunct="1"/>
            <a:r>
              <a:rPr lang="en-US" dirty="0"/>
              <a:t>For example: </a:t>
            </a:r>
          </a:p>
          <a:p>
            <a:pPr lvl="1" eaLnBrk="1" hangingPunct="1"/>
            <a:r>
              <a:rPr lang="en-US" dirty="0"/>
              <a:t>0 = </a:t>
            </a:r>
            <a:r>
              <a:rPr lang="en-US" i="1" dirty="0"/>
              <a:t>ground</a:t>
            </a:r>
            <a:r>
              <a:rPr lang="en-US" dirty="0"/>
              <a:t> (GND) or 0 volts</a:t>
            </a:r>
          </a:p>
          <a:p>
            <a:pPr lvl="1" eaLnBrk="1" hangingPunct="1"/>
            <a:r>
              <a:rPr lang="en-US" dirty="0"/>
              <a:t>1 = </a:t>
            </a:r>
            <a:r>
              <a:rPr lang="en-US" i="1" dirty="0"/>
              <a:t>V</a:t>
            </a:r>
            <a:r>
              <a:rPr lang="en-US" i="1" baseline="-25000" dirty="0"/>
              <a:t>DD</a:t>
            </a:r>
            <a:r>
              <a:rPr lang="en-US" dirty="0"/>
              <a:t> or 5 volts</a:t>
            </a:r>
          </a:p>
          <a:p>
            <a:pPr eaLnBrk="1" hangingPunct="1"/>
            <a:r>
              <a:rPr lang="en-US" dirty="0"/>
              <a:t>What about 4.99 volts?  Is that a 0 or a 1?</a:t>
            </a:r>
          </a:p>
          <a:p>
            <a:pPr eaLnBrk="1" hangingPunct="1"/>
            <a:r>
              <a:rPr lang="en-US" dirty="0"/>
              <a:t>What about 3.2 volts?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Logic Levels</a:t>
            </a:r>
          </a:p>
        </p:txBody>
      </p:sp>
    </p:spTree>
    <p:extLst>
      <p:ext uri="{BB962C8B-B14F-4D97-AF65-F5344CB8AC3E}">
        <p14:creationId xmlns:p14="http://schemas.microsoft.com/office/powerpoint/2010/main" val="11844388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5" name="Rectangle 3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533400" y="1219200"/>
            <a:ext cx="7467600" cy="4953000"/>
          </a:xfrm>
        </p:spPr>
        <p:txBody>
          <a:bodyPr/>
          <a:lstStyle/>
          <a:p>
            <a:pPr eaLnBrk="1" hangingPunct="1"/>
            <a:r>
              <a:rPr lang="en-US" i="1" dirty="0"/>
              <a:t>Range</a:t>
            </a:r>
            <a:r>
              <a:rPr lang="en-US" dirty="0"/>
              <a:t> of voltages for 1 and 0</a:t>
            </a:r>
          </a:p>
          <a:p>
            <a:pPr eaLnBrk="1" hangingPunct="1"/>
            <a:r>
              <a:rPr lang="en-US" dirty="0"/>
              <a:t>Different ranges for inputs and outputs to allow for </a:t>
            </a:r>
            <a:r>
              <a:rPr lang="en-US" i="1" dirty="0"/>
              <a:t>noise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Logic Levels</a:t>
            </a:r>
          </a:p>
        </p:txBody>
      </p:sp>
    </p:spTree>
    <p:extLst>
      <p:ext uri="{BB962C8B-B14F-4D97-AF65-F5344CB8AC3E}">
        <p14:creationId xmlns:p14="http://schemas.microsoft.com/office/powerpoint/2010/main" val="34808507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3" name="Rectangle 3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533400" y="1066800"/>
            <a:ext cx="7467600" cy="4953000"/>
          </a:xfrm>
        </p:spPr>
        <p:txBody>
          <a:bodyPr/>
          <a:lstStyle/>
          <a:p>
            <a:pPr eaLnBrk="1" hangingPunct="1"/>
            <a:r>
              <a:rPr lang="en-US" b="1" dirty="0"/>
              <a:t>Anything that degrades the signal</a:t>
            </a:r>
          </a:p>
          <a:p>
            <a:pPr lvl="1" eaLnBrk="1" hangingPunct="1"/>
            <a:r>
              <a:rPr lang="en-US" dirty="0"/>
              <a:t>E.g., resistance, power supply noise, coupling to neighboring wires, etc.</a:t>
            </a:r>
          </a:p>
          <a:p>
            <a:pPr eaLnBrk="1" hangingPunct="1"/>
            <a:r>
              <a:rPr lang="en-US" b="1" dirty="0"/>
              <a:t>Example:</a:t>
            </a:r>
            <a:r>
              <a:rPr lang="en-US" dirty="0"/>
              <a:t> a gate (driver) outputs 5 V but, because of resistance in a long wire, receiver gets 4.5 V</a:t>
            </a:r>
          </a:p>
        </p:txBody>
      </p:sp>
      <p:graphicFrame>
        <p:nvGraphicFramePr>
          <p:cNvPr id="89094" name="Object 4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69053979"/>
              </p:ext>
            </p:extLst>
          </p:nvPr>
        </p:nvGraphicFramePr>
        <p:xfrm>
          <a:off x="1828800" y="4227512"/>
          <a:ext cx="5029200" cy="179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978401" imgH="705263" progId="Visio.Drawing.6">
                  <p:embed/>
                </p:oleObj>
              </mc:Choice>
              <mc:Fallback>
                <p:oleObj name="VISIO" r:id="rId5" imgW="1978401" imgH="705263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227512"/>
                        <a:ext cx="5029200" cy="179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What is Noise?</a:t>
            </a:r>
          </a:p>
        </p:txBody>
      </p:sp>
    </p:spTree>
    <p:extLst>
      <p:ext uri="{BB962C8B-B14F-4D97-AF65-F5344CB8AC3E}">
        <p14:creationId xmlns:p14="http://schemas.microsoft.com/office/powerpoint/2010/main" val="3427721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7" name="Rectangle 3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533400" y="1143000"/>
            <a:ext cx="7467600" cy="4953000"/>
          </a:xfrm>
        </p:spPr>
        <p:txBody>
          <a:bodyPr/>
          <a:lstStyle/>
          <a:p>
            <a:pPr eaLnBrk="1" hangingPunct="1"/>
            <a:r>
              <a:rPr lang="en-US" dirty="0"/>
              <a:t>With logically valid inputs, every circuit element must produce logically valid outputs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Use limited ranges of voltages to represent discrete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The Static Discipline</a:t>
            </a:r>
          </a:p>
        </p:txBody>
      </p:sp>
    </p:spTree>
    <p:extLst>
      <p:ext uri="{BB962C8B-B14F-4D97-AF65-F5344CB8AC3E}">
        <p14:creationId xmlns:p14="http://schemas.microsoft.com/office/powerpoint/2010/main" val="8250137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67" name="Object 5"/>
          <p:cNvGraphicFramePr>
            <a:graphicFrameLocks noGrp="1" noChangeAspect="1"/>
          </p:cNvGraphicFramePr>
          <p:nvPr>
            <p:ph sz="half"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99362869"/>
              </p:ext>
            </p:extLst>
          </p:nvPr>
        </p:nvGraphicFramePr>
        <p:xfrm>
          <a:off x="2590800" y="731838"/>
          <a:ext cx="4191000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978401" imgH="517498" progId="Visio.Drawing.6">
                  <p:embed/>
                </p:oleObj>
              </mc:Choice>
              <mc:Fallback>
                <p:oleObj name="VISIO" r:id="rId7" imgW="1978401" imgH="517498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731838"/>
                        <a:ext cx="4191000" cy="1096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8" name="Object 6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87020571"/>
              </p:ext>
            </p:extLst>
          </p:nvPr>
        </p:nvGraphicFramePr>
        <p:xfrm>
          <a:off x="1312985" y="1752600"/>
          <a:ext cx="7221415" cy="302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4030077" imgH="1686831" progId="Visio.Drawing.6">
                  <p:embed/>
                </p:oleObj>
              </mc:Choice>
              <mc:Fallback>
                <p:oleObj name="VISIO" r:id="rId9" imgW="4030077" imgH="1686831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2985" y="1752600"/>
                        <a:ext cx="7221415" cy="302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4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92166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Noise Margins</a:t>
            </a:r>
          </a:p>
        </p:txBody>
      </p:sp>
    </p:spTree>
    <p:extLst>
      <p:ext uri="{BB962C8B-B14F-4D97-AF65-F5344CB8AC3E}">
        <p14:creationId xmlns:p14="http://schemas.microsoft.com/office/powerpoint/2010/main" val="883556805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67" name="Object 5"/>
          <p:cNvGraphicFramePr>
            <a:graphicFrameLocks noGrp="1" noChangeAspect="1"/>
          </p:cNvGraphicFramePr>
          <p:nvPr>
            <p:ph sz="half"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29203663"/>
              </p:ext>
            </p:extLst>
          </p:nvPr>
        </p:nvGraphicFramePr>
        <p:xfrm>
          <a:off x="2590800" y="731838"/>
          <a:ext cx="4191000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1978401" imgH="517498" progId="Visio.Drawing.6">
                  <p:embed/>
                </p:oleObj>
              </mc:Choice>
              <mc:Fallback>
                <p:oleObj name="VISIO" r:id="rId9" imgW="1978401" imgH="517498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731838"/>
                        <a:ext cx="4191000" cy="1096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8" name="Object 6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65555783"/>
              </p:ext>
            </p:extLst>
          </p:nvPr>
        </p:nvGraphicFramePr>
        <p:xfrm>
          <a:off x="1312985" y="1752600"/>
          <a:ext cx="7221415" cy="302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1" imgW="4030077" imgH="1686831" progId="Visio.Drawing.6">
                  <p:embed/>
                </p:oleObj>
              </mc:Choice>
              <mc:Fallback>
                <p:oleObj name="VISIO" r:id="rId11" imgW="4030077" imgH="1686831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2985" y="1752600"/>
                        <a:ext cx="7221415" cy="302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4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92166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92169" name="Text Box 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905000" y="4800600"/>
            <a:ext cx="66294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 b="1" dirty="0"/>
              <a:t>High Noise Margin: </a:t>
            </a:r>
            <a:r>
              <a:rPr lang="en-US" sz="2400" b="1" i="1" dirty="0">
                <a:solidFill>
                  <a:srgbClr val="0070C0"/>
                </a:solidFill>
              </a:rPr>
              <a:t>NM</a:t>
            </a:r>
            <a:r>
              <a:rPr lang="en-US" sz="2400" b="1" i="1" baseline="-25000" dirty="0">
                <a:solidFill>
                  <a:srgbClr val="0070C0"/>
                </a:solidFill>
              </a:rPr>
              <a:t>H</a:t>
            </a:r>
            <a:r>
              <a:rPr lang="en-US" sz="2400" b="1" dirty="0">
                <a:solidFill>
                  <a:srgbClr val="0070C0"/>
                </a:solidFill>
              </a:rPr>
              <a:t> = </a:t>
            </a:r>
            <a:r>
              <a:rPr lang="en-US" sz="2400" b="1" i="1" dirty="0">
                <a:solidFill>
                  <a:srgbClr val="0070C0"/>
                </a:solidFill>
              </a:rPr>
              <a:t>V</a:t>
            </a:r>
            <a:r>
              <a:rPr lang="en-US" sz="2400" b="1" i="1" baseline="-25000" dirty="0">
                <a:solidFill>
                  <a:srgbClr val="0070C0"/>
                </a:solidFill>
              </a:rPr>
              <a:t>OH</a:t>
            </a:r>
            <a:r>
              <a:rPr lang="en-US" sz="2400" b="1" dirty="0">
                <a:solidFill>
                  <a:srgbClr val="0070C0"/>
                </a:solidFill>
              </a:rPr>
              <a:t> – </a:t>
            </a:r>
            <a:r>
              <a:rPr lang="en-US" sz="2400" b="1" i="1" dirty="0">
                <a:solidFill>
                  <a:srgbClr val="0070C0"/>
                </a:solidFill>
              </a:rPr>
              <a:t>V</a:t>
            </a:r>
            <a:r>
              <a:rPr lang="en-US" sz="2400" b="1" i="1" baseline="-25000" dirty="0">
                <a:solidFill>
                  <a:srgbClr val="0070C0"/>
                </a:solidFill>
              </a:rPr>
              <a:t>IH</a:t>
            </a:r>
          </a:p>
          <a:p>
            <a:pPr eaLnBrk="1" hangingPunct="1">
              <a:spcBef>
                <a:spcPct val="50000"/>
              </a:spcBef>
            </a:pPr>
            <a:r>
              <a:rPr lang="en-US" sz="2400" b="1" dirty="0"/>
              <a:t>Low Noise Margin:  </a:t>
            </a:r>
            <a:r>
              <a:rPr lang="en-US" sz="2400" b="1" i="1" dirty="0">
                <a:solidFill>
                  <a:srgbClr val="0070C0"/>
                </a:solidFill>
              </a:rPr>
              <a:t>NM</a:t>
            </a:r>
            <a:r>
              <a:rPr lang="en-US" sz="2400" b="1" i="1" baseline="-25000" dirty="0">
                <a:solidFill>
                  <a:srgbClr val="0070C0"/>
                </a:solidFill>
              </a:rPr>
              <a:t>L</a:t>
            </a:r>
            <a:r>
              <a:rPr lang="en-US" sz="2400" b="1" dirty="0">
                <a:solidFill>
                  <a:srgbClr val="0070C0"/>
                </a:solidFill>
              </a:rPr>
              <a:t> =  </a:t>
            </a:r>
            <a:r>
              <a:rPr lang="en-US" sz="2400" b="1" i="1" dirty="0">
                <a:solidFill>
                  <a:srgbClr val="0070C0"/>
                </a:solidFill>
              </a:rPr>
              <a:t>V</a:t>
            </a:r>
            <a:r>
              <a:rPr lang="en-US" sz="2400" b="1" i="1" baseline="-25000" dirty="0">
                <a:solidFill>
                  <a:srgbClr val="0070C0"/>
                </a:solidFill>
              </a:rPr>
              <a:t>IL</a:t>
            </a:r>
            <a:r>
              <a:rPr lang="en-US" sz="2400" b="1" dirty="0">
                <a:solidFill>
                  <a:srgbClr val="0070C0"/>
                </a:solidFill>
              </a:rPr>
              <a:t>  – </a:t>
            </a:r>
            <a:r>
              <a:rPr lang="en-US" sz="2400" b="1" i="1" dirty="0">
                <a:solidFill>
                  <a:srgbClr val="0070C0"/>
                </a:solidFill>
              </a:rPr>
              <a:t>V</a:t>
            </a:r>
            <a:r>
              <a:rPr lang="en-US" sz="2400" b="1" i="1" baseline="-25000" dirty="0">
                <a:solidFill>
                  <a:srgbClr val="0070C0"/>
                </a:solidFill>
              </a:rPr>
              <a:t>OL</a:t>
            </a:r>
          </a:p>
        </p:txBody>
      </p:sp>
      <p:sp>
        <p:nvSpPr>
          <p:cNvPr id="92170" name="Rectangle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4851737"/>
            <a:ext cx="5562600" cy="1015663"/>
          </a:xfrm>
          <a:prstGeom prst="rect">
            <a:avLst/>
          </a:prstGeom>
          <a:noFill/>
          <a:ln w="28575">
            <a:solidFill>
              <a:srgbClr val="0070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Noise Margins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0" y="4876800"/>
            <a:ext cx="14478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791200" y="5410200"/>
            <a:ext cx="14478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1132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191" name="Object 5"/>
          <p:cNvGraphicFramePr>
            <a:graphicFrameLocks noGrp="1" noChangeAspect="1"/>
          </p:cNvGraphicFramePr>
          <p:nvPr>
            <p:ph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14453256"/>
              </p:ext>
            </p:extLst>
          </p:nvPr>
        </p:nvGraphicFramePr>
        <p:xfrm>
          <a:off x="533400" y="1524000"/>
          <a:ext cx="7848600" cy="3503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1" imgW="5458922" imgH="2437891" progId="Visio.Drawing.6">
                  <p:embed/>
                </p:oleObj>
              </mc:Choice>
              <mc:Fallback>
                <p:oleObj name="VISIO" r:id="rId11" imgW="5458922" imgH="2437891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524000"/>
                        <a:ext cx="7848600" cy="35038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88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93190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93192" name="Text 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752600" y="1143000"/>
            <a:ext cx="815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Ideal Buffer:                     Real Buffer:</a:t>
            </a:r>
          </a:p>
        </p:txBody>
      </p:sp>
      <p:sp>
        <p:nvSpPr>
          <p:cNvPr id="93193" name="Text Box 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066800" y="5119688"/>
            <a:ext cx="3733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i="1">
                <a:solidFill>
                  <a:srgbClr val="0070C0"/>
                </a:solidFill>
              </a:rPr>
              <a:t>NM</a:t>
            </a:r>
            <a:r>
              <a:rPr lang="en-US" b="1" i="1" baseline="-25000">
                <a:solidFill>
                  <a:srgbClr val="0070C0"/>
                </a:solidFill>
              </a:rPr>
              <a:t>H</a:t>
            </a:r>
            <a:r>
              <a:rPr lang="en-US" b="1">
                <a:solidFill>
                  <a:srgbClr val="0070C0"/>
                </a:solidFill>
              </a:rPr>
              <a:t> = </a:t>
            </a:r>
            <a:r>
              <a:rPr lang="en-US" b="1" i="1">
                <a:solidFill>
                  <a:srgbClr val="0070C0"/>
                </a:solidFill>
              </a:rPr>
              <a:t>NM</a:t>
            </a:r>
            <a:r>
              <a:rPr lang="en-US" b="1" i="1" baseline="-25000">
                <a:solidFill>
                  <a:srgbClr val="0070C0"/>
                </a:solidFill>
              </a:rPr>
              <a:t>L</a:t>
            </a:r>
            <a:r>
              <a:rPr lang="en-US" b="1">
                <a:solidFill>
                  <a:srgbClr val="0070C0"/>
                </a:solidFill>
              </a:rPr>
              <a:t> = </a:t>
            </a:r>
            <a:r>
              <a:rPr lang="en-US" b="1" i="1">
                <a:solidFill>
                  <a:srgbClr val="0070C0"/>
                </a:solidFill>
              </a:rPr>
              <a:t>V</a:t>
            </a:r>
            <a:r>
              <a:rPr lang="en-US" b="1" i="1" baseline="-25000">
                <a:solidFill>
                  <a:srgbClr val="0070C0"/>
                </a:solidFill>
              </a:rPr>
              <a:t>DD</a:t>
            </a:r>
            <a:r>
              <a:rPr lang="en-US" b="1">
                <a:solidFill>
                  <a:srgbClr val="0070C0"/>
                </a:solidFill>
              </a:rPr>
              <a:t>/2</a:t>
            </a:r>
            <a:endParaRPr lang="en-US" b="1" i="1" baseline="-25000">
              <a:solidFill>
                <a:srgbClr val="0070C0"/>
              </a:solidFill>
            </a:endParaRPr>
          </a:p>
        </p:txBody>
      </p:sp>
      <p:sp>
        <p:nvSpPr>
          <p:cNvPr id="93194" name="Rectangle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990600" y="5105400"/>
            <a:ext cx="3581400" cy="609600"/>
          </a:xfrm>
          <a:prstGeom prst="rect">
            <a:avLst/>
          </a:prstGeom>
          <a:noFill/>
          <a:ln w="28575">
            <a:solidFill>
              <a:srgbClr val="0070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rgbClr val="0070C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DC Transfer Characteristics</a:t>
            </a:r>
          </a:p>
        </p:txBody>
      </p:sp>
      <p:sp>
        <p:nvSpPr>
          <p:cNvPr id="12" name="Text Box 7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105400" y="5119688"/>
            <a:ext cx="3733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i="1" dirty="0">
                <a:solidFill>
                  <a:srgbClr val="0070C0"/>
                </a:solidFill>
              </a:rPr>
              <a:t>NM</a:t>
            </a:r>
            <a:r>
              <a:rPr lang="en-US" b="1" i="1" baseline="-25000" dirty="0">
                <a:solidFill>
                  <a:srgbClr val="0070C0"/>
                </a:solidFill>
              </a:rPr>
              <a:t>H</a:t>
            </a:r>
            <a:r>
              <a:rPr lang="en-US" b="1" dirty="0">
                <a:solidFill>
                  <a:srgbClr val="0070C0"/>
                </a:solidFill>
              </a:rPr>
              <a:t>, </a:t>
            </a:r>
            <a:r>
              <a:rPr lang="en-US" b="1" i="1" dirty="0">
                <a:solidFill>
                  <a:srgbClr val="0070C0"/>
                </a:solidFill>
              </a:rPr>
              <a:t>NM</a:t>
            </a:r>
            <a:r>
              <a:rPr lang="en-US" b="1" i="1" baseline="-25000" dirty="0">
                <a:solidFill>
                  <a:srgbClr val="0070C0"/>
                </a:solidFill>
              </a:rPr>
              <a:t>L</a:t>
            </a:r>
            <a:r>
              <a:rPr lang="en-US" b="1" dirty="0">
                <a:solidFill>
                  <a:srgbClr val="0070C0"/>
                </a:solidFill>
              </a:rPr>
              <a:t> &lt; </a:t>
            </a:r>
            <a:r>
              <a:rPr lang="en-US" b="1" i="1" dirty="0">
                <a:solidFill>
                  <a:srgbClr val="0070C0"/>
                </a:solidFill>
              </a:rPr>
              <a:t>V</a:t>
            </a:r>
            <a:r>
              <a:rPr lang="en-US" b="1" i="1" baseline="-25000" dirty="0">
                <a:solidFill>
                  <a:srgbClr val="0070C0"/>
                </a:solidFill>
              </a:rPr>
              <a:t>DD</a:t>
            </a:r>
            <a:r>
              <a:rPr lang="en-US" b="1" dirty="0">
                <a:solidFill>
                  <a:srgbClr val="0070C0"/>
                </a:solidFill>
              </a:rPr>
              <a:t>/2</a:t>
            </a:r>
            <a:endParaRPr lang="en-US" b="1" i="1" baseline="-25000" dirty="0">
              <a:solidFill>
                <a:srgbClr val="0070C0"/>
              </a:solidFill>
            </a:endParaRPr>
          </a:p>
        </p:txBody>
      </p:sp>
      <p:sp>
        <p:nvSpPr>
          <p:cNvPr id="13" name="Rectangle 8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029200" y="5105400"/>
            <a:ext cx="3581400" cy="609600"/>
          </a:xfrm>
          <a:prstGeom prst="rect">
            <a:avLst/>
          </a:prstGeom>
          <a:noFill/>
          <a:ln w="28575">
            <a:solidFill>
              <a:srgbClr val="0070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640136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8966" name="Object 6"/>
          <p:cNvGraphicFramePr>
            <a:graphicFrameLocks noGrp="1" noChangeAspect="1"/>
          </p:cNvGraphicFramePr>
          <p:nvPr>
            <p:ph sz="quarter"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7331186"/>
              </p:ext>
            </p:extLst>
          </p:nvPr>
        </p:nvGraphicFramePr>
        <p:xfrm>
          <a:off x="4038600" y="2286000"/>
          <a:ext cx="4953000" cy="31422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2654955" imgH="1685782" progId="Visio.Drawing.6">
                  <p:embed/>
                </p:oleObj>
              </mc:Choice>
              <mc:Fallback>
                <p:oleObj name="VISIO" r:id="rId8" imgW="2654955" imgH="168578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2286000"/>
                        <a:ext cx="4953000" cy="31422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6" name="Object 7"/>
          <p:cNvGraphicFramePr>
            <a:graphicFrameLocks noGrp="1" noChangeAspect="1"/>
          </p:cNvGraphicFramePr>
          <p:nvPr>
            <p:ph sz="quarter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89366942"/>
              </p:ext>
            </p:extLst>
          </p:nvPr>
        </p:nvGraphicFramePr>
        <p:xfrm>
          <a:off x="3352800" y="1203325"/>
          <a:ext cx="205740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0" imgW="772431" imgH="262566" progId="Visio.Drawing.6">
                  <p:embed/>
                </p:oleObj>
              </mc:Choice>
              <mc:Fallback>
                <p:oleObj name="VISIO" r:id="rId10" imgW="772431" imgH="262566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203325"/>
                        <a:ext cx="2057400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7" name="Object 9"/>
          <p:cNvGraphicFramePr>
            <a:graphicFrameLocks noGrp="1" noChangeAspect="1"/>
          </p:cNvGraphicFramePr>
          <p:nvPr>
            <p:ph sz="half" idx="4294967295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626847194"/>
              </p:ext>
            </p:extLst>
          </p:nvPr>
        </p:nvGraphicFramePr>
        <p:xfrm>
          <a:off x="762000" y="2380272"/>
          <a:ext cx="3657600" cy="30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2" imgW="2601231" imgH="2294396" progId="Visio.Drawing.6">
                  <p:embed/>
                </p:oleObj>
              </mc:Choice>
              <mc:Fallback>
                <p:oleObj name="VISIO" r:id="rId12" imgW="2601231" imgH="2294396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380272"/>
                        <a:ext cx="3657600" cy="304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12" name="Rectangle 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94215" name="Rectangle 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DC Transfer Characteristics</a:t>
            </a:r>
          </a:p>
        </p:txBody>
      </p:sp>
    </p:spTree>
    <p:extLst>
      <p:ext uri="{BB962C8B-B14F-4D97-AF65-F5344CB8AC3E}">
        <p14:creationId xmlns:p14="http://schemas.microsoft.com/office/powerpoint/2010/main" val="39414534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7" name="Rectangle 3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533400" y="990600"/>
            <a:ext cx="7848600" cy="4953000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In 1970’s and 1980’s, V</a:t>
            </a:r>
            <a:r>
              <a:rPr lang="en-US" baseline="-25000" dirty="0"/>
              <a:t>DD</a:t>
            </a:r>
            <a:r>
              <a:rPr lang="en-US" dirty="0"/>
              <a:t> = 5 V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V</a:t>
            </a:r>
            <a:r>
              <a:rPr lang="en-US" baseline="-25000" dirty="0"/>
              <a:t>DD</a:t>
            </a:r>
            <a:r>
              <a:rPr lang="en-US" dirty="0"/>
              <a:t> has dropped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Avoid frying tiny transistors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Save power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3.3 V, 2.5 V, 1.8 V, 1.5 V, 1.2 V, 1.0 V, …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Be careful connecting chips with different supply voltages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500" b="1" dirty="0">
              <a:solidFill>
                <a:srgbClr val="0070C0"/>
              </a:solidFill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solidFill>
                  <a:srgbClr val="0070C0"/>
                </a:solidFill>
              </a:rPr>
              <a:t>	</a:t>
            </a:r>
            <a:endParaRPr lang="en-US" sz="2400" dirty="0"/>
          </a:p>
        </p:txBody>
      </p:sp>
      <p:sp>
        <p:nvSpPr>
          <p:cNvPr id="95239" name="Rectangle 8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0" y="1600200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V</a:t>
            </a:r>
            <a:r>
              <a:rPr lang="en-US" sz="4400" baseline="-25000" dirty="0">
                <a:solidFill>
                  <a:schemeClr val="bg1"/>
                </a:solidFill>
                <a:latin typeface="+mj-lt"/>
              </a:rPr>
              <a:t>DD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 Scaling</a:t>
            </a:r>
          </a:p>
        </p:txBody>
      </p:sp>
    </p:spTree>
    <p:extLst>
      <p:ext uri="{BB962C8B-B14F-4D97-AF65-F5344CB8AC3E}">
        <p14:creationId xmlns:p14="http://schemas.microsoft.com/office/powerpoint/2010/main" val="311269758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238" name="Object 6"/>
          <p:cNvGraphicFramePr>
            <a:graphicFrameLocks noGrp="1" noChangeAspect="1"/>
          </p:cNvGraphicFramePr>
          <p:nvPr>
            <p:ph sz="half"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13769676"/>
              </p:ext>
            </p:extLst>
          </p:nvPr>
        </p:nvGraphicFramePr>
        <p:xfrm>
          <a:off x="7010400" y="990600"/>
          <a:ext cx="2173287" cy="381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123950" imgH="1971675" progId="">
                  <p:embed/>
                </p:oleObj>
              </mc:Choice>
              <mc:Fallback>
                <p:oleObj r:id="rId6" imgW="1123950" imgH="197167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990600"/>
                        <a:ext cx="2173287" cy="381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37" name="Rectangle 3"/>
          <p:cNvSpPr>
            <a:spLocks noGrp="1" noChangeArrowheads="1"/>
          </p:cNvSpPr>
          <p:nvPr>
            <p:ph type="body" sz="half" idx="4294967295"/>
            <p:custDataLst>
              <p:tags r:id="rId2"/>
            </p:custDataLst>
          </p:nvPr>
        </p:nvSpPr>
        <p:spPr>
          <a:xfrm>
            <a:off x="533400" y="990600"/>
            <a:ext cx="7848600" cy="4953000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In 1970’s and 1980’s, V</a:t>
            </a:r>
            <a:r>
              <a:rPr lang="en-US" baseline="-25000" dirty="0"/>
              <a:t>DD</a:t>
            </a:r>
            <a:r>
              <a:rPr lang="en-US" dirty="0"/>
              <a:t> = 5 V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V</a:t>
            </a:r>
            <a:r>
              <a:rPr lang="en-US" baseline="-25000" dirty="0"/>
              <a:t>DD</a:t>
            </a:r>
            <a:r>
              <a:rPr lang="en-US" dirty="0"/>
              <a:t> has dropped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Avoid frying tiny transistors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Save power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3.3 V, 2.5 V, 1.8 V, 1.5 V, 1.2 V, 1.0 V, …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Be careful connecting chips with different supply voltages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500" b="1" dirty="0">
              <a:solidFill>
                <a:srgbClr val="0070C0"/>
              </a:solidFill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solidFill>
                  <a:srgbClr val="0070C0"/>
                </a:solidFill>
              </a:rPr>
              <a:t>	Chips operate because they contain magic smoke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/>
              <a:t>Proof: </a:t>
            </a:r>
            <a:r>
              <a:rPr lang="en-US" sz="2400" dirty="0"/>
              <a:t>if the magic smoke is let out, the chip stops working</a:t>
            </a:r>
          </a:p>
        </p:txBody>
      </p:sp>
      <p:sp>
        <p:nvSpPr>
          <p:cNvPr id="95239" name="Rectangle 8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0" y="1600200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V</a:t>
            </a:r>
            <a:r>
              <a:rPr lang="en-US" sz="4400" baseline="-25000" dirty="0">
                <a:solidFill>
                  <a:schemeClr val="bg1"/>
                </a:solidFill>
                <a:latin typeface="+mj-lt"/>
              </a:rPr>
              <a:t>DD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 Scaling</a:t>
            </a:r>
          </a:p>
        </p:txBody>
      </p:sp>
    </p:spTree>
    <p:extLst>
      <p:ext uri="{BB962C8B-B14F-4D97-AF65-F5344CB8AC3E}">
        <p14:creationId xmlns:p14="http://schemas.microsoft.com/office/powerpoint/2010/main" val="324397444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0041" name="Group 57"/>
          <p:cNvGraphicFramePr>
            <a:graphicFrameLocks noGrp="1"/>
          </p:cNvGraphicFramePr>
          <p:nvPr>
            <p:ph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97696318"/>
              </p:ext>
            </p:extLst>
          </p:nvPr>
        </p:nvGraphicFramePr>
        <p:xfrm>
          <a:off x="685800" y="1524000"/>
          <a:ext cx="7772400" cy="3200402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7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Logic Family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V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DD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V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IL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V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IH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V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OL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V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OH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1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TTL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5 (4.75 - 5.25)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2.0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2.4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CMOS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5 (4.5 - 6)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1.35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3.15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0.33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3.84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5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LVTTL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3.3 (3 - 3.6)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2.0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2.4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LVCMOS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3.3 (3 - 3.6)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0.9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0.36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2.7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6260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96262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Logic Family Examples</a:t>
            </a:r>
          </a:p>
        </p:txBody>
      </p:sp>
    </p:spTree>
    <p:extLst>
      <p:ext uri="{BB962C8B-B14F-4D97-AF65-F5344CB8AC3E}">
        <p14:creationId xmlns:p14="http://schemas.microsoft.com/office/powerpoint/2010/main" val="4163199843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7287" name="Object 7"/>
          <p:cNvGraphicFramePr>
            <a:graphicFrameLocks noGrp="1" noChangeAspect="1"/>
          </p:cNvGraphicFramePr>
          <p:nvPr>
            <p:ph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08180142"/>
              </p:ext>
            </p:extLst>
          </p:nvPr>
        </p:nvGraphicFramePr>
        <p:xfrm>
          <a:off x="2362200" y="3581400"/>
          <a:ext cx="4419600" cy="211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616610" imgH="772431" progId="Visio.Drawing.6">
                  <p:embed/>
                </p:oleObj>
              </mc:Choice>
              <mc:Fallback>
                <p:oleObj name="VISIO" r:id="rId5" imgW="1616610" imgH="772431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581400"/>
                        <a:ext cx="4419600" cy="2112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86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153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800" dirty="0">
                <a:latin typeface="+mj-lt"/>
              </a:rPr>
              <a:t>Logic gates built from transistors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800" dirty="0">
                <a:latin typeface="+mj-lt"/>
              </a:rPr>
              <a:t>3-ported voltage-controlled switch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800" dirty="0">
                <a:latin typeface="+mj-lt"/>
              </a:rPr>
              <a:t>2 ports connected depending on voltage of 3rd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800" dirty="0">
                <a:latin typeface="+mj-lt"/>
              </a:rPr>
              <a:t>d and s are connected (ON) when g is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Transistors</a:t>
            </a:r>
          </a:p>
        </p:txBody>
      </p:sp>
    </p:spTree>
    <p:extLst>
      <p:ext uri="{BB962C8B-B14F-4D97-AF65-F5344CB8AC3E}">
        <p14:creationId xmlns:p14="http://schemas.microsoft.com/office/powerpoint/2010/main" val="1805765645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8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98310" name="Rectangle 8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09600" y="1219200"/>
            <a:ext cx="48006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Nicknamed “Mayor of Silicon Valley”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Cofounded Fairchild Semiconductor in 1957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Cofounded Intel in 1968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</a:rPr>
              <a:t>Co-invented the integrated circuit</a:t>
            </a:r>
          </a:p>
        </p:txBody>
      </p:sp>
      <p:pic>
        <p:nvPicPr>
          <p:cNvPr id="98311" name="Picture 9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295400"/>
            <a:ext cx="2819400" cy="4199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Robert </a:t>
            </a:r>
            <a:r>
              <a:rPr lang="en-US" sz="4400" dirty="0" err="1">
                <a:solidFill>
                  <a:schemeClr val="bg1"/>
                </a:solidFill>
                <a:latin typeface="+mj-lt"/>
              </a:rPr>
              <a:t>Noyce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, 1927-1990</a:t>
            </a:r>
          </a:p>
        </p:txBody>
      </p:sp>
    </p:spTree>
    <p:extLst>
      <p:ext uri="{BB962C8B-B14F-4D97-AF65-F5344CB8AC3E}">
        <p14:creationId xmlns:p14="http://schemas.microsoft.com/office/powerpoint/2010/main" val="4040157600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334" name="Object 4"/>
          <p:cNvGraphicFramePr>
            <a:graphicFrameLocks noGrp="1" noChangeAspect="1"/>
          </p:cNvGraphicFramePr>
          <p:nvPr>
            <p:ph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14472170"/>
              </p:ext>
            </p:extLst>
          </p:nvPr>
        </p:nvGraphicFramePr>
        <p:xfrm>
          <a:off x="1219200" y="3352800"/>
          <a:ext cx="6858000" cy="2489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4053840" imgH="1467612" progId="Visio.Drawing.6">
                  <p:embed/>
                </p:oleObj>
              </mc:Choice>
              <mc:Fallback>
                <p:oleObj name="VISIO" r:id="rId6" imgW="4053840" imgH="146761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352800"/>
                        <a:ext cx="6858000" cy="24895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32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99335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57200" y="990600"/>
            <a:ext cx="8153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+mj-lt"/>
              </a:rPr>
              <a:t>Transistors built from silicon, a semiconductor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+mj-lt"/>
              </a:rPr>
              <a:t>Pure silicon is a poor conductor (no free charges)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+mj-lt"/>
              </a:rPr>
              <a:t>Doped silicon is a good conductor (free charges)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400" dirty="0">
                <a:latin typeface="+mj-lt"/>
              </a:rPr>
              <a:t>n-type (free </a:t>
            </a:r>
            <a:r>
              <a:rPr lang="en-US" sz="2400" b="1" i="1" dirty="0">
                <a:solidFill>
                  <a:srgbClr val="0070C0"/>
                </a:solidFill>
                <a:latin typeface="+mj-lt"/>
              </a:rPr>
              <a:t>n</a:t>
            </a:r>
            <a:r>
              <a:rPr lang="en-US" sz="2400" dirty="0">
                <a:latin typeface="+mj-lt"/>
              </a:rPr>
              <a:t>egative charges, electrons)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400" dirty="0">
                <a:latin typeface="+mj-lt"/>
              </a:rPr>
              <a:t>p-type (free </a:t>
            </a:r>
            <a:r>
              <a:rPr lang="en-US" sz="2400" b="1" i="1" dirty="0">
                <a:solidFill>
                  <a:srgbClr val="0070C0"/>
                </a:solidFill>
                <a:latin typeface="+mj-lt"/>
              </a:rPr>
              <a:t>p</a:t>
            </a:r>
            <a:r>
              <a:rPr lang="en-US" sz="2400" dirty="0">
                <a:latin typeface="+mj-lt"/>
              </a:rPr>
              <a:t>ositive charges, holes)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Silicon</a:t>
            </a:r>
          </a:p>
        </p:txBody>
      </p:sp>
    </p:spTree>
    <p:extLst>
      <p:ext uri="{BB962C8B-B14F-4D97-AF65-F5344CB8AC3E}">
        <p14:creationId xmlns:p14="http://schemas.microsoft.com/office/powerpoint/2010/main" val="2799889755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358" name="Object 5"/>
          <p:cNvGraphicFramePr>
            <a:graphicFrameLocks noGrp="1" noChangeAspect="1"/>
          </p:cNvGraphicFramePr>
          <p:nvPr>
            <p:ph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782409"/>
              </p:ext>
            </p:extLst>
          </p:nvPr>
        </p:nvGraphicFramePr>
        <p:xfrm>
          <a:off x="4267200" y="2858194"/>
          <a:ext cx="5943600" cy="30092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3813048" imgH="1929384" progId="Visio.Drawing.6">
                  <p:embed/>
                </p:oleObj>
              </mc:Choice>
              <mc:Fallback>
                <p:oleObj name="VISIO" r:id="rId6" imgW="3813048" imgH="1929384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2858194"/>
                        <a:ext cx="5943600" cy="30092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56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100359" name="Rectangle 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143000"/>
            <a:ext cx="8153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</a:rPr>
              <a:t>Metal oxide silicon (MOS) transistors: 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800" dirty="0" err="1">
                <a:latin typeface="+mj-lt"/>
              </a:rPr>
              <a:t>Polysilicon</a:t>
            </a:r>
            <a:r>
              <a:rPr lang="en-US" sz="2800" dirty="0">
                <a:latin typeface="+mj-lt"/>
              </a:rPr>
              <a:t> (used to be </a:t>
            </a:r>
            <a:r>
              <a:rPr lang="en-US" sz="2800" b="1" dirty="0">
                <a:latin typeface="+mj-lt"/>
              </a:rPr>
              <a:t>metal</a:t>
            </a:r>
            <a:r>
              <a:rPr lang="en-US" sz="2800" dirty="0">
                <a:latin typeface="+mj-lt"/>
              </a:rPr>
              <a:t>) gate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800" b="1" dirty="0">
                <a:latin typeface="+mj-lt"/>
              </a:rPr>
              <a:t>Oxide</a:t>
            </a:r>
            <a:r>
              <a:rPr lang="en-US" sz="2800" dirty="0">
                <a:latin typeface="+mj-lt"/>
              </a:rPr>
              <a:t> (silicon dioxide) insulator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800" dirty="0">
                <a:latin typeface="+mj-lt"/>
              </a:rPr>
              <a:t>Doped </a:t>
            </a:r>
            <a:r>
              <a:rPr lang="en-US" sz="2800" b="1" dirty="0">
                <a:latin typeface="+mj-lt"/>
              </a:rPr>
              <a:t>silicon</a:t>
            </a:r>
            <a:endParaRPr lang="en-US" sz="2800" dirty="0"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MOS Transistors</a:t>
            </a:r>
          </a:p>
        </p:txBody>
      </p:sp>
    </p:spTree>
    <p:extLst>
      <p:ext uri="{BB962C8B-B14F-4D97-AF65-F5344CB8AC3E}">
        <p14:creationId xmlns:p14="http://schemas.microsoft.com/office/powerpoint/2010/main" val="3998719290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382" name="Object 5"/>
          <p:cNvGraphicFramePr>
            <a:graphicFrameLocks noGrp="1" noChangeAspect="1"/>
          </p:cNvGraphicFramePr>
          <p:nvPr>
            <p:ph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48529280"/>
              </p:ext>
            </p:extLst>
          </p:nvPr>
        </p:nvGraphicFramePr>
        <p:xfrm>
          <a:off x="685800" y="3130550"/>
          <a:ext cx="7772400" cy="288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3921692" imgH="1457850" progId="Visio.Drawing.6">
                  <p:embed/>
                </p:oleObj>
              </mc:Choice>
              <mc:Fallback>
                <p:oleObj name="VISIO" r:id="rId7" imgW="3921692" imgH="145785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130550"/>
                        <a:ext cx="7772400" cy="288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80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101383" name="Text Box 6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066800"/>
            <a:ext cx="3581400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200" b="1" dirty="0">
                <a:solidFill>
                  <a:srgbClr val="0070C0"/>
                </a:solidFill>
                <a:latin typeface="+mj-lt"/>
              </a:rPr>
              <a:t>Gate = 0  </a:t>
            </a:r>
          </a:p>
          <a:p>
            <a:pPr eaLnBrk="1" hangingPunct="1">
              <a:spcBef>
                <a:spcPct val="50000"/>
              </a:spcBef>
            </a:pPr>
            <a:r>
              <a:rPr lang="en-US" b="1" dirty="0">
                <a:latin typeface="+mj-lt"/>
              </a:rPr>
              <a:t>OFF</a:t>
            </a:r>
            <a:r>
              <a:rPr lang="en-US" dirty="0">
                <a:latin typeface="+mj-lt"/>
              </a:rPr>
              <a:t> (no connection between source and drain)</a:t>
            </a:r>
          </a:p>
        </p:txBody>
      </p:sp>
      <p:sp>
        <p:nvSpPr>
          <p:cNvPr id="101384" name="Text Box 7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800600" y="1066800"/>
            <a:ext cx="4038600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200" b="1" dirty="0">
                <a:solidFill>
                  <a:srgbClr val="0070C0"/>
                </a:solidFill>
                <a:latin typeface="+mj-lt"/>
              </a:rPr>
              <a:t>Gate = 1 </a:t>
            </a:r>
          </a:p>
          <a:p>
            <a:pPr eaLnBrk="1" hangingPunct="1">
              <a:spcBef>
                <a:spcPct val="50000"/>
              </a:spcBef>
            </a:pPr>
            <a:r>
              <a:rPr lang="en-US" b="1" dirty="0">
                <a:latin typeface="+mj-lt"/>
              </a:rPr>
              <a:t>ON</a:t>
            </a:r>
            <a:r>
              <a:rPr lang="en-US" dirty="0">
                <a:latin typeface="+mj-lt"/>
              </a:rPr>
              <a:t>  (channel between source and drain)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Transistors: </a:t>
            </a:r>
            <a:r>
              <a:rPr lang="en-US" sz="4400" dirty="0" err="1">
                <a:solidFill>
                  <a:schemeClr val="bg1"/>
                </a:solidFill>
                <a:latin typeface="+mj-lt"/>
              </a:rPr>
              <a:t>nMOS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18374334"/>
      </p:ext>
    </p:ext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5" name="Rectangle 3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914400" y="1219200"/>
            <a:ext cx="6172200" cy="49530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b="1" dirty="0" err="1"/>
              <a:t>pMOS</a:t>
            </a:r>
            <a:r>
              <a:rPr lang="en-US" b="1" dirty="0"/>
              <a:t> transistor is opposite</a:t>
            </a:r>
          </a:p>
          <a:p>
            <a:pPr lvl="1" eaLnBrk="1" hangingPunct="1"/>
            <a:r>
              <a:rPr lang="en-US" sz="2400" b="1" dirty="0"/>
              <a:t>ON</a:t>
            </a:r>
            <a:r>
              <a:rPr lang="en-US" sz="2400" dirty="0"/>
              <a:t> when </a:t>
            </a:r>
            <a:r>
              <a:rPr lang="en-US" sz="2400" b="1" dirty="0"/>
              <a:t>Gate = 0</a:t>
            </a:r>
          </a:p>
          <a:p>
            <a:pPr lvl="1" eaLnBrk="1" hangingPunct="1"/>
            <a:r>
              <a:rPr lang="en-US" sz="2400" b="1" dirty="0"/>
              <a:t>OFF</a:t>
            </a:r>
            <a:r>
              <a:rPr lang="en-US" sz="2400" dirty="0"/>
              <a:t> when </a:t>
            </a:r>
            <a:r>
              <a:rPr lang="en-US" sz="2400" b="1" dirty="0"/>
              <a:t>Gate = 1</a:t>
            </a:r>
          </a:p>
        </p:txBody>
      </p:sp>
      <p:graphicFrame>
        <p:nvGraphicFramePr>
          <p:cNvPr id="102406" name="Object 4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929586"/>
              </p:ext>
            </p:extLst>
          </p:nvPr>
        </p:nvGraphicFramePr>
        <p:xfrm>
          <a:off x="3886200" y="2376487"/>
          <a:ext cx="4191000" cy="356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2006640" imgH="1708560" progId="Visio.Drawing.6">
                  <p:embed/>
                </p:oleObj>
              </mc:Choice>
              <mc:Fallback>
                <p:oleObj name="VISIO" r:id="rId5" imgW="2006640" imgH="170856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2376487"/>
                        <a:ext cx="4191000" cy="3567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Transistors: </a:t>
            </a:r>
            <a:r>
              <a:rPr lang="en-US" sz="4400" dirty="0" err="1">
                <a:solidFill>
                  <a:schemeClr val="bg1"/>
                </a:solidFill>
                <a:latin typeface="+mj-lt"/>
              </a:rPr>
              <a:t>pMOS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0570634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430" name="Object 5"/>
          <p:cNvGraphicFramePr>
            <a:graphicFrameLocks noGrp="1" noChangeAspect="1"/>
          </p:cNvGraphicFramePr>
          <p:nvPr>
            <p:ph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88461037"/>
              </p:ext>
            </p:extLst>
          </p:nvPr>
        </p:nvGraphicFramePr>
        <p:xfrm>
          <a:off x="990600" y="1524000"/>
          <a:ext cx="7772400" cy="354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3170632" imgH="1444111" progId="Visio.Drawing.6">
                  <p:embed/>
                </p:oleObj>
              </mc:Choice>
              <mc:Fallback>
                <p:oleObj name="VISIO" r:id="rId5" imgW="3170632" imgH="1444111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524000"/>
                        <a:ext cx="7772400" cy="354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28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Transistor Function</a:t>
            </a:r>
          </a:p>
        </p:txBody>
      </p:sp>
    </p:spTree>
    <p:extLst>
      <p:ext uri="{BB962C8B-B14F-4D97-AF65-F5344CB8AC3E}">
        <p14:creationId xmlns:p14="http://schemas.microsoft.com/office/powerpoint/2010/main" val="773315410"/>
      </p:ext>
    </p:extLst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4" name="Rectangle 5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457200" y="1143000"/>
            <a:ext cx="8534400" cy="4953000"/>
          </a:xfrm>
        </p:spPr>
        <p:txBody>
          <a:bodyPr/>
          <a:lstStyle/>
          <a:p>
            <a:pPr eaLnBrk="1" hangingPunct="1"/>
            <a:r>
              <a:rPr lang="en-US" b="1" dirty="0" err="1">
                <a:solidFill>
                  <a:srgbClr val="0070C0"/>
                </a:solidFill>
              </a:rPr>
              <a:t>nMOS</a:t>
            </a:r>
            <a:r>
              <a:rPr lang="en-US" b="1" dirty="0"/>
              <a:t>: </a:t>
            </a:r>
            <a:r>
              <a:rPr lang="en-US" dirty="0"/>
              <a:t>pass good </a:t>
            </a:r>
            <a:r>
              <a:rPr lang="en-US" b="1" dirty="0">
                <a:solidFill>
                  <a:srgbClr val="0070C0"/>
                </a:solidFill>
              </a:rPr>
              <a:t>0</a:t>
            </a:r>
            <a:r>
              <a:rPr lang="en-US" dirty="0"/>
              <a:t>’s, so connect source to GND</a:t>
            </a:r>
          </a:p>
          <a:p>
            <a:pPr eaLnBrk="1" hangingPunct="1"/>
            <a:r>
              <a:rPr lang="en-US" b="1" dirty="0" err="1">
                <a:solidFill>
                  <a:srgbClr val="0070C0"/>
                </a:solidFill>
              </a:rPr>
              <a:t>pMOS</a:t>
            </a:r>
            <a:r>
              <a:rPr lang="en-US" b="1" dirty="0"/>
              <a:t>: </a:t>
            </a:r>
            <a:r>
              <a:rPr lang="en-US" dirty="0"/>
              <a:t>pass good </a:t>
            </a:r>
            <a:r>
              <a:rPr lang="en-US" b="1" dirty="0">
                <a:solidFill>
                  <a:srgbClr val="0070C0"/>
                </a:solidFill>
              </a:rPr>
              <a:t>1</a:t>
            </a:r>
            <a:r>
              <a:rPr lang="en-US" dirty="0"/>
              <a:t>’s, so connect source to </a:t>
            </a:r>
            <a:r>
              <a:rPr lang="en-US" i="1" dirty="0"/>
              <a:t>V</a:t>
            </a:r>
            <a:r>
              <a:rPr lang="en-US" i="1" baseline="-25000" dirty="0"/>
              <a:t>DD</a:t>
            </a:r>
          </a:p>
        </p:txBody>
      </p:sp>
      <p:graphicFrame>
        <p:nvGraphicFramePr>
          <p:cNvPr id="104455" name="Object 6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51931742"/>
              </p:ext>
            </p:extLst>
          </p:nvPr>
        </p:nvGraphicFramePr>
        <p:xfrm>
          <a:off x="2540794" y="2362200"/>
          <a:ext cx="4062412" cy="348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572768" imgH="1347216" progId="Visio.Drawing.6">
                  <p:embed/>
                </p:oleObj>
              </mc:Choice>
              <mc:Fallback>
                <p:oleObj name="VISIO" r:id="rId6" imgW="1572768" imgH="1347216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794" y="2362200"/>
                        <a:ext cx="4062412" cy="348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52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Transistor Function</a:t>
            </a:r>
          </a:p>
        </p:txBody>
      </p:sp>
    </p:spTree>
    <p:extLst>
      <p:ext uri="{BB962C8B-B14F-4D97-AF65-F5344CB8AC3E}">
        <p14:creationId xmlns:p14="http://schemas.microsoft.com/office/powerpoint/2010/main" val="726104187"/>
      </p:ext>
    </p:extLst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6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CMOS Gates: NOT Gate</a:t>
            </a:r>
          </a:p>
        </p:txBody>
      </p:sp>
      <p:graphicFrame>
        <p:nvGraphicFramePr>
          <p:cNvPr id="2" name="Object 1"/>
          <p:cNvGraphicFramePr>
            <a:graphicFrameLocks noGrp="1"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41644306"/>
              </p:ext>
            </p:extLst>
          </p:nvPr>
        </p:nvGraphicFramePr>
        <p:xfrm>
          <a:off x="1801813" y="990600"/>
          <a:ext cx="2143125" cy="297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886968" imgH="1226820" progId="Visio.Drawing.11">
                  <p:embed/>
                </p:oleObj>
              </mc:Choice>
              <mc:Fallback>
                <p:oleObj name="VISIO" r:id="rId7" imgW="886968" imgH="1226820" progId="Visio.Drawing.11">
                  <p:embed/>
                  <p:pic>
                    <p:nvPicPr>
                      <p:cNvPr id="0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1813" y="990600"/>
                        <a:ext cx="2143125" cy="297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Grp="1"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048984802"/>
              </p:ext>
            </p:extLst>
          </p:nvPr>
        </p:nvGraphicFramePr>
        <p:xfrm>
          <a:off x="4706938" y="1066800"/>
          <a:ext cx="2151062" cy="283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771144" imgH="1010412" progId="Visio.Drawing.11">
                  <p:embed/>
                </p:oleObj>
              </mc:Choice>
              <mc:Fallback>
                <p:oleObj name="VISIO" r:id="rId9" imgW="771144" imgH="1010412" progId="Visio.Drawing.11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6938" y="1066800"/>
                        <a:ext cx="2151062" cy="283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Group 34"/>
          <p:cNvGraphicFramePr>
            <a:graphicFrameLocks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827382097"/>
              </p:ext>
            </p:extLst>
          </p:nvPr>
        </p:nvGraphicFramePr>
        <p:xfrm>
          <a:off x="2667000" y="4114800"/>
          <a:ext cx="3810000" cy="1581150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7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P1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OFF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OFF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0" y="4724400"/>
            <a:ext cx="762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648200" y="4724400"/>
            <a:ext cx="762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562600" y="4724400"/>
            <a:ext cx="762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657600" y="5257800"/>
            <a:ext cx="762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648200" y="5257800"/>
            <a:ext cx="762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562600" y="5257800"/>
            <a:ext cx="762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0435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3" grpId="0" animBg="1"/>
      <p:bldP spid="14" grpId="0" animBg="1"/>
      <p:bldP spid="15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550" name="Object 4"/>
          <p:cNvGraphicFramePr>
            <a:graphicFrameLocks noGrp="1" noChangeAspect="1"/>
          </p:cNvGraphicFramePr>
          <p:nvPr>
            <p:ph sz="half"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00368113"/>
              </p:ext>
            </p:extLst>
          </p:nvPr>
        </p:nvGraphicFramePr>
        <p:xfrm>
          <a:off x="4343400" y="1143000"/>
          <a:ext cx="2604231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944880" imgH="745236" progId="Visio.Drawing.6">
                  <p:embed/>
                </p:oleObj>
              </mc:Choice>
              <mc:Fallback>
                <p:oleObj name="VISIO" r:id="rId7" imgW="944880" imgH="745236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1143000"/>
                        <a:ext cx="2604231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51" name="Object 5"/>
          <p:cNvGraphicFramePr>
            <a:graphicFrameLocks noGrp="1" noChangeAspect="1"/>
          </p:cNvGraphicFramePr>
          <p:nvPr>
            <p:ph sz="quarter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7125845"/>
              </p:ext>
            </p:extLst>
          </p:nvPr>
        </p:nvGraphicFramePr>
        <p:xfrm>
          <a:off x="2147147" y="924498"/>
          <a:ext cx="1586654" cy="2580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896112" imgH="1455420" progId="Visio.Drawing.6">
                  <p:embed/>
                </p:oleObj>
              </mc:Choice>
              <mc:Fallback>
                <p:oleObj name="VISIO" r:id="rId9" imgW="896112" imgH="14554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7147" y="924498"/>
                        <a:ext cx="1586654" cy="25807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9430" name="Group 6"/>
          <p:cNvGraphicFramePr>
            <a:graphicFrameLocks noGrp="1"/>
          </p:cNvGraphicFramePr>
          <p:nvPr>
            <p:ph sz="quarter" idx="4294967295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448910568"/>
              </p:ext>
            </p:extLst>
          </p:nvPr>
        </p:nvGraphicFramePr>
        <p:xfrm>
          <a:off x="2209800" y="3505200"/>
          <a:ext cx="4800600" cy="2286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3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P1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P2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OFF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OFF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OFF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OFF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OFF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OFF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OFF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OFF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8548" name="Rectangle 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CMOS Gates: NAND Gate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48000" y="3962400"/>
            <a:ext cx="762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886200" y="3962400"/>
            <a:ext cx="762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724400" y="3962400"/>
            <a:ext cx="762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562600" y="3962400"/>
            <a:ext cx="6858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6400800" y="3962400"/>
            <a:ext cx="457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048000" y="4419600"/>
            <a:ext cx="762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886200" y="4419600"/>
            <a:ext cx="762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724400" y="4419600"/>
            <a:ext cx="762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5562600" y="4419600"/>
            <a:ext cx="6858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6400800" y="4419600"/>
            <a:ext cx="457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3048000" y="4953000"/>
            <a:ext cx="762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886200" y="4953000"/>
            <a:ext cx="762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4724400" y="4953000"/>
            <a:ext cx="762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5562600" y="4953000"/>
            <a:ext cx="6858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400800" y="4953000"/>
            <a:ext cx="457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3048000" y="5334000"/>
            <a:ext cx="762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3886200" y="5334000"/>
            <a:ext cx="762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4724400" y="5334000"/>
            <a:ext cx="762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5562600" y="5334000"/>
            <a:ext cx="6858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6400800" y="5334000"/>
            <a:ext cx="457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5591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574" name="Object 4"/>
          <p:cNvGraphicFramePr>
            <a:graphicFrameLocks noGrp="1" noChangeAspect="1"/>
          </p:cNvGraphicFramePr>
          <p:nvPr>
            <p:ph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8815291"/>
              </p:ext>
            </p:extLst>
          </p:nvPr>
        </p:nvGraphicFramePr>
        <p:xfrm>
          <a:off x="1905000" y="1295400"/>
          <a:ext cx="5380038" cy="441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572768" imgH="1347216" progId="Visio.Drawing.6">
                  <p:embed/>
                </p:oleObj>
              </mc:Choice>
              <mc:Fallback>
                <p:oleObj name="VISIO" r:id="rId5" imgW="1572768" imgH="1347216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295400"/>
                        <a:ext cx="5380038" cy="441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72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CMOS Gate Structure</a:t>
            </a:r>
          </a:p>
        </p:txBody>
      </p:sp>
    </p:spTree>
    <p:extLst>
      <p:ext uri="{BB962C8B-B14F-4D97-AF65-F5344CB8AC3E}">
        <p14:creationId xmlns:p14="http://schemas.microsoft.com/office/powerpoint/2010/main" val="3475376205"/>
      </p:ext>
    </p:extLst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623" name="Object 7"/>
          <p:cNvGraphicFramePr>
            <a:graphicFrameLocks noGrp="1" noChangeAspect="1"/>
          </p:cNvGraphicFramePr>
          <p:nvPr>
            <p:ph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57558890"/>
              </p:ext>
            </p:extLst>
          </p:nvPr>
        </p:nvGraphicFramePr>
        <p:xfrm>
          <a:off x="2045780" y="1828800"/>
          <a:ext cx="5052440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256729" imgH="949394" progId="Visio.Drawing.6">
                  <p:embed/>
                </p:oleObj>
              </mc:Choice>
              <mc:Fallback>
                <p:oleObj name="VISIO" r:id="rId7" imgW="1256729" imgH="949394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5780" y="1828800"/>
                        <a:ext cx="5052440" cy="381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20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NOR3 Gate</a:t>
            </a:r>
          </a:p>
        </p:txBody>
      </p:sp>
      <p:sp>
        <p:nvSpPr>
          <p:cNvPr id="5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3200" dirty="0">
                <a:latin typeface="+mj-lt"/>
              </a:rPr>
              <a:t>How do you build a </a:t>
            </a:r>
            <a:r>
              <a:rPr lang="en-US" sz="3200">
                <a:latin typeface="+mj-lt"/>
              </a:rPr>
              <a:t>three-input NOR3 </a:t>
            </a:r>
            <a:r>
              <a:rPr lang="en-US" sz="3200" dirty="0">
                <a:latin typeface="+mj-lt"/>
              </a:rPr>
              <a:t>gate?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828800"/>
            <a:ext cx="5334000" cy="381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4F00E63C-20F3-4EEF-B3EC-37B86CC10646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740879506"/>
              </p:ext>
            </p:extLst>
          </p:nvPr>
        </p:nvGraphicFramePr>
        <p:xfrm>
          <a:off x="6753017" y="1877754"/>
          <a:ext cx="2079879" cy="3963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961644" imgH="1914144" progId="Visio.Drawing.6">
                  <p:embed/>
                </p:oleObj>
              </mc:Choice>
              <mc:Fallback>
                <p:oleObj name="VISIO" r:id="rId9" imgW="961644" imgH="1914144" progId="Visio.Drawing.6">
                  <p:embed/>
                  <p:pic>
                    <p:nvPicPr>
                      <p:cNvPr id="8499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3017" y="1877754"/>
                        <a:ext cx="2079879" cy="39630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067402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671" name="Object 5"/>
          <p:cNvGraphicFramePr>
            <a:graphicFrameLocks noGrp="1" noChangeAspect="1"/>
          </p:cNvGraphicFramePr>
          <p:nvPr>
            <p:ph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05216771"/>
              </p:ext>
            </p:extLst>
          </p:nvPr>
        </p:nvGraphicFramePr>
        <p:xfrm>
          <a:off x="2207418" y="1905000"/>
          <a:ext cx="4729163" cy="1430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228868" imgH="370950" progId="Visio.Drawing.6">
                  <p:embed/>
                </p:oleObj>
              </mc:Choice>
              <mc:Fallback>
                <p:oleObj name="VISIO" r:id="rId7" imgW="1228868" imgH="37095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418" y="1905000"/>
                        <a:ext cx="4729163" cy="1430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68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AND2 Gate</a:t>
            </a:r>
          </a:p>
        </p:txBody>
      </p:sp>
      <p:sp>
        <p:nvSpPr>
          <p:cNvPr id="5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1430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3200" dirty="0">
                <a:latin typeface="+mj-lt"/>
              </a:rPr>
              <a:t>How do you build a two-input AND gate?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1828800"/>
            <a:ext cx="5334000" cy="381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F4AF7EAB-E66B-43D5-B02E-79347F2A9BFF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809704555"/>
              </p:ext>
            </p:extLst>
          </p:nvPr>
        </p:nvGraphicFramePr>
        <p:xfrm>
          <a:off x="6421834" y="1752600"/>
          <a:ext cx="2301875" cy="378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885960" imgH="1457280" progId="Visio.Drawing.6">
                  <p:embed/>
                </p:oleObj>
              </mc:Choice>
              <mc:Fallback>
                <p:oleObj name="VISIO" r:id="rId9" imgW="885960" imgH="1457280" progId="Visio.Drawing.6">
                  <p:embed/>
                  <p:pic>
                    <p:nvPicPr>
                      <p:cNvPr id="8090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1834" y="1752600"/>
                        <a:ext cx="2301875" cy="3787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8103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3" name="Rectangle 3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609600" y="1143000"/>
            <a:ext cx="7772400" cy="4953000"/>
          </a:xfrm>
        </p:spPr>
        <p:txBody>
          <a:bodyPr/>
          <a:lstStyle/>
          <a:p>
            <a:pPr eaLnBrk="1" hangingPunct="1"/>
            <a:r>
              <a:rPr lang="en-US" dirty="0" err="1"/>
              <a:t>nMOS</a:t>
            </a:r>
            <a:r>
              <a:rPr lang="en-US" dirty="0"/>
              <a:t> pass 1’s poorly</a:t>
            </a:r>
          </a:p>
          <a:p>
            <a:pPr eaLnBrk="1" hangingPunct="1"/>
            <a:r>
              <a:rPr lang="en-US" dirty="0" err="1"/>
              <a:t>pMOS</a:t>
            </a:r>
            <a:r>
              <a:rPr lang="en-US" dirty="0"/>
              <a:t> pass 0’s poorly</a:t>
            </a:r>
          </a:p>
          <a:p>
            <a:pPr eaLnBrk="1" hangingPunct="1"/>
            <a:r>
              <a:rPr lang="en-US" dirty="0"/>
              <a:t>Transmission gate is a better switch</a:t>
            </a:r>
          </a:p>
          <a:p>
            <a:pPr lvl="1" eaLnBrk="1" hangingPunct="1"/>
            <a:r>
              <a:rPr lang="en-US" dirty="0"/>
              <a:t>passes both 0 and 1 well</a:t>
            </a:r>
          </a:p>
          <a:p>
            <a:pPr eaLnBrk="1" hangingPunct="1"/>
            <a:r>
              <a:rPr lang="en-US" dirty="0"/>
              <a:t>When </a:t>
            </a:r>
            <a:r>
              <a:rPr lang="en-US" i="1" dirty="0"/>
              <a:t>EN</a:t>
            </a:r>
            <a:r>
              <a:rPr lang="en-US" dirty="0"/>
              <a:t> = 1, the switch is ON:</a:t>
            </a:r>
          </a:p>
          <a:p>
            <a:pPr lvl="1" eaLnBrk="1" hangingPunct="1"/>
            <a:r>
              <a:rPr lang="en-US" i="1" dirty="0"/>
              <a:t>EN</a:t>
            </a:r>
            <a:r>
              <a:rPr lang="en-US" dirty="0"/>
              <a:t> = 0 and </a:t>
            </a:r>
            <a:r>
              <a:rPr lang="en-US" i="1" dirty="0"/>
              <a:t>A</a:t>
            </a:r>
            <a:r>
              <a:rPr lang="en-US" dirty="0"/>
              <a:t> is connected to </a:t>
            </a:r>
            <a:r>
              <a:rPr lang="en-US" i="1" dirty="0"/>
              <a:t>B</a:t>
            </a:r>
          </a:p>
          <a:p>
            <a:pPr eaLnBrk="1" hangingPunct="1"/>
            <a:r>
              <a:rPr lang="en-US" dirty="0"/>
              <a:t>When </a:t>
            </a:r>
            <a:r>
              <a:rPr lang="en-US" i="1" dirty="0"/>
              <a:t>EN</a:t>
            </a:r>
            <a:r>
              <a:rPr lang="en-US" dirty="0"/>
              <a:t> = 0, the switch is OFF:</a:t>
            </a:r>
          </a:p>
          <a:p>
            <a:pPr lvl="1" eaLnBrk="1" hangingPunct="1"/>
            <a:r>
              <a:rPr lang="en-US" i="1" dirty="0"/>
              <a:t>A</a:t>
            </a:r>
            <a:r>
              <a:rPr lang="en-US" dirty="0"/>
              <a:t> is not connected to </a:t>
            </a:r>
            <a:r>
              <a:rPr lang="en-US" i="1" dirty="0"/>
              <a:t>B</a:t>
            </a:r>
          </a:p>
        </p:txBody>
      </p:sp>
      <p:graphicFrame>
        <p:nvGraphicFramePr>
          <p:cNvPr id="114694" name="Object 4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</p:nvPr>
        </p:nvGraphicFramePr>
        <p:xfrm>
          <a:off x="7138988" y="1295400"/>
          <a:ext cx="2005012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543450" imgH="743427" progId="Visio.Drawing.6">
                  <p:embed/>
                </p:oleObj>
              </mc:Choice>
              <mc:Fallback>
                <p:oleObj name="VISIO" r:id="rId5" imgW="543450" imgH="743427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8988" y="1295400"/>
                        <a:ext cx="2005012" cy="274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Transmission Gates</a:t>
            </a:r>
          </a:p>
        </p:txBody>
      </p:sp>
    </p:spTree>
    <p:extLst>
      <p:ext uri="{BB962C8B-B14F-4D97-AF65-F5344CB8AC3E}">
        <p14:creationId xmlns:p14="http://schemas.microsoft.com/office/powerpoint/2010/main" val="260855474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7" name="Rectangle 3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381000" y="990600"/>
            <a:ext cx="7620000" cy="4953000"/>
          </a:xfrm>
        </p:spPr>
        <p:txBody>
          <a:bodyPr/>
          <a:lstStyle/>
          <a:p>
            <a:pPr eaLnBrk="1" hangingPunct="1"/>
            <a:r>
              <a:rPr lang="en-US" dirty="0"/>
              <a:t>Replace pull-up network with </a:t>
            </a:r>
            <a:r>
              <a:rPr lang="en-US" i="1" dirty="0"/>
              <a:t>weak</a:t>
            </a:r>
            <a:r>
              <a:rPr lang="en-US" dirty="0"/>
              <a:t> </a:t>
            </a:r>
            <a:r>
              <a:rPr lang="en-US" dirty="0" err="1"/>
              <a:t>pMOS</a:t>
            </a:r>
            <a:r>
              <a:rPr lang="en-US" dirty="0"/>
              <a:t> transistor that is always on</a:t>
            </a:r>
          </a:p>
          <a:p>
            <a:pPr eaLnBrk="1" hangingPunct="1"/>
            <a:r>
              <a:rPr lang="en-US" dirty="0" err="1"/>
              <a:t>pMOS</a:t>
            </a:r>
            <a:r>
              <a:rPr lang="en-US" dirty="0"/>
              <a:t> transistor: pulls output HIGH </a:t>
            </a:r>
            <a:r>
              <a:rPr lang="en-US" i="1" dirty="0"/>
              <a:t>only</a:t>
            </a:r>
            <a:r>
              <a:rPr lang="en-US" dirty="0"/>
              <a:t> when </a:t>
            </a:r>
            <a:r>
              <a:rPr lang="en-US" dirty="0" err="1"/>
              <a:t>nMOS</a:t>
            </a:r>
            <a:r>
              <a:rPr lang="en-US" dirty="0"/>
              <a:t> network not pulling it LOW </a:t>
            </a:r>
          </a:p>
        </p:txBody>
      </p:sp>
      <p:graphicFrame>
        <p:nvGraphicFramePr>
          <p:cNvPr id="115718" name="Object 8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12638833"/>
              </p:ext>
            </p:extLst>
          </p:nvPr>
        </p:nvGraphicFramePr>
        <p:xfrm>
          <a:off x="2514600" y="3124200"/>
          <a:ext cx="3657600" cy="268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428845" imgH="1047209" progId="Visio.Drawing.6">
                  <p:embed/>
                </p:oleObj>
              </mc:Choice>
              <mc:Fallback>
                <p:oleObj name="VISIO" r:id="rId5" imgW="1428845" imgH="1047209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124200"/>
                        <a:ext cx="3657600" cy="268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Pseudo-</a:t>
            </a:r>
            <a:r>
              <a:rPr lang="en-US" sz="4400" dirty="0" err="1">
                <a:solidFill>
                  <a:schemeClr val="bg1"/>
                </a:solidFill>
                <a:latin typeface="+mj-lt"/>
              </a:rPr>
              <a:t>nMOS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 Gates</a:t>
            </a:r>
          </a:p>
        </p:txBody>
      </p:sp>
    </p:spTree>
    <p:extLst>
      <p:ext uri="{BB962C8B-B14F-4D97-AF65-F5344CB8AC3E}">
        <p14:creationId xmlns:p14="http://schemas.microsoft.com/office/powerpoint/2010/main" val="117279564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41" name="Rectangle 3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533400" y="1143000"/>
            <a:ext cx="7620000" cy="4953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3200" dirty="0"/>
              <a:t>Pseudo-</a:t>
            </a:r>
            <a:r>
              <a:rPr lang="en-US" sz="3200" dirty="0" err="1"/>
              <a:t>nMOS</a:t>
            </a:r>
            <a:r>
              <a:rPr lang="en-US" sz="3200" dirty="0"/>
              <a:t> </a:t>
            </a:r>
            <a:r>
              <a:rPr lang="en-US" sz="3200" b="1" dirty="0"/>
              <a:t>NOR4</a:t>
            </a:r>
            <a:r>
              <a:rPr lang="en-US" sz="3200" dirty="0"/>
              <a:t> </a:t>
            </a:r>
          </a:p>
        </p:txBody>
      </p:sp>
      <p:graphicFrame>
        <p:nvGraphicFramePr>
          <p:cNvPr id="116742" name="Object 8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98939238"/>
              </p:ext>
            </p:extLst>
          </p:nvPr>
        </p:nvGraphicFramePr>
        <p:xfrm>
          <a:off x="1676400" y="1600200"/>
          <a:ext cx="6248400" cy="283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428845" imgH="647255" progId="Visio.Drawing.6">
                  <p:embed/>
                </p:oleObj>
              </mc:Choice>
              <mc:Fallback>
                <p:oleObj name="VISIO" r:id="rId5" imgW="1428845" imgH="647255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600200"/>
                        <a:ext cx="6248400" cy="283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Pseudo-</a:t>
            </a:r>
            <a:r>
              <a:rPr lang="en-US" sz="4400" dirty="0" err="1">
                <a:solidFill>
                  <a:schemeClr val="bg1"/>
                </a:solidFill>
                <a:latin typeface="+mj-lt"/>
              </a:rPr>
              <a:t>nMOS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 Example</a:t>
            </a:r>
          </a:p>
        </p:txBody>
      </p:sp>
    </p:spTree>
    <p:extLst>
      <p:ext uri="{BB962C8B-B14F-4D97-AF65-F5344CB8AC3E}">
        <p14:creationId xmlns:p14="http://schemas.microsoft.com/office/powerpoint/2010/main" val="95932742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4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117766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57200" y="1066800"/>
            <a:ext cx="47244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000" dirty="0">
                <a:latin typeface="+mj-lt"/>
              </a:rPr>
              <a:t>Cofounded Intel in 1968 with Robert </a:t>
            </a:r>
            <a:r>
              <a:rPr lang="en-US" sz="3000" dirty="0" err="1">
                <a:latin typeface="+mj-lt"/>
              </a:rPr>
              <a:t>Noyce</a:t>
            </a:r>
            <a:r>
              <a:rPr lang="en-US" sz="3000" dirty="0">
                <a:latin typeface="+mj-lt"/>
              </a:rPr>
              <a:t>. 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000" b="1" dirty="0">
                <a:latin typeface="+mj-lt"/>
              </a:rPr>
              <a:t>Moore’s Law:</a:t>
            </a:r>
            <a:r>
              <a:rPr lang="en-US" sz="3000" dirty="0">
                <a:latin typeface="+mj-lt"/>
              </a:rPr>
              <a:t> number of transistors on a computer chip doubles every year (observed in 1965)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000" dirty="0">
                <a:latin typeface="+mj-lt"/>
              </a:rPr>
              <a:t>Since 1975, transistor counts have doubled every two years.</a:t>
            </a:r>
          </a:p>
        </p:txBody>
      </p:sp>
      <p:pic>
        <p:nvPicPr>
          <p:cNvPr id="117767" name="Picture 7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295400"/>
            <a:ext cx="3016250" cy="4295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Gordon Moore, 1929-</a:t>
            </a:r>
          </a:p>
        </p:txBody>
      </p:sp>
    </p:spTree>
    <p:extLst>
      <p:ext uri="{BB962C8B-B14F-4D97-AF65-F5344CB8AC3E}">
        <p14:creationId xmlns:p14="http://schemas.microsoft.com/office/powerpoint/2010/main" val="1757430761"/>
      </p:ext>
    </p:extLst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9" name="Rectangle 4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838200" y="1570037"/>
            <a:ext cx="8229600" cy="4525963"/>
          </a:xfrm>
        </p:spPr>
        <p:txBody>
          <a:bodyPr>
            <a:noAutofit/>
          </a:bodyPr>
          <a:lstStyle/>
          <a:p>
            <a:pPr eaLnBrk="1" hangingPunct="1"/>
            <a:endParaRPr lang="en-US" sz="2200" dirty="0"/>
          </a:p>
          <a:p>
            <a:pPr eaLnBrk="1" hangingPunct="1"/>
            <a:endParaRPr lang="en-US" sz="2200" dirty="0"/>
          </a:p>
          <a:p>
            <a:pPr eaLnBrk="1" hangingPunct="1"/>
            <a:endParaRPr lang="en-US" sz="2200" dirty="0"/>
          </a:p>
          <a:p>
            <a:pPr eaLnBrk="1" hangingPunct="1"/>
            <a:endParaRPr lang="en-US" sz="2200" dirty="0"/>
          </a:p>
          <a:p>
            <a:pPr eaLnBrk="1" hangingPunct="1"/>
            <a:endParaRPr lang="en-US" sz="2200" dirty="0"/>
          </a:p>
          <a:p>
            <a:pPr eaLnBrk="1" hangingPunct="1"/>
            <a:endParaRPr lang="en-US" sz="2200" dirty="0"/>
          </a:p>
          <a:p>
            <a:pPr eaLnBrk="1" hangingPunct="1"/>
            <a:endParaRPr lang="en-US" sz="2200" dirty="0"/>
          </a:p>
          <a:p>
            <a:pPr eaLnBrk="1" hangingPunct="1"/>
            <a:endParaRPr lang="en-US" sz="2200" dirty="0"/>
          </a:p>
          <a:p>
            <a:pPr marL="0" indent="0" eaLnBrk="1" hangingPunct="1">
              <a:buNone/>
            </a:pPr>
            <a:r>
              <a:rPr lang="en-US" sz="2200" i="1" dirty="0"/>
              <a:t>“If the automobile had followed the same development cycle as the computer, a Rolls-Royce would today cost $100, get one million miles to the gallon, and explode once a year . . .”  (Robert </a:t>
            </a:r>
            <a:r>
              <a:rPr lang="en-US" sz="2200" i="1" dirty="0" err="1"/>
              <a:t>Cringely</a:t>
            </a:r>
            <a:r>
              <a:rPr lang="en-US" sz="2200" i="1" dirty="0"/>
              <a:t>, </a:t>
            </a:r>
            <a:r>
              <a:rPr lang="en-US" sz="2200" i="1" dirty="0" err="1"/>
              <a:t>Infoworld</a:t>
            </a:r>
            <a:r>
              <a:rPr lang="en-US" sz="2200" i="1" dirty="0"/>
              <a:t>)</a:t>
            </a:r>
          </a:p>
          <a:p>
            <a:pPr eaLnBrk="1" hangingPunct="1">
              <a:buFontTx/>
              <a:buNone/>
            </a:pPr>
            <a:r>
              <a:rPr lang="en-US" sz="2200" i="1" dirty="0"/>
              <a:t>					– Robert </a:t>
            </a:r>
            <a:r>
              <a:rPr lang="en-US" sz="2200" i="1" dirty="0" err="1"/>
              <a:t>Cringley</a:t>
            </a:r>
            <a:endParaRPr lang="en-US" sz="2200" dirty="0"/>
          </a:p>
        </p:txBody>
      </p:sp>
      <p:pic>
        <p:nvPicPr>
          <p:cNvPr id="118790" name="Picture 7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143000"/>
            <a:ext cx="6536107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Moore’s Law</a:t>
            </a:r>
          </a:p>
        </p:txBody>
      </p:sp>
    </p:spTree>
    <p:extLst>
      <p:ext uri="{BB962C8B-B14F-4D97-AF65-F5344CB8AC3E}">
        <p14:creationId xmlns:p14="http://schemas.microsoft.com/office/powerpoint/2010/main" val="24132601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3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533400" y="1143000"/>
            <a:ext cx="8229600" cy="4525963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b="1" dirty="0"/>
              <a:t>Power = Energy consumed per unit time</a:t>
            </a:r>
          </a:p>
          <a:p>
            <a:r>
              <a:rPr lang="en-US" dirty="0"/>
              <a:t>Dynamic power consumption</a:t>
            </a:r>
          </a:p>
          <a:p>
            <a:r>
              <a:rPr lang="en-US" dirty="0"/>
              <a:t>Static power consumption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Power Consumption</a:t>
            </a:r>
          </a:p>
        </p:txBody>
      </p:sp>
    </p:spTree>
    <p:extLst>
      <p:ext uri="{BB962C8B-B14F-4D97-AF65-F5344CB8AC3E}">
        <p14:creationId xmlns:p14="http://schemas.microsoft.com/office/powerpoint/2010/main" val="356704795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7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533400" y="990600"/>
            <a:ext cx="8305800" cy="5257800"/>
          </a:xfrm>
        </p:spPr>
        <p:txBody>
          <a:bodyPr>
            <a:noAutofit/>
          </a:bodyPr>
          <a:lstStyle/>
          <a:p>
            <a:pPr eaLnBrk="1" hangingPunct="1"/>
            <a:r>
              <a:rPr lang="en-US" b="1" dirty="0"/>
              <a:t>Power to charge transistor gate capacitances</a:t>
            </a:r>
          </a:p>
          <a:p>
            <a:pPr lvl="1" eaLnBrk="1" hangingPunct="1"/>
            <a:r>
              <a:rPr lang="en-US" dirty="0"/>
              <a:t>Energy required to charge a capacitance, </a:t>
            </a:r>
            <a:r>
              <a:rPr lang="en-US" i="1" dirty="0"/>
              <a:t>C</a:t>
            </a:r>
            <a:r>
              <a:rPr lang="en-US" dirty="0"/>
              <a:t>, to </a:t>
            </a:r>
            <a:r>
              <a:rPr lang="en-US" i="1" dirty="0"/>
              <a:t>V</a:t>
            </a:r>
            <a:r>
              <a:rPr lang="en-US" i="1" baseline="-25000" dirty="0"/>
              <a:t>DD</a:t>
            </a:r>
            <a:r>
              <a:rPr lang="en-US" dirty="0"/>
              <a:t>  is </a:t>
            </a:r>
            <a:r>
              <a:rPr lang="en-US" i="1" dirty="0"/>
              <a:t>CV</a:t>
            </a:r>
            <a:r>
              <a:rPr lang="en-US" i="1" baseline="-25000" dirty="0"/>
              <a:t>DD</a:t>
            </a:r>
            <a:r>
              <a:rPr lang="en-US" baseline="30000" dirty="0"/>
              <a:t>2</a:t>
            </a:r>
            <a:endParaRPr lang="en-US" dirty="0"/>
          </a:p>
          <a:p>
            <a:pPr lvl="1" eaLnBrk="1" hangingPunct="1"/>
            <a:r>
              <a:rPr lang="en-US" dirty="0"/>
              <a:t>Circuit running at frequency </a:t>
            </a:r>
            <a:r>
              <a:rPr lang="en-US" i="1" dirty="0"/>
              <a:t>f</a:t>
            </a:r>
            <a:r>
              <a:rPr lang="en-US" dirty="0"/>
              <a:t>: transistors switch (from 1 to 0 or vice versa) at that frequency</a:t>
            </a:r>
          </a:p>
          <a:p>
            <a:pPr lvl="1" eaLnBrk="1" hangingPunct="1"/>
            <a:r>
              <a:rPr lang="en-US" dirty="0"/>
              <a:t>Capacitor is charged </a:t>
            </a:r>
            <a:r>
              <a:rPr lang="en-US" i="1" dirty="0"/>
              <a:t>f</a:t>
            </a:r>
            <a:r>
              <a:rPr lang="en-US" dirty="0"/>
              <a:t>/2 times per second (discharging from 1 to 0 is free)</a:t>
            </a:r>
          </a:p>
          <a:p>
            <a:pPr eaLnBrk="1" hangingPunct="1"/>
            <a:r>
              <a:rPr lang="en-US" b="1" dirty="0"/>
              <a:t>Dynamic power consumption:</a:t>
            </a:r>
          </a:p>
          <a:p>
            <a:pPr eaLnBrk="1" hangingPunct="1"/>
            <a:endParaRPr lang="en-US" sz="1200" dirty="0"/>
          </a:p>
          <a:p>
            <a:pPr eaLnBrk="1" hangingPunct="1">
              <a:buFontTx/>
              <a:buNone/>
            </a:pPr>
            <a:r>
              <a:rPr lang="en-US" b="1" i="1" dirty="0">
                <a:solidFill>
                  <a:schemeClr val="accent2"/>
                </a:solidFill>
              </a:rPr>
              <a:t>                      </a:t>
            </a:r>
            <a:r>
              <a:rPr lang="en-US" b="1" i="1" dirty="0">
                <a:solidFill>
                  <a:srgbClr val="0070C0"/>
                </a:solidFill>
              </a:rPr>
              <a:t> </a:t>
            </a:r>
            <a:r>
              <a:rPr lang="en-US" b="1" i="1" dirty="0" err="1">
                <a:solidFill>
                  <a:srgbClr val="0070C0"/>
                </a:solidFill>
              </a:rPr>
              <a:t>P</a:t>
            </a:r>
            <a:r>
              <a:rPr lang="en-US" b="1" i="1" baseline="-25000" dirty="0" err="1">
                <a:solidFill>
                  <a:srgbClr val="0070C0"/>
                </a:solidFill>
              </a:rPr>
              <a:t>dynamic</a:t>
            </a:r>
            <a:r>
              <a:rPr lang="en-US" b="1" dirty="0">
                <a:solidFill>
                  <a:srgbClr val="0070C0"/>
                </a:solidFill>
              </a:rPr>
              <a:t> = ½</a:t>
            </a:r>
            <a:r>
              <a:rPr lang="en-US" b="1" i="1" dirty="0">
                <a:solidFill>
                  <a:srgbClr val="0070C0"/>
                </a:solidFill>
              </a:rPr>
              <a:t>CV</a:t>
            </a:r>
            <a:r>
              <a:rPr lang="en-US" b="1" i="1" baseline="-25000" dirty="0">
                <a:solidFill>
                  <a:srgbClr val="0070C0"/>
                </a:solidFill>
              </a:rPr>
              <a:t>DD</a:t>
            </a:r>
            <a:r>
              <a:rPr lang="en-US" b="1" baseline="30000" dirty="0">
                <a:solidFill>
                  <a:srgbClr val="0070C0"/>
                </a:solidFill>
              </a:rPr>
              <a:t>2</a:t>
            </a:r>
            <a:r>
              <a:rPr lang="en-US" b="1" i="1" dirty="0">
                <a:solidFill>
                  <a:srgbClr val="0070C0"/>
                </a:solidFill>
              </a:rPr>
              <a:t>f</a:t>
            </a:r>
          </a:p>
          <a:p>
            <a:pPr eaLnBrk="1" hangingPunct="1">
              <a:buFontTx/>
              <a:buNone/>
            </a:pPr>
            <a:endParaRPr lang="en-US" sz="2400" b="1" dirty="0"/>
          </a:p>
        </p:txBody>
      </p:sp>
      <p:sp>
        <p:nvSpPr>
          <p:cNvPr id="120838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590800" y="5181600"/>
            <a:ext cx="3276600" cy="609600"/>
          </a:xfrm>
          <a:prstGeom prst="rect">
            <a:avLst/>
          </a:prstGeom>
          <a:noFill/>
          <a:ln w="25400">
            <a:solidFill>
              <a:srgbClr val="0070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Dynamic Power Consumption</a:t>
            </a:r>
          </a:p>
        </p:txBody>
      </p:sp>
    </p:spTree>
    <p:extLst>
      <p:ext uri="{BB962C8B-B14F-4D97-AF65-F5344CB8AC3E}">
        <p14:creationId xmlns:p14="http://schemas.microsoft.com/office/powerpoint/2010/main" val="293800876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61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914400" y="1219200"/>
            <a:ext cx="7772400" cy="5257800"/>
          </a:xfrm>
        </p:spPr>
        <p:txBody>
          <a:bodyPr/>
          <a:lstStyle/>
          <a:p>
            <a:pPr eaLnBrk="1" hangingPunct="1"/>
            <a:r>
              <a:rPr lang="en-US" dirty="0"/>
              <a:t>Power consumed when no gates are switching</a:t>
            </a:r>
          </a:p>
          <a:p>
            <a:pPr eaLnBrk="1" hangingPunct="1"/>
            <a:r>
              <a:rPr lang="en-US" dirty="0"/>
              <a:t>Caused by the </a:t>
            </a:r>
            <a:r>
              <a:rPr lang="en-US" i="1" dirty="0"/>
              <a:t>quiescent supply current</a:t>
            </a:r>
            <a:r>
              <a:rPr lang="en-US" dirty="0"/>
              <a:t>, </a:t>
            </a:r>
            <a:r>
              <a:rPr lang="en-US" i="1" dirty="0"/>
              <a:t>I</a:t>
            </a:r>
            <a:r>
              <a:rPr lang="en-US" i="1" baseline="-25000" dirty="0"/>
              <a:t>DD</a:t>
            </a:r>
            <a:r>
              <a:rPr lang="en-US" dirty="0"/>
              <a:t> (also called the </a:t>
            </a:r>
            <a:r>
              <a:rPr lang="en-US" i="1" dirty="0"/>
              <a:t>leakage current</a:t>
            </a:r>
            <a:r>
              <a:rPr lang="en-US" dirty="0"/>
              <a:t>)</a:t>
            </a:r>
          </a:p>
          <a:p>
            <a:pPr eaLnBrk="1" hangingPunct="1"/>
            <a:r>
              <a:rPr lang="en-US" dirty="0"/>
              <a:t>Static power consumption:</a:t>
            </a:r>
          </a:p>
          <a:p>
            <a:pPr eaLnBrk="1" hangingPunct="1"/>
            <a:endParaRPr lang="en-US" sz="1200" dirty="0"/>
          </a:p>
          <a:p>
            <a:pPr eaLnBrk="1" hangingPunct="1">
              <a:buFontTx/>
              <a:buNone/>
            </a:pPr>
            <a:r>
              <a:rPr lang="en-US" i="1" dirty="0">
                <a:solidFill>
                  <a:srgbClr val="0070C0"/>
                </a:solidFill>
              </a:rPr>
              <a:t>                           </a:t>
            </a:r>
            <a:r>
              <a:rPr lang="en-US" b="1" i="1" dirty="0" err="1">
                <a:solidFill>
                  <a:srgbClr val="0070C0"/>
                </a:solidFill>
              </a:rPr>
              <a:t>P</a:t>
            </a:r>
            <a:r>
              <a:rPr lang="en-US" b="1" i="1" baseline="-25000" dirty="0" err="1">
                <a:solidFill>
                  <a:srgbClr val="0070C0"/>
                </a:solidFill>
              </a:rPr>
              <a:t>static</a:t>
            </a:r>
            <a:r>
              <a:rPr lang="en-US" b="1" dirty="0">
                <a:solidFill>
                  <a:srgbClr val="0070C0"/>
                </a:solidFill>
              </a:rPr>
              <a:t> = </a:t>
            </a:r>
            <a:r>
              <a:rPr lang="en-US" b="1" i="1" dirty="0">
                <a:solidFill>
                  <a:srgbClr val="0070C0"/>
                </a:solidFill>
              </a:rPr>
              <a:t>I</a:t>
            </a:r>
            <a:r>
              <a:rPr lang="en-US" b="1" i="1" baseline="-25000" dirty="0">
                <a:solidFill>
                  <a:srgbClr val="0070C0"/>
                </a:solidFill>
              </a:rPr>
              <a:t>DD</a:t>
            </a:r>
            <a:r>
              <a:rPr lang="en-US" b="1" i="1" dirty="0">
                <a:solidFill>
                  <a:srgbClr val="0070C0"/>
                </a:solidFill>
              </a:rPr>
              <a:t>V</a:t>
            </a:r>
            <a:r>
              <a:rPr lang="en-US" b="1" i="1" baseline="-25000" dirty="0">
                <a:solidFill>
                  <a:srgbClr val="0070C0"/>
                </a:solidFill>
              </a:rPr>
              <a:t>DD</a:t>
            </a:r>
            <a:endParaRPr lang="en-US" b="1" i="1" dirty="0">
              <a:solidFill>
                <a:srgbClr val="0070C0"/>
              </a:solidFill>
            </a:endParaRPr>
          </a:p>
          <a:p>
            <a:pPr eaLnBrk="1" hangingPunct="1">
              <a:buFontTx/>
              <a:buNone/>
            </a:pPr>
            <a:endParaRPr lang="en-US" sz="2400" b="1" dirty="0">
              <a:solidFill>
                <a:schemeClr val="accent2"/>
              </a:solidFill>
            </a:endParaRPr>
          </a:p>
        </p:txBody>
      </p:sp>
      <p:sp>
        <p:nvSpPr>
          <p:cNvPr id="121862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48000" y="4191000"/>
            <a:ext cx="3048000" cy="609600"/>
          </a:xfrm>
          <a:prstGeom prst="rect">
            <a:avLst/>
          </a:prstGeom>
          <a:noFill/>
          <a:ln w="25400">
            <a:solidFill>
              <a:srgbClr val="0070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Static Power Consumption</a:t>
            </a:r>
          </a:p>
        </p:txBody>
      </p:sp>
    </p:spTree>
    <p:extLst>
      <p:ext uri="{BB962C8B-B14F-4D97-AF65-F5344CB8AC3E}">
        <p14:creationId xmlns:p14="http://schemas.microsoft.com/office/powerpoint/2010/main" val="119276232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9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457200" y="990600"/>
            <a:ext cx="8229600" cy="5257800"/>
          </a:xfrm>
        </p:spPr>
        <p:txBody>
          <a:bodyPr>
            <a:noAutofit/>
          </a:bodyPr>
          <a:lstStyle/>
          <a:p>
            <a:pPr eaLnBrk="1" hangingPunct="1"/>
            <a:r>
              <a:rPr lang="en-US" dirty="0"/>
              <a:t>Estimate the power consumption of a mobile phone running Angry Birds</a:t>
            </a:r>
          </a:p>
          <a:p>
            <a:pPr lvl="1" eaLnBrk="1" hangingPunct="1"/>
            <a:r>
              <a:rPr lang="en-US" sz="2400" i="1" dirty="0"/>
              <a:t>V</a:t>
            </a:r>
            <a:r>
              <a:rPr lang="en-US" sz="2400" i="1" baseline="-25000" dirty="0"/>
              <a:t>DD</a:t>
            </a:r>
            <a:r>
              <a:rPr lang="en-US" sz="2400" dirty="0"/>
              <a:t> = 0.8 V</a:t>
            </a:r>
          </a:p>
          <a:p>
            <a:pPr lvl="1" eaLnBrk="1" hangingPunct="1"/>
            <a:r>
              <a:rPr lang="en-US" sz="2400" i="1" dirty="0"/>
              <a:t>C</a:t>
            </a:r>
            <a:r>
              <a:rPr lang="en-US" sz="2400" dirty="0"/>
              <a:t> = 5 </a:t>
            </a:r>
            <a:r>
              <a:rPr lang="en-US" sz="2400" dirty="0" err="1"/>
              <a:t>nF</a:t>
            </a:r>
            <a:endParaRPr lang="en-US" sz="2400" dirty="0"/>
          </a:p>
          <a:p>
            <a:pPr lvl="1" eaLnBrk="1" hangingPunct="1"/>
            <a:r>
              <a:rPr lang="en-US" sz="2400" i="1" dirty="0"/>
              <a:t>f </a:t>
            </a:r>
            <a:r>
              <a:rPr lang="en-US" sz="2400" dirty="0"/>
              <a:t>= 2 GHz</a:t>
            </a:r>
          </a:p>
          <a:p>
            <a:pPr lvl="1" eaLnBrk="1" hangingPunct="1"/>
            <a:r>
              <a:rPr lang="en-US" sz="2400" i="1" dirty="0"/>
              <a:t>I</a:t>
            </a:r>
            <a:r>
              <a:rPr lang="en-US" sz="2400" i="1" baseline="-25000" dirty="0"/>
              <a:t>DD</a:t>
            </a:r>
            <a:r>
              <a:rPr lang="en-US" sz="2400" dirty="0"/>
              <a:t> = 10 mA</a:t>
            </a:r>
          </a:p>
          <a:p>
            <a:pPr eaLnBrk="1" hangingPunct="1">
              <a:buFontTx/>
              <a:buNone/>
            </a:pPr>
            <a:endParaRPr lang="en-US" sz="1200" dirty="0"/>
          </a:p>
          <a:p>
            <a:pPr eaLnBrk="1" hangingPunct="1">
              <a:buFontTx/>
              <a:buNone/>
            </a:pPr>
            <a:r>
              <a:rPr lang="en-US" b="1" i="1" dirty="0">
                <a:solidFill>
                  <a:srgbClr val="0070C0"/>
                </a:solidFill>
              </a:rPr>
              <a:t>	P</a:t>
            </a:r>
            <a:r>
              <a:rPr lang="en-US" b="1" dirty="0">
                <a:solidFill>
                  <a:srgbClr val="0070C0"/>
                </a:solidFill>
              </a:rPr>
              <a:t> 	= ½</a:t>
            </a:r>
            <a:r>
              <a:rPr lang="en-US" b="1" i="1" dirty="0">
                <a:solidFill>
                  <a:srgbClr val="0070C0"/>
                </a:solidFill>
              </a:rPr>
              <a:t>CV</a:t>
            </a:r>
            <a:r>
              <a:rPr lang="en-US" b="1" i="1" baseline="-25000" dirty="0">
                <a:solidFill>
                  <a:srgbClr val="0070C0"/>
                </a:solidFill>
              </a:rPr>
              <a:t>DD</a:t>
            </a:r>
            <a:r>
              <a:rPr lang="en-US" b="1" baseline="30000" dirty="0">
                <a:solidFill>
                  <a:srgbClr val="0070C0"/>
                </a:solidFill>
              </a:rPr>
              <a:t>2</a:t>
            </a:r>
            <a:r>
              <a:rPr lang="en-US" b="1" i="1" dirty="0">
                <a:solidFill>
                  <a:srgbClr val="0070C0"/>
                </a:solidFill>
              </a:rPr>
              <a:t>f</a:t>
            </a:r>
            <a:r>
              <a:rPr lang="en-US" b="1" dirty="0">
                <a:solidFill>
                  <a:srgbClr val="0070C0"/>
                </a:solidFill>
              </a:rPr>
              <a:t>  + I</a:t>
            </a:r>
            <a:r>
              <a:rPr lang="en-US" b="1" i="1" baseline="-25000" dirty="0">
                <a:solidFill>
                  <a:srgbClr val="0070C0"/>
                </a:solidFill>
              </a:rPr>
              <a:t>DD</a:t>
            </a:r>
            <a:r>
              <a:rPr lang="en-US" b="1" i="1" dirty="0">
                <a:solidFill>
                  <a:srgbClr val="0070C0"/>
                </a:solidFill>
              </a:rPr>
              <a:t>V</a:t>
            </a:r>
            <a:r>
              <a:rPr lang="en-US" b="1" i="1" baseline="-25000" dirty="0">
                <a:solidFill>
                  <a:srgbClr val="0070C0"/>
                </a:solidFill>
              </a:rPr>
              <a:t>DD</a:t>
            </a:r>
            <a:endParaRPr lang="en-US" b="1" i="1" dirty="0">
              <a:solidFill>
                <a:srgbClr val="0070C0"/>
              </a:solidFill>
            </a:endParaRPr>
          </a:p>
          <a:p>
            <a:pPr eaLnBrk="1" hangingPunct="1">
              <a:buFontTx/>
              <a:buNone/>
            </a:pPr>
            <a:r>
              <a:rPr lang="en-US" sz="2400" dirty="0"/>
              <a:t>    		= ½(5 </a:t>
            </a:r>
            <a:r>
              <a:rPr lang="en-US" sz="2400" dirty="0" err="1"/>
              <a:t>nF</a:t>
            </a:r>
            <a:r>
              <a:rPr lang="en-US" sz="2400" dirty="0"/>
              <a:t>)(0.8 V)</a:t>
            </a:r>
            <a:r>
              <a:rPr lang="en-US" sz="2400" baseline="30000" dirty="0"/>
              <a:t>2</a:t>
            </a:r>
            <a:r>
              <a:rPr lang="en-US" sz="2400" dirty="0"/>
              <a:t>(2 GHz)  +   (10 mA)(0.8 V)</a:t>
            </a:r>
          </a:p>
          <a:p>
            <a:pPr eaLnBrk="1" hangingPunct="1">
              <a:buFontTx/>
              <a:buNone/>
            </a:pPr>
            <a:r>
              <a:rPr lang="en-US" sz="2400" dirty="0">
                <a:solidFill>
                  <a:srgbClr val="0070C0"/>
                </a:solidFill>
              </a:rPr>
              <a:t>   		</a:t>
            </a:r>
            <a:r>
              <a:rPr lang="en-US" sz="2400" b="1" dirty="0">
                <a:solidFill>
                  <a:srgbClr val="0070C0"/>
                </a:solidFill>
              </a:rPr>
              <a:t>= (3.2 + 0.008) W </a:t>
            </a:r>
            <a:r>
              <a:rPr lang="en-US" sz="2400" b="1">
                <a:solidFill>
                  <a:srgbClr val="0070C0"/>
                </a:solidFill>
              </a:rPr>
              <a:t>≈ 3.2 </a:t>
            </a:r>
            <a:r>
              <a:rPr lang="en-US" sz="2400" b="1" dirty="0">
                <a:solidFill>
                  <a:srgbClr val="0070C0"/>
                </a:solidFill>
              </a:rPr>
              <a:t>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Power Consumption Example</a:t>
            </a:r>
          </a:p>
        </p:txBody>
      </p:sp>
    </p:spTree>
    <p:extLst>
      <p:ext uri="{BB962C8B-B14F-4D97-AF65-F5344CB8AC3E}">
        <p14:creationId xmlns:p14="http://schemas.microsoft.com/office/powerpoint/2010/main" val="2814761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15013</TotalTime>
  <Words>2744</Words>
  <Application>Microsoft Office PowerPoint</Application>
  <PresentationFormat>On-screen Show (4:3)</PresentationFormat>
  <Paragraphs>744</Paragraphs>
  <Slides>82</Slides>
  <Notes>81</Notes>
  <HiddenSlides>7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8" baseType="lpstr">
      <vt:lpstr>Arial</vt:lpstr>
      <vt:lpstr>Calibri</vt:lpstr>
      <vt:lpstr>Courier New</vt:lpstr>
      <vt:lpstr>Times New Roman</vt:lpstr>
      <vt:lpstr>Office Theme</vt:lpstr>
      <vt:lpstr>VISIO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Harvey Mudd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sharris</dc:creator>
  <cp:lastModifiedBy>An</cp:lastModifiedBy>
  <cp:revision>97</cp:revision>
  <cp:lastPrinted>2018-01-16T16:40:17Z</cp:lastPrinted>
  <dcterms:created xsi:type="dcterms:W3CDTF">2012-08-07T04:56:47Z</dcterms:created>
  <dcterms:modified xsi:type="dcterms:W3CDTF">2022-09-13T23:08:23Z</dcterms:modified>
</cp:coreProperties>
</file>