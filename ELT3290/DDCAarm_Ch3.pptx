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8.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9.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2.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4.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6.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17.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8.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19.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20.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21.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22.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23.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24.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25.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26.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27.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28.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29.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30.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31.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32.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33.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34.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35.xml" ContentType="application/vnd.openxmlformats-officedocument.presentationml.notesSlide+xml"/>
  <Override PartName="/ppt/tags/tag126.xml" ContentType="application/vnd.openxmlformats-officedocument.presentationml.tags+xml"/>
  <Override PartName="/ppt/notesSlides/notesSlide36.xml" ContentType="application/vnd.openxmlformats-officedocument.presentationml.notesSlide+xml"/>
  <Override PartName="/ppt/tags/tag127.xml" ContentType="application/vnd.openxmlformats-officedocument.presentationml.tags+xml"/>
  <Override PartName="/ppt/notesSlides/notesSlide37.xml" ContentType="application/vnd.openxmlformats-officedocument.presentationml.notesSlide+xml"/>
  <Override PartName="/ppt/tags/tag128.xml" ContentType="application/vnd.openxmlformats-officedocument.presentationml.tags+xml"/>
  <Override PartName="/ppt/notesSlides/notesSlide38.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39.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notesSlides/notesSlide40.xml" ContentType="application/vnd.openxmlformats-officedocument.presentationml.notesSlide+xml"/>
  <Override PartName="/ppt/tags/tag134.xml" ContentType="application/vnd.openxmlformats-officedocument.presentationml.tags+xml"/>
  <Override PartName="/ppt/notesSlides/notesSlide41.xml" ContentType="application/vnd.openxmlformats-officedocument.presentationml.notesSlide+xml"/>
  <Override PartName="/ppt/tags/tag135.xml" ContentType="application/vnd.openxmlformats-officedocument.presentationml.tags+xml"/>
  <Override PartName="/ppt/notesSlides/notesSlide42.xml" ContentType="application/vnd.openxmlformats-officedocument.presentationml.notesSlide+xml"/>
  <Override PartName="/ppt/tags/tag136.xml" ContentType="application/vnd.openxmlformats-officedocument.presentationml.tags+xml"/>
  <Override PartName="/ppt/notesSlides/notesSlide43.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44.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notesSlides/notesSlide45.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46.xml" ContentType="application/vnd.openxmlformats-officedocument.presentationml.notesSlide+xml"/>
  <Override PartName="/ppt/tags/tag147.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48.xml" ContentType="application/vnd.openxmlformats-officedocument.presentationml.tags+xml"/>
  <Override PartName="/ppt/notesSlides/notesSlide49.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52.xml" ContentType="application/vnd.openxmlformats-officedocument.presentationml.tags+xml"/>
  <Override PartName="/ppt/notesSlides/notesSlide52.xml" ContentType="application/vnd.openxmlformats-officedocument.presentationml.notesSlide+xml"/>
  <Override PartName="/ppt/tags/tag153.xml" ContentType="application/vnd.openxmlformats-officedocument.presentationml.tags+xml"/>
  <Override PartName="/ppt/notesSlides/notesSlide53.xml" ContentType="application/vnd.openxmlformats-officedocument.presentationml.notesSlide+xml"/>
  <Override PartName="/ppt/tags/tag154.xml" ContentType="application/vnd.openxmlformats-officedocument.presentationml.tags+xml"/>
  <Override PartName="/ppt/notesSlides/notesSlide54.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notesSlides/notesSlide55.xml" ContentType="application/vnd.openxmlformats-officedocument.presentationml.notesSlide+xml"/>
  <Override PartName="/ppt/tags/tag157.xml" ContentType="application/vnd.openxmlformats-officedocument.presentationml.tags+xml"/>
  <Override PartName="/ppt/notesSlides/notesSlide56.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notesSlides/notesSlide57.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58.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59.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60.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61.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62.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63.xml" ContentType="application/vnd.openxmlformats-officedocument.presentationml.notesSlide+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64.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notesSlides/notesSlide65.xml" ContentType="application/vnd.openxmlformats-officedocument.presentationml.notesSlide+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66.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67.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68.xml" ContentType="application/vnd.openxmlformats-officedocument.presentationml.notesSlid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notesSlides/notesSlide69.xml" ContentType="application/vnd.openxmlformats-officedocument.presentationml.notesSlide+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70.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notesSlides/notesSlide71.xml" ContentType="application/vnd.openxmlformats-officedocument.presentationml.notesSlide+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72.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73.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notesSlides/notesSlide74.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notesSlides/notesSlide75.xml" ContentType="application/vnd.openxmlformats-officedocument.presentationml.notesSlide+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76.xml" ContentType="application/vnd.openxmlformats-officedocument.presentationml.notesSlid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notesSlides/notesSlide77.xml" ContentType="application/vnd.openxmlformats-officedocument.presentationml.notesSlide+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notesSlides/notesSlide78.xml" ContentType="application/vnd.openxmlformats-officedocument.presentationml.notesSlide+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notesSlides/notesSlide79.xml" ContentType="application/vnd.openxmlformats-officedocument.presentationml.notesSlide+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handoutMasterIdLst>
    <p:handoutMasterId r:id="rId86"/>
  </p:handoutMasterIdLst>
  <p:sldIdLst>
    <p:sldId id="256" r:id="rId2"/>
    <p:sldId id="361" r:id="rId3"/>
    <p:sldId id="458" r:id="rId4"/>
    <p:sldId id="459" r:id="rId5"/>
    <p:sldId id="460" r:id="rId6"/>
    <p:sldId id="461" r:id="rId7"/>
    <p:sldId id="462" r:id="rId8"/>
    <p:sldId id="463" r:id="rId9"/>
    <p:sldId id="585" r:id="rId10"/>
    <p:sldId id="586" r:id="rId11"/>
    <p:sldId id="468" r:id="rId12"/>
    <p:sldId id="469" r:id="rId13"/>
    <p:sldId id="560" r:id="rId14"/>
    <p:sldId id="472" r:id="rId15"/>
    <p:sldId id="473" r:id="rId16"/>
    <p:sldId id="475" r:id="rId17"/>
    <p:sldId id="476" r:id="rId18"/>
    <p:sldId id="477" r:id="rId19"/>
    <p:sldId id="478" r:id="rId20"/>
    <p:sldId id="479" r:id="rId21"/>
    <p:sldId id="561" r:id="rId22"/>
    <p:sldId id="481" r:id="rId23"/>
    <p:sldId id="562" r:id="rId24"/>
    <p:sldId id="605" r:id="rId25"/>
    <p:sldId id="604" r:id="rId26"/>
    <p:sldId id="606" r:id="rId27"/>
    <p:sldId id="484" r:id="rId28"/>
    <p:sldId id="485" r:id="rId29"/>
    <p:sldId id="486" r:id="rId30"/>
    <p:sldId id="487" r:id="rId31"/>
    <p:sldId id="488" r:id="rId32"/>
    <p:sldId id="489" r:id="rId33"/>
    <p:sldId id="563" r:id="rId34"/>
    <p:sldId id="564" r:id="rId35"/>
    <p:sldId id="587" r:id="rId36"/>
    <p:sldId id="588" r:id="rId37"/>
    <p:sldId id="497" r:id="rId38"/>
    <p:sldId id="498" r:id="rId39"/>
    <p:sldId id="499" r:id="rId40"/>
    <p:sldId id="607" r:id="rId41"/>
    <p:sldId id="500" r:id="rId42"/>
    <p:sldId id="501" r:id="rId43"/>
    <p:sldId id="502" r:id="rId44"/>
    <p:sldId id="608" r:id="rId45"/>
    <p:sldId id="609" r:id="rId46"/>
    <p:sldId id="503" r:id="rId47"/>
    <p:sldId id="589" r:id="rId48"/>
    <p:sldId id="590" r:id="rId49"/>
    <p:sldId id="591" r:id="rId50"/>
    <p:sldId id="510" r:id="rId51"/>
    <p:sldId id="512" r:id="rId52"/>
    <p:sldId id="513" r:id="rId53"/>
    <p:sldId id="514" r:id="rId54"/>
    <p:sldId id="515" r:id="rId55"/>
    <p:sldId id="516" r:id="rId56"/>
    <p:sldId id="517" r:id="rId57"/>
    <p:sldId id="518" r:id="rId58"/>
    <p:sldId id="519" r:id="rId59"/>
    <p:sldId id="521" r:id="rId60"/>
    <p:sldId id="520" r:id="rId61"/>
    <p:sldId id="522" r:id="rId62"/>
    <p:sldId id="593" r:id="rId63"/>
    <p:sldId id="595" r:id="rId64"/>
    <p:sldId id="597" r:id="rId65"/>
    <p:sldId id="598" r:id="rId66"/>
    <p:sldId id="533" r:id="rId67"/>
    <p:sldId id="600" r:id="rId68"/>
    <p:sldId id="602" r:id="rId69"/>
    <p:sldId id="540" r:id="rId70"/>
    <p:sldId id="541" r:id="rId71"/>
    <p:sldId id="542" r:id="rId72"/>
    <p:sldId id="543" r:id="rId73"/>
    <p:sldId id="544" r:id="rId74"/>
    <p:sldId id="545" r:id="rId75"/>
    <p:sldId id="546" r:id="rId76"/>
    <p:sldId id="547" r:id="rId77"/>
    <p:sldId id="549" r:id="rId78"/>
    <p:sldId id="550" r:id="rId79"/>
    <p:sldId id="551" r:id="rId80"/>
    <p:sldId id="603" r:id="rId81"/>
    <p:sldId id="554" r:id="rId82"/>
    <p:sldId id="583" r:id="rId83"/>
    <p:sldId id="584" r:id="rId8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clrMode="bw"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06BA"/>
    <a:srgbClr val="32A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68" autoAdjust="0"/>
    <p:restoredTop sz="94507" autoAdjust="0"/>
  </p:normalViewPr>
  <p:slideViewPr>
    <p:cSldViewPr>
      <p:cViewPr varScale="1">
        <p:scale>
          <a:sx n="81" d="100"/>
          <a:sy n="81" d="100"/>
        </p:scale>
        <p:origin x="1397" y="53"/>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6.wmf"/><Relationship Id="rId1" Type="http://schemas.openxmlformats.org/officeDocument/2006/relationships/image" Target="../media/image2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5.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6.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43.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2.wmf"/><Relationship Id="rId1" Type="http://schemas.openxmlformats.org/officeDocument/2006/relationships/image" Target="../media/image61.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7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09AF9F41-DFFF-4E42-A44F-FA79B69C5048}" type="datetimeFigureOut">
              <a:rPr lang="en-US" smtClean="0"/>
              <a:t>12/22/2023</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E5D1E057-D27D-9142-A72D-EA2CE7F8E220}" type="slidenum">
              <a:rPr lang="en-US" smtClean="0"/>
              <a:t>‹#›</a:t>
            </a:fld>
            <a:endParaRPr lang="en-US"/>
          </a:p>
        </p:txBody>
      </p:sp>
    </p:spTree>
    <p:extLst>
      <p:ext uri="{BB962C8B-B14F-4D97-AF65-F5344CB8AC3E}">
        <p14:creationId xmlns:p14="http://schemas.microsoft.com/office/powerpoint/2010/main" val="8318293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8ABD5E47-F045-4C01-A154-66E3997AD169}" type="datetimeFigureOut">
              <a:rPr lang="en-US" smtClean="0"/>
              <a:t>12/22/2023</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8C3EC52C-64D1-4EF5-AC14-14AF6A3FC30C}" type="slidenum">
              <a:rPr lang="en-US" smtClean="0"/>
              <a:t>‹#›</a:t>
            </a:fld>
            <a:endParaRPr lang="en-US"/>
          </a:p>
        </p:txBody>
      </p:sp>
    </p:spTree>
    <p:extLst>
      <p:ext uri="{BB962C8B-B14F-4D97-AF65-F5344CB8AC3E}">
        <p14:creationId xmlns:p14="http://schemas.microsoft.com/office/powerpoint/2010/main" val="3734810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1AAD16-29C4-4B0D-9509-B54CCCEEDE43}" type="slidenum">
              <a:rPr lang="en-US"/>
              <a:pPr/>
              <a:t>2</a:t>
            </a:fld>
            <a:endParaRPr lang="en-US"/>
          </a:p>
        </p:txBody>
      </p:sp>
      <p:sp>
        <p:nvSpPr>
          <p:cNvPr id="962562" name="Rectangle 2"/>
          <p:cNvSpPr>
            <a:spLocks noGrp="1" noRot="1" noChangeAspect="1" noChangeArrowheads="1" noTextEdit="1"/>
          </p:cNvSpPr>
          <p:nvPr>
            <p:ph type="sldImg"/>
          </p:nvPr>
        </p:nvSpPr>
        <p:spPr>
          <a:ln/>
        </p:spPr>
      </p:sp>
      <p:sp>
        <p:nvSpPr>
          <p:cNvPr id="962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A8E45E-7509-41D4-A527-1E19CBA323BC}" type="slidenum">
              <a:rPr lang="en-US"/>
              <a:pPr/>
              <a:t>3</a:t>
            </a:fld>
            <a:endParaRPr lang="en-US"/>
          </a:p>
        </p:txBody>
      </p:sp>
      <p:sp>
        <p:nvSpPr>
          <p:cNvPr id="1078274" name="Rectangle 2"/>
          <p:cNvSpPr>
            <a:spLocks noGrp="1" noRot="1" noChangeAspect="1" noChangeArrowheads="1" noTextEdit="1"/>
          </p:cNvSpPr>
          <p:nvPr>
            <p:ph type="sldImg"/>
          </p:nvPr>
        </p:nvSpPr>
        <p:spPr>
          <a:ln/>
        </p:spPr>
      </p:sp>
      <p:sp>
        <p:nvSpPr>
          <p:cNvPr id="1078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81D1F9-1FC3-46FB-9867-1CD1BC8C10A3}" type="slidenum">
              <a:rPr lang="en-US"/>
              <a:pPr/>
              <a:t>4</a:t>
            </a:fld>
            <a:endParaRPr lang="en-US"/>
          </a:p>
        </p:txBody>
      </p:sp>
      <p:sp>
        <p:nvSpPr>
          <p:cNvPr id="1079298" name="Rectangle 2"/>
          <p:cNvSpPr>
            <a:spLocks noGrp="1" noRot="1" noChangeAspect="1" noChangeArrowheads="1" noTextEdit="1"/>
          </p:cNvSpPr>
          <p:nvPr>
            <p:ph type="sldImg"/>
          </p:nvPr>
        </p:nvSpPr>
        <p:spPr>
          <a:ln/>
        </p:spPr>
      </p:sp>
      <p:sp>
        <p:nvSpPr>
          <p:cNvPr id="1079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6D4312-8977-4F80-AA52-ABB01A077599}" type="slidenum">
              <a:rPr lang="en-US"/>
              <a:pPr/>
              <a:t>5</a:t>
            </a:fld>
            <a:endParaRPr lang="en-US"/>
          </a:p>
        </p:txBody>
      </p:sp>
      <p:sp>
        <p:nvSpPr>
          <p:cNvPr id="1080322" name="Rectangle 2"/>
          <p:cNvSpPr>
            <a:spLocks noGrp="1" noRot="1" noChangeAspect="1" noChangeArrowheads="1" noTextEdit="1"/>
          </p:cNvSpPr>
          <p:nvPr>
            <p:ph type="sldImg"/>
          </p:nvPr>
        </p:nvSpPr>
        <p:spPr>
          <a:ln/>
        </p:spPr>
      </p:sp>
      <p:sp>
        <p:nvSpPr>
          <p:cNvPr id="1080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B7D844-8467-4118-A647-F5CB2BAE7A77}" type="slidenum">
              <a:rPr lang="en-US"/>
              <a:pPr/>
              <a:t>6</a:t>
            </a:fld>
            <a:endParaRPr lang="en-US"/>
          </a:p>
        </p:txBody>
      </p:sp>
      <p:sp>
        <p:nvSpPr>
          <p:cNvPr id="1081346" name="Rectangle 2"/>
          <p:cNvSpPr>
            <a:spLocks noGrp="1" noRot="1" noChangeAspect="1" noChangeArrowheads="1" noTextEdit="1"/>
          </p:cNvSpPr>
          <p:nvPr>
            <p:ph type="sldImg"/>
          </p:nvPr>
        </p:nvSpPr>
        <p:spPr>
          <a:ln/>
        </p:spPr>
      </p:sp>
      <p:sp>
        <p:nvSpPr>
          <p:cNvPr id="1081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BC8C2B-079B-4CA4-B588-26F772BF6F31}" type="slidenum">
              <a:rPr lang="en-US"/>
              <a:pPr/>
              <a:t>7</a:t>
            </a:fld>
            <a:endParaRPr lang="en-US"/>
          </a:p>
        </p:txBody>
      </p:sp>
      <p:sp>
        <p:nvSpPr>
          <p:cNvPr id="1082370" name="Rectangle 2"/>
          <p:cNvSpPr>
            <a:spLocks noGrp="1" noRot="1" noChangeAspect="1" noChangeArrowheads="1" noTextEdit="1"/>
          </p:cNvSpPr>
          <p:nvPr>
            <p:ph type="sldImg"/>
          </p:nvPr>
        </p:nvSpPr>
        <p:spPr>
          <a:ln/>
        </p:spPr>
      </p:sp>
      <p:sp>
        <p:nvSpPr>
          <p:cNvPr id="1082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55F05F-36A8-493F-8B3B-BD855B82DF9D}" type="slidenum">
              <a:rPr lang="en-US"/>
              <a:pPr/>
              <a:t>8</a:t>
            </a:fld>
            <a:endParaRPr lang="en-US"/>
          </a:p>
        </p:txBody>
      </p:sp>
      <p:sp>
        <p:nvSpPr>
          <p:cNvPr id="1083394" name="Rectangle 2"/>
          <p:cNvSpPr>
            <a:spLocks noGrp="1" noRot="1" noChangeAspect="1" noChangeArrowheads="1" noTextEdit="1"/>
          </p:cNvSpPr>
          <p:nvPr>
            <p:ph type="sldImg"/>
          </p:nvPr>
        </p:nvSpPr>
        <p:spPr>
          <a:ln/>
        </p:spPr>
      </p:sp>
      <p:sp>
        <p:nvSpPr>
          <p:cNvPr id="1083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309049-1DEB-49EB-9F90-7A34131FF28D}" type="slidenum">
              <a:rPr lang="en-US"/>
              <a:pPr/>
              <a:t>9</a:t>
            </a:fld>
            <a:endParaRPr lang="en-US"/>
          </a:p>
        </p:txBody>
      </p:sp>
      <p:sp>
        <p:nvSpPr>
          <p:cNvPr id="1085442" name="Rectangle 2"/>
          <p:cNvSpPr>
            <a:spLocks noGrp="1" noRot="1" noChangeAspect="1" noChangeArrowheads="1" noTextEdit="1"/>
          </p:cNvSpPr>
          <p:nvPr>
            <p:ph type="sldImg"/>
          </p:nvPr>
        </p:nvSpPr>
        <p:spPr>
          <a:ln/>
        </p:spPr>
      </p:sp>
      <p:sp>
        <p:nvSpPr>
          <p:cNvPr id="1085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265F38-B71E-4901-9737-27A6123E2F74}" type="slidenum">
              <a:rPr lang="en-US"/>
              <a:pPr/>
              <a:t>10</a:t>
            </a:fld>
            <a:endParaRPr lang="en-US"/>
          </a:p>
        </p:txBody>
      </p:sp>
      <p:sp>
        <p:nvSpPr>
          <p:cNvPr id="1086466" name="Rectangle 2"/>
          <p:cNvSpPr>
            <a:spLocks noGrp="1" noRot="1" noChangeAspect="1" noChangeArrowheads="1" noTextEdit="1"/>
          </p:cNvSpPr>
          <p:nvPr>
            <p:ph type="sldImg"/>
          </p:nvPr>
        </p:nvSpPr>
        <p:spPr>
          <a:ln/>
        </p:spPr>
      </p:sp>
      <p:sp>
        <p:nvSpPr>
          <p:cNvPr id="1086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79B89C-3EE3-48D7-AF0B-13CE0D931477}" type="slidenum">
              <a:rPr lang="en-US"/>
              <a:pPr/>
              <a:t>11</a:t>
            </a:fld>
            <a:endParaRPr lang="en-US"/>
          </a:p>
        </p:txBody>
      </p:sp>
      <p:sp>
        <p:nvSpPr>
          <p:cNvPr id="1087490" name="Rectangle 2"/>
          <p:cNvSpPr>
            <a:spLocks noGrp="1" noRot="1" noChangeAspect="1" noChangeArrowheads="1" noTextEdit="1"/>
          </p:cNvSpPr>
          <p:nvPr>
            <p:ph type="sldImg"/>
          </p:nvPr>
        </p:nvSpPr>
        <p:spPr>
          <a:ln/>
        </p:spPr>
      </p:sp>
      <p:sp>
        <p:nvSpPr>
          <p:cNvPr id="1087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B9D0C8-A7AE-440B-A8FE-D8200FFEF26E}" type="slidenum">
              <a:rPr lang="en-US"/>
              <a:pPr/>
              <a:t>12</a:t>
            </a:fld>
            <a:endParaRPr lang="en-US"/>
          </a:p>
        </p:txBody>
      </p:sp>
      <p:sp>
        <p:nvSpPr>
          <p:cNvPr id="1088514" name="Rectangle 2"/>
          <p:cNvSpPr>
            <a:spLocks noGrp="1" noRot="1" noChangeAspect="1" noChangeArrowheads="1" noTextEdit="1"/>
          </p:cNvSpPr>
          <p:nvPr>
            <p:ph type="sldImg"/>
          </p:nvPr>
        </p:nvSpPr>
        <p:spPr>
          <a:ln/>
        </p:spPr>
      </p:sp>
      <p:sp>
        <p:nvSpPr>
          <p:cNvPr id="1088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693B69-BB14-4557-93B9-5AA91CDD7E46}" type="slidenum">
              <a:rPr lang="en-US"/>
              <a:pPr/>
              <a:t>13</a:t>
            </a:fld>
            <a:endParaRPr lang="en-US"/>
          </a:p>
        </p:txBody>
      </p:sp>
      <p:sp>
        <p:nvSpPr>
          <p:cNvPr id="1089538" name="Rectangle 2"/>
          <p:cNvSpPr>
            <a:spLocks noGrp="1" noRot="1" noChangeAspect="1" noChangeArrowheads="1" noTextEdit="1"/>
          </p:cNvSpPr>
          <p:nvPr>
            <p:ph type="sldImg"/>
          </p:nvPr>
        </p:nvSpPr>
        <p:spPr>
          <a:ln/>
        </p:spPr>
      </p:sp>
      <p:sp>
        <p:nvSpPr>
          <p:cNvPr id="1089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CDB552-9272-40F2-845C-204B1D69DBDB}" type="slidenum">
              <a:rPr lang="en-US"/>
              <a:pPr/>
              <a:t>14</a:t>
            </a:fld>
            <a:endParaRPr lang="en-US"/>
          </a:p>
        </p:txBody>
      </p:sp>
      <p:sp>
        <p:nvSpPr>
          <p:cNvPr id="1090562" name="Rectangle 2"/>
          <p:cNvSpPr>
            <a:spLocks noGrp="1" noRot="1" noChangeAspect="1" noChangeArrowheads="1" noTextEdit="1"/>
          </p:cNvSpPr>
          <p:nvPr>
            <p:ph type="sldImg"/>
          </p:nvPr>
        </p:nvSpPr>
        <p:spPr>
          <a:ln/>
        </p:spPr>
      </p:sp>
      <p:sp>
        <p:nvSpPr>
          <p:cNvPr id="1090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36CAEC-6C48-467D-8130-0D7E6E08AB74}" type="slidenum">
              <a:rPr lang="en-US"/>
              <a:pPr/>
              <a:t>15</a:t>
            </a:fld>
            <a:endParaRPr lang="en-US"/>
          </a:p>
        </p:txBody>
      </p:sp>
      <p:sp>
        <p:nvSpPr>
          <p:cNvPr id="1091586" name="Rectangle 2"/>
          <p:cNvSpPr>
            <a:spLocks noGrp="1" noRot="1" noChangeAspect="1" noChangeArrowheads="1" noTextEdit="1"/>
          </p:cNvSpPr>
          <p:nvPr>
            <p:ph type="sldImg"/>
          </p:nvPr>
        </p:nvSpPr>
        <p:spPr>
          <a:ln/>
        </p:spPr>
      </p:sp>
      <p:sp>
        <p:nvSpPr>
          <p:cNvPr id="1091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081123-E7F4-472C-B1F2-BC7FF42E54A8}" type="slidenum">
              <a:rPr lang="en-US"/>
              <a:pPr/>
              <a:t>16</a:t>
            </a:fld>
            <a:endParaRPr lang="en-US"/>
          </a:p>
        </p:txBody>
      </p:sp>
      <p:sp>
        <p:nvSpPr>
          <p:cNvPr id="1093634" name="Rectangle 2"/>
          <p:cNvSpPr>
            <a:spLocks noGrp="1" noRot="1" noChangeAspect="1" noChangeArrowheads="1" noTextEdit="1"/>
          </p:cNvSpPr>
          <p:nvPr>
            <p:ph type="sldImg"/>
          </p:nvPr>
        </p:nvSpPr>
        <p:spPr>
          <a:ln/>
        </p:spPr>
      </p:sp>
      <p:sp>
        <p:nvSpPr>
          <p:cNvPr id="1093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CAEE0A-4F0B-400F-AFAD-6EE6551C831C}" type="slidenum">
              <a:rPr lang="en-US"/>
              <a:pPr/>
              <a:t>17</a:t>
            </a:fld>
            <a:endParaRPr lang="en-US"/>
          </a:p>
        </p:txBody>
      </p:sp>
      <p:sp>
        <p:nvSpPr>
          <p:cNvPr id="1094658" name="Rectangle 2"/>
          <p:cNvSpPr>
            <a:spLocks noGrp="1" noRot="1" noChangeAspect="1" noChangeArrowheads="1" noTextEdit="1"/>
          </p:cNvSpPr>
          <p:nvPr>
            <p:ph type="sldImg"/>
          </p:nvPr>
        </p:nvSpPr>
        <p:spPr>
          <a:ln/>
        </p:spPr>
      </p:sp>
      <p:sp>
        <p:nvSpPr>
          <p:cNvPr id="1094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4BC2D3-AE92-470A-B224-D9B0745FC321}" type="slidenum">
              <a:rPr lang="en-US"/>
              <a:pPr/>
              <a:t>18</a:t>
            </a:fld>
            <a:endParaRPr lang="en-US"/>
          </a:p>
        </p:txBody>
      </p:sp>
      <p:sp>
        <p:nvSpPr>
          <p:cNvPr id="1095682" name="Rectangle 2"/>
          <p:cNvSpPr>
            <a:spLocks noGrp="1" noRot="1" noChangeAspect="1" noChangeArrowheads="1" noTextEdit="1"/>
          </p:cNvSpPr>
          <p:nvPr>
            <p:ph type="sldImg"/>
          </p:nvPr>
        </p:nvSpPr>
        <p:spPr>
          <a:ln/>
        </p:spPr>
      </p:sp>
      <p:sp>
        <p:nvSpPr>
          <p:cNvPr id="1095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2935A8-F182-4E26-8D3B-7F190794F632}" type="slidenum">
              <a:rPr lang="en-US"/>
              <a:pPr/>
              <a:t>19</a:t>
            </a:fld>
            <a:endParaRPr lang="en-US"/>
          </a:p>
        </p:txBody>
      </p:sp>
      <p:sp>
        <p:nvSpPr>
          <p:cNvPr id="1096706" name="Rectangle 2"/>
          <p:cNvSpPr>
            <a:spLocks noGrp="1" noRot="1" noChangeAspect="1" noChangeArrowheads="1" noTextEdit="1"/>
          </p:cNvSpPr>
          <p:nvPr>
            <p:ph type="sldImg"/>
          </p:nvPr>
        </p:nvSpPr>
        <p:spPr>
          <a:ln/>
        </p:spPr>
      </p:sp>
      <p:sp>
        <p:nvSpPr>
          <p:cNvPr id="1096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231006-6D2A-46D4-BA92-746C02BFFFAE}" type="slidenum">
              <a:rPr lang="en-US"/>
              <a:pPr/>
              <a:t>20</a:t>
            </a:fld>
            <a:endParaRPr lang="en-US"/>
          </a:p>
        </p:txBody>
      </p:sp>
      <p:sp>
        <p:nvSpPr>
          <p:cNvPr id="1097730" name="Rectangle 2"/>
          <p:cNvSpPr>
            <a:spLocks noGrp="1" noRot="1" noChangeAspect="1" noChangeArrowheads="1" noTextEdit="1"/>
          </p:cNvSpPr>
          <p:nvPr>
            <p:ph type="sldImg"/>
          </p:nvPr>
        </p:nvSpPr>
        <p:spPr>
          <a:ln/>
        </p:spPr>
      </p:sp>
      <p:sp>
        <p:nvSpPr>
          <p:cNvPr id="1097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231006-6D2A-46D4-BA92-746C02BFFFAE}" type="slidenum">
              <a:rPr lang="en-US"/>
              <a:pPr/>
              <a:t>21</a:t>
            </a:fld>
            <a:endParaRPr lang="en-US"/>
          </a:p>
        </p:txBody>
      </p:sp>
      <p:sp>
        <p:nvSpPr>
          <p:cNvPr id="1097730" name="Rectangle 2"/>
          <p:cNvSpPr>
            <a:spLocks noGrp="1" noRot="1" noChangeAspect="1" noChangeArrowheads="1" noTextEdit="1"/>
          </p:cNvSpPr>
          <p:nvPr>
            <p:ph type="sldImg"/>
          </p:nvPr>
        </p:nvSpPr>
        <p:spPr>
          <a:ln/>
        </p:spPr>
      </p:sp>
      <p:sp>
        <p:nvSpPr>
          <p:cNvPr id="1097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A26F94-2E4A-459B-BD4E-E2B26FDEE0AB}" type="slidenum">
              <a:rPr lang="en-US"/>
              <a:pPr/>
              <a:t>22</a:t>
            </a:fld>
            <a:endParaRPr lang="en-US"/>
          </a:p>
        </p:txBody>
      </p:sp>
      <p:sp>
        <p:nvSpPr>
          <p:cNvPr id="1098754" name="Rectangle 2"/>
          <p:cNvSpPr>
            <a:spLocks noGrp="1" noRot="1" noChangeAspect="1" noChangeArrowheads="1" noTextEdit="1"/>
          </p:cNvSpPr>
          <p:nvPr>
            <p:ph type="sldImg"/>
          </p:nvPr>
        </p:nvSpPr>
        <p:spPr>
          <a:ln/>
        </p:spPr>
      </p:sp>
      <p:sp>
        <p:nvSpPr>
          <p:cNvPr id="1098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5C1854-E766-44CA-9083-E98D277D3E9A}" type="slidenum">
              <a:rPr lang="en-US"/>
              <a:pPr/>
              <a:t>23</a:t>
            </a:fld>
            <a:endParaRPr lang="en-US"/>
          </a:p>
        </p:txBody>
      </p:sp>
      <p:sp>
        <p:nvSpPr>
          <p:cNvPr id="1099778" name="Rectangle 2"/>
          <p:cNvSpPr>
            <a:spLocks noGrp="1" noRot="1" noChangeAspect="1" noChangeArrowheads="1" noTextEdit="1"/>
          </p:cNvSpPr>
          <p:nvPr>
            <p:ph type="sldImg"/>
          </p:nvPr>
        </p:nvSpPr>
        <p:spPr>
          <a:ln/>
        </p:spPr>
      </p:sp>
      <p:sp>
        <p:nvSpPr>
          <p:cNvPr id="1099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defTabSz="966788" eaLnBrk="0" hangingPunct="0">
              <a:defRPr sz="2800">
                <a:solidFill>
                  <a:schemeClr val="tx1"/>
                </a:solidFill>
                <a:latin typeface="Arial" charset="0"/>
                <a:cs typeface="Arial" charset="0"/>
              </a:defRPr>
            </a:lvl1pPr>
            <a:lvl2pPr marL="742950" indent="-285750" defTabSz="966788" eaLnBrk="0" hangingPunct="0">
              <a:defRPr sz="2800">
                <a:solidFill>
                  <a:schemeClr val="tx1"/>
                </a:solidFill>
                <a:latin typeface="Arial" charset="0"/>
                <a:cs typeface="Arial" charset="0"/>
              </a:defRPr>
            </a:lvl2pPr>
            <a:lvl3pPr marL="1143000" indent="-228600" defTabSz="966788" eaLnBrk="0" hangingPunct="0">
              <a:defRPr sz="2800">
                <a:solidFill>
                  <a:schemeClr val="tx1"/>
                </a:solidFill>
                <a:latin typeface="Arial" charset="0"/>
                <a:cs typeface="Arial" charset="0"/>
              </a:defRPr>
            </a:lvl3pPr>
            <a:lvl4pPr marL="1600200" indent="-228600" defTabSz="966788" eaLnBrk="0" hangingPunct="0">
              <a:defRPr sz="2800">
                <a:solidFill>
                  <a:schemeClr val="tx1"/>
                </a:solidFill>
                <a:latin typeface="Arial" charset="0"/>
                <a:cs typeface="Arial" charset="0"/>
              </a:defRPr>
            </a:lvl4pPr>
            <a:lvl5pPr marL="2057400" indent="-228600" defTabSz="966788" eaLnBrk="0" hangingPunct="0">
              <a:defRPr sz="2800">
                <a:solidFill>
                  <a:schemeClr val="tx1"/>
                </a:solidFill>
                <a:latin typeface="Arial" charset="0"/>
                <a:cs typeface="Arial" charset="0"/>
              </a:defRPr>
            </a:lvl5pPr>
            <a:lvl6pPr marL="2514600" indent="-228600" defTabSz="966788" eaLnBrk="0" fontAlgn="base" hangingPunct="0">
              <a:spcBef>
                <a:spcPct val="0"/>
              </a:spcBef>
              <a:spcAft>
                <a:spcPct val="0"/>
              </a:spcAft>
              <a:defRPr sz="2800">
                <a:solidFill>
                  <a:schemeClr val="tx1"/>
                </a:solidFill>
                <a:latin typeface="Arial" charset="0"/>
                <a:cs typeface="Arial" charset="0"/>
              </a:defRPr>
            </a:lvl6pPr>
            <a:lvl7pPr marL="2971800" indent="-228600" defTabSz="966788" eaLnBrk="0" fontAlgn="base" hangingPunct="0">
              <a:spcBef>
                <a:spcPct val="0"/>
              </a:spcBef>
              <a:spcAft>
                <a:spcPct val="0"/>
              </a:spcAft>
              <a:defRPr sz="2800">
                <a:solidFill>
                  <a:schemeClr val="tx1"/>
                </a:solidFill>
                <a:latin typeface="Arial" charset="0"/>
                <a:cs typeface="Arial" charset="0"/>
              </a:defRPr>
            </a:lvl7pPr>
            <a:lvl8pPr marL="3429000" indent="-228600" defTabSz="966788" eaLnBrk="0" fontAlgn="base" hangingPunct="0">
              <a:spcBef>
                <a:spcPct val="0"/>
              </a:spcBef>
              <a:spcAft>
                <a:spcPct val="0"/>
              </a:spcAft>
              <a:defRPr sz="2800">
                <a:solidFill>
                  <a:schemeClr val="tx1"/>
                </a:solidFill>
                <a:latin typeface="Arial" charset="0"/>
                <a:cs typeface="Arial" charset="0"/>
              </a:defRPr>
            </a:lvl8pPr>
            <a:lvl9pPr marL="3886200" indent="-228600" defTabSz="966788" eaLnBrk="0" fontAlgn="base" hangingPunct="0">
              <a:spcBef>
                <a:spcPct val="0"/>
              </a:spcBef>
              <a:spcAft>
                <a:spcPct val="0"/>
              </a:spcAft>
              <a:defRPr sz="2800">
                <a:solidFill>
                  <a:schemeClr val="tx1"/>
                </a:solidFill>
                <a:latin typeface="Arial" charset="0"/>
                <a:cs typeface="Arial" charset="0"/>
              </a:defRPr>
            </a:lvl9pPr>
          </a:lstStyle>
          <a:p>
            <a:pPr eaLnBrk="1" hangingPunct="1"/>
            <a:fld id="{11FD7DE5-E181-45B2-BC13-47077D38CFD4}" type="slidenum">
              <a:rPr lang="en-US" sz="1200">
                <a:latin typeface="Times New Roman" pitchFamily="18" charset="0"/>
              </a:rPr>
              <a:pPr eaLnBrk="1" hangingPunct="1"/>
              <a:t>24</a:t>
            </a:fld>
            <a:endParaRPr lang="en-US" sz="1200">
              <a:latin typeface="Times New Roman" pitchFamily="18" charset="0"/>
            </a:endParaRPr>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defTabSz="966788" eaLnBrk="0" hangingPunct="0">
              <a:defRPr sz="2800">
                <a:solidFill>
                  <a:schemeClr val="tx1"/>
                </a:solidFill>
                <a:latin typeface="Arial" charset="0"/>
                <a:cs typeface="Arial" charset="0"/>
              </a:defRPr>
            </a:lvl1pPr>
            <a:lvl2pPr marL="742950" indent="-285750" defTabSz="966788" eaLnBrk="0" hangingPunct="0">
              <a:defRPr sz="2800">
                <a:solidFill>
                  <a:schemeClr val="tx1"/>
                </a:solidFill>
                <a:latin typeface="Arial" charset="0"/>
                <a:cs typeface="Arial" charset="0"/>
              </a:defRPr>
            </a:lvl2pPr>
            <a:lvl3pPr marL="1143000" indent="-228600" defTabSz="966788" eaLnBrk="0" hangingPunct="0">
              <a:defRPr sz="2800">
                <a:solidFill>
                  <a:schemeClr val="tx1"/>
                </a:solidFill>
                <a:latin typeface="Arial" charset="0"/>
                <a:cs typeface="Arial" charset="0"/>
              </a:defRPr>
            </a:lvl3pPr>
            <a:lvl4pPr marL="1600200" indent="-228600" defTabSz="966788" eaLnBrk="0" hangingPunct="0">
              <a:defRPr sz="2800">
                <a:solidFill>
                  <a:schemeClr val="tx1"/>
                </a:solidFill>
                <a:latin typeface="Arial" charset="0"/>
                <a:cs typeface="Arial" charset="0"/>
              </a:defRPr>
            </a:lvl4pPr>
            <a:lvl5pPr marL="2057400" indent="-228600" defTabSz="966788" eaLnBrk="0" hangingPunct="0">
              <a:defRPr sz="2800">
                <a:solidFill>
                  <a:schemeClr val="tx1"/>
                </a:solidFill>
                <a:latin typeface="Arial" charset="0"/>
                <a:cs typeface="Arial" charset="0"/>
              </a:defRPr>
            </a:lvl5pPr>
            <a:lvl6pPr marL="2514600" indent="-228600" defTabSz="966788" eaLnBrk="0" fontAlgn="base" hangingPunct="0">
              <a:spcBef>
                <a:spcPct val="0"/>
              </a:spcBef>
              <a:spcAft>
                <a:spcPct val="0"/>
              </a:spcAft>
              <a:defRPr sz="2800">
                <a:solidFill>
                  <a:schemeClr val="tx1"/>
                </a:solidFill>
                <a:latin typeface="Arial" charset="0"/>
                <a:cs typeface="Arial" charset="0"/>
              </a:defRPr>
            </a:lvl6pPr>
            <a:lvl7pPr marL="2971800" indent="-228600" defTabSz="966788" eaLnBrk="0" fontAlgn="base" hangingPunct="0">
              <a:spcBef>
                <a:spcPct val="0"/>
              </a:spcBef>
              <a:spcAft>
                <a:spcPct val="0"/>
              </a:spcAft>
              <a:defRPr sz="2800">
                <a:solidFill>
                  <a:schemeClr val="tx1"/>
                </a:solidFill>
                <a:latin typeface="Arial" charset="0"/>
                <a:cs typeface="Arial" charset="0"/>
              </a:defRPr>
            </a:lvl7pPr>
            <a:lvl8pPr marL="3429000" indent="-228600" defTabSz="966788" eaLnBrk="0" fontAlgn="base" hangingPunct="0">
              <a:spcBef>
                <a:spcPct val="0"/>
              </a:spcBef>
              <a:spcAft>
                <a:spcPct val="0"/>
              </a:spcAft>
              <a:defRPr sz="2800">
                <a:solidFill>
                  <a:schemeClr val="tx1"/>
                </a:solidFill>
                <a:latin typeface="Arial" charset="0"/>
                <a:cs typeface="Arial" charset="0"/>
              </a:defRPr>
            </a:lvl8pPr>
            <a:lvl9pPr marL="3886200" indent="-228600" defTabSz="966788" eaLnBrk="0" fontAlgn="base" hangingPunct="0">
              <a:spcBef>
                <a:spcPct val="0"/>
              </a:spcBef>
              <a:spcAft>
                <a:spcPct val="0"/>
              </a:spcAft>
              <a:defRPr sz="2800">
                <a:solidFill>
                  <a:schemeClr val="tx1"/>
                </a:solidFill>
                <a:latin typeface="Arial" charset="0"/>
                <a:cs typeface="Arial" charset="0"/>
              </a:defRPr>
            </a:lvl9pPr>
          </a:lstStyle>
          <a:p>
            <a:pPr eaLnBrk="1" hangingPunct="1"/>
            <a:fld id="{11FD7DE5-E181-45B2-BC13-47077D38CFD4}" type="slidenum">
              <a:rPr lang="en-US" sz="1200">
                <a:latin typeface="Times New Roman" pitchFamily="18" charset="0"/>
              </a:rPr>
              <a:pPr eaLnBrk="1" hangingPunct="1"/>
              <a:t>25</a:t>
            </a:fld>
            <a:endParaRPr lang="en-US" sz="1200">
              <a:latin typeface="Times New Roman" pitchFamily="18" charset="0"/>
            </a:endParaRPr>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defTabSz="966788" eaLnBrk="0" hangingPunct="0">
              <a:defRPr sz="2800">
                <a:solidFill>
                  <a:schemeClr val="tx1"/>
                </a:solidFill>
                <a:latin typeface="Arial" charset="0"/>
                <a:cs typeface="Arial" charset="0"/>
              </a:defRPr>
            </a:lvl1pPr>
            <a:lvl2pPr marL="742950" indent="-285750" defTabSz="966788" eaLnBrk="0" hangingPunct="0">
              <a:defRPr sz="2800">
                <a:solidFill>
                  <a:schemeClr val="tx1"/>
                </a:solidFill>
                <a:latin typeface="Arial" charset="0"/>
                <a:cs typeface="Arial" charset="0"/>
              </a:defRPr>
            </a:lvl2pPr>
            <a:lvl3pPr marL="1143000" indent="-228600" defTabSz="966788" eaLnBrk="0" hangingPunct="0">
              <a:defRPr sz="2800">
                <a:solidFill>
                  <a:schemeClr val="tx1"/>
                </a:solidFill>
                <a:latin typeface="Arial" charset="0"/>
                <a:cs typeface="Arial" charset="0"/>
              </a:defRPr>
            </a:lvl3pPr>
            <a:lvl4pPr marL="1600200" indent="-228600" defTabSz="966788" eaLnBrk="0" hangingPunct="0">
              <a:defRPr sz="2800">
                <a:solidFill>
                  <a:schemeClr val="tx1"/>
                </a:solidFill>
                <a:latin typeface="Arial" charset="0"/>
                <a:cs typeface="Arial" charset="0"/>
              </a:defRPr>
            </a:lvl4pPr>
            <a:lvl5pPr marL="2057400" indent="-228600" defTabSz="966788" eaLnBrk="0" hangingPunct="0">
              <a:defRPr sz="2800">
                <a:solidFill>
                  <a:schemeClr val="tx1"/>
                </a:solidFill>
                <a:latin typeface="Arial" charset="0"/>
                <a:cs typeface="Arial" charset="0"/>
              </a:defRPr>
            </a:lvl5pPr>
            <a:lvl6pPr marL="2514600" indent="-228600" defTabSz="966788" eaLnBrk="0" fontAlgn="base" hangingPunct="0">
              <a:spcBef>
                <a:spcPct val="0"/>
              </a:spcBef>
              <a:spcAft>
                <a:spcPct val="0"/>
              </a:spcAft>
              <a:defRPr sz="2800">
                <a:solidFill>
                  <a:schemeClr val="tx1"/>
                </a:solidFill>
                <a:latin typeface="Arial" charset="0"/>
                <a:cs typeface="Arial" charset="0"/>
              </a:defRPr>
            </a:lvl6pPr>
            <a:lvl7pPr marL="2971800" indent="-228600" defTabSz="966788" eaLnBrk="0" fontAlgn="base" hangingPunct="0">
              <a:spcBef>
                <a:spcPct val="0"/>
              </a:spcBef>
              <a:spcAft>
                <a:spcPct val="0"/>
              </a:spcAft>
              <a:defRPr sz="2800">
                <a:solidFill>
                  <a:schemeClr val="tx1"/>
                </a:solidFill>
                <a:latin typeface="Arial" charset="0"/>
                <a:cs typeface="Arial" charset="0"/>
              </a:defRPr>
            </a:lvl7pPr>
            <a:lvl8pPr marL="3429000" indent="-228600" defTabSz="966788" eaLnBrk="0" fontAlgn="base" hangingPunct="0">
              <a:spcBef>
                <a:spcPct val="0"/>
              </a:spcBef>
              <a:spcAft>
                <a:spcPct val="0"/>
              </a:spcAft>
              <a:defRPr sz="2800">
                <a:solidFill>
                  <a:schemeClr val="tx1"/>
                </a:solidFill>
                <a:latin typeface="Arial" charset="0"/>
                <a:cs typeface="Arial" charset="0"/>
              </a:defRPr>
            </a:lvl8pPr>
            <a:lvl9pPr marL="3886200" indent="-228600" defTabSz="966788" eaLnBrk="0" fontAlgn="base" hangingPunct="0">
              <a:spcBef>
                <a:spcPct val="0"/>
              </a:spcBef>
              <a:spcAft>
                <a:spcPct val="0"/>
              </a:spcAft>
              <a:defRPr sz="2800">
                <a:solidFill>
                  <a:schemeClr val="tx1"/>
                </a:solidFill>
                <a:latin typeface="Arial" charset="0"/>
                <a:cs typeface="Arial" charset="0"/>
              </a:defRPr>
            </a:lvl9pPr>
          </a:lstStyle>
          <a:p>
            <a:pPr eaLnBrk="1" hangingPunct="1"/>
            <a:fld id="{11FD7DE5-E181-45B2-BC13-47077D38CFD4}" type="slidenum">
              <a:rPr lang="en-US" sz="1200">
                <a:latin typeface="Times New Roman" pitchFamily="18" charset="0"/>
              </a:rPr>
              <a:pPr eaLnBrk="1" hangingPunct="1"/>
              <a:t>26</a:t>
            </a:fld>
            <a:endParaRPr lang="en-US" sz="1200">
              <a:latin typeface="Times New Roman" pitchFamily="18" charset="0"/>
            </a:endParaRPr>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79D7CD-E42A-4D59-B663-08F5640C19AE}" type="slidenum">
              <a:rPr lang="en-US"/>
              <a:pPr/>
              <a:t>27</a:t>
            </a:fld>
            <a:endParaRPr lang="en-US"/>
          </a:p>
        </p:txBody>
      </p:sp>
      <p:sp>
        <p:nvSpPr>
          <p:cNvPr id="1100802" name="Rectangle 2"/>
          <p:cNvSpPr>
            <a:spLocks noGrp="1" noRot="1" noChangeAspect="1" noChangeArrowheads="1" noTextEdit="1"/>
          </p:cNvSpPr>
          <p:nvPr>
            <p:ph type="sldImg"/>
          </p:nvPr>
        </p:nvSpPr>
        <p:spPr>
          <a:ln/>
        </p:spPr>
      </p:sp>
      <p:sp>
        <p:nvSpPr>
          <p:cNvPr id="1100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7647D4-F49E-4E01-A75A-BDD43C5D64E5}" type="slidenum">
              <a:rPr lang="en-US"/>
              <a:pPr/>
              <a:t>28</a:t>
            </a:fld>
            <a:endParaRPr lang="en-US"/>
          </a:p>
        </p:txBody>
      </p:sp>
      <p:sp>
        <p:nvSpPr>
          <p:cNvPr id="1101826" name="Rectangle 2"/>
          <p:cNvSpPr>
            <a:spLocks noGrp="1" noRot="1" noChangeAspect="1" noChangeArrowheads="1" noTextEdit="1"/>
          </p:cNvSpPr>
          <p:nvPr>
            <p:ph type="sldImg"/>
          </p:nvPr>
        </p:nvSpPr>
        <p:spPr>
          <a:ln/>
        </p:spPr>
      </p:sp>
      <p:sp>
        <p:nvSpPr>
          <p:cNvPr id="1101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70A421-FDA6-4107-84F0-56F52739A675}" type="slidenum">
              <a:rPr lang="en-US"/>
              <a:pPr/>
              <a:t>29</a:t>
            </a:fld>
            <a:endParaRPr lang="en-US"/>
          </a:p>
        </p:txBody>
      </p:sp>
      <p:sp>
        <p:nvSpPr>
          <p:cNvPr id="1102850" name="Rectangle 2"/>
          <p:cNvSpPr>
            <a:spLocks noGrp="1" noRot="1" noChangeAspect="1" noChangeArrowheads="1" noTextEdit="1"/>
          </p:cNvSpPr>
          <p:nvPr>
            <p:ph type="sldImg"/>
          </p:nvPr>
        </p:nvSpPr>
        <p:spPr>
          <a:ln/>
        </p:spPr>
      </p:sp>
      <p:sp>
        <p:nvSpPr>
          <p:cNvPr id="1102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990410-379E-485A-B746-B1738B1FAA5A}" type="slidenum">
              <a:rPr lang="en-US"/>
              <a:pPr/>
              <a:t>30</a:t>
            </a:fld>
            <a:endParaRPr lang="en-US"/>
          </a:p>
        </p:txBody>
      </p:sp>
      <p:sp>
        <p:nvSpPr>
          <p:cNvPr id="1105922" name="Rectangle 2"/>
          <p:cNvSpPr>
            <a:spLocks noGrp="1" noRot="1" noChangeAspect="1" noChangeArrowheads="1" noTextEdit="1"/>
          </p:cNvSpPr>
          <p:nvPr>
            <p:ph type="sldImg"/>
          </p:nvPr>
        </p:nvSpPr>
        <p:spPr>
          <a:ln/>
        </p:spPr>
      </p:sp>
      <p:sp>
        <p:nvSpPr>
          <p:cNvPr id="1105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818B3A-CAEB-4752-A358-C0BEA022CF69}" type="slidenum">
              <a:rPr lang="en-US"/>
              <a:pPr/>
              <a:t>31</a:t>
            </a:fld>
            <a:endParaRPr lang="en-US"/>
          </a:p>
        </p:txBody>
      </p:sp>
      <p:sp>
        <p:nvSpPr>
          <p:cNvPr id="1106946" name="Rectangle 2"/>
          <p:cNvSpPr>
            <a:spLocks noGrp="1" noRot="1" noChangeAspect="1" noChangeArrowheads="1" noTextEdit="1"/>
          </p:cNvSpPr>
          <p:nvPr>
            <p:ph type="sldImg"/>
          </p:nvPr>
        </p:nvSpPr>
        <p:spPr>
          <a:ln/>
        </p:spPr>
      </p:sp>
      <p:sp>
        <p:nvSpPr>
          <p:cNvPr id="1106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A86D0B-AF34-4D53-861E-7E78DC8137CF}" type="slidenum">
              <a:rPr lang="en-US"/>
              <a:pPr/>
              <a:t>32</a:t>
            </a:fld>
            <a:endParaRPr lang="en-US"/>
          </a:p>
        </p:txBody>
      </p:sp>
      <p:sp>
        <p:nvSpPr>
          <p:cNvPr id="1107970" name="Rectangle 2"/>
          <p:cNvSpPr>
            <a:spLocks noGrp="1" noRot="1" noChangeAspect="1" noChangeArrowheads="1" noTextEdit="1"/>
          </p:cNvSpPr>
          <p:nvPr>
            <p:ph type="sldImg"/>
          </p:nvPr>
        </p:nvSpPr>
        <p:spPr>
          <a:ln/>
        </p:spPr>
      </p:sp>
      <p:sp>
        <p:nvSpPr>
          <p:cNvPr id="1107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A86D0B-AF34-4D53-861E-7E78DC8137CF}" type="slidenum">
              <a:rPr lang="en-US"/>
              <a:pPr/>
              <a:t>33</a:t>
            </a:fld>
            <a:endParaRPr lang="en-US"/>
          </a:p>
        </p:txBody>
      </p:sp>
      <p:sp>
        <p:nvSpPr>
          <p:cNvPr id="1107970" name="Rectangle 2"/>
          <p:cNvSpPr>
            <a:spLocks noGrp="1" noRot="1" noChangeAspect="1" noChangeArrowheads="1" noTextEdit="1"/>
          </p:cNvSpPr>
          <p:nvPr>
            <p:ph type="sldImg"/>
          </p:nvPr>
        </p:nvSpPr>
        <p:spPr>
          <a:ln/>
        </p:spPr>
      </p:sp>
      <p:sp>
        <p:nvSpPr>
          <p:cNvPr id="1107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ED4DD8-D6FD-4DCF-BA5D-E735299DC7C5}" type="slidenum">
              <a:rPr lang="en-US"/>
              <a:pPr/>
              <a:t>34</a:t>
            </a:fld>
            <a:endParaRPr lang="en-US"/>
          </a:p>
        </p:txBody>
      </p:sp>
      <p:sp>
        <p:nvSpPr>
          <p:cNvPr id="1164290" name="Rectangle 2"/>
          <p:cNvSpPr>
            <a:spLocks noGrp="1" noRot="1" noChangeAspect="1" noChangeArrowheads="1" noTextEdit="1"/>
          </p:cNvSpPr>
          <p:nvPr>
            <p:ph type="sldImg"/>
          </p:nvPr>
        </p:nvSpPr>
        <p:spPr>
          <a:ln/>
        </p:spPr>
      </p:sp>
      <p:sp>
        <p:nvSpPr>
          <p:cNvPr id="1164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C52231-7235-49BB-A972-8DC89CD476F7}" type="slidenum">
              <a:rPr lang="en-US"/>
              <a:pPr/>
              <a:t>35</a:t>
            </a:fld>
            <a:endParaRPr lang="en-US"/>
          </a:p>
        </p:txBody>
      </p:sp>
      <p:sp>
        <p:nvSpPr>
          <p:cNvPr id="1166338" name="Rectangle 2"/>
          <p:cNvSpPr>
            <a:spLocks noGrp="1" noRot="1" noChangeAspect="1" noChangeArrowheads="1" noTextEdit="1"/>
          </p:cNvSpPr>
          <p:nvPr>
            <p:ph type="sldImg"/>
          </p:nvPr>
        </p:nvSpPr>
        <p:spPr>
          <a:ln/>
        </p:spPr>
      </p:sp>
      <p:sp>
        <p:nvSpPr>
          <p:cNvPr id="1166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2CEFCF-9927-498F-BF9C-06491275FEB8}" type="slidenum">
              <a:rPr lang="en-US"/>
              <a:pPr/>
              <a:t>36</a:t>
            </a:fld>
            <a:endParaRPr lang="en-US"/>
          </a:p>
        </p:txBody>
      </p:sp>
      <p:sp>
        <p:nvSpPr>
          <p:cNvPr id="1168386" name="Rectangle 2"/>
          <p:cNvSpPr>
            <a:spLocks noGrp="1" noRot="1" noChangeAspect="1" noChangeArrowheads="1" noTextEdit="1"/>
          </p:cNvSpPr>
          <p:nvPr>
            <p:ph type="sldImg"/>
          </p:nvPr>
        </p:nvSpPr>
        <p:spPr>
          <a:ln/>
        </p:spPr>
      </p:sp>
      <p:sp>
        <p:nvSpPr>
          <p:cNvPr id="1168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BD33E6-F610-4A42-895D-5660907B102C}" type="slidenum">
              <a:rPr lang="en-US"/>
              <a:pPr/>
              <a:t>37</a:t>
            </a:fld>
            <a:endParaRPr lang="en-US"/>
          </a:p>
        </p:txBody>
      </p:sp>
      <p:sp>
        <p:nvSpPr>
          <p:cNvPr id="1112066" name="Rectangle 2"/>
          <p:cNvSpPr>
            <a:spLocks noGrp="1" noRot="1" noChangeAspect="1" noChangeArrowheads="1" noTextEdit="1"/>
          </p:cNvSpPr>
          <p:nvPr>
            <p:ph type="sldImg"/>
          </p:nvPr>
        </p:nvSpPr>
        <p:spPr>
          <a:ln/>
        </p:spPr>
      </p:sp>
      <p:sp>
        <p:nvSpPr>
          <p:cNvPr id="1112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D7C5A3-38BE-40EB-97FE-DF4586642641}" type="slidenum">
              <a:rPr lang="en-US"/>
              <a:pPr/>
              <a:t>38</a:t>
            </a:fld>
            <a:endParaRPr lang="en-US"/>
          </a:p>
        </p:txBody>
      </p:sp>
      <p:sp>
        <p:nvSpPr>
          <p:cNvPr id="1113090" name="Rectangle 2"/>
          <p:cNvSpPr>
            <a:spLocks noGrp="1" noRot="1" noChangeAspect="1" noChangeArrowheads="1" noTextEdit="1"/>
          </p:cNvSpPr>
          <p:nvPr>
            <p:ph type="sldImg"/>
          </p:nvPr>
        </p:nvSpPr>
        <p:spPr>
          <a:ln/>
        </p:spPr>
      </p:sp>
      <p:sp>
        <p:nvSpPr>
          <p:cNvPr id="1113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2B6035-2815-429E-996F-7F771C5247D7}" type="slidenum">
              <a:rPr lang="en-US"/>
              <a:pPr/>
              <a:t>39</a:t>
            </a:fld>
            <a:endParaRPr lang="en-US"/>
          </a:p>
        </p:txBody>
      </p:sp>
      <p:sp>
        <p:nvSpPr>
          <p:cNvPr id="1114114" name="Rectangle 2"/>
          <p:cNvSpPr>
            <a:spLocks noGrp="1" noRot="1" noChangeAspect="1" noChangeArrowheads="1" noTextEdit="1"/>
          </p:cNvSpPr>
          <p:nvPr>
            <p:ph type="sldImg"/>
          </p:nvPr>
        </p:nvSpPr>
        <p:spPr>
          <a:ln/>
        </p:spPr>
      </p:sp>
      <p:sp>
        <p:nvSpPr>
          <p:cNvPr id="1114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defTabSz="966788" eaLnBrk="0" hangingPunct="0">
              <a:defRPr sz="2800">
                <a:solidFill>
                  <a:schemeClr val="tx1"/>
                </a:solidFill>
                <a:latin typeface="Arial" charset="0"/>
                <a:cs typeface="Arial" charset="0"/>
              </a:defRPr>
            </a:lvl1pPr>
            <a:lvl2pPr marL="742950" indent="-285750" defTabSz="966788" eaLnBrk="0" hangingPunct="0">
              <a:defRPr sz="2800">
                <a:solidFill>
                  <a:schemeClr val="tx1"/>
                </a:solidFill>
                <a:latin typeface="Arial" charset="0"/>
                <a:cs typeface="Arial" charset="0"/>
              </a:defRPr>
            </a:lvl2pPr>
            <a:lvl3pPr marL="1143000" indent="-228600" defTabSz="966788" eaLnBrk="0" hangingPunct="0">
              <a:defRPr sz="2800">
                <a:solidFill>
                  <a:schemeClr val="tx1"/>
                </a:solidFill>
                <a:latin typeface="Arial" charset="0"/>
                <a:cs typeface="Arial" charset="0"/>
              </a:defRPr>
            </a:lvl3pPr>
            <a:lvl4pPr marL="1600200" indent="-228600" defTabSz="966788" eaLnBrk="0" hangingPunct="0">
              <a:defRPr sz="2800">
                <a:solidFill>
                  <a:schemeClr val="tx1"/>
                </a:solidFill>
                <a:latin typeface="Arial" charset="0"/>
                <a:cs typeface="Arial" charset="0"/>
              </a:defRPr>
            </a:lvl4pPr>
            <a:lvl5pPr marL="2057400" indent="-228600" defTabSz="966788" eaLnBrk="0" hangingPunct="0">
              <a:defRPr sz="2800">
                <a:solidFill>
                  <a:schemeClr val="tx1"/>
                </a:solidFill>
                <a:latin typeface="Arial" charset="0"/>
                <a:cs typeface="Arial" charset="0"/>
              </a:defRPr>
            </a:lvl5pPr>
            <a:lvl6pPr marL="2514600" indent="-228600" defTabSz="966788" eaLnBrk="0" fontAlgn="base" hangingPunct="0">
              <a:spcBef>
                <a:spcPct val="0"/>
              </a:spcBef>
              <a:spcAft>
                <a:spcPct val="0"/>
              </a:spcAft>
              <a:defRPr sz="2800">
                <a:solidFill>
                  <a:schemeClr val="tx1"/>
                </a:solidFill>
                <a:latin typeface="Arial" charset="0"/>
                <a:cs typeface="Arial" charset="0"/>
              </a:defRPr>
            </a:lvl6pPr>
            <a:lvl7pPr marL="2971800" indent="-228600" defTabSz="966788" eaLnBrk="0" fontAlgn="base" hangingPunct="0">
              <a:spcBef>
                <a:spcPct val="0"/>
              </a:spcBef>
              <a:spcAft>
                <a:spcPct val="0"/>
              </a:spcAft>
              <a:defRPr sz="2800">
                <a:solidFill>
                  <a:schemeClr val="tx1"/>
                </a:solidFill>
                <a:latin typeface="Arial" charset="0"/>
                <a:cs typeface="Arial" charset="0"/>
              </a:defRPr>
            </a:lvl7pPr>
            <a:lvl8pPr marL="3429000" indent="-228600" defTabSz="966788" eaLnBrk="0" fontAlgn="base" hangingPunct="0">
              <a:spcBef>
                <a:spcPct val="0"/>
              </a:spcBef>
              <a:spcAft>
                <a:spcPct val="0"/>
              </a:spcAft>
              <a:defRPr sz="2800">
                <a:solidFill>
                  <a:schemeClr val="tx1"/>
                </a:solidFill>
                <a:latin typeface="Arial" charset="0"/>
                <a:cs typeface="Arial" charset="0"/>
              </a:defRPr>
            </a:lvl8pPr>
            <a:lvl9pPr marL="3886200" indent="-228600" defTabSz="966788" eaLnBrk="0" fontAlgn="base" hangingPunct="0">
              <a:spcBef>
                <a:spcPct val="0"/>
              </a:spcBef>
              <a:spcAft>
                <a:spcPct val="0"/>
              </a:spcAft>
              <a:defRPr sz="2800">
                <a:solidFill>
                  <a:schemeClr val="tx1"/>
                </a:solidFill>
                <a:latin typeface="Arial" charset="0"/>
                <a:cs typeface="Arial" charset="0"/>
              </a:defRPr>
            </a:lvl9pPr>
          </a:lstStyle>
          <a:p>
            <a:pPr eaLnBrk="1" hangingPunct="1"/>
            <a:fld id="{11FD7DE5-E181-45B2-BC13-47077D38CFD4}" type="slidenum">
              <a:rPr lang="en-US" sz="1200">
                <a:latin typeface="Times New Roman" pitchFamily="18" charset="0"/>
              </a:rPr>
              <a:pPr eaLnBrk="1" hangingPunct="1"/>
              <a:t>40</a:t>
            </a:fld>
            <a:endParaRPr lang="en-US" sz="1200">
              <a:latin typeface="Times New Roman" pitchFamily="18" charset="0"/>
            </a:endParaRPr>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83A673-15E4-43FD-9820-18EED3E60DF9}" type="slidenum">
              <a:rPr lang="en-US"/>
              <a:pPr/>
              <a:t>41</a:t>
            </a:fld>
            <a:endParaRPr lang="en-US"/>
          </a:p>
        </p:txBody>
      </p:sp>
      <p:sp>
        <p:nvSpPr>
          <p:cNvPr id="1115138" name="Rectangle 2"/>
          <p:cNvSpPr>
            <a:spLocks noGrp="1" noRot="1" noChangeAspect="1" noChangeArrowheads="1" noTextEdit="1"/>
          </p:cNvSpPr>
          <p:nvPr>
            <p:ph type="sldImg"/>
          </p:nvPr>
        </p:nvSpPr>
        <p:spPr>
          <a:ln/>
        </p:spPr>
      </p:sp>
      <p:sp>
        <p:nvSpPr>
          <p:cNvPr id="1115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98C371-F2CE-4B3E-8DFC-F0AE1C80FFFA}" type="slidenum">
              <a:rPr lang="en-US"/>
              <a:pPr/>
              <a:t>42</a:t>
            </a:fld>
            <a:endParaRPr lang="en-US"/>
          </a:p>
        </p:txBody>
      </p:sp>
      <p:sp>
        <p:nvSpPr>
          <p:cNvPr id="1116162" name="Rectangle 2"/>
          <p:cNvSpPr>
            <a:spLocks noGrp="1" noRot="1" noChangeAspect="1" noChangeArrowheads="1" noTextEdit="1"/>
          </p:cNvSpPr>
          <p:nvPr>
            <p:ph type="sldImg"/>
          </p:nvPr>
        </p:nvSpPr>
        <p:spPr>
          <a:ln/>
        </p:spPr>
      </p:sp>
      <p:sp>
        <p:nvSpPr>
          <p:cNvPr id="1116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B56710-8BAE-4B10-8909-8B43FC303E78}" type="slidenum">
              <a:rPr lang="en-US"/>
              <a:pPr/>
              <a:t>43</a:t>
            </a:fld>
            <a:endParaRPr lang="en-US"/>
          </a:p>
        </p:txBody>
      </p:sp>
      <p:sp>
        <p:nvSpPr>
          <p:cNvPr id="1117186" name="Rectangle 2"/>
          <p:cNvSpPr>
            <a:spLocks noGrp="1" noRot="1" noChangeAspect="1" noChangeArrowheads="1" noTextEdit="1"/>
          </p:cNvSpPr>
          <p:nvPr>
            <p:ph type="sldImg"/>
          </p:nvPr>
        </p:nvSpPr>
        <p:spPr>
          <a:ln/>
        </p:spPr>
      </p:sp>
      <p:sp>
        <p:nvSpPr>
          <p:cNvPr id="1117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6FBB1C-AFD2-452F-AE9C-5C545DA8F6A2}" type="slidenum">
              <a:rPr lang="en-US"/>
              <a:pPr/>
              <a:t>46</a:t>
            </a:fld>
            <a:endParaRPr lang="en-US"/>
          </a:p>
        </p:txBody>
      </p:sp>
      <p:sp>
        <p:nvSpPr>
          <p:cNvPr id="1118210" name="Rectangle 2"/>
          <p:cNvSpPr>
            <a:spLocks noGrp="1" noRot="1" noChangeAspect="1" noChangeArrowheads="1" noTextEdit="1"/>
          </p:cNvSpPr>
          <p:nvPr>
            <p:ph type="sldImg"/>
          </p:nvPr>
        </p:nvSpPr>
        <p:spPr>
          <a:ln/>
        </p:spPr>
      </p:sp>
      <p:sp>
        <p:nvSpPr>
          <p:cNvPr id="11182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5A2F1B-DCB4-4CD2-8D20-E2F2C9E42578}" type="slidenum">
              <a:rPr lang="en-US"/>
              <a:pPr/>
              <a:t>47</a:t>
            </a:fld>
            <a:endParaRPr lang="en-US"/>
          </a:p>
        </p:txBody>
      </p:sp>
      <p:sp>
        <p:nvSpPr>
          <p:cNvPr id="1170434" name="Rectangle 2"/>
          <p:cNvSpPr>
            <a:spLocks noGrp="1" noRot="1" noChangeAspect="1" noChangeArrowheads="1" noTextEdit="1"/>
          </p:cNvSpPr>
          <p:nvPr>
            <p:ph type="sldImg"/>
          </p:nvPr>
        </p:nvSpPr>
        <p:spPr>
          <a:ln/>
        </p:spPr>
      </p:sp>
      <p:sp>
        <p:nvSpPr>
          <p:cNvPr id="1170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31C152-2BB5-47F1-AAC4-43FBED82498F}" type="slidenum">
              <a:rPr lang="en-US"/>
              <a:pPr/>
              <a:t>48</a:t>
            </a:fld>
            <a:endParaRPr lang="en-US"/>
          </a:p>
        </p:txBody>
      </p:sp>
      <p:sp>
        <p:nvSpPr>
          <p:cNvPr id="1172482" name="Rectangle 2"/>
          <p:cNvSpPr>
            <a:spLocks noGrp="1" noRot="1" noChangeAspect="1" noChangeArrowheads="1" noTextEdit="1"/>
          </p:cNvSpPr>
          <p:nvPr>
            <p:ph type="sldImg"/>
          </p:nvPr>
        </p:nvSpPr>
        <p:spPr>
          <a:ln/>
        </p:spPr>
      </p:sp>
      <p:sp>
        <p:nvSpPr>
          <p:cNvPr id="1172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AF450A-1244-4B5A-84F2-759B6D6CBCE1}" type="slidenum">
              <a:rPr lang="en-US"/>
              <a:pPr/>
              <a:t>49</a:t>
            </a:fld>
            <a:endParaRPr lang="en-US"/>
          </a:p>
        </p:txBody>
      </p:sp>
      <p:sp>
        <p:nvSpPr>
          <p:cNvPr id="1121282" name="Rectangle 2"/>
          <p:cNvSpPr>
            <a:spLocks noGrp="1" noRot="1" noChangeAspect="1" noChangeArrowheads="1" noTextEdit="1"/>
          </p:cNvSpPr>
          <p:nvPr>
            <p:ph type="sldImg"/>
          </p:nvPr>
        </p:nvSpPr>
        <p:spPr>
          <a:ln/>
        </p:spPr>
      </p:sp>
      <p:sp>
        <p:nvSpPr>
          <p:cNvPr id="1121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5523F3-9B38-4F84-BAFB-D536A77E864C}" type="slidenum">
              <a:rPr lang="en-US"/>
              <a:pPr/>
              <a:t>50</a:t>
            </a:fld>
            <a:endParaRPr lang="en-US"/>
          </a:p>
        </p:txBody>
      </p:sp>
      <p:sp>
        <p:nvSpPr>
          <p:cNvPr id="1122306" name="Rectangle 2"/>
          <p:cNvSpPr>
            <a:spLocks noGrp="1" noRot="1" noChangeAspect="1" noChangeArrowheads="1" noTextEdit="1"/>
          </p:cNvSpPr>
          <p:nvPr>
            <p:ph type="sldImg"/>
          </p:nvPr>
        </p:nvSpPr>
        <p:spPr>
          <a:ln/>
        </p:spPr>
      </p:sp>
      <p:sp>
        <p:nvSpPr>
          <p:cNvPr id="11223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DC5392-36DB-42CE-9D7A-0AA778D8D761}" type="slidenum">
              <a:rPr lang="en-US"/>
              <a:pPr/>
              <a:t>51</a:t>
            </a:fld>
            <a:endParaRPr lang="en-US"/>
          </a:p>
        </p:txBody>
      </p:sp>
      <p:sp>
        <p:nvSpPr>
          <p:cNvPr id="1124354" name="Rectangle 2"/>
          <p:cNvSpPr>
            <a:spLocks noGrp="1" noRot="1" noChangeAspect="1" noChangeArrowheads="1" noTextEdit="1"/>
          </p:cNvSpPr>
          <p:nvPr>
            <p:ph type="sldImg"/>
          </p:nvPr>
        </p:nvSpPr>
        <p:spPr>
          <a:ln/>
        </p:spPr>
      </p:sp>
      <p:sp>
        <p:nvSpPr>
          <p:cNvPr id="1124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28685C-D1B0-4D8B-B0A5-2B18BF8B052D}" type="slidenum">
              <a:rPr lang="en-US"/>
              <a:pPr/>
              <a:t>52</a:t>
            </a:fld>
            <a:endParaRPr lang="en-US"/>
          </a:p>
        </p:txBody>
      </p:sp>
      <p:sp>
        <p:nvSpPr>
          <p:cNvPr id="1125378" name="Rectangle 2"/>
          <p:cNvSpPr>
            <a:spLocks noGrp="1" noRot="1" noChangeAspect="1" noChangeArrowheads="1" noTextEdit="1"/>
          </p:cNvSpPr>
          <p:nvPr>
            <p:ph type="sldImg"/>
          </p:nvPr>
        </p:nvSpPr>
        <p:spPr>
          <a:ln/>
        </p:spPr>
      </p:sp>
      <p:sp>
        <p:nvSpPr>
          <p:cNvPr id="1125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6C99AA-8100-4649-997E-E119C710D76B}" type="slidenum">
              <a:rPr lang="en-US"/>
              <a:pPr/>
              <a:t>53</a:t>
            </a:fld>
            <a:endParaRPr lang="en-US"/>
          </a:p>
        </p:txBody>
      </p:sp>
      <p:sp>
        <p:nvSpPr>
          <p:cNvPr id="1126402" name="Rectangle 2"/>
          <p:cNvSpPr>
            <a:spLocks noGrp="1" noRot="1" noChangeAspect="1" noChangeArrowheads="1" noTextEdit="1"/>
          </p:cNvSpPr>
          <p:nvPr>
            <p:ph type="sldImg"/>
          </p:nvPr>
        </p:nvSpPr>
        <p:spPr>
          <a:ln/>
        </p:spPr>
      </p:sp>
      <p:sp>
        <p:nvSpPr>
          <p:cNvPr id="1126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FEB43B-2887-4459-945B-4649A99177B0}" type="slidenum">
              <a:rPr lang="en-US"/>
              <a:pPr/>
              <a:t>54</a:t>
            </a:fld>
            <a:endParaRPr lang="en-US"/>
          </a:p>
        </p:txBody>
      </p:sp>
      <p:sp>
        <p:nvSpPr>
          <p:cNvPr id="1127426" name="Rectangle 2"/>
          <p:cNvSpPr>
            <a:spLocks noGrp="1" noRot="1" noChangeAspect="1" noChangeArrowheads="1" noTextEdit="1"/>
          </p:cNvSpPr>
          <p:nvPr>
            <p:ph type="sldImg"/>
          </p:nvPr>
        </p:nvSpPr>
        <p:spPr>
          <a:ln/>
        </p:spPr>
      </p:sp>
      <p:sp>
        <p:nvSpPr>
          <p:cNvPr id="1127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EE4387-E047-4D0D-A470-32D5B95B03F5}" type="slidenum">
              <a:rPr lang="en-US"/>
              <a:pPr/>
              <a:t>55</a:t>
            </a:fld>
            <a:endParaRPr lang="en-US"/>
          </a:p>
        </p:txBody>
      </p:sp>
      <p:sp>
        <p:nvSpPr>
          <p:cNvPr id="1128450" name="Rectangle 2"/>
          <p:cNvSpPr>
            <a:spLocks noGrp="1" noRot="1" noChangeAspect="1" noChangeArrowheads="1" noTextEdit="1"/>
          </p:cNvSpPr>
          <p:nvPr>
            <p:ph type="sldImg"/>
          </p:nvPr>
        </p:nvSpPr>
        <p:spPr>
          <a:ln/>
        </p:spPr>
      </p:sp>
      <p:sp>
        <p:nvSpPr>
          <p:cNvPr id="11284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2461A3-E3FE-4585-8FDC-C29E6BC44D89}" type="slidenum">
              <a:rPr lang="en-US"/>
              <a:pPr/>
              <a:t>56</a:t>
            </a:fld>
            <a:endParaRPr lang="en-US"/>
          </a:p>
        </p:txBody>
      </p:sp>
      <p:sp>
        <p:nvSpPr>
          <p:cNvPr id="1129474" name="Rectangle 2"/>
          <p:cNvSpPr>
            <a:spLocks noGrp="1" noRot="1" noChangeAspect="1" noChangeArrowheads="1" noTextEdit="1"/>
          </p:cNvSpPr>
          <p:nvPr>
            <p:ph type="sldImg"/>
          </p:nvPr>
        </p:nvSpPr>
        <p:spPr>
          <a:ln/>
        </p:spPr>
      </p:sp>
      <p:sp>
        <p:nvSpPr>
          <p:cNvPr id="1129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E45660-5D1A-41E8-80AC-2EC751F426AC}" type="slidenum">
              <a:rPr lang="en-US"/>
              <a:pPr/>
              <a:t>57</a:t>
            </a:fld>
            <a:endParaRPr lang="en-US"/>
          </a:p>
        </p:txBody>
      </p:sp>
      <p:sp>
        <p:nvSpPr>
          <p:cNvPr id="1130498" name="Rectangle 2"/>
          <p:cNvSpPr>
            <a:spLocks noGrp="1" noRot="1" noChangeAspect="1" noChangeArrowheads="1" noTextEdit="1"/>
          </p:cNvSpPr>
          <p:nvPr>
            <p:ph type="sldImg"/>
          </p:nvPr>
        </p:nvSpPr>
        <p:spPr>
          <a:ln/>
        </p:spPr>
      </p:sp>
      <p:sp>
        <p:nvSpPr>
          <p:cNvPr id="1130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8D95AF-4C32-4A22-A632-E6C6BB834A4F}" type="slidenum">
              <a:rPr lang="en-US"/>
              <a:pPr/>
              <a:t>58</a:t>
            </a:fld>
            <a:endParaRPr lang="en-US"/>
          </a:p>
        </p:txBody>
      </p:sp>
      <p:sp>
        <p:nvSpPr>
          <p:cNvPr id="1225730" name="Rectangle 2"/>
          <p:cNvSpPr>
            <a:spLocks noGrp="1" noRot="1" noChangeAspect="1" noChangeArrowheads="1" noTextEdit="1"/>
          </p:cNvSpPr>
          <p:nvPr>
            <p:ph type="sldImg"/>
          </p:nvPr>
        </p:nvSpPr>
        <p:spPr>
          <a:ln/>
        </p:spPr>
      </p:sp>
      <p:sp>
        <p:nvSpPr>
          <p:cNvPr id="1225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C5CF6E-7985-4E77-ADCF-CC1AA81B0575}" type="slidenum">
              <a:rPr lang="en-US"/>
              <a:pPr/>
              <a:t>59</a:t>
            </a:fld>
            <a:endParaRPr lang="en-US"/>
          </a:p>
        </p:txBody>
      </p:sp>
      <p:sp>
        <p:nvSpPr>
          <p:cNvPr id="1133570" name="Rectangle 2"/>
          <p:cNvSpPr>
            <a:spLocks noGrp="1" noRot="1" noChangeAspect="1" noChangeArrowheads="1" noTextEdit="1"/>
          </p:cNvSpPr>
          <p:nvPr>
            <p:ph type="sldImg"/>
          </p:nvPr>
        </p:nvSpPr>
        <p:spPr>
          <a:ln/>
        </p:spPr>
      </p:sp>
      <p:sp>
        <p:nvSpPr>
          <p:cNvPr id="1133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202B60-314C-45E6-97D3-A6CB3B568149}" type="slidenum">
              <a:rPr lang="en-US"/>
              <a:pPr/>
              <a:t>60</a:t>
            </a:fld>
            <a:endParaRPr lang="en-US"/>
          </a:p>
        </p:txBody>
      </p:sp>
      <p:sp>
        <p:nvSpPr>
          <p:cNvPr id="1227778" name="Rectangle 2"/>
          <p:cNvSpPr>
            <a:spLocks noGrp="1" noRot="1" noChangeAspect="1" noChangeArrowheads="1" noTextEdit="1"/>
          </p:cNvSpPr>
          <p:nvPr>
            <p:ph type="sldImg"/>
          </p:nvPr>
        </p:nvSpPr>
        <p:spPr>
          <a:ln/>
        </p:spPr>
      </p:sp>
      <p:sp>
        <p:nvSpPr>
          <p:cNvPr id="1227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5E9D45-AC74-4F21-9477-A73258DD0C8C}" type="slidenum">
              <a:rPr lang="en-US"/>
              <a:pPr/>
              <a:t>61</a:t>
            </a:fld>
            <a:endParaRPr lang="en-US"/>
          </a:p>
        </p:txBody>
      </p:sp>
      <p:sp>
        <p:nvSpPr>
          <p:cNvPr id="1134594" name="Rectangle 2"/>
          <p:cNvSpPr>
            <a:spLocks noGrp="1" noRot="1" noChangeAspect="1" noChangeArrowheads="1" noTextEdit="1"/>
          </p:cNvSpPr>
          <p:nvPr>
            <p:ph type="sldImg"/>
          </p:nvPr>
        </p:nvSpPr>
        <p:spPr>
          <a:ln/>
        </p:spPr>
      </p:sp>
      <p:sp>
        <p:nvSpPr>
          <p:cNvPr id="1134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CCE3BF-60F4-4D61-A0B9-384FF23D4EEE}" type="slidenum">
              <a:rPr lang="en-US"/>
              <a:pPr/>
              <a:t>62</a:t>
            </a:fld>
            <a:endParaRPr lang="en-US"/>
          </a:p>
        </p:txBody>
      </p:sp>
      <p:sp>
        <p:nvSpPr>
          <p:cNvPr id="1178626" name="Rectangle 2"/>
          <p:cNvSpPr>
            <a:spLocks noGrp="1" noRot="1" noChangeAspect="1" noChangeArrowheads="1" noTextEdit="1"/>
          </p:cNvSpPr>
          <p:nvPr>
            <p:ph type="sldImg"/>
          </p:nvPr>
        </p:nvSpPr>
        <p:spPr>
          <a:ln/>
        </p:spPr>
      </p:sp>
      <p:sp>
        <p:nvSpPr>
          <p:cNvPr id="1178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FD24BE-F70C-4608-A06C-62E4D57576ED}" type="slidenum">
              <a:rPr lang="en-US"/>
              <a:pPr/>
              <a:t>63</a:t>
            </a:fld>
            <a:endParaRPr lang="en-US"/>
          </a:p>
        </p:txBody>
      </p:sp>
      <p:sp>
        <p:nvSpPr>
          <p:cNvPr id="1182722" name="Rectangle 2"/>
          <p:cNvSpPr>
            <a:spLocks noGrp="1" noRot="1" noChangeAspect="1" noChangeArrowheads="1" noTextEdit="1"/>
          </p:cNvSpPr>
          <p:nvPr>
            <p:ph type="sldImg"/>
          </p:nvPr>
        </p:nvSpPr>
        <p:spPr>
          <a:ln/>
        </p:spPr>
      </p:sp>
      <p:sp>
        <p:nvSpPr>
          <p:cNvPr id="1182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4699FA-3EE0-442A-8437-55D73247B2B6}" type="slidenum">
              <a:rPr lang="en-US"/>
              <a:pPr/>
              <a:t>64</a:t>
            </a:fld>
            <a:endParaRPr lang="en-US"/>
          </a:p>
        </p:txBody>
      </p:sp>
      <p:sp>
        <p:nvSpPr>
          <p:cNvPr id="1184770" name="Rectangle 2"/>
          <p:cNvSpPr>
            <a:spLocks noGrp="1" noRot="1" noChangeAspect="1" noChangeArrowheads="1" noTextEdit="1"/>
          </p:cNvSpPr>
          <p:nvPr>
            <p:ph type="sldImg"/>
          </p:nvPr>
        </p:nvSpPr>
        <p:spPr>
          <a:ln/>
        </p:spPr>
      </p:sp>
      <p:sp>
        <p:nvSpPr>
          <p:cNvPr id="1184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4699FA-3EE0-442A-8437-55D73247B2B6}" type="slidenum">
              <a:rPr lang="en-US"/>
              <a:pPr/>
              <a:t>65</a:t>
            </a:fld>
            <a:endParaRPr lang="en-US"/>
          </a:p>
        </p:txBody>
      </p:sp>
      <p:sp>
        <p:nvSpPr>
          <p:cNvPr id="1184770" name="Rectangle 2"/>
          <p:cNvSpPr>
            <a:spLocks noGrp="1" noRot="1" noChangeAspect="1" noChangeArrowheads="1" noTextEdit="1"/>
          </p:cNvSpPr>
          <p:nvPr>
            <p:ph type="sldImg"/>
          </p:nvPr>
        </p:nvSpPr>
        <p:spPr>
          <a:ln/>
        </p:spPr>
      </p:sp>
      <p:sp>
        <p:nvSpPr>
          <p:cNvPr id="1184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BE50DB-8A24-4D82-818C-77CFD632D8A1}" type="slidenum">
              <a:rPr lang="en-US"/>
              <a:pPr/>
              <a:t>66</a:t>
            </a:fld>
            <a:endParaRPr lang="en-US"/>
          </a:p>
        </p:txBody>
      </p:sp>
      <p:sp>
        <p:nvSpPr>
          <p:cNvPr id="1140738" name="Rectangle 2"/>
          <p:cNvSpPr>
            <a:spLocks noGrp="1" noRot="1" noChangeAspect="1" noChangeArrowheads="1" noTextEdit="1"/>
          </p:cNvSpPr>
          <p:nvPr>
            <p:ph type="sldImg"/>
          </p:nvPr>
        </p:nvSpPr>
        <p:spPr>
          <a:ln/>
        </p:spPr>
      </p:sp>
      <p:sp>
        <p:nvSpPr>
          <p:cNvPr id="1140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DE9FE2-79FE-47A8-B0D4-5C9AFD011957}" type="slidenum">
              <a:rPr lang="en-US"/>
              <a:pPr/>
              <a:t>67</a:t>
            </a:fld>
            <a:endParaRPr lang="en-US"/>
          </a:p>
        </p:txBody>
      </p:sp>
      <p:sp>
        <p:nvSpPr>
          <p:cNvPr id="1190914" name="Rectangle 2"/>
          <p:cNvSpPr>
            <a:spLocks noGrp="1" noRot="1" noChangeAspect="1" noChangeArrowheads="1" noTextEdit="1"/>
          </p:cNvSpPr>
          <p:nvPr>
            <p:ph type="sldImg"/>
          </p:nvPr>
        </p:nvSpPr>
        <p:spPr>
          <a:ln/>
        </p:spPr>
      </p:sp>
      <p:sp>
        <p:nvSpPr>
          <p:cNvPr id="1190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3BED91-C456-46F6-93E5-768746FF7CBB}" type="slidenum">
              <a:rPr lang="en-US"/>
              <a:pPr/>
              <a:t>68</a:t>
            </a:fld>
            <a:endParaRPr lang="en-US"/>
          </a:p>
        </p:txBody>
      </p:sp>
      <p:sp>
        <p:nvSpPr>
          <p:cNvPr id="1195010" name="Rectangle 2"/>
          <p:cNvSpPr>
            <a:spLocks noGrp="1" noRot="1" noChangeAspect="1" noChangeArrowheads="1" noTextEdit="1"/>
          </p:cNvSpPr>
          <p:nvPr>
            <p:ph type="sldImg"/>
          </p:nvPr>
        </p:nvSpPr>
        <p:spPr>
          <a:ln/>
        </p:spPr>
      </p:sp>
      <p:sp>
        <p:nvSpPr>
          <p:cNvPr id="1195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96BE2C-769A-4772-A2A7-04BAFD39B4D3}" type="slidenum">
              <a:rPr lang="en-US"/>
              <a:pPr/>
              <a:t>69</a:t>
            </a:fld>
            <a:endParaRPr lang="en-US"/>
          </a:p>
        </p:txBody>
      </p:sp>
      <p:sp>
        <p:nvSpPr>
          <p:cNvPr id="1144834" name="Rectangle 2"/>
          <p:cNvSpPr>
            <a:spLocks noGrp="1" noRot="1" noChangeAspect="1" noChangeArrowheads="1" noTextEdit="1"/>
          </p:cNvSpPr>
          <p:nvPr>
            <p:ph type="sldImg"/>
          </p:nvPr>
        </p:nvSpPr>
        <p:spPr>
          <a:ln/>
        </p:spPr>
      </p:sp>
      <p:sp>
        <p:nvSpPr>
          <p:cNvPr id="1144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EFD534-8102-4C70-981A-B91BF5D0BD15}" type="slidenum">
              <a:rPr lang="en-US"/>
              <a:pPr/>
              <a:t>70</a:t>
            </a:fld>
            <a:endParaRPr lang="en-US"/>
          </a:p>
        </p:txBody>
      </p:sp>
      <p:sp>
        <p:nvSpPr>
          <p:cNvPr id="1145858" name="Rectangle 2"/>
          <p:cNvSpPr>
            <a:spLocks noGrp="1" noRot="1" noChangeAspect="1" noChangeArrowheads="1" noTextEdit="1"/>
          </p:cNvSpPr>
          <p:nvPr>
            <p:ph type="sldImg"/>
          </p:nvPr>
        </p:nvSpPr>
        <p:spPr>
          <a:ln/>
        </p:spPr>
      </p:sp>
      <p:sp>
        <p:nvSpPr>
          <p:cNvPr id="1145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343EDD-2402-4025-9301-04A68722F7A5}" type="slidenum">
              <a:rPr lang="en-US"/>
              <a:pPr/>
              <a:t>71</a:t>
            </a:fld>
            <a:endParaRPr lang="en-US"/>
          </a:p>
        </p:txBody>
      </p:sp>
      <p:sp>
        <p:nvSpPr>
          <p:cNvPr id="1146882" name="Rectangle 2"/>
          <p:cNvSpPr>
            <a:spLocks noGrp="1" noRot="1" noChangeAspect="1" noChangeArrowheads="1" noTextEdit="1"/>
          </p:cNvSpPr>
          <p:nvPr>
            <p:ph type="sldImg"/>
          </p:nvPr>
        </p:nvSpPr>
        <p:spPr>
          <a:ln/>
        </p:spPr>
      </p:sp>
      <p:sp>
        <p:nvSpPr>
          <p:cNvPr id="1146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39D6EC-A901-41AE-B0D3-BB8AB40B09A7}" type="slidenum">
              <a:rPr lang="en-US"/>
              <a:pPr/>
              <a:t>72</a:t>
            </a:fld>
            <a:endParaRPr lang="en-US"/>
          </a:p>
        </p:txBody>
      </p:sp>
      <p:sp>
        <p:nvSpPr>
          <p:cNvPr id="1147906" name="Rectangle 2"/>
          <p:cNvSpPr>
            <a:spLocks noGrp="1" noRot="1" noChangeAspect="1" noChangeArrowheads="1" noTextEdit="1"/>
          </p:cNvSpPr>
          <p:nvPr>
            <p:ph type="sldImg"/>
          </p:nvPr>
        </p:nvSpPr>
        <p:spPr>
          <a:ln/>
        </p:spPr>
      </p:sp>
      <p:sp>
        <p:nvSpPr>
          <p:cNvPr id="11479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4D7EA7-8485-4F46-9ECE-6C17A06C1684}" type="slidenum">
              <a:rPr lang="en-US"/>
              <a:pPr/>
              <a:t>73</a:t>
            </a:fld>
            <a:endParaRPr lang="en-US"/>
          </a:p>
        </p:txBody>
      </p:sp>
      <p:sp>
        <p:nvSpPr>
          <p:cNvPr id="1148930" name="Rectangle 2"/>
          <p:cNvSpPr>
            <a:spLocks noGrp="1" noRot="1" noChangeAspect="1" noChangeArrowheads="1" noTextEdit="1"/>
          </p:cNvSpPr>
          <p:nvPr>
            <p:ph type="sldImg"/>
          </p:nvPr>
        </p:nvSpPr>
        <p:spPr>
          <a:ln/>
        </p:spPr>
      </p:sp>
      <p:sp>
        <p:nvSpPr>
          <p:cNvPr id="11489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412666-4D26-4316-8569-176DB7E2413B}" type="slidenum">
              <a:rPr lang="en-US"/>
              <a:pPr/>
              <a:t>74</a:t>
            </a:fld>
            <a:endParaRPr lang="en-US"/>
          </a:p>
        </p:txBody>
      </p:sp>
      <p:sp>
        <p:nvSpPr>
          <p:cNvPr id="1149954" name="Rectangle 2"/>
          <p:cNvSpPr>
            <a:spLocks noGrp="1" noRot="1" noChangeAspect="1" noChangeArrowheads="1" noTextEdit="1"/>
          </p:cNvSpPr>
          <p:nvPr>
            <p:ph type="sldImg"/>
          </p:nvPr>
        </p:nvSpPr>
        <p:spPr>
          <a:ln/>
        </p:spPr>
      </p:sp>
      <p:sp>
        <p:nvSpPr>
          <p:cNvPr id="11499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E5FF5E-5707-4E1E-8632-46B73F03C4DA}" type="slidenum">
              <a:rPr lang="en-US"/>
              <a:pPr/>
              <a:t>75</a:t>
            </a:fld>
            <a:endParaRPr lang="en-US"/>
          </a:p>
        </p:txBody>
      </p:sp>
      <p:sp>
        <p:nvSpPr>
          <p:cNvPr id="1150978" name="Rectangle 2"/>
          <p:cNvSpPr>
            <a:spLocks noGrp="1" noRot="1" noChangeAspect="1" noChangeArrowheads="1" noTextEdit="1"/>
          </p:cNvSpPr>
          <p:nvPr>
            <p:ph type="sldImg"/>
          </p:nvPr>
        </p:nvSpPr>
        <p:spPr>
          <a:ln/>
        </p:spPr>
      </p:sp>
      <p:sp>
        <p:nvSpPr>
          <p:cNvPr id="11509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2871A7-81F4-4CD6-8D7C-595E015E504E}" type="slidenum">
              <a:rPr lang="en-US"/>
              <a:pPr/>
              <a:t>76</a:t>
            </a:fld>
            <a:endParaRPr lang="en-US"/>
          </a:p>
        </p:txBody>
      </p:sp>
      <p:sp>
        <p:nvSpPr>
          <p:cNvPr id="1152002" name="Rectangle 2"/>
          <p:cNvSpPr>
            <a:spLocks noGrp="1" noRot="1" noChangeAspect="1" noChangeArrowheads="1" noTextEdit="1"/>
          </p:cNvSpPr>
          <p:nvPr>
            <p:ph type="sldImg"/>
          </p:nvPr>
        </p:nvSpPr>
        <p:spPr>
          <a:ln/>
        </p:spPr>
      </p:sp>
      <p:sp>
        <p:nvSpPr>
          <p:cNvPr id="11520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C2F5D9-A5AA-488D-AB09-BCC8CE65476B}" type="slidenum">
              <a:rPr lang="en-US"/>
              <a:pPr/>
              <a:t>77</a:t>
            </a:fld>
            <a:endParaRPr lang="en-US"/>
          </a:p>
        </p:txBody>
      </p:sp>
      <p:sp>
        <p:nvSpPr>
          <p:cNvPr id="1199106" name="Rectangle 2"/>
          <p:cNvSpPr>
            <a:spLocks noGrp="1" noRot="1" noChangeAspect="1" noChangeArrowheads="1" noTextEdit="1"/>
          </p:cNvSpPr>
          <p:nvPr>
            <p:ph type="sldImg"/>
          </p:nvPr>
        </p:nvSpPr>
        <p:spPr>
          <a:ln/>
        </p:spPr>
      </p:sp>
      <p:sp>
        <p:nvSpPr>
          <p:cNvPr id="1199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EB5160-BE02-4DC6-803D-717C32EB1A4C}" type="slidenum">
              <a:rPr lang="en-US"/>
              <a:pPr/>
              <a:t>78</a:t>
            </a:fld>
            <a:endParaRPr lang="en-US"/>
          </a:p>
        </p:txBody>
      </p:sp>
      <p:sp>
        <p:nvSpPr>
          <p:cNvPr id="1154050" name="Rectangle 2"/>
          <p:cNvSpPr>
            <a:spLocks noGrp="1" noRot="1" noChangeAspect="1" noChangeArrowheads="1" noTextEdit="1"/>
          </p:cNvSpPr>
          <p:nvPr>
            <p:ph type="sldImg"/>
          </p:nvPr>
        </p:nvSpPr>
        <p:spPr>
          <a:ln/>
        </p:spPr>
      </p:sp>
      <p:sp>
        <p:nvSpPr>
          <p:cNvPr id="11540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AF064B-F6E5-4689-8D43-7268D02714BD}" type="slidenum">
              <a:rPr lang="en-US"/>
              <a:pPr/>
              <a:t>79</a:t>
            </a:fld>
            <a:endParaRPr lang="en-US"/>
          </a:p>
        </p:txBody>
      </p:sp>
      <p:sp>
        <p:nvSpPr>
          <p:cNvPr id="1223682" name="Rectangle 2"/>
          <p:cNvSpPr>
            <a:spLocks noGrp="1" noRot="1" noChangeAspect="1" noChangeArrowheads="1" noTextEdit="1"/>
          </p:cNvSpPr>
          <p:nvPr>
            <p:ph type="sldImg"/>
          </p:nvPr>
        </p:nvSpPr>
        <p:spPr>
          <a:ln/>
        </p:spPr>
      </p:sp>
      <p:sp>
        <p:nvSpPr>
          <p:cNvPr id="1223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D252E0-C22A-43D7-8C52-DD2265A5601E}" type="slidenum">
              <a:rPr lang="en-US"/>
              <a:pPr/>
              <a:t>80</a:t>
            </a:fld>
            <a:endParaRPr lang="en-US"/>
          </a:p>
        </p:txBody>
      </p:sp>
      <p:sp>
        <p:nvSpPr>
          <p:cNvPr id="1201154" name="Rectangle 2"/>
          <p:cNvSpPr>
            <a:spLocks noGrp="1" noRot="1" noChangeAspect="1" noChangeArrowheads="1" noTextEdit="1"/>
          </p:cNvSpPr>
          <p:nvPr>
            <p:ph type="sldImg"/>
          </p:nvPr>
        </p:nvSpPr>
        <p:spPr>
          <a:ln/>
        </p:spPr>
      </p:sp>
      <p:sp>
        <p:nvSpPr>
          <p:cNvPr id="12011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38C314-482E-41A2-8DA9-AED6D2F6D02D}" type="slidenum">
              <a:rPr lang="en-US"/>
              <a:pPr/>
              <a:t>81</a:t>
            </a:fld>
            <a:endParaRPr lang="en-US"/>
          </a:p>
        </p:txBody>
      </p:sp>
      <p:sp>
        <p:nvSpPr>
          <p:cNvPr id="1156098" name="Rectangle 2"/>
          <p:cNvSpPr>
            <a:spLocks noGrp="1" noRot="1" noChangeAspect="1" noChangeArrowheads="1" noTextEdit="1"/>
          </p:cNvSpPr>
          <p:nvPr>
            <p:ph type="sldImg"/>
          </p:nvPr>
        </p:nvSpPr>
        <p:spPr>
          <a:ln/>
        </p:spPr>
      </p:sp>
      <p:sp>
        <p:nvSpPr>
          <p:cNvPr id="1156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A7083F-5A91-441B-BF3D-26BBCFF16A9A}" type="slidenum">
              <a:rPr lang="en-US"/>
              <a:pPr/>
              <a:t>82</a:t>
            </a:fld>
            <a:endParaRPr lang="en-US"/>
          </a:p>
        </p:txBody>
      </p:sp>
      <p:sp>
        <p:nvSpPr>
          <p:cNvPr id="1157122" name="Rectangle 2"/>
          <p:cNvSpPr>
            <a:spLocks noGrp="1" noRot="1" noChangeAspect="1" noChangeArrowheads="1" noTextEdit="1"/>
          </p:cNvSpPr>
          <p:nvPr>
            <p:ph type="sldImg"/>
          </p:nvPr>
        </p:nvSpPr>
        <p:spPr>
          <a:ln/>
        </p:spPr>
      </p:sp>
      <p:sp>
        <p:nvSpPr>
          <p:cNvPr id="1157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F95C7D-D7E6-4622-89A0-40ADA605E94C}" type="slidenum">
              <a:rPr lang="en-US"/>
              <a:pPr/>
              <a:t>83</a:t>
            </a:fld>
            <a:endParaRPr lang="en-US"/>
          </a:p>
        </p:txBody>
      </p:sp>
      <p:sp>
        <p:nvSpPr>
          <p:cNvPr id="1205250" name="Rectangle 2"/>
          <p:cNvSpPr>
            <a:spLocks noGrp="1" noRot="1" noChangeAspect="1" noChangeArrowheads="1" noTextEdit="1"/>
          </p:cNvSpPr>
          <p:nvPr>
            <p:ph type="sldImg"/>
          </p:nvPr>
        </p:nvSpPr>
        <p:spPr>
          <a:ln/>
        </p:spPr>
      </p:sp>
      <p:sp>
        <p:nvSpPr>
          <p:cNvPr id="120525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5928846"/>
            <a:ext cx="9144000" cy="929154"/>
          </a:xfrm>
          <a:prstGeom prst="rect">
            <a:avLst/>
          </a:prstGeom>
          <a:solidFill>
            <a:srgbClr val="231F20"/>
          </a:solidFill>
          <a:ln>
            <a:solidFill>
              <a:srgbClr val="231F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0" y="0"/>
            <a:ext cx="9144000" cy="919089"/>
          </a:xfrm>
          <a:prstGeom prst="rect">
            <a:avLst/>
          </a:prstGeom>
          <a:solidFill>
            <a:srgbClr val="231F20"/>
          </a:solidFill>
          <a:ln>
            <a:solidFill>
              <a:srgbClr val="231F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5972064"/>
            <a:ext cx="990600" cy="88593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29600" y="5943600"/>
            <a:ext cx="773569" cy="864310"/>
          </a:xfrm>
          <a:prstGeom prst="rect">
            <a:avLst/>
          </a:prstGeom>
        </p:spPr>
      </p:pic>
      <p:sp>
        <p:nvSpPr>
          <p:cNvPr id="11" name="TextBox 10"/>
          <p:cNvSpPr txBox="1"/>
          <p:nvPr userDrawn="1"/>
        </p:nvSpPr>
        <p:spPr>
          <a:xfrm>
            <a:off x="6477000" y="6248400"/>
            <a:ext cx="1981200" cy="307777"/>
          </a:xfrm>
          <a:prstGeom prst="rect">
            <a:avLst/>
          </a:prstGeom>
          <a:noFill/>
        </p:spPr>
        <p:txBody>
          <a:bodyPr wrap="square" rtlCol="0">
            <a:spAutoFit/>
          </a:bodyPr>
          <a:lstStyle/>
          <a:p>
            <a:r>
              <a:rPr lang="en-US" sz="1400" baseline="0" dirty="0">
                <a:solidFill>
                  <a:schemeClr val="bg1"/>
                </a:solidFill>
              </a:rPr>
              <a:t>Chapter 3 &lt;</a:t>
            </a:r>
            <a:fld id="{D1B2EFE9-D440-4A3B-858C-5FEDF5DD0E10}" type="slidenum">
              <a:rPr lang="en-US" sz="1400" smtClean="0">
                <a:solidFill>
                  <a:schemeClr val="bg1"/>
                </a:solidFill>
              </a:rPr>
              <a:pPr/>
              <a:t>‹#›</a:t>
            </a:fld>
            <a:r>
              <a:rPr lang="en-US" sz="1400" dirty="0">
                <a:solidFill>
                  <a:schemeClr val="bg1"/>
                </a:solidFill>
              </a:rPr>
              <a:t>&gt; </a:t>
            </a:r>
          </a:p>
        </p:txBody>
      </p:sp>
      <p:sp>
        <p:nvSpPr>
          <p:cNvPr id="12" name="TextBox 11"/>
          <p:cNvSpPr txBox="1"/>
          <p:nvPr userDrawn="1"/>
        </p:nvSpPr>
        <p:spPr>
          <a:xfrm>
            <a:off x="1295400" y="6248400"/>
            <a:ext cx="5257800" cy="307777"/>
          </a:xfrm>
          <a:prstGeom prst="rect">
            <a:avLst/>
          </a:prstGeom>
          <a:noFill/>
        </p:spPr>
        <p:txBody>
          <a:bodyPr wrap="square" rtlCol="0">
            <a:spAutoFit/>
          </a:bodyPr>
          <a:lstStyle/>
          <a:p>
            <a:r>
              <a:rPr lang="en-US" sz="1400" dirty="0">
                <a:solidFill>
                  <a:schemeClr val="bg1"/>
                </a:solidFill>
              </a:rPr>
              <a:t>Digital Design and Computer Architecture:</a:t>
            </a:r>
            <a:r>
              <a:rPr lang="en-US" sz="1400" baseline="0" dirty="0">
                <a:solidFill>
                  <a:schemeClr val="bg1"/>
                </a:solidFill>
              </a:rPr>
              <a:t> ARM® Edition © 2015</a:t>
            </a:r>
            <a:endParaRPr lang="en-US" sz="1400" dirty="0">
              <a:solidFill>
                <a:schemeClr val="bg1"/>
              </a:solidFill>
            </a:endParaRPr>
          </a:p>
        </p:txBody>
      </p:sp>
    </p:spTree>
    <p:extLst>
      <p:ext uri="{BB962C8B-B14F-4D97-AF65-F5344CB8AC3E}">
        <p14:creationId xmlns:p14="http://schemas.microsoft.com/office/powerpoint/2010/main" val="37581393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5928846"/>
            <a:ext cx="9144000" cy="929154"/>
          </a:xfrm>
          <a:prstGeom prst="rect">
            <a:avLst/>
          </a:prstGeom>
          <a:solidFill>
            <a:srgbClr val="231F20"/>
          </a:solidFill>
          <a:ln>
            <a:solidFill>
              <a:srgbClr val="231F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0"/>
            <a:ext cx="9144000" cy="919089"/>
          </a:xfrm>
          <a:prstGeom prst="rect">
            <a:avLst/>
          </a:prstGeom>
          <a:solidFill>
            <a:srgbClr val="231F20"/>
          </a:solidFill>
          <a:ln>
            <a:solidFill>
              <a:srgbClr val="231F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5972064"/>
            <a:ext cx="990600" cy="88593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29600" y="5943600"/>
            <a:ext cx="773569" cy="864310"/>
          </a:xfrm>
          <a:prstGeom prst="rect">
            <a:avLst/>
          </a:prstGeom>
        </p:spPr>
      </p:pic>
      <p:sp>
        <p:nvSpPr>
          <p:cNvPr id="12" name="TextBox 11"/>
          <p:cNvSpPr txBox="1"/>
          <p:nvPr userDrawn="1"/>
        </p:nvSpPr>
        <p:spPr>
          <a:xfrm>
            <a:off x="6477000" y="6248400"/>
            <a:ext cx="1981200" cy="307777"/>
          </a:xfrm>
          <a:prstGeom prst="rect">
            <a:avLst/>
          </a:prstGeom>
          <a:noFill/>
        </p:spPr>
        <p:txBody>
          <a:bodyPr wrap="square" rtlCol="0">
            <a:spAutoFit/>
          </a:bodyPr>
          <a:lstStyle/>
          <a:p>
            <a:r>
              <a:rPr lang="en-US" sz="1400" baseline="0" dirty="0">
                <a:solidFill>
                  <a:schemeClr val="bg1"/>
                </a:solidFill>
              </a:rPr>
              <a:t>Chapter 3 &lt;</a:t>
            </a:r>
            <a:fld id="{D1B2EFE9-D440-4A3B-858C-5FEDF5DD0E10}" type="slidenum">
              <a:rPr lang="en-US" sz="1400" smtClean="0">
                <a:solidFill>
                  <a:schemeClr val="bg1"/>
                </a:solidFill>
              </a:rPr>
              <a:pPr/>
              <a:t>‹#›</a:t>
            </a:fld>
            <a:r>
              <a:rPr lang="en-US" sz="1400" dirty="0">
                <a:solidFill>
                  <a:schemeClr val="bg1"/>
                </a:solidFill>
              </a:rPr>
              <a:t>&gt; </a:t>
            </a:r>
          </a:p>
        </p:txBody>
      </p:sp>
      <p:sp>
        <p:nvSpPr>
          <p:cNvPr id="13" name="TextBox 12"/>
          <p:cNvSpPr txBox="1"/>
          <p:nvPr userDrawn="1"/>
        </p:nvSpPr>
        <p:spPr>
          <a:xfrm>
            <a:off x="1295400" y="6248400"/>
            <a:ext cx="5257800" cy="307777"/>
          </a:xfrm>
          <a:prstGeom prst="rect">
            <a:avLst/>
          </a:prstGeom>
          <a:noFill/>
        </p:spPr>
        <p:txBody>
          <a:bodyPr wrap="square" rtlCol="0">
            <a:spAutoFit/>
          </a:bodyPr>
          <a:lstStyle/>
          <a:p>
            <a:r>
              <a:rPr lang="en-US" sz="1400" dirty="0">
                <a:solidFill>
                  <a:schemeClr val="bg1"/>
                </a:solidFill>
              </a:rPr>
              <a:t>Digital Design and Computer Architecture:</a:t>
            </a:r>
            <a:r>
              <a:rPr lang="en-US" sz="1400" baseline="0" dirty="0">
                <a:solidFill>
                  <a:schemeClr val="bg1"/>
                </a:solidFill>
              </a:rPr>
              <a:t> ARM® Edition © 2015</a:t>
            </a:r>
            <a:endParaRPr lang="en-US" sz="1400" dirty="0">
              <a:solidFill>
                <a:schemeClr val="bg1"/>
              </a:solidFill>
            </a:endParaRPr>
          </a:p>
        </p:txBody>
      </p:sp>
    </p:spTree>
    <p:extLst>
      <p:ext uri="{BB962C8B-B14F-4D97-AF65-F5344CB8AC3E}">
        <p14:creationId xmlns:p14="http://schemas.microsoft.com/office/powerpoint/2010/main" val="204430809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01600" y="101600"/>
            <a:ext cx="7772400" cy="889000"/>
          </a:xfrm>
        </p:spPr>
        <p:txBody>
          <a:bodyPr/>
          <a:lstStyle/>
          <a:p>
            <a:r>
              <a:rPr lang="en-US"/>
              <a:t>Click to edit Master title style</a:t>
            </a:r>
          </a:p>
        </p:txBody>
      </p:sp>
      <p:sp>
        <p:nvSpPr>
          <p:cNvPr id="3" name="Table Placeholder 2"/>
          <p:cNvSpPr>
            <a:spLocks noGrp="1"/>
          </p:cNvSpPr>
          <p:nvPr>
            <p:ph type="tbl" idx="1"/>
          </p:nvPr>
        </p:nvSpPr>
        <p:spPr>
          <a:xfrm>
            <a:off x="685800" y="1219200"/>
            <a:ext cx="7772400" cy="4953000"/>
          </a:xfrm>
        </p:spPr>
        <p:txBody>
          <a:bodyPr/>
          <a:lstStyle/>
          <a:p>
            <a:pPr lvl="0"/>
            <a:endParaRPr lang="en-US" noProof="0"/>
          </a:p>
        </p:txBody>
      </p:sp>
      <p:sp>
        <p:nvSpPr>
          <p:cNvPr id="4" name="Footer Placeholder 3"/>
          <p:cNvSpPr>
            <a:spLocks noGrp="1"/>
          </p:cNvSpPr>
          <p:nvPr>
            <p:ph type="ftr" sz="quarter" idx="10"/>
          </p:nvPr>
        </p:nvSpPr>
        <p:spPr/>
        <p:txBody>
          <a:bodyPr/>
          <a:lstStyle>
            <a:lvl1pPr>
              <a:defRPr smtClean="0"/>
            </a:lvl1pPr>
          </a:lstStyle>
          <a:p>
            <a:pPr>
              <a:defRPr/>
            </a:pPr>
            <a:r>
              <a:rPr lang="en-US"/>
              <a:t>Copyright © 2012  Elsevier</a:t>
            </a:r>
            <a:endParaRPr lang="en-GB"/>
          </a:p>
        </p:txBody>
      </p:sp>
      <p:sp>
        <p:nvSpPr>
          <p:cNvPr id="5" name="Slide Number Placeholder 4"/>
          <p:cNvSpPr>
            <a:spLocks noGrp="1"/>
          </p:cNvSpPr>
          <p:nvPr>
            <p:ph type="sldNum" sz="quarter" idx="11"/>
          </p:nvPr>
        </p:nvSpPr>
        <p:spPr/>
        <p:txBody>
          <a:bodyPr/>
          <a:lstStyle>
            <a:lvl1pPr>
              <a:defRPr smtClean="0"/>
            </a:lvl1pPr>
          </a:lstStyle>
          <a:p>
            <a:pPr>
              <a:defRPr/>
            </a:pPr>
            <a:r>
              <a:rPr lang="en-US"/>
              <a:t>1-&lt;</a:t>
            </a:r>
            <a:fld id="{68946159-E475-47D9-8550-A9F0B445C791}" type="slidenum">
              <a:rPr lang="en-US"/>
              <a:pPr>
                <a:defRPr/>
              </a:pPr>
              <a:t>‹#›</a:t>
            </a:fld>
            <a:r>
              <a:rPr lang="en-US"/>
              <a:t>&gt;</a:t>
            </a:r>
          </a:p>
          <a:p>
            <a:pPr>
              <a:defRPr/>
            </a:pPr>
            <a:endParaRPr lang="en-GB"/>
          </a:p>
        </p:txBody>
      </p:sp>
    </p:spTree>
    <p:extLst>
      <p:ext uri="{BB962C8B-B14F-4D97-AF65-F5344CB8AC3E}">
        <p14:creationId xmlns:p14="http://schemas.microsoft.com/office/powerpoint/2010/main" val="15133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Copyright © 2007 Elsevier</a:t>
            </a:r>
            <a:endParaRPr lang="en-GB"/>
          </a:p>
        </p:txBody>
      </p:sp>
      <p:sp>
        <p:nvSpPr>
          <p:cNvPr id="5" name="Slide Number Placeholder 4"/>
          <p:cNvSpPr>
            <a:spLocks noGrp="1"/>
          </p:cNvSpPr>
          <p:nvPr>
            <p:ph type="sldNum" sz="quarter" idx="11"/>
          </p:nvPr>
        </p:nvSpPr>
        <p:spPr/>
        <p:txBody>
          <a:bodyPr/>
          <a:lstStyle>
            <a:lvl1pPr>
              <a:defRPr/>
            </a:lvl1pPr>
          </a:lstStyle>
          <a:p>
            <a:r>
              <a:rPr lang="en-US"/>
              <a:t>2-&lt;</a:t>
            </a:r>
            <a:fld id="{56772E6B-5AA2-4C5F-A7F8-95F9D4354597}" type="slidenum">
              <a:rPr lang="en-US"/>
              <a:pPr/>
              <a:t>‹#›</a:t>
            </a:fld>
            <a:r>
              <a:rPr lang="en-US"/>
              <a:t>&gt;</a:t>
            </a:r>
          </a:p>
          <a:p>
            <a:endParaRPr lang="en-GB"/>
          </a:p>
        </p:txBody>
      </p:sp>
    </p:spTree>
    <p:extLst>
      <p:ext uri="{BB962C8B-B14F-4D97-AF65-F5344CB8AC3E}">
        <p14:creationId xmlns:p14="http://schemas.microsoft.com/office/powerpoint/2010/main" val="2926823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 y="101600"/>
            <a:ext cx="7772400" cy="889000"/>
          </a:xfrm>
        </p:spPr>
        <p:txBody>
          <a:bodyPr/>
          <a:lstStyle/>
          <a:p>
            <a:r>
              <a:rPr lang="en-US"/>
              <a:t>Click to edit Master title style</a:t>
            </a:r>
          </a:p>
        </p:txBody>
      </p:sp>
      <p:sp>
        <p:nvSpPr>
          <p:cNvPr id="3" name="Text Placeholder 2"/>
          <p:cNvSpPr>
            <a:spLocks noGrp="1"/>
          </p:cNvSpPr>
          <p:nvPr>
            <p:ph type="body" sz="half" idx="1"/>
          </p:nvPr>
        </p:nvSpPr>
        <p:spPr>
          <a:xfrm>
            <a:off x="685800" y="1219200"/>
            <a:ext cx="38100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38100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177800" y="6248400"/>
            <a:ext cx="2895600" cy="457200"/>
          </a:xfrm>
        </p:spPr>
        <p:txBody>
          <a:bodyPr/>
          <a:lstStyle>
            <a:lvl1pPr>
              <a:defRPr/>
            </a:lvl1pPr>
          </a:lstStyle>
          <a:p>
            <a:r>
              <a:rPr lang="en-US"/>
              <a:t>Copyright © 2007 Elsevier</a:t>
            </a:r>
            <a:endParaRPr lang="en-GB"/>
          </a:p>
        </p:txBody>
      </p:sp>
      <p:sp>
        <p:nvSpPr>
          <p:cNvPr id="6" name="Slide Number Placeholder 5"/>
          <p:cNvSpPr>
            <a:spLocks noGrp="1"/>
          </p:cNvSpPr>
          <p:nvPr>
            <p:ph type="sldNum" sz="quarter" idx="11"/>
          </p:nvPr>
        </p:nvSpPr>
        <p:spPr>
          <a:xfrm>
            <a:off x="6096000" y="6248400"/>
            <a:ext cx="1905000" cy="457200"/>
          </a:xfrm>
        </p:spPr>
        <p:txBody>
          <a:bodyPr/>
          <a:lstStyle>
            <a:lvl1pPr>
              <a:defRPr/>
            </a:lvl1pPr>
          </a:lstStyle>
          <a:p>
            <a:r>
              <a:rPr lang="en-US"/>
              <a:t>2-&lt;</a:t>
            </a:r>
            <a:fld id="{3D7F715D-3209-482A-ABCD-4F9C0036FCD6}" type="slidenum">
              <a:rPr lang="en-US"/>
              <a:pPr/>
              <a:t>‹#›</a:t>
            </a:fld>
            <a:r>
              <a:rPr lang="en-US"/>
              <a:t>&gt;</a:t>
            </a:r>
          </a:p>
          <a:p>
            <a:endParaRPr lang="en-GB"/>
          </a:p>
        </p:txBody>
      </p:sp>
    </p:spTree>
    <p:extLst>
      <p:ext uri="{BB962C8B-B14F-4D97-AF65-F5344CB8AC3E}">
        <p14:creationId xmlns:p14="http://schemas.microsoft.com/office/powerpoint/2010/main" val="513991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 y="101600"/>
            <a:ext cx="7772400" cy="889000"/>
          </a:xfrm>
        </p:spPr>
        <p:txBody>
          <a:bodyPr/>
          <a:lstStyle/>
          <a:p>
            <a:r>
              <a:rPr lang="en-US"/>
              <a:t>Click to edit Master title style</a:t>
            </a:r>
          </a:p>
        </p:txBody>
      </p:sp>
      <p:sp>
        <p:nvSpPr>
          <p:cNvPr id="3" name="Text Placeholder 2"/>
          <p:cNvSpPr>
            <a:spLocks noGrp="1"/>
          </p:cNvSpPr>
          <p:nvPr>
            <p:ph type="body" sz="half" idx="1"/>
          </p:nvPr>
        </p:nvSpPr>
        <p:spPr>
          <a:xfrm>
            <a:off x="685800" y="1219200"/>
            <a:ext cx="38100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192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7719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a:xfrm>
            <a:off x="177800" y="6248400"/>
            <a:ext cx="2895600" cy="457200"/>
          </a:xfrm>
        </p:spPr>
        <p:txBody>
          <a:bodyPr/>
          <a:lstStyle>
            <a:lvl1pPr>
              <a:defRPr/>
            </a:lvl1pPr>
          </a:lstStyle>
          <a:p>
            <a:r>
              <a:rPr lang="en-US"/>
              <a:t>Copyright © 2007 Elsevier</a:t>
            </a:r>
            <a:endParaRPr lang="en-GB"/>
          </a:p>
        </p:txBody>
      </p:sp>
      <p:sp>
        <p:nvSpPr>
          <p:cNvPr id="7" name="Slide Number Placeholder 6"/>
          <p:cNvSpPr>
            <a:spLocks noGrp="1"/>
          </p:cNvSpPr>
          <p:nvPr>
            <p:ph type="sldNum" sz="quarter" idx="11"/>
          </p:nvPr>
        </p:nvSpPr>
        <p:spPr>
          <a:xfrm>
            <a:off x="6096000" y="6248400"/>
            <a:ext cx="1905000" cy="457200"/>
          </a:xfrm>
        </p:spPr>
        <p:txBody>
          <a:bodyPr/>
          <a:lstStyle>
            <a:lvl1pPr>
              <a:defRPr/>
            </a:lvl1pPr>
          </a:lstStyle>
          <a:p>
            <a:r>
              <a:rPr lang="en-US"/>
              <a:t>2-&lt;</a:t>
            </a:r>
            <a:fld id="{DD0BCF35-A1C1-47C4-BF2B-8B9B8D4EBCAE}" type="slidenum">
              <a:rPr lang="en-US"/>
              <a:pPr/>
              <a:t>‹#›</a:t>
            </a:fld>
            <a:r>
              <a:rPr lang="en-US"/>
              <a:t>&gt;</a:t>
            </a:r>
          </a:p>
          <a:p>
            <a:endParaRPr lang="en-GB"/>
          </a:p>
        </p:txBody>
      </p:sp>
    </p:spTree>
    <p:extLst>
      <p:ext uri="{BB962C8B-B14F-4D97-AF65-F5344CB8AC3E}">
        <p14:creationId xmlns:p14="http://schemas.microsoft.com/office/powerpoint/2010/main" val="730244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2192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r>
              <a:rPr lang="en-US"/>
              <a:t>Copyright © 2007 Elsevier</a:t>
            </a:r>
            <a:endParaRPr lang="en-GB"/>
          </a:p>
        </p:txBody>
      </p:sp>
      <p:sp>
        <p:nvSpPr>
          <p:cNvPr id="6" name="Slide Number Placeholder 5"/>
          <p:cNvSpPr>
            <a:spLocks noGrp="1"/>
          </p:cNvSpPr>
          <p:nvPr>
            <p:ph type="sldNum" sz="quarter" idx="11"/>
          </p:nvPr>
        </p:nvSpPr>
        <p:spPr/>
        <p:txBody>
          <a:bodyPr/>
          <a:lstStyle>
            <a:lvl1pPr>
              <a:defRPr/>
            </a:lvl1pPr>
          </a:lstStyle>
          <a:p>
            <a:r>
              <a:rPr lang="en-US"/>
              <a:t>2-&lt;</a:t>
            </a:r>
            <a:fld id="{C0FBBB96-A630-4B05-BA47-6FDCC80A2530}" type="slidenum">
              <a:rPr lang="en-US"/>
              <a:pPr/>
              <a:t>‹#›</a:t>
            </a:fld>
            <a:r>
              <a:rPr lang="en-US"/>
              <a:t>&gt;</a:t>
            </a:r>
          </a:p>
          <a:p>
            <a:endParaRPr lang="en-GB"/>
          </a:p>
        </p:txBody>
      </p:sp>
    </p:spTree>
    <p:extLst>
      <p:ext uri="{BB962C8B-B14F-4D97-AF65-F5344CB8AC3E}">
        <p14:creationId xmlns:p14="http://schemas.microsoft.com/office/powerpoint/2010/main" val="323466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 y="101600"/>
            <a:ext cx="7772400" cy="889000"/>
          </a:xfrm>
        </p:spPr>
        <p:txBody>
          <a:bodyPr/>
          <a:lstStyle/>
          <a:p>
            <a:r>
              <a:rPr lang="en-US"/>
              <a:t>Click to edit Master title style</a:t>
            </a:r>
          </a:p>
        </p:txBody>
      </p:sp>
      <p:sp>
        <p:nvSpPr>
          <p:cNvPr id="3" name="Content Placeholder 2"/>
          <p:cNvSpPr>
            <a:spLocks noGrp="1"/>
          </p:cNvSpPr>
          <p:nvPr>
            <p:ph sz="half" idx="1"/>
          </p:nvPr>
        </p:nvSpPr>
        <p:spPr>
          <a:xfrm>
            <a:off x="685800" y="1219200"/>
            <a:ext cx="38100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192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7719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a:xfrm>
            <a:off x="177800" y="6248400"/>
            <a:ext cx="2895600" cy="457200"/>
          </a:xfrm>
        </p:spPr>
        <p:txBody>
          <a:bodyPr/>
          <a:lstStyle>
            <a:lvl1pPr>
              <a:defRPr/>
            </a:lvl1pPr>
          </a:lstStyle>
          <a:p>
            <a:r>
              <a:rPr lang="en-US"/>
              <a:t>Copyright © 2007 Elsevier</a:t>
            </a:r>
            <a:endParaRPr lang="en-GB"/>
          </a:p>
        </p:txBody>
      </p:sp>
      <p:sp>
        <p:nvSpPr>
          <p:cNvPr id="7" name="Slide Number Placeholder 6"/>
          <p:cNvSpPr>
            <a:spLocks noGrp="1"/>
          </p:cNvSpPr>
          <p:nvPr>
            <p:ph type="sldNum" sz="quarter" idx="11"/>
          </p:nvPr>
        </p:nvSpPr>
        <p:spPr>
          <a:xfrm>
            <a:off x="6096000" y="6248400"/>
            <a:ext cx="1905000" cy="457200"/>
          </a:xfrm>
        </p:spPr>
        <p:txBody>
          <a:bodyPr/>
          <a:lstStyle>
            <a:lvl1pPr>
              <a:defRPr/>
            </a:lvl1pPr>
          </a:lstStyle>
          <a:p>
            <a:r>
              <a:rPr lang="en-US"/>
              <a:t>2-&lt;</a:t>
            </a:r>
            <a:fld id="{B8D13B05-696B-43F3-A133-03DEFFF24850}" type="slidenum">
              <a:rPr lang="en-US"/>
              <a:pPr/>
              <a:t>‹#›</a:t>
            </a:fld>
            <a:r>
              <a:rPr lang="en-US"/>
              <a:t>&gt;</a:t>
            </a:r>
          </a:p>
          <a:p>
            <a:endParaRPr lang="en-GB"/>
          </a:p>
        </p:txBody>
      </p:sp>
    </p:spTree>
    <p:extLst>
      <p:ext uri="{BB962C8B-B14F-4D97-AF65-F5344CB8AC3E}">
        <p14:creationId xmlns:p14="http://schemas.microsoft.com/office/powerpoint/2010/main" val="273070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01600" y="101600"/>
            <a:ext cx="7772400" cy="889000"/>
          </a:xfrm>
        </p:spPr>
        <p:txBody>
          <a:bodyPr/>
          <a:lstStyle/>
          <a:p>
            <a:r>
              <a:rPr lang="en-US"/>
              <a:t>Click to edit Master title style</a:t>
            </a:r>
          </a:p>
        </p:txBody>
      </p:sp>
      <p:sp>
        <p:nvSpPr>
          <p:cNvPr id="3" name="Content Placeholder 2"/>
          <p:cNvSpPr>
            <a:spLocks noGrp="1"/>
          </p:cNvSpPr>
          <p:nvPr>
            <p:ph sz="quarter" idx="1"/>
          </p:nvPr>
        </p:nvSpPr>
        <p:spPr>
          <a:xfrm>
            <a:off x="685800" y="12192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2192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37719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771900"/>
            <a:ext cx="38100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a:xfrm>
            <a:off x="177800" y="6248400"/>
            <a:ext cx="2895600" cy="457200"/>
          </a:xfrm>
        </p:spPr>
        <p:txBody>
          <a:bodyPr/>
          <a:lstStyle>
            <a:lvl1pPr>
              <a:defRPr/>
            </a:lvl1pPr>
          </a:lstStyle>
          <a:p>
            <a:r>
              <a:rPr lang="en-US"/>
              <a:t>Copyright © 2007 Elsevier</a:t>
            </a:r>
            <a:endParaRPr lang="en-GB"/>
          </a:p>
        </p:txBody>
      </p:sp>
      <p:sp>
        <p:nvSpPr>
          <p:cNvPr id="8" name="Slide Number Placeholder 7"/>
          <p:cNvSpPr>
            <a:spLocks noGrp="1"/>
          </p:cNvSpPr>
          <p:nvPr>
            <p:ph type="sldNum" sz="quarter" idx="11"/>
          </p:nvPr>
        </p:nvSpPr>
        <p:spPr>
          <a:xfrm>
            <a:off x="6096000" y="6248400"/>
            <a:ext cx="1905000" cy="457200"/>
          </a:xfrm>
        </p:spPr>
        <p:txBody>
          <a:bodyPr/>
          <a:lstStyle>
            <a:lvl1pPr>
              <a:defRPr/>
            </a:lvl1pPr>
          </a:lstStyle>
          <a:p>
            <a:r>
              <a:rPr lang="en-US"/>
              <a:t>2-&lt;</a:t>
            </a:r>
            <a:fld id="{ABE97F21-FF4B-4B80-811E-C7802C99A8A5}" type="slidenum">
              <a:rPr lang="en-US"/>
              <a:pPr/>
              <a:t>‹#›</a:t>
            </a:fld>
            <a:r>
              <a:rPr lang="en-US"/>
              <a:t>&gt;</a:t>
            </a:r>
          </a:p>
          <a:p>
            <a:endParaRPr lang="en-GB"/>
          </a:p>
        </p:txBody>
      </p:sp>
    </p:spTree>
    <p:extLst>
      <p:ext uri="{BB962C8B-B14F-4D97-AF65-F5344CB8AC3E}">
        <p14:creationId xmlns:p14="http://schemas.microsoft.com/office/powerpoint/2010/main" val="2747518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746080-453C-4BEF-9A1F-F094B996EB79}" type="datetimeFigureOut">
              <a:rPr lang="en-US" smtClean="0"/>
              <a:t>12/22/2023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B2EFE9-D440-4A3B-858C-5FEDF5DD0E10}" type="slidenum">
              <a:rPr lang="en-US" smtClean="0"/>
              <a:t>‹#›</a:t>
            </a:fld>
            <a:endParaRPr lang="en-US"/>
          </a:p>
        </p:txBody>
      </p:sp>
    </p:spTree>
    <p:extLst>
      <p:ext uri="{BB962C8B-B14F-4D97-AF65-F5344CB8AC3E}">
        <p14:creationId xmlns:p14="http://schemas.microsoft.com/office/powerpoint/2010/main" val="1533500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8.xml"/><Relationship Id="rId7" Type="http://schemas.openxmlformats.org/officeDocument/2006/relationships/notesSlide" Target="../notesSlides/notesSlide5.xml"/><Relationship Id="rId2" Type="http://schemas.openxmlformats.org/officeDocument/2006/relationships/tags" Target="../tags/tag7.xml"/><Relationship Id="rId1"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image" Target="../media/image5.wmf"/></Relationships>
</file>

<file path=ppt/slides/_rels/slide7.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oleObject" Target="../embeddings/oleObject2.bin"/><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notesSlide" Target="../notesSlides/notesSlide6.xml"/><Relationship Id="rId2" Type="http://schemas.openxmlformats.org/officeDocument/2006/relationships/tags" Target="../tags/tag11.xml"/><Relationship Id="rId16" Type="http://schemas.openxmlformats.org/officeDocument/2006/relationships/image" Target="../media/image7.wmf"/><Relationship Id="rId1" Type="http://schemas.openxmlformats.org/officeDocument/2006/relationships/vmlDrawing" Target="../drawings/vmlDrawing2.vml"/><Relationship Id="rId6" Type="http://schemas.openxmlformats.org/officeDocument/2006/relationships/tags" Target="../tags/tag15.xml"/><Relationship Id="rId11" Type="http://schemas.openxmlformats.org/officeDocument/2006/relationships/slideLayout" Target="../slideLayouts/slideLayout2.xml"/><Relationship Id="rId5" Type="http://schemas.openxmlformats.org/officeDocument/2006/relationships/tags" Target="../tags/tag14.xml"/><Relationship Id="rId15" Type="http://schemas.openxmlformats.org/officeDocument/2006/relationships/oleObject" Target="../embeddings/oleObject3.bin"/><Relationship Id="rId10" Type="http://schemas.openxmlformats.org/officeDocument/2006/relationships/tags" Target="../tags/tag19.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6.wmf"/></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tags" Target="../tags/tag21.xml"/><Relationship Id="rId7" Type="http://schemas.openxmlformats.org/officeDocument/2006/relationships/oleObject" Target="../embeddings/oleObject4.bin"/><Relationship Id="rId2" Type="http://schemas.openxmlformats.org/officeDocument/2006/relationships/tags" Target="../tags/tag20.xml"/><Relationship Id="rId1" Type="http://schemas.openxmlformats.org/officeDocument/2006/relationships/vmlDrawing" Target="../drawings/vmlDrawing3.v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22.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0.emf"/><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oleObject" Target="../embeddings/oleObject6.bin"/><Relationship Id="rId2" Type="http://schemas.openxmlformats.org/officeDocument/2006/relationships/tags" Target="../tags/tag23.xml"/><Relationship Id="rId1" Type="http://schemas.openxmlformats.org/officeDocument/2006/relationships/vmlDrawing" Target="../drawings/vmlDrawing4.vml"/><Relationship Id="rId6" Type="http://schemas.openxmlformats.org/officeDocument/2006/relationships/tags" Target="../tags/tag27.xml"/><Relationship Id="rId11" Type="http://schemas.openxmlformats.org/officeDocument/2006/relationships/image" Target="../media/image9.wmf"/><Relationship Id="rId5" Type="http://schemas.openxmlformats.org/officeDocument/2006/relationships/tags" Target="../tags/tag26.xml"/><Relationship Id="rId10" Type="http://schemas.openxmlformats.org/officeDocument/2006/relationships/oleObject" Target="../embeddings/oleObject5.bin"/><Relationship Id="rId4" Type="http://schemas.openxmlformats.org/officeDocument/2006/relationships/tags" Target="../tags/tag25.xml"/><Relationship Id="rId9"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30.xml"/><Relationship Id="rId7" Type="http://schemas.openxmlformats.org/officeDocument/2006/relationships/slideLayout" Target="../slideLayouts/slideLayout2.xml"/><Relationship Id="rId12" Type="http://schemas.openxmlformats.org/officeDocument/2006/relationships/image" Target="../media/image12.wmf"/><Relationship Id="rId2" Type="http://schemas.openxmlformats.org/officeDocument/2006/relationships/tags" Target="../tags/tag29.xml"/><Relationship Id="rId1" Type="http://schemas.openxmlformats.org/officeDocument/2006/relationships/vmlDrawing" Target="../drawings/vmlDrawing5.vml"/><Relationship Id="rId6" Type="http://schemas.openxmlformats.org/officeDocument/2006/relationships/tags" Target="../tags/tag33.xml"/><Relationship Id="rId11" Type="http://schemas.openxmlformats.org/officeDocument/2006/relationships/oleObject" Target="../embeddings/oleObject8.bin"/><Relationship Id="rId5" Type="http://schemas.openxmlformats.org/officeDocument/2006/relationships/tags" Target="../tags/tag32.xml"/><Relationship Id="rId10" Type="http://schemas.openxmlformats.org/officeDocument/2006/relationships/image" Target="../media/image11.emf"/><Relationship Id="rId4" Type="http://schemas.openxmlformats.org/officeDocument/2006/relationships/tags" Target="../tags/tag31.xml"/><Relationship Id="rId9"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13.wmf"/><Relationship Id="rId2" Type="http://schemas.openxmlformats.org/officeDocument/2006/relationships/tags" Target="../tags/tag34.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37.xml"/><Relationship Id="rId7" Type="http://schemas.openxmlformats.org/officeDocument/2006/relationships/notesSlide" Target="../notesSlides/notesSlide11.xml"/><Relationship Id="rId2" Type="http://schemas.openxmlformats.org/officeDocument/2006/relationships/tags" Target="../tags/tag36.xml"/><Relationship Id="rId1"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image" Target="../media/image14.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7.wmf"/><Relationship Id="rId3" Type="http://schemas.openxmlformats.org/officeDocument/2006/relationships/tags" Target="../tags/tag41.xml"/><Relationship Id="rId7" Type="http://schemas.openxmlformats.org/officeDocument/2006/relationships/notesSlide" Target="../notesSlides/notesSlide12.xml"/><Relationship Id="rId12" Type="http://schemas.openxmlformats.org/officeDocument/2006/relationships/oleObject" Target="../embeddings/oleObject13.bin"/><Relationship Id="rId2" Type="http://schemas.openxmlformats.org/officeDocument/2006/relationships/tags" Target="../tags/tag40.xml"/><Relationship Id="rId1" Type="http://schemas.openxmlformats.org/officeDocument/2006/relationships/vmlDrawing" Target="../drawings/vmlDrawing8.vml"/><Relationship Id="rId6" Type="http://schemas.openxmlformats.org/officeDocument/2006/relationships/slideLayout" Target="../slideLayouts/slideLayout2.xml"/><Relationship Id="rId11" Type="http://schemas.openxmlformats.org/officeDocument/2006/relationships/image" Target="../media/image16.wmf"/><Relationship Id="rId5" Type="http://schemas.openxmlformats.org/officeDocument/2006/relationships/tags" Target="../tags/tag43.xml"/><Relationship Id="rId10" Type="http://schemas.openxmlformats.org/officeDocument/2006/relationships/oleObject" Target="../embeddings/oleObject12.bin"/><Relationship Id="rId4" Type="http://schemas.openxmlformats.org/officeDocument/2006/relationships/tags" Target="../tags/tag42.xml"/><Relationship Id="rId9" Type="http://schemas.openxmlformats.org/officeDocument/2006/relationships/image" Target="../media/image15.wmf"/></Relationships>
</file>

<file path=ppt/slides/_rels/slide14.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tags" Target="../tags/tag45.xml"/><Relationship Id="rId7" Type="http://schemas.openxmlformats.org/officeDocument/2006/relationships/oleObject" Target="../embeddings/oleObject14.bin"/><Relationship Id="rId2" Type="http://schemas.openxmlformats.org/officeDocument/2006/relationships/tags" Target="../tags/tag44.xml"/><Relationship Id="rId1" Type="http://schemas.openxmlformats.org/officeDocument/2006/relationships/vmlDrawing" Target="../drawings/vmlDrawing9.v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46.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tags" Target="../tags/tag48.xml"/><Relationship Id="rId7" Type="http://schemas.openxmlformats.org/officeDocument/2006/relationships/notesSlide" Target="../notesSlides/notesSlide14.xml"/><Relationship Id="rId2" Type="http://schemas.openxmlformats.org/officeDocument/2006/relationships/tags" Target="../tags/tag47.xml"/><Relationship Id="rId1" Type="http://schemas.openxmlformats.org/officeDocument/2006/relationships/vmlDrawing" Target="../drawings/vmlDrawing10.vml"/><Relationship Id="rId6" Type="http://schemas.openxmlformats.org/officeDocument/2006/relationships/slideLayout" Target="../slideLayouts/slideLayout2.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image" Target="../media/image19.wmf"/></Relationships>
</file>

<file path=ppt/slides/_rels/slide16.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tags" Target="../tags/tag52.xml"/><Relationship Id="rId7" Type="http://schemas.openxmlformats.org/officeDocument/2006/relationships/oleObject" Target="../embeddings/oleObject16.bin"/><Relationship Id="rId12" Type="http://schemas.openxmlformats.org/officeDocument/2006/relationships/image" Target="../media/image21.wmf"/><Relationship Id="rId2" Type="http://schemas.openxmlformats.org/officeDocument/2006/relationships/tags" Target="../tags/tag51.xml"/><Relationship Id="rId1" Type="http://schemas.openxmlformats.org/officeDocument/2006/relationships/vmlDrawing" Target="../drawings/vmlDrawing11.vml"/><Relationship Id="rId6" Type="http://schemas.openxmlformats.org/officeDocument/2006/relationships/notesSlide" Target="../notesSlides/notesSlide15.xml"/><Relationship Id="rId11" Type="http://schemas.openxmlformats.org/officeDocument/2006/relationships/oleObject" Target="../embeddings/oleObject18.bin"/><Relationship Id="rId5" Type="http://schemas.openxmlformats.org/officeDocument/2006/relationships/slideLayout" Target="../slideLayouts/slideLayout2.xml"/><Relationship Id="rId10" Type="http://schemas.openxmlformats.org/officeDocument/2006/relationships/image" Target="../media/image16.wmf"/><Relationship Id="rId4" Type="http://schemas.openxmlformats.org/officeDocument/2006/relationships/tags" Target="../tags/tag53.xml"/><Relationship Id="rId9" Type="http://schemas.openxmlformats.org/officeDocument/2006/relationships/oleObject" Target="../embeddings/oleObject17.bin"/></Relationships>
</file>

<file path=ppt/slides/_rels/slide1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tags" Target="../tags/tag55.xml"/><Relationship Id="rId7" Type="http://schemas.openxmlformats.org/officeDocument/2006/relationships/oleObject" Target="../embeddings/oleObject19.bin"/><Relationship Id="rId2" Type="http://schemas.openxmlformats.org/officeDocument/2006/relationships/tags" Target="../tags/tag54.xml"/><Relationship Id="rId1" Type="http://schemas.openxmlformats.org/officeDocument/2006/relationships/vmlDrawing" Target="../drawings/vmlDrawing12.vml"/><Relationship Id="rId6" Type="http://schemas.openxmlformats.org/officeDocument/2006/relationships/notesSlide" Target="../notesSlides/notesSlide16.xml"/><Relationship Id="rId5" Type="http://schemas.openxmlformats.org/officeDocument/2006/relationships/slideLayout" Target="../slideLayouts/slideLayout2.xml"/><Relationship Id="rId10" Type="http://schemas.openxmlformats.org/officeDocument/2006/relationships/image" Target="../media/image23.wmf"/><Relationship Id="rId4" Type="http://schemas.openxmlformats.org/officeDocument/2006/relationships/tags" Target="../tags/tag56.xml"/><Relationship Id="rId9" Type="http://schemas.openxmlformats.org/officeDocument/2006/relationships/oleObject" Target="../embeddings/oleObject20.bin"/></Relationships>
</file>

<file path=ppt/slides/_rels/slide18.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image" Target="../media/image24.emf"/><Relationship Id="rId2" Type="http://schemas.openxmlformats.org/officeDocument/2006/relationships/tags" Target="../tags/tag57.xml"/><Relationship Id="rId1" Type="http://schemas.openxmlformats.org/officeDocument/2006/relationships/vmlDrawing" Target="../drawings/vmlDrawing13.vml"/><Relationship Id="rId6" Type="http://schemas.openxmlformats.org/officeDocument/2006/relationships/oleObject" Target="../embeddings/oleObject21.bin"/><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tags" Target="../tags/tag60.xml"/><Relationship Id="rId7" Type="http://schemas.openxmlformats.org/officeDocument/2006/relationships/oleObject" Target="../embeddings/oleObject22.bin"/><Relationship Id="rId2" Type="http://schemas.openxmlformats.org/officeDocument/2006/relationships/tags" Target="../tags/tag59.xml"/><Relationship Id="rId1" Type="http://schemas.openxmlformats.org/officeDocument/2006/relationships/vmlDrawing" Target="../drawings/vmlDrawing14.vml"/><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tags" Target="../tags/tag6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26.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tags" Target="../tags/tag67.xml"/><Relationship Id="rId7" Type="http://schemas.openxmlformats.org/officeDocument/2006/relationships/oleObject" Target="../embeddings/oleObject23.bin"/><Relationship Id="rId2" Type="http://schemas.openxmlformats.org/officeDocument/2006/relationships/tags" Target="../tags/tag66.xml"/><Relationship Id="rId1" Type="http://schemas.openxmlformats.org/officeDocument/2006/relationships/vmlDrawing" Target="../drawings/vmlDrawing15.vml"/><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tags" Target="../tags/tag68.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70.xml"/><Relationship Id="rId7" Type="http://schemas.openxmlformats.org/officeDocument/2006/relationships/notesSlide" Target="../notesSlides/notesSlide22.xml"/><Relationship Id="rId2" Type="http://schemas.openxmlformats.org/officeDocument/2006/relationships/tags" Target="../tags/tag69.xml"/><Relationship Id="rId1" Type="http://schemas.openxmlformats.org/officeDocument/2006/relationships/vmlDrawing" Target="../drawings/vmlDrawing16.vml"/><Relationship Id="rId6" Type="http://schemas.openxmlformats.org/officeDocument/2006/relationships/slideLayout" Target="../slideLayouts/slideLayout2.xml"/><Relationship Id="rId11" Type="http://schemas.openxmlformats.org/officeDocument/2006/relationships/image" Target="../media/image29.wmf"/><Relationship Id="rId5" Type="http://schemas.openxmlformats.org/officeDocument/2006/relationships/tags" Target="../tags/tag72.xml"/><Relationship Id="rId10" Type="http://schemas.openxmlformats.org/officeDocument/2006/relationships/oleObject" Target="../embeddings/oleObject25.bin"/><Relationship Id="rId4" Type="http://schemas.openxmlformats.org/officeDocument/2006/relationships/tags" Target="../tags/tag71.xml"/><Relationship Id="rId9" Type="http://schemas.openxmlformats.org/officeDocument/2006/relationships/image" Target="../media/image28.wmf"/></Relationships>
</file>

<file path=ppt/slides/_rels/slide24.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7.xml"/><Relationship Id="rId13" Type="http://schemas.openxmlformats.org/officeDocument/2006/relationships/oleObject" Target="../embeddings/oleObject28.bin"/><Relationship Id="rId3" Type="http://schemas.openxmlformats.org/officeDocument/2006/relationships/tags" Target="../tags/tag85.xml"/><Relationship Id="rId7" Type="http://schemas.openxmlformats.org/officeDocument/2006/relationships/slideLayout" Target="../slideLayouts/slideLayout2.xml"/><Relationship Id="rId12" Type="http://schemas.openxmlformats.org/officeDocument/2006/relationships/image" Target="../media/image31.wmf"/><Relationship Id="rId2" Type="http://schemas.openxmlformats.org/officeDocument/2006/relationships/tags" Target="../tags/tag84.xml"/><Relationship Id="rId1" Type="http://schemas.openxmlformats.org/officeDocument/2006/relationships/vmlDrawing" Target="../drawings/vmlDrawing17.vml"/><Relationship Id="rId6" Type="http://schemas.openxmlformats.org/officeDocument/2006/relationships/tags" Target="../tags/tag88.xml"/><Relationship Id="rId11" Type="http://schemas.openxmlformats.org/officeDocument/2006/relationships/oleObject" Target="../embeddings/oleObject27.bin"/><Relationship Id="rId5" Type="http://schemas.openxmlformats.org/officeDocument/2006/relationships/tags" Target="../tags/tag87.xml"/><Relationship Id="rId10" Type="http://schemas.openxmlformats.org/officeDocument/2006/relationships/image" Target="../media/image30.wmf"/><Relationship Id="rId4" Type="http://schemas.openxmlformats.org/officeDocument/2006/relationships/tags" Target="../tags/tag86.xml"/><Relationship Id="rId9" Type="http://schemas.openxmlformats.org/officeDocument/2006/relationships/oleObject" Target="../embeddings/oleObject26.bin"/><Relationship Id="rId14" Type="http://schemas.openxmlformats.org/officeDocument/2006/relationships/image" Target="../media/image32.wmf"/></Relationships>
</file>

<file path=ppt/slides/_rels/slide2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tags" Target="../tags/tag90.xml"/><Relationship Id="rId7" Type="http://schemas.openxmlformats.org/officeDocument/2006/relationships/oleObject" Target="../embeddings/oleObject29.bin"/><Relationship Id="rId2" Type="http://schemas.openxmlformats.org/officeDocument/2006/relationships/tags" Target="../tags/tag89.xml"/><Relationship Id="rId1" Type="http://schemas.openxmlformats.org/officeDocument/2006/relationships/vmlDrawing" Target="../drawings/vmlDrawing18.vml"/><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tags" Target="../tags/tag91.xml"/></Relationships>
</file>

<file path=ppt/slides/_rels/slide30.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tags" Target="../tags/tag93.xml"/><Relationship Id="rId7" Type="http://schemas.openxmlformats.org/officeDocument/2006/relationships/oleObject" Target="../embeddings/oleObject30.bin"/><Relationship Id="rId2" Type="http://schemas.openxmlformats.org/officeDocument/2006/relationships/tags" Target="../tags/tag92.xml"/><Relationship Id="rId1" Type="http://schemas.openxmlformats.org/officeDocument/2006/relationships/vmlDrawing" Target="../drawings/vmlDrawing19.vml"/><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94.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tags" Target="../tags/tag96.xml"/><Relationship Id="rId7" Type="http://schemas.openxmlformats.org/officeDocument/2006/relationships/notesSlide" Target="../notesSlides/notesSlide30.xml"/><Relationship Id="rId2" Type="http://schemas.openxmlformats.org/officeDocument/2006/relationships/tags" Target="../tags/tag95.xml"/><Relationship Id="rId1" Type="http://schemas.openxmlformats.org/officeDocument/2006/relationships/vmlDrawing" Target="../drawings/vmlDrawing20.vml"/><Relationship Id="rId6" Type="http://schemas.openxmlformats.org/officeDocument/2006/relationships/slideLayout" Target="../slideLayouts/slideLayout2.xml"/><Relationship Id="rId11" Type="http://schemas.openxmlformats.org/officeDocument/2006/relationships/image" Target="../media/image34.wmf"/><Relationship Id="rId5" Type="http://schemas.openxmlformats.org/officeDocument/2006/relationships/tags" Target="../tags/tag98.xml"/><Relationship Id="rId10" Type="http://schemas.openxmlformats.org/officeDocument/2006/relationships/oleObject" Target="../embeddings/oleObject30.bin"/><Relationship Id="rId4" Type="http://schemas.openxmlformats.org/officeDocument/2006/relationships/tags" Target="../tags/tag97.xml"/><Relationship Id="rId9" Type="http://schemas.openxmlformats.org/officeDocument/2006/relationships/image" Target="../media/image35.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tags" Target="../tags/tag100.xml"/><Relationship Id="rId7" Type="http://schemas.openxmlformats.org/officeDocument/2006/relationships/notesSlide" Target="../notesSlides/notesSlide31.xml"/><Relationship Id="rId2" Type="http://schemas.openxmlformats.org/officeDocument/2006/relationships/tags" Target="../tags/tag99.xml"/><Relationship Id="rId1" Type="http://schemas.openxmlformats.org/officeDocument/2006/relationships/vmlDrawing" Target="../drawings/vmlDrawing21.vml"/><Relationship Id="rId6" Type="http://schemas.openxmlformats.org/officeDocument/2006/relationships/slideLayout" Target="../slideLayouts/slideLayout2.xml"/><Relationship Id="rId11" Type="http://schemas.openxmlformats.org/officeDocument/2006/relationships/image" Target="../media/image34.wmf"/><Relationship Id="rId5" Type="http://schemas.openxmlformats.org/officeDocument/2006/relationships/tags" Target="../tags/tag102.xml"/><Relationship Id="rId10" Type="http://schemas.openxmlformats.org/officeDocument/2006/relationships/oleObject" Target="../embeddings/oleObject30.bin"/><Relationship Id="rId4" Type="http://schemas.openxmlformats.org/officeDocument/2006/relationships/tags" Target="../tags/tag101.xml"/><Relationship Id="rId9" Type="http://schemas.openxmlformats.org/officeDocument/2006/relationships/image" Target="../media/image36.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tags" Target="../tags/tag104.xml"/><Relationship Id="rId7" Type="http://schemas.openxmlformats.org/officeDocument/2006/relationships/notesSlide" Target="../notesSlides/notesSlide32.xml"/><Relationship Id="rId2" Type="http://schemas.openxmlformats.org/officeDocument/2006/relationships/tags" Target="../tags/tag103.xml"/><Relationship Id="rId1" Type="http://schemas.openxmlformats.org/officeDocument/2006/relationships/vmlDrawing" Target="../drawings/vmlDrawing22.vml"/><Relationship Id="rId6" Type="http://schemas.openxmlformats.org/officeDocument/2006/relationships/slideLayout" Target="../slideLayouts/slideLayout2.xml"/><Relationship Id="rId11" Type="http://schemas.openxmlformats.org/officeDocument/2006/relationships/image" Target="../media/image34.wmf"/><Relationship Id="rId5" Type="http://schemas.openxmlformats.org/officeDocument/2006/relationships/tags" Target="../tags/tag106.xml"/><Relationship Id="rId10" Type="http://schemas.openxmlformats.org/officeDocument/2006/relationships/oleObject" Target="../embeddings/oleObject30.bin"/><Relationship Id="rId4" Type="http://schemas.openxmlformats.org/officeDocument/2006/relationships/tags" Target="../tags/tag105.xml"/><Relationship Id="rId9" Type="http://schemas.openxmlformats.org/officeDocument/2006/relationships/image" Target="../media/image37.wmf"/></Relationships>
</file>

<file path=ppt/slides/_rels/slide34.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tags" Target="../tags/tag108.xml"/><Relationship Id="rId7" Type="http://schemas.openxmlformats.org/officeDocument/2006/relationships/oleObject" Target="../embeddings/oleObject34.bin"/><Relationship Id="rId2" Type="http://schemas.openxmlformats.org/officeDocument/2006/relationships/tags" Target="../tags/tag107.xml"/><Relationship Id="rId1" Type="http://schemas.openxmlformats.org/officeDocument/2006/relationships/vmlDrawing" Target="../drawings/vmlDrawing23.vml"/><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tags" Target="../tags/tag109.xml"/></Relationships>
</file>

<file path=ppt/slides/_rels/slide35.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notesSlide" Target="../notesSlides/notesSlide34.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vmlDrawing" Target="../drawings/vmlDrawing24.vml"/><Relationship Id="rId6" Type="http://schemas.openxmlformats.org/officeDocument/2006/relationships/tags" Target="../tags/tag114.xml"/><Relationship Id="rId11" Type="http://schemas.openxmlformats.org/officeDocument/2006/relationships/tags" Target="../tags/tag119.xml"/><Relationship Id="rId5" Type="http://schemas.openxmlformats.org/officeDocument/2006/relationships/tags" Target="../tags/tag113.xml"/><Relationship Id="rId15" Type="http://schemas.openxmlformats.org/officeDocument/2006/relationships/image" Target="../media/image37.wmf"/><Relationship Id="rId10" Type="http://schemas.openxmlformats.org/officeDocument/2006/relationships/tags" Target="../tags/tag118.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oleObject" Target="../embeddings/oleObject35.bin"/></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21.xml"/><Relationship Id="rId7" Type="http://schemas.openxmlformats.org/officeDocument/2006/relationships/tags" Target="../tags/tag125.xml"/><Relationship Id="rId2" Type="http://schemas.openxmlformats.org/officeDocument/2006/relationships/tags" Target="../tags/tag120.xml"/><Relationship Id="rId1" Type="http://schemas.openxmlformats.org/officeDocument/2006/relationships/vmlDrawing" Target="../drawings/vmlDrawing25.vml"/><Relationship Id="rId6" Type="http://schemas.openxmlformats.org/officeDocument/2006/relationships/tags" Target="../tags/tag124.xml"/><Relationship Id="rId11" Type="http://schemas.openxmlformats.org/officeDocument/2006/relationships/image" Target="../media/image37.wmf"/><Relationship Id="rId5" Type="http://schemas.openxmlformats.org/officeDocument/2006/relationships/tags" Target="../tags/tag123.xml"/><Relationship Id="rId10" Type="http://schemas.openxmlformats.org/officeDocument/2006/relationships/oleObject" Target="../embeddings/oleObject36.bin"/><Relationship Id="rId4" Type="http://schemas.openxmlformats.org/officeDocument/2006/relationships/tags" Target="../tags/tag122.xml"/><Relationship Id="rId9"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6.xml"/><Relationship Id="rId1" Type="http://schemas.openxmlformats.org/officeDocument/2006/relationships/vmlDrawing" Target="../drawings/vmlDrawing26.vml"/><Relationship Id="rId6" Type="http://schemas.openxmlformats.org/officeDocument/2006/relationships/image" Target="../media/image38.wmf"/><Relationship Id="rId5" Type="http://schemas.openxmlformats.org/officeDocument/2006/relationships/oleObject" Target="../embeddings/oleObject37.bin"/><Relationship Id="rId4"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0.png"/><Relationship Id="rId2" Type="http://schemas.openxmlformats.org/officeDocument/2006/relationships/tags" Target="../tags/tag127.xml"/><Relationship Id="rId1" Type="http://schemas.openxmlformats.org/officeDocument/2006/relationships/vmlDrawing" Target="../drawings/vmlDrawing27.vml"/><Relationship Id="rId6" Type="http://schemas.openxmlformats.org/officeDocument/2006/relationships/image" Target="../media/image39.wmf"/><Relationship Id="rId5" Type="http://schemas.openxmlformats.org/officeDocument/2006/relationships/oleObject" Target="../embeddings/oleObject38.bin"/><Relationship Id="rId4"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2.png"/><Relationship Id="rId2" Type="http://schemas.openxmlformats.org/officeDocument/2006/relationships/tags" Target="../tags/tag128.xml"/><Relationship Id="rId1" Type="http://schemas.openxmlformats.org/officeDocument/2006/relationships/vmlDrawing" Target="../drawings/vmlDrawing28.vml"/><Relationship Id="rId6" Type="http://schemas.openxmlformats.org/officeDocument/2006/relationships/image" Target="../media/image41.wmf"/><Relationship Id="rId5" Type="http://schemas.openxmlformats.org/officeDocument/2006/relationships/oleObject" Target="../embeddings/oleObject39.bin"/><Relationship Id="rId4"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notesSlide" Target="../notesSlides/notesSlide39.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tags" Target="../tags/tag133.xml"/><Relationship Id="rId7" Type="http://schemas.openxmlformats.org/officeDocument/2006/relationships/image" Target="../media/image43.wmf"/><Relationship Id="rId2" Type="http://schemas.openxmlformats.org/officeDocument/2006/relationships/tags" Target="../tags/tag132.xml"/><Relationship Id="rId1" Type="http://schemas.openxmlformats.org/officeDocument/2006/relationships/vmlDrawing" Target="../drawings/vmlDrawing29.vml"/><Relationship Id="rId6" Type="http://schemas.openxmlformats.org/officeDocument/2006/relationships/oleObject" Target="../embeddings/oleObject40.bin"/><Relationship Id="rId5" Type="http://schemas.openxmlformats.org/officeDocument/2006/relationships/notesSlide" Target="../notesSlides/notesSlide40.xml"/><Relationship Id="rId10" Type="http://schemas.openxmlformats.org/officeDocument/2006/relationships/image" Target="../media/image44.png"/><Relationship Id="rId4" Type="http://schemas.openxmlformats.org/officeDocument/2006/relationships/slideLayout" Target="../slideLayouts/slideLayout2.xml"/><Relationship Id="rId9" Type="http://schemas.openxmlformats.org/officeDocument/2006/relationships/image" Target="../media/image37.w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135.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slideLayout" Target="../slideLayouts/slideLayout2.xml"/><Relationship Id="rId7" Type="http://schemas.openxmlformats.org/officeDocument/2006/relationships/image" Target="../media/image47.emf"/><Relationship Id="rId2" Type="http://schemas.openxmlformats.org/officeDocument/2006/relationships/tags" Target="../tags/tag136.xml"/><Relationship Id="rId1" Type="http://schemas.openxmlformats.org/officeDocument/2006/relationships/vmlDrawing" Target="../drawings/vmlDrawing30.vml"/><Relationship Id="rId6" Type="http://schemas.openxmlformats.org/officeDocument/2006/relationships/image" Target="../media/image46.emf"/><Relationship Id="rId5" Type="http://schemas.openxmlformats.org/officeDocument/2006/relationships/oleObject" Target="../embeddings/oleObject42.bin"/><Relationship Id="rId4"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tags" Target="../tags/tag138.xml"/><Relationship Id="rId7" Type="http://schemas.openxmlformats.org/officeDocument/2006/relationships/notesSlide" Target="../notesSlides/notesSlide44.xml"/><Relationship Id="rId2" Type="http://schemas.openxmlformats.org/officeDocument/2006/relationships/tags" Target="../tags/tag137.xml"/><Relationship Id="rId1" Type="http://schemas.openxmlformats.org/officeDocument/2006/relationships/vmlDrawing" Target="../drawings/vmlDrawing31.vml"/><Relationship Id="rId6" Type="http://schemas.openxmlformats.org/officeDocument/2006/relationships/slideLayout" Target="../slideLayouts/slideLayout2.xml"/><Relationship Id="rId5" Type="http://schemas.openxmlformats.org/officeDocument/2006/relationships/tags" Target="../tags/tag140.xml"/><Relationship Id="rId4" Type="http://schemas.openxmlformats.org/officeDocument/2006/relationships/tags" Target="../tags/tag139.xml"/><Relationship Id="rId9" Type="http://schemas.openxmlformats.org/officeDocument/2006/relationships/image" Target="../media/image46.emf"/></Relationships>
</file>

<file path=ppt/slides/_rels/slide48.xml.rels><?xml version="1.0" encoding="UTF-8" standalone="yes"?>
<Relationships xmlns="http://schemas.openxmlformats.org/package/2006/relationships"><Relationship Id="rId3" Type="http://schemas.openxmlformats.org/officeDocument/2006/relationships/tags" Target="../tags/tag142.xml"/><Relationship Id="rId7" Type="http://schemas.openxmlformats.org/officeDocument/2006/relationships/image" Target="../media/image46.emf"/><Relationship Id="rId2" Type="http://schemas.openxmlformats.org/officeDocument/2006/relationships/tags" Target="../tags/tag141.xml"/><Relationship Id="rId1" Type="http://schemas.openxmlformats.org/officeDocument/2006/relationships/vmlDrawing" Target="../drawings/vmlDrawing32.vml"/><Relationship Id="rId6" Type="http://schemas.openxmlformats.org/officeDocument/2006/relationships/oleObject" Target="../embeddings/oleObject44.bin"/><Relationship Id="rId5" Type="http://schemas.openxmlformats.org/officeDocument/2006/relationships/notesSlide" Target="../notesSlides/notesSlide45.xml"/><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tags" Target="../tags/tag145.xml"/><Relationship Id="rId7" Type="http://schemas.openxmlformats.org/officeDocument/2006/relationships/image" Target="../media/image47.emf"/><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notesSlide" Target="../notesSlides/notesSlide46.xml"/><Relationship Id="rId5" Type="http://schemas.openxmlformats.org/officeDocument/2006/relationships/slideLayout" Target="../slideLayouts/slideLayout2.xml"/><Relationship Id="rId4" Type="http://schemas.openxmlformats.org/officeDocument/2006/relationships/tags" Target="../tags/tag14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147.xml"/><Relationship Id="rId5" Type="http://schemas.openxmlformats.org/officeDocument/2006/relationships/image" Target="../media/image49.emf"/><Relationship Id="rId4" Type="http://schemas.openxmlformats.org/officeDocument/2006/relationships/image" Target="../media/image48.e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vmlDrawing" Target="../drawings/vmlDrawing33.vml"/><Relationship Id="rId5" Type="http://schemas.openxmlformats.org/officeDocument/2006/relationships/image" Target="../media/image50.emf"/><Relationship Id="rId4" Type="http://schemas.openxmlformats.org/officeDocument/2006/relationships/oleObject" Target="../embeddings/oleObject45.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53.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tags" Target="../tags/tag150.xml"/><Relationship Id="rId7" Type="http://schemas.openxmlformats.org/officeDocument/2006/relationships/oleObject" Target="../embeddings/oleObject46.bin"/><Relationship Id="rId2" Type="http://schemas.openxmlformats.org/officeDocument/2006/relationships/tags" Target="../tags/tag149.xml"/><Relationship Id="rId1" Type="http://schemas.openxmlformats.org/officeDocument/2006/relationships/vmlDrawing" Target="../drawings/vmlDrawing34.vml"/><Relationship Id="rId6" Type="http://schemas.openxmlformats.org/officeDocument/2006/relationships/notesSlide" Target="../notesSlides/notesSlide50.xml"/><Relationship Id="rId5" Type="http://schemas.openxmlformats.org/officeDocument/2006/relationships/slideLayout" Target="../slideLayouts/slideLayout2.xml"/><Relationship Id="rId10" Type="http://schemas.openxmlformats.org/officeDocument/2006/relationships/image" Target="../media/image52.wmf"/><Relationship Id="rId4" Type="http://schemas.openxmlformats.org/officeDocument/2006/relationships/tags" Target="../tags/tag151.xml"/><Relationship Id="rId9" Type="http://schemas.openxmlformats.org/officeDocument/2006/relationships/oleObject" Target="../embeddings/oleObject47.bin"/></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2.xml"/><Relationship Id="rId1" Type="http://schemas.openxmlformats.org/officeDocument/2006/relationships/vmlDrawing" Target="../drawings/vmlDrawing35.vml"/><Relationship Id="rId6" Type="http://schemas.openxmlformats.org/officeDocument/2006/relationships/image" Target="../media/image54.wmf"/><Relationship Id="rId5" Type="http://schemas.openxmlformats.org/officeDocument/2006/relationships/oleObject" Target="../embeddings/oleObject48.bin"/><Relationship Id="rId4"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58.xml.rels><?xml version="1.0" encoding="UTF-8" standalone="yes"?>
<Relationships xmlns="http://schemas.openxmlformats.org/package/2006/relationships"><Relationship Id="rId3" Type="http://schemas.openxmlformats.org/officeDocument/2006/relationships/tags" Target="../tags/tag156.xml"/><Relationship Id="rId7" Type="http://schemas.openxmlformats.org/officeDocument/2006/relationships/image" Target="../media/image55.wmf"/><Relationship Id="rId2" Type="http://schemas.openxmlformats.org/officeDocument/2006/relationships/tags" Target="../tags/tag155.xml"/><Relationship Id="rId1" Type="http://schemas.openxmlformats.org/officeDocument/2006/relationships/vmlDrawing" Target="../drawings/vmlDrawing36.vml"/><Relationship Id="rId6" Type="http://schemas.openxmlformats.org/officeDocument/2006/relationships/oleObject" Target="../embeddings/oleObject49.bin"/><Relationship Id="rId5" Type="http://schemas.openxmlformats.org/officeDocument/2006/relationships/notesSlide" Target="../notesSlides/notesSlide55.xml"/><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60.xml.rels><?xml version="1.0" encoding="UTF-8" standalone="yes"?>
<Relationships xmlns="http://schemas.openxmlformats.org/package/2006/relationships"><Relationship Id="rId3" Type="http://schemas.openxmlformats.org/officeDocument/2006/relationships/tags" Target="../tags/tag159.xml"/><Relationship Id="rId7" Type="http://schemas.openxmlformats.org/officeDocument/2006/relationships/image" Target="../media/image56.wmf"/><Relationship Id="rId2" Type="http://schemas.openxmlformats.org/officeDocument/2006/relationships/tags" Target="../tags/tag158.xml"/><Relationship Id="rId1" Type="http://schemas.openxmlformats.org/officeDocument/2006/relationships/vmlDrawing" Target="../drawings/vmlDrawing37.vml"/><Relationship Id="rId6" Type="http://schemas.openxmlformats.org/officeDocument/2006/relationships/oleObject" Target="../embeddings/oleObject50.bin"/><Relationship Id="rId5" Type="http://schemas.openxmlformats.org/officeDocument/2006/relationships/notesSlide" Target="../notesSlides/notesSlide57.xml"/><Relationship Id="rId4"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tags" Target="../tags/tag161.xml"/><Relationship Id="rId7" Type="http://schemas.openxmlformats.org/officeDocument/2006/relationships/notesSlide" Target="../notesSlides/notesSlide58.xml"/><Relationship Id="rId2" Type="http://schemas.openxmlformats.org/officeDocument/2006/relationships/tags" Target="../tags/tag160.xml"/><Relationship Id="rId1" Type="http://schemas.openxmlformats.org/officeDocument/2006/relationships/vmlDrawing" Target="../drawings/vmlDrawing38.vml"/><Relationship Id="rId6" Type="http://schemas.openxmlformats.org/officeDocument/2006/relationships/slideLayout" Target="../slideLayouts/slideLayout2.xml"/><Relationship Id="rId5" Type="http://schemas.openxmlformats.org/officeDocument/2006/relationships/tags" Target="../tags/tag163.xml"/><Relationship Id="rId4" Type="http://schemas.openxmlformats.org/officeDocument/2006/relationships/tags" Target="../tags/tag162.xml"/><Relationship Id="rId9" Type="http://schemas.openxmlformats.org/officeDocument/2006/relationships/image" Target="../media/image57.wmf"/></Relationships>
</file>

<file path=ppt/slides/_rels/slide6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65.xml"/><Relationship Id="rId7" Type="http://schemas.openxmlformats.org/officeDocument/2006/relationships/tags" Target="../tags/tag169.xml"/><Relationship Id="rId2" Type="http://schemas.openxmlformats.org/officeDocument/2006/relationships/tags" Target="../tags/tag164.xml"/><Relationship Id="rId1" Type="http://schemas.openxmlformats.org/officeDocument/2006/relationships/vmlDrawing" Target="../drawings/vmlDrawing39.vml"/><Relationship Id="rId6" Type="http://schemas.openxmlformats.org/officeDocument/2006/relationships/tags" Target="../tags/tag168.xml"/><Relationship Id="rId11" Type="http://schemas.openxmlformats.org/officeDocument/2006/relationships/image" Target="../media/image58.wmf"/><Relationship Id="rId5" Type="http://schemas.openxmlformats.org/officeDocument/2006/relationships/tags" Target="../tags/tag167.xml"/><Relationship Id="rId10" Type="http://schemas.openxmlformats.org/officeDocument/2006/relationships/oleObject" Target="../embeddings/oleObject52.bin"/><Relationship Id="rId4" Type="http://schemas.openxmlformats.org/officeDocument/2006/relationships/tags" Target="../tags/tag166.xml"/><Relationship Id="rId9"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71.xml"/><Relationship Id="rId7" Type="http://schemas.openxmlformats.org/officeDocument/2006/relationships/tags" Target="../tags/tag175.xml"/><Relationship Id="rId2" Type="http://schemas.openxmlformats.org/officeDocument/2006/relationships/tags" Target="../tags/tag170.xml"/><Relationship Id="rId1" Type="http://schemas.openxmlformats.org/officeDocument/2006/relationships/vmlDrawing" Target="../drawings/vmlDrawing40.vml"/><Relationship Id="rId6" Type="http://schemas.openxmlformats.org/officeDocument/2006/relationships/tags" Target="../tags/tag174.xml"/><Relationship Id="rId11" Type="http://schemas.openxmlformats.org/officeDocument/2006/relationships/image" Target="../media/image59.wmf"/><Relationship Id="rId5" Type="http://schemas.openxmlformats.org/officeDocument/2006/relationships/tags" Target="../tags/tag173.xml"/><Relationship Id="rId10" Type="http://schemas.openxmlformats.org/officeDocument/2006/relationships/oleObject" Target="../embeddings/oleObject53.bin"/><Relationship Id="rId4" Type="http://schemas.openxmlformats.org/officeDocument/2006/relationships/tags" Target="../tags/tag172.xml"/><Relationship Id="rId9"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image" Target="../media/image60.wmf"/><Relationship Id="rId18" Type="http://schemas.openxmlformats.org/officeDocument/2006/relationships/image" Target="../media/image63.png"/><Relationship Id="rId3" Type="http://schemas.openxmlformats.org/officeDocument/2006/relationships/tags" Target="../tags/tag177.xml"/><Relationship Id="rId7" Type="http://schemas.openxmlformats.org/officeDocument/2006/relationships/tags" Target="../tags/tag181.xml"/><Relationship Id="rId12" Type="http://schemas.openxmlformats.org/officeDocument/2006/relationships/oleObject" Target="../embeddings/oleObject54.bin"/><Relationship Id="rId17" Type="http://schemas.openxmlformats.org/officeDocument/2006/relationships/image" Target="../media/image62.wmf"/><Relationship Id="rId2" Type="http://schemas.openxmlformats.org/officeDocument/2006/relationships/tags" Target="../tags/tag176.xml"/><Relationship Id="rId16" Type="http://schemas.openxmlformats.org/officeDocument/2006/relationships/oleObject" Target="../embeddings/oleObject56.bin"/><Relationship Id="rId20" Type="http://schemas.openxmlformats.org/officeDocument/2006/relationships/image" Target="../media/image65.png"/><Relationship Id="rId1" Type="http://schemas.openxmlformats.org/officeDocument/2006/relationships/vmlDrawing" Target="../drawings/vmlDrawing41.vml"/><Relationship Id="rId6" Type="http://schemas.openxmlformats.org/officeDocument/2006/relationships/tags" Target="../tags/tag180.xml"/><Relationship Id="rId11" Type="http://schemas.openxmlformats.org/officeDocument/2006/relationships/notesSlide" Target="../notesSlides/notesSlide61.xml"/><Relationship Id="rId5" Type="http://schemas.openxmlformats.org/officeDocument/2006/relationships/tags" Target="../tags/tag179.xml"/><Relationship Id="rId15" Type="http://schemas.openxmlformats.org/officeDocument/2006/relationships/image" Target="../media/image61.wmf"/><Relationship Id="rId10" Type="http://schemas.openxmlformats.org/officeDocument/2006/relationships/slideLayout" Target="../slideLayouts/slideLayout2.xml"/><Relationship Id="rId19" Type="http://schemas.openxmlformats.org/officeDocument/2006/relationships/image" Target="../media/image64.png"/><Relationship Id="rId4" Type="http://schemas.openxmlformats.org/officeDocument/2006/relationships/tags" Target="../tags/tag178.xml"/><Relationship Id="rId9" Type="http://schemas.openxmlformats.org/officeDocument/2006/relationships/tags" Target="../tags/tag183.xml"/><Relationship Id="rId14" Type="http://schemas.openxmlformats.org/officeDocument/2006/relationships/oleObject" Target="../embeddings/oleObject55.bin"/></Relationships>
</file>

<file path=ppt/slides/_rels/slide65.xml.rels><?xml version="1.0" encoding="UTF-8" standalone="yes"?>
<Relationships xmlns="http://schemas.openxmlformats.org/package/2006/relationships"><Relationship Id="rId8" Type="http://schemas.openxmlformats.org/officeDocument/2006/relationships/tags" Target="../tags/tag190.xml"/><Relationship Id="rId13" Type="http://schemas.openxmlformats.org/officeDocument/2006/relationships/oleObject" Target="../embeddings/oleObject57.bin"/><Relationship Id="rId18" Type="http://schemas.openxmlformats.org/officeDocument/2006/relationships/image" Target="../media/image66.wmf"/><Relationship Id="rId3" Type="http://schemas.openxmlformats.org/officeDocument/2006/relationships/tags" Target="../tags/tag185.xml"/><Relationship Id="rId21" Type="http://schemas.openxmlformats.org/officeDocument/2006/relationships/image" Target="../media/image65.png"/><Relationship Id="rId7" Type="http://schemas.openxmlformats.org/officeDocument/2006/relationships/tags" Target="../tags/tag189.xml"/><Relationship Id="rId12" Type="http://schemas.openxmlformats.org/officeDocument/2006/relationships/notesSlide" Target="../notesSlides/notesSlide62.xml"/><Relationship Id="rId17" Type="http://schemas.openxmlformats.org/officeDocument/2006/relationships/oleObject" Target="../embeddings/oleObject59.bin"/><Relationship Id="rId2" Type="http://schemas.openxmlformats.org/officeDocument/2006/relationships/tags" Target="../tags/tag184.xml"/><Relationship Id="rId16" Type="http://schemas.openxmlformats.org/officeDocument/2006/relationships/image" Target="../media/image62.wmf"/><Relationship Id="rId20" Type="http://schemas.openxmlformats.org/officeDocument/2006/relationships/image" Target="../media/image64.png"/><Relationship Id="rId1" Type="http://schemas.openxmlformats.org/officeDocument/2006/relationships/vmlDrawing" Target="../drawings/vmlDrawing42.vml"/><Relationship Id="rId6" Type="http://schemas.openxmlformats.org/officeDocument/2006/relationships/tags" Target="../tags/tag188.xml"/><Relationship Id="rId11" Type="http://schemas.openxmlformats.org/officeDocument/2006/relationships/slideLayout" Target="../slideLayouts/slideLayout2.xml"/><Relationship Id="rId5" Type="http://schemas.openxmlformats.org/officeDocument/2006/relationships/tags" Target="../tags/tag187.xml"/><Relationship Id="rId15" Type="http://schemas.openxmlformats.org/officeDocument/2006/relationships/oleObject" Target="../embeddings/oleObject58.bin"/><Relationship Id="rId10" Type="http://schemas.openxmlformats.org/officeDocument/2006/relationships/tags" Target="../tags/tag192.xml"/><Relationship Id="rId19" Type="http://schemas.openxmlformats.org/officeDocument/2006/relationships/image" Target="../media/image63.png"/><Relationship Id="rId4" Type="http://schemas.openxmlformats.org/officeDocument/2006/relationships/tags" Target="../tags/tag186.xml"/><Relationship Id="rId9" Type="http://schemas.openxmlformats.org/officeDocument/2006/relationships/tags" Target="../tags/tag191.xml"/><Relationship Id="rId14" Type="http://schemas.openxmlformats.org/officeDocument/2006/relationships/image" Target="../media/image61.w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tags" Target="../tags/tag194.xml"/><Relationship Id="rId7" Type="http://schemas.openxmlformats.org/officeDocument/2006/relationships/notesSlide" Target="../notesSlides/notesSlide63.xml"/><Relationship Id="rId2" Type="http://schemas.openxmlformats.org/officeDocument/2006/relationships/tags" Target="../tags/tag193.xml"/><Relationship Id="rId1" Type="http://schemas.openxmlformats.org/officeDocument/2006/relationships/vmlDrawing" Target="../drawings/vmlDrawing43.vml"/><Relationship Id="rId6" Type="http://schemas.openxmlformats.org/officeDocument/2006/relationships/slideLayout" Target="../slideLayouts/slideLayout2.xml"/><Relationship Id="rId5" Type="http://schemas.openxmlformats.org/officeDocument/2006/relationships/tags" Target="../tags/tag196.xml"/><Relationship Id="rId4" Type="http://schemas.openxmlformats.org/officeDocument/2006/relationships/tags" Target="../tags/tag195.xml"/><Relationship Id="rId9" Type="http://schemas.openxmlformats.org/officeDocument/2006/relationships/image" Target="../media/image67.wmf"/></Relationships>
</file>

<file path=ppt/slides/_rels/slide6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98.xml"/><Relationship Id="rId7" Type="http://schemas.openxmlformats.org/officeDocument/2006/relationships/tags" Target="../tags/tag202.xml"/><Relationship Id="rId2" Type="http://schemas.openxmlformats.org/officeDocument/2006/relationships/tags" Target="../tags/tag197.xml"/><Relationship Id="rId1" Type="http://schemas.openxmlformats.org/officeDocument/2006/relationships/vmlDrawing" Target="../drawings/vmlDrawing44.vml"/><Relationship Id="rId6" Type="http://schemas.openxmlformats.org/officeDocument/2006/relationships/tags" Target="../tags/tag201.xml"/><Relationship Id="rId11" Type="http://schemas.openxmlformats.org/officeDocument/2006/relationships/image" Target="../media/image68.wmf"/><Relationship Id="rId5" Type="http://schemas.openxmlformats.org/officeDocument/2006/relationships/tags" Target="../tags/tag200.xml"/><Relationship Id="rId10" Type="http://schemas.openxmlformats.org/officeDocument/2006/relationships/oleObject" Target="../embeddings/oleObject61.bin"/><Relationship Id="rId4" Type="http://schemas.openxmlformats.org/officeDocument/2006/relationships/tags" Target="../tags/tag199.xml"/><Relationship Id="rId9"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04.xml"/><Relationship Id="rId7" Type="http://schemas.openxmlformats.org/officeDocument/2006/relationships/tags" Target="../tags/tag208.xml"/><Relationship Id="rId2" Type="http://schemas.openxmlformats.org/officeDocument/2006/relationships/tags" Target="../tags/tag203.xml"/><Relationship Id="rId1" Type="http://schemas.openxmlformats.org/officeDocument/2006/relationships/vmlDrawing" Target="../drawings/vmlDrawing45.vml"/><Relationship Id="rId6" Type="http://schemas.openxmlformats.org/officeDocument/2006/relationships/tags" Target="../tags/tag207.xml"/><Relationship Id="rId11" Type="http://schemas.openxmlformats.org/officeDocument/2006/relationships/image" Target="../media/image69.wmf"/><Relationship Id="rId5" Type="http://schemas.openxmlformats.org/officeDocument/2006/relationships/tags" Target="../tags/tag206.xml"/><Relationship Id="rId10" Type="http://schemas.openxmlformats.org/officeDocument/2006/relationships/oleObject" Target="../embeddings/oleObject62.bin"/><Relationship Id="rId4" Type="http://schemas.openxmlformats.org/officeDocument/2006/relationships/tags" Target="../tags/tag205.xml"/><Relationship Id="rId9"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71.wmf"/><Relationship Id="rId3" Type="http://schemas.openxmlformats.org/officeDocument/2006/relationships/tags" Target="../tags/tag210.xml"/><Relationship Id="rId7" Type="http://schemas.openxmlformats.org/officeDocument/2006/relationships/tags" Target="../tags/tag214.xml"/><Relationship Id="rId12" Type="http://schemas.openxmlformats.org/officeDocument/2006/relationships/oleObject" Target="../embeddings/oleObject64.bin"/><Relationship Id="rId2" Type="http://schemas.openxmlformats.org/officeDocument/2006/relationships/tags" Target="../tags/tag209.xml"/><Relationship Id="rId1" Type="http://schemas.openxmlformats.org/officeDocument/2006/relationships/vmlDrawing" Target="../drawings/vmlDrawing46.vml"/><Relationship Id="rId6" Type="http://schemas.openxmlformats.org/officeDocument/2006/relationships/tags" Target="../tags/tag213.xml"/><Relationship Id="rId11" Type="http://schemas.openxmlformats.org/officeDocument/2006/relationships/image" Target="../media/image70.wmf"/><Relationship Id="rId5" Type="http://schemas.openxmlformats.org/officeDocument/2006/relationships/tags" Target="../tags/tag212.xml"/><Relationship Id="rId10" Type="http://schemas.openxmlformats.org/officeDocument/2006/relationships/oleObject" Target="../embeddings/oleObject63.bin"/><Relationship Id="rId4" Type="http://schemas.openxmlformats.org/officeDocument/2006/relationships/tags" Target="../tags/tag211.xml"/><Relationship Id="rId9" Type="http://schemas.openxmlformats.org/officeDocument/2006/relationships/notesSlide" Target="../notesSlides/notesSlide66.xml"/><Relationship Id="rId14" Type="http://schemas.openxmlformats.org/officeDocument/2006/relationships/image" Target="../media/image72.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tags" Target="../tags/tag216.xml"/><Relationship Id="rId7" Type="http://schemas.openxmlformats.org/officeDocument/2006/relationships/notesSlide" Target="../notesSlides/notesSlide67.xml"/><Relationship Id="rId2" Type="http://schemas.openxmlformats.org/officeDocument/2006/relationships/tags" Target="../tags/tag215.xml"/><Relationship Id="rId1" Type="http://schemas.openxmlformats.org/officeDocument/2006/relationships/vmlDrawing" Target="../drawings/vmlDrawing47.vml"/><Relationship Id="rId6" Type="http://schemas.openxmlformats.org/officeDocument/2006/relationships/slideLayout" Target="../slideLayouts/slideLayout2.xml"/><Relationship Id="rId5" Type="http://schemas.openxmlformats.org/officeDocument/2006/relationships/tags" Target="../tags/tag218.xml"/><Relationship Id="rId4" Type="http://schemas.openxmlformats.org/officeDocument/2006/relationships/tags" Target="../tags/tag217.xml"/><Relationship Id="rId9" Type="http://schemas.openxmlformats.org/officeDocument/2006/relationships/image" Target="../media/image73.wmf"/></Relationships>
</file>

<file path=ppt/slides/_rels/slide71.xml.rels><?xml version="1.0" encoding="UTF-8" standalone="yes"?>
<Relationships xmlns="http://schemas.openxmlformats.org/package/2006/relationships"><Relationship Id="rId8" Type="http://schemas.openxmlformats.org/officeDocument/2006/relationships/notesSlide" Target="../notesSlides/notesSlide68.xml"/><Relationship Id="rId3" Type="http://schemas.openxmlformats.org/officeDocument/2006/relationships/tags" Target="../tags/tag220.xml"/><Relationship Id="rId7" Type="http://schemas.openxmlformats.org/officeDocument/2006/relationships/slideLayout" Target="../slideLayouts/slideLayout2.xml"/><Relationship Id="rId2" Type="http://schemas.openxmlformats.org/officeDocument/2006/relationships/tags" Target="../tags/tag219.xml"/><Relationship Id="rId1" Type="http://schemas.openxmlformats.org/officeDocument/2006/relationships/vmlDrawing" Target="../drawings/vmlDrawing48.vml"/><Relationship Id="rId6" Type="http://schemas.openxmlformats.org/officeDocument/2006/relationships/tags" Target="../tags/tag223.xml"/><Relationship Id="rId5" Type="http://schemas.openxmlformats.org/officeDocument/2006/relationships/tags" Target="../tags/tag222.xml"/><Relationship Id="rId10" Type="http://schemas.openxmlformats.org/officeDocument/2006/relationships/image" Target="../media/image74.wmf"/><Relationship Id="rId4" Type="http://schemas.openxmlformats.org/officeDocument/2006/relationships/tags" Target="../tags/tag221.xml"/><Relationship Id="rId9" Type="http://schemas.openxmlformats.org/officeDocument/2006/relationships/oleObject" Target="../embeddings/oleObject66.bin"/></Relationships>
</file>

<file path=ppt/slides/_rels/slide72.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5" Type="http://schemas.openxmlformats.org/officeDocument/2006/relationships/notesSlide" Target="../notesSlides/notesSlide69.xml"/><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tags" Target="../tags/tag228.xml"/><Relationship Id="rId7" Type="http://schemas.openxmlformats.org/officeDocument/2006/relationships/notesSlide" Target="../notesSlides/notesSlide70.xml"/><Relationship Id="rId2" Type="http://schemas.openxmlformats.org/officeDocument/2006/relationships/tags" Target="../tags/tag227.xml"/><Relationship Id="rId1" Type="http://schemas.openxmlformats.org/officeDocument/2006/relationships/vmlDrawing" Target="../drawings/vmlDrawing49.vml"/><Relationship Id="rId6" Type="http://schemas.openxmlformats.org/officeDocument/2006/relationships/slideLayout" Target="../slideLayouts/slideLayout2.xml"/><Relationship Id="rId5" Type="http://schemas.openxmlformats.org/officeDocument/2006/relationships/tags" Target="../tags/tag230.xml"/><Relationship Id="rId4" Type="http://schemas.openxmlformats.org/officeDocument/2006/relationships/tags" Target="../tags/tag229.xml"/><Relationship Id="rId9" Type="http://schemas.openxmlformats.org/officeDocument/2006/relationships/image" Target="../media/image75.wmf"/></Relationships>
</file>

<file path=ppt/slides/_rels/slide74.xml.rels><?xml version="1.0" encoding="UTF-8" standalone="yes"?>
<Relationships xmlns="http://schemas.openxmlformats.org/package/2006/relationships"><Relationship Id="rId8" Type="http://schemas.openxmlformats.org/officeDocument/2006/relationships/notesSlide" Target="../notesSlides/notesSlide71.xml"/><Relationship Id="rId3" Type="http://schemas.openxmlformats.org/officeDocument/2006/relationships/tags" Target="../tags/tag232.xml"/><Relationship Id="rId7" Type="http://schemas.openxmlformats.org/officeDocument/2006/relationships/slideLayout" Target="../slideLayouts/slideLayout2.xml"/><Relationship Id="rId2" Type="http://schemas.openxmlformats.org/officeDocument/2006/relationships/tags" Target="../tags/tag231.xml"/><Relationship Id="rId1" Type="http://schemas.openxmlformats.org/officeDocument/2006/relationships/vmlDrawing" Target="../drawings/vmlDrawing50.vml"/><Relationship Id="rId6" Type="http://schemas.openxmlformats.org/officeDocument/2006/relationships/tags" Target="../tags/tag235.xml"/><Relationship Id="rId5" Type="http://schemas.openxmlformats.org/officeDocument/2006/relationships/tags" Target="../tags/tag234.xml"/><Relationship Id="rId10" Type="http://schemas.openxmlformats.org/officeDocument/2006/relationships/image" Target="../media/image76.wmf"/><Relationship Id="rId4" Type="http://schemas.openxmlformats.org/officeDocument/2006/relationships/tags" Target="../tags/tag233.xml"/><Relationship Id="rId9" Type="http://schemas.openxmlformats.org/officeDocument/2006/relationships/oleObject" Target="../embeddings/oleObject68.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tags" Target="../tags/tag237.xml"/><Relationship Id="rId7" Type="http://schemas.openxmlformats.org/officeDocument/2006/relationships/notesSlide" Target="../notesSlides/notesSlide72.xml"/><Relationship Id="rId2" Type="http://schemas.openxmlformats.org/officeDocument/2006/relationships/tags" Target="../tags/tag236.xml"/><Relationship Id="rId1" Type="http://schemas.openxmlformats.org/officeDocument/2006/relationships/vmlDrawing" Target="../drawings/vmlDrawing51.vml"/><Relationship Id="rId6" Type="http://schemas.openxmlformats.org/officeDocument/2006/relationships/slideLayout" Target="../slideLayouts/slideLayout2.xml"/><Relationship Id="rId5" Type="http://schemas.openxmlformats.org/officeDocument/2006/relationships/tags" Target="../tags/tag239.xml"/><Relationship Id="rId4" Type="http://schemas.openxmlformats.org/officeDocument/2006/relationships/tags" Target="../tags/tag238.xml"/><Relationship Id="rId9" Type="http://schemas.openxmlformats.org/officeDocument/2006/relationships/image" Target="../media/image76.wmf"/></Relationships>
</file>

<file path=ppt/slides/_rels/slide76.xml.rels><?xml version="1.0" encoding="UTF-8" standalone="yes"?>
<Relationships xmlns="http://schemas.openxmlformats.org/package/2006/relationships"><Relationship Id="rId8" Type="http://schemas.openxmlformats.org/officeDocument/2006/relationships/notesSlide" Target="../notesSlides/notesSlide73.xml"/><Relationship Id="rId3" Type="http://schemas.openxmlformats.org/officeDocument/2006/relationships/tags" Target="../tags/tag242.xml"/><Relationship Id="rId7" Type="http://schemas.openxmlformats.org/officeDocument/2006/relationships/slideLayout" Target="../slideLayouts/slideLayout2.xml"/><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tags" Target="../tags/tag247.xml"/><Relationship Id="rId7" Type="http://schemas.openxmlformats.org/officeDocument/2006/relationships/notesSlide" Target="../notesSlides/notesSlide74.xml"/><Relationship Id="rId2" Type="http://schemas.openxmlformats.org/officeDocument/2006/relationships/tags" Target="../tags/tag246.xml"/><Relationship Id="rId1" Type="http://schemas.openxmlformats.org/officeDocument/2006/relationships/vmlDrawing" Target="../drawings/vmlDrawing52.vml"/><Relationship Id="rId6" Type="http://schemas.openxmlformats.org/officeDocument/2006/relationships/slideLayout" Target="../slideLayouts/slideLayout2.xml"/><Relationship Id="rId5" Type="http://schemas.openxmlformats.org/officeDocument/2006/relationships/tags" Target="../tags/tag249.xml"/><Relationship Id="rId4" Type="http://schemas.openxmlformats.org/officeDocument/2006/relationships/tags" Target="../tags/tag248.xml"/><Relationship Id="rId9" Type="http://schemas.openxmlformats.org/officeDocument/2006/relationships/image" Target="../media/image77.wmf"/></Relationships>
</file>

<file path=ppt/slides/_rels/slide78.xml.rels><?xml version="1.0" encoding="UTF-8" standalone="yes"?>
<Relationships xmlns="http://schemas.openxmlformats.org/package/2006/relationships"><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notesSlide" Target="../notesSlides/notesSlide75.xml"/><Relationship Id="rId5" Type="http://schemas.openxmlformats.org/officeDocument/2006/relationships/slideLayout" Target="../slideLayouts/slideLayout2.xml"/><Relationship Id="rId4" Type="http://schemas.openxmlformats.org/officeDocument/2006/relationships/tags" Target="../tags/tag253.xml"/></Relationships>
</file>

<file path=ppt/slides/_rels/slide79.xml.rels><?xml version="1.0" encoding="UTF-8" standalone="yes"?>
<Relationships xmlns="http://schemas.openxmlformats.org/package/2006/relationships"><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notesSlide" Target="../notesSlides/notesSlide76.xml"/><Relationship Id="rId5" Type="http://schemas.openxmlformats.org/officeDocument/2006/relationships/slideLayout" Target="../slideLayouts/slideLayout2.xml"/><Relationship Id="rId4" Type="http://schemas.openxmlformats.org/officeDocument/2006/relationships/tags" Target="../tags/tag257.xml"/></Relationships>
</file>

<file path=ppt/slides/_rels/slide80.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notesSlide" Target="../notesSlides/notesSlide77.xml"/><Relationship Id="rId5" Type="http://schemas.openxmlformats.org/officeDocument/2006/relationships/slideLayout" Target="../slideLayouts/slideLayout2.xml"/><Relationship Id="rId4" Type="http://schemas.openxmlformats.org/officeDocument/2006/relationships/tags" Target="../tags/tag261.xml"/></Relationships>
</file>

<file path=ppt/slides/_rels/slide81.xml.rels><?xml version="1.0" encoding="UTF-8" standalone="yes"?>
<Relationships xmlns="http://schemas.openxmlformats.org/package/2006/relationships"><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notesSlide" Target="../notesSlides/notesSlide78.xml"/><Relationship Id="rId5" Type="http://schemas.openxmlformats.org/officeDocument/2006/relationships/slideLayout" Target="../slideLayouts/slideLayout2.xml"/><Relationship Id="rId4" Type="http://schemas.openxmlformats.org/officeDocument/2006/relationships/tags" Target="../tags/tag265.xml"/></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79.xml"/><Relationship Id="rId3" Type="http://schemas.openxmlformats.org/officeDocument/2006/relationships/tags" Target="../tags/tag267.xml"/><Relationship Id="rId7" Type="http://schemas.openxmlformats.org/officeDocument/2006/relationships/slideLayout" Target="../slideLayouts/slideLayout2.xml"/><Relationship Id="rId2" Type="http://schemas.openxmlformats.org/officeDocument/2006/relationships/tags" Target="../tags/tag266.xml"/><Relationship Id="rId1" Type="http://schemas.openxmlformats.org/officeDocument/2006/relationships/vmlDrawing" Target="../drawings/vmlDrawing53.vml"/><Relationship Id="rId6" Type="http://schemas.openxmlformats.org/officeDocument/2006/relationships/tags" Target="../tags/tag270.xml"/><Relationship Id="rId5" Type="http://schemas.openxmlformats.org/officeDocument/2006/relationships/tags" Target="../tags/tag269.xml"/><Relationship Id="rId10" Type="http://schemas.openxmlformats.org/officeDocument/2006/relationships/image" Target="../media/image78.wmf"/><Relationship Id="rId4" Type="http://schemas.openxmlformats.org/officeDocument/2006/relationships/tags" Target="../tags/tag268.xml"/><Relationship Id="rId9" Type="http://schemas.openxmlformats.org/officeDocument/2006/relationships/oleObject" Target="../embeddings/oleObject71.bin"/></Relationships>
</file>

<file path=ppt/slides/_rels/slide83.xml.rels><?xml version="1.0" encoding="UTF-8" standalone="yes"?>
<Relationships xmlns="http://schemas.openxmlformats.org/package/2006/relationships"><Relationship Id="rId8" Type="http://schemas.openxmlformats.org/officeDocument/2006/relationships/notesSlide" Target="../notesSlides/notesSlide80.xml"/><Relationship Id="rId3" Type="http://schemas.openxmlformats.org/officeDocument/2006/relationships/tags" Target="../tags/tag272.xml"/><Relationship Id="rId7" Type="http://schemas.openxmlformats.org/officeDocument/2006/relationships/slideLayout" Target="../slideLayouts/slideLayout2.xml"/><Relationship Id="rId2" Type="http://schemas.openxmlformats.org/officeDocument/2006/relationships/tags" Target="../tags/tag271.xml"/><Relationship Id="rId1" Type="http://schemas.openxmlformats.org/officeDocument/2006/relationships/vmlDrawing" Target="../drawings/vmlDrawing54.vml"/><Relationship Id="rId6" Type="http://schemas.openxmlformats.org/officeDocument/2006/relationships/tags" Target="../tags/tag275.xml"/><Relationship Id="rId5" Type="http://schemas.openxmlformats.org/officeDocument/2006/relationships/tags" Target="../tags/tag274.xml"/><Relationship Id="rId10" Type="http://schemas.openxmlformats.org/officeDocument/2006/relationships/image" Target="../media/image79.wmf"/><Relationship Id="rId4" Type="http://schemas.openxmlformats.org/officeDocument/2006/relationships/tags" Target="../tags/tag273.xml"/><Relationship Id="rId9" Type="http://schemas.openxmlformats.org/officeDocument/2006/relationships/oleObject" Target="../embeddings/oleObject7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Chapter 3</a:t>
            </a:r>
          </a:p>
        </p:txBody>
      </p:sp>
      <p:sp>
        <p:nvSpPr>
          <p:cNvPr id="6" name="TextBox 5"/>
          <p:cNvSpPr txBox="1"/>
          <p:nvPr/>
        </p:nvSpPr>
        <p:spPr>
          <a:xfrm>
            <a:off x="609600" y="2743200"/>
            <a:ext cx="8077200" cy="492443"/>
          </a:xfrm>
          <a:prstGeom prst="rect">
            <a:avLst/>
          </a:prstGeom>
          <a:noFill/>
        </p:spPr>
        <p:txBody>
          <a:bodyPr wrap="square" rtlCol="0">
            <a:spAutoFit/>
          </a:bodyPr>
          <a:lstStyle/>
          <a:p>
            <a:r>
              <a:rPr lang="en-US" sz="2600" b="1" i="1" dirty="0"/>
              <a:t>Digital Design and Computer Architecture</a:t>
            </a:r>
            <a:r>
              <a:rPr lang="en-US" sz="2600" b="1" dirty="0"/>
              <a:t>: ARM® Edition</a:t>
            </a:r>
          </a:p>
        </p:txBody>
      </p:sp>
      <p:cxnSp>
        <p:nvCxnSpPr>
          <p:cNvPr id="7" name="Straight Connector 6"/>
          <p:cNvCxnSpPr/>
          <p:nvPr/>
        </p:nvCxnSpPr>
        <p:spPr>
          <a:xfrm>
            <a:off x="609600" y="3226713"/>
            <a:ext cx="8077200" cy="8930"/>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191000" y="3226713"/>
            <a:ext cx="4724400" cy="430887"/>
          </a:xfrm>
          <a:prstGeom prst="rect">
            <a:avLst/>
          </a:prstGeom>
          <a:noFill/>
        </p:spPr>
        <p:txBody>
          <a:bodyPr wrap="square" rtlCol="0">
            <a:spAutoFit/>
          </a:bodyPr>
          <a:lstStyle/>
          <a:p>
            <a:r>
              <a:rPr lang="en-US" sz="2200" dirty="0"/>
              <a:t>Sarah L. Harris and David Money Harris</a:t>
            </a:r>
          </a:p>
        </p:txBody>
      </p:sp>
    </p:spTree>
    <p:extLst>
      <p:ext uri="{BB962C8B-B14F-4D97-AF65-F5344CB8AC3E}">
        <p14:creationId xmlns:p14="http://schemas.microsoft.com/office/powerpoint/2010/main" val="534681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Chapter 3 :: Topics</a:t>
            </a:r>
          </a:p>
        </p:txBody>
      </p:sp>
      <p:sp>
        <p:nvSpPr>
          <p:cNvPr id="8" name="Rectangle 3"/>
          <p:cNvSpPr txBox="1">
            <a:spLocks noChangeArrowheads="1"/>
          </p:cNvSpPr>
          <p:nvPr>
            <p:custDataLst>
              <p:tags r:id="rId1"/>
            </p:custDataLst>
          </p:nvPr>
        </p:nvSpPr>
        <p:spPr>
          <a:xfrm>
            <a:off x="914400" y="1219200"/>
            <a:ext cx="5638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Introduction</a:t>
            </a:r>
          </a:p>
          <a:p>
            <a:r>
              <a:rPr lang="en-US" b="1" dirty="0"/>
              <a:t>Latches and Flip-Flops</a:t>
            </a:r>
          </a:p>
          <a:p>
            <a:r>
              <a:rPr lang="en-US" b="1"/>
              <a:t>Synchronous Logic Design</a:t>
            </a:r>
          </a:p>
          <a:p>
            <a:r>
              <a:rPr lang="en-US" b="1" dirty="0"/>
              <a:t>Finite State Machines</a:t>
            </a:r>
          </a:p>
          <a:p>
            <a:r>
              <a:rPr lang="en-US" b="1" dirty="0"/>
              <a:t>Timing of Sequential Logic</a:t>
            </a:r>
          </a:p>
          <a:p>
            <a:r>
              <a:rPr lang="en-US" b="1" dirty="0"/>
              <a:t>Parallelism</a:t>
            </a:r>
            <a:endParaRPr lang="en-GB" b="1" dirty="0"/>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78491" y="1143000"/>
            <a:ext cx="1732109" cy="4724400"/>
          </a:xfrm>
          <a:prstGeom prst="rect">
            <a:avLst/>
          </a:prstGeom>
        </p:spPr>
      </p:pic>
    </p:spTree>
    <p:extLst>
      <p:ext uri="{BB962C8B-B14F-4D97-AF65-F5344CB8AC3E}">
        <p14:creationId xmlns:p14="http://schemas.microsoft.com/office/powerpoint/2010/main" val="4209819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3" name="Rectangle 3"/>
          <p:cNvSpPr>
            <a:spLocks noGrp="1" noChangeArrowheads="1"/>
          </p:cNvSpPr>
          <p:nvPr>
            <p:ph type="body" idx="4294967295"/>
            <p:custDataLst>
              <p:tags r:id="rId1"/>
            </p:custDataLst>
          </p:nvPr>
        </p:nvSpPr>
        <p:spPr>
          <a:xfrm>
            <a:off x="533400" y="1066800"/>
            <a:ext cx="8229600" cy="4525963"/>
          </a:xfrm>
        </p:spPr>
        <p:txBody>
          <a:bodyPr/>
          <a:lstStyle/>
          <a:p>
            <a:r>
              <a:rPr lang="en-US" dirty="0"/>
              <a:t>Outputs of sequential logic depend on current </a:t>
            </a:r>
            <a:r>
              <a:rPr lang="en-US" i="1" dirty="0"/>
              <a:t>and</a:t>
            </a:r>
            <a:r>
              <a:rPr lang="en-US" dirty="0"/>
              <a:t> prior input values – it has </a:t>
            </a:r>
            <a:r>
              <a:rPr lang="en-US" b="1" i="1" dirty="0"/>
              <a:t>memory</a:t>
            </a:r>
            <a:r>
              <a:rPr lang="en-US" dirty="0"/>
              <a:t>.</a:t>
            </a:r>
          </a:p>
          <a:p>
            <a:r>
              <a:rPr lang="en-US" dirty="0"/>
              <a:t>Some definitions:</a:t>
            </a:r>
          </a:p>
          <a:p>
            <a:pPr lvl="1"/>
            <a:r>
              <a:rPr lang="en-US" b="1" dirty="0">
                <a:solidFill>
                  <a:schemeClr val="accent1"/>
                </a:solidFill>
              </a:rPr>
              <a:t>State: </a:t>
            </a:r>
            <a:r>
              <a:rPr lang="en-US" dirty="0"/>
              <a:t>all the information about past inputs necessary to explain its future behavior</a:t>
            </a:r>
          </a:p>
          <a:p>
            <a:pPr lvl="1"/>
            <a:r>
              <a:rPr lang="en-US" b="1" dirty="0">
                <a:solidFill>
                  <a:schemeClr val="accent1"/>
                </a:solidFill>
              </a:rPr>
              <a:t>Latches and flip-flops: </a:t>
            </a:r>
            <a:r>
              <a:rPr lang="en-US" dirty="0"/>
              <a:t>state elements that store one bit of state</a:t>
            </a:r>
          </a:p>
          <a:p>
            <a:pPr lvl="1"/>
            <a:r>
              <a:rPr lang="en-US" b="1" dirty="0">
                <a:solidFill>
                  <a:schemeClr val="accent1"/>
                </a:solidFill>
              </a:rPr>
              <a:t>Synchronous sequential circuits: </a:t>
            </a:r>
            <a:r>
              <a:rPr lang="en-US" dirty="0"/>
              <a:t>combinational logic followed by a bank of flip-flops</a:t>
            </a:r>
            <a:endParaRPr lang="en-GB" dirty="0"/>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Introduction</a:t>
            </a:r>
          </a:p>
        </p:txBody>
      </p:sp>
    </p:spTree>
    <p:extLst>
      <p:ext uri="{BB962C8B-B14F-4D97-AF65-F5344CB8AC3E}">
        <p14:creationId xmlns:p14="http://schemas.microsoft.com/office/powerpoint/2010/main" val="2932275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6420" name="Rectangle 4"/>
          <p:cNvSpPr>
            <a:spLocks noChangeArrowheads="1"/>
          </p:cNvSpPr>
          <p:nvPr>
            <p:custDataLst>
              <p:tags r:id="rId2"/>
            </p:custDataLst>
          </p:nvPr>
        </p:nvSpPr>
        <p:spPr bwMode="auto">
          <a:xfrm>
            <a:off x="533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Give sequence to events</a:t>
            </a:r>
          </a:p>
          <a:p>
            <a:pPr marL="342900" indent="-342900">
              <a:spcBef>
                <a:spcPct val="20000"/>
              </a:spcBef>
              <a:buFontTx/>
              <a:buChar char="•"/>
            </a:pPr>
            <a:r>
              <a:rPr lang="en-US" sz="3200" dirty="0">
                <a:latin typeface="+mj-lt"/>
                <a:cs typeface="Arial" charset="0"/>
              </a:rPr>
              <a:t>Have memory (short-term)</a:t>
            </a:r>
          </a:p>
          <a:p>
            <a:pPr marL="342900" indent="-342900">
              <a:spcBef>
                <a:spcPct val="20000"/>
              </a:spcBef>
              <a:buFontTx/>
              <a:buChar char="•"/>
            </a:pPr>
            <a:r>
              <a:rPr lang="en-US" sz="3200" dirty="0">
                <a:latin typeface="+mj-lt"/>
                <a:cs typeface="Arial" charset="0"/>
              </a:rPr>
              <a:t>Use feedback from output to input to store information</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Sequential Circuits</a:t>
            </a:r>
          </a:p>
        </p:txBody>
      </p:sp>
    </p:spTree>
    <p:extLst>
      <p:ext uri="{BB962C8B-B14F-4D97-AF65-F5344CB8AC3E}">
        <p14:creationId xmlns:p14="http://schemas.microsoft.com/office/powerpoint/2010/main" val="91046013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442"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7444" name="Rectangle 4"/>
          <p:cNvSpPr>
            <a:spLocks noChangeArrowheads="1"/>
          </p:cNvSpPr>
          <p:nvPr>
            <p:custDataLst>
              <p:tags r:id="rId2"/>
            </p:custDataLst>
          </p:nvPr>
        </p:nvSpPr>
        <p:spPr bwMode="auto">
          <a:xfrm>
            <a:off x="533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The state of a circuit influences its future behavior</a:t>
            </a:r>
          </a:p>
          <a:p>
            <a:pPr marL="342900" indent="-342900">
              <a:spcBef>
                <a:spcPct val="20000"/>
              </a:spcBef>
              <a:buFontTx/>
              <a:buChar char="•"/>
            </a:pPr>
            <a:r>
              <a:rPr lang="en-US" sz="3200" dirty="0">
                <a:latin typeface="+mj-lt"/>
                <a:cs typeface="Arial" charset="0"/>
              </a:rPr>
              <a:t>State elements store state</a:t>
            </a:r>
          </a:p>
          <a:p>
            <a:pPr marL="742950" lvl="1" indent="-285750">
              <a:spcBef>
                <a:spcPct val="20000"/>
              </a:spcBef>
              <a:buFontTx/>
              <a:buChar char="–"/>
            </a:pPr>
            <a:r>
              <a:rPr lang="en-US" sz="2800" dirty="0" err="1">
                <a:latin typeface="+mj-lt"/>
                <a:cs typeface="Arial" charset="0"/>
              </a:rPr>
              <a:t>Bistable</a:t>
            </a:r>
            <a:r>
              <a:rPr lang="en-US" sz="2800" dirty="0">
                <a:latin typeface="+mj-lt"/>
                <a:cs typeface="Arial" charset="0"/>
              </a:rPr>
              <a:t> circuit</a:t>
            </a:r>
          </a:p>
          <a:p>
            <a:pPr marL="742950" lvl="1" indent="-285750">
              <a:spcBef>
                <a:spcPct val="20000"/>
              </a:spcBef>
              <a:buFontTx/>
              <a:buChar char="–"/>
            </a:pPr>
            <a:r>
              <a:rPr lang="en-US" sz="2800" dirty="0">
                <a:latin typeface="+mj-lt"/>
                <a:cs typeface="Arial" charset="0"/>
              </a:rPr>
              <a:t>SR Latch</a:t>
            </a:r>
          </a:p>
          <a:p>
            <a:pPr marL="742950" lvl="1" indent="-285750">
              <a:spcBef>
                <a:spcPct val="20000"/>
              </a:spcBef>
              <a:buFontTx/>
              <a:buChar char="–"/>
            </a:pPr>
            <a:r>
              <a:rPr lang="en-US" sz="2800" dirty="0">
                <a:latin typeface="+mj-lt"/>
                <a:cs typeface="Arial" charset="0"/>
              </a:rPr>
              <a:t>D Latch</a:t>
            </a:r>
          </a:p>
          <a:p>
            <a:pPr marL="742950" lvl="1" indent="-285750">
              <a:spcBef>
                <a:spcPct val="20000"/>
              </a:spcBef>
              <a:buFontTx/>
              <a:buChar char="–"/>
            </a:pPr>
            <a:r>
              <a:rPr lang="en-US" sz="2800" dirty="0">
                <a:latin typeface="+mj-lt"/>
                <a:cs typeface="Arial" charset="0"/>
              </a:rPr>
              <a:t>D Flip-flop</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State Elements</a:t>
            </a:r>
          </a:p>
        </p:txBody>
      </p:sp>
    </p:spTree>
    <p:extLst>
      <p:ext uri="{BB962C8B-B14F-4D97-AF65-F5344CB8AC3E}">
        <p14:creationId xmlns:p14="http://schemas.microsoft.com/office/powerpoint/2010/main" val="19516590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8470" name="Object 6"/>
          <p:cNvGraphicFramePr>
            <a:graphicFrameLocks noGrp="1" noChangeAspect="1"/>
          </p:cNvGraphicFramePr>
          <p:nvPr>
            <p:ph idx="4294967295"/>
            <p:custDataLst>
              <p:tags r:id="rId2"/>
            </p:custDataLst>
            <p:extLst>
              <p:ext uri="{D42A27DB-BD31-4B8C-83A1-F6EECF244321}">
                <p14:modId xmlns:p14="http://schemas.microsoft.com/office/powerpoint/2010/main" val="3604959006"/>
              </p:ext>
            </p:extLst>
          </p:nvPr>
        </p:nvGraphicFramePr>
        <p:xfrm>
          <a:off x="1943100" y="3582649"/>
          <a:ext cx="5867400" cy="2051050"/>
        </p:xfrm>
        <a:graphic>
          <a:graphicData uri="http://schemas.openxmlformats.org/presentationml/2006/ole">
            <mc:AlternateContent xmlns:mc="http://schemas.openxmlformats.org/markup-compatibility/2006">
              <mc:Choice xmlns:v="urn:schemas-microsoft-com:vml" Requires="v">
                <p:oleObj spid="_x0000_s1026" name="VISIO" r:id="rId8" imgW="2060280" imgH="720360" progId="Visio.Drawing.6">
                  <p:embed/>
                </p:oleObj>
              </mc:Choice>
              <mc:Fallback>
                <p:oleObj name="VISIO" r:id="rId8" imgW="2060280" imgH="72036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43100" y="3582649"/>
                        <a:ext cx="5867400" cy="2051050"/>
                      </a:xfrm>
                      <a:prstGeom prst="rect">
                        <a:avLst/>
                      </a:prstGeom>
                    </p:spPr>
                  </p:pic>
                </p:oleObj>
              </mc:Fallback>
            </mc:AlternateContent>
          </a:graphicData>
        </a:graphic>
      </p:graphicFrame>
      <p:sp>
        <p:nvSpPr>
          <p:cNvPr id="958466"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8469" name="Rectangle 5"/>
          <p:cNvSpPr>
            <a:spLocks noChangeArrowheads="1"/>
          </p:cNvSpPr>
          <p:nvPr>
            <p:custDataLst>
              <p:tags r:id="rId4"/>
            </p:custDataLst>
          </p:nvPr>
        </p:nvSpPr>
        <p:spPr bwMode="auto">
          <a:xfrm>
            <a:off x="914400" y="1254177"/>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Fundamental building block of other state elements</a:t>
            </a:r>
          </a:p>
          <a:p>
            <a:pPr marL="342900" indent="-342900">
              <a:spcBef>
                <a:spcPct val="20000"/>
              </a:spcBef>
              <a:buFontTx/>
              <a:buChar char="•"/>
            </a:pPr>
            <a:r>
              <a:rPr lang="en-US" sz="3200" dirty="0">
                <a:latin typeface="+mj-lt"/>
                <a:cs typeface="Arial" charset="0"/>
              </a:rPr>
              <a:t>Two outputs: </a:t>
            </a:r>
            <a:r>
              <a:rPr lang="en-US" sz="3200" i="1" dirty="0">
                <a:latin typeface="+mj-lt"/>
                <a:cs typeface="Arial" charset="0"/>
              </a:rPr>
              <a:t>Q</a:t>
            </a:r>
            <a:r>
              <a:rPr lang="en-US" sz="3200" dirty="0">
                <a:latin typeface="+mj-lt"/>
                <a:cs typeface="Arial" charset="0"/>
              </a:rPr>
              <a:t>, </a:t>
            </a:r>
            <a:r>
              <a:rPr lang="en-US" sz="3200" i="1" dirty="0">
                <a:latin typeface="+mj-lt"/>
                <a:cs typeface="Arial" charset="0"/>
              </a:rPr>
              <a:t>Q</a:t>
            </a:r>
          </a:p>
          <a:p>
            <a:pPr marL="342900" indent="-342900">
              <a:spcBef>
                <a:spcPct val="20000"/>
              </a:spcBef>
              <a:buFontTx/>
              <a:buChar char="•"/>
            </a:pPr>
            <a:r>
              <a:rPr lang="en-US" sz="3200" dirty="0">
                <a:latin typeface="+mj-lt"/>
                <a:cs typeface="Arial" charset="0"/>
              </a:rPr>
              <a:t>No inputs</a:t>
            </a:r>
          </a:p>
        </p:txBody>
      </p:sp>
      <p:sp>
        <p:nvSpPr>
          <p:cNvPr id="958476" name="Line 12"/>
          <p:cNvSpPr>
            <a:spLocks noChangeShapeType="1"/>
          </p:cNvSpPr>
          <p:nvPr>
            <p:custDataLst>
              <p:tags r:id="rId5"/>
            </p:custDataLst>
          </p:nvPr>
        </p:nvSpPr>
        <p:spPr bwMode="auto">
          <a:xfrm>
            <a:off x="4038600" y="24384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Bistable</a:t>
            </a:r>
            <a:r>
              <a:rPr lang="en-US" sz="4400" dirty="0">
                <a:solidFill>
                  <a:schemeClr val="bg1"/>
                </a:solidFill>
                <a:latin typeface="+mj-lt"/>
              </a:rPr>
              <a:t> Circuit</a:t>
            </a:r>
          </a:p>
        </p:txBody>
      </p:sp>
    </p:spTree>
    <p:extLst>
      <p:ext uri="{BB962C8B-B14F-4D97-AF65-F5344CB8AC3E}">
        <p14:creationId xmlns:p14="http://schemas.microsoft.com/office/powerpoint/2010/main" val="162311628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9739" name="Object 11"/>
          <p:cNvGraphicFramePr>
            <a:graphicFrameLocks noGrp="1" noChangeAspect="1"/>
          </p:cNvGraphicFramePr>
          <p:nvPr>
            <p:ph sz="half" idx="4294967295"/>
            <p:custDataLst>
              <p:tags r:id="rId2"/>
            </p:custDataLst>
            <p:extLst>
              <p:ext uri="{D42A27DB-BD31-4B8C-83A1-F6EECF244321}">
                <p14:modId xmlns:p14="http://schemas.microsoft.com/office/powerpoint/2010/main" val="1442188651"/>
              </p:ext>
            </p:extLst>
          </p:nvPr>
        </p:nvGraphicFramePr>
        <p:xfrm>
          <a:off x="6553200" y="1295400"/>
          <a:ext cx="1752600" cy="1484313"/>
        </p:xfrm>
        <a:graphic>
          <a:graphicData uri="http://schemas.openxmlformats.org/presentationml/2006/ole">
            <mc:AlternateContent xmlns:mc="http://schemas.openxmlformats.org/markup-compatibility/2006">
              <mc:Choice xmlns:v="urn:schemas-microsoft-com:vml" Requires="v">
                <p:oleObj spid="_x0000_s2050" name="VISIO" r:id="rId13" imgW="914400" imgH="774720" progId="Visio.Drawing.6">
                  <p:embed/>
                </p:oleObj>
              </mc:Choice>
              <mc:Fallback>
                <p:oleObj name="VISIO" r:id="rId13" imgW="914400" imgH="774720" progId="Visio.Drawing.6">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53200" y="1295400"/>
                        <a:ext cx="1752600" cy="1484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9741" name="Object 13"/>
          <p:cNvGraphicFramePr>
            <a:graphicFrameLocks noGrp="1" noChangeAspect="1"/>
          </p:cNvGraphicFramePr>
          <p:nvPr>
            <p:ph sz="half" idx="4294967295"/>
            <p:custDataLst>
              <p:tags r:id="rId3"/>
            </p:custDataLst>
            <p:extLst>
              <p:ext uri="{D42A27DB-BD31-4B8C-83A1-F6EECF244321}">
                <p14:modId xmlns:p14="http://schemas.microsoft.com/office/powerpoint/2010/main" val="2548980041"/>
              </p:ext>
            </p:extLst>
          </p:nvPr>
        </p:nvGraphicFramePr>
        <p:xfrm>
          <a:off x="6553200" y="3124200"/>
          <a:ext cx="1752600" cy="1484313"/>
        </p:xfrm>
        <a:graphic>
          <a:graphicData uri="http://schemas.openxmlformats.org/presentationml/2006/ole">
            <mc:AlternateContent xmlns:mc="http://schemas.openxmlformats.org/markup-compatibility/2006">
              <mc:Choice xmlns:v="urn:schemas-microsoft-com:vml" Requires="v">
                <p:oleObj spid="_x0000_s2051" name="VISIO" r:id="rId15" imgW="914400" imgH="774720" progId="Visio.Drawing.6">
                  <p:embed/>
                </p:oleObj>
              </mc:Choice>
              <mc:Fallback>
                <p:oleObj name="VISIO" r:id="rId15" imgW="914400" imgH="774720" progId="Visio.Drawing.6">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53200" y="3124200"/>
                        <a:ext cx="1752600" cy="1484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9730"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9732" name="Rectangle 4"/>
          <p:cNvSpPr>
            <a:spLocks noChangeArrowheads="1"/>
          </p:cNvSpPr>
          <p:nvPr>
            <p:custDataLst>
              <p:tags r:id="rId5"/>
            </p:custDataLst>
          </p:nvPr>
        </p:nvSpPr>
        <p:spPr bwMode="auto">
          <a:xfrm>
            <a:off x="381000" y="914400"/>
            <a:ext cx="8077200" cy="5181600"/>
          </a:xfrm>
          <a:prstGeom prst="rect">
            <a:avLst/>
          </a:prstGeom>
          <a:noFill/>
          <a:ln w="9525">
            <a:no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Consider the two possible cases:</a:t>
            </a:r>
          </a:p>
          <a:p>
            <a:pPr marL="742950" lvl="1" indent="-285750">
              <a:spcBef>
                <a:spcPct val="20000"/>
              </a:spcBef>
              <a:buFontTx/>
              <a:buChar char="–"/>
            </a:pPr>
            <a:r>
              <a:rPr lang="en-US" sz="2800" b="1" i="1" dirty="0">
                <a:solidFill>
                  <a:schemeClr val="accent1"/>
                </a:solidFill>
                <a:latin typeface="+mj-lt"/>
                <a:cs typeface="Arial" charset="0"/>
              </a:rPr>
              <a:t>Q</a:t>
            </a:r>
            <a:r>
              <a:rPr lang="en-US" sz="2800" b="1" dirty="0">
                <a:solidFill>
                  <a:schemeClr val="accent1"/>
                </a:solidFill>
                <a:latin typeface="+mj-lt"/>
                <a:cs typeface="Arial" charset="0"/>
              </a:rPr>
              <a:t> = 0: </a:t>
            </a:r>
          </a:p>
          <a:p>
            <a:pPr lvl="1">
              <a:spcBef>
                <a:spcPct val="20000"/>
              </a:spcBef>
            </a:pPr>
            <a:r>
              <a:rPr lang="en-US" sz="2800" b="1" dirty="0">
                <a:solidFill>
                  <a:schemeClr val="accent1"/>
                </a:solidFill>
                <a:latin typeface="+mj-lt"/>
                <a:cs typeface="Arial" charset="0"/>
              </a:rPr>
              <a:t>   </a:t>
            </a:r>
            <a:r>
              <a:rPr lang="en-US" sz="2800" dirty="0">
                <a:latin typeface="+mj-lt"/>
                <a:cs typeface="Arial" charset="0"/>
              </a:rPr>
              <a:t>then </a:t>
            </a:r>
            <a:r>
              <a:rPr lang="en-US" sz="2800" i="1" dirty="0">
                <a:latin typeface="+mj-lt"/>
                <a:cs typeface="Arial" charset="0"/>
              </a:rPr>
              <a:t>Q</a:t>
            </a:r>
            <a:r>
              <a:rPr lang="en-US" sz="2800" dirty="0">
                <a:latin typeface="+mj-lt"/>
                <a:cs typeface="Arial" charset="0"/>
              </a:rPr>
              <a:t> = 0, </a:t>
            </a:r>
            <a:r>
              <a:rPr lang="en-US" sz="2800" i="1" dirty="0">
                <a:latin typeface="+mj-lt"/>
                <a:cs typeface="Arial" charset="0"/>
              </a:rPr>
              <a:t>Q</a:t>
            </a:r>
            <a:r>
              <a:rPr lang="en-US" sz="2800" dirty="0">
                <a:latin typeface="+mj-lt"/>
                <a:cs typeface="Arial" charset="0"/>
              </a:rPr>
              <a:t> = 1 (consistent)</a:t>
            </a:r>
          </a:p>
          <a:p>
            <a:pPr lvl="1">
              <a:spcBef>
                <a:spcPct val="20000"/>
              </a:spcBef>
            </a:pPr>
            <a:endParaRPr lang="en-US" sz="2800" dirty="0">
              <a:latin typeface="+mj-lt"/>
              <a:cs typeface="Arial" charset="0"/>
            </a:endParaRPr>
          </a:p>
          <a:p>
            <a:pPr marL="742950" lvl="1" indent="-285750">
              <a:spcBef>
                <a:spcPct val="20000"/>
              </a:spcBef>
              <a:buFontTx/>
              <a:buChar char="–"/>
            </a:pPr>
            <a:r>
              <a:rPr lang="en-US" sz="2800" b="1" i="1" dirty="0">
                <a:solidFill>
                  <a:schemeClr val="accent1"/>
                </a:solidFill>
                <a:latin typeface="+mj-lt"/>
                <a:cs typeface="Arial" charset="0"/>
              </a:rPr>
              <a:t>Q</a:t>
            </a:r>
            <a:r>
              <a:rPr lang="en-US" sz="2800" b="1" dirty="0">
                <a:solidFill>
                  <a:schemeClr val="accent1"/>
                </a:solidFill>
                <a:latin typeface="+mj-lt"/>
                <a:cs typeface="Arial" charset="0"/>
              </a:rPr>
              <a:t> = 1: </a:t>
            </a:r>
          </a:p>
          <a:p>
            <a:pPr lvl="1">
              <a:spcBef>
                <a:spcPct val="20000"/>
              </a:spcBef>
            </a:pPr>
            <a:r>
              <a:rPr lang="en-US" sz="2800" b="1" dirty="0">
                <a:solidFill>
                  <a:schemeClr val="accent1"/>
                </a:solidFill>
                <a:latin typeface="+mj-lt"/>
                <a:cs typeface="Arial" charset="0"/>
              </a:rPr>
              <a:t>   </a:t>
            </a:r>
            <a:r>
              <a:rPr lang="en-US" sz="2800" dirty="0">
                <a:latin typeface="+mj-lt"/>
                <a:cs typeface="Arial" charset="0"/>
              </a:rPr>
              <a:t>then </a:t>
            </a:r>
            <a:r>
              <a:rPr lang="en-US" sz="2800" i="1" dirty="0">
                <a:latin typeface="+mj-lt"/>
                <a:cs typeface="Arial" charset="0"/>
              </a:rPr>
              <a:t>Q</a:t>
            </a:r>
            <a:r>
              <a:rPr lang="en-US" sz="2800" dirty="0">
                <a:latin typeface="+mj-lt"/>
                <a:cs typeface="Arial" charset="0"/>
              </a:rPr>
              <a:t> = 1, </a:t>
            </a:r>
            <a:r>
              <a:rPr lang="en-US" sz="2800" i="1" dirty="0">
                <a:latin typeface="+mj-lt"/>
                <a:cs typeface="Arial" charset="0"/>
              </a:rPr>
              <a:t>Q</a:t>
            </a:r>
            <a:r>
              <a:rPr lang="en-US" sz="2800" dirty="0">
                <a:latin typeface="+mj-lt"/>
                <a:cs typeface="Arial" charset="0"/>
              </a:rPr>
              <a:t> = 0 (consistent)</a:t>
            </a:r>
          </a:p>
          <a:p>
            <a:pPr lvl="1">
              <a:spcBef>
                <a:spcPct val="20000"/>
              </a:spcBef>
            </a:pPr>
            <a:endParaRPr lang="en-US" sz="2800" dirty="0">
              <a:latin typeface="+mj-lt"/>
              <a:cs typeface="Arial" charset="0"/>
            </a:endParaRPr>
          </a:p>
          <a:p>
            <a:pPr lvl="1">
              <a:spcBef>
                <a:spcPct val="20000"/>
              </a:spcBef>
            </a:pPr>
            <a:endParaRPr lang="en-US" sz="700" dirty="0">
              <a:latin typeface="+mj-lt"/>
              <a:cs typeface="Arial" charset="0"/>
            </a:endParaRPr>
          </a:p>
          <a:p>
            <a:pPr marL="342900" indent="-342900">
              <a:spcBef>
                <a:spcPct val="20000"/>
              </a:spcBef>
              <a:buFontTx/>
              <a:buChar char="•"/>
            </a:pPr>
            <a:r>
              <a:rPr lang="en-US" sz="2600" dirty="0">
                <a:latin typeface="+mj-lt"/>
                <a:cs typeface="Arial" charset="0"/>
              </a:rPr>
              <a:t>Stores 1 bit of state in the state variable, Q (or Q)</a:t>
            </a:r>
          </a:p>
          <a:p>
            <a:pPr marL="342900" indent="-342900">
              <a:spcBef>
                <a:spcPct val="20000"/>
              </a:spcBef>
              <a:buFontTx/>
              <a:buChar char="•"/>
            </a:pPr>
            <a:r>
              <a:rPr lang="en-US" sz="2600" dirty="0">
                <a:latin typeface="+mj-lt"/>
                <a:cs typeface="Arial" charset="0"/>
              </a:rPr>
              <a:t>But there are </a:t>
            </a:r>
            <a:r>
              <a:rPr lang="en-US" sz="2600" b="1" dirty="0">
                <a:solidFill>
                  <a:srgbClr val="C00000"/>
                </a:solidFill>
                <a:latin typeface="+mj-lt"/>
                <a:cs typeface="Arial" charset="0"/>
              </a:rPr>
              <a:t>no inputs to control the state</a:t>
            </a:r>
          </a:p>
        </p:txBody>
      </p:sp>
      <p:sp>
        <p:nvSpPr>
          <p:cNvPr id="969734" name="Line 6"/>
          <p:cNvSpPr>
            <a:spLocks noChangeShapeType="1"/>
          </p:cNvSpPr>
          <p:nvPr>
            <p:custDataLst>
              <p:tags r:id="rId6"/>
            </p:custDataLst>
          </p:nvPr>
        </p:nvSpPr>
        <p:spPr bwMode="auto">
          <a:xfrm>
            <a:off x="2895600" y="2133600"/>
            <a:ext cx="152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9735" name="Line 7"/>
          <p:cNvSpPr>
            <a:spLocks noChangeShapeType="1"/>
          </p:cNvSpPr>
          <p:nvPr>
            <p:custDataLst>
              <p:tags r:id="rId7"/>
            </p:custDataLst>
          </p:nvPr>
        </p:nvSpPr>
        <p:spPr bwMode="auto">
          <a:xfrm>
            <a:off x="2514600" y="2362200"/>
            <a:ext cx="152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9736" name="Line 8"/>
          <p:cNvSpPr>
            <a:spLocks noChangeShapeType="1"/>
          </p:cNvSpPr>
          <p:nvPr>
            <p:custDataLst>
              <p:tags r:id="rId8"/>
            </p:custDataLst>
          </p:nvPr>
        </p:nvSpPr>
        <p:spPr bwMode="auto">
          <a:xfrm>
            <a:off x="7086600" y="4456113"/>
            <a:ext cx="152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TextBox 11"/>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Bistable</a:t>
            </a:r>
            <a:r>
              <a:rPr lang="en-US" sz="4400" dirty="0">
                <a:solidFill>
                  <a:schemeClr val="bg1"/>
                </a:solidFill>
                <a:latin typeface="+mj-lt"/>
              </a:rPr>
              <a:t> Circuit Analysis</a:t>
            </a:r>
          </a:p>
        </p:txBody>
      </p:sp>
      <p:sp>
        <p:nvSpPr>
          <p:cNvPr id="13" name="Line 7"/>
          <p:cNvSpPr>
            <a:spLocks noChangeShapeType="1"/>
          </p:cNvSpPr>
          <p:nvPr>
            <p:custDataLst>
              <p:tags r:id="rId9"/>
            </p:custDataLst>
          </p:nvPr>
        </p:nvSpPr>
        <p:spPr bwMode="auto">
          <a:xfrm>
            <a:off x="2895600" y="3657600"/>
            <a:ext cx="152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Rectangle 10"/>
          <p:cNvSpPr/>
          <p:nvPr/>
        </p:nvSpPr>
        <p:spPr>
          <a:xfrm>
            <a:off x="7696200" y="21336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705600" y="16002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3429000" y="2057400"/>
            <a:ext cx="1981200" cy="53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7696200" y="39624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6705600" y="34290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3352800" y="3505200"/>
            <a:ext cx="2057400" cy="53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Line 7">
            <a:extLst>
              <a:ext uri="{FF2B5EF4-FFF2-40B4-BE49-F238E27FC236}">
                <a16:creationId xmlns:a16="http://schemas.microsoft.com/office/drawing/2014/main" id="{1F98F237-7FAF-4A6B-A244-AD58BD31A946}"/>
              </a:ext>
            </a:extLst>
          </p:cNvPr>
          <p:cNvSpPr>
            <a:spLocks noChangeShapeType="1"/>
          </p:cNvSpPr>
          <p:nvPr>
            <p:custDataLst>
              <p:tags r:id="rId10"/>
            </p:custDataLst>
          </p:nvPr>
        </p:nvSpPr>
        <p:spPr bwMode="auto">
          <a:xfrm>
            <a:off x="7086600" y="4800600"/>
            <a:ext cx="152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3788632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14"/>
                                        </p:tgtEl>
                                      </p:cBhvr>
                                    </p:animEffect>
                                    <p:set>
                                      <p:cBhvr>
                                        <p:cTn id="10" dur="1" fill="hold">
                                          <p:stCondLst>
                                            <p:cond delay="499"/>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grpId="0" nodeType="clickEffect">
                                  <p:stCondLst>
                                    <p:cond delay="0"/>
                                  </p:stCondLst>
                                  <p:childTnLst>
                                    <p:animEffect transition="out" filter="dissolve">
                                      <p:cBhvr>
                                        <p:cTn id="14" dur="500"/>
                                        <p:tgtEl>
                                          <p:spTgt spid="15"/>
                                        </p:tgtEl>
                                      </p:cBhvr>
                                    </p:animEffect>
                                    <p:set>
                                      <p:cBhvr>
                                        <p:cTn id="15" dur="1" fill="hold">
                                          <p:stCondLst>
                                            <p:cond delay="499"/>
                                          </p:stCondLst>
                                        </p:cTn>
                                        <p:tgtEl>
                                          <p:spTgt spid="1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xit" presetSubtype="0" fill="hold" grpId="0" nodeType="clickEffect">
                                  <p:stCondLst>
                                    <p:cond delay="0"/>
                                  </p:stCondLst>
                                  <p:childTnLst>
                                    <p:animEffect transition="out" filter="dissolve">
                                      <p:cBhvr>
                                        <p:cTn id="19" dur="500"/>
                                        <p:tgtEl>
                                          <p:spTgt spid="16"/>
                                        </p:tgtEl>
                                      </p:cBhvr>
                                    </p:animEffect>
                                    <p:set>
                                      <p:cBhvr>
                                        <p:cTn id="20" dur="1" fill="hold">
                                          <p:stCondLst>
                                            <p:cond delay="499"/>
                                          </p:stCondLst>
                                        </p:cTn>
                                        <p:tgtEl>
                                          <p:spTgt spid="16"/>
                                        </p:tgtEl>
                                        <p:attrNameLst>
                                          <p:attrName>style.visibility</p:attrName>
                                        </p:attrNameLst>
                                      </p:cBhvr>
                                      <p:to>
                                        <p:strVal val="hidden"/>
                                      </p:to>
                                    </p:set>
                                  </p:childTnLst>
                                </p:cTn>
                              </p:par>
                              <p:par>
                                <p:cTn id="21" presetID="9" presetClass="exit" presetSubtype="0" fill="hold" grpId="0" nodeType="withEffect">
                                  <p:stCondLst>
                                    <p:cond delay="0"/>
                                  </p:stCondLst>
                                  <p:childTnLst>
                                    <p:animEffect transition="out" filter="dissolve">
                                      <p:cBhvr>
                                        <p:cTn id="22" dur="500"/>
                                        <p:tgtEl>
                                          <p:spTgt spid="17"/>
                                        </p:tgtEl>
                                      </p:cBhvr>
                                    </p:animEffect>
                                    <p:set>
                                      <p:cBhvr>
                                        <p:cTn id="23" dur="1" fill="hold">
                                          <p:stCondLst>
                                            <p:cond delay="499"/>
                                          </p:stCondLst>
                                        </p:cTn>
                                        <p:tgtEl>
                                          <p:spTgt spid="1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grpId="0" nodeType="clickEffect">
                                  <p:stCondLst>
                                    <p:cond delay="0"/>
                                  </p:stCondLst>
                                  <p:childTnLst>
                                    <p:animEffect transition="out" filter="dissolve">
                                      <p:cBhvr>
                                        <p:cTn id="27" dur="500"/>
                                        <p:tgtEl>
                                          <p:spTgt spid="18"/>
                                        </p:tgtEl>
                                      </p:cBhvr>
                                    </p:animEffect>
                                    <p:set>
                                      <p:cBhvr>
                                        <p:cTn id="28"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8708" name="Object 4"/>
          <p:cNvGraphicFramePr>
            <a:graphicFrameLocks noGrp="1" noChangeAspect="1"/>
          </p:cNvGraphicFramePr>
          <p:nvPr>
            <p:ph idx="4294967295"/>
            <p:custDataLst>
              <p:tags r:id="rId2"/>
            </p:custDataLst>
            <p:extLst>
              <p:ext uri="{D42A27DB-BD31-4B8C-83A1-F6EECF244321}">
                <p14:modId xmlns:p14="http://schemas.microsoft.com/office/powerpoint/2010/main" val="2041841066"/>
              </p:ext>
            </p:extLst>
          </p:nvPr>
        </p:nvGraphicFramePr>
        <p:xfrm>
          <a:off x="2893660" y="990600"/>
          <a:ext cx="2821340" cy="2209800"/>
        </p:xfrm>
        <a:graphic>
          <a:graphicData uri="http://schemas.openxmlformats.org/presentationml/2006/ole">
            <mc:AlternateContent xmlns:mc="http://schemas.openxmlformats.org/markup-compatibility/2006">
              <mc:Choice xmlns:v="urn:schemas-microsoft-com:vml" Requires="v">
                <p:oleObj spid="_x0000_s3074" name="VISIO" r:id="rId7" imgW="1057320" imgH="828720" progId="Visio.Drawing.6">
                  <p:embed/>
                </p:oleObj>
              </mc:Choice>
              <mc:Fallback>
                <p:oleObj name="VISIO" r:id="rId7" imgW="1057320" imgH="82872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93660" y="990600"/>
                        <a:ext cx="2821340" cy="2209800"/>
                      </a:xfrm>
                      <a:prstGeom prst="rect">
                        <a:avLst/>
                      </a:prstGeom>
                      <a:noFill/>
                      <a:ln>
                        <a:noFill/>
                      </a:ln>
                      <a:effectLst/>
                    </p:spPr>
                  </p:pic>
                </p:oleObj>
              </mc:Fallback>
            </mc:AlternateContent>
          </a:graphicData>
        </a:graphic>
      </p:graphicFrame>
      <p:sp>
        <p:nvSpPr>
          <p:cNvPr id="968706"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8709" name="Rectangle 5"/>
          <p:cNvSpPr>
            <a:spLocks noChangeArrowheads="1"/>
          </p:cNvSpPr>
          <p:nvPr>
            <p:custDataLst>
              <p:tags r:id="rId4"/>
            </p:custDataLst>
          </p:nvPr>
        </p:nvSpPr>
        <p:spPr bwMode="auto">
          <a:xfrm>
            <a:off x="4572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SR Latch</a:t>
            </a:r>
          </a:p>
          <a:p>
            <a:pPr marL="342900" indent="-342900">
              <a:spcBef>
                <a:spcPct val="20000"/>
              </a:spcBef>
              <a:buFontTx/>
              <a:buChar char="•"/>
            </a:pPr>
            <a:endParaRPr lang="en-US" sz="3200" dirty="0">
              <a:latin typeface="+mj-lt"/>
              <a:cs typeface="Arial" charset="0"/>
            </a:endParaRPr>
          </a:p>
          <a:p>
            <a:pPr>
              <a:spcBef>
                <a:spcPct val="20000"/>
              </a:spcBef>
            </a:pPr>
            <a:endParaRPr lang="en-US" sz="4400" dirty="0">
              <a:latin typeface="+mj-lt"/>
              <a:cs typeface="Arial" charset="0"/>
            </a:endParaRPr>
          </a:p>
          <a:p>
            <a:pPr marL="342900" indent="-342900">
              <a:spcBef>
                <a:spcPct val="20000"/>
              </a:spcBef>
              <a:buFontTx/>
              <a:buChar char="•"/>
            </a:pPr>
            <a:r>
              <a:rPr lang="en-US" sz="3200" dirty="0">
                <a:latin typeface="+mj-lt"/>
                <a:cs typeface="Arial" charset="0"/>
              </a:rPr>
              <a:t>Consider the four possible cases:</a:t>
            </a:r>
          </a:p>
          <a:p>
            <a:pPr marL="742950" lvl="1" indent="-285750">
              <a:spcBef>
                <a:spcPct val="20000"/>
              </a:spcBef>
              <a:buFontTx/>
              <a:buChar char="–"/>
            </a:pPr>
            <a:r>
              <a:rPr lang="en-US" sz="2600" b="1" i="1" dirty="0">
                <a:solidFill>
                  <a:schemeClr val="accent1"/>
                </a:solidFill>
                <a:latin typeface="+mj-lt"/>
                <a:cs typeface="Arial" charset="0"/>
              </a:rPr>
              <a:t>S</a:t>
            </a:r>
            <a:r>
              <a:rPr lang="en-US" sz="2600" b="1" dirty="0">
                <a:solidFill>
                  <a:schemeClr val="accent1"/>
                </a:solidFill>
                <a:latin typeface="+mj-lt"/>
                <a:cs typeface="Arial" charset="0"/>
              </a:rPr>
              <a:t> = 1, </a:t>
            </a:r>
            <a:r>
              <a:rPr lang="en-US" sz="2600" b="1" i="1" dirty="0">
                <a:solidFill>
                  <a:schemeClr val="accent1"/>
                </a:solidFill>
                <a:latin typeface="+mj-lt"/>
                <a:cs typeface="Arial" charset="0"/>
              </a:rPr>
              <a:t>R</a:t>
            </a:r>
            <a:r>
              <a:rPr lang="en-US" sz="2600" b="1" dirty="0">
                <a:solidFill>
                  <a:schemeClr val="accent1"/>
                </a:solidFill>
                <a:latin typeface="+mj-lt"/>
                <a:cs typeface="Arial" charset="0"/>
              </a:rPr>
              <a:t> = 0</a:t>
            </a:r>
          </a:p>
          <a:p>
            <a:pPr marL="742950" lvl="1" indent="-285750">
              <a:spcBef>
                <a:spcPct val="20000"/>
              </a:spcBef>
              <a:buFontTx/>
              <a:buChar char="–"/>
            </a:pPr>
            <a:r>
              <a:rPr lang="en-US" sz="2600" b="1" i="1" dirty="0">
                <a:solidFill>
                  <a:schemeClr val="accent1"/>
                </a:solidFill>
                <a:latin typeface="+mj-lt"/>
                <a:cs typeface="Arial" charset="0"/>
              </a:rPr>
              <a:t>S</a:t>
            </a:r>
            <a:r>
              <a:rPr lang="en-US" sz="2600" b="1" dirty="0">
                <a:solidFill>
                  <a:schemeClr val="accent1"/>
                </a:solidFill>
                <a:latin typeface="+mj-lt"/>
                <a:cs typeface="Arial" charset="0"/>
              </a:rPr>
              <a:t> = 0, </a:t>
            </a:r>
            <a:r>
              <a:rPr lang="en-US" sz="2600" b="1" i="1" dirty="0">
                <a:solidFill>
                  <a:schemeClr val="accent1"/>
                </a:solidFill>
                <a:latin typeface="+mj-lt"/>
                <a:cs typeface="Arial" charset="0"/>
              </a:rPr>
              <a:t>R</a:t>
            </a:r>
            <a:r>
              <a:rPr lang="en-US" sz="2600" b="1" dirty="0">
                <a:solidFill>
                  <a:schemeClr val="accent1"/>
                </a:solidFill>
                <a:latin typeface="+mj-lt"/>
                <a:cs typeface="Arial" charset="0"/>
              </a:rPr>
              <a:t> = 1</a:t>
            </a:r>
          </a:p>
          <a:p>
            <a:pPr marL="742950" lvl="1" indent="-285750">
              <a:spcBef>
                <a:spcPct val="20000"/>
              </a:spcBef>
              <a:buFontTx/>
              <a:buChar char="–"/>
            </a:pPr>
            <a:r>
              <a:rPr lang="en-US" sz="2600" b="1" i="1" dirty="0">
                <a:solidFill>
                  <a:schemeClr val="accent1"/>
                </a:solidFill>
                <a:latin typeface="+mj-lt"/>
                <a:cs typeface="Arial" charset="0"/>
              </a:rPr>
              <a:t>S</a:t>
            </a:r>
            <a:r>
              <a:rPr lang="en-US" sz="2600" b="1" dirty="0">
                <a:solidFill>
                  <a:schemeClr val="accent1"/>
                </a:solidFill>
                <a:latin typeface="+mj-lt"/>
                <a:cs typeface="Arial" charset="0"/>
              </a:rPr>
              <a:t> = 0, </a:t>
            </a:r>
            <a:r>
              <a:rPr lang="en-US" sz="2600" b="1" i="1" dirty="0">
                <a:solidFill>
                  <a:schemeClr val="accent1"/>
                </a:solidFill>
                <a:latin typeface="+mj-lt"/>
                <a:cs typeface="Arial" charset="0"/>
              </a:rPr>
              <a:t>R</a:t>
            </a:r>
            <a:r>
              <a:rPr lang="en-US" sz="2600" b="1" dirty="0">
                <a:solidFill>
                  <a:schemeClr val="accent1"/>
                </a:solidFill>
                <a:latin typeface="+mj-lt"/>
                <a:cs typeface="Arial" charset="0"/>
              </a:rPr>
              <a:t> = 0</a:t>
            </a:r>
          </a:p>
          <a:p>
            <a:pPr marL="742950" lvl="1" indent="-285750">
              <a:spcBef>
                <a:spcPct val="20000"/>
              </a:spcBef>
              <a:buFontTx/>
              <a:buChar char="–"/>
            </a:pPr>
            <a:r>
              <a:rPr lang="en-US" sz="2600" b="1" i="1" dirty="0">
                <a:solidFill>
                  <a:schemeClr val="accent1"/>
                </a:solidFill>
                <a:latin typeface="+mj-lt"/>
                <a:cs typeface="Arial" charset="0"/>
              </a:rPr>
              <a:t>S</a:t>
            </a:r>
            <a:r>
              <a:rPr lang="en-US" sz="2600" b="1" dirty="0">
                <a:solidFill>
                  <a:schemeClr val="accent1"/>
                </a:solidFill>
                <a:latin typeface="+mj-lt"/>
                <a:cs typeface="Arial" charset="0"/>
              </a:rPr>
              <a:t> = 1, </a:t>
            </a:r>
            <a:r>
              <a:rPr lang="en-US" sz="2600" b="1" i="1" dirty="0">
                <a:solidFill>
                  <a:schemeClr val="accent1"/>
                </a:solidFill>
                <a:latin typeface="+mj-lt"/>
                <a:cs typeface="Arial" charset="0"/>
              </a:rPr>
              <a:t>R</a:t>
            </a:r>
            <a:r>
              <a:rPr lang="en-US" sz="2600" b="1" dirty="0">
                <a:solidFill>
                  <a:schemeClr val="accent1"/>
                </a:solidFill>
                <a:latin typeface="+mj-lt"/>
                <a:cs typeface="Arial" charset="0"/>
              </a:rPr>
              <a:t> = 1</a:t>
            </a:r>
          </a:p>
          <a:p>
            <a:pPr marL="342900" indent="-342900">
              <a:spcBef>
                <a:spcPct val="20000"/>
              </a:spcBef>
              <a:buFontTx/>
              <a:buChar char="•"/>
            </a:pPr>
            <a:endParaRPr lang="en-US" sz="2600" b="1" dirty="0">
              <a:solidFill>
                <a:schemeClr val="accent1"/>
              </a:solidFill>
              <a:latin typeface="+mj-lt"/>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SR (Set/Reset) Latch</a:t>
            </a:r>
          </a:p>
        </p:txBody>
      </p:sp>
    </p:spTree>
    <p:extLst>
      <p:ext uri="{BB962C8B-B14F-4D97-AF65-F5344CB8AC3E}">
        <p14:creationId xmlns:p14="http://schemas.microsoft.com/office/powerpoint/2010/main" val="30308084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73828" name="Rectangle 4"/>
          <p:cNvSpPr>
            <a:spLocks noChangeArrowheads="1"/>
          </p:cNvSpPr>
          <p:nvPr>
            <p:custDataLst>
              <p:tags r:id="rId3"/>
            </p:custDataLst>
          </p:nvPr>
        </p:nvSpPr>
        <p:spPr bwMode="auto">
          <a:xfrm>
            <a:off x="4572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742950" lvl="1" indent="-285750">
              <a:spcBef>
                <a:spcPct val="20000"/>
              </a:spcBef>
              <a:buFontTx/>
              <a:buChar char="–"/>
            </a:pPr>
            <a:r>
              <a:rPr lang="en-US" sz="3200" b="1" i="1" dirty="0">
                <a:solidFill>
                  <a:schemeClr val="accent1"/>
                </a:solidFill>
                <a:latin typeface="+mj-lt"/>
                <a:cs typeface="Arial" charset="0"/>
              </a:rPr>
              <a:t>S</a:t>
            </a:r>
            <a:r>
              <a:rPr lang="en-US" sz="3200" b="1" dirty="0">
                <a:solidFill>
                  <a:schemeClr val="accent1"/>
                </a:solidFill>
                <a:latin typeface="+mj-lt"/>
                <a:cs typeface="Arial" charset="0"/>
              </a:rPr>
              <a:t> = 1, </a:t>
            </a:r>
            <a:r>
              <a:rPr lang="en-US" sz="3200" b="1" i="1" dirty="0">
                <a:solidFill>
                  <a:schemeClr val="accent1"/>
                </a:solidFill>
                <a:latin typeface="+mj-lt"/>
                <a:cs typeface="Arial" charset="0"/>
              </a:rPr>
              <a:t>R</a:t>
            </a:r>
            <a:r>
              <a:rPr lang="en-US" sz="3200" b="1" dirty="0">
                <a:solidFill>
                  <a:schemeClr val="accent1"/>
                </a:solidFill>
                <a:latin typeface="+mj-lt"/>
                <a:cs typeface="Arial" charset="0"/>
              </a:rPr>
              <a:t> = 0: </a:t>
            </a:r>
          </a:p>
          <a:p>
            <a:pPr lvl="1">
              <a:spcBef>
                <a:spcPct val="20000"/>
              </a:spcBef>
            </a:pPr>
            <a:r>
              <a:rPr lang="en-US" sz="3200" b="1" dirty="0">
                <a:solidFill>
                  <a:schemeClr val="accent1"/>
                </a:solidFill>
                <a:latin typeface="+mj-lt"/>
                <a:cs typeface="Arial" charset="0"/>
              </a:rPr>
              <a:t>   </a:t>
            </a:r>
            <a:r>
              <a:rPr lang="en-US" sz="3200" dirty="0">
                <a:latin typeface="+mj-lt"/>
                <a:cs typeface="Arial" charset="0"/>
              </a:rPr>
              <a:t>then </a:t>
            </a:r>
            <a:r>
              <a:rPr lang="en-US" sz="3200" i="1" dirty="0">
                <a:latin typeface="+mj-lt"/>
                <a:cs typeface="Arial" charset="0"/>
              </a:rPr>
              <a:t>Q</a:t>
            </a:r>
            <a:r>
              <a:rPr lang="en-US" sz="3200" dirty="0">
                <a:latin typeface="+mj-lt"/>
                <a:cs typeface="Arial" charset="0"/>
              </a:rPr>
              <a:t> = 1 and </a:t>
            </a:r>
            <a:r>
              <a:rPr lang="en-US" sz="3200" i="1" dirty="0">
                <a:latin typeface="+mj-lt"/>
                <a:cs typeface="Arial" charset="0"/>
              </a:rPr>
              <a:t>Q</a:t>
            </a:r>
            <a:r>
              <a:rPr lang="en-US" sz="3200" dirty="0">
                <a:latin typeface="+mj-lt"/>
                <a:cs typeface="Arial" charset="0"/>
              </a:rPr>
              <a:t> = 0</a:t>
            </a:r>
          </a:p>
          <a:p>
            <a:pPr lvl="1">
              <a:spcBef>
                <a:spcPct val="20000"/>
              </a:spcBef>
            </a:pPr>
            <a:r>
              <a:rPr lang="en-US" sz="3200" b="1" i="1" dirty="0">
                <a:solidFill>
                  <a:srgbClr val="C00000"/>
                </a:solidFill>
                <a:latin typeface="+mj-lt"/>
                <a:cs typeface="Arial" charset="0"/>
              </a:rPr>
              <a:t>   Set</a:t>
            </a:r>
            <a:r>
              <a:rPr lang="en-US" sz="3200" b="1" dirty="0">
                <a:solidFill>
                  <a:srgbClr val="C00000"/>
                </a:solidFill>
                <a:latin typeface="+mj-lt"/>
                <a:cs typeface="Arial" charset="0"/>
              </a:rPr>
              <a:t> the output</a:t>
            </a:r>
          </a:p>
          <a:p>
            <a:pPr lvl="1">
              <a:spcBef>
                <a:spcPct val="20000"/>
              </a:spcBef>
            </a:pPr>
            <a:endParaRPr lang="en-US" sz="2000" dirty="0">
              <a:latin typeface="+mj-lt"/>
              <a:cs typeface="Arial" charset="0"/>
            </a:endParaRPr>
          </a:p>
          <a:p>
            <a:pPr marL="742950" lvl="1" indent="-285750">
              <a:spcBef>
                <a:spcPct val="20000"/>
              </a:spcBef>
              <a:buFontTx/>
              <a:buChar char="–"/>
            </a:pPr>
            <a:endParaRPr lang="en-US" sz="2000" dirty="0">
              <a:latin typeface="+mj-lt"/>
              <a:cs typeface="Arial" charset="0"/>
            </a:endParaRPr>
          </a:p>
          <a:p>
            <a:pPr marL="742950" lvl="1" indent="-285750">
              <a:spcBef>
                <a:spcPct val="20000"/>
              </a:spcBef>
              <a:buFontTx/>
              <a:buChar char="–"/>
            </a:pPr>
            <a:r>
              <a:rPr lang="en-US" sz="3200" b="1" i="1" dirty="0">
                <a:solidFill>
                  <a:schemeClr val="accent1"/>
                </a:solidFill>
                <a:latin typeface="+mj-lt"/>
                <a:cs typeface="Arial" charset="0"/>
              </a:rPr>
              <a:t>S</a:t>
            </a:r>
            <a:r>
              <a:rPr lang="en-US" sz="3200" b="1" dirty="0">
                <a:solidFill>
                  <a:schemeClr val="accent1"/>
                </a:solidFill>
                <a:latin typeface="+mj-lt"/>
                <a:cs typeface="Arial" charset="0"/>
              </a:rPr>
              <a:t> = 0, </a:t>
            </a:r>
            <a:r>
              <a:rPr lang="en-US" sz="3200" b="1" i="1" dirty="0">
                <a:solidFill>
                  <a:schemeClr val="accent1"/>
                </a:solidFill>
                <a:latin typeface="+mj-lt"/>
                <a:cs typeface="Arial" charset="0"/>
              </a:rPr>
              <a:t>R</a:t>
            </a:r>
            <a:r>
              <a:rPr lang="en-US" sz="3200" b="1" dirty="0">
                <a:solidFill>
                  <a:schemeClr val="accent1"/>
                </a:solidFill>
                <a:latin typeface="+mj-lt"/>
                <a:cs typeface="Arial" charset="0"/>
              </a:rPr>
              <a:t> = 1: </a:t>
            </a:r>
          </a:p>
          <a:p>
            <a:pPr lvl="1">
              <a:spcBef>
                <a:spcPct val="20000"/>
              </a:spcBef>
            </a:pPr>
            <a:r>
              <a:rPr lang="en-US" sz="3200" dirty="0">
                <a:latin typeface="+mj-lt"/>
                <a:cs typeface="Arial" charset="0"/>
              </a:rPr>
              <a:t>   then </a:t>
            </a:r>
            <a:r>
              <a:rPr lang="en-US" sz="3200" i="1" dirty="0">
                <a:latin typeface="+mj-lt"/>
                <a:cs typeface="Arial" charset="0"/>
              </a:rPr>
              <a:t>Q</a:t>
            </a:r>
            <a:r>
              <a:rPr lang="en-US" sz="3200" dirty="0">
                <a:latin typeface="+mj-lt"/>
                <a:cs typeface="Arial" charset="0"/>
              </a:rPr>
              <a:t> = 0 and </a:t>
            </a:r>
            <a:r>
              <a:rPr lang="en-US" sz="3200" i="1" dirty="0">
                <a:latin typeface="+mj-lt"/>
                <a:cs typeface="Arial" charset="0"/>
              </a:rPr>
              <a:t>Q</a:t>
            </a:r>
            <a:r>
              <a:rPr lang="en-US" sz="3200" dirty="0">
                <a:latin typeface="+mj-lt"/>
                <a:cs typeface="Arial" charset="0"/>
              </a:rPr>
              <a:t> = 1</a:t>
            </a:r>
          </a:p>
          <a:p>
            <a:pPr lvl="1">
              <a:spcBef>
                <a:spcPct val="20000"/>
              </a:spcBef>
            </a:pPr>
            <a:r>
              <a:rPr lang="en-US" sz="3200" b="1" i="1" dirty="0">
                <a:solidFill>
                  <a:srgbClr val="C00000"/>
                </a:solidFill>
                <a:latin typeface="+mj-lt"/>
                <a:cs typeface="Arial" charset="0"/>
              </a:rPr>
              <a:t>   Reset</a:t>
            </a:r>
            <a:r>
              <a:rPr lang="en-US" sz="3200" b="1" dirty="0">
                <a:solidFill>
                  <a:srgbClr val="C00000"/>
                </a:solidFill>
                <a:latin typeface="+mj-lt"/>
                <a:cs typeface="Arial" charset="0"/>
              </a:rPr>
              <a:t> the output</a:t>
            </a:r>
          </a:p>
          <a:p>
            <a:pPr marL="742950" lvl="1" indent="-285750">
              <a:spcBef>
                <a:spcPct val="20000"/>
              </a:spcBef>
              <a:buFontTx/>
              <a:buChar char="–"/>
            </a:pPr>
            <a:endParaRPr lang="en-US" sz="3200" dirty="0">
              <a:latin typeface="+mj-lt"/>
              <a:cs typeface="Arial" charset="0"/>
            </a:endParaRPr>
          </a:p>
          <a:p>
            <a:pPr marL="742950" lvl="1" indent="-285750">
              <a:spcBef>
                <a:spcPct val="20000"/>
              </a:spcBef>
              <a:buFontTx/>
              <a:buChar char="–"/>
            </a:pPr>
            <a:endParaRPr lang="en-US" sz="2000" dirty="0">
              <a:latin typeface="+mj-lt"/>
              <a:cs typeface="Arial" charset="0"/>
            </a:endParaRPr>
          </a:p>
        </p:txBody>
      </p:sp>
      <p:sp>
        <p:nvSpPr>
          <p:cNvPr id="973839" name="Line 15"/>
          <p:cNvSpPr>
            <a:spLocks noChangeShapeType="1"/>
          </p:cNvSpPr>
          <p:nvPr>
            <p:custDataLst>
              <p:tags r:id="rId4"/>
            </p:custDataLst>
          </p:nvPr>
        </p:nvSpPr>
        <p:spPr bwMode="auto">
          <a:xfrm>
            <a:off x="3886200" y="44196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TextBox 10"/>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SR Latch Analysis</a:t>
            </a:r>
          </a:p>
        </p:txBody>
      </p:sp>
      <p:graphicFrame>
        <p:nvGraphicFramePr>
          <p:cNvPr id="3" name="Object 2"/>
          <p:cNvGraphicFramePr>
            <a:graphicFrameLocks noChangeAspect="1"/>
          </p:cNvGraphicFramePr>
          <p:nvPr>
            <p:custDataLst>
              <p:tags r:id="rId5"/>
            </p:custDataLst>
            <p:extLst>
              <p:ext uri="{D42A27DB-BD31-4B8C-83A1-F6EECF244321}">
                <p14:modId xmlns:p14="http://schemas.microsoft.com/office/powerpoint/2010/main" val="1754148455"/>
              </p:ext>
            </p:extLst>
          </p:nvPr>
        </p:nvGraphicFramePr>
        <p:xfrm>
          <a:off x="5638800" y="3505200"/>
          <a:ext cx="2438400" cy="2043112"/>
        </p:xfrm>
        <a:graphic>
          <a:graphicData uri="http://schemas.openxmlformats.org/presentationml/2006/ole">
            <mc:AlternateContent xmlns:mc="http://schemas.openxmlformats.org/markup-compatibility/2006">
              <mc:Choice xmlns:v="urn:schemas-microsoft-com:vml" Requires="v">
                <p:oleObj spid="_x0000_s4098" name="VISIO" r:id="rId10" imgW="1057895" imgH="885396" progId="Visio.Drawing.6">
                  <p:embed/>
                </p:oleObj>
              </mc:Choice>
              <mc:Fallback>
                <p:oleObj name="VISIO" r:id="rId10" imgW="1057895" imgH="885396"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38800" y="3505200"/>
                        <a:ext cx="2438400" cy="2043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pSp>
        <p:nvGrpSpPr>
          <p:cNvPr id="10" name="Group 9"/>
          <p:cNvGrpSpPr/>
          <p:nvPr/>
        </p:nvGrpSpPr>
        <p:grpSpPr>
          <a:xfrm>
            <a:off x="5638800" y="1295400"/>
            <a:ext cx="2438400" cy="2043112"/>
            <a:chOff x="5638800" y="1295400"/>
            <a:chExt cx="2438400" cy="2043112"/>
          </a:xfrm>
        </p:grpSpPr>
        <p:graphicFrame>
          <p:nvGraphicFramePr>
            <p:cNvPr id="12" name="Object 11"/>
            <p:cNvGraphicFramePr>
              <a:graphicFrameLocks noChangeAspect="1"/>
            </p:cNvGraphicFramePr>
            <p:nvPr>
              <p:custDataLst>
                <p:tags r:id="rId7"/>
              </p:custDataLst>
              <p:extLst>
                <p:ext uri="{D42A27DB-BD31-4B8C-83A1-F6EECF244321}">
                  <p14:modId xmlns:p14="http://schemas.microsoft.com/office/powerpoint/2010/main" val="2039635423"/>
                </p:ext>
              </p:extLst>
            </p:nvPr>
          </p:nvGraphicFramePr>
          <p:xfrm>
            <a:off x="5638800" y="1295400"/>
            <a:ext cx="2438400" cy="2043112"/>
          </p:xfrm>
          <a:graphic>
            <a:graphicData uri="http://schemas.openxmlformats.org/presentationml/2006/ole">
              <mc:AlternateContent xmlns:mc="http://schemas.openxmlformats.org/markup-compatibility/2006">
                <mc:Choice xmlns:v="urn:schemas-microsoft-com:vml" Requires="v">
                  <p:oleObj spid="_x0000_s4099" name="Visio" r:id="rId12" imgW="1043980" imgH="876354" progId="Visio.Drawing.11">
                    <p:embed/>
                  </p:oleObj>
                </mc:Choice>
                <mc:Fallback>
                  <p:oleObj name="Visio" r:id="rId12" imgW="1043980" imgH="876354" progId="Visio.Drawing.11">
                    <p:embed/>
                    <p:pic>
                      <p:nvPicPr>
                        <p:cNvPr id="0" name=""/>
                        <p:cNvPicPr>
                          <a:picLocks noChangeAspect="1" noChangeArrowheads="1"/>
                        </p:cNvPicPr>
                        <p:nvPr/>
                      </p:nvPicPr>
                      <p:blipFill>
                        <a:blip r:embed="rId13"/>
                        <a:srcRect/>
                        <a:stretch>
                          <a:fillRect/>
                        </a:stretch>
                      </p:blipFill>
                      <p:spPr bwMode="auto">
                        <a:xfrm>
                          <a:off x="5638800" y="1295400"/>
                          <a:ext cx="2438400" cy="20431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Rectangle 12"/>
            <p:cNvSpPr/>
            <p:nvPr/>
          </p:nvSpPr>
          <p:spPr>
            <a:xfrm>
              <a:off x="6019800" y="2450068"/>
              <a:ext cx="228600" cy="369332"/>
            </a:xfrm>
            <a:prstGeom prst="rect">
              <a:avLst/>
            </a:prstGeom>
            <a:solidFill>
              <a:schemeClr val="bg1"/>
            </a:solidFill>
          </p:spPr>
          <p:txBody>
            <a:bodyPr wrap="square">
              <a:spAutoFit/>
            </a:bodyPr>
            <a:lstStyle/>
            <a:p>
              <a:r>
                <a:rPr lang="en-US" b="1" dirty="0">
                  <a:solidFill>
                    <a:srgbClr val="0606BA"/>
                  </a:solidFill>
                  <a:latin typeface="Times New Roman" panose="02020603050405020304" pitchFamily="18" charset="0"/>
                  <a:cs typeface="Times New Roman" panose="02020603050405020304" pitchFamily="18" charset="0"/>
                </a:rPr>
                <a:t>1</a:t>
              </a:r>
              <a:endParaRPr lang="en-US" dirty="0">
                <a:solidFill>
                  <a:srgbClr val="0606BA"/>
                </a:solidFill>
                <a:latin typeface="Times New Roman" panose="02020603050405020304" pitchFamily="18" charset="0"/>
                <a:cs typeface="Times New Roman" panose="02020603050405020304" pitchFamily="18" charset="0"/>
              </a:endParaRPr>
            </a:p>
          </p:txBody>
        </p:sp>
        <p:sp>
          <p:nvSpPr>
            <p:cNvPr id="15" name="Rectangle 14"/>
            <p:cNvSpPr/>
            <p:nvPr/>
          </p:nvSpPr>
          <p:spPr>
            <a:xfrm>
              <a:off x="6035444" y="2444013"/>
              <a:ext cx="228600" cy="369332"/>
            </a:xfrm>
            <a:prstGeom prst="rect">
              <a:avLst/>
            </a:prstGeom>
            <a:solidFill>
              <a:schemeClr val="bg1"/>
            </a:solidFill>
          </p:spPr>
          <p:txBody>
            <a:bodyPr wrap="square">
              <a:spAutoFit/>
            </a:bodyPr>
            <a:lstStyle/>
            <a:p>
              <a:r>
                <a:rPr lang="en-US" b="1" dirty="0">
                  <a:solidFill>
                    <a:srgbClr val="0070C0"/>
                  </a:solidFill>
                  <a:latin typeface="Times New Roman" panose="02020603050405020304" pitchFamily="18" charset="0"/>
                  <a:cs typeface="Times New Roman" panose="02020603050405020304" pitchFamily="18" charset="0"/>
                </a:rPr>
                <a:t>1</a:t>
              </a:r>
              <a:endParaRPr lang="en-US" dirty="0">
                <a:solidFill>
                  <a:srgbClr val="0070C0"/>
                </a:solidFill>
                <a:latin typeface="Times New Roman" panose="02020603050405020304" pitchFamily="18" charset="0"/>
                <a:cs typeface="Times New Roman" panose="02020603050405020304" pitchFamily="18" charset="0"/>
              </a:endParaRPr>
            </a:p>
          </p:txBody>
        </p:sp>
      </p:grpSp>
      <p:sp>
        <p:nvSpPr>
          <p:cNvPr id="14" name="Line 6"/>
          <p:cNvSpPr>
            <a:spLocks noChangeShapeType="1"/>
          </p:cNvSpPr>
          <p:nvPr>
            <p:custDataLst>
              <p:tags r:id="rId6"/>
            </p:custDataLst>
          </p:nvPr>
        </p:nvSpPr>
        <p:spPr bwMode="auto">
          <a:xfrm>
            <a:off x="3868033" y="1929223"/>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Rectangle 15"/>
          <p:cNvSpPr/>
          <p:nvPr/>
        </p:nvSpPr>
        <p:spPr>
          <a:xfrm>
            <a:off x="7467600" y="25146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6096000" y="1905000"/>
            <a:ext cx="228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7467600" y="14478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6096000" y="24384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2819400" y="1981200"/>
            <a:ext cx="228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4419600" y="1905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1143000" y="2514600"/>
            <a:ext cx="32004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p:nvSpPr>
        <p:spPr>
          <a:xfrm>
            <a:off x="7467600" y="47244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6096000" y="4114800"/>
            <a:ext cx="228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p:nvSpPr>
        <p:spPr>
          <a:xfrm>
            <a:off x="7467600" y="3657600"/>
            <a:ext cx="152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6096000" y="4648200"/>
            <a:ext cx="228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p:nvSpPr>
        <p:spPr>
          <a:xfrm>
            <a:off x="2743200" y="4419600"/>
            <a:ext cx="3048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p:cNvSpPr/>
          <p:nvPr/>
        </p:nvSpPr>
        <p:spPr>
          <a:xfrm>
            <a:off x="4343400" y="44196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29"/>
          <p:cNvSpPr/>
          <p:nvPr/>
        </p:nvSpPr>
        <p:spPr>
          <a:xfrm>
            <a:off x="1066800" y="5029200"/>
            <a:ext cx="32004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20809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8"/>
                                        </p:tgtEl>
                                      </p:cBhvr>
                                    </p:animEffect>
                                    <p:set>
                                      <p:cBhvr>
                                        <p:cTn id="12" dur="1" fill="hold">
                                          <p:stCondLst>
                                            <p:cond delay="499"/>
                                          </p:stCondLst>
                                        </p:cTn>
                                        <p:tgtEl>
                                          <p:spTgt spid="1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9"/>
                                        </p:tgtEl>
                                      </p:cBhvr>
                                    </p:animEffect>
                                    <p:set>
                                      <p:cBhvr>
                                        <p:cTn id="17" dur="1" fill="hold">
                                          <p:stCondLst>
                                            <p:cond delay="499"/>
                                          </p:stCondLst>
                                        </p:cTn>
                                        <p:tgtEl>
                                          <p:spTgt spid="1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20"/>
                                        </p:tgtEl>
                                      </p:cBhvr>
                                    </p:animEffect>
                                    <p:set>
                                      <p:cBhvr>
                                        <p:cTn id="22" dur="1" fill="hold">
                                          <p:stCondLst>
                                            <p:cond delay="499"/>
                                          </p:stCondLst>
                                        </p:cTn>
                                        <p:tgtEl>
                                          <p:spTgt spid="2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21"/>
                                        </p:tgtEl>
                                      </p:cBhvr>
                                    </p:animEffect>
                                    <p:set>
                                      <p:cBhvr>
                                        <p:cTn id="27" dur="1" fill="hold">
                                          <p:stCondLst>
                                            <p:cond delay="499"/>
                                          </p:stCondLst>
                                        </p:cTn>
                                        <p:tgtEl>
                                          <p:spTgt spid="21"/>
                                        </p:tgtEl>
                                        <p:attrNameLst>
                                          <p:attrName>style.visibility</p:attrName>
                                        </p:attrNameLst>
                                      </p:cBhvr>
                                      <p:to>
                                        <p:strVal val="hidden"/>
                                      </p:to>
                                    </p:set>
                                  </p:childTnLst>
                                </p:cTn>
                              </p:par>
                              <p:par>
                                <p:cTn id="28" presetID="9" presetClass="exit" presetSubtype="0" fill="hold" grpId="0" nodeType="withEffect">
                                  <p:stCondLst>
                                    <p:cond delay="0"/>
                                  </p:stCondLst>
                                  <p:childTnLst>
                                    <p:animEffect transition="out" filter="dissolve">
                                      <p:cBhvr>
                                        <p:cTn id="29" dur="500"/>
                                        <p:tgtEl>
                                          <p:spTgt spid="22"/>
                                        </p:tgtEl>
                                      </p:cBhvr>
                                    </p:animEffect>
                                    <p:set>
                                      <p:cBhvr>
                                        <p:cTn id="30" dur="1" fill="hold">
                                          <p:stCondLst>
                                            <p:cond delay="499"/>
                                          </p:stCondLst>
                                        </p:cTn>
                                        <p:tgtEl>
                                          <p:spTgt spid="22"/>
                                        </p:tgtEl>
                                        <p:attrNameLst>
                                          <p:attrName>style.visibility</p:attrName>
                                        </p:attrNameLst>
                                      </p:cBhvr>
                                      <p:to>
                                        <p:strVal val="hidden"/>
                                      </p:to>
                                    </p:set>
                                  </p:childTnLst>
                                </p:cTn>
                              </p:par>
                              <p:par>
                                <p:cTn id="31" presetID="9" presetClass="exit" presetSubtype="0" fill="hold" grpId="0" nodeType="withEffect">
                                  <p:stCondLst>
                                    <p:cond delay="0"/>
                                  </p:stCondLst>
                                  <p:childTnLst>
                                    <p:animEffect transition="out" filter="dissolve">
                                      <p:cBhvr>
                                        <p:cTn id="32" dur="500"/>
                                        <p:tgtEl>
                                          <p:spTgt spid="23"/>
                                        </p:tgtEl>
                                      </p:cBhvr>
                                    </p:animEffect>
                                    <p:set>
                                      <p:cBhvr>
                                        <p:cTn id="33" dur="1" fill="hold">
                                          <p:stCondLst>
                                            <p:cond delay="499"/>
                                          </p:stCondLst>
                                        </p:cTn>
                                        <p:tgtEl>
                                          <p:spTgt spid="23"/>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9" presetClass="exit" presetSubtype="0" fill="hold" grpId="0" nodeType="clickEffect">
                                  <p:stCondLst>
                                    <p:cond delay="0"/>
                                  </p:stCondLst>
                                  <p:childTnLst>
                                    <p:animEffect transition="out" filter="dissolve">
                                      <p:cBhvr>
                                        <p:cTn id="37" dur="500"/>
                                        <p:tgtEl>
                                          <p:spTgt spid="26"/>
                                        </p:tgtEl>
                                      </p:cBhvr>
                                    </p:animEffect>
                                    <p:set>
                                      <p:cBhvr>
                                        <p:cTn id="38" dur="1" fill="hold">
                                          <p:stCondLst>
                                            <p:cond delay="499"/>
                                          </p:stCondLst>
                                        </p:cTn>
                                        <p:tgtEl>
                                          <p:spTgt spid="2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9" presetClass="exit" presetSubtype="0" fill="hold" grpId="0" nodeType="clickEffect">
                                  <p:stCondLst>
                                    <p:cond delay="0"/>
                                  </p:stCondLst>
                                  <p:childTnLst>
                                    <p:animEffect transition="out" filter="dissolve">
                                      <p:cBhvr>
                                        <p:cTn id="42" dur="500"/>
                                        <p:tgtEl>
                                          <p:spTgt spid="27"/>
                                        </p:tgtEl>
                                      </p:cBhvr>
                                    </p:animEffect>
                                    <p:set>
                                      <p:cBhvr>
                                        <p:cTn id="43" dur="1" fill="hold">
                                          <p:stCondLst>
                                            <p:cond delay="499"/>
                                          </p:stCondLst>
                                        </p:cTn>
                                        <p:tgtEl>
                                          <p:spTgt spid="2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9" presetClass="exit" presetSubtype="0" fill="hold" grpId="0" nodeType="clickEffect">
                                  <p:stCondLst>
                                    <p:cond delay="0"/>
                                  </p:stCondLst>
                                  <p:childTnLst>
                                    <p:animEffect transition="out" filter="dissolve">
                                      <p:cBhvr>
                                        <p:cTn id="47" dur="500"/>
                                        <p:tgtEl>
                                          <p:spTgt spid="24"/>
                                        </p:tgtEl>
                                      </p:cBhvr>
                                    </p:animEffect>
                                    <p:set>
                                      <p:cBhvr>
                                        <p:cTn id="48" dur="1" fill="hold">
                                          <p:stCondLst>
                                            <p:cond delay="499"/>
                                          </p:stCondLst>
                                        </p:cTn>
                                        <p:tgtEl>
                                          <p:spTgt spid="2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9" presetClass="exit" presetSubtype="0" fill="hold" grpId="0" nodeType="clickEffect">
                                  <p:stCondLst>
                                    <p:cond delay="0"/>
                                  </p:stCondLst>
                                  <p:childTnLst>
                                    <p:animEffect transition="out" filter="dissolve">
                                      <p:cBhvr>
                                        <p:cTn id="52" dur="500"/>
                                        <p:tgtEl>
                                          <p:spTgt spid="25"/>
                                        </p:tgtEl>
                                      </p:cBhvr>
                                    </p:animEffect>
                                    <p:set>
                                      <p:cBhvr>
                                        <p:cTn id="53" dur="1" fill="hold">
                                          <p:stCondLst>
                                            <p:cond delay="499"/>
                                          </p:stCondLst>
                                        </p:cTn>
                                        <p:tgtEl>
                                          <p:spTgt spid="25"/>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9" presetClass="exit" presetSubtype="0" fill="hold" grpId="0" nodeType="clickEffect">
                                  <p:stCondLst>
                                    <p:cond delay="0"/>
                                  </p:stCondLst>
                                  <p:childTnLst>
                                    <p:animEffect transition="out" filter="dissolve">
                                      <p:cBhvr>
                                        <p:cTn id="57" dur="500"/>
                                        <p:tgtEl>
                                          <p:spTgt spid="28"/>
                                        </p:tgtEl>
                                      </p:cBhvr>
                                    </p:animEffect>
                                    <p:set>
                                      <p:cBhvr>
                                        <p:cTn id="58" dur="1" fill="hold">
                                          <p:stCondLst>
                                            <p:cond delay="499"/>
                                          </p:stCondLst>
                                        </p:cTn>
                                        <p:tgtEl>
                                          <p:spTgt spid="28"/>
                                        </p:tgtEl>
                                        <p:attrNameLst>
                                          <p:attrName>style.visibility</p:attrName>
                                        </p:attrNameLst>
                                      </p:cBhvr>
                                      <p:to>
                                        <p:strVal val="hidden"/>
                                      </p:to>
                                    </p:set>
                                  </p:childTnLst>
                                </p:cTn>
                              </p:par>
                              <p:par>
                                <p:cTn id="59" presetID="9" presetClass="exit" presetSubtype="0" fill="hold" grpId="0" nodeType="withEffect">
                                  <p:stCondLst>
                                    <p:cond delay="0"/>
                                  </p:stCondLst>
                                  <p:childTnLst>
                                    <p:animEffect transition="out" filter="dissolve">
                                      <p:cBhvr>
                                        <p:cTn id="60" dur="500"/>
                                        <p:tgtEl>
                                          <p:spTgt spid="29"/>
                                        </p:tgtEl>
                                      </p:cBhvr>
                                    </p:animEffect>
                                    <p:set>
                                      <p:cBhvr>
                                        <p:cTn id="61" dur="1" fill="hold">
                                          <p:stCondLst>
                                            <p:cond delay="499"/>
                                          </p:stCondLst>
                                        </p:cTn>
                                        <p:tgtEl>
                                          <p:spTgt spid="29"/>
                                        </p:tgtEl>
                                        <p:attrNameLst>
                                          <p:attrName>style.visibility</p:attrName>
                                        </p:attrNameLst>
                                      </p:cBhvr>
                                      <p:to>
                                        <p:strVal val="hidden"/>
                                      </p:to>
                                    </p:set>
                                  </p:childTnLst>
                                </p:cTn>
                              </p:par>
                              <p:par>
                                <p:cTn id="62" presetID="9" presetClass="exit" presetSubtype="0" fill="hold" grpId="0" nodeType="withEffect">
                                  <p:stCondLst>
                                    <p:cond delay="0"/>
                                  </p:stCondLst>
                                  <p:childTnLst>
                                    <p:animEffect transition="out" filter="dissolve">
                                      <p:cBhvr>
                                        <p:cTn id="63" dur="500"/>
                                        <p:tgtEl>
                                          <p:spTgt spid="30"/>
                                        </p:tgtEl>
                                      </p:cBhvr>
                                    </p:animEffect>
                                    <p:set>
                                      <p:cBhvr>
                                        <p:cTn id="64"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4861" name="Object 13"/>
          <p:cNvGraphicFramePr>
            <a:graphicFrameLocks noGrp="1" noChangeAspect="1"/>
          </p:cNvGraphicFramePr>
          <p:nvPr>
            <p:ph sz="half" idx="4294967295"/>
            <p:custDataLst>
              <p:tags r:id="rId2"/>
            </p:custDataLst>
            <p:extLst>
              <p:ext uri="{D42A27DB-BD31-4B8C-83A1-F6EECF244321}">
                <p14:modId xmlns:p14="http://schemas.microsoft.com/office/powerpoint/2010/main" val="1468728704"/>
              </p:ext>
            </p:extLst>
          </p:nvPr>
        </p:nvGraphicFramePr>
        <p:xfrm>
          <a:off x="3962400" y="916532"/>
          <a:ext cx="5943600" cy="2664868"/>
        </p:xfrm>
        <a:graphic>
          <a:graphicData uri="http://schemas.openxmlformats.org/presentationml/2006/ole">
            <mc:AlternateContent xmlns:mc="http://schemas.openxmlformats.org/markup-compatibility/2006">
              <mc:Choice xmlns:v="urn:schemas-microsoft-com:vml" Requires="v">
                <p:oleObj spid="_x0000_s5122" name="VISIO" r:id="rId9" imgW="2486160" imgH="1114560" progId="Visio.Drawing.6">
                  <p:embed/>
                </p:oleObj>
              </mc:Choice>
              <mc:Fallback>
                <p:oleObj name="VISIO" r:id="rId9" imgW="2486160" imgH="1114560" progId="Visio.Drawing.6">
                  <p:embed/>
                  <p:pic>
                    <p:nvPicPr>
                      <p:cNvPr id="0" name=""/>
                      <p:cNvPicPr>
                        <a:picLocks noChangeAspect="1" noChangeArrowheads="1"/>
                      </p:cNvPicPr>
                      <p:nvPr/>
                    </p:nvPicPr>
                    <p:blipFill>
                      <a:blip r:embed="rId10"/>
                      <a:srcRect/>
                      <a:stretch>
                        <a:fillRect/>
                      </a:stretch>
                    </p:blipFill>
                    <p:spPr bwMode="auto">
                      <a:xfrm>
                        <a:off x="3962400" y="916532"/>
                        <a:ext cx="5943600" cy="2664868"/>
                      </a:xfrm>
                      <a:prstGeom prst="rect">
                        <a:avLst/>
                      </a:prstGeom>
                      <a:noFill/>
                      <a:ln>
                        <a:noFill/>
                      </a:ln>
                      <a:effectLst/>
                    </p:spPr>
                  </p:pic>
                </p:oleObj>
              </mc:Fallback>
            </mc:AlternateContent>
          </a:graphicData>
        </a:graphic>
      </p:graphicFrame>
      <p:sp>
        <p:nvSpPr>
          <p:cNvPr id="974852" name="Rectangle 4"/>
          <p:cNvSpPr>
            <a:spLocks noChangeArrowheads="1"/>
          </p:cNvSpPr>
          <p:nvPr>
            <p:custDataLst>
              <p:tags r:id="rId3"/>
            </p:custDataLst>
          </p:nvPr>
        </p:nvSpPr>
        <p:spPr bwMode="auto">
          <a:xfrm>
            <a:off x="152400" y="9906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742950" lvl="1" indent="-285750">
              <a:buFontTx/>
              <a:buChar char="–"/>
            </a:pPr>
            <a:r>
              <a:rPr lang="en-US" sz="3200" b="1" i="1" dirty="0">
                <a:solidFill>
                  <a:schemeClr val="accent1"/>
                </a:solidFill>
                <a:latin typeface="+mj-lt"/>
                <a:cs typeface="Arial" charset="0"/>
              </a:rPr>
              <a:t>S</a:t>
            </a:r>
            <a:r>
              <a:rPr lang="en-US" sz="3200" b="1" dirty="0">
                <a:solidFill>
                  <a:schemeClr val="accent1"/>
                </a:solidFill>
                <a:latin typeface="+mj-lt"/>
                <a:cs typeface="Arial" charset="0"/>
              </a:rPr>
              <a:t> = 0, </a:t>
            </a:r>
            <a:r>
              <a:rPr lang="en-US" sz="3200" b="1" i="1" dirty="0">
                <a:solidFill>
                  <a:schemeClr val="accent1"/>
                </a:solidFill>
                <a:latin typeface="+mj-lt"/>
                <a:cs typeface="Arial" charset="0"/>
              </a:rPr>
              <a:t>R</a:t>
            </a:r>
            <a:r>
              <a:rPr lang="en-US" sz="3200" b="1" dirty="0">
                <a:solidFill>
                  <a:schemeClr val="accent1"/>
                </a:solidFill>
                <a:latin typeface="+mj-lt"/>
                <a:cs typeface="Arial" charset="0"/>
              </a:rPr>
              <a:t> = 0: </a:t>
            </a:r>
          </a:p>
          <a:p>
            <a:pPr lvl="1"/>
            <a:r>
              <a:rPr lang="en-US" sz="3200" b="1" dirty="0">
                <a:solidFill>
                  <a:schemeClr val="accent1"/>
                </a:solidFill>
                <a:latin typeface="+mj-lt"/>
                <a:cs typeface="Arial" charset="0"/>
              </a:rPr>
              <a:t>   </a:t>
            </a:r>
            <a:r>
              <a:rPr lang="en-US" sz="3200" dirty="0">
                <a:latin typeface="+mj-lt"/>
                <a:cs typeface="Arial" charset="0"/>
              </a:rPr>
              <a:t>then </a:t>
            </a:r>
            <a:r>
              <a:rPr lang="en-US" sz="3200" i="1" dirty="0">
                <a:latin typeface="+mj-lt"/>
                <a:cs typeface="Arial" charset="0"/>
              </a:rPr>
              <a:t>Q</a:t>
            </a:r>
            <a:r>
              <a:rPr lang="en-US" sz="3200" dirty="0">
                <a:latin typeface="+mj-lt"/>
                <a:cs typeface="Arial" charset="0"/>
              </a:rPr>
              <a:t> = </a:t>
            </a:r>
            <a:r>
              <a:rPr lang="en-US" sz="3200" i="1" dirty="0" err="1">
                <a:latin typeface="+mj-lt"/>
                <a:cs typeface="Arial" charset="0"/>
              </a:rPr>
              <a:t>Q</a:t>
            </a:r>
            <a:r>
              <a:rPr lang="en-US" sz="3200" i="1" baseline="-25000" dirty="0" err="1">
                <a:latin typeface="+mj-lt"/>
                <a:cs typeface="Arial" charset="0"/>
              </a:rPr>
              <a:t>prev</a:t>
            </a:r>
            <a:endParaRPr lang="en-US" sz="3200" i="1" baseline="-25000" dirty="0">
              <a:latin typeface="+mj-lt"/>
              <a:cs typeface="Arial" charset="0"/>
            </a:endParaRPr>
          </a:p>
          <a:p>
            <a:pPr lvl="1"/>
            <a:r>
              <a:rPr lang="en-US" sz="3200" b="1" dirty="0">
                <a:solidFill>
                  <a:srgbClr val="C00000"/>
                </a:solidFill>
                <a:latin typeface="+mj-lt"/>
                <a:cs typeface="Arial" charset="0"/>
              </a:rPr>
              <a:t>   Memory!</a:t>
            </a:r>
          </a:p>
          <a:p>
            <a:pPr marL="742950" lvl="1" indent="-285750">
              <a:buFontTx/>
              <a:buChar char="–"/>
            </a:pPr>
            <a:endParaRPr lang="en-US" sz="3200" dirty="0">
              <a:latin typeface="+mj-lt"/>
              <a:cs typeface="Arial" charset="0"/>
            </a:endParaRPr>
          </a:p>
          <a:p>
            <a:pPr lvl="1"/>
            <a:endParaRPr lang="en-US" sz="3200" dirty="0">
              <a:latin typeface="+mj-lt"/>
              <a:cs typeface="Arial" charset="0"/>
            </a:endParaRPr>
          </a:p>
          <a:p>
            <a:pPr marL="742950" lvl="1" indent="-285750">
              <a:buFontTx/>
              <a:buChar char="–"/>
            </a:pPr>
            <a:r>
              <a:rPr lang="en-US" sz="3200" b="1" i="1" dirty="0">
                <a:solidFill>
                  <a:schemeClr val="accent1"/>
                </a:solidFill>
                <a:latin typeface="+mj-lt"/>
                <a:cs typeface="Arial" charset="0"/>
              </a:rPr>
              <a:t>S</a:t>
            </a:r>
            <a:r>
              <a:rPr lang="en-US" sz="3200" b="1" dirty="0">
                <a:solidFill>
                  <a:schemeClr val="accent1"/>
                </a:solidFill>
                <a:latin typeface="+mj-lt"/>
                <a:cs typeface="Arial" charset="0"/>
              </a:rPr>
              <a:t> = 1, </a:t>
            </a:r>
            <a:r>
              <a:rPr lang="en-US" sz="3200" b="1" i="1" dirty="0">
                <a:solidFill>
                  <a:schemeClr val="accent1"/>
                </a:solidFill>
                <a:latin typeface="+mj-lt"/>
                <a:cs typeface="Arial" charset="0"/>
              </a:rPr>
              <a:t>R</a:t>
            </a:r>
            <a:r>
              <a:rPr lang="en-US" sz="3200" b="1" dirty="0">
                <a:solidFill>
                  <a:schemeClr val="accent1"/>
                </a:solidFill>
                <a:latin typeface="+mj-lt"/>
                <a:cs typeface="Arial" charset="0"/>
              </a:rPr>
              <a:t> = 1: </a:t>
            </a:r>
          </a:p>
          <a:p>
            <a:pPr lvl="1"/>
            <a:r>
              <a:rPr lang="en-US" sz="3200" b="1" dirty="0">
                <a:solidFill>
                  <a:schemeClr val="accent1"/>
                </a:solidFill>
                <a:latin typeface="+mj-lt"/>
                <a:cs typeface="Arial" charset="0"/>
              </a:rPr>
              <a:t>   </a:t>
            </a:r>
            <a:r>
              <a:rPr lang="en-US" sz="3200" dirty="0">
                <a:latin typeface="+mj-lt"/>
                <a:cs typeface="Arial" charset="0"/>
              </a:rPr>
              <a:t>then </a:t>
            </a:r>
            <a:r>
              <a:rPr lang="en-US" sz="3200" i="1" dirty="0">
                <a:latin typeface="+mj-lt"/>
                <a:cs typeface="Arial" charset="0"/>
              </a:rPr>
              <a:t>Q</a:t>
            </a:r>
            <a:r>
              <a:rPr lang="en-US" sz="3200" dirty="0">
                <a:latin typeface="+mj-lt"/>
                <a:cs typeface="Arial" charset="0"/>
              </a:rPr>
              <a:t> = 0, </a:t>
            </a:r>
            <a:r>
              <a:rPr lang="en-US" sz="3200" i="1" dirty="0">
                <a:latin typeface="+mj-lt"/>
                <a:cs typeface="Arial" charset="0"/>
              </a:rPr>
              <a:t>Q</a:t>
            </a:r>
            <a:r>
              <a:rPr lang="en-US" sz="3200" dirty="0">
                <a:latin typeface="+mj-lt"/>
                <a:cs typeface="Arial" charset="0"/>
              </a:rPr>
              <a:t> = 0</a:t>
            </a:r>
            <a:endParaRPr lang="en-US" sz="3200" i="1" dirty="0">
              <a:latin typeface="+mj-lt"/>
              <a:cs typeface="Times New Roman" pitchFamily="18" charset="0"/>
            </a:endParaRPr>
          </a:p>
          <a:p>
            <a:pPr lvl="1"/>
            <a:r>
              <a:rPr lang="en-US" sz="3200" b="1" dirty="0">
                <a:solidFill>
                  <a:srgbClr val="C00000"/>
                </a:solidFill>
                <a:latin typeface="+mj-lt"/>
                <a:cs typeface="Arial" charset="0"/>
              </a:rPr>
              <a:t>   Invalid State</a:t>
            </a:r>
          </a:p>
          <a:p>
            <a:pPr lvl="1"/>
            <a:r>
              <a:rPr lang="en-US" sz="3200" i="1" dirty="0">
                <a:latin typeface="+mj-lt"/>
                <a:cs typeface="Arial" charset="0"/>
              </a:rPr>
              <a:t>   </a:t>
            </a:r>
            <a:r>
              <a:rPr lang="en-US" sz="3200" i="1" dirty="0">
                <a:solidFill>
                  <a:srgbClr val="C00000"/>
                </a:solidFill>
                <a:latin typeface="+mj-lt"/>
                <a:cs typeface="Arial" charset="0"/>
              </a:rPr>
              <a:t>Q </a:t>
            </a:r>
            <a:r>
              <a:rPr lang="en-US" sz="3200" dirty="0">
                <a:solidFill>
                  <a:srgbClr val="C00000"/>
                </a:solidFill>
                <a:latin typeface="+mj-lt"/>
                <a:cs typeface="Arial" charset="0"/>
              </a:rPr>
              <a:t>≠ NOT </a:t>
            </a:r>
            <a:r>
              <a:rPr lang="en-US" sz="3200" i="1" dirty="0">
                <a:solidFill>
                  <a:srgbClr val="C00000"/>
                </a:solidFill>
                <a:latin typeface="+mj-lt"/>
                <a:cs typeface="Arial" charset="0"/>
              </a:rPr>
              <a:t>Q</a:t>
            </a:r>
            <a:endParaRPr lang="en-US" sz="3200" b="1" dirty="0">
              <a:solidFill>
                <a:srgbClr val="C00000"/>
              </a:solidFill>
              <a:latin typeface="+mj-lt"/>
              <a:cs typeface="Arial" charset="0"/>
            </a:endParaRPr>
          </a:p>
          <a:p>
            <a:pPr marL="742950" lvl="1" indent="-285750">
              <a:buFontTx/>
              <a:buChar char="–"/>
            </a:pPr>
            <a:endParaRPr lang="en-US" sz="2000" dirty="0">
              <a:latin typeface="+mj-lt"/>
              <a:cs typeface="Arial" charset="0"/>
            </a:endParaRPr>
          </a:p>
          <a:p>
            <a:pPr marL="742950" lvl="1" indent="-285750"/>
            <a:endParaRPr lang="en-US" sz="2000" dirty="0">
              <a:latin typeface="+mj-lt"/>
              <a:cs typeface="Arial" charset="0"/>
            </a:endParaRPr>
          </a:p>
          <a:p>
            <a:pPr marL="742950" lvl="1" indent="-285750"/>
            <a:endParaRPr lang="en-US" sz="2000" dirty="0">
              <a:latin typeface="+mj-lt"/>
              <a:cs typeface="Arial" charset="0"/>
            </a:endParaRPr>
          </a:p>
        </p:txBody>
      </p:sp>
      <p:sp>
        <p:nvSpPr>
          <p:cNvPr id="974857" name="Line 9"/>
          <p:cNvSpPr>
            <a:spLocks noChangeShapeType="1"/>
          </p:cNvSpPr>
          <p:nvPr>
            <p:custDataLst>
              <p:tags r:id="rId4"/>
            </p:custDataLst>
          </p:nvPr>
        </p:nvSpPr>
        <p:spPr bwMode="auto">
          <a:xfrm>
            <a:off x="2971800" y="4038600"/>
            <a:ext cx="152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SR Latch Analysis</a:t>
            </a:r>
          </a:p>
        </p:txBody>
      </p:sp>
      <p:graphicFrame>
        <p:nvGraphicFramePr>
          <p:cNvPr id="2" name="Object 1"/>
          <p:cNvGraphicFramePr>
            <a:graphicFrameLocks noChangeAspect="1"/>
          </p:cNvGraphicFramePr>
          <p:nvPr>
            <p:custDataLst>
              <p:tags r:id="rId5"/>
            </p:custDataLst>
            <p:extLst>
              <p:ext uri="{D42A27DB-BD31-4B8C-83A1-F6EECF244321}">
                <p14:modId xmlns:p14="http://schemas.microsoft.com/office/powerpoint/2010/main" val="4270872376"/>
              </p:ext>
            </p:extLst>
          </p:nvPr>
        </p:nvGraphicFramePr>
        <p:xfrm>
          <a:off x="3962400" y="3733800"/>
          <a:ext cx="2514600" cy="2106196"/>
        </p:xfrm>
        <a:graphic>
          <a:graphicData uri="http://schemas.openxmlformats.org/presentationml/2006/ole">
            <mc:AlternateContent xmlns:mc="http://schemas.openxmlformats.org/markup-compatibility/2006">
              <mc:Choice xmlns:v="urn:schemas-microsoft-com:vml" Requires="v">
                <p:oleObj spid="_x0000_s5123" name="VISIO" r:id="rId11" imgW="1057895" imgH="885396" progId="Visio.Drawing.6">
                  <p:embed/>
                </p:oleObj>
              </mc:Choice>
              <mc:Fallback>
                <p:oleObj name="VISIO" r:id="rId11" imgW="1057895" imgH="885396" progId="Visio.Drawing.6">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62400" y="3733800"/>
                        <a:ext cx="2514600" cy="2106196"/>
                      </a:xfrm>
                      <a:prstGeom prst="rect">
                        <a:avLst/>
                      </a:prstGeom>
                      <a:noFill/>
                      <a:ln>
                        <a:noFill/>
                      </a:ln>
                      <a:effectLst/>
                    </p:spPr>
                  </p:pic>
                </p:oleObj>
              </mc:Fallback>
            </mc:AlternateContent>
          </a:graphicData>
        </a:graphic>
      </p:graphicFrame>
      <p:sp>
        <p:nvSpPr>
          <p:cNvPr id="11" name="Line 9"/>
          <p:cNvSpPr>
            <a:spLocks noChangeShapeType="1"/>
          </p:cNvSpPr>
          <p:nvPr>
            <p:custDataLst>
              <p:tags r:id="rId6"/>
            </p:custDataLst>
          </p:nvPr>
        </p:nvSpPr>
        <p:spPr bwMode="auto">
          <a:xfrm>
            <a:off x="2556989" y="5011034"/>
            <a:ext cx="152400" cy="0"/>
          </a:xfrm>
          <a:prstGeom prst="line">
            <a:avLst/>
          </a:prstGeom>
          <a:noFill/>
          <a:ln w="9525">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TextBox 7"/>
          <p:cNvSpPr txBox="1"/>
          <p:nvPr/>
        </p:nvSpPr>
        <p:spPr>
          <a:xfrm>
            <a:off x="8305800" y="1676400"/>
            <a:ext cx="304800" cy="400110"/>
          </a:xfrm>
          <a:prstGeom prst="rect">
            <a:avLst/>
          </a:prstGeom>
          <a:noFill/>
        </p:spPr>
        <p:txBody>
          <a:bodyPr wrap="square" rtlCol="0">
            <a:spAutoFit/>
          </a:bodyPr>
          <a:lstStyle/>
          <a:p>
            <a:r>
              <a:rPr lang="de-DE" sz="2000" dirty="0">
                <a:solidFill>
                  <a:srgbClr val="0606BA"/>
                </a:solidFill>
                <a:latin typeface="Ariel"/>
              </a:rPr>
              <a:t>1</a:t>
            </a:r>
            <a:endParaRPr lang="en-US" sz="2000" dirty="0">
              <a:solidFill>
                <a:srgbClr val="0606BA"/>
              </a:solidFill>
              <a:latin typeface="Ariel"/>
            </a:endParaRPr>
          </a:p>
        </p:txBody>
      </p:sp>
      <p:sp>
        <p:nvSpPr>
          <p:cNvPr id="10" name="Rectangle 9"/>
          <p:cNvSpPr/>
          <p:nvPr/>
        </p:nvSpPr>
        <p:spPr>
          <a:xfrm>
            <a:off x="914400" y="2133600"/>
            <a:ext cx="32004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685800" y="4419600"/>
            <a:ext cx="3200400" cy="990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07413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7932" name="Object 12"/>
          <p:cNvGraphicFramePr>
            <a:graphicFrameLocks noGrp="1" noChangeAspect="1"/>
          </p:cNvGraphicFramePr>
          <p:nvPr>
            <p:ph idx="4294967295"/>
            <p:custDataLst>
              <p:tags r:id="rId2"/>
            </p:custDataLst>
            <p:extLst>
              <p:ext uri="{D42A27DB-BD31-4B8C-83A1-F6EECF244321}">
                <p14:modId xmlns:p14="http://schemas.microsoft.com/office/powerpoint/2010/main" val="3255824957"/>
              </p:ext>
            </p:extLst>
          </p:nvPr>
        </p:nvGraphicFramePr>
        <p:xfrm>
          <a:off x="6019800" y="2667000"/>
          <a:ext cx="2743200" cy="2655888"/>
        </p:xfrm>
        <a:graphic>
          <a:graphicData uri="http://schemas.openxmlformats.org/presentationml/2006/ole">
            <mc:AlternateContent xmlns:mc="http://schemas.openxmlformats.org/markup-compatibility/2006">
              <mc:Choice xmlns:v="urn:schemas-microsoft-com:vml" Requires="v">
                <p:oleObj spid="_x0000_s6146" name="VISIO" r:id="rId6" imgW="885960" imgH="857880" progId="Visio.Drawing.6">
                  <p:embed/>
                </p:oleObj>
              </mc:Choice>
              <mc:Fallback>
                <p:oleObj name="VISIO" r:id="rId6" imgW="885960" imgH="85788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9800" y="2667000"/>
                        <a:ext cx="2743200" cy="2655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7923" name="Rectangle 3"/>
          <p:cNvSpPr>
            <a:spLocks noChangeArrowheads="1"/>
          </p:cNvSpPr>
          <p:nvPr>
            <p:custDataLst>
              <p:tags r:id="rId3"/>
            </p:custDataLst>
          </p:nvPr>
        </p:nvSpPr>
        <p:spPr bwMode="auto">
          <a:xfrm>
            <a:off x="381000" y="9906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buFontTx/>
              <a:buChar char="•"/>
            </a:pPr>
            <a:r>
              <a:rPr lang="en-US" sz="3200" dirty="0">
                <a:latin typeface="+mj-lt"/>
                <a:cs typeface="Arial" charset="0"/>
              </a:rPr>
              <a:t>SR stands for Set/Reset Latch</a:t>
            </a:r>
          </a:p>
          <a:p>
            <a:pPr marL="742950" lvl="1" indent="-285750">
              <a:buFontTx/>
              <a:buChar char="–"/>
            </a:pPr>
            <a:r>
              <a:rPr lang="en-US" sz="2600" dirty="0">
                <a:latin typeface="+mj-lt"/>
                <a:cs typeface="Arial" charset="0"/>
              </a:rPr>
              <a:t>Stores one bit of state (</a:t>
            </a:r>
            <a:r>
              <a:rPr lang="en-US" sz="2600" i="1" dirty="0">
                <a:latin typeface="+mj-lt"/>
                <a:cs typeface="Arial" charset="0"/>
              </a:rPr>
              <a:t>Q</a:t>
            </a:r>
            <a:r>
              <a:rPr lang="en-US" sz="2600" dirty="0">
                <a:latin typeface="+mj-lt"/>
                <a:cs typeface="Arial" charset="0"/>
              </a:rPr>
              <a:t>)</a:t>
            </a:r>
          </a:p>
          <a:p>
            <a:pPr marL="342900" indent="-342900">
              <a:buFontTx/>
              <a:buChar char="•"/>
            </a:pPr>
            <a:r>
              <a:rPr lang="en-US" sz="3200" dirty="0">
                <a:latin typeface="+mj-lt"/>
                <a:cs typeface="Arial" charset="0"/>
              </a:rPr>
              <a:t>Control what value is being stored with </a:t>
            </a:r>
            <a:r>
              <a:rPr lang="en-US" sz="3200" i="1" dirty="0">
                <a:latin typeface="+mj-lt"/>
                <a:cs typeface="Arial" charset="0"/>
              </a:rPr>
              <a:t>S</a:t>
            </a:r>
            <a:r>
              <a:rPr lang="en-US" sz="3200" dirty="0">
                <a:latin typeface="+mj-lt"/>
                <a:cs typeface="Arial" charset="0"/>
              </a:rPr>
              <a:t>, </a:t>
            </a:r>
            <a:r>
              <a:rPr lang="en-US" sz="3200" i="1" dirty="0">
                <a:latin typeface="+mj-lt"/>
                <a:cs typeface="Arial" charset="0"/>
              </a:rPr>
              <a:t>R</a:t>
            </a:r>
            <a:r>
              <a:rPr lang="en-US" sz="3200" dirty="0">
                <a:latin typeface="+mj-lt"/>
                <a:cs typeface="Arial" charset="0"/>
              </a:rPr>
              <a:t> inputs</a:t>
            </a:r>
          </a:p>
          <a:p>
            <a:pPr marL="742950" lvl="1" indent="-285750">
              <a:buFontTx/>
              <a:buChar char="–"/>
            </a:pPr>
            <a:r>
              <a:rPr lang="en-US" sz="3200" b="1" dirty="0">
                <a:solidFill>
                  <a:schemeClr val="accent1"/>
                </a:solidFill>
                <a:latin typeface="+mj-lt"/>
                <a:cs typeface="Arial" charset="0"/>
              </a:rPr>
              <a:t>Set: </a:t>
            </a:r>
            <a:r>
              <a:rPr lang="en-US" sz="3200" dirty="0">
                <a:latin typeface="+mj-lt"/>
                <a:cs typeface="Arial" charset="0"/>
              </a:rPr>
              <a:t>Make the output 1 </a:t>
            </a:r>
          </a:p>
          <a:p>
            <a:pPr lvl="1"/>
            <a:r>
              <a:rPr lang="en-US" sz="3200" dirty="0">
                <a:latin typeface="+mj-lt"/>
                <a:cs typeface="Arial" charset="0"/>
              </a:rPr>
              <a:t>   (</a:t>
            </a:r>
            <a:r>
              <a:rPr lang="en-US" sz="3200" i="1" dirty="0">
                <a:latin typeface="+mj-lt"/>
                <a:cs typeface="Arial" charset="0"/>
              </a:rPr>
              <a:t>S </a:t>
            </a:r>
            <a:r>
              <a:rPr lang="en-US" sz="3200" dirty="0">
                <a:latin typeface="+mj-lt"/>
                <a:cs typeface="Arial" charset="0"/>
              </a:rPr>
              <a:t>= 1, </a:t>
            </a:r>
            <a:r>
              <a:rPr lang="en-US" sz="3200" i="1" dirty="0">
                <a:latin typeface="+mj-lt"/>
                <a:cs typeface="Arial" charset="0"/>
              </a:rPr>
              <a:t>R </a:t>
            </a:r>
            <a:r>
              <a:rPr lang="en-US" sz="3200" dirty="0">
                <a:latin typeface="+mj-lt"/>
                <a:cs typeface="Arial" charset="0"/>
              </a:rPr>
              <a:t>= 0, </a:t>
            </a:r>
            <a:r>
              <a:rPr lang="en-US" sz="3200" i="1" dirty="0">
                <a:latin typeface="+mj-lt"/>
                <a:cs typeface="Arial" charset="0"/>
              </a:rPr>
              <a:t>Q</a:t>
            </a:r>
            <a:r>
              <a:rPr lang="en-US" sz="3200" dirty="0">
                <a:latin typeface="+mj-lt"/>
                <a:cs typeface="Arial" charset="0"/>
              </a:rPr>
              <a:t> = </a:t>
            </a:r>
            <a:r>
              <a:rPr lang="en-US" sz="3200" b="1" dirty="0">
                <a:solidFill>
                  <a:schemeClr val="accent1"/>
                </a:solidFill>
                <a:latin typeface="+mj-lt"/>
                <a:cs typeface="Arial" charset="0"/>
              </a:rPr>
              <a:t>1</a:t>
            </a:r>
            <a:r>
              <a:rPr lang="en-US" sz="3200" dirty="0">
                <a:latin typeface="+mj-lt"/>
                <a:cs typeface="Arial" charset="0"/>
              </a:rPr>
              <a:t>)</a:t>
            </a:r>
          </a:p>
          <a:p>
            <a:pPr marL="742950" lvl="1" indent="-285750">
              <a:buFontTx/>
              <a:buChar char="–"/>
            </a:pPr>
            <a:r>
              <a:rPr lang="en-US" sz="3200" b="1" dirty="0">
                <a:solidFill>
                  <a:schemeClr val="accent1"/>
                </a:solidFill>
                <a:latin typeface="+mj-lt"/>
                <a:cs typeface="Arial" charset="0"/>
              </a:rPr>
              <a:t>Reset: </a:t>
            </a:r>
            <a:r>
              <a:rPr lang="en-US" sz="3200" dirty="0">
                <a:latin typeface="+mj-lt"/>
                <a:cs typeface="Arial" charset="0"/>
              </a:rPr>
              <a:t>Make the output 0 </a:t>
            </a:r>
          </a:p>
          <a:p>
            <a:pPr lvl="1"/>
            <a:r>
              <a:rPr lang="en-US" sz="3200" dirty="0">
                <a:latin typeface="+mj-lt"/>
                <a:cs typeface="Arial" charset="0"/>
              </a:rPr>
              <a:t>   (</a:t>
            </a:r>
            <a:r>
              <a:rPr lang="en-US" sz="3200" i="1" dirty="0">
                <a:latin typeface="+mj-lt"/>
                <a:cs typeface="Arial" charset="0"/>
              </a:rPr>
              <a:t>S </a:t>
            </a:r>
            <a:r>
              <a:rPr lang="en-US" sz="3200" dirty="0">
                <a:latin typeface="+mj-lt"/>
                <a:cs typeface="Arial" charset="0"/>
              </a:rPr>
              <a:t>= 0, </a:t>
            </a:r>
            <a:r>
              <a:rPr lang="en-US" sz="3200" i="1" dirty="0">
                <a:latin typeface="+mj-lt"/>
                <a:cs typeface="Arial" charset="0"/>
              </a:rPr>
              <a:t>R </a:t>
            </a:r>
            <a:r>
              <a:rPr lang="en-US" sz="3200" dirty="0">
                <a:latin typeface="+mj-lt"/>
                <a:cs typeface="Arial" charset="0"/>
              </a:rPr>
              <a:t>= 1, </a:t>
            </a:r>
            <a:r>
              <a:rPr lang="en-US" sz="3200" i="1" dirty="0">
                <a:latin typeface="+mj-lt"/>
                <a:cs typeface="Arial" charset="0"/>
              </a:rPr>
              <a:t>Q</a:t>
            </a:r>
            <a:r>
              <a:rPr lang="en-US" sz="3200" dirty="0">
                <a:latin typeface="+mj-lt"/>
                <a:cs typeface="Arial" charset="0"/>
              </a:rPr>
              <a:t> = </a:t>
            </a:r>
            <a:r>
              <a:rPr lang="en-US" sz="3200" b="1" dirty="0">
                <a:solidFill>
                  <a:schemeClr val="accent1"/>
                </a:solidFill>
                <a:latin typeface="+mj-lt"/>
                <a:cs typeface="Arial" charset="0"/>
              </a:rPr>
              <a:t>0</a:t>
            </a:r>
            <a:r>
              <a:rPr lang="en-US" sz="3200" dirty="0">
                <a:latin typeface="+mj-lt"/>
                <a:cs typeface="Arial" charset="0"/>
              </a:rPr>
              <a:t>)</a:t>
            </a:r>
          </a:p>
          <a:p>
            <a:pPr marL="342900" indent="-342900">
              <a:buFontTx/>
              <a:buChar char="•"/>
            </a:pPr>
            <a:r>
              <a:rPr lang="en-US" sz="3200" b="1" dirty="0">
                <a:solidFill>
                  <a:srgbClr val="C00000"/>
                </a:solidFill>
                <a:latin typeface="+mj-lt"/>
                <a:cs typeface="Arial" charset="0"/>
              </a:rPr>
              <a:t>Avoid invalid state </a:t>
            </a:r>
          </a:p>
          <a:p>
            <a:r>
              <a:rPr lang="en-US" sz="3200" b="1" dirty="0">
                <a:solidFill>
                  <a:srgbClr val="C00000"/>
                </a:solidFill>
                <a:latin typeface="+mj-lt"/>
                <a:cs typeface="Arial" charset="0"/>
              </a:rPr>
              <a:t>	(when </a:t>
            </a:r>
            <a:r>
              <a:rPr lang="en-US" sz="3200" b="1" i="1" dirty="0">
                <a:solidFill>
                  <a:srgbClr val="C00000"/>
                </a:solidFill>
                <a:latin typeface="+mj-lt"/>
                <a:cs typeface="Arial" charset="0"/>
              </a:rPr>
              <a:t>S</a:t>
            </a:r>
            <a:r>
              <a:rPr lang="en-US" sz="3200" b="1" dirty="0">
                <a:solidFill>
                  <a:srgbClr val="C00000"/>
                </a:solidFill>
                <a:latin typeface="+mj-lt"/>
                <a:cs typeface="Arial" charset="0"/>
              </a:rPr>
              <a:t> = </a:t>
            </a:r>
            <a:r>
              <a:rPr lang="en-US" sz="3200" b="1" i="1" dirty="0">
                <a:solidFill>
                  <a:srgbClr val="C00000"/>
                </a:solidFill>
                <a:latin typeface="+mj-lt"/>
                <a:cs typeface="Arial" charset="0"/>
              </a:rPr>
              <a:t>R</a:t>
            </a:r>
            <a:r>
              <a:rPr lang="en-US" sz="3200" b="1" dirty="0">
                <a:solidFill>
                  <a:srgbClr val="C00000"/>
                </a:solidFill>
                <a:latin typeface="+mj-lt"/>
                <a:cs typeface="Arial" charset="0"/>
              </a:rPr>
              <a:t> = 1)</a:t>
            </a:r>
          </a:p>
          <a:p>
            <a:pPr marL="342900" indent="-342900"/>
            <a:endParaRPr lang="en-US" sz="2400" b="1" i="1" baseline="-25000" dirty="0">
              <a:solidFill>
                <a:srgbClr val="FF3300"/>
              </a:solidFill>
              <a:latin typeface="+mj-lt"/>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SR Latch Symbol</a:t>
            </a:r>
          </a:p>
        </p:txBody>
      </p:sp>
    </p:spTree>
    <p:extLst>
      <p:ext uri="{BB962C8B-B14F-4D97-AF65-F5344CB8AC3E}">
        <p14:creationId xmlns:p14="http://schemas.microsoft.com/office/powerpoint/2010/main" val="338355236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9493" name="Object 5"/>
          <p:cNvGraphicFramePr>
            <a:graphicFrameLocks noGrp="1" noChangeAspect="1"/>
          </p:cNvGraphicFramePr>
          <p:nvPr>
            <p:ph sz="half" idx="4294967295"/>
            <p:custDataLst>
              <p:tags r:id="rId2"/>
            </p:custDataLst>
            <p:extLst>
              <p:ext uri="{D42A27DB-BD31-4B8C-83A1-F6EECF244321}">
                <p14:modId xmlns:p14="http://schemas.microsoft.com/office/powerpoint/2010/main" val="3400918576"/>
              </p:ext>
            </p:extLst>
          </p:nvPr>
        </p:nvGraphicFramePr>
        <p:xfrm>
          <a:off x="6422505" y="2819400"/>
          <a:ext cx="2752725" cy="2841625"/>
        </p:xfrm>
        <a:graphic>
          <a:graphicData uri="http://schemas.openxmlformats.org/presentationml/2006/ole">
            <mc:AlternateContent xmlns:mc="http://schemas.openxmlformats.org/markup-compatibility/2006">
              <mc:Choice xmlns:v="urn:schemas-microsoft-com:vml" Requires="v">
                <p:oleObj spid="_x0000_s7170" name="VISIO" r:id="rId8" imgW="885960" imgH="913680" progId="Visio.Drawing.6">
                  <p:embed/>
                </p:oleObj>
              </mc:Choice>
              <mc:Fallback>
                <p:oleObj name="VISIO" r:id="rId8" imgW="885960" imgH="91368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22505" y="2819400"/>
                        <a:ext cx="2752725" cy="2841625"/>
                      </a:xfrm>
                      <a:prstGeom prst="rect">
                        <a:avLst/>
                      </a:prstGeom>
                    </p:spPr>
                  </p:pic>
                </p:oleObj>
              </mc:Fallback>
            </mc:AlternateContent>
          </a:graphicData>
        </a:graphic>
      </p:graphicFrame>
      <p:sp>
        <p:nvSpPr>
          <p:cNvPr id="959490"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59494" name="Rectangle 6"/>
          <p:cNvSpPr>
            <a:spLocks noChangeArrowheads="1"/>
          </p:cNvSpPr>
          <p:nvPr>
            <p:custDataLst>
              <p:tags r:id="rId4"/>
            </p:custDataLst>
          </p:nvPr>
        </p:nvSpPr>
        <p:spPr bwMode="auto">
          <a:xfrm>
            <a:off x="685800" y="1066800"/>
            <a:ext cx="83820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buFontTx/>
              <a:buChar char="•"/>
            </a:pPr>
            <a:r>
              <a:rPr lang="en-US" sz="3200" dirty="0">
                <a:latin typeface="+mj-lt"/>
                <a:cs typeface="Arial" charset="0"/>
              </a:rPr>
              <a:t>Two inputs: </a:t>
            </a:r>
            <a:r>
              <a:rPr lang="en-US" sz="3200" i="1" dirty="0">
                <a:latin typeface="+mj-lt"/>
                <a:cs typeface="Arial" charset="0"/>
              </a:rPr>
              <a:t>CLK</a:t>
            </a:r>
            <a:r>
              <a:rPr lang="en-US" sz="3200" dirty="0">
                <a:latin typeface="+mj-lt"/>
                <a:cs typeface="Arial" charset="0"/>
              </a:rPr>
              <a:t>, </a:t>
            </a:r>
            <a:r>
              <a:rPr lang="en-US" sz="3200" i="1" dirty="0">
                <a:latin typeface="+mj-lt"/>
                <a:cs typeface="Arial" charset="0"/>
              </a:rPr>
              <a:t>D</a:t>
            </a:r>
          </a:p>
          <a:p>
            <a:pPr marL="742950" lvl="1" indent="-285750">
              <a:buFontTx/>
              <a:buChar char="–"/>
            </a:pPr>
            <a:r>
              <a:rPr lang="en-US" sz="2600" b="1" i="1" dirty="0">
                <a:solidFill>
                  <a:schemeClr val="accent1"/>
                </a:solidFill>
                <a:latin typeface="+mj-lt"/>
                <a:cs typeface="Arial" charset="0"/>
              </a:rPr>
              <a:t>CLK</a:t>
            </a:r>
            <a:r>
              <a:rPr lang="en-US" sz="2600" b="1" dirty="0">
                <a:solidFill>
                  <a:schemeClr val="accent1"/>
                </a:solidFill>
                <a:latin typeface="+mj-lt"/>
                <a:cs typeface="Arial" charset="0"/>
              </a:rPr>
              <a:t>:</a:t>
            </a:r>
            <a:r>
              <a:rPr lang="en-US" sz="2600" dirty="0">
                <a:solidFill>
                  <a:schemeClr val="accent1"/>
                </a:solidFill>
                <a:latin typeface="+mj-lt"/>
                <a:cs typeface="Arial" charset="0"/>
              </a:rPr>
              <a:t> </a:t>
            </a:r>
            <a:r>
              <a:rPr lang="en-US" sz="2600" dirty="0">
                <a:latin typeface="+mj-lt"/>
                <a:cs typeface="Arial" charset="0"/>
              </a:rPr>
              <a:t>controls </a:t>
            </a:r>
            <a:r>
              <a:rPr lang="en-US" sz="2600" i="1" dirty="0">
                <a:latin typeface="+mj-lt"/>
                <a:cs typeface="Arial" charset="0"/>
              </a:rPr>
              <a:t>when</a:t>
            </a:r>
            <a:r>
              <a:rPr lang="en-US" sz="2600" dirty="0">
                <a:latin typeface="+mj-lt"/>
                <a:cs typeface="Arial" charset="0"/>
              </a:rPr>
              <a:t> the output changes</a:t>
            </a:r>
          </a:p>
          <a:p>
            <a:pPr marL="742950" lvl="1" indent="-285750">
              <a:buFontTx/>
              <a:buChar char="–"/>
            </a:pPr>
            <a:r>
              <a:rPr lang="en-US" sz="2600" b="1" i="1" dirty="0">
                <a:solidFill>
                  <a:schemeClr val="accent1"/>
                </a:solidFill>
                <a:latin typeface="+mj-lt"/>
                <a:cs typeface="Arial" charset="0"/>
              </a:rPr>
              <a:t>D</a:t>
            </a:r>
            <a:r>
              <a:rPr lang="en-US" sz="2600" dirty="0">
                <a:latin typeface="+mj-lt"/>
                <a:cs typeface="Arial" charset="0"/>
              </a:rPr>
              <a:t> (the data input): controls </a:t>
            </a:r>
            <a:r>
              <a:rPr lang="en-US" sz="2600" i="1" dirty="0">
                <a:latin typeface="+mj-lt"/>
                <a:cs typeface="Arial" charset="0"/>
              </a:rPr>
              <a:t>what</a:t>
            </a:r>
            <a:r>
              <a:rPr lang="en-US" sz="2600" dirty="0">
                <a:latin typeface="+mj-lt"/>
                <a:cs typeface="Arial" charset="0"/>
              </a:rPr>
              <a:t> the output changes to</a:t>
            </a:r>
          </a:p>
          <a:p>
            <a:pPr marL="342900" indent="-342900">
              <a:buFontTx/>
              <a:buChar char="•"/>
            </a:pPr>
            <a:r>
              <a:rPr lang="en-US" sz="3200" dirty="0">
                <a:latin typeface="+mj-lt"/>
                <a:cs typeface="Arial" charset="0"/>
              </a:rPr>
              <a:t>Function</a:t>
            </a:r>
          </a:p>
          <a:p>
            <a:pPr marL="742950" lvl="1" indent="-285750">
              <a:buFontTx/>
              <a:buChar char="–"/>
            </a:pPr>
            <a:r>
              <a:rPr lang="en-US" sz="2600" dirty="0">
                <a:latin typeface="+mj-lt"/>
                <a:cs typeface="Arial" charset="0"/>
              </a:rPr>
              <a:t>When </a:t>
            </a:r>
            <a:r>
              <a:rPr lang="en-US" sz="2600" b="1" i="1" dirty="0">
                <a:latin typeface="+mj-lt"/>
                <a:cs typeface="Arial" charset="0"/>
              </a:rPr>
              <a:t>CLK</a:t>
            </a:r>
            <a:r>
              <a:rPr lang="en-US" sz="2600" b="1" dirty="0">
                <a:latin typeface="+mj-lt"/>
                <a:cs typeface="Arial" charset="0"/>
              </a:rPr>
              <a:t> = 1</a:t>
            </a:r>
            <a:r>
              <a:rPr lang="en-US" sz="2600" dirty="0">
                <a:latin typeface="+mj-lt"/>
                <a:cs typeface="Arial" charset="0"/>
              </a:rPr>
              <a:t>, </a:t>
            </a:r>
          </a:p>
          <a:p>
            <a:pPr lvl="1"/>
            <a:r>
              <a:rPr lang="en-US" sz="2600" i="1" dirty="0">
                <a:latin typeface="+mj-lt"/>
                <a:cs typeface="Arial" charset="0"/>
              </a:rPr>
              <a:t>   D</a:t>
            </a:r>
            <a:r>
              <a:rPr lang="en-US" sz="2600" dirty="0">
                <a:latin typeface="+mj-lt"/>
                <a:cs typeface="Arial" charset="0"/>
              </a:rPr>
              <a:t> passes through to </a:t>
            </a:r>
            <a:r>
              <a:rPr lang="en-US" sz="2600" i="1" dirty="0">
                <a:latin typeface="+mj-lt"/>
                <a:cs typeface="Arial" charset="0"/>
              </a:rPr>
              <a:t>Q </a:t>
            </a:r>
            <a:r>
              <a:rPr lang="en-US" sz="2600" dirty="0">
                <a:latin typeface="+mj-lt"/>
                <a:cs typeface="Arial" charset="0"/>
              </a:rPr>
              <a:t>(</a:t>
            </a:r>
            <a:r>
              <a:rPr lang="en-US" sz="2600" i="1" dirty="0">
                <a:latin typeface="+mj-lt"/>
                <a:cs typeface="Arial" charset="0"/>
              </a:rPr>
              <a:t>transparent</a:t>
            </a:r>
            <a:r>
              <a:rPr lang="en-US" sz="2600" dirty="0">
                <a:latin typeface="+mj-lt"/>
                <a:cs typeface="Arial" charset="0"/>
              </a:rPr>
              <a:t>)</a:t>
            </a:r>
            <a:endParaRPr lang="en-US" sz="2600" i="1" dirty="0">
              <a:latin typeface="+mj-lt"/>
              <a:cs typeface="Arial" charset="0"/>
            </a:endParaRPr>
          </a:p>
          <a:p>
            <a:pPr marL="742950" lvl="1" indent="-285750">
              <a:buFontTx/>
              <a:buChar char="–"/>
            </a:pPr>
            <a:r>
              <a:rPr lang="en-US" sz="2600" dirty="0">
                <a:latin typeface="+mj-lt"/>
                <a:cs typeface="Arial" charset="0"/>
              </a:rPr>
              <a:t>When </a:t>
            </a:r>
            <a:r>
              <a:rPr lang="en-US" sz="2600" b="1" i="1" dirty="0">
                <a:latin typeface="+mj-lt"/>
                <a:cs typeface="Arial" charset="0"/>
              </a:rPr>
              <a:t>CLK</a:t>
            </a:r>
            <a:r>
              <a:rPr lang="en-US" sz="2600" b="1" dirty="0">
                <a:latin typeface="+mj-lt"/>
                <a:cs typeface="Arial" charset="0"/>
              </a:rPr>
              <a:t> = 0</a:t>
            </a:r>
            <a:r>
              <a:rPr lang="en-US" sz="2600" dirty="0">
                <a:latin typeface="+mj-lt"/>
                <a:cs typeface="Arial" charset="0"/>
              </a:rPr>
              <a:t>, </a:t>
            </a:r>
          </a:p>
          <a:p>
            <a:pPr lvl="1"/>
            <a:r>
              <a:rPr lang="en-US" sz="2600" i="1" dirty="0">
                <a:latin typeface="+mj-lt"/>
                <a:cs typeface="Arial" charset="0"/>
              </a:rPr>
              <a:t>   Q</a:t>
            </a:r>
            <a:r>
              <a:rPr lang="en-US" sz="2600" dirty="0">
                <a:latin typeface="+mj-lt"/>
                <a:cs typeface="Arial" charset="0"/>
              </a:rPr>
              <a:t> holds its previous value (</a:t>
            </a:r>
            <a:r>
              <a:rPr lang="en-US" sz="2600" i="1" dirty="0">
                <a:latin typeface="+mj-lt"/>
                <a:cs typeface="Arial" charset="0"/>
              </a:rPr>
              <a:t>opaque</a:t>
            </a:r>
            <a:r>
              <a:rPr lang="en-US" sz="2600" dirty="0">
                <a:latin typeface="+mj-lt"/>
                <a:cs typeface="Arial" charset="0"/>
              </a:rPr>
              <a:t>)</a:t>
            </a:r>
            <a:endParaRPr lang="en-US" sz="2600" i="1" baseline="-25000" dirty="0">
              <a:latin typeface="+mj-lt"/>
              <a:cs typeface="Arial" charset="0"/>
            </a:endParaRPr>
          </a:p>
          <a:p>
            <a:pPr marL="342900" indent="-342900">
              <a:buFontTx/>
              <a:buChar char="•"/>
            </a:pPr>
            <a:r>
              <a:rPr lang="en-US" sz="3200" dirty="0">
                <a:latin typeface="+mj-lt"/>
                <a:cs typeface="Arial" charset="0"/>
              </a:rPr>
              <a:t>Avoids invalid case when </a:t>
            </a:r>
          </a:p>
          <a:p>
            <a:r>
              <a:rPr lang="en-US" sz="3200" i="1" dirty="0">
                <a:latin typeface="+mj-lt"/>
                <a:cs typeface="Arial" charset="0"/>
              </a:rPr>
              <a:t>   Q </a:t>
            </a:r>
            <a:r>
              <a:rPr lang="en-US" sz="3200" dirty="0">
                <a:latin typeface="+mj-lt"/>
                <a:cs typeface="Arial" charset="0"/>
              </a:rPr>
              <a:t>≠ NOT </a:t>
            </a:r>
            <a:r>
              <a:rPr lang="en-US" sz="3200" i="1" dirty="0">
                <a:latin typeface="+mj-lt"/>
                <a:cs typeface="Arial" charset="0"/>
              </a:rPr>
              <a:t>Q</a:t>
            </a:r>
          </a:p>
        </p:txBody>
      </p:sp>
      <p:sp>
        <p:nvSpPr>
          <p:cNvPr id="959495" name="Line 7"/>
          <p:cNvSpPr>
            <a:spLocks noChangeShapeType="1"/>
          </p:cNvSpPr>
          <p:nvPr>
            <p:custDataLst>
              <p:tags r:id="rId5"/>
            </p:custDataLst>
          </p:nvPr>
        </p:nvSpPr>
        <p:spPr bwMode="auto">
          <a:xfrm>
            <a:off x="2590800" y="50292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 Latch</a:t>
            </a:r>
          </a:p>
        </p:txBody>
      </p:sp>
    </p:spTree>
    <p:extLst>
      <p:ext uri="{BB962C8B-B14F-4D97-AF65-F5344CB8AC3E}">
        <p14:creationId xmlns:p14="http://schemas.microsoft.com/office/powerpoint/2010/main" val="52756852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0516" name="Object 4"/>
          <p:cNvGraphicFramePr>
            <a:graphicFrameLocks noGrp="1" noChangeAspect="1"/>
          </p:cNvGraphicFramePr>
          <p:nvPr>
            <p:ph sz="quarter" idx="4294967295"/>
            <p:custDataLst>
              <p:tags r:id="rId2"/>
            </p:custDataLst>
            <p:extLst>
              <p:ext uri="{D42A27DB-BD31-4B8C-83A1-F6EECF244321}">
                <p14:modId xmlns:p14="http://schemas.microsoft.com/office/powerpoint/2010/main" val="2595315146"/>
              </p:ext>
            </p:extLst>
          </p:nvPr>
        </p:nvGraphicFramePr>
        <p:xfrm>
          <a:off x="1143000" y="1295400"/>
          <a:ext cx="4953000" cy="1693863"/>
        </p:xfrm>
        <a:graphic>
          <a:graphicData uri="http://schemas.openxmlformats.org/presentationml/2006/ole">
            <mc:AlternateContent xmlns:mc="http://schemas.openxmlformats.org/markup-compatibility/2006">
              <mc:Choice xmlns:v="urn:schemas-microsoft-com:vml" Requires="v">
                <p:oleObj spid="_x0000_s8194" name="VISIO" r:id="rId8" imgW="1836720" imgH="657360" progId="Visio.Drawing.6">
                  <p:embed/>
                </p:oleObj>
              </mc:Choice>
              <mc:Fallback>
                <p:oleObj name="VISIO" r:id="rId8" imgW="1836720" imgH="65736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3000" y="1295400"/>
                        <a:ext cx="4953000" cy="16938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0517" name="Object 5"/>
          <p:cNvGraphicFramePr>
            <a:graphicFrameLocks noGrp="1" noChangeAspect="1"/>
          </p:cNvGraphicFramePr>
          <p:nvPr>
            <p:ph sz="half" idx="4294967295"/>
            <p:custDataLst>
              <p:tags r:id="rId3"/>
            </p:custDataLst>
            <p:extLst>
              <p:ext uri="{D42A27DB-BD31-4B8C-83A1-F6EECF244321}">
                <p14:modId xmlns:p14="http://schemas.microsoft.com/office/powerpoint/2010/main" val="699947184"/>
              </p:ext>
            </p:extLst>
          </p:nvPr>
        </p:nvGraphicFramePr>
        <p:xfrm>
          <a:off x="6553200" y="1295400"/>
          <a:ext cx="1677987" cy="1966913"/>
        </p:xfrm>
        <a:graphic>
          <a:graphicData uri="http://schemas.openxmlformats.org/presentationml/2006/ole">
            <mc:AlternateContent xmlns:mc="http://schemas.openxmlformats.org/markup-compatibility/2006">
              <mc:Choice xmlns:v="urn:schemas-microsoft-com:vml" Requires="v">
                <p:oleObj spid="_x0000_s8195" name="VISIO" r:id="rId10" imgW="491760" imgH="603000" progId="Visio.Drawing.6">
                  <p:embed/>
                </p:oleObj>
              </mc:Choice>
              <mc:Fallback>
                <p:oleObj name="VISIO" r:id="rId10" imgW="491760" imgH="60300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53200" y="1295400"/>
                        <a:ext cx="1677987" cy="1966913"/>
                      </a:xfrm>
                      <a:prstGeom prst="rect">
                        <a:avLst/>
                      </a:prstGeom>
                    </p:spPr>
                  </p:pic>
                </p:oleObj>
              </mc:Fallback>
            </mc:AlternateContent>
          </a:graphicData>
        </a:graphic>
      </p:graphicFrame>
      <p:graphicFrame>
        <p:nvGraphicFramePr>
          <p:cNvPr id="960518" name="Object 6"/>
          <p:cNvGraphicFramePr>
            <a:graphicFrameLocks noGrp="1" noChangeAspect="1"/>
          </p:cNvGraphicFramePr>
          <p:nvPr>
            <p:ph sz="quarter" idx="4294967295"/>
            <p:custDataLst>
              <p:tags r:id="rId4"/>
            </p:custDataLst>
            <p:extLst>
              <p:ext uri="{D42A27DB-BD31-4B8C-83A1-F6EECF244321}">
                <p14:modId xmlns:p14="http://schemas.microsoft.com/office/powerpoint/2010/main" val="2803635112"/>
              </p:ext>
            </p:extLst>
          </p:nvPr>
        </p:nvGraphicFramePr>
        <p:xfrm>
          <a:off x="1562100" y="3506787"/>
          <a:ext cx="6019800" cy="1979613"/>
        </p:xfrm>
        <a:graphic>
          <a:graphicData uri="http://schemas.openxmlformats.org/presentationml/2006/ole">
            <mc:AlternateContent xmlns:mc="http://schemas.openxmlformats.org/markup-compatibility/2006">
              <mc:Choice xmlns:v="urn:schemas-microsoft-com:vml" Requires="v">
                <p:oleObj spid="_x0000_s8196" name="VISIO" r:id="rId12" imgW="1857240" imgH="637920" progId="Visio.Drawing.6">
                  <p:embed/>
                </p:oleObj>
              </mc:Choice>
              <mc:Fallback>
                <p:oleObj name="VISIO" r:id="rId12" imgW="1857240" imgH="637920" progId="Visio.Drawing.6">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62100" y="3506787"/>
                        <a:ext cx="6019800" cy="1979613"/>
                      </a:xfrm>
                      <a:prstGeom prst="rect">
                        <a:avLst/>
                      </a:prstGeom>
                    </p:spPr>
                  </p:pic>
                </p:oleObj>
              </mc:Fallback>
            </mc:AlternateContent>
          </a:graphicData>
        </a:graphic>
      </p:graphicFrame>
      <p:sp>
        <p:nvSpPr>
          <p:cNvPr id="960514" name="Rectangle 2"/>
          <p:cNvSpPr>
            <a:spLocks noChangeArrowheads="1"/>
          </p:cNvSpPr>
          <p:nvPr>
            <p:custDataLst>
              <p:tags r:id="rId5"/>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 Latch Internal Circuit</a:t>
            </a:r>
          </a:p>
        </p:txBody>
      </p:sp>
      <p:sp>
        <p:nvSpPr>
          <p:cNvPr id="7" name="Rectangle 6"/>
          <p:cNvSpPr/>
          <p:nvPr/>
        </p:nvSpPr>
        <p:spPr>
          <a:xfrm>
            <a:off x="3657600" y="4572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4343400" y="4572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5105400" y="4572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5791200" y="4572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6553200" y="4572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3657600" y="4953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4343400" y="4953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5105400" y="4953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5791200" y="4953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6553200" y="4953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3657600" y="4191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4343400" y="4191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5105400" y="4191000"/>
            <a:ext cx="457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5791200" y="4191000"/>
            <a:ext cx="7620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6553200" y="4191000"/>
            <a:ext cx="9144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43126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0" nodeType="clickEffect">
                                  <p:stCondLst>
                                    <p:cond delay="0"/>
                                  </p:stCondLst>
                                  <p:childTnLst>
                                    <p:animEffect transition="out" filter="dissolve">
                                      <p:cBhvr>
                                        <p:cTn id="46" dur="500"/>
                                        <p:tgtEl>
                                          <p:spTgt spid="17"/>
                                        </p:tgtEl>
                                      </p:cBhvr>
                                    </p:animEffect>
                                    <p:set>
                                      <p:cBhvr>
                                        <p:cTn id="47" dur="1" fill="hold">
                                          <p:stCondLst>
                                            <p:cond delay="499"/>
                                          </p:stCondLst>
                                        </p:cTn>
                                        <p:tgtEl>
                                          <p:spTgt spid="1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grpId="0" nodeType="clickEffect">
                                  <p:stCondLst>
                                    <p:cond delay="0"/>
                                  </p:stCondLst>
                                  <p:childTnLst>
                                    <p:animEffect transition="out" filter="dissolve">
                                      <p:cBhvr>
                                        <p:cTn id="51" dur="500"/>
                                        <p:tgtEl>
                                          <p:spTgt spid="18"/>
                                        </p:tgtEl>
                                      </p:cBhvr>
                                    </p:animEffect>
                                    <p:set>
                                      <p:cBhvr>
                                        <p:cTn id="52" dur="1" fill="hold">
                                          <p:stCondLst>
                                            <p:cond delay="499"/>
                                          </p:stCondLst>
                                        </p:cTn>
                                        <p:tgtEl>
                                          <p:spTgt spid="1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9" presetClass="exit" presetSubtype="0" fill="hold" grpId="0" nodeType="clickEffect">
                                  <p:stCondLst>
                                    <p:cond delay="0"/>
                                  </p:stCondLst>
                                  <p:childTnLst>
                                    <p:animEffect transition="out" filter="dissolve">
                                      <p:cBhvr>
                                        <p:cTn id="56" dur="500"/>
                                        <p:tgtEl>
                                          <p:spTgt spid="19"/>
                                        </p:tgtEl>
                                      </p:cBhvr>
                                    </p:animEffect>
                                    <p:set>
                                      <p:cBhvr>
                                        <p:cTn id="57" dur="1" fill="hold">
                                          <p:stCondLst>
                                            <p:cond delay="499"/>
                                          </p:stCondLst>
                                        </p:cTn>
                                        <p:tgtEl>
                                          <p:spTgt spid="19"/>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xit" presetSubtype="0" fill="hold" grpId="0" nodeType="clickEffect">
                                  <p:stCondLst>
                                    <p:cond delay="0"/>
                                  </p:stCondLst>
                                  <p:childTnLst>
                                    <p:animEffect transition="out" filter="dissolve">
                                      <p:cBhvr>
                                        <p:cTn id="61" dur="500"/>
                                        <p:tgtEl>
                                          <p:spTgt spid="20"/>
                                        </p:tgtEl>
                                      </p:cBhvr>
                                    </p:animEffect>
                                    <p:set>
                                      <p:cBhvr>
                                        <p:cTn id="62" dur="1" fill="hold">
                                          <p:stCondLst>
                                            <p:cond delay="499"/>
                                          </p:stCondLst>
                                        </p:cTn>
                                        <p:tgtEl>
                                          <p:spTgt spid="2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xit" presetSubtype="0" fill="hold" grpId="0" nodeType="clickEffect">
                                  <p:stCondLst>
                                    <p:cond delay="0"/>
                                  </p:stCondLst>
                                  <p:childTnLst>
                                    <p:animEffect transition="out" filter="dissolve">
                                      <p:cBhvr>
                                        <p:cTn id="66" dur="500"/>
                                        <p:tgtEl>
                                          <p:spTgt spid="21"/>
                                        </p:tgtEl>
                                      </p:cBhvr>
                                    </p:animEffect>
                                    <p:set>
                                      <p:cBhvr>
                                        <p:cTn id="67" dur="1" fill="hold">
                                          <p:stCondLst>
                                            <p:cond delay="499"/>
                                          </p:stCondLst>
                                        </p:cTn>
                                        <p:tgtEl>
                                          <p:spTgt spid="21"/>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9" presetClass="exit" presetSubtype="0" fill="hold" grpId="0" nodeType="clickEffect">
                                  <p:stCondLst>
                                    <p:cond delay="0"/>
                                  </p:stCondLst>
                                  <p:childTnLst>
                                    <p:animEffect transition="out" filter="dissolve">
                                      <p:cBhvr>
                                        <p:cTn id="71" dur="500"/>
                                        <p:tgtEl>
                                          <p:spTgt spid="22"/>
                                        </p:tgtEl>
                                      </p:cBhvr>
                                    </p:animEffect>
                                    <p:set>
                                      <p:cBhvr>
                                        <p:cTn id="72" dur="1" fill="hold">
                                          <p:stCondLst>
                                            <p:cond delay="499"/>
                                          </p:stCondLst>
                                        </p:cTn>
                                        <p:tgtEl>
                                          <p:spTgt spid="22"/>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0" nodeType="clickEffect">
                                  <p:stCondLst>
                                    <p:cond delay="0"/>
                                  </p:stCondLst>
                                  <p:childTnLst>
                                    <p:animEffect transition="out" filter="dissolve">
                                      <p:cBhvr>
                                        <p:cTn id="76" dur="500"/>
                                        <p:tgtEl>
                                          <p:spTgt spid="23"/>
                                        </p:tgtEl>
                                      </p:cBhvr>
                                    </p:animEffect>
                                    <p:set>
                                      <p:cBhvr>
                                        <p:cTn id="77"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1543" name="Object 7"/>
          <p:cNvGraphicFramePr>
            <a:graphicFrameLocks noGrp="1" noChangeAspect="1"/>
          </p:cNvGraphicFramePr>
          <p:nvPr>
            <p:ph sz="quarter" idx="4294967295"/>
            <p:custDataLst>
              <p:tags r:id="rId2"/>
            </p:custDataLst>
            <p:extLst>
              <p:ext uri="{D42A27DB-BD31-4B8C-83A1-F6EECF244321}">
                <p14:modId xmlns:p14="http://schemas.microsoft.com/office/powerpoint/2010/main" val="3805268392"/>
              </p:ext>
            </p:extLst>
          </p:nvPr>
        </p:nvGraphicFramePr>
        <p:xfrm>
          <a:off x="6280150" y="1108197"/>
          <a:ext cx="2863850" cy="2719388"/>
        </p:xfrm>
        <a:graphic>
          <a:graphicData uri="http://schemas.openxmlformats.org/presentationml/2006/ole">
            <mc:AlternateContent xmlns:mc="http://schemas.openxmlformats.org/markup-compatibility/2006">
              <mc:Choice xmlns:v="urn:schemas-microsoft-com:vml" Requires="v">
                <p:oleObj spid="_x0000_s9218" name="VISIO" r:id="rId7" imgW="963360" imgH="914400" progId="Visio.Drawing.6">
                  <p:embed/>
                </p:oleObj>
              </mc:Choice>
              <mc:Fallback>
                <p:oleObj name="VISIO" r:id="rId7" imgW="963360" imgH="914400" progId="Visio.Drawing.6">
                  <p:embed/>
                  <p:pic>
                    <p:nvPicPr>
                      <p:cNvPr id="0" name=""/>
                      <p:cNvPicPr>
                        <a:picLocks noChangeAspect="1" noChangeArrowheads="1"/>
                      </p:cNvPicPr>
                      <p:nvPr/>
                    </p:nvPicPr>
                    <p:blipFill>
                      <a:blip r:embed="rId8"/>
                      <a:srcRect/>
                      <a:stretch>
                        <a:fillRect/>
                      </a:stretch>
                    </p:blipFill>
                    <p:spPr bwMode="auto">
                      <a:xfrm>
                        <a:off x="6280150" y="1108197"/>
                        <a:ext cx="2863850" cy="2719388"/>
                      </a:xfrm>
                      <a:prstGeom prst="rect">
                        <a:avLst/>
                      </a:prstGeom>
                    </p:spPr>
                  </p:pic>
                </p:oleObj>
              </mc:Fallback>
            </mc:AlternateContent>
          </a:graphicData>
        </a:graphic>
      </p:graphicFrame>
      <p:sp>
        <p:nvSpPr>
          <p:cNvPr id="96153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1541" name="Rectangle 5"/>
          <p:cNvSpPr>
            <a:spLocks noChangeArrowheads="1"/>
          </p:cNvSpPr>
          <p:nvPr>
            <p:custDataLst>
              <p:tags r:id="rId4"/>
            </p:custDataLst>
          </p:nvPr>
        </p:nvSpPr>
        <p:spPr bwMode="auto">
          <a:xfrm>
            <a:off x="381000" y="990600"/>
            <a:ext cx="60198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buFontTx/>
              <a:buChar char="•"/>
            </a:pPr>
            <a:r>
              <a:rPr lang="en-US" sz="3200" b="1" dirty="0">
                <a:solidFill>
                  <a:schemeClr val="accent1"/>
                </a:solidFill>
                <a:latin typeface="+mj-lt"/>
                <a:cs typeface="Arial" charset="0"/>
              </a:rPr>
              <a:t>Inputs:</a:t>
            </a:r>
            <a:r>
              <a:rPr lang="en-US" sz="3200" dirty="0">
                <a:solidFill>
                  <a:schemeClr val="accent1"/>
                </a:solidFill>
                <a:latin typeface="+mj-lt"/>
                <a:cs typeface="Arial" charset="0"/>
              </a:rPr>
              <a:t> </a:t>
            </a:r>
            <a:r>
              <a:rPr lang="en-US" sz="3200" i="1" dirty="0">
                <a:latin typeface="+mj-lt"/>
                <a:cs typeface="Arial" charset="0"/>
              </a:rPr>
              <a:t>CLK</a:t>
            </a:r>
            <a:r>
              <a:rPr lang="en-US" sz="3200" dirty="0">
                <a:latin typeface="+mj-lt"/>
                <a:cs typeface="Arial" charset="0"/>
              </a:rPr>
              <a:t>, </a:t>
            </a:r>
            <a:r>
              <a:rPr lang="en-US" sz="3200" i="1" dirty="0">
                <a:latin typeface="+mj-lt"/>
                <a:cs typeface="Arial" charset="0"/>
              </a:rPr>
              <a:t>D</a:t>
            </a:r>
          </a:p>
          <a:p>
            <a:pPr marL="342900" indent="-342900">
              <a:buFontTx/>
              <a:buChar char="•"/>
            </a:pPr>
            <a:r>
              <a:rPr lang="en-US" sz="3200" b="1" dirty="0">
                <a:solidFill>
                  <a:schemeClr val="accent1"/>
                </a:solidFill>
                <a:latin typeface="+mj-lt"/>
                <a:cs typeface="Arial" charset="0"/>
              </a:rPr>
              <a:t>Function</a:t>
            </a:r>
          </a:p>
          <a:p>
            <a:pPr marL="742950" lvl="1" indent="-285750">
              <a:buFontTx/>
              <a:buChar char="–"/>
            </a:pPr>
            <a:r>
              <a:rPr lang="en-US" sz="2500" dirty="0">
                <a:latin typeface="+mj-lt"/>
                <a:cs typeface="Arial" charset="0"/>
              </a:rPr>
              <a:t>Samples </a:t>
            </a:r>
            <a:r>
              <a:rPr lang="en-US" sz="2500" i="1" dirty="0">
                <a:latin typeface="+mj-lt"/>
                <a:cs typeface="Arial" charset="0"/>
              </a:rPr>
              <a:t>D</a:t>
            </a:r>
            <a:r>
              <a:rPr lang="en-US" sz="2500" dirty="0">
                <a:latin typeface="+mj-lt"/>
                <a:cs typeface="Arial" charset="0"/>
              </a:rPr>
              <a:t> on rising edge of </a:t>
            </a:r>
            <a:r>
              <a:rPr lang="en-US" sz="2500" i="1" dirty="0">
                <a:latin typeface="+mj-lt"/>
                <a:cs typeface="Arial" charset="0"/>
              </a:rPr>
              <a:t>CLK</a:t>
            </a:r>
          </a:p>
          <a:p>
            <a:pPr marL="1143000" lvl="2" indent="-228600">
              <a:buFontTx/>
              <a:buChar char="•"/>
            </a:pPr>
            <a:r>
              <a:rPr lang="en-US" sz="2500" dirty="0">
                <a:latin typeface="+mj-lt"/>
                <a:cs typeface="Arial" charset="0"/>
              </a:rPr>
              <a:t>When </a:t>
            </a:r>
            <a:r>
              <a:rPr lang="en-US" sz="2500" i="1" dirty="0">
                <a:latin typeface="+mj-lt"/>
                <a:cs typeface="Arial" charset="0"/>
              </a:rPr>
              <a:t>CLK</a:t>
            </a:r>
            <a:r>
              <a:rPr lang="en-US" sz="2500" dirty="0">
                <a:latin typeface="+mj-lt"/>
                <a:cs typeface="Arial" charset="0"/>
              </a:rPr>
              <a:t> rises from 0 to 1, </a:t>
            </a:r>
            <a:r>
              <a:rPr lang="en-US" sz="2500" i="1" dirty="0">
                <a:latin typeface="+mj-lt"/>
                <a:cs typeface="Arial" charset="0"/>
              </a:rPr>
              <a:t>D</a:t>
            </a:r>
            <a:r>
              <a:rPr lang="en-US" sz="2500" dirty="0">
                <a:latin typeface="+mj-lt"/>
                <a:cs typeface="Arial" charset="0"/>
              </a:rPr>
              <a:t> passes through to </a:t>
            </a:r>
            <a:r>
              <a:rPr lang="en-US" sz="2500" i="1" dirty="0">
                <a:latin typeface="+mj-lt"/>
                <a:cs typeface="Arial" charset="0"/>
              </a:rPr>
              <a:t>Q</a:t>
            </a:r>
          </a:p>
          <a:p>
            <a:pPr marL="1143000" lvl="2" indent="-228600">
              <a:buFontTx/>
              <a:buChar char="•"/>
            </a:pPr>
            <a:r>
              <a:rPr lang="en-US" sz="2500" dirty="0">
                <a:latin typeface="+mj-lt"/>
                <a:cs typeface="Arial" charset="0"/>
              </a:rPr>
              <a:t>Otherwise, </a:t>
            </a:r>
            <a:r>
              <a:rPr lang="en-US" sz="2500" i="1" dirty="0">
                <a:latin typeface="+mj-lt"/>
                <a:cs typeface="Arial" charset="0"/>
              </a:rPr>
              <a:t>Q</a:t>
            </a:r>
            <a:r>
              <a:rPr lang="en-US" sz="2500" dirty="0">
                <a:latin typeface="+mj-lt"/>
                <a:cs typeface="Arial" charset="0"/>
              </a:rPr>
              <a:t> holds its previous value</a:t>
            </a:r>
          </a:p>
          <a:p>
            <a:pPr marL="742950" lvl="1" indent="-285750">
              <a:buFontTx/>
              <a:buChar char="–"/>
            </a:pPr>
            <a:r>
              <a:rPr lang="en-US" sz="2500" i="1" dirty="0">
                <a:latin typeface="+mj-lt"/>
                <a:cs typeface="Arial" charset="0"/>
              </a:rPr>
              <a:t>Q </a:t>
            </a:r>
            <a:r>
              <a:rPr lang="en-US" sz="2500" dirty="0">
                <a:latin typeface="+mj-lt"/>
                <a:cs typeface="Arial" charset="0"/>
              </a:rPr>
              <a:t>changes only on rising edge of </a:t>
            </a:r>
            <a:r>
              <a:rPr lang="en-US" sz="2500" i="1" dirty="0">
                <a:latin typeface="+mj-lt"/>
                <a:cs typeface="Arial" charset="0"/>
              </a:rPr>
              <a:t>CLK</a:t>
            </a:r>
          </a:p>
          <a:p>
            <a:pPr marL="342900" indent="-342900">
              <a:buFontTx/>
              <a:buChar char="•"/>
            </a:pPr>
            <a:r>
              <a:rPr lang="en-US" sz="3200" dirty="0">
                <a:latin typeface="+mj-lt"/>
                <a:cs typeface="Arial" charset="0"/>
              </a:rPr>
              <a:t>Called </a:t>
            </a:r>
            <a:r>
              <a:rPr lang="en-US" sz="3200" i="1" dirty="0">
                <a:latin typeface="+mj-lt"/>
                <a:cs typeface="Arial" charset="0"/>
              </a:rPr>
              <a:t>edge-triggered</a:t>
            </a:r>
            <a:endParaRPr lang="en-US" sz="3200" dirty="0">
              <a:latin typeface="+mj-lt"/>
              <a:cs typeface="Arial" charset="0"/>
            </a:endParaRPr>
          </a:p>
          <a:p>
            <a:pPr marL="342900" indent="-342900">
              <a:buFontTx/>
              <a:buChar char="•"/>
            </a:pPr>
            <a:r>
              <a:rPr lang="en-US" sz="3200" dirty="0">
                <a:latin typeface="+mj-lt"/>
                <a:cs typeface="Arial" charset="0"/>
              </a:rPr>
              <a:t>Activated on the clock edge</a:t>
            </a:r>
          </a:p>
          <a:p>
            <a:pPr marL="342900" indent="-342900"/>
            <a:endParaRPr lang="en-US" sz="2400" i="1" baseline="-25000" dirty="0">
              <a:latin typeface="+mj-lt"/>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 Flip-Flop</a:t>
            </a:r>
          </a:p>
        </p:txBody>
      </p:sp>
    </p:spTree>
    <p:extLst>
      <p:ext uri="{BB962C8B-B14F-4D97-AF65-F5344CB8AC3E}">
        <p14:creationId xmlns:p14="http://schemas.microsoft.com/office/powerpoint/2010/main" val="17209316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564" name="Object 4"/>
          <p:cNvGraphicFramePr>
            <a:graphicFrameLocks noGrp="1" noChangeAspect="1"/>
          </p:cNvGraphicFramePr>
          <p:nvPr>
            <p:ph sz="quarter" idx="4294967295"/>
            <p:custDataLst>
              <p:tags r:id="rId2"/>
            </p:custDataLst>
            <p:extLst>
              <p:ext uri="{D42A27DB-BD31-4B8C-83A1-F6EECF244321}">
                <p14:modId xmlns:p14="http://schemas.microsoft.com/office/powerpoint/2010/main" val="3825062401"/>
              </p:ext>
            </p:extLst>
          </p:nvPr>
        </p:nvGraphicFramePr>
        <p:xfrm>
          <a:off x="4572000" y="1828800"/>
          <a:ext cx="3505200" cy="2717800"/>
        </p:xfrm>
        <a:graphic>
          <a:graphicData uri="http://schemas.openxmlformats.org/presentationml/2006/ole">
            <mc:AlternateContent xmlns:mc="http://schemas.openxmlformats.org/markup-compatibility/2006">
              <mc:Choice xmlns:v="urn:schemas-microsoft-com:vml" Requires="v">
                <p:oleObj spid="_x0000_s10242" name="VISIO" r:id="rId8" imgW="1400040" imgH="1085760" progId="Visio.Drawing.6">
                  <p:embed/>
                </p:oleObj>
              </mc:Choice>
              <mc:Fallback>
                <p:oleObj name="VISIO" r:id="rId8" imgW="1400040" imgH="108576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1828800"/>
                        <a:ext cx="3505200" cy="2717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562"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62569" name="Rectangle 9"/>
          <p:cNvSpPr>
            <a:spLocks noChangeArrowheads="1"/>
          </p:cNvSpPr>
          <p:nvPr>
            <p:custDataLst>
              <p:tags r:id="rId4"/>
            </p:custDataLst>
          </p:nvPr>
        </p:nvSpPr>
        <p:spPr bwMode="auto">
          <a:xfrm>
            <a:off x="381000" y="9906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Two back-to-back latches (L1 and L2) controlled by complementary clocks</a:t>
            </a:r>
          </a:p>
          <a:p>
            <a:pPr marL="342900" indent="-342900">
              <a:spcBef>
                <a:spcPct val="20000"/>
              </a:spcBef>
              <a:buFontTx/>
              <a:buChar char="•"/>
            </a:pPr>
            <a:r>
              <a:rPr lang="en-US" sz="2400" dirty="0">
                <a:latin typeface="+mj-lt"/>
                <a:cs typeface="Arial" charset="0"/>
              </a:rPr>
              <a:t>When </a:t>
            </a:r>
            <a:r>
              <a:rPr lang="en-US" sz="2400" b="1" i="1" dirty="0">
                <a:solidFill>
                  <a:schemeClr val="accent1"/>
                </a:solidFill>
                <a:latin typeface="+mj-lt"/>
                <a:cs typeface="Arial" charset="0"/>
              </a:rPr>
              <a:t>CLK</a:t>
            </a:r>
            <a:r>
              <a:rPr lang="en-US" sz="2400" b="1" dirty="0">
                <a:solidFill>
                  <a:schemeClr val="accent1"/>
                </a:solidFill>
                <a:latin typeface="+mj-lt"/>
                <a:cs typeface="Arial" charset="0"/>
              </a:rPr>
              <a:t> = 0</a:t>
            </a:r>
          </a:p>
          <a:p>
            <a:pPr marL="742950" lvl="1" indent="-285750">
              <a:spcBef>
                <a:spcPct val="20000"/>
              </a:spcBef>
              <a:buFontTx/>
              <a:buChar char="–"/>
            </a:pPr>
            <a:r>
              <a:rPr lang="en-US" sz="2000" dirty="0">
                <a:latin typeface="+mj-lt"/>
                <a:cs typeface="Arial" charset="0"/>
              </a:rPr>
              <a:t>L1 is transparent</a:t>
            </a:r>
          </a:p>
          <a:p>
            <a:pPr marL="742950" lvl="1" indent="-285750">
              <a:spcBef>
                <a:spcPct val="20000"/>
              </a:spcBef>
              <a:buFontTx/>
              <a:buChar char="–"/>
            </a:pPr>
            <a:r>
              <a:rPr lang="en-US" sz="2000" dirty="0">
                <a:latin typeface="+mj-lt"/>
                <a:cs typeface="Arial" charset="0"/>
              </a:rPr>
              <a:t>L2 is opaque</a:t>
            </a:r>
          </a:p>
          <a:p>
            <a:pPr marL="742950" lvl="1" indent="-285750">
              <a:spcBef>
                <a:spcPct val="20000"/>
              </a:spcBef>
              <a:buFontTx/>
              <a:buChar char="–"/>
            </a:pPr>
            <a:r>
              <a:rPr lang="en-US" sz="2000" i="1" dirty="0">
                <a:latin typeface="+mj-lt"/>
                <a:cs typeface="Arial" charset="0"/>
              </a:rPr>
              <a:t>D</a:t>
            </a:r>
            <a:r>
              <a:rPr lang="en-US" sz="2000" dirty="0">
                <a:latin typeface="+mj-lt"/>
                <a:cs typeface="Arial" charset="0"/>
              </a:rPr>
              <a:t> passes through to N1</a:t>
            </a:r>
            <a:endParaRPr lang="en-US" sz="2000" i="1" dirty="0">
              <a:latin typeface="+mj-lt"/>
              <a:cs typeface="Arial" charset="0"/>
            </a:endParaRPr>
          </a:p>
          <a:p>
            <a:pPr marL="342900" indent="-342900">
              <a:spcBef>
                <a:spcPct val="20000"/>
              </a:spcBef>
              <a:buFontTx/>
              <a:buChar char="•"/>
            </a:pPr>
            <a:r>
              <a:rPr lang="en-US" sz="2400" dirty="0">
                <a:latin typeface="+mj-lt"/>
                <a:cs typeface="Arial" charset="0"/>
              </a:rPr>
              <a:t>When </a:t>
            </a:r>
            <a:r>
              <a:rPr lang="en-US" sz="2400" b="1" i="1" dirty="0">
                <a:solidFill>
                  <a:schemeClr val="accent1"/>
                </a:solidFill>
                <a:latin typeface="+mj-lt"/>
                <a:cs typeface="Arial" charset="0"/>
              </a:rPr>
              <a:t>CLK</a:t>
            </a:r>
            <a:r>
              <a:rPr lang="en-US" sz="2400" b="1" dirty="0">
                <a:solidFill>
                  <a:schemeClr val="accent1"/>
                </a:solidFill>
                <a:latin typeface="+mj-lt"/>
                <a:cs typeface="Arial" charset="0"/>
              </a:rPr>
              <a:t> = 1</a:t>
            </a:r>
          </a:p>
          <a:p>
            <a:pPr marL="742950" lvl="1" indent="-285750">
              <a:spcBef>
                <a:spcPct val="20000"/>
              </a:spcBef>
              <a:buFontTx/>
              <a:buChar char="–"/>
            </a:pPr>
            <a:r>
              <a:rPr lang="en-US" sz="2000" dirty="0">
                <a:latin typeface="+mj-lt"/>
                <a:cs typeface="Arial" charset="0"/>
              </a:rPr>
              <a:t>L2 is transparent</a:t>
            </a:r>
          </a:p>
          <a:p>
            <a:pPr marL="742950" lvl="1" indent="-285750">
              <a:spcBef>
                <a:spcPct val="20000"/>
              </a:spcBef>
              <a:buFontTx/>
              <a:buChar char="–"/>
            </a:pPr>
            <a:r>
              <a:rPr lang="en-US" sz="2000" dirty="0">
                <a:latin typeface="+mj-lt"/>
                <a:cs typeface="Arial" charset="0"/>
              </a:rPr>
              <a:t>L1 is opaque</a:t>
            </a:r>
          </a:p>
          <a:p>
            <a:pPr marL="742950" lvl="1" indent="-285750">
              <a:spcBef>
                <a:spcPct val="20000"/>
              </a:spcBef>
              <a:buFontTx/>
              <a:buChar char="–"/>
            </a:pPr>
            <a:r>
              <a:rPr lang="en-US" sz="2000" dirty="0">
                <a:latin typeface="+mj-lt"/>
                <a:cs typeface="Arial" charset="0"/>
              </a:rPr>
              <a:t>N1 passes through to </a:t>
            </a:r>
            <a:r>
              <a:rPr lang="en-US" sz="2000" i="1" dirty="0">
                <a:latin typeface="+mj-lt"/>
                <a:cs typeface="Arial" charset="0"/>
              </a:rPr>
              <a:t>Q</a:t>
            </a:r>
          </a:p>
          <a:p>
            <a:pPr marL="342900" indent="-342900">
              <a:spcBef>
                <a:spcPct val="20000"/>
              </a:spcBef>
              <a:buFontTx/>
              <a:buChar char="•"/>
            </a:pPr>
            <a:r>
              <a:rPr lang="en-US" sz="2400" dirty="0">
                <a:latin typeface="+mj-lt"/>
                <a:cs typeface="Arial" charset="0"/>
              </a:rPr>
              <a:t>Thus, on the edge of the clock (when </a:t>
            </a:r>
            <a:r>
              <a:rPr lang="en-US" sz="2400" b="1" i="1" dirty="0">
                <a:solidFill>
                  <a:schemeClr val="accent1"/>
                </a:solidFill>
                <a:latin typeface="+mj-lt"/>
                <a:cs typeface="Arial" charset="0"/>
              </a:rPr>
              <a:t>CLK</a:t>
            </a:r>
            <a:r>
              <a:rPr lang="en-US" sz="2400" b="1" dirty="0">
                <a:solidFill>
                  <a:schemeClr val="accent1"/>
                </a:solidFill>
                <a:latin typeface="+mj-lt"/>
                <a:cs typeface="Arial" charset="0"/>
              </a:rPr>
              <a:t> rises from 0   1</a:t>
            </a:r>
            <a:r>
              <a:rPr lang="en-US" sz="2400" dirty="0">
                <a:solidFill>
                  <a:schemeClr val="tx2"/>
                </a:solidFill>
                <a:latin typeface="+mj-lt"/>
                <a:cs typeface="Arial" charset="0"/>
              </a:rPr>
              <a:t>)</a:t>
            </a:r>
          </a:p>
          <a:p>
            <a:pPr marL="742950" lvl="1" indent="-285750">
              <a:spcBef>
                <a:spcPct val="20000"/>
              </a:spcBef>
              <a:buFontTx/>
              <a:buChar char="–"/>
            </a:pPr>
            <a:r>
              <a:rPr lang="en-US" sz="2000" i="1" dirty="0">
                <a:latin typeface="+mj-lt"/>
                <a:cs typeface="Arial" charset="0"/>
              </a:rPr>
              <a:t>D</a:t>
            </a:r>
            <a:r>
              <a:rPr lang="en-US" sz="2000" dirty="0">
                <a:latin typeface="+mj-lt"/>
                <a:cs typeface="Arial" charset="0"/>
              </a:rPr>
              <a:t> passes through to </a:t>
            </a:r>
            <a:r>
              <a:rPr lang="en-US" sz="2000" i="1" dirty="0">
                <a:latin typeface="+mj-lt"/>
                <a:cs typeface="Arial" charset="0"/>
              </a:rPr>
              <a:t>Q</a:t>
            </a:r>
          </a:p>
          <a:p>
            <a:pPr marL="342900" indent="-342900">
              <a:spcBef>
                <a:spcPct val="20000"/>
              </a:spcBef>
            </a:pPr>
            <a:endParaRPr lang="en-US" sz="2400" i="1" baseline="-25000" dirty="0">
              <a:latin typeface="+mj-lt"/>
              <a:cs typeface="Arial" charset="0"/>
            </a:endParaRPr>
          </a:p>
        </p:txBody>
      </p:sp>
      <p:sp>
        <p:nvSpPr>
          <p:cNvPr id="962571" name="Line 11"/>
          <p:cNvSpPr>
            <a:spLocks noChangeShapeType="1"/>
          </p:cNvSpPr>
          <p:nvPr>
            <p:custDataLst>
              <p:tags r:id="rId5"/>
            </p:custDataLst>
          </p:nvPr>
        </p:nvSpPr>
        <p:spPr bwMode="auto">
          <a:xfrm>
            <a:off x="7467600" y="5105400"/>
            <a:ext cx="228600" cy="0"/>
          </a:xfrm>
          <a:prstGeom prst="line">
            <a:avLst/>
          </a:prstGeom>
          <a:noFill/>
          <a:ln w="9525">
            <a:solidFill>
              <a:schemeClr val="accent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 Flip-Flop Internal Circuit</a:t>
            </a:r>
          </a:p>
        </p:txBody>
      </p:sp>
      <p:sp>
        <p:nvSpPr>
          <p:cNvPr id="7" name="Rectangle 6"/>
          <p:cNvSpPr/>
          <p:nvPr/>
        </p:nvSpPr>
        <p:spPr>
          <a:xfrm>
            <a:off x="1676400" y="2286000"/>
            <a:ext cx="1371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676400" y="2667000"/>
            <a:ext cx="1371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676400" y="3810000"/>
            <a:ext cx="1371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676400" y="4191000"/>
            <a:ext cx="1371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25308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9974" name="Object 6"/>
          <p:cNvGraphicFramePr>
            <a:graphicFrameLocks noGrp="1" noChangeAspect="1"/>
          </p:cNvGraphicFramePr>
          <p:nvPr>
            <p:ph sz="quarter" idx="4294967295"/>
            <p:custDataLst>
              <p:tags r:id="rId2"/>
            </p:custDataLst>
            <p:extLst>
              <p:ext uri="{D42A27DB-BD31-4B8C-83A1-F6EECF244321}">
                <p14:modId xmlns:p14="http://schemas.microsoft.com/office/powerpoint/2010/main" val="3861805708"/>
              </p:ext>
            </p:extLst>
          </p:nvPr>
        </p:nvGraphicFramePr>
        <p:xfrm>
          <a:off x="685800" y="3276599"/>
          <a:ext cx="8305800" cy="2220379"/>
        </p:xfrm>
        <a:graphic>
          <a:graphicData uri="http://schemas.openxmlformats.org/presentationml/2006/ole">
            <mc:AlternateContent xmlns:mc="http://schemas.openxmlformats.org/markup-compatibility/2006">
              <mc:Choice xmlns:v="urn:schemas-microsoft-com:vml" Requires="v">
                <p:oleObj spid="_x0000_s11266" name="VISIO" r:id="rId7" imgW="4835160" imgH="1292040" progId="Visio.Drawing.6">
                  <p:embed/>
                </p:oleObj>
              </mc:Choice>
              <mc:Fallback>
                <p:oleObj name="VISIO" r:id="rId7" imgW="4835160" imgH="129204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276599"/>
                        <a:ext cx="8305800" cy="2220379"/>
                      </a:xfrm>
                      <a:prstGeom prst="rect">
                        <a:avLst/>
                      </a:prstGeom>
                    </p:spPr>
                  </p:pic>
                </p:oleObj>
              </mc:Fallback>
            </mc:AlternateContent>
          </a:graphicData>
        </a:graphic>
      </p:graphicFrame>
      <p:sp>
        <p:nvSpPr>
          <p:cNvPr id="8" name="TextBox 7"/>
          <p:cNvSpPr txBox="1"/>
          <p:nvPr/>
        </p:nvSpPr>
        <p:spPr>
          <a:xfrm>
            <a:off x="457200" y="76200"/>
            <a:ext cx="7924800" cy="769441"/>
          </a:xfrm>
          <a:prstGeom prst="rect">
            <a:avLst/>
          </a:prstGeom>
          <a:noFill/>
        </p:spPr>
        <p:txBody>
          <a:bodyPr wrap="square" rtlCol="0">
            <a:spAutoFit/>
          </a:bodyPr>
          <a:lstStyle/>
          <a:p>
            <a:r>
              <a:rPr lang="en-US" sz="4400" dirty="0">
                <a:solidFill>
                  <a:schemeClr val="bg1"/>
                </a:solidFill>
                <a:latin typeface="+mj-lt"/>
              </a:rPr>
              <a:t>D Latch vs. D Flip-Flop</a:t>
            </a:r>
          </a:p>
        </p:txBody>
      </p:sp>
      <p:graphicFrame>
        <p:nvGraphicFramePr>
          <p:cNvPr id="4" name="Object 3"/>
          <p:cNvGraphicFramePr>
            <a:graphicFrameLocks noChangeAspect="1"/>
          </p:cNvGraphicFramePr>
          <p:nvPr>
            <p:custDataLst>
              <p:tags r:id="rId3"/>
            </p:custDataLst>
            <p:extLst>
              <p:ext uri="{D42A27DB-BD31-4B8C-83A1-F6EECF244321}">
                <p14:modId xmlns:p14="http://schemas.microsoft.com/office/powerpoint/2010/main" val="3386856971"/>
              </p:ext>
            </p:extLst>
          </p:nvPr>
        </p:nvGraphicFramePr>
        <p:xfrm>
          <a:off x="2590800" y="1066800"/>
          <a:ext cx="1366838" cy="1676400"/>
        </p:xfrm>
        <a:graphic>
          <a:graphicData uri="http://schemas.openxmlformats.org/presentationml/2006/ole">
            <mc:AlternateContent xmlns:mc="http://schemas.openxmlformats.org/markup-compatibility/2006">
              <mc:Choice xmlns:v="urn:schemas-microsoft-com:vml" Requires="v">
                <p:oleObj spid="_x0000_s11267" name="VISIO" r:id="rId9" imgW="491547" imgH="602985" progId="Visio.Drawing.6">
                  <p:embed/>
                </p:oleObj>
              </mc:Choice>
              <mc:Fallback>
                <p:oleObj name="VISIO" r:id="rId9" imgW="491547" imgH="602985" progId="Visio.Drawing.6">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0800" y="1066800"/>
                        <a:ext cx="1366838" cy="1676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4"/>
          <p:cNvGraphicFramePr>
            <a:graphicFrameLocks noChangeAspect="1"/>
          </p:cNvGraphicFramePr>
          <p:nvPr>
            <p:custDataLst>
              <p:tags r:id="rId4"/>
            </p:custDataLst>
            <p:extLst>
              <p:ext uri="{D42A27DB-BD31-4B8C-83A1-F6EECF244321}">
                <p14:modId xmlns:p14="http://schemas.microsoft.com/office/powerpoint/2010/main" val="2276601635"/>
              </p:ext>
            </p:extLst>
          </p:nvPr>
        </p:nvGraphicFramePr>
        <p:xfrm>
          <a:off x="4648200" y="1066800"/>
          <a:ext cx="1404938" cy="1711325"/>
        </p:xfrm>
        <a:graphic>
          <a:graphicData uri="http://schemas.openxmlformats.org/presentationml/2006/ole">
            <mc:AlternateContent xmlns:mc="http://schemas.openxmlformats.org/markup-compatibility/2006">
              <mc:Choice xmlns:v="urn:schemas-microsoft-com:vml" Requires="v">
                <p:oleObj spid="_x0000_s11268" name="VISIO" r:id="rId11" imgW="494600" imgH="602985" progId="Visio.Drawing.6">
                  <p:embed/>
                </p:oleObj>
              </mc:Choice>
              <mc:Fallback>
                <p:oleObj name="VISIO" r:id="rId11" imgW="494600" imgH="602985" progId="Visio.Drawing.6">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8200" y="1066800"/>
                        <a:ext cx="1404938" cy="1711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3318793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4612" name="Object 4"/>
          <p:cNvGraphicFramePr>
            <a:graphicFrameLocks noGrp="1" noChangeAspect="1"/>
          </p:cNvGraphicFramePr>
          <p:nvPr>
            <p:ph sz="half" idx="4294967295"/>
            <p:custDataLst>
              <p:tags r:id="rId2"/>
            </p:custDataLst>
            <p:extLst>
              <p:ext uri="{D42A27DB-BD31-4B8C-83A1-F6EECF244321}">
                <p14:modId xmlns:p14="http://schemas.microsoft.com/office/powerpoint/2010/main" val="2925970497"/>
              </p:ext>
            </p:extLst>
          </p:nvPr>
        </p:nvGraphicFramePr>
        <p:xfrm>
          <a:off x="1371600" y="1066800"/>
          <a:ext cx="2463041" cy="4648200"/>
        </p:xfrm>
        <a:graphic>
          <a:graphicData uri="http://schemas.openxmlformats.org/presentationml/2006/ole">
            <mc:AlternateContent xmlns:mc="http://schemas.openxmlformats.org/markup-compatibility/2006">
              <mc:Choice xmlns:v="urn:schemas-microsoft-com:vml" Requires="v">
                <p:oleObj spid="_x0000_s12290" name="VISIO" r:id="rId7" imgW="1228680" imgH="2317680" progId="Visio.Drawing.6">
                  <p:embed/>
                </p:oleObj>
              </mc:Choice>
              <mc:Fallback>
                <p:oleObj name="VISIO" r:id="rId7" imgW="1228680" imgH="231768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1066800"/>
                        <a:ext cx="2463041" cy="4648200"/>
                      </a:xfrm>
                      <a:prstGeom prst="rect">
                        <a:avLst/>
                      </a:prstGeom>
                      <a:noFill/>
                      <a:ln>
                        <a:noFill/>
                      </a:ln>
                      <a:effectLst/>
                    </p:spPr>
                  </p:pic>
                </p:oleObj>
              </mc:Fallback>
            </mc:AlternateContent>
          </a:graphicData>
        </a:graphic>
      </p:graphicFrame>
      <p:graphicFrame>
        <p:nvGraphicFramePr>
          <p:cNvPr id="964613" name="Object 5"/>
          <p:cNvGraphicFramePr>
            <a:graphicFrameLocks noGrp="1" noChangeAspect="1"/>
          </p:cNvGraphicFramePr>
          <p:nvPr>
            <p:ph sz="quarter" idx="4294967295"/>
            <p:custDataLst>
              <p:tags r:id="rId3"/>
            </p:custDataLst>
            <p:extLst>
              <p:ext uri="{D42A27DB-BD31-4B8C-83A1-F6EECF244321}">
                <p14:modId xmlns:p14="http://schemas.microsoft.com/office/powerpoint/2010/main" val="719244923"/>
              </p:ext>
            </p:extLst>
          </p:nvPr>
        </p:nvGraphicFramePr>
        <p:xfrm>
          <a:off x="4572000" y="2209800"/>
          <a:ext cx="3810000" cy="2000250"/>
        </p:xfrm>
        <a:graphic>
          <a:graphicData uri="http://schemas.openxmlformats.org/presentationml/2006/ole">
            <mc:AlternateContent xmlns:mc="http://schemas.openxmlformats.org/markup-compatibility/2006">
              <mc:Choice xmlns:v="urn:schemas-microsoft-com:vml" Requires="v">
                <p:oleObj spid="_x0000_s12291" name="VISIO" r:id="rId9" imgW="891000" imgH="488880" progId="Visio.Drawing.6">
                  <p:embed/>
                </p:oleObj>
              </mc:Choice>
              <mc:Fallback>
                <p:oleObj name="VISIO" r:id="rId9" imgW="891000" imgH="48888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2209800"/>
                        <a:ext cx="3810000" cy="2000250"/>
                      </a:xfrm>
                      <a:prstGeom prst="rect">
                        <a:avLst/>
                      </a:prstGeom>
                    </p:spPr>
                  </p:pic>
                </p:oleObj>
              </mc:Fallback>
            </mc:AlternateContent>
          </a:graphicData>
        </a:graphic>
      </p:graphicFrame>
      <p:sp>
        <p:nvSpPr>
          <p:cNvPr id="964610"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Registers: Multi-bit Flip-Flop</a:t>
            </a:r>
          </a:p>
        </p:txBody>
      </p:sp>
      <p:cxnSp>
        <p:nvCxnSpPr>
          <p:cNvPr id="3" name="Straight Connector 2"/>
          <p:cNvCxnSpPr/>
          <p:nvPr/>
        </p:nvCxnSpPr>
        <p:spPr>
          <a:xfrm>
            <a:off x="3429000" y="1600200"/>
            <a:ext cx="2133600" cy="990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429000" y="4800600"/>
            <a:ext cx="2133600" cy="9906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76623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1000" name="Object 8"/>
          <p:cNvGraphicFramePr>
            <a:graphicFrameLocks noGrp="1" noChangeAspect="1"/>
          </p:cNvGraphicFramePr>
          <p:nvPr>
            <p:ph idx="4294967295"/>
            <p:custDataLst>
              <p:tags r:id="rId2"/>
            </p:custDataLst>
            <p:extLst>
              <p:ext uri="{D42A27DB-BD31-4B8C-83A1-F6EECF244321}">
                <p14:modId xmlns:p14="http://schemas.microsoft.com/office/powerpoint/2010/main" val="3440700352"/>
              </p:ext>
            </p:extLst>
          </p:nvPr>
        </p:nvGraphicFramePr>
        <p:xfrm>
          <a:off x="2321024" y="3429000"/>
          <a:ext cx="4003576" cy="2209800"/>
        </p:xfrm>
        <a:graphic>
          <a:graphicData uri="http://schemas.openxmlformats.org/presentationml/2006/ole">
            <mc:AlternateContent xmlns:mc="http://schemas.openxmlformats.org/markup-compatibility/2006">
              <mc:Choice xmlns:v="urn:schemas-microsoft-com:vml" Requires="v">
                <p:oleObj spid="_x0000_s13314" name="VISIO" r:id="rId6" imgW="2128680" imgH="1174680" progId="Visio.Drawing.6">
                  <p:embed/>
                </p:oleObj>
              </mc:Choice>
              <mc:Fallback>
                <p:oleObj name="VISIO" r:id="rId6" imgW="2128680" imgH="1174680" progId="Visio.Drawing.6">
                  <p:embed/>
                  <p:pic>
                    <p:nvPicPr>
                      <p:cNvPr id="0" name=""/>
                      <p:cNvPicPr>
                        <a:picLocks noChangeAspect="1" noChangeArrowheads="1"/>
                      </p:cNvPicPr>
                      <p:nvPr/>
                    </p:nvPicPr>
                    <p:blipFill>
                      <a:blip r:embed="rId7"/>
                      <a:srcRect/>
                      <a:stretch>
                        <a:fillRect/>
                      </a:stretch>
                    </p:blipFill>
                    <p:spPr bwMode="auto">
                      <a:xfrm>
                        <a:off x="2321024" y="3429000"/>
                        <a:ext cx="4003576" cy="2209800"/>
                      </a:xfrm>
                      <a:prstGeom prst="rect">
                        <a:avLst/>
                      </a:prstGeom>
                      <a:noFill/>
                      <a:ln>
                        <a:noFill/>
                      </a:ln>
                      <a:effectLst/>
                    </p:spPr>
                  </p:pic>
                </p:oleObj>
              </mc:Fallback>
            </mc:AlternateContent>
          </a:graphicData>
        </a:graphic>
      </p:graphicFrame>
      <p:sp>
        <p:nvSpPr>
          <p:cNvPr id="981002" name="Rectangle 10"/>
          <p:cNvSpPr>
            <a:spLocks noChangeArrowheads="1"/>
          </p:cNvSpPr>
          <p:nvPr>
            <p:custDataLst>
              <p:tags r:id="rId3"/>
            </p:custDataLst>
          </p:nvPr>
        </p:nvSpPr>
        <p:spPr bwMode="auto">
          <a:xfrm>
            <a:off x="457200" y="9144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Inputs: </a:t>
            </a:r>
            <a:r>
              <a:rPr lang="en-US" sz="3200" i="1" dirty="0">
                <a:latin typeface="+mj-lt"/>
                <a:cs typeface="Arial" charset="0"/>
              </a:rPr>
              <a:t>CLK</a:t>
            </a:r>
            <a:r>
              <a:rPr lang="en-US" sz="3200" dirty="0">
                <a:latin typeface="+mj-lt"/>
                <a:cs typeface="Arial" charset="0"/>
              </a:rPr>
              <a:t>, </a:t>
            </a:r>
            <a:r>
              <a:rPr lang="en-US" sz="3200" i="1" dirty="0">
                <a:latin typeface="+mj-lt"/>
                <a:cs typeface="Arial" charset="0"/>
              </a:rPr>
              <a:t>D</a:t>
            </a:r>
            <a:r>
              <a:rPr lang="en-US" sz="3200" dirty="0">
                <a:latin typeface="+mj-lt"/>
                <a:cs typeface="Arial" charset="0"/>
              </a:rPr>
              <a:t>, </a:t>
            </a:r>
            <a:r>
              <a:rPr lang="en-US" sz="3200" i="1" dirty="0">
                <a:latin typeface="+mj-lt"/>
                <a:cs typeface="Arial" charset="0"/>
              </a:rPr>
              <a:t>EN</a:t>
            </a:r>
          </a:p>
          <a:p>
            <a:pPr marL="742950" lvl="1" indent="-285750">
              <a:spcBef>
                <a:spcPct val="20000"/>
              </a:spcBef>
              <a:buFontTx/>
              <a:buChar char="–"/>
            </a:pPr>
            <a:r>
              <a:rPr lang="en-US" sz="2300" dirty="0">
                <a:latin typeface="+mj-lt"/>
                <a:cs typeface="Arial" charset="0"/>
              </a:rPr>
              <a:t>The enable input (</a:t>
            </a:r>
            <a:r>
              <a:rPr lang="en-US" sz="2300" i="1" dirty="0">
                <a:latin typeface="+mj-lt"/>
                <a:cs typeface="Arial" charset="0"/>
              </a:rPr>
              <a:t>EN</a:t>
            </a:r>
            <a:r>
              <a:rPr lang="en-US" sz="2300" dirty="0">
                <a:latin typeface="+mj-lt"/>
                <a:cs typeface="Arial" charset="0"/>
              </a:rPr>
              <a:t>) controls when new data (</a:t>
            </a:r>
            <a:r>
              <a:rPr lang="en-US" sz="2300" i="1" dirty="0">
                <a:latin typeface="+mj-lt"/>
                <a:cs typeface="Arial" charset="0"/>
              </a:rPr>
              <a:t>D</a:t>
            </a:r>
            <a:r>
              <a:rPr lang="en-US" sz="2300" dirty="0">
                <a:latin typeface="+mj-lt"/>
                <a:cs typeface="Arial" charset="0"/>
              </a:rPr>
              <a:t>) is stored</a:t>
            </a:r>
          </a:p>
          <a:p>
            <a:pPr marL="342900" indent="-342900">
              <a:spcBef>
                <a:spcPct val="20000"/>
              </a:spcBef>
              <a:buFontTx/>
              <a:buChar char="•"/>
            </a:pPr>
            <a:r>
              <a:rPr lang="en-US" sz="3200" b="1" dirty="0">
                <a:latin typeface="+mj-lt"/>
                <a:cs typeface="Arial" charset="0"/>
              </a:rPr>
              <a:t>Function</a:t>
            </a:r>
          </a:p>
          <a:p>
            <a:pPr marL="742950" lvl="1" indent="-285750">
              <a:spcBef>
                <a:spcPct val="20000"/>
              </a:spcBef>
              <a:buFontTx/>
              <a:buChar char="–"/>
            </a:pPr>
            <a:r>
              <a:rPr lang="en-US" sz="2300" b="1" i="1" dirty="0">
                <a:solidFill>
                  <a:schemeClr val="accent1"/>
                </a:solidFill>
                <a:latin typeface="+mj-lt"/>
                <a:cs typeface="Arial" charset="0"/>
              </a:rPr>
              <a:t>EN</a:t>
            </a:r>
            <a:r>
              <a:rPr lang="en-US" sz="2300" b="1" dirty="0">
                <a:solidFill>
                  <a:schemeClr val="accent1"/>
                </a:solidFill>
                <a:latin typeface="+mj-lt"/>
                <a:cs typeface="Arial" charset="0"/>
              </a:rPr>
              <a:t> = 1: </a:t>
            </a:r>
            <a:r>
              <a:rPr lang="en-US" sz="2300" i="1" dirty="0">
                <a:latin typeface="+mj-lt"/>
                <a:cs typeface="Arial" charset="0"/>
              </a:rPr>
              <a:t>D</a:t>
            </a:r>
            <a:r>
              <a:rPr lang="en-US" sz="2300" dirty="0">
                <a:latin typeface="+mj-lt"/>
                <a:cs typeface="Arial" charset="0"/>
              </a:rPr>
              <a:t> passes through to </a:t>
            </a:r>
            <a:r>
              <a:rPr lang="en-US" sz="2300" i="1" dirty="0">
                <a:latin typeface="+mj-lt"/>
                <a:cs typeface="Arial" charset="0"/>
              </a:rPr>
              <a:t>Q</a:t>
            </a:r>
            <a:r>
              <a:rPr lang="en-US" sz="2300" dirty="0">
                <a:latin typeface="+mj-lt"/>
                <a:cs typeface="Arial" charset="0"/>
              </a:rPr>
              <a:t> on the clock edge </a:t>
            </a:r>
          </a:p>
          <a:p>
            <a:pPr marL="742950" lvl="1" indent="-285750">
              <a:spcBef>
                <a:spcPct val="20000"/>
              </a:spcBef>
              <a:buFontTx/>
              <a:buChar char="–"/>
            </a:pPr>
            <a:r>
              <a:rPr lang="en-US" sz="2300" b="1" i="1" dirty="0">
                <a:solidFill>
                  <a:schemeClr val="accent1"/>
                </a:solidFill>
                <a:latin typeface="+mj-lt"/>
                <a:cs typeface="Arial" charset="0"/>
              </a:rPr>
              <a:t>EN</a:t>
            </a:r>
            <a:r>
              <a:rPr lang="en-US" sz="2300" b="1" dirty="0">
                <a:solidFill>
                  <a:schemeClr val="accent1"/>
                </a:solidFill>
                <a:latin typeface="+mj-lt"/>
                <a:cs typeface="Arial" charset="0"/>
              </a:rPr>
              <a:t> = 0: </a:t>
            </a:r>
            <a:r>
              <a:rPr lang="en-US" sz="2300" dirty="0">
                <a:latin typeface="+mj-lt"/>
                <a:cs typeface="Arial" charset="0"/>
              </a:rPr>
              <a:t>the flip-flop retains its previous state</a:t>
            </a:r>
            <a:endParaRPr lang="en-US" sz="2300" i="1" dirty="0">
              <a:latin typeface="+mj-lt"/>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Enabled Flip-Flops</a:t>
            </a:r>
          </a:p>
        </p:txBody>
      </p:sp>
    </p:spTree>
    <p:extLst>
      <p:ext uri="{BB962C8B-B14F-4D97-AF65-F5344CB8AC3E}">
        <p14:creationId xmlns:p14="http://schemas.microsoft.com/office/powerpoint/2010/main" val="114556726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3048" name="Object 8"/>
          <p:cNvGraphicFramePr>
            <a:graphicFrameLocks noGrp="1" noChangeAspect="1"/>
          </p:cNvGraphicFramePr>
          <p:nvPr>
            <p:ph idx="4294967295"/>
            <p:custDataLst>
              <p:tags r:id="rId2"/>
            </p:custDataLst>
            <p:extLst>
              <p:ext uri="{D42A27DB-BD31-4B8C-83A1-F6EECF244321}">
                <p14:modId xmlns:p14="http://schemas.microsoft.com/office/powerpoint/2010/main" val="4185051675"/>
              </p:ext>
            </p:extLst>
          </p:nvPr>
        </p:nvGraphicFramePr>
        <p:xfrm>
          <a:off x="2766218" y="2819400"/>
          <a:ext cx="3611563" cy="3057525"/>
        </p:xfrm>
        <a:graphic>
          <a:graphicData uri="http://schemas.openxmlformats.org/presentationml/2006/ole">
            <mc:AlternateContent xmlns:mc="http://schemas.openxmlformats.org/markup-compatibility/2006">
              <mc:Choice xmlns:v="urn:schemas-microsoft-com:vml" Requires="v">
                <p:oleObj spid="_x0000_s14338" name="VISIO" r:id="rId7" imgW="1066320" imgH="903240" progId="Visio.Drawing.6">
                  <p:embed/>
                </p:oleObj>
              </mc:Choice>
              <mc:Fallback>
                <p:oleObj name="VISIO" r:id="rId7" imgW="1066320" imgH="90324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66218" y="2819400"/>
                        <a:ext cx="3611563" cy="3057525"/>
                      </a:xfrm>
                      <a:prstGeom prst="rect">
                        <a:avLst/>
                      </a:prstGeom>
                    </p:spPr>
                  </p:pic>
                </p:oleObj>
              </mc:Fallback>
            </mc:AlternateContent>
          </a:graphicData>
        </a:graphic>
      </p:graphicFrame>
      <p:sp>
        <p:nvSpPr>
          <p:cNvPr id="983042"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3045" name="Rectangle 5"/>
          <p:cNvSpPr>
            <a:spLocks noChangeArrowheads="1"/>
          </p:cNvSpPr>
          <p:nvPr>
            <p:custDataLst>
              <p:tags r:id="rId4"/>
            </p:custDataLst>
          </p:nvPr>
        </p:nvSpPr>
        <p:spPr bwMode="auto">
          <a:xfrm>
            <a:off x="457200" y="9906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Inputs: </a:t>
            </a:r>
            <a:r>
              <a:rPr lang="en-US" sz="3200" i="1" dirty="0">
                <a:latin typeface="+mj-lt"/>
                <a:cs typeface="Arial" charset="0"/>
              </a:rPr>
              <a:t>CLK</a:t>
            </a:r>
            <a:r>
              <a:rPr lang="en-US" sz="3200" dirty="0">
                <a:latin typeface="+mj-lt"/>
                <a:cs typeface="Arial" charset="0"/>
              </a:rPr>
              <a:t>, </a:t>
            </a:r>
            <a:r>
              <a:rPr lang="en-US" sz="3200" i="1" dirty="0">
                <a:latin typeface="+mj-lt"/>
                <a:cs typeface="Arial" charset="0"/>
              </a:rPr>
              <a:t>D</a:t>
            </a:r>
            <a:r>
              <a:rPr lang="en-US" sz="3200" dirty="0">
                <a:latin typeface="+mj-lt"/>
                <a:cs typeface="Arial" charset="0"/>
              </a:rPr>
              <a:t>, </a:t>
            </a:r>
            <a:r>
              <a:rPr lang="en-US" sz="3200" i="1" dirty="0">
                <a:latin typeface="+mj-lt"/>
                <a:cs typeface="Arial" charset="0"/>
              </a:rPr>
              <a:t>Reset</a:t>
            </a:r>
            <a:endParaRPr lang="en-US" sz="3200" dirty="0">
              <a:latin typeface="+mj-lt"/>
              <a:cs typeface="Arial" charset="0"/>
            </a:endParaRPr>
          </a:p>
          <a:p>
            <a:pPr marL="342900" indent="-342900">
              <a:spcBef>
                <a:spcPct val="20000"/>
              </a:spcBef>
              <a:buFontTx/>
              <a:buChar char="•"/>
            </a:pPr>
            <a:r>
              <a:rPr lang="en-US" sz="3200" b="1" dirty="0">
                <a:latin typeface="+mj-lt"/>
                <a:cs typeface="Arial" charset="0"/>
              </a:rPr>
              <a:t>Function:</a:t>
            </a:r>
          </a:p>
          <a:p>
            <a:pPr marL="742950" lvl="1" indent="-285750">
              <a:spcBef>
                <a:spcPct val="20000"/>
              </a:spcBef>
              <a:buFontTx/>
              <a:buChar char="–"/>
            </a:pPr>
            <a:r>
              <a:rPr lang="en-US" sz="2600" b="1" i="1" dirty="0">
                <a:solidFill>
                  <a:schemeClr val="accent1"/>
                </a:solidFill>
                <a:latin typeface="+mj-lt"/>
                <a:cs typeface="Arial" charset="0"/>
              </a:rPr>
              <a:t>Reset</a:t>
            </a:r>
            <a:r>
              <a:rPr lang="en-US" sz="2600" b="1" dirty="0">
                <a:solidFill>
                  <a:schemeClr val="accent1"/>
                </a:solidFill>
                <a:latin typeface="+mj-lt"/>
                <a:cs typeface="Arial" charset="0"/>
              </a:rPr>
              <a:t> = 1:  </a:t>
            </a:r>
            <a:r>
              <a:rPr lang="en-US" sz="2600" i="1" dirty="0">
                <a:latin typeface="+mj-lt"/>
                <a:cs typeface="Arial" charset="0"/>
              </a:rPr>
              <a:t>Q</a:t>
            </a:r>
            <a:r>
              <a:rPr lang="en-US" sz="2600" dirty="0">
                <a:latin typeface="+mj-lt"/>
                <a:cs typeface="Arial" charset="0"/>
              </a:rPr>
              <a:t> is forced to 0 </a:t>
            </a:r>
          </a:p>
          <a:p>
            <a:pPr marL="742950" lvl="1" indent="-285750">
              <a:spcBef>
                <a:spcPct val="20000"/>
              </a:spcBef>
              <a:buFontTx/>
              <a:buChar char="–"/>
            </a:pPr>
            <a:r>
              <a:rPr lang="en-US" sz="2600" b="1" i="1" dirty="0">
                <a:solidFill>
                  <a:schemeClr val="accent1"/>
                </a:solidFill>
                <a:latin typeface="+mj-lt"/>
                <a:cs typeface="Arial" charset="0"/>
              </a:rPr>
              <a:t>Reset</a:t>
            </a:r>
            <a:r>
              <a:rPr lang="en-US" sz="2600" b="1" dirty="0">
                <a:solidFill>
                  <a:schemeClr val="accent1"/>
                </a:solidFill>
                <a:latin typeface="+mj-lt"/>
                <a:cs typeface="Arial" charset="0"/>
              </a:rPr>
              <a:t> = 0:  </a:t>
            </a:r>
            <a:r>
              <a:rPr lang="en-US" sz="2600" dirty="0">
                <a:latin typeface="+mj-lt"/>
                <a:cs typeface="Arial" charset="0"/>
              </a:rPr>
              <a:t>flip-flop behaves as ordinary D flip-flop</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Resettable Flip-Flops</a:t>
            </a:r>
          </a:p>
        </p:txBody>
      </p:sp>
    </p:spTree>
    <p:extLst>
      <p:ext uri="{BB962C8B-B14F-4D97-AF65-F5344CB8AC3E}">
        <p14:creationId xmlns:p14="http://schemas.microsoft.com/office/powerpoint/2010/main" val="14021156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5092" name="Rectangle 4"/>
          <p:cNvSpPr>
            <a:spLocks noChangeArrowheads="1"/>
          </p:cNvSpPr>
          <p:nvPr>
            <p:custDataLst>
              <p:tags r:id="rId2"/>
            </p:custDataLst>
          </p:nvPr>
        </p:nvSpPr>
        <p:spPr bwMode="auto">
          <a:xfrm>
            <a:off x="381000" y="9144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Two types:</a:t>
            </a:r>
          </a:p>
          <a:p>
            <a:pPr marL="742950" lvl="1" indent="-285750">
              <a:spcBef>
                <a:spcPct val="20000"/>
              </a:spcBef>
              <a:buFontTx/>
              <a:buChar char="–"/>
            </a:pPr>
            <a:r>
              <a:rPr lang="en-US" sz="2600" b="1" dirty="0">
                <a:solidFill>
                  <a:srgbClr val="0070C0"/>
                </a:solidFill>
                <a:latin typeface="+mj-lt"/>
                <a:cs typeface="Arial" charset="0"/>
              </a:rPr>
              <a:t>Synchronous: </a:t>
            </a:r>
            <a:r>
              <a:rPr lang="en-US" sz="2600" dirty="0">
                <a:latin typeface="+mj-lt"/>
                <a:cs typeface="Arial" charset="0"/>
              </a:rPr>
              <a:t>resets at the clock edge only</a:t>
            </a:r>
          </a:p>
          <a:p>
            <a:pPr marL="742950" lvl="1" indent="-285750">
              <a:spcBef>
                <a:spcPct val="20000"/>
              </a:spcBef>
              <a:buFontTx/>
              <a:buChar char="–"/>
            </a:pPr>
            <a:r>
              <a:rPr lang="en-US" sz="2600" b="1" dirty="0">
                <a:solidFill>
                  <a:srgbClr val="0070C0"/>
                </a:solidFill>
                <a:latin typeface="+mj-lt"/>
                <a:cs typeface="Arial" charset="0"/>
              </a:rPr>
              <a:t>Asynchronous:</a:t>
            </a:r>
            <a:r>
              <a:rPr lang="en-US" sz="2600" dirty="0">
                <a:solidFill>
                  <a:srgbClr val="0070C0"/>
                </a:solidFill>
                <a:latin typeface="+mj-lt"/>
                <a:cs typeface="Arial" charset="0"/>
              </a:rPr>
              <a:t> </a:t>
            </a:r>
            <a:r>
              <a:rPr lang="en-US" sz="2600" dirty="0">
                <a:latin typeface="+mj-lt"/>
                <a:cs typeface="Arial" charset="0"/>
              </a:rPr>
              <a:t>resets immediately when </a:t>
            </a:r>
            <a:r>
              <a:rPr lang="en-US" sz="2600" i="1" dirty="0">
                <a:latin typeface="+mj-lt"/>
                <a:cs typeface="Arial" charset="0"/>
              </a:rPr>
              <a:t>Reset</a:t>
            </a:r>
            <a:r>
              <a:rPr lang="en-US" sz="2600" dirty="0">
                <a:latin typeface="+mj-lt"/>
                <a:cs typeface="Arial" charset="0"/>
              </a:rPr>
              <a:t> = 1</a:t>
            </a:r>
          </a:p>
          <a:p>
            <a:pPr marL="342900" indent="-342900">
              <a:spcBef>
                <a:spcPct val="20000"/>
              </a:spcBef>
              <a:buFontTx/>
              <a:buChar char="•"/>
            </a:pPr>
            <a:r>
              <a:rPr lang="en-US" sz="3200" dirty="0">
                <a:latin typeface="+mj-lt"/>
                <a:cs typeface="Arial" charset="0"/>
              </a:rPr>
              <a:t>Asynchronously resettable flip-flop requires changing the internal circuitry of the flip-flop</a:t>
            </a:r>
          </a:p>
          <a:p>
            <a:pPr marL="342900" indent="-342900">
              <a:spcBef>
                <a:spcPct val="20000"/>
              </a:spcBef>
              <a:buFontTx/>
              <a:buChar char="•"/>
            </a:pPr>
            <a:r>
              <a:rPr lang="en-US" sz="3200" dirty="0">
                <a:latin typeface="+mj-lt"/>
                <a:cs typeface="Arial" charset="0"/>
              </a:rPr>
              <a:t>Synchronously resettable flip-flop?</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Resettable Flip-Flops</a:t>
            </a:r>
          </a:p>
        </p:txBody>
      </p:sp>
    </p:spTree>
    <p:extLst>
      <p:ext uri="{BB962C8B-B14F-4D97-AF65-F5344CB8AC3E}">
        <p14:creationId xmlns:p14="http://schemas.microsoft.com/office/powerpoint/2010/main" val="284797303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Resettable Flip-Flops</a:t>
            </a:r>
          </a:p>
        </p:txBody>
      </p:sp>
      <p:sp>
        <p:nvSpPr>
          <p:cNvPr id="6" name="Rectangle 4"/>
          <p:cNvSpPr>
            <a:spLocks noChangeArrowheads="1"/>
          </p:cNvSpPr>
          <p:nvPr>
            <p:custDataLst>
              <p:tags r:id="rId2"/>
            </p:custDataLst>
          </p:nvPr>
        </p:nvSpPr>
        <p:spPr bwMode="auto">
          <a:xfrm>
            <a:off x="381000" y="914400"/>
            <a:ext cx="60960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Two types:</a:t>
            </a:r>
          </a:p>
          <a:p>
            <a:pPr marL="742950" lvl="1" indent="-285750">
              <a:spcBef>
                <a:spcPct val="20000"/>
              </a:spcBef>
              <a:buFontTx/>
              <a:buChar char="–"/>
            </a:pPr>
            <a:r>
              <a:rPr lang="en-US" sz="2600" b="1" dirty="0">
                <a:solidFill>
                  <a:srgbClr val="0070C0"/>
                </a:solidFill>
                <a:latin typeface="+mj-lt"/>
                <a:cs typeface="Arial" charset="0"/>
              </a:rPr>
              <a:t>Synchronous: </a:t>
            </a:r>
            <a:r>
              <a:rPr lang="en-US" sz="2600" dirty="0">
                <a:latin typeface="+mj-lt"/>
                <a:cs typeface="Arial" charset="0"/>
              </a:rPr>
              <a:t>resets at the clock edge only</a:t>
            </a:r>
          </a:p>
          <a:p>
            <a:pPr marL="742950" lvl="1" indent="-285750">
              <a:spcBef>
                <a:spcPct val="20000"/>
              </a:spcBef>
              <a:buFontTx/>
              <a:buChar char="–"/>
            </a:pPr>
            <a:r>
              <a:rPr lang="en-US" sz="2600" b="1" dirty="0">
                <a:solidFill>
                  <a:srgbClr val="0070C0"/>
                </a:solidFill>
                <a:latin typeface="+mj-lt"/>
                <a:cs typeface="Arial" charset="0"/>
              </a:rPr>
              <a:t>Asynchronous:</a:t>
            </a:r>
            <a:r>
              <a:rPr lang="en-US" sz="2600" dirty="0">
                <a:solidFill>
                  <a:srgbClr val="0070C0"/>
                </a:solidFill>
                <a:latin typeface="+mj-lt"/>
                <a:cs typeface="Arial" charset="0"/>
              </a:rPr>
              <a:t> </a:t>
            </a:r>
            <a:r>
              <a:rPr lang="en-US" sz="2600" dirty="0">
                <a:latin typeface="+mj-lt"/>
                <a:cs typeface="Arial" charset="0"/>
              </a:rPr>
              <a:t>resets immediately when </a:t>
            </a:r>
            <a:r>
              <a:rPr lang="en-US" sz="2600" i="1" dirty="0">
                <a:latin typeface="+mj-lt"/>
                <a:cs typeface="Arial" charset="0"/>
              </a:rPr>
              <a:t>Reset</a:t>
            </a:r>
            <a:r>
              <a:rPr lang="en-US" sz="2600" dirty="0">
                <a:latin typeface="+mj-lt"/>
                <a:cs typeface="Arial" charset="0"/>
              </a:rPr>
              <a:t> = 1</a:t>
            </a:r>
          </a:p>
          <a:p>
            <a:pPr marL="342900" indent="-342900">
              <a:spcBef>
                <a:spcPct val="20000"/>
              </a:spcBef>
              <a:buFontTx/>
              <a:buChar char="•"/>
            </a:pPr>
            <a:r>
              <a:rPr lang="en-US" sz="3200" dirty="0">
                <a:latin typeface="+mj-lt"/>
                <a:cs typeface="Arial" charset="0"/>
              </a:rPr>
              <a:t>Asynchronously resettable flip-flop requires changing the internal circuitry of the flip-flop</a:t>
            </a:r>
          </a:p>
          <a:p>
            <a:pPr marL="342900" indent="-342900">
              <a:spcBef>
                <a:spcPct val="20000"/>
              </a:spcBef>
              <a:buFontTx/>
              <a:buChar char="•"/>
            </a:pPr>
            <a:r>
              <a:rPr lang="en-US" sz="3200" dirty="0">
                <a:latin typeface="+mj-lt"/>
                <a:cs typeface="Arial" charset="0"/>
              </a:rPr>
              <a:t>Synchronously resettable flip-flop</a:t>
            </a:r>
          </a:p>
        </p:txBody>
      </p:sp>
      <p:pic>
        <p:nvPicPr>
          <p:cNvPr id="4" name="Picture 3">
            <a:extLst>
              <a:ext uri="{FF2B5EF4-FFF2-40B4-BE49-F238E27FC236}">
                <a16:creationId xmlns:a16="http://schemas.microsoft.com/office/drawing/2014/main" id="{D4F266F4-BA4B-4107-8015-D3AB0F9AF1C0}"/>
              </a:ext>
            </a:extLst>
          </p:cNvPr>
          <p:cNvPicPr>
            <a:picLocks noChangeAspect="1"/>
          </p:cNvPicPr>
          <p:nvPr/>
        </p:nvPicPr>
        <p:blipFill>
          <a:blip r:embed="rId5"/>
          <a:stretch>
            <a:fillRect/>
          </a:stretch>
        </p:blipFill>
        <p:spPr>
          <a:xfrm>
            <a:off x="6477000" y="1544763"/>
            <a:ext cx="2514600" cy="3768474"/>
          </a:xfrm>
          <a:prstGeom prst="rect">
            <a:avLst/>
          </a:prstGeom>
        </p:spPr>
      </p:pic>
    </p:spTree>
    <p:extLst>
      <p:ext uri="{BB962C8B-B14F-4D97-AF65-F5344CB8AC3E}">
        <p14:creationId xmlns:p14="http://schemas.microsoft.com/office/powerpoint/2010/main" val="222903115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4070" name="Object 6"/>
          <p:cNvGraphicFramePr>
            <a:graphicFrameLocks noGrp="1" noChangeAspect="1"/>
          </p:cNvGraphicFramePr>
          <p:nvPr>
            <p:ph idx="4294967295"/>
            <p:custDataLst>
              <p:tags r:id="rId2"/>
            </p:custDataLst>
            <p:extLst>
              <p:ext uri="{D42A27DB-BD31-4B8C-83A1-F6EECF244321}">
                <p14:modId xmlns:p14="http://schemas.microsoft.com/office/powerpoint/2010/main" val="4007430835"/>
              </p:ext>
            </p:extLst>
          </p:nvPr>
        </p:nvGraphicFramePr>
        <p:xfrm>
          <a:off x="2743200" y="2971800"/>
          <a:ext cx="3306763" cy="2798763"/>
        </p:xfrm>
        <a:graphic>
          <a:graphicData uri="http://schemas.openxmlformats.org/presentationml/2006/ole">
            <mc:AlternateContent xmlns:mc="http://schemas.openxmlformats.org/markup-compatibility/2006">
              <mc:Choice xmlns:v="urn:schemas-microsoft-com:vml" Requires="v">
                <p:oleObj spid="_x0000_s15362" name="VISIO" r:id="rId7" imgW="1066320" imgH="903240" progId="Visio.Drawing.6">
                  <p:embed/>
                </p:oleObj>
              </mc:Choice>
              <mc:Fallback>
                <p:oleObj name="VISIO" r:id="rId7" imgW="1066320" imgH="90324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2971800"/>
                        <a:ext cx="3306763" cy="2798763"/>
                      </a:xfrm>
                      <a:prstGeom prst="rect">
                        <a:avLst/>
                      </a:prstGeom>
                    </p:spPr>
                  </p:pic>
                </p:oleObj>
              </mc:Fallback>
            </mc:AlternateContent>
          </a:graphicData>
        </a:graphic>
      </p:graphicFrame>
      <p:sp>
        <p:nvSpPr>
          <p:cNvPr id="984066"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4068" name="Rectangle 4"/>
          <p:cNvSpPr>
            <a:spLocks noChangeArrowheads="1"/>
          </p:cNvSpPr>
          <p:nvPr>
            <p:custDataLst>
              <p:tags r:id="rId4"/>
            </p:custDataLst>
          </p:nvPr>
        </p:nvSpPr>
        <p:spPr bwMode="auto">
          <a:xfrm>
            <a:off x="533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Inputs:</a:t>
            </a:r>
            <a:r>
              <a:rPr lang="en-US" sz="3200" dirty="0">
                <a:latin typeface="+mj-lt"/>
                <a:cs typeface="Arial" charset="0"/>
              </a:rPr>
              <a:t> </a:t>
            </a:r>
            <a:r>
              <a:rPr lang="en-US" sz="3200" i="1" dirty="0">
                <a:latin typeface="+mj-lt"/>
                <a:cs typeface="Arial" charset="0"/>
              </a:rPr>
              <a:t>CLK</a:t>
            </a:r>
            <a:r>
              <a:rPr lang="en-US" sz="3200" dirty="0">
                <a:latin typeface="+mj-lt"/>
                <a:cs typeface="Arial" charset="0"/>
              </a:rPr>
              <a:t>, </a:t>
            </a:r>
            <a:r>
              <a:rPr lang="en-US" sz="3200" i="1" dirty="0">
                <a:latin typeface="+mj-lt"/>
                <a:cs typeface="Arial" charset="0"/>
              </a:rPr>
              <a:t>D</a:t>
            </a:r>
            <a:r>
              <a:rPr lang="en-US" sz="3200" dirty="0">
                <a:latin typeface="+mj-lt"/>
                <a:cs typeface="Arial" charset="0"/>
              </a:rPr>
              <a:t>, </a:t>
            </a:r>
            <a:r>
              <a:rPr lang="en-US" sz="3200" i="1" dirty="0">
                <a:latin typeface="+mj-lt"/>
                <a:cs typeface="Arial" charset="0"/>
              </a:rPr>
              <a:t>Set</a:t>
            </a:r>
            <a:endParaRPr lang="en-US" sz="3200" dirty="0">
              <a:latin typeface="+mj-lt"/>
              <a:cs typeface="Arial" charset="0"/>
            </a:endParaRPr>
          </a:p>
          <a:p>
            <a:pPr marL="342900" indent="-342900">
              <a:spcBef>
                <a:spcPct val="20000"/>
              </a:spcBef>
              <a:buFontTx/>
              <a:buChar char="•"/>
            </a:pPr>
            <a:r>
              <a:rPr lang="en-US" sz="3200" b="1" dirty="0">
                <a:latin typeface="+mj-lt"/>
                <a:cs typeface="Arial" charset="0"/>
              </a:rPr>
              <a:t>Function:</a:t>
            </a:r>
          </a:p>
          <a:p>
            <a:pPr marL="742950" lvl="1" indent="-285750">
              <a:spcBef>
                <a:spcPct val="20000"/>
              </a:spcBef>
              <a:buFontTx/>
              <a:buChar char="–"/>
            </a:pPr>
            <a:r>
              <a:rPr lang="en-US" sz="2600" b="1" i="1" dirty="0">
                <a:solidFill>
                  <a:schemeClr val="accent1"/>
                </a:solidFill>
                <a:latin typeface="+mj-lt"/>
                <a:cs typeface="Arial" charset="0"/>
              </a:rPr>
              <a:t>Set</a:t>
            </a:r>
            <a:r>
              <a:rPr lang="en-US" sz="2600" b="1" dirty="0">
                <a:solidFill>
                  <a:schemeClr val="accent1"/>
                </a:solidFill>
                <a:latin typeface="+mj-lt"/>
                <a:cs typeface="Arial" charset="0"/>
              </a:rPr>
              <a:t> = 1:  </a:t>
            </a:r>
            <a:r>
              <a:rPr lang="en-US" sz="2600" i="1" dirty="0">
                <a:latin typeface="+mj-lt"/>
                <a:cs typeface="Arial" charset="0"/>
              </a:rPr>
              <a:t>Q</a:t>
            </a:r>
            <a:r>
              <a:rPr lang="en-US" sz="2600" dirty="0">
                <a:latin typeface="+mj-lt"/>
                <a:cs typeface="Arial" charset="0"/>
              </a:rPr>
              <a:t> is set to 1 </a:t>
            </a:r>
          </a:p>
          <a:p>
            <a:pPr marL="742950" lvl="1" indent="-285750">
              <a:spcBef>
                <a:spcPct val="20000"/>
              </a:spcBef>
              <a:buFontTx/>
              <a:buChar char="–"/>
            </a:pPr>
            <a:r>
              <a:rPr lang="en-US" sz="2600" b="1" i="1" dirty="0">
                <a:solidFill>
                  <a:schemeClr val="accent1"/>
                </a:solidFill>
                <a:latin typeface="+mj-lt"/>
                <a:cs typeface="Arial" charset="0"/>
              </a:rPr>
              <a:t>Set</a:t>
            </a:r>
            <a:r>
              <a:rPr lang="en-US" sz="2600" b="1" dirty="0">
                <a:solidFill>
                  <a:schemeClr val="accent1"/>
                </a:solidFill>
                <a:latin typeface="+mj-lt"/>
                <a:cs typeface="Arial" charset="0"/>
              </a:rPr>
              <a:t> = 0:  </a:t>
            </a:r>
            <a:r>
              <a:rPr lang="en-US" sz="2600" dirty="0">
                <a:latin typeface="+mj-lt"/>
                <a:cs typeface="Arial" charset="0"/>
              </a:rPr>
              <a:t>the flip-flop behaves as ordinary D flip-flop</a:t>
            </a:r>
            <a:endParaRPr lang="en-US" sz="2600" i="1" dirty="0">
              <a:latin typeface="+mj-lt"/>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Settable Flip-Flops</a:t>
            </a:r>
          </a:p>
        </p:txBody>
      </p:sp>
    </p:spTree>
    <p:extLst>
      <p:ext uri="{BB962C8B-B14F-4D97-AF65-F5344CB8AC3E}">
        <p14:creationId xmlns:p14="http://schemas.microsoft.com/office/powerpoint/2010/main" val="207725270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7142" name="Object 6"/>
          <p:cNvGraphicFramePr>
            <a:graphicFrameLocks noGrp="1" noChangeAspect="1"/>
          </p:cNvGraphicFramePr>
          <p:nvPr>
            <p:ph sz="half" idx="4294967295"/>
            <p:custDataLst>
              <p:tags r:id="rId2"/>
            </p:custDataLst>
            <p:extLst>
              <p:ext uri="{D42A27DB-BD31-4B8C-83A1-F6EECF244321}">
                <p14:modId xmlns:p14="http://schemas.microsoft.com/office/powerpoint/2010/main" val="2268339409"/>
              </p:ext>
            </p:extLst>
          </p:nvPr>
        </p:nvGraphicFramePr>
        <p:xfrm>
          <a:off x="1555750" y="3048000"/>
          <a:ext cx="3549650" cy="1049338"/>
        </p:xfrm>
        <a:graphic>
          <a:graphicData uri="http://schemas.openxmlformats.org/presentationml/2006/ole">
            <mc:AlternateContent xmlns:mc="http://schemas.openxmlformats.org/markup-compatibility/2006">
              <mc:Choice xmlns:v="urn:schemas-microsoft-com:vml" Requires="v">
                <p:oleObj spid="_x0000_s16386" name="VISIO" r:id="rId8" imgW="1460520" imgH="431640" progId="Visio.Drawing.6">
                  <p:embed/>
                </p:oleObj>
              </mc:Choice>
              <mc:Fallback>
                <p:oleObj name="VISIO" r:id="rId8" imgW="1460520" imgH="43164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5750" y="3048000"/>
                        <a:ext cx="3549650" cy="1049338"/>
                      </a:xfrm>
                      <a:prstGeom prst="rect">
                        <a:avLst/>
                      </a:prstGeom>
                    </p:spPr>
                  </p:pic>
                </p:oleObj>
              </mc:Fallback>
            </mc:AlternateContent>
          </a:graphicData>
        </a:graphic>
      </p:graphicFrame>
      <p:sp>
        <p:nvSpPr>
          <p:cNvPr id="98713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7140" name="Rectangle 4"/>
          <p:cNvSpPr>
            <a:spLocks noChangeArrowheads="1"/>
          </p:cNvSpPr>
          <p:nvPr>
            <p:custDataLst>
              <p:tags r:id="rId4"/>
            </p:custDataLst>
          </p:nvPr>
        </p:nvSpPr>
        <p:spPr bwMode="auto">
          <a:xfrm>
            <a:off x="914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Sequential circuits: all circuits that aren’t combinational</a:t>
            </a:r>
          </a:p>
          <a:p>
            <a:pPr marL="342900" indent="-342900">
              <a:spcBef>
                <a:spcPct val="20000"/>
              </a:spcBef>
              <a:buFontTx/>
              <a:buChar char="•"/>
            </a:pPr>
            <a:r>
              <a:rPr lang="en-US" sz="3200" dirty="0">
                <a:latin typeface="+mj-lt"/>
                <a:cs typeface="Arial" charset="0"/>
              </a:rPr>
              <a:t>A problematic circuit:</a:t>
            </a:r>
          </a:p>
          <a:p>
            <a:pPr marL="342900" indent="-342900">
              <a:spcBef>
                <a:spcPct val="20000"/>
              </a:spcBef>
              <a:buFontTx/>
              <a:buChar char="•"/>
            </a:pPr>
            <a:endParaRPr lang="en-US" sz="2400" dirty="0">
              <a:latin typeface="+mj-lt"/>
              <a:cs typeface="Arial" charset="0"/>
            </a:endParaRPr>
          </a:p>
          <a:p>
            <a:pPr marL="342900" indent="-342900">
              <a:spcBef>
                <a:spcPct val="20000"/>
              </a:spcBef>
              <a:buFontTx/>
              <a:buChar char="•"/>
            </a:pPr>
            <a:endParaRPr lang="en-US" sz="2400" dirty="0">
              <a:latin typeface="+mj-lt"/>
              <a:cs typeface="Arial" charset="0"/>
            </a:endParaRPr>
          </a:p>
          <a:p>
            <a:pPr>
              <a:spcBef>
                <a:spcPct val="20000"/>
              </a:spcBef>
            </a:pPr>
            <a:endParaRPr lang="en-US" sz="2400" dirty="0">
              <a:latin typeface="+mj-lt"/>
              <a:cs typeface="Arial" charset="0"/>
            </a:endParaRPr>
          </a:p>
          <a:p>
            <a:pPr marL="342900" indent="-342900">
              <a:spcBef>
                <a:spcPct val="20000"/>
              </a:spcBef>
              <a:buFontTx/>
              <a:buChar char="•"/>
            </a:pPr>
            <a:r>
              <a:rPr lang="en-US" sz="2200" dirty="0">
                <a:latin typeface="+mj-lt"/>
                <a:cs typeface="Arial" charset="0"/>
              </a:rPr>
              <a:t>No inputs and 1-3 outputs</a:t>
            </a:r>
          </a:p>
          <a:p>
            <a:pPr marL="342900" indent="-342900">
              <a:spcBef>
                <a:spcPct val="20000"/>
              </a:spcBef>
              <a:buFontTx/>
              <a:buChar char="•"/>
            </a:pPr>
            <a:r>
              <a:rPr lang="en-US" sz="2200" dirty="0" err="1">
                <a:latin typeface="+mj-lt"/>
                <a:cs typeface="Arial" charset="0"/>
              </a:rPr>
              <a:t>Astable</a:t>
            </a:r>
            <a:r>
              <a:rPr lang="en-US" sz="2200" dirty="0">
                <a:latin typeface="+mj-lt"/>
                <a:cs typeface="Arial" charset="0"/>
              </a:rPr>
              <a:t> circuit, oscillates</a:t>
            </a:r>
          </a:p>
          <a:p>
            <a:pPr marL="342900" indent="-342900">
              <a:spcBef>
                <a:spcPct val="20000"/>
              </a:spcBef>
              <a:buFontTx/>
              <a:buChar char="•"/>
            </a:pPr>
            <a:r>
              <a:rPr lang="en-US" sz="2200" dirty="0">
                <a:latin typeface="+mj-lt"/>
                <a:cs typeface="Arial" charset="0"/>
              </a:rPr>
              <a:t>Period depends on inverter delay</a:t>
            </a:r>
          </a:p>
          <a:p>
            <a:pPr marL="342900" indent="-342900">
              <a:spcBef>
                <a:spcPct val="20000"/>
              </a:spcBef>
              <a:buFontTx/>
              <a:buChar char="•"/>
            </a:pPr>
            <a:r>
              <a:rPr lang="en-US" sz="2200" dirty="0">
                <a:latin typeface="+mj-lt"/>
                <a:cs typeface="Arial" charset="0"/>
              </a:rPr>
              <a:t>It has a </a:t>
            </a:r>
            <a:r>
              <a:rPr lang="en-US" sz="2200" b="1" i="1" dirty="0">
                <a:latin typeface="+mj-lt"/>
                <a:cs typeface="Arial" charset="0"/>
              </a:rPr>
              <a:t>cyclic path</a:t>
            </a:r>
            <a:r>
              <a:rPr lang="en-US" sz="2200" dirty="0">
                <a:latin typeface="+mj-lt"/>
                <a:cs typeface="Arial" charset="0"/>
              </a:rPr>
              <a:t>: output fed back to input</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Sequential Logic</a:t>
            </a:r>
          </a:p>
        </p:txBody>
      </p:sp>
      <p:graphicFrame>
        <p:nvGraphicFramePr>
          <p:cNvPr id="2" name="Object 1"/>
          <p:cNvGraphicFramePr>
            <a:graphicFrameLocks noChangeAspect="1"/>
          </p:cNvGraphicFramePr>
          <p:nvPr>
            <p:custDataLst>
              <p:tags r:id="rId5"/>
            </p:custDataLst>
            <p:extLst>
              <p:ext uri="{D42A27DB-BD31-4B8C-83A1-F6EECF244321}">
                <p14:modId xmlns:p14="http://schemas.microsoft.com/office/powerpoint/2010/main" val="2807312058"/>
              </p:ext>
            </p:extLst>
          </p:nvPr>
        </p:nvGraphicFramePr>
        <p:xfrm>
          <a:off x="5943600" y="3033906"/>
          <a:ext cx="2971800" cy="1461894"/>
        </p:xfrm>
        <a:graphic>
          <a:graphicData uri="http://schemas.openxmlformats.org/presentationml/2006/ole">
            <mc:AlternateContent xmlns:mc="http://schemas.openxmlformats.org/markup-compatibility/2006">
              <mc:Choice xmlns:v="urn:schemas-microsoft-com:vml" Requires="v">
                <p:oleObj spid="_x0000_s16387" name="VISIO" r:id="rId10" imgW="1744980" imgH="856488" progId="Visio.Drawing.6">
                  <p:embed/>
                </p:oleObj>
              </mc:Choice>
              <mc:Fallback>
                <p:oleObj name="VISIO" r:id="rId10" imgW="1744980" imgH="856488" progId="Visio.Drawing.6">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3600" y="3033906"/>
                        <a:ext cx="2971800" cy="146189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8478478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endParaRPr>
          </a:p>
          <a:p>
            <a:pPr marL="342900" indent="-342900">
              <a:spcBef>
                <a:spcPct val="20000"/>
              </a:spcBef>
            </a:pPr>
            <a:endParaRPr lang="en-US" sz="3200">
              <a:latin typeface="Times New Roman" pitchFamily="18" charset="0"/>
            </a:endParaRPr>
          </a:p>
          <a:p>
            <a:pPr marL="342900" indent="-342900">
              <a:spcBef>
                <a:spcPct val="20000"/>
              </a:spcBef>
            </a:pPr>
            <a:endParaRPr lang="en-US" sz="3200">
              <a:latin typeface="Times New Roman" pitchFamily="18" charset="0"/>
            </a:endParaRPr>
          </a:p>
        </p:txBody>
      </p:sp>
      <p:sp>
        <p:nvSpPr>
          <p:cNvPr id="84999" name="Rectangle 6"/>
          <p:cNvSpPr>
            <a:spLocks noChangeArrowheads="1"/>
          </p:cNvSpPr>
          <p:nvPr>
            <p:custDataLst>
              <p:tags r:id="rId2"/>
            </p:custDataLst>
          </p:nvPr>
        </p:nvSpPr>
        <p:spPr bwMode="auto">
          <a:xfrm>
            <a:off x="2362200" y="5943600"/>
            <a:ext cx="4759325"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FontTx/>
              <a:buChar char="•"/>
            </a:pPr>
            <a:r>
              <a:rPr lang="en-US"/>
              <a:t> Multi-input XOR: Odd parity</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SystemVerilog</a:t>
            </a:r>
            <a:r>
              <a:rPr lang="en-US" sz="4400" dirty="0">
                <a:solidFill>
                  <a:schemeClr val="bg1"/>
                </a:solidFill>
                <a:latin typeface="+mj-lt"/>
              </a:rPr>
              <a:t> Description</a:t>
            </a:r>
          </a:p>
        </p:txBody>
      </p:sp>
      <p:sp>
        <p:nvSpPr>
          <p:cNvPr id="8" name="Rectangle 7"/>
          <p:cNvSpPr/>
          <p:nvPr/>
        </p:nvSpPr>
        <p:spPr>
          <a:xfrm>
            <a:off x="3429000" y="35814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429000" y="3810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429000" y="41148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429000" y="43434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3429000" y="46482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429000" y="48768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3429000" y="51816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3429000" y="54102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7010400" y="35052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7010400" y="37338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7010400" y="40386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7010400" y="42672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7010400" y="45720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7010400" y="48006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7010400" y="51054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7010400" y="5334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3"/>
          <p:cNvSpPr txBox="1">
            <a:spLocks noChangeArrowheads="1"/>
          </p:cNvSpPr>
          <p:nvPr>
            <p:custDataLst>
              <p:tags r:id="rId3"/>
            </p:custDataLst>
          </p:nvPr>
        </p:nvSpPr>
        <p:spPr>
          <a:xfrm>
            <a:off x="533400" y="1219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latin typeface="Courier New"/>
                <a:cs typeface="Courier New"/>
              </a:rPr>
              <a:t>module flop(input  logic </a:t>
            </a:r>
            <a:r>
              <a:rPr lang="en-US" sz="2000" dirty="0" err="1">
                <a:latin typeface="Courier New"/>
                <a:cs typeface="Courier New"/>
              </a:rPr>
              <a:t>clk</a:t>
            </a:r>
            <a:r>
              <a:rPr lang="en-US" sz="2000" dirty="0">
                <a:latin typeface="Courier New"/>
                <a:cs typeface="Courier New"/>
              </a:rPr>
              <a:t>, d,</a:t>
            </a:r>
          </a:p>
          <a:p>
            <a:pPr marL="0" indent="0">
              <a:buNone/>
            </a:pPr>
            <a:r>
              <a:rPr lang="en-US" sz="2000" dirty="0">
                <a:latin typeface="Courier New"/>
                <a:cs typeface="Courier New"/>
              </a:rPr>
              <a:t>		output logic q);</a:t>
            </a:r>
          </a:p>
          <a:p>
            <a:pPr marL="0" indent="0">
              <a:buNone/>
            </a:pPr>
            <a:endParaRPr lang="en-US" sz="2000" dirty="0">
              <a:latin typeface="Courier New"/>
              <a:cs typeface="Courier New"/>
            </a:endParaRPr>
          </a:p>
          <a:p>
            <a:pPr marL="0" indent="0">
              <a:buNone/>
            </a:pPr>
            <a:r>
              <a:rPr lang="en-US" sz="2000" dirty="0">
                <a:latin typeface="Courier New"/>
                <a:cs typeface="Courier New"/>
              </a:rPr>
              <a:t>  </a:t>
            </a:r>
            <a:r>
              <a:rPr lang="en-US" sz="2000" dirty="0" err="1">
                <a:latin typeface="Courier New"/>
                <a:cs typeface="Courier New"/>
              </a:rPr>
              <a:t>always_ff</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a:t>
            </a:r>
            <a:r>
              <a:rPr lang="en-US" sz="2000" dirty="0" err="1">
                <a:latin typeface="Courier New"/>
                <a:cs typeface="Courier New"/>
              </a:rPr>
              <a:t>clk</a:t>
            </a:r>
            <a:r>
              <a:rPr lang="en-US" sz="2000" dirty="0">
                <a:latin typeface="Courier New"/>
                <a:cs typeface="Courier New"/>
              </a:rPr>
              <a:t>)</a:t>
            </a:r>
          </a:p>
          <a:p>
            <a:pPr marL="0" indent="0">
              <a:buNone/>
            </a:pPr>
            <a:r>
              <a:rPr lang="en-US" sz="2000" dirty="0">
                <a:latin typeface="Courier New"/>
                <a:cs typeface="Courier New"/>
              </a:rPr>
              <a:t>    q &lt;= d;</a:t>
            </a:r>
          </a:p>
          <a:p>
            <a:pPr marL="0" indent="0">
              <a:buNone/>
            </a:pPr>
            <a:r>
              <a:rPr lang="en-US" sz="2000" dirty="0" err="1">
                <a:latin typeface="Courier New"/>
                <a:cs typeface="Courier New"/>
              </a:rPr>
              <a:t>endmodule</a:t>
            </a:r>
            <a:endParaRPr lang="en-US" sz="2000" dirty="0">
              <a:latin typeface="Courier New"/>
              <a:cs typeface="Courier New"/>
            </a:endParaRPr>
          </a:p>
          <a:p>
            <a:pPr marL="0" indent="0">
              <a:buNone/>
            </a:pPr>
            <a:endParaRPr lang="en-US" sz="2000" dirty="0">
              <a:latin typeface="Courier New"/>
              <a:cs typeface="Courier New"/>
            </a:endParaRPr>
          </a:p>
          <a:p>
            <a:pPr marL="0" indent="0">
              <a:buNone/>
            </a:pPr>
            <a:endParaRPr lang="en-US" sz="2000" dirty="0">
              <a:latin typeface="Calibri"/>
              <a:cs typeface="Calibri"/>
            </a:endParaRPr>
          </a:p>
        </p:txBody>
      </p:sp>
    </p:spTree>
    <p:extLst>
      <p:ext uri="{BB962C8B-B14F-4D97-AF65-F5344CB8AC3E}">
        <p14:creationId xmlns:p14="http://schemas.microsoft.com/office/powerpoint/2010/main" val="168724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0" nodeType="clickEffect">
                                  <p:stCondLst>
                                    <p:cond delay="0"/>
                                  </p:stCondLst>
                                  <p:childTnLst>
                                    <p:animEffect transition="out" filter="dissolve">
                                      <p:cBhvr>
                                        <p:cTn id="46" dur="500"/>
                                        <p:tgtEl>
                                          <p:spTgt spid="16"/>
                                        </p:tgtEl>
                                      </p:cBhvr>
                                    </p:animEffect>
                                    <p:set>
                                      <p:cBhvr>
                                        <p:cTn id="47" dur="1" fill="hold">
                                          <p:stCondLst>
                                            <p:cond delay="499"/>
                                          </p:stCondLst>
                                        </p:cTn>
                                        <p:tgtEl>
                                          <p:spTgt spid="1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grpId="0" nodeType="clickEffect">
                                  <p:stCondLst>
                                    <p:cond delay="0"/>
                                  </p:stCondLst>
                                  <p:childTnLst>
                                    <p:animEffect transition="out" filter="dissolve">
                                      <p:cBhvr>
                                        <p:cTn id="51" dur="500"/>
                                        <p:tgtEl>
                                          <p:spTgt spid="17"/>
                                        </p:tgtEl>
                                      </p:cBhvr>
                                    </p:animEffect>
                                    <p:set>
                                      <p:cBhvr>
                                        <p:cTn id="52" dur="1" fill="hold">
                                          <p:stCondLst>
                                            <p:cond delay="499"/>
                                          </p:stCondLst>
                                        </p:cTn>
                                        <p:tgtEl>
                                          <p:spTgt spid="1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9" presetClass="exit" presetSubtype="0" fill="hold" grpId="0" nodeType="clickEffect">
                                  <p:stCondLst>
                                    <p:cond delay="0"/>
                                  </p:stCondLst>
                                  <p:childTnLst>
                                    <p:animEffect transition="out" filter="dissolve">
                                      <p:cBhvr>
                                        <p:cTn id="56" dur="500"/>
                                        <p:tgtEl>
                                          <p:spTgt spid="18"/>
                                        </p:tgtEl>
                                      </p:cBhvr>
                                    </p:animEffect>
                                    <p:set>
                                      <p:cBhvr>
                                        <p:cTn id="57" dur="1" fill="hold">
                                          <p:stCondLst>
                                            <p:cond delay="499"/>
                                          </p:stCondLst>
                                        </p:cTn>
                                        <p:tgtEl>
                                          <p:spTgt spid="1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xit" presetSubtype="0" fill="hold" grpId="0" nodeType="clickEffect">
                                  <p:stCondLst>
                                    <p:cond delay="0"/>
                                  </p:stCondLst>
                                  <p:childTnLst>
                                    <p:animEffect transition="out" filter="dissolve">
                                      <p:cBhvr>
                                        <p:cTn id="61" dur="500"/>
                                        <p:tgtEl>
                                          <p:spTgt spid="19"/>
                                        </p:tgtEl>
                                      </p:cBhvr>
                                    </p:animEffect>
                                    <p:set>
                                      <p:cBhvr>
                                        <p:cTn id="62" dur="1" fill="hold">
                                          <p:stCondLst>
                                            <p:cond delay="499"/>
                                          </p:stCondLst>
                                        </p:cTn>
                                        <p:tgtEl>
                                          <p:spTgt spid="1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xit" presetSubtype="0" fill="hold" grpId="0" nodeType="clickEffect">
                                  <p:stCondLst>
                                    <p:cond delay="0"/>
                                  </p:stCondLst>
                                  <p:childTnLst>
                                    <p:animEffect transition="out" filter="dissolve">
                                      <p:cBhvr>
                                        <p:cTn id="66" dur="500"/>
                                        <p:tgtEl>
                                          <p:spTgt spid="20"/>
                                        </p:tgtEl>
                                      </p:cBhvr>
                                    </p:animEffect>
                                    <p:set>
                                      <p:cBhvr>
                                        <p:cTn id="67" dur="1" fill="hold">
                                          <p:stCondLst>
                                            <p:cond delay="499"/>
                                          </p:stCondLst>
                                        </p:cTn>
                                        <p:tgtEl>
                                          <p:spTgt spid="2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9" presetClass="exit" presetSubtype="0" fill="hold" grpId="0" nodeType="clickEffect">
                                  <p:stCondLst>
                                    <p:cond delay="0"/>
                                  </p:stCondLst>
                                  <p:childTnLst>
                                    <p:animEffect transition="out" filter="dissolve">
                                      <p:cBhvr>
                                        <p:cTn id="71" dur="500"/>
                                        <p:tgtEl>
                                          <p:spTgt spid="21"/>
                                        </p:tgtEl>
                                      </p:cBhvr>
                                    </p:animEffect>
                                    <p:set>
                                      <p:cBhvr>
                                        <p:cTn id="72" dur="1" fill="hold">
                                          <p:stCondLst>
                                            <p:cond delay="499"/>
                                          </p:stCondLst>
                                        </p:cTn>
                                        <p:tgtEl>
                                          <p:spTgt spid="21"/>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0" nodeType="clickEffect">
                                  <p:stCondLst>
                                    <p:cond delay="0"/>
                                  </p:stCondLst>
                                  <p:childTnLst>
                                    <p:animEffect transition="out" filter="dissolve">
                                      <p:cBhvr>
                                        <p:cTn id="76" dur="500"/>
                                        <p:tgtEl>
                                          <p:spTgt spid="22"/>
                                        </p:tgtEl>
                                      </p:cBhvr>
                                    </p:animEffect>
                                    <p:set>
                                      <p:cBhvr>
                                        <p:cTn id="77" dur="1" fill="hold">
                                          <p:stCondLst>
                                            <p:cond delay="499"/>
                                          </p:stCondLst>
                                        </p:cTn>
                                        <p:tgtEl>
                                          <p:spTgt spid="22"/>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9" presetClass="exit" presetSubtype="0" fill="hold" grpId="0" nodeType="clickEffect">
                                  <p:stCondLst>
                                    <p:cond delay="0"/>
                                  </p:stCondLst>
                                  <p:childTnLst>
                                    <p:animEffect transition="out" filter="dissolve">
                                      <p:cBhvr>
                                        <p:cTn id="81" dur="500"/>
                                        <p:tgtEl>
                                          <p:spTgt spid="23"/>
                                        </p:tgtEl>
                                      </p:cBhvr>
                                    </p:animEffect>
                                    <p:set>
                                      <p:cBhvr>
                                        <p:cTn id="82"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endParaRPr>
          </a:p>
          <a:p>
            <a:pPr marL="342900" indent="-342900">
              <a:spcBef>
                <a:spcPct val="20000"/>
              </a:spcBef>
            </a:pPr>
            <a:endParaRPr lang="en-US" sz="3200">
              <a:latin typeface="Times New Roman" pitchFamily="18" charset="0"/>
            </a:endParaRPr>
          </a:p>
          <a:p>
            <a:pPr marL="342900" indent="-342900">
              <a:spcBef>
                <a:spcPct val="20000"/>
              </a:spcBef>
            </a:pPr>
            <a:endParaRPr lang="en-US" sz="3200">
              <a:latin typeface="Times New Roman" pitchFamily="18" charset="0"/>
            </a:endParaRPr>
          </a:p>
        </p:txBody>
      </p:sp>
      <p:sp>
        <p:nvSpPr>
          <p:cNvPr id="84999" name="Rectangle 6"/>
          <p:cNvSpPr>
            <a:spLocks noChangeArrowheads="1"/>
          </p:cNvSpPr>
          <p:nvPr>
            <p:custDataLst>
              <p:tags r:id="rId2"/>
            </p:custDataLst>
          </p:nvPr>
        </p:nvSpPr>
        <p:spPr bwMode="auto">
          <a:xfrm>
            <a:off x="2362200" y="5943600"/>
            <a:ext cx="4759325"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FontTx/>
              <a:buChar char="•"/>
            </a:pPr>
            <a:r>
              <a:rPr lang="en-US"/>
              <a:t> Multi-input XOR: Odd parity</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SystemVerilog</a:t>
            </a:r>
            <a:r>
              <a:rPr lang="en-US" sz="4400" dirty="0">
                <a:solidFill>
                  <a:schemeClr val="bg1"/>
                </a:solidFill>
                <a:latin typeface="+mj-lt"/>
              </a:rPr>
              <a:t> Description</a:t>
            </a:r>
          </a:p>
        </p:txBody>
      </p:sp>
      <p:sp>
        <p:nvSpPr>
          <p:cNvPr id="8" name="Rectangle 7"/>
          <p:cNvSpPr/>
          <p:nvPr/>
        </p:nvSpPr>
        <p:spPr>
          <a:xfrm>
            <a:off x="3429000" y="35814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429000" y="3810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429000" y="41148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429000" y="43434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3429000" y="46482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429000" y="48768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3429000" y="51816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3429000" y="54102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7010400" y="35052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7010400" y="37338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7010400" y="40386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7010400" y="42672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7010400" y="45720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7010400" y="48006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7010400" y="51054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7010400" y="5334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3"/>
          <p:cNvSpPr txBox="1">
            <a:spLocks noChangeArrowheads="1"/>
          </p:cNvSpPr>
          <p:nvPr>
            <p:custDataLst>
              <p:tags r:id="rId3"/>
            </p:custDataLst>
          </p:nvPr>
        </p:nvSpPr>
        <p:spPr>
          <a:xfrm>
            <a:off x="533400" y="1219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latin typeface="Courier New"/>
                <a:cs typeface="Courier New"/>
              </a:rPr>
              <a:t>module </a:t>
            </a:r>
            <a:r>
              <a:rPr lang="en-US" sz="2000" dirty="0" err="1">
                <a:latin typeface="Courier New"/>
                <a:cs typeface="Courier New"/>
              </a:rPr>
              <a:t>flopenr</a:t>
            </a:r>
            <a:r>
              <a:rPr lang="en-US" sz="2000" dirty="0">
                <a:latin typeface="Courier New"/>
                <a:cs typeface="Courier New"/>
              </a:rPr>
              <a:t>(input  logic </a:t>
            </a:r>
            <a:r>
              <a:rPr lang="en-US" sz="2000" dirty="0" err="1">
                <a:latin typeface="Courier New"/>
                <a:cs typeface="Courier New"/>
              </a:rPr>
              <a:t>clk</a:t>
            </a:r>
            <a:r>
              <a:rPr lang="en-US" sz="2000" dirty="0">
                <a:latin typeface="Courier New"/>
                <a:cs typeface="Courier New"/>
              </a:rPr>
              <a:t>, en, reset, d,</a:t>
            </a:r>
          </a:p>
          <a:p>
            <a:pPr marL="0" indent="0">
              <a:buNone/>
            </a:pPr>
            <a:r>
              <a:rPr lang="en-US" sz="2000" dirty="0">
                <a:latin typeface="Courier New"/>
                <a:cs typeface="Courier New"/>
              </a:rPr>
              <a:t>		   output logic q);</a:t>
            </a:r>
          </a:p>
          <a:p>
            <a:pPr marL="0" indent="0">
              <a:buNone/>
            </a:pPr>
            <a:endParaRPr lang="en-US" sz="2000" dirty="0">
              <a:latin typeface="Courier New"/>
              <a:cs typeface="Courier New"/>
            </a:endParaRPr>
          </a:p>
          <a:p>
            <a:pPr marL="0" indent="0">
              <a:buNone/>
            </a:pPr>
            <a:r>
              <a:rPr lang="en-US" sz="2000" dirty="0">
                <a:latin typeface="Courier New"/>
                <a:cs typeface="Courier New"/>
              </a:rPr>
              <a:t>  </a:t>
            </a:r>
            <a:r>
              <a:rPr lang="en-US" sz="2000" dirty="0" err="1">
                <a:latin typeface="Courier New"/>
                <a:cs typeface="Courier New"/>
              </a:rPr>
              <a:t>always_ff</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a:t>
            </a:r>
            <a:r>
              <a:rPr lang="en-US" sz="2000" dirty="0" err="1">
                <a:latin typeface="Courier New"/>
                <a:cs typeface="Courier New"/>
              </a:rPr>
              <a:t>clk</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reset)</a:t>
            </a:r>
          </a:p>
          <a:p>
            <a:pPr marL="0" indent="0">
              <a:buNone/>
            </a:pPr>
            <a:r>
              <a:rPr lang="en-US" sz="2000" dirty="0">
                <a:latin typeface="Courier New"/>
                <a:cs typeface="Courier New"/>
              </a:rPr>
              <a:t>    if (reset)   q &lt;= 0;</a:t>
            </a:r>
          </a:p>
          <a:p>
            <a:pPr marL="0" indent="0">
              <a:buNone/>
            </a:pPr>
            <a:r>
              <a:rPr lang="en-US" sz="2000" dirty="0">
                <a:latin typeface="Courier New"/>
                <a:cs typeface="Courier New"/>
              </a:rPr>
              <a:t>    else if (en) q &lt;= d;</a:t>
            </a:r>
          </a:p>
          <a:p>
            <a:pPr marL="0" indent="0">
              <a:buNone/>
            </a:pPr>
            <a:r>
              <a:rPr lang="en-US" sz="2000" dirty="0" err="1">
                <a:latin typeface="Courier New"/>
                <a:cs typeface="Courier New"/>
              </a:rPr>
              <a:t>endmodule</a:t>
            </a:r>
            <a:endParaRPr lang="en-US" sz="2000" dirty="0">
              <a:latin typeface="Courier New"/>
              <a:cs typeface="Courier New"/>
            </a:endParaRPr>
          </a:p>
          <a:p>
            <a:pPr marL="0" indent="0">
              <a:buNone/>
            </a:pPr>
            <a:endParaRPr lang="en-US" sz="2000" dirty="0">
              <a:latin typeface="Courier New"/>
              <a:cs typeface="Courier New"/>
            </a:endParaRPr>
          </a:p>
          <a:p>
            <a:pPr marL="0" indent="0">
              <a:buNone/>
            </a:pPr>
            <a:endParaRPr lang="en-US" sz="2000" dirty="0">
              <a:latin typeface="Calibri"/>
              <a:cs typeface="Calibri"/>
            </a:endParaRPr>
          </a:p>
        </p:txBody>
      </p:sp>
    </p:spTree>
    <p:extLst>
      <p:ext uri="{BB962C8B-B14F-4D97-AF65-F5344CB8AC3E}">
        <p14:creationId xmlns:p14="http://schemas.microsoft.com/office/powerpoint/2010/main" val="13300191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0" nodeType="clickEffect">
                                  <p:stCondLst>
                                    <p:cond delay="0"/>
                                  </p:stCondLst>
                                  <p:childTnLst>
                                    <p:animEffect transition="out" filter="dissolve">
                                      <p:cBhvr>
                                        <p:cTn id="46" dur="500"/>
                                        <p:tgtEl>
                                          <p:spTgt spid="16"/>
                                        </p:tgtEl>
                                      </p:cBhvr>
                                    </p:animEffect>
                                    <p:set>
                                      <p:cBhvr>
                                        <p:cTn id="47" dur="1" fill="hold">
                                          <p:stCondLst>
                                            <p:cond delay="499"/>
                                          </p:stCondLst>
                                        </p:cTn>
                                        <p:tgtEl>
                                          <p:spTgt spid="1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grpId="0" nodeType="clickEffect">
                                  <p:stCondLst>
                                    <p:cond delay="0"/>
                                  </p:stCondLst>
                                  <p:childTnLst>
                                    <p:animEffect transition="out" filter="dissolve">
                                      <p:cBhvr>
                                        <p:cTn id="51" dur="500"/>
                                        <p:tgtEl>
                                          <p:spTgt spid="17"/>
                                        </p:tgtEl>
                                      </p:cBhvr>
                                    </p:animEffect>
                                    <p:set>
                                      <p:cBhvr>
                                        <p:cTn id="52" dur="1" fill="hold">
                                          <p:stCondLst>
                                            <p:cond delay="499"/>
                                          </p:stCondLst>
                                        </p:cTn>
                                        <p:tgtEl>
                                          <p:spTgt spid="1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9" presetClass="exit" presetSubtype="0" fill="hold" grpId="0" nodeType="clickEffect">
                                  <p:stCondLst>
                                    <p:cond delay="0"/>
                                  </p:stCondLst>
                                  <p:childTnLst>
                                    <p:animEffect transition="out" filter="dissolve">
                                      <p:cBhvr>
                                        <p:cTn id="56" dur="500"/>
                                        <p:tgtEl>
                                          <p:spTgt spid="18"/>
                                        </p:tgtEl>
                                      </p:cBhvr>
                                    </p:animEffect>
                                    <p:set>
                                      <p:cBhvr>
                                        <p:cTn id="57" dur="1" fill="hold">
                                          <p:stCondLst>
                                            <p:cond delay="499"/>
                                          </p:stCondLst>
                                        </p:cTn>
                                        <p:tgtEl>
                                          <p:spTgt spid="1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xit" presetSubtype="0" fill="hold" grpId="0" nodeType="clickEffect">
                                  <p:stCondLst>
                                    <p:cond delay="0"/>
                                  </p:stCondLst>
                                  <p:childTnLst>
                                    <p:animEffect transition="out" filter="dissolve">
                                      <p:cBhvr>
                                        <p:cTn id="61" dur="500"/>
                                        <p:tgtEl>
                                          <p:spTgt spid="19"/>
                                        </p:tgtEl>
                                      </p:cBhvr>
                                    </p:animEffect>
                                    <p:set>
                                      <p:cBhvr>
                                        <p:cTn id="62" dur="1" fill="hold">
                                          <p:stCondLst>
                                            <p:cond delay="499"/>
                                          </p:stCondLst>
                                        </p:cTn>
                                        <p:tgtEl>
                                          <p:spTgt spid="1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xit" presetSubtype="0" fill="hold" grpId="0" nodeType="clickEffect">
                                  <p:stCondLst>
                                    <p:cond delay="0"/>
                                  </p:stCondLst>
                                  <p:childTnLst>
                                    <p:animEffect transition="out" filter="dissolve">
                                      <p:cBhvr>
                                        <p:cTn id="66" dur="500"/>
                                        <p:tgtEl>
                                          <p:spTgt spid="20"/>
                                        </p:tgtEl>
                                      </p:cBhvr>
                                    </p:animEffect>
                                    <p:set>
                                      <p:cBhvr>
                                        <p:cTn id="67" dur="1" fill="hold">
                                          <p:stCondLst>
                                            <p:cond delay="499"/>
                                          </p:stCondLst>
                                        </p:cTn>
                                        <p:tgtEl>
                                          <p:spTgt spid="2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9" presetClass="exit" presetSubtype="0" fill="hold" grpId="0" nodeType="clickEffect">
                                  <p:stCondLst>
                                    <p:cond delay="0"/>
                                  </p:stCondLst>
                                  <p:childTnLst>
                                    <p:animEffect transition="out" filter="dissolve">
                                      <p:cBhvr>
                                        <p:cTn id="71" dur="500"/>
                                        <p:tgtEl>
                                          <p:spTgt spid="21"/>
                                        </p:tgtEl>
                                      </p:cBhvr>
                                    </p:animEffect>
                                    <p:set>
                                      <p:cBhvr>
                                        <p:cTn id="72" dur="1" fill="hold">
                                          <p:stCondLst>
                                            <p:cond delay="499"/>
                                          </p:stCondLst>
                                        </p:cTn>
                                        <p:tgtEl>
                                          <p:spTgt spid="21"/>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0" nodeType="clickEffect">
                                  <p:stCondLst>
                                    <p:cond delay="0"/>
                                  </p:stCondLst>
                                  <p:childTnLst>
                                    <p:animEffect transition="out" filter="dissolve">
                                      <p:cBhvr>
                                        <p:cTn id="76" dur="500"/>
                                        <p:tgtEl>
                                          <p:spTgt spid="22"/>
                                        </p:tgtEl>
                                      </p:cBhvr>
                                    </p:animEffect>
                                    <p:set>
                                      <p:cBhvr>
                                        <p:cTn id="77" dur="1" fill="hold">
                                          <p:stCondLst>
                                            <p:cond delay="499"/>
                                          </p:stCondLst>
                                        </p:cTn>
                                        <p:tgtEl>
                                          <p:spTgt spid="22"/>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9" presetClass="exit" presetSubtype="0" fill="hold" grpId="0" nodeType="clickEffect">
                                  <p:stCondLst>
                                    <p:cond delay="0"/>
                                  </p:stCondLst>
                                  <p:childTnLst>
                                    <p:animEffect transition="out" filter="dissolve">
                                      <p:cBhvr>
                                        <p:cTn id="81" dur="500"/>
                                        <p:tgtEl>
                                          <p:spTgt spid="23"/>
                                        </p:tgtEl>
                                      </p:cBhvr>
                                    </p:animEffect>
                                    <p:set>
                                      <p:cBhvr>
                                        <p:cTn id="82"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endParaRPr>
          </a:p>
          <a:p>
            <a:pPr marL="342900" indent="-342900">
              <a:spcBef>
                <a:spcPct val="20000"/>
              </a:spcBef>
            </a:pPr>
            <a:endParaRPr lang="en-US" sz="3200">
              <a:latin typeface="Times New Roman" pitchFamily="18" charset="0"/>
            </a:endParaRPr>
          </a:p>
          <a:p>
            <a:pPr marL="342900" indent="-342900">
              <a:spcBef>
                <a:spcPct val="20000"/>
              </a:spcBef>
            </a:pPr>
            <a:endParaRPr lang="en-US" sz="3200">
              <a:latin typeface="Times New Roman" pitchFamily="18" charset="0"/>
            </a:endParaRPr>
          </a:p>
        </p:txBody>
      </p:sp>
      <p:sp>
        <p:nvSpPr>
          <p:cNvPr id="84999" name="Rectangle 6"/>
          <p:cNvSpPr>
            <a:spLocks noChangeArrowheads="1"/>
          </p:cNvSpPr>
          <p:nvPr>
            <p:custDataLst>
              <p:tags r:id="rId2"/>
            </p:custDataLst>
          </p:nvPr>
        </p:nvSpPr>
        <p:spPr bwMode="auto">
          <a:xfrm>
            <a:off x="2362200" y="5943600"/>
            <a:ext cx="4759325"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FontTx/>
              <a:buChar char="•"/>
            </a:pPr>
            <a:r>
              <a:rPr lang="en-US"/>
              <a:t> Multi-input XOR: Odd parity</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SystemVerilog</a:t>
            </a:r>
            <a:r>
              <a:rPr lang="en-US" sz="4400" dirty="0">
                <a:solidFill>
                  <a:schemeClr val="bg1"/>
                </a:solidFill>
                <a:latin typeface="+mj-lt"/>
              </a:rPr>
              <a:t> Description</a:t>
            </a:r>
          </a:p>
        </p:txBody>
      </p:sp>
      <p:sp>
        <p:nvSpPr>
          <p:cNvPr id="8" name="Rectangle 7"/>
          <p:cNvSpPr/>
          <p:nvPr/>
        </p:nvSpPr>
        <p:spPr>
          <a:xfrm>
            <a:off x="3429000" y="35814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429000" y="3810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429000" y="41148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429000" y="43434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3429000" y="46482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429000" y="48768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3429000" y="51816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3429000" y="54102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7010400" y="35052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7010400" y="37338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7010400" y="40386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7010400" y="42672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7010400" y="45720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7010400" y="48006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7010400" y="51054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7010400" y="5334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3"/>
          <p:cNvSpPr txBox="1">
            <a:spLocks noChangeArrowheads="1"/>
          </p:cNvSpPr>
          <p:nvPr>
            <p:custDataLst>
              <p:tags r:id="rId3"/>
            </p:custDataLst>
          </p:nvPr>
        </p:nvSpPr>
        <p:spPr>
          <a:xfrm>
            <a:off x="533400" y="1219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latin typeface="Courier New"/>
                <a:cs typeface="Courier New"/>
              </a:rPr>
              <a:t>module </a:t>
            </a:r>
            <a:r>
              <a:rPr lang="en-US" sz="2000" dirty="0" err="1">
                <a:latin typeface="Courier New"/>
                <a:cs typeface="Courier New"/>
              </a:rPr>
              <a:t>flopenr</a:t>
            </a:r>
            <a:r>
              <a:rPr lang="en-US" sz="2000" dirty="0">
                <a:latin typeface="Courier New"/>
                <a:cs typeface="Courier New"/>
              </a:rPr>
              <a:t> #(parameter WIDTH = 4)</a:t>
            </a:r>
          </a:p>
          <a:p>
            <a:pPr marL="0" indent="0">
              <a:buNone/>
            </a:pPr>
            <a:r>
              <a:rPr lang="en-US" sz="2000" dirty="0">
                <a:latin typeface="Courier New"/>
                <a:cs typeface="Courier New"/>
              </a:rPr>
              <a:t>                (input  logic </a:t>
            </a:r>
            <a:r>
              <a:rPr lang="en-US" sz="2000" dirty="0" err="1">
                <a:latin typeface="Courier New"/>
                <a:cs typeface="Courier New"/>
              </a:rPr>
              <a:t>clk</a:t>
            </a:r>
            <a:r>
              <a:rPr lang="en-US" sz="2000" dirty="0">
                <a:latin typeface="Courier New"/>
                <a:cs typeface="Courier New"/>
              </a:rPr>
              <a:t>, reset, en,</a:t>
            </a:r>
          </a:p>
          <a:p>
            <a:pPr marL="0" indent="0">
              <a:buNone/>
            </a:pPr>
            <a:r>
              <a:rPr lang="en-US" sz="2000" dirty="0">
                <a:latin typeface="Courier New"/>
                <a:cs typeface="Courier New"/>
              </a:rPr>
              <a:t>                 input  logic [WIDTH-1:0] d, </a:t>
            </a:r>
          </a:p>
          <a:p>
            <a:pPr marL="0" indent="0">
              <a:buNone/>
            </a:pPr>
            <a:r>
              <a:rPr lang="en-US" sz="2000" dirty="0">
                <a:latin typeface="Courier New"/>
                <a:cs typeface="Courier New"/>
              </a:rPr>
              <a:t>                 output logic [WIDTH-1:0] q);</a:t>
            </a:r>
          </a:p>
          <a:p>
            <a:pPr marL="0" indent="0">
              <a:buNone/>
            </a:pPr>
            <a:r>
              <a:rPr lang="en-US" sz="2000" dirty="0">
                <a:latin typeface="Courier New"/>
                <a:cs typeface="Courier New"/>
              </a:rPr>
              <a:t>  </a:t>
            </a:r>
            <a:r>
              <a:rPr lang="en-US" sz="2000" dirty="0" err="1">
                <a:latin typeface="Courier New"/>
                <a:cs typeface="Courier New"/>
              </a:rPr>
              <a:t>always_ff</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a:t>
            </a:r>
            <a:r>
              <a:rPr lang="en-US" sz="2000" dirty="0" err="1">
                <a:latin typeface="Courier New"/>
                <a:cs typeface="Courier New"/>
              </a:rPr>
              <a:t>clk</a:t>
            </a:r>
            <a:r>
              <a:rPr lang="en-US" sz="2000" dirty="0">
                <a:latin typeface="Courier New"/>
                <a:cs typeface="Courier New"/>
              </a:rPr>
              <a:t>, </a:t>
            </a:r>
            <a:r>
              <a:rPr lang="en-US" sz="2000" dirty="0" err="1">
                <a:latin typeface="Courier New"/>
                <a:cs typeface="Courier New"/>
              </a:rPr>
              <a:t>posedge</a:t>
            </a:r>
            <a:r>
              <a:rPr lang="en-US" sz="2000" dirty="0">
                <a:latin typeface="Courier New"/>
                <a:cs typeface="Courier New"/>
              </a:rPr>
              <a:t> reset) </a:t>
            </a:r>
          </a:p>
          <a:p>
            <a:pPr marL="0" indent="0">
              <a:buNone/>
            </a:pPr>
            <a:r>
              <a:rPr lang="en-US" sz="2000" dirty="0">
                <a:latin typeface="Courier New"/>
                <a:cs typeface="Courier New"/>
              </a:rPr>
              <a:t>    if (reset) q &lt;= 0;</a:t>
            </a:r>
          </a:p>
          <a:p>
            <a:pPr marL="0" indent="0">
              <a:buNone/>
            </a:pPr>
            <a:r>
              <a:rPr lang="en-US" sz="2000" dirty="0">
                <a:latin typeface="Courier New"/>
                <a:cs typeface="Courier New"/>
              </a:rPr>
              <a:t>    else if (en) q &lt;= d;</a:t>
            </a:r>
          </a:p>
          <a:p>
            <a:pPr marL="0" indent="0">
              <a:buNone/>
            </a:pPr>
            <a:r>
              <a:rPr lang="en-US" sz="2000" dirty="0" err="1">
                <a:latin typeface="Courier New"/>
                <a:cs typeface="Courier New"/>
              </a:rPr>
              <a:t>endmodule</a:t>
            </a:r>
            <a:endParaRPr lang="en-US" sz="2000" dirty="0">
              <a:latin typeface="Calibri"/>
              <a:cs typeface="Calibri"/>
            </a:endParaRPr>
          </a:p>
        </p:txBody>
      </p:sp>
    </p:spTree>
    <p:extLst>
      <p:ext uri="{BB962C8B-B14F-4D97-AF65-F5344CB8AC3E}">
        <p14:creationId xmlns:p14="http://schemas.microsoft.com/office/powerpoint/2010/main" val="29114301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0" nodeType="clickEffect">
                                  <p:stCondLst>
                                    <p:cond delay="0"/>
                                  </p:stCondLst>
                                  <p:childTnLst>
                                    <p:animEffect transition="out" filter="dissolve">
                                      <p:cBhvr>
                                        <p:cTn id="46" dur="500"/>
                                        <p:tgtEl>
                                          <p:spTgt spid="16"/>
                                        </p:tgtEl>
                                      </p:cBhvr>
                                    </p:animEffect>
                                    <p:set>
                                      <p:cBhvr>
                                        <p:cTn id="47" dur="1" fill="hold">
                                          <p:stCondLst>
                                            <p:cond delay="499"/>
                                          </p:stCondLst>
                                        </p:cTn>
                                        <p:tgtEl>
                                          <p:spTgt spid="1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grpId="0" nodeType="clickEffect">
                                  <p:stCondLst>
                                    <p:cond delay="0"/>
                                  </p:stCondLst>
                                  <p:childTnLst>
                                    <p:animEffect transition="out" filter="dissolve">
                                      <p:cBhvr>
                                        <p:cTn id="51" dur="500"/>
                                        <p:tgtEl>
                                          <p:spTgt spid="17"/>
                                        </p:tgtEl>
                                      </p:cBhvr>
                                    </p:animEffect>
                                    <p:set>
                                      <p:cBhvr>
                                        <p:cTn id="52" dur="1" fill="hold">
                                          <p:stCondLst>
                                            <p:cond delay="499"/>
                                          </p:stCondLst>
                                        </p:cTn>
                                        <p:tgtEl>
                                          <p:spTgt spid="1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9" presetClass="exit" presetSubtype="0" fill="hold" grpId="0" nodeType="clickEffect">
                                  <p:stCondLst>
                                    <p:cond delay="0"/>
                                  </p:stCondLst>
                                  <p:childTnLst>
                                    <p:animEffect transition="out" filter="dissolve">
                                      <p:cBhvr>
                                        <p:cTn id="56" dur="500"/>
                                        <p:tgtEl>
                                          <p:spTgt spid="18"/>
                                        </p:tgtEl>
                                      </p:cBhvr>
                                    </p:animEffect>
                                    <p:set>
                                      <p:cBhvr>
                                        <p:cTn id="57" dur="1" fill="hold">
                                          <p:stCondLst>
                                            <p:cond delay="499"/>
                                          </p:stCondLst>
                                        </p:cTn>
                                        <p:tgtEl>
                                          <p:spTgt spid="1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xit" presetSubtype="0" fill="hold" grpId="0" nodeType="clickEffect">
                                  <p:stCondLst>
                                    <p:cond delay="0"/>
                                  </p:stCondLst>
                                  <p:childTnLst>
                                    <p:animEffect transition="out" filter="dissolve">
                                      <p:cBhvr>
                                        <p:cTn id="61" dur="500"/>
                                        <p:tgtEl>
                                          <p:spTgt spid="19"/>
                                        </p:tgtEl>
                                      </p:cBhvr>
                                    </p:animEffect>
                                    <p:set>
                                      <p:cBhvr>
                                        <p:cTn id="62" dur="1" fill="hold">
                                          <p:stCondLst>
                                            <p:cond delay="499"/>
                                          </p:stCondLst>
                                        </p:cTn>
                                        <p:tgtEl>
                                          <p:spTgt spid="1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xit" presetSubtype="0" fill="hold" grpId="0" nodeType="clickEffect">
                                  <p:stCondLst>
                                    <p:cond delay="0"/>
                                  </p:stCondLst>
                                  <p:childTnLst>
                                    <p:animEffect transition="out" filter="dissolve">
                                      <p:cBhvr>
                                        <p:cTn id="66" dur="500"/>
                                        <p:tgtEl>
                                          <p:spTgt spid="20"/>
                                        </p:tgtEl>
                                      </p:cBhvr>
                                    </p:animEffect>
                                    <p:set>
                                      <p:cBhvr>
                                        <p:cTn id="67" dur="1" fill="hold">
                                          <p:stCondLst>
                                            <p:cond delay="499"/>
                                          </p:stCondLst>
                                        </p:cTn>
                                        <p:tgtEl>
                                          <p:spTgt spid="2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9" presetClass="exit" presetSubtype="0" fill="hold" grpId="0" nodeType="clickEffect">
                                  <p:stCondLst>
                                    <p:cond delay="0"/>
                                  </p:stCondLst>
                                  <p:childTnLst>
                                    <p:animEffect transition="out" filter="dissolve">
                                      <p:cBhvr>
                                        <p:cTn id="71" dur="500"/>
                                        <p:tgtEl>
                                          <p:spTgt spid="21"/>
                                        </p:tgtEl>
                                      </p:cBhvr>
                                    </p:animEffect>
                                    <p:set>
                                      <p:cBhvr>
                                        <p:cTn id="72" dur="1" fill="hold">
                                          <p:stCondLst>
                                            <p:cond delay="499"/>
                                          </p:stCondLst>
                                        </p:cTn>
                                        <p:tgtEl>
                                          <p:spTgt spid="21"/>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0" nodeType="clickEffect">
                                  <p:stCondLst>
                                    <p:cond delay="0"/>
                                  </p:stCondLst>
                                  <p:childTnLst>
                                    <p:animEffect transition="out" filter="dissolve">
                                      <p:cBhvr>
                                        <p:cTn id="76" dur="500"/>
                                        <p:tgtEl>
                                          <p:spTgt spid="22"/>
                                        </p:tgtEl>
                                      </p:cBhvr>
                                    </p:animEffect>
                                    <p:set>
                                      <p:cBhvr>
                                        <p:cTn id="77" dur="1" fill="hold">
                                          <p:stCondLst>
                                            <p:cond delay="499"/>
                                          </p:stCondLst>
                                        </p:cTn>
                                        <p:tgtEl>
                                          <p:spTgt spid="22"/>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9" presetClass="exit" presetSubtype="0" fill="hold" grpId="0" nodeType="clickEffect">
                                  <p:stCondLst>
                                    <p:cond delay="0"/>
                                  </p:stCondLst>
                                  <p:childTnLst>
                                    <p:animEffect transition="out" filter="dissolve">
                                      <p:cBhvr>
                                        <p:cTn id="81" dur="500"/>
                                        <p:tgtEl>
                                          <p:spTgt spid="23"/>
                                        </p:tgtEl>
                                      </p:cBhvr>
                                    </p:animEffect>
                                    <p:set>
                                      <p:cBhvr>
                                        <p:cTn id="82"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0212" name="Rectangle 4"/>
          <p:cNvSpPr>
            <a:spLocks noChangeArrowheads="1"/>
          </p:cNvSpPr>
          <p:nvPr>
            <p:custDataLst>
              <p:tags r:id="rId2"/>
            </p:custDataLst>
          </p:nvPr>
        </p:nvSpPr>
        <p:spPr bwMode="auto">
          <a:xfrm>
            <a:off x="533400" y="9906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Breaks cyclic paths by </a:t>
            </a:r>
            <a:r>
              <a:rPr lang="en-US" sz="2400" b="1" dirty="0">
                <a:latin typeface="+mj-lt"/>
                <a:cs typeface="Arial" charset="0"/>
              </a:rPr>
              <a:t>inserting registers</a:t>
            </a:r>
          </a:p>
          <a:p>
            <a:pPr marL="342900" indent="-342900">
              <a:spcBef>
                <a:spcPct val="20000"/>
              </a:spcBef>
              <a:buFontTx/>
              <a:buChar char="•"/>
            </a:pPr>
            <a:r>
              <a:rPr lang="en-US" sz="2400" dirty="0">
                <a:latin typeface="+mj-lt"/>
                <a:cs typeface="Arial" charset="0"/>
              </a:rPr>
              <a:t>Registers contain </a:t>
            </a:r>
            <a:r>
              <a:rPr lang="en-US" sz="2400" b="1" dirty="0">
                <a:latin typeface="+mj-lt"/>
                <a:cs typeface="Arial" charset="0"/>
              </a:rPr>
              <a:t>state</a:t>
            </a:r>
            <a:r>
              <a:rPr lang="en-US" sz="2400" dirty="0">
                <a:latin typeface="+mj-lt"/>
                <a:cs typeface="Arial" charset="0"/>
              </a:rPr>
              <a:t> of the system</a:t>
            </a:r>
          </a:p>
          <a:p>
            <a:pPr marL="342900" indent="-342900">
              <a:spcBef>
                <a:spcPct val="20000"/>
              </a:spcBef>
              <a:buFontTx/>
              <a:buChar char="•"/>
            </a:pPr>
            <a:r>
              <a:rPr lang="en-US" sz="2400" dirty="0">
                <a:latin typeface="+mj-lt"/>
                <a:cs typeface="Arial" charset="0"/>
              </a:rPr>
              <a:t>State changes at clock edge: system </a:t>
            </a:r>
            <a:r>
              <a:rPr lang="en-US" sz="2400" b="1" dirty="0">
                <a:latin typeface="+mj-lt"/>
                <a:cs typeface="Arial" charset="0"/>
              </a:rPr>
              <a:t>synchronized</a:t>
            </a:r>
            <a:r>
              <a:rPr lang="en-US" sz="2400" dirty="0">
                <a:latin typeface="+mj-lt"/>
                <a:cs typeface="Arial" charset="0"/>
              </a:rPr>
              <a:t>  to the clock</a:t>
            </a:r>
          </a:p>
          <a:p>
            <a:pPr marL="342900" indent="-342900">
              <a:spcBef>
                <a:spcPct val="20000"/>
              </a:spcBef>
              <a:buFontTx/>
              <a:buChar char="•"/>
            </a:pPr>
            <a:r>
              <a:rPr lang="en-US" sz="2400" b="1" dirty="0">
                <a:latin typeface="+mj-lt"/>
                <a:cs typeface="Arial" charset="0"/>
              </a:rPr>
              <a:t>Rules</a:t>
            </a:r>
            <a:r>
              <a:rPr lang="en-US" sz="2400" dirty="0">
                <a:latin typeface="+mj-lt"/>
                <a:cs typeface="Arial" charset="0"/>
              </a:rPr>
              <a:t> of synchronous sequential circuit composition:</a:t>
            </a:r>
          </a:p>
          <a:p>
            <a:pPr marL="742950" lvl="1" indent="-285750">
              <a:spcBef>
                <a:spcPct val="20000"/>
              </a:spcBef>
              <a:buFontTx/>
              <a:buChar char="–"/>
            </a:pPr>
            <a:r>
              <a:rPr lang="en-US" sz="2000" dirty="0">
                <a:latin typeface="+mj-lt"/>
                <a:cs typeface="Arial" charset="0"/>
              </a:rPr>
              <a:t>Every circuit element is either a register or a combinational circuit</a:t>
            </a:r>
          </a:p>
          <a:p>
            <a:pPr marL="742950" lvl="1" indent="-285750">
              <a:spcBef>
                <a:spcPct val="20000"/>
              </a:spcBef>
              <a:buFontTx/>
              <a:buChar char="–"/>
            </a:pPr>
            <a:r>
              <a:rPr lang="en-US" sz="2000" dirty="0">
                <a:latin typeface="+mj-lt"/>
                <a:cs typeface="Arial" charset="0"/>
              </a:rPr>
              <a:t>At least one circuit element is a register</a:t>
            </a:r>
          </a:p>
          <a:p>
            <a:pPr marL="742950" lvl="1" indent="-285750">
              <a:spcBef>
                <a:spcPct val="20000"/>
              </a:spcBef>
              <a:buFontTx/>
              <a:buChar char="–"/>
            </a:pPr>
            <a:r>
              <a:rPr lang="en-US" sz="2000" dirty="0">
                <a:latin typeface="+mj-lt"/>
                <a:cs typeface="Arial" charset="0"/>
              </a:rPr>
              <a:t>All registers receive the same clock signal</a:t>
            </a:r>
          </a:p>
          <a:p>
            <a:pPr marL="742950" lvl="1" indent="-285750">
              <a:spcBef>
                <a:spcPct val="20000"/>
              </a:spcBef>
              <a:buFontTx/>
              <a:buChar char="–"/>
            </a:pPr>
            <a:r>
              <a:rPr lang="en-US" sz="2000" dirty="0">
                <a:latin typeface="+mj-lt"/>
                <a:cs typeface="Arial" charset="0"/>
              </a:rPr>
              <a:t>Every cyclic path contains at least one register</a:t>
            </a:r>
          </a:p>
          <a:p>
            <a:pPr marL="342900" indent="-342900">
              <a:spcBef>
                <a:spcPct val="20000"/>
              </a:spcBef>
              <a:buFontTx/>
              <a:buChar char="•"/>
            </a:pPr>
            <a:r>
              <a:rPr lang="en-US" sz="2400" dirty="0">
                <a:latin typeface="+mj-lt"/>
                <a:cs typeface="Arial" charset="0"/>
              </a:rPr>
              <a:t>Two common synchronous sequential circuits</a:t>
            </a:r>
          </a:p>
          <a:p>
            <a:pPr marL="742950" lvl="1" indent="-285750">
              <a:spcBef>
                <a:spcPct val="20000"/>
              </a:spcBef>
              <a:buFontTx/>
              <a:buChar char="–"/>
            </a:pPr>
            <a:r>
              <a:rPr lang="en-US" sz="2000" dirty="0">
                <a:latin typeface="+mj-lt"/>
                <a:cs typeface="Arial" charset="0"/>
              </a:rPr>
              <a:t>Finite State Machines (FSMs)</a:t>
            </a:r>
          </a:p>
          <a:p>
            <a:pPr marL="742950" lvl="1" indent="-285750">
              <a:spcBef>
                <a:spcPct val="20000"/>
              </a:spcBef>
              <a:buFontTx/>
              <a:buChar char="–"/>
            </a:pPr>
            <a:r>
              <a:rPr lang="en-US" sz="2000" dirty="0">
                <a:latin typeface="+mj-lt"/>
                <a:cs typeface="Arial" charset="0"/>
              </a:rPr>
              <a:t>Pipelines</a:t>
            </a:r>
          </a:p>
        </p:txBody>
      </p:sp>
      <p:sp>
        <p:nvSpPr>
          <p:cNvPr id="7" name="TextBox 6"/>
          <p:cNvSpPr txBox="1"/>
          <p:nvPr/>
        </p:nvSpPr>
        <p:spPr>
          <a:xfrm>
            <a:off x="457200" y="68759"/>
            <a:ext cx="7924800" cy="707886"/>
          </a:xfrm>
          <a:prstGeom prst="rect">
            <a:avLst/>
          </a:prstGeom>
          <a:noFill/>
        </p:spPr>
        <p:txBody>
          <a:bodyPr wrap="square" rtlCol="0">
            <a:spAutoFit/>
          </a:bodyPr>
          <a:lstStyle/>
          <a:p>
            <a:r>
              <a:rPr lang="en-US" sz="4000" dirty="0">
                <a:solidFill>
                  <a:schemeClr val="bg1"/>
                </a:solidFill>
                <a:latin typeface="+mj-lt"/>
              </a:rPr>
              <a:t>Synchronous Sequential Logic Design</a:t>
            </a:r>
          </a:p>
        </p:txBody>
      </p:sp>
    </p:spTree>
    <p:extLst>
      <p:ext uri="{BB962C8B-B14F-4D97-AF65-F5344CB8AC3E}">
        <p14:creationId xmlns:p14="http://schemas.microsoft.com/office/powerpoint/2010/main" val="286517698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89198" name="Object 14"/>
          <p:cNvGraphicFramePr>
            <a:graphicFrameLocks noGrp="1" noChangeAspect="1"/>
          </p:cNvGraphicFramePr>
          <p:nvPr>
            <p:ph sz="half" idx="4294967295"/>
            <p:custDataLst>
              <p:tags r:id="rId2"/>
            </p:custDataLst>
            <p:extLst>
              <p:ext uri="{D42A27DB-BD31-4B8C-83A1-F6EECF244321}">
                <p14:modId xmlns:p14="http://schemas.microsoft.com/office/powerpoint/2010/main" val="542303431"/>
              </p:ext>
            </p:extLst>
          </p:nvPr>
        </p:nvGraphicFramePr>
        <p:xfrm>
          <a:off x="5867400" y="1408112"/>
          <a:ext cx="2542504" cy="1335088"/>
        </p:xfrm>
        <a:graphic>
          <a:graphicData uri="http://schemas.openxmlformats.org/presentationml/2006/ole">
            <mc:AlternateContent xmlns:mc="http://schemas.openxmlformats.org/markup-compatibility/2006">
              <mc:Choice xmlns:v="urn:schemas-microsoft-com:vml" Requires="v">
                <p:oleObj spid="_x0000_s17410" name="VISIO" r:id="rId9" imgW="1484640" imgH="779760" progId="Visio.Drawing.6">
                  <p:embed/>
                </p:oleObj>
              </mc:Choice>
              <mc:Fallback>
                <p:oleObj name="VISIO" r:id="rId9" imgW="1484640" imgH="77976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7400" y="1408112"/>
                        <a:ext cx="2542504" cy="1335088"/>
                      </a:xfrm>
                      <a:prstGeom prst="rect">
                        <a:avLst/>
                      </a:prstGeom>
                    </p:spPr>
                  </p:pic>
                </p:oleObj>
              </mc:Fallback>
            </mc:AlternateContent>
          </a:graphicData>
        </a:graphic>
      </p:graphicFrame>
      <p:graphicFrame>
        <p:nvGraphicFramePr>
          <p:cNvPr id="989203" name="Object 19"/>
          <p:cNvGraphicFramePr>
            <a:graphicFrameLocks noGrp="1" noChangeAspect="1"/>
          </p:cNvGraphicFramePr>
          <p:nvPr>
            <p:ph sz="quarter" idx="4294967295"/>
            <p:custDataLst>
              <p:tags r:id="rId3"/>
            </p:custDataLst>
            <p:extLst>
              <p:ext uri="{D42A27DB-BD31-4B8C-83A1-F6EECF244321}">
                <p14:modId xmlns:p14="http://schemas.microsoft.com/office/powerpoint/2010/main" val="3525315993"/>
              </p:ext>
            </p:extLst>
          </p:nvPr>
        </p:nvGraphicFramePr>
        <p:xfrm>
          <a:off x="6248400" y="2895600"/>
          <a:ext cx="2590800" cy="1471913"/>
        </p:xfrm>
        <a:graphic>
          <a:graphicData uri="http://schemas.openxmlformats.org/presentationml/2006/ole">
            <mc:AlternateContent xmlns:mc="http://schemas.openxmlformats.org/markup-compatibility/2006">
              <mc:Choice xmlns:v="urn:schemas-microsoft-com:vml" Requires="v">
                <p:oleObj spid="_x0000_s17411" name="VISIO" r:id="rId11" imgW="1286640" imgH="730080" progId="Visio.Drawing.6">
                  <p:embed/>
                </p:oleObj>
              </mc:Choice>
              <mc:Fallback>
                <p:oleObj name="VISIO" r:id="rId11" imgW="1286640" imgH="730080" progId="Visio.Drawing.6">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8400" y="2895600"/>
                        <a:ext cx="2590800" cy="1471913"/>
                      </a:xfrm>
                      <a:prstGeom prst="rect">
                        <a:avLst/>
                      </a:prstGeom>
                    </p:spPr>
                  </p:pic>
                </p:oleObj>
              </mc:Fallback>
            </mc:AlternateContent>
          </a:graphicData>
        </a:graphic>
      </p:graphicFrame>
      <p:graphicFrame>
        <p:nvGraphicFramePr>
          <p:cNvPr id="989204" name="Object 20"/>
          <p:cNvGraphicFramePr>
            <a:graphicFrameLocks noGrp="1" noChangeAspect="1"/>
          </p:cNvGraphicFramePr>
          <p:nvPr>
            <p:ph sz="quarter" idx="4294967295"/>
            <p:custDataLst>
              <p:tags r:id="rId4"/>
            </p:custDataLst>
            <p:extLst>
              <p:ext uri="{D42A27DB-BD31-4B8C-83A1-F6EECF244321}">
                <p14:modId xmlns:p14="http://schemas.microsoft.com/office/powerpoint/2010/main" val="4223673909"/>
              </p:ext>
            </p:extLst>
          </p:nvPr>
        </p:nvGraphicFramePr>
        <p:xfrm>
          <a:off x="6248400" y="4399113"/>
          <a:ext cx="2895600" cy="1553369"/>
        </p:xfrm>
        <a:graphic>
          <a:graphicData uri="http://schemas.openxmlformats.org/presentationml/2006/ole">
            <mc:AlternateContent xmlns:mc="http://schemas.openxmlformats.org/markup-compatibility/2006">
              <mc:Choice xmlns:v="urn:schemas-microsoft-com:vml" Requires="v">
                <p:oleObj spid="_x0000_s17412" name="VISIO" r:id="rId13" imgW="1360440" imgH="730080" progId="Visio.Drawing.6">
                  <p:embed/>
                </p:oleObj>
              </mc:Choice>
              <mc:Fallback>
                <p:oleObj name="VISIO" r:id="rId13" imgW="1360440" imgH="730080" progId="Visio.Drawing.6">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48400" y="4399113"/>
                        <a:ext cx="2895600" cy="1553369"/>
                      </a:xfrm>
                      <a:prstGeom prst="rect">
                        <a:avLst/>
                      </a:prstGeom>
                    </p:spPr>
                  </p:pic>
                </p:oleObj>
              </mc:Fallback>
            </mc:AlternateContent>
          </a:graphicData>
        </a:graphic>
      </p:graphicFrame>
      <p:sp>
        <p:nvSpPr>
          <p:cNvPr id="989186" name="Rectangle 2"/>
          <p:cNvSpPr>
            <a:spLocks noChangeArrowheads="1"/>
          </p:cNvSpPr>
          <p:nvPr>
            <p:custDataLst>
              <p:tags r:id="rId5"/>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89188" name="Rectangle 4"/>
          <p:cNvSpPr>
            <a:spLocks noChangeArrowheads="1"/>
          </p:cNvSpPr>
          <p:nvPr>
            <p:custDataLst>
              <p:tags r:id="rId6"/>
            </p:custDataLst>
          </p:nvPr>
        </p:nvSpPr>
        <p:spPr bwMode="auto">
          <a:xfrm>
            <a:off x="457200" y="9906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buFontTx/>
              <a:buChar char="•"/>
            </a:pPr>
            <a:r>
              <a:rPr lang="en-US" sz="3200" dirty="0">
                <a:latin typeface="+mj-lt"/>
                <a:cs typeface="Arial" charset="0"/>
              </a:rPr>
              <a:t>Consists of:</a:t>
            </a:r>
          </a:p>
          <a:p>
            <a:pPr marL="742950" lvl="1" indent="-285750">
              <a:buFontTx/>
              <a:buChar char="–"/>
            </a:pPr>
            <a:r>
              <a:rPr lang="en-US" sz="3200" b="1" dirty="0">
                <a:latin typeface="+mj-lt"/>
                <a:cs typeface="Arial" charset="0"/>
              </a:rPr>
              <a:t>State register</a:t>
            </a:r>
          </a:p>
          <a:p>
            <a:pPr marL="1143000" lvl="2" indent="-228600">
              <a:buFontTx/>
              <a:buChar char="•"/>
            </a:pPr>
            <a:r>
              <a:rPr lang="en-US" sz="2600" dirty="0">
                <a:latin typeface="+mj-lt"/>
                <a:cs typeface="Arial" charset="0"/>
              </a:rPr>
              <a:t>Stores current state </a:t>
            </a:r>
          </a:p>
          <a:p>
            <a:pPr marL="1143000" lvl="2" indent="-228600">
              <a:buFontTx/>
              <a:buChar char="•"/>
            </a:pPr>
            <a:r>
              <a:rPr lang="en-US" sz="2600" dirty="0">
                <a:latin typeface="+mj-lt"/>
                <a:cs typeface="Arial" charset="0"/>
              </a:rPr>
              <a:t>Loads next state at clock edge</a:t>
            </a:r>
          </a:p>
          <a:p>
            <a:pPr marL="742950" lvl="1" indent="-285750">
              <a:buFontTx/>
              <a:buChar char="–"/>
            </a:pPr>
            <a:r>
              <a:rPr lang="en-US" sz="3200" b="1" dirty="0">
                <a:latin typeface="+mj-lt"/>
                <a:cs typeface="Arial" charset="0"/>
              </a:rPr>
              <a:t>Combinational logic</a:t>
            </a:r>
          </a:p>
          <a:p>
            <a:pPr marL="1143000" lvl="2" indent="-228600">
              <a:buFontTx/>
              <a:buChar char="•"/>
            </a:pPr>
            <a:r>
              <a:rPr lang="en-US" sz="2600" dirty="0">
                <a:latin typeface="+mj-lt"/>
                <a:cs typeface="Arial" charset="0"/>
              </a:rPr>
              <a:t>Computes the next state</a:t>
            </a:r>
          </a:p>
          <a:p>
            <a:pPr marL="1143000" lvl="2" indent="-228600">
              <a:buFontTx/>
              <a:buChar char="•"/>
            </a:pPr>
            <a:r>
              <a:rPr lang="en-US" sz="2600" dirty="0">
                <a:latin typeface="+mj-lt"/>
                <a:cs typeface="Arial" charset="0"/>
              </a:rPr>
              <a:t>Computes the outputs</a:t>
            </a:r>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Finite State Machine (FSM)</a:t>
            </a:r>
          </a:p>
        </p:txBody>
      </p:sp>
    </p:spTree>
    <p:extLst>
      <p:ext uri="{BB962C8B-B14F-4D97-AF65-F5344CB8AC3E}">
        <p14:creationId xmlns:p14="http://schemas.microsoft.com/office/powerpoint/2010/main" val="137888462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2262" name="Object 6"/>
          <p:cNvGraphicFramePr>
            <a:graphicFrameLocks noGrp="1" noChangeAspect="1"/>
          </p:cNvGraphicFramePr>
          <p:nvPr>
            <p:ph idx="4294967295"/>
            <p:custDataLst>
              <p:tags r:id="rId2"/>
            </p:custDataLst>
            <p:extLst>
              <p:ext uri="{D42A27DB-BD31-4B8C-83A1-F6EECF244321}">
                <p14:modId xmlns:p14="http://schemas.microsoft.com/office/powerpoint/2010/main" val="1133988460"/>
              </p:ext>
            </p:extLst>
          </p:nvPr>
        </p:nvGraphicFramePr>
        <p:xfrm>
          <a:off x="1905000" y="2667000"/>
          <a:ext cx="5029200" cy="3113516"/>
        </p:xfrm>
        <a:graphic>
          <a:graphicData uri="http://schemas.openxmlformats.org/presentationml/2006/ole">
            <mc:AlternateContent xmlns:mc="http://schemas.openxmlformats.org/markup-compatibility/2006">
              <mc:Choice xmlns:v="urn:schemas-microsoft-com:vml" Requires="v">
                <p:oleObj spid="_x0000_s18434" name="VISIO" r:id="rId7" imgW="2613600" imgH="1617480" progId="Visio.Drawing.6">
                  <p:embed/>
                </p:oleObj>
              </mc:Choice>
              <mc:Fallback>
                <p:oleObj name="VISIO" r:id="rId7" imgW="2613600" imgH="161748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2667000"/>
                        <a:ext cx="5029200" cy="3113516"/>
                      </a:xfrm>
                      <a:prstGeom prst="rect">
                        <a:avLst/>
                      </a:prstGeom>
                    </p:spPr>
                  </p:pic>
                </p:oleObj>
              </mc:Fallback>
            </mc:AlternateContent>
          </a:graphicData>
        </a:graphic>
      </p:graphicFrame>
      <p:sp>
        <p:nvSpPr>
          <p:cNvPr id="99225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2260" name="Rectangle 4"/>
          <p:cNvSpPr>
            <a:spLocks noChangeArrowheads="1"/>
          </p:cNvSpPr>
          <p:nvPr>
            <p:custDataLst>
              <p:tags r:id="rId4"/>
            </p:custDataLst>
          </p:nvPr>
        </p:nvSpPr>
        <p:spPr bwMode="auto">
          <a:xfrm>
            <a:off x="381000" y="9906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b="1" dirty="0">
                <a:latin typeface="+mj-lt"/>
                <a:cs typeface="Arial" charset="0"/>
              </a:rPr>
              <a:t>Next state </a:t>
            </a:r>
            <a:r>
              <a:rPr lang="en-US" sz="2400" dirty="0">
                <a:latin typeface="+mj-lt"/>
                <a:cs typeface="Arial" charset="0"/>
              </a:rPr>
              <a:t>determined by current state and inputs</a:t>
            </a:r>
          </a:p>
          <a:p>
            <a:pPr marL="342900" indent="-342900">
              <a:spcBef>
                <a:spcPct val="20000"/>
              </a:spcBef>
              <a:buFontTx/>
              <a:buChar char="•"/>
            </a:pPr>
            <a:r>
              <a:rPr lang="en-US" sz="2400" dirty="0">
                <a:latin typeface="+mj-lt"/>
                <a:cs typeface="Arial" charset="0"/>
              </a:rPr>
              <a:t>Two types of finite state machines differ in </a:t>
            </a:r>
            <a:r>
              <a:rPr lang="en-US" sz="2400" b="1" dirty="0">
                <a:latin typeface="+mj-lt"/>
                <a:cs typeface="Arial" charset="0"/>
              </a:rPr>
              <a:t>output logic</a:t>
            </a:r>
            <a:r>
              <a:rPr lang="en-US" sz="2400" dirty="0">
                <a:latin typeface="+mj-lt"/>
                <a:cs typeface="Arial" charset="0"/>
              </a:rPr>
              <a:t>:</a:t>
            </a:r>
          </a:p>
          <a:p>
            <a:pPr marL="742950" lvl="1" indent="-285750">
              <a:spcBef>
                <a:spcPct val="20000"/>
              </a:spcBef>
              <a:buFontTx/>
              <a:buChar char="–"/>
            </a:pPr>
            <a:r>
              <a:rPr lang="en-US" sz="2000" b="1" dirty="0">
                <a:solidFill>
                  <a:schemeClr val="accent1"/>
                </a:solidFill>
                <a:latin typeface="+mj-lt"/>
                <a:cs typeface="Arial" charset="0"/>
              </a:rPr>
              <a:t>Moore FSM: </a:t>
            </a:r>
            <a:r>
              <a:rPr lang="en-US" sz="2000" dirty="0">
                <a:latin typeface="+mj-lt"/>
                <a:cs typeface="Arial" charset="0"/>
              </a:rPr>
              <a:t>outputs depend only on current state</a:t>
            </a:r>
          </a:p>
          <a:p>
            <a:pPr marL="742950" lvl="1" indent="-285750">
              <a:spcBef>
                <a:spcPct val="20000"/>
              </a:spcBef>
              <a:buFontTx/>
              <a:buChar char="–"/>
            </a:pPr>
            <a:r>
              <a:rPr lang="en-US" sz="2000" b="1" dirty="0">
                <a:solidFill>
                  <a:schemeClr val="accent1"/>
                </a:solidFill>
                <a:latin typeface="+mj-lt"/>
                <a:cs typeface="Arial" charset="0"/>
              </a:rPr>
              <a:t>Mealy FSM: </a:t>
            </a:r>
            <a:r>
              <a:rPr lang="en-US" sz="2000" dirty="0">
                <a:latin typeface="+mj-lt"/>
                <a:cs typeface="Arial" charset="0"/>
              </a:rPr>
              <a:t>outputs depend on current state </a:t>
            </a:r>
            <a:r>
              <a:rPr lang="en-US" sz="2000" i="1" dirty="0">
                <a:latin typeface="+mj-lt"/>
                <a:cs typeface="Arial" charset="0"/>
              </a:rPr>
              <a:t>and</a:t>
            </a:r>
            <a:r>
              <a:rPr lang="en-US" sz="2000" dirty="0">
                <a:latin typeface="+mj-lt"/>
                <a:cs typeface="Arial" charset="0"/>
              </a:rPr>
              <a:t> inputs</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Finite State Machines (FSMs)</a:t>
            </a:r>
          </a:p>
        </p:txBody>
      </p:sp>
    </p:spTree>
    <p:extLst>
      <p:ext uri="{BB962C8B-B14F-4D97-AF65-F5344CB8AC3E}">
        <p14:creationId xmlns:p14="http://schemas.microsoft.com/office/powerpoint/2010/main" val="18792304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5335" name="Object 7"/>
          <p:cNvGraphicFramePr>
            <a:graphicFrameLocks noGrp="1" noChangeAspect="1"/>
          </p:cNvGraphicFramePr>
          <p:nvPr>
            <p:ph idx="4294967295"/>
            <p:custDataLst>
              <p:tags r:id="rId2"/>
            </p:custDataLst>
            <p:extLst>
              <p:ext uri="{D42A27DB-BD31-4B8C-83A1-F6EECF244321}">
                <p14:modId xmlns:p14="http://schemas.microsoft.com/office/powerpoint/2010/main" val="2261354936"/>
              </p:ext>
            </p:extLst>
          </p:nvPr>
        </p:nvGraphicFramePr>
        <p:xfrm>
          <a:off x="3738562" y="2209800"/>
          <a:ext cx="4288067" cy="3657600"/>
        </p:xfrm>
        <a:graphic>
          <a:graphicData uri="http://schemas.openxmlformats.org/presentationml/2006/ole">
            <mc:AlternateContent xmlns:mc="http://schemas.openxmlformats.org/markup-compatibility/2006">
              <mc:Choice xmlns:v="urn:schemas-microsoft-com:vml" Requires="v">
                <p:oleObj spid="_x0000_s19458" name="VISIO" r:id="rId7" imgW="2278080" imgH="1943280" progId="Visio.Drawing.6">
                  <p:embed/>
                </p:oleObj>
              </mc:Choice>
              <mc:Fallback>
                <p:oleObj name="VISIO" r:id="rId7" imgW="2278080" imgH="194328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8562" y="2209800"/>
                        <a:ext cx="4288067" cy="3657600"/>
                      </a:xfrm>
                      <a:prstGeom prst="rect">
                        <a:avLst/>
                      </a:prstGeom>
                      <a:noFill/>
                      <a:ln>
                        <a:noFill/>
                      </a:ln>
                      <a:effectLst/>
                    </p:spPr>
                  </p:pic>
                </p:oleObj>
              </mc:Fallback>
            </mc:AlternateContent>
          </a:graphicData>
        </a:graphic>
      </p:graphicFrame>
      <p:sp>
        <p:nvSpPr>
          <p:cNvPr id="995330"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5332" name="Rectangle 4"/>
          <p:cNvSpPr>
            <a:spLocks noChangeArrowheads="1"/>
          </p:cNvSpPr>
          <p:nvPr>
            <p:custDataLst>
              <p:tags r:id="rId4"/>
            </p:custDataLst>
          </p:nvPr>
        </p:nvSpPr>
        <p:spPr bwMode="auto">
          <a:xfrm>
            <a:off x="4572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Traffic light controller</a:t>
            </a:r>
          </a:p>
          <a:p>
            <a:pPr marL="742950" lvl="1" indent="-285750">
              <a:spcBef>
                <a:spcPct val="20000"/>
              </a:spcBef>
              <a:buFontTx/>
              <a:buChar char="–"/>
            </a:pPr>
            <a:r>
              <a:rPr lang="en-US" sz="2600" dirty="0">
                <a:latin typeface="+mj-lt"/>
                <a:cs typeface="Arial" charset="0"/>
              </a:rPr>
              <a:t>Traffic sensors: </a:t>
            </a:r>
            <a:r>
              <a:rPr lang="en-US" sz="2600" i="1" dirty="0">
                <a:latin typeface="+mj-lt"/>
                <a:cs typeface="Arial" charset="0"/>
              </a:rPr>
              <a:t>T</a:t>
            </a:r>
            <a:r>
              <a:rPr lang="en-US" sz="2600" i="1" baseline="-25000" dirty="0">
                <a:latin typeface="+mj-lt"/>
                <a:cs typeface="Arial" charset="0"/>
              </a:rPr>
              <a:t>A</a:t>
            </a:r>
            <a:r>
              <a:rPr lang="en-US" sz="2600" dirty="0">
                <a:latin typeface="+mj-lt"/>
                <a:cs typeface="Arial" charset="0"/>
              </a:rPr>
              <a:t>, </a:t>
            </a:r>
            <a:r>
              <a:rPr lang="en-US" sz="2600" i="1" dirty="0">
                <a:latin typeface="+mj-lt"/>
                <a:cs typeface="Arial" charset="0"/>
              </a:rPr>
              <a:t>T</a:t>
            </a:r>
            <a:r>
              <a:rPr lang="en-US" sz="2600" i="1" baseline="-25000" dirty="0">
                <a:latin typeface="+mj-lt"/>
                <a:cs typeface="Arial" charset="0"/>
              </a:rPr>
              <a:t>B</a:t>
            </a:r>
            <a:r>
              <a:rPr lang="en-US" sz="2600" dirty="0">
                <a:latin typeface="+mj-lt"/>
                <a:cs typeface="Arial" charset="0"/>
              </a:rPr>
              <a:t> (TRUE when there’s traffic)</a:t>
            </a:r>
          </a:p>
          <a:p>
            <a:pPr marL="742950" lvl="1" indent="-285750">
              <a:spcBef>
                <a:spcPct val="20000"/>
              </a:spcBef>
              <a:buFontTx/>
              <a:buChar char="–"/>
            </a:pPr>
            <a:r>
              <a:rPr lang="en-US" sz="2600" dirty="0">
                <a:latin typeface="+mj-lt"/>
                <a:cs typeface="Arial" charset="0"/>
              </a:rPr>
              <a:t>Lights: </a:t>
            </a:r>
            <a:r>
              <a:rPr lang="en-US" sz="2600" i="1" dirty="0">
                <a:latin typeface="+mj-lt"/>
                <a:cs typeface="Arial" charset="0"/>
              </a:rPr>
              <a:t>L</a:t>
            </a:r>
            <a:r>
              <a:rPr lang="en-US" sz="2600" i="1" baseline="-25000" dirty="0">
                <a:latin typeface="+mj-lt"/>
                <a:cs typeface="Arial" charset="0"/>
              </a:rPr>
              <a:t>A</a:t>
            </a:r>
            <a:r>
              <a:rPr lang="en-US" sz="2600" dirty="0">
                <a:latin typeface="+mj-lt"/>
                <a:cs typeface="Arial" charset="0"/>
              </a:rPr>
              <a:t>, </a:t>
            </a:r>
            <a:r>
              <a:rPr lang="en-US" sz="2600" i="1" dirty="0">
                <a:latin typeface="+mj-lt"/>
                <a:cs typeface="Arial" charset="0"/>
              </a:rPr>
              <a:t>L</a:t>
            </a:r>
            <a:r>
              <a:rPr lang="en-US" sz="2600" i="1" baseline="-25000" dirty="0">
                <a:latin typeface="+mj-lt"/>
                <a:cs typeface="Arial" charset="0"/>
              </a:rPr>
              <a:t>B</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Example</a:t>
            </a:r>
          </a:p>
        </p:txBody>
      </p:sp>
    </p:spTree>
    <p:extLst>
      <p:ext uri="{BB962C8B-B14F-4D97-AF65-F5344CB8AC3E}">
        <p14:creationId xmlns:p14="http://schemas.microsoft.com/office/powerpoint/2010/main" val="237305558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6358" name="Object 6"/>
          <p:cNvGraphicFramePr>
            <a:graphicFrameLocks noGrp="1" noChangeAspect="1"/>
          </p:cNvGraphicFramePr>
          <p:nvPr>
            <p:ph idx="4294967295"/>
            <p:custDataLst>
              <p:tags r:id="rId2"/>
            </p:custDataLst>
            <p:extLst>
              <p:ext uri="{D42A27DB-BD31-4B8C-83A1-F6EECF244321}">
                <p14:modId xmlns:p14="http://schemas.microsoft.com/office/powerpoint/2010/main" val="2964182797"/>
              </p:ext>
            </p:extLst>
          </p:nvPr>
        </p:nvGraphicFramePr>
        <p:xfrm>
          <a:off x="3581400" y="2057400"/>
          <a:ext cx="4679950" cy="3857625"/>
        </p:xfrm>
        <a:graphic>
          <a:graphicData uri="http://schemas.openxmlformats.org/presentationml/2006/ole">
            <mc:AlternateContent xmlns:mc="http://schemas.openxmlformats.org/markup-compatibility/2006">
              <mc:Choice xmlns:v="urn:schemas-microsoft-com:vml" Requires="v">
                <p:oleObj spid="_x0000_s20482" name="VISIO" r:id="rId8" imgW="1628640" imgH="1343160" progId="Visio.Drawing.6">
                  <p:embed/>
                </p:oleObj>
              </mc:Choice>
              <mc:Fallback>
                <p:oleObj name="VISIO" r:id="rId8" imgW="1628640" imgH="134316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1400" y="2057400"/>
                        <a:ext cx="4679950" cy="3857625"/>
                      </a:xfrm>
                      <a:prstGeom prst="rect">
                        <a:avLst/>
                      </a:prstGeom>
                    </p:spPr>
                  </p:pic>
                </p:oleObj>
              </mc:Fallback>
            </mc:AlternateContent>
          </a:graphicData>
        </a:graphic>
      </p:graphicFrame>
      <p:sp>
        <p:nvSpPr>
          <p:cNvPr id="996354"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6356" name="Rectangle 4"/>
          <p:cNvSpPr>
            <a:spLocks noChangeArrowheads="1"/>
          </p:cNvSpPr>
          <p:nvPr>
            <p:custDataLst>
              <p:tags r:id="rId4"/>
            </p:custDataLst>
          </p:nvPr>
        </p:nvSpPr>
        <p:spPr bwMode="auto">
          <a:xfrm>
            <a:off x="914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Inputs: </a:t>
            </a:r>
            <a:r>
              <a:rPr lang="en-US" sz="3200" i="1" dirty="0">
                <a:latin typeface="+mj-lt"/>
                <a:cs typeface="Arial" charset="0"/>
              </a:rPr>
              <a:t>CLK</a:t>
            </a:r>
            <a:r>
              <a:rPr lang="en-US" sz="3200" dirty="0">
                <a:latin typeface="+mj-lt"/>
                <a:cs typeface="Arial" charset="0"/>
              </a:rPr>
              <a:t>, </a:t>
            </a:r>
            <a:r>
              <a:rPr lang="en-US" sz="3200" i="1" dirty="0">
                <a:latin typeface="+mj-lt"/>
                <a:cs typeface="Arial" charset="0"/>
              </a:rPr>
              <a:t>Reset</a:t>
            </a:r>
            <a:r>
              <a:rPr lang="en-US" sz="3200" dirty="0">
                <a:latin typeface="+mj-lt"/>
                <a:cs typeface="Arial" charset="0"/>
              </a:rPr>
              <a:t>, </a:t>
            </a:r>
            <a:r>
              <a:rPr lang="en-US" sz="3200" i="1" dirty="0">
                <a:latin typeface="+mj-lt"/>
                <a:cs typeface="Arial" charset="0"/>
              </a:rPr>
              <a:t>T</a:t>
            </a:r>
            <a:r>
              <a:rPr lang="en-US" sz="3200" i="1" baseline="-25000" dirty="0">
                <a:latin typeface="+mj-lt"/>
                <a:cs typeface="Arial" charset="0"/>
              </a:rPr>
              <a:t>A</a:t>
            </a:r>
            <a:r>
              <a:rPr lang="en-US" sz="3200" dirty="0">
                <a:latin typeface="+mj-lt"/>
                <a:cs typeface="Arial" charset="0"/>
              </a:rPr>
              <a:t>, </a:t>
            </a:r>
            <a:r>
              <a:rPr lang="en-US" sz="3200" i="1" dirty="0">
                <a:latin typeface="+mj-lt"/>
                <a:cs typeface="Arial" charset="0"/>
              </a:rPr>
              <a:t>T</a:t>
            </a:r>
            <a:r>
              <a:rPr lang="en-US" sz="3200" i="1" baseline="-25000" dirty="0">
                <a:latin typeface="+mj-lt"/>
                <a:cs typeface="Arial" charset="0"/>
              </a:rPr>
              <a:t>B</a:t>
            </a:r>
          </a:p>
          <a:p>
            <a:pPr marL="342900" indent="-342900">
              <a:spcBef>
                <a:spcPct val="20000"/>
              </a:spcBef>
              <a:buFontTx/>
              <a:buChar char="•"/>
            </a:pPr>
            <a:r>
              <a:rPr lang="en-US" sz="3200" dirty="0">
                <a:latin typeface="+mj-lt"/>
                <a:cs typeface="Arial" charset="0"/>
              </a:rPr>
              <a:t>Outputs: </a:t>
            </a:r>
            <a:r>
              <a:rPr lang="en-US" sz="3200" i="1" dirty="0">
                <a:latin typeface="+mj-lt"/>
                <a:cs typeface="Arial" charset="0"/>
              </a:rPr>
              <a:t>L</a:t>
            </a:r>
            <a:r>
              <a:rPr lang="en-US" sz="3200" i="1" baseline="-25000" dirty="0">
                <a:latin typeface="+mj-lt"/>
                <a:cs typeface="Arial" charset="0"/>
              </a:rPr>
              <a:t>A</a:t>
            </a:r>
            <a:r>
              <a:rPr lang="en-US" sz="3200" dirty="0">
                <a:latin typeface="+mj-lt"/>
                <a:cs typeface="Arial" charset="0"/>
              </a:rPr>
              <a:t>, </a:t>
            </a:r>
            <a:r>
              <a:rPr lang="en-US" sz="3200" i="1" dirty="0">
                <a:latin typeface="+mj-lt"/>
                <a:cs typeface="Arial" charset="0"/>
              </a:rPr>
              <a:t>L</a:t>
            </a:r>
            <a:r>
              <a:rPr lang="en-US" sz="3200" i="1" baseline="-25000" dirty="0">
                <a:latin typeface="+mj-lt"/>
                <a:cs typeface="Arial" charset="0"/>
              </a:rPr>
              <a:t>B</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Black Box</a:t>
            </a:r>
          </a:p>
        </p:txBody>
      </p:sp>
      <p:graphicFrame>
        <p:nvGraphicFramePr>
          <p:cNvPr id="6" name="Object 7">
            <a:extLst>
              <a:ext uri="{FF2B5EF4-FFF2-40B4-BE49-F238E27FC236}">
                <a16:creationId xmlns:a16="http://schemas.microsoft.com/office/drawing/2014/main" id="{5388E77B-EEE7-4536-BF44-90D507F84C66}"/>
              </a:ext>
            </a:extLst>
          </p:cNvPr>
          <p:cNvGraphicFramePr>
            <a:graphicFrameLocks noChangeAspect="1"/>
          </p:cNvGraphicFramePr>
          <p:nvPr>
            <p:custDataLst>
              <p:tags r:id="rId5"/>
            </p:custDataLst>
            <p:extLst>
              <p:ext uri="{D42A27DB-BD31-4B8C-83A1-F6EECF244321}">
                <p14:modId xmlns:p14="http://schemas.microsoft.com/office/powerpoint/2010/main" val="3340586658"/>
              </p:ext>
            </p:extLst>
          </p:nvPr>
        </p:nvGraphicFramePr>
        <p:xfrm>
          <a:off x="457200" y="2743200"/>
          <a:ext cx="2971800" cy="2534861"/>
        </p:xfrm>
        <a:graphic>
          <a:graphicData uri="http://schemas.openxmlformats.org/presentationml/2006/ole">
            <mc:AlternateContent xmlns:mc="http://schemas.openxmlformats.org/markup-compatibility/2006">
              <mc:Choice xmlns:v="urn:schemas-microsoft-com:vml" Requires="v">
                <p:oleObj spid="_x0000_s20483" name="VISIO" r:id="rId10" imgW="2278080" imgH="1943280" progId="Visio.Drawing.6">
                  <p:embed/>
                </p:oleObj>
              </mc:Choice>
              <mc:Fallback>
                <p:oleObj name="VISIO" r:id="rId10" imgW="2278080" imgH="1943280" progId="Visio.Drawing.6">
                  <p:embed/>
                  <p:pic>
                    <p:nvPicPr>
                      <p:cNvPr id="995335"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 y="2743200"/>
                        <a:ext cx="2971800" cy="253486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4461773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7385" name="Object 9"/>
          <p:cNvGraphicFramePr>
            <a:graphicFrameLocks noGrp="1" noChangeAspect="1"/>
          </p:cNvGraphicFramePr>
          <p:nvPr>
            <p:ph idx="4294967295"/>
            <p:custDataLst>
              <p:tags r:id="rId2"/>
            </p:custDataLst>
            <p:extLst>
              <p:ext uri="{D42A27DB-BD31-4B8C-83A1-F6EECF244321}">
                <p14:modId xmlns:p14="http://schemas.microsoft.com/office/powerpoint/2010/main" val="930495062"/>
              </p:ext>
            </p:extLst>
          </p:nvPr>
        </p:nvGraphicFramePr>
        <p:xfrm>
          <a:off x="4191000" y="1828800"/>
          <a:ext cx="4314825" cy="4298950"/>
        </p:xfrm>
        <a:graphic>
          <a:graphicData uri="http://schemas.openxmlformats.org/presentationml/2006/ole">
            <mc:AlternateContent xmlns:mc="http://schemas.openxmlformats.org/markup-compatibility/2006">
              <mc:Choice xmlns:v="urn:schemas-microsoft-com:vml" Requires="v">
                <p:oleObj spid="_x0000_s21506" name="VISIO" r:id="rId8" imgW="2000160" imgH="1992960" progId="Visio.Drawing.6">
                  <p:embed/>
                </p:oleObj>
              </mc:Choice>
              <mc:Fallback>
                <p:oleObj name="VISIO" r:id="rId8" imgW="2000160" imgH="199296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1000" y="1828800"/>
                        <a:ext cx="4314825" cy="4298950"/>
                      </a:xfrm>
                      <a:prstGeom prst="rect">
                        <a:avLst/>
                      </a:prstGeom>
                    </p:spPr>
                  </p:pic>
                </p:oleObj>
              </mc:Fallback>
            </mc:AlternateContent>
          </a:graphicData>
        </a:graphic>
      </p:graphicFrame>
      <p:sp>
        <p:nvSpPr>
          <p:cNvPr id="99737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State Transition Diagram</a:t>
            </a:r>
          </a:p>
        </p:txBody>
      </p:sp>
      <p:sp>
        <p:nvSpPr>
          <p:cNvPr id="6" name="Rectangle 4"/>
          <p:cNvSpPr>
            <a:spLocks noChangeArrowheads="1"/>
          </p:cNvSpPr>
          <p:nvPr>
            <p:custDataLst>
              <p:tags r:id="rId4"/>
            </p:custDataLst>
          </p:nvPr>
        </p:nvSpPr>
        <p:spPr bwMode="auto">
          <a:xfrm>
            <a:off x="533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Moore FSM: </a:t>
            </a:r>
            <a:r>
              <a:rPr lang="en-US" sz="3200" dirty="0">
                <a:latin typeface="+mj-lt"/>
                <a:cs typeface="Arial" charset="0"/>
              </a:rPr>
              <a:t>outputs labeled in each state</a:t>
            </a:r>
          </a:p>
          <a:p>
            <a:pPr marL="342900" indent="-342900">
              <a:spcBef>
                <a:spcPct val="20000"/>
              </a:spcBef>
              <a:buFontTx/>
              <a:buChar char="•"/>
            </a:pPr>
            <a:r>
              <a:rPr lang="en-US" sz="3200" b="1" dirty="0">
                <a:latin typeface="+mj-lt"/>
                <a:cs typeface="Arial" charset="0"/>
              </a:rPr>
              <a:t>States: </a:t>
            </a:r>
            <a:r>
              <a:rPr lang="en-US" sz="3200" dirty="0">
                <a:latin typeface="+mj-lt"/>
                <a:cs typeface="Arial" charset="0"/>
              </a:rPr>
              <a:t>Circles</a:t>
            </a:r>
          </a:p>
          <a:p>
            <a:pPr marL="342900" indent="-342900">
              <a:spcBef>
                <a:spcPct val="20000"/>
              </a:spcBef>
              <a:buFontTx/>
              <a:buChar char="•"/>
            </a:pPr>
            <a:r>
              <a:rPr lang="en-US" sz="3200" b="1" dirty="0">
                <a:latin typeface="+mj-lt"/>
                <a:cs typeface="Arial" charset="0"/>
              </a:rPr>
              <a:t>Transitions: </a:t>
            </a:r>
            <a:r>
              <a:rPr lang="en-US" sz="3200" dirty="0">
                <a:latin typeface="+mj-lt"/>
                <a:cs typeface="Arial" charset="0"/>
              </a:rPr>
              <a:t>Arcs</a:t>
            </a:r>
            <a:endParaRPr lang="en-US" sz="3200" i="1" baseline="-25000" dirty="0">
              <a:latin typeface="+mj-lt"/>
              <a:cs typeface="Arial" charset="0"/>
            </a:endParaRPr>
          </a:p>
        </p:txBody>
      </p:sp>
      <p:graphicFrame>
        <p:nvGraphicFramePr>
          <p:cNvPr id="7" name="Object 7">
            <a:extLst>
              <a:ext uri="{FF2B5EF4-FFF2-40B4-BE49-F238E27FC236}">
                <a16:creationId xmlns:a16="http://schemas.microsoft.com/office/drawing/2014/main" id="{A9173CBE-4990-4BFC-9012-44CD4FA69F6C}"/>
              </a:ext>
            </a:extLst>
          </p:cNvPr>
          <p:cNvGraphicFramePr>
            <a:graphicFrameLocks noChangeAspect="1"/>
          </p:cNvGraphicFramePr>
          <p:nvPr>
            <p:custDataLst>
              <p:tags r:id="rId5"/>
            </p:custDataLst>
            <p:extLst>
              <p:ext uri="{D42A27DB-BD31-4B8C-83A1-F6EECF244321}">
                <p14:modId xmlns:p14="http://schemas.microsoft.com/office/powerpoint/2010/main" val="1747753036"/>
              </p:ext>
            </p:extLst>
          </p:nvPr>
        </p:nvGraphicFramePr>
        <p:xfrm>
          <a:off x="762000" y="3200400"/>
          <a:ext cx="2680042" cy="2286000"/>
        </p:xfrm>
        <a:graphic>
          <a:graphicData uri="http://schemas.openxmlformats.org/presentationml/2006/ole">
            <mc:AlternateContent xmlns:mc="http://schemas.openxmlformats.org/markup-compatibility/2006">
              <mc:Choice xmlns:v="urn:schemas-microsoft-com:vml" Requires="v">
                <p:oleObj spid="_x0000_s21507" name="VISIO" r:id="rId10" imgW="2278080" imgH="1943280" progId="Visio.Drawing.6">
                  <p:embed/>
                </p:oleObj>
              </mc:Choice>
              <mc:Fallback>
                <p:oleObj name="VISIO" r:id="rId10" imgW="2278080" imgH="1943280" progId="Visio.Drawing.6">
                  <p:embed/>
                  <p:pic>
                    <p:nvPicPr>
                      <p:cNvPr id="995335"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 y="3200400"/>
                        <a:ext cx="2680042" cy="2286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9242374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97380" name="Rectangle 4"/>
          <p:cNvSpPr>
            <a:spLocks noChangeArrowheads="1"/>
          </p:cNvSpPr>
          <p:nvPr>
            <p:custDataLst>
              <p:tags r:id="rId3"/>
            </p:custDataLst>
          </p:nvPr>
        </p:nvSpPr>
        <p:spPr bwMode="auto">
          <a:xfrm>
            <a:off x="533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Moore FSM: </a:t>
            </a:r>
            <a:r>
              <a:rPr lang="en-US" sz="3200" dirty="0">
                <a:latin typeface="+mj-lt"/>
                <a:cs typeface="Arial" charset="0"/>
              </a:rPr>
              <a:t>outputs labeled in each state</a:t>
            </a:r>
          </a:p>
          <a:p>
            <a:pPr marL="342900" indent="-342900">
              <a:spcBef>
                <a:spcPct val="20000"/>
              </a:spcBef>
              <a:buFontTx/>
              <a:buChar char="•"/>
            </a:pPr>
            <a:r>
              <a:rPr lang="en-US" sz="3200" b="1" dirty="0">
                <a:latin typeface="+mj-lt"/>
                <a:cs typeface="Arial" charset="0"/>
              </a:rPr>
              <a:t>States: </a:t>
            </a:r>
            <a:r>
              <a:rPr lang="en-US" sz="3200" dirty="0">
                <a:latin typeface="+mj-lt"/>
                <a:cs typeface="Arial" charset="0"/>
              </a:rPr>
              <a:t>Circles</a:t>
            </a:r>
          </a:p>
          <a:p>
            <a:pPr marL="342900" indent="-342900">
              <a:spcBef>
                <a:spcPct val="20000"/>
              </a:spcBef>
              <a:buFontTx/>
              <a:buChar char="•"/>
            </a:pPr>
            <a:r>
              <a:rPr lang="en-US" sz="3200" b="1" dirty="0">
                <a:latin typeface="+mj-lt"/>
                <a:cs typeface="Arial" charset="0"/>
              </a:rPr>
              <a:t>Transitions: </a:t>
            </a:r>
            <a:r>
              <a:rPr lang="en-US" sz="3200" dirty="0">
                <a:latin typeface="+mj-lt"/>
                <a:cs typeface="Arial" charset="0"/>
              </a:rPr>
              <a:t>Arcs</a:t>
            </a:r>
            <a:endParaRPr lang="en-US" sz="3200" i="1" baseline="-25000" dirty="0">
              <a:latin typeface="+mj-lt"/>
              <a:cs typeface="Arial" charset="0"/>
            </a:endParaRPr>
          </a:p>
        </p:txBody>
      </p:sp>
      <p:sp>
        <p:nvSpPr>
          <p:cNvPr id="8" name="TextBox 7"/>
          <p:cNvSpPr txBox="1"/>
          <p:nvPr/>
        </p:nvSpPr>
        <p:spPr>
          <a:xfrm>
            <a:off x="457200" y="76200"/>
            <a:ext cx="7924800" cy="769441"/>
          </a:xfrm>
          <a:prstGeom prst="rect">
            <a:avLst/>
          </a:prstGeom>
          <a:noFill/>
        </p:spPr>
        <p:txBody>
          <a:bodyPr wrap="square" rtlCol="0">
            <a:spAutoFit/>
          </a:bodyPr>
          <a:lstStyle/>
          <a:p>
            <a:r>
              <a:rPr lang="en-US" sz="4400" dirty="0">
                <a:solidFill>
                  <a:schemeClr val="bg1"/>
                </a:solidFill>
                <a:latin typeface="+mj-lt"/>
              </a:rPr>
              <a:t>FSM State Transition Diagram</a:t>
            </a:r>
          </a:p>
        </p:txBody>
      </p:sp>
      <p:graphicFrame>
        <p:nvGraphicFramePr>
          <p:cNvPr id="2" name="Object 1"/>
          <p:cNvGraphicFramePr>
            <a:graphicFrameLocks noChangeAspect="1"/>
          </p:cNvGraphicFramePr>
          <p:nvPr>
            <p:custDataLst>
              <p:tags r:id="rId4"/>
            </p:custDataLst>
            <p:extLst>
              <p:ext uri="{D42A27DB-BD31-4B8C-83A1-F6EECF244321}">
                <p14:modId xmlns:p14="http://schemas.microsoft.com/office/powerpoint/2010/main" val="841027920"/>
              </p:ext>
            </p:extLst>
          </p:nvPr>
        </p:nvGraphicFramePr>
        <p:xfrm>
          <a:off x="4267200" y="1676400"/>
          <a:ext cx="4314825" cy="4298950"/>
        </p:xfrm>
        <a:graphic>
          <a:graphicData uri="http://schemas.openxmlformats.org/presentationml/2006/ole">
            <mc:AlternateContent xmlns:mc="http://schemas.openxmlformats.org/markup-compatibility/2006">
              <mc:Choice xmlns:v="urn:schemas-microsoft-com:vml" Requires="v">
                <p:oleObj spid="_x0000_s22530" name="VISIO" r:id="rId8" imgW="2001299" imgH="1993667" progId="Visio.Drawing.6">
                  <p:embed/>
                </p:oleObj>
              </mc:Choice>
              <mc:Fallback>
                <p:oleObj name="VISIO" r:id="rId8" imgW="2001299" imgH="1993667" progId="Visio.Drawing.6">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7200" y="1676400"/>
                        <a:ext cx="4314825" cy="4298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7">
            <a:extLst>
              <a:ext uri="{FF2B5EF4-FFF2-40B4-BE49-F238E27FC236}">
                <a16:creationId xmlns:a16="http://schemas.microsoft.com/office/drawing/2014/main" id="{DA724516-16F1-40E2-8935-68141F183BAC}"/>
              </a:ext>
            </a:extLst>
          </p:cNvPr>
          <p:cNvGraphicFramePr>
            <a:graphicFrameLocks noChangeAspect="1"/>
          </p:cNvGraphicFramePr>
          <p:nvPr>
            <p:custDataLst>
              <p:tags r:id="rId5"/>
            </p:custDataLst>
            <p:extLst>
              <p:ext uri="{D42A27DB-BD31-4B8C-83A1-F6EECF244321}">
                <p14:modId xmlns:p14="http://schemas.microsoft.com/office/powerpoint/2010/main" val="3508383078"/>
              </p:ext>
            </p:extLst>
          </p:nvPr>
        </p:nvGraphicFramePr>
        <p:xfrm>
          <a:off x="762000" y="3200400"/>
          <a:ext cx="2680042" cy="2286000"/>
        </p:xfrm>
        <a:graphic>
          <a:graphicData uri="http://schemas.openxmlformats.org/presentationml/2006/ole">
            <mc:AlternateContent xmlns:mc="http://schemas.openxmlformats.org/markup-compatibility/2006">
              <mc:Choice xmlns:v="urn:schemas-microsoft-com:vml" Requires="v">
                <p:oleObj spid="_x0000_s22531" name="VISIO" r:id="rId10" imgW="2278080" imgH="1943280" progId="Visio.Drawing.6">
                  <p:embed/>
                </p:oleObj>
              </mc:Choice>
              <mc:Fallback>
                <p:oleObj name="VISIO" r:id="rId10" imgW="2278080" imgH="1943280" progId="Visio.Drawing.6">
                  <p:embed/>
                  <p:pic>
                    <p:nvPicPr>
                      <p:cNvPr id="7" name="Object 7">
                        <a:extLst>
                          <a:ext uri="{FF2B5EF4-FFF2-40B4-BE49-F238E27FC236}">
                            <a16:creationId xmlns:a16="http://schemas.microsoft.com/office/drawing/2014/main" id="{A9173CBE-4990-4BFC-9012-44CD4FA69F6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 y="3200400"/>
                        <a:ext cx="2680042" cy="2286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946437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3268" name="Group 4"/>
          <p:cNvGraphicFramePr>
            <a:graphicFrameLocks noGrp="1"/>
          </p:cNvGraphicFramePr>
          <p:nvPr>
            <p:ph idx="4294967295"/>
            <p:custDataLst>
              <p:tags r:id="rId2"/>
            </p:custDataLst>
            <p:extLst>
              <p:ext uri="{D42A27DB-BD31-4B8C-83A1-F6EECF244321}">
                <p14:modId xmlns:p14="http://schemas.microsoft.com/office/powerpoint/2010/main" val="3648303366"/>
              </p:ext>
            </p:extLst>
          </p:nvPr>
        </p:nvGraphicFramePr>
        <p:xfrm>
          <a:off x="914400" y="1447800"/>
          <a:ext cx="5429250" cy="4023360"/>
        </p:xfrm>
        <a:graphic>
          <a:graphicData uri="http://schemas.openxmlformats.org/drawingml/2006/table">
            <a:tbl>
              <a:tblPr/>
              <a:tblGrid>
                <a:gridCol w="1357313">
                  <a:extLst>
                    <a:ext uri="{9D8B030D-6E8A-4147-A177-3AD203B41FA5}">
                      <a16:colId xmlns:a16="http://schemas.microsoft.com/office/drawing/2014/main" val="20000"/>
                    </a:ext>
                  </a:extLst>
                </a:gridCol>
                <a:gridCol w="1357312">
                  <a:extLst>
                    <a:ext uri="{9D8B030D-6E8A-4147-A177-3AD203B41FA5}">
                      <a16:colId xmlns:a16="http://schemas.microsoft.com/office/drawing/2014/main" val="20001"/>
                    </a:ext>
                  </a:extLst>
                </a:gridCol>
                <a:gridCol w="1357313">
                  <a:extLst>
                    <a:ext uri="{9D8B030D-6E8A-4147-A177-3AD203B41FA5}">
                      <a16:colId xmlns:a16="http://schemas.microsoft.com/office/drawing/2014/main" val="20002"/>
                    </a:ext>
                  </a:extLst>
                </a:gridCol>
                <a:gridCol w="1357312">
                  <a:extLst>
                    <a:ext uri="{9D8B030D-6E8A-4147-A177-3AD203B41FA5}">
                      <a16:colId xmlns:a16="http://schemas.microsoft.com/office/drawing/2014/main" val="20003"/>
                    </a:ext>
                  </a:extLst>
                </a:gridCol>
              </a:tblGrid>
              <a:tr h="762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Current State</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Inputs</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Next State</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T</a:t>
                      </a:r>
                      <a:r>
                        <a:rPr kumimoji="0" lang="en-US" sz="2400" b="1" i="1" u="none" strike="noStrike" cap="none" normalizeH="0" baseline="-25000" dirty="0">
                          <a:ln>
                            <a:noFill/>
                          </a:ln>
                          <a:solidFill>
                            <a:schemeClr val="bg1"/>
                          </a:solidFill>
                          <a:effectLst/>
                          <a:latin typeface="Times New Roman" pitchFamily="18" charset="0"/>
                          <a:cs typeface="Arial" charset="0"/>
                        </a:rPr>
                        <a:t>A</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T</a:t>
                      </a:r>
                      <a:r>
                        <a:rPr kumimoji="0" lang="en-US" sz="2400" b="1" i="1" u="none" strike="noStrike" cap="none" normalizeH="0" baseline="-25000" dirty="0">
                          <a:ln>
                            <a:noFill/>
                          </a:ln>
                          <a:solidFill>
                            <a:schemeClr val="bg1"/>
                          </a:solidFill>
                          <a:effectLst/>
                          <a:latin typeface="Times New Roman" pitchFamily="18" charset="0"/>
                          <a:cs typeface="Arial" charset="0"/>
                        </a:rPr>
                        <a:t>B</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r>
                        <a:rPr kumimoji="0" lang="en-US" sz="2400" b="1" i="1" u="none" strike="noStrike" cap="none" normalizeH="0" baseline="0" dirty="0">
                          <a:ln>
                            <a:noFill/>
                          </a:ln>
                          <a:solidFill>
                            <a:schemeClr val="bg1"/>
                          </a:solidFill>
                          <a:effectLst/>
                          <a:latin typeface="Times New Roman" pitchFamily="18" charset="0"/>
                          <a:cs typeface="Times New Roman" pitchFamily="18" charset="0"/>
                        </a:rPr>
                        <a:t>'</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S1</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00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S0</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S2</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S3</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S2</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S0</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163266"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State Transition Table</a:t>
            </a:r>
          </a:p>
        </p:txBody>
      </p:sp>
      <p:sp>
        <p:nvSpPr>
          <p:cNvPr id="5" name="Rectangle 4"/>
          <p:cNvSpPr/>
          <p:nvPr/>
        </p:nvSpPr>
        <p:spPr>
          <a:xfrm>
            <a:off x="5048250" y="2819400"/>
            <a:ext cx="12192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5048250" y="3276600"/>
            <a:ext cx="12192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5048250" y="3733800"/>
            <a:ext cx="12192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5048250" y="4191000"/>
            <a:ext cx="12192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5048250" y="4648200"/>
            <a:ext cx="12192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5048250" y="5105400"/>
            <a:ext cx="12192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3" name="Object 12"/>
          <p:cNvGraphicFramePr>
            <a:graphicFrameLocks noChangeAspect="1"/>
          </p:cNvGraphicFramePr>
          <p:nvPr>
            <p:custDataLst>
              <p:tags r:id="rId4"/>
            </p:custDataLst>
            <p:extLst>
              <p:ext uri="{D42A27DB-BD31-4B8C-83A1-F6EECF244321}">
                <p14:modId xmlns:p14="http://schemas.microsoft.com/office/powerpoint/2010/main" val="1214146894"/>
              </p:ext>
            </p:extLst>
          </p:nvPr>
        </p:nvGraphicFramePr>
        <p:xfrm>
          <a:off x="6353175" y="2209800"/>
          <a:ext cx="2790825" cy="2780557"/>
        </p:xfrm>
        <a:graphic>
          <a:graphicData uri="http://schemas.openxmlformats.org/presentationml/2006/ole">
            <mc:AlternateContent xmlns:mc="http://schemas.openxmlformats.org/markup-compatibility/2006">
              <mc:Choice xmlns:v="urn:schemas-microsoft-com:vml" Requires="v">
                <p:oleObj spid="_x0000_s23554" name="VISIO" r:id="rId7" imgW="2001299" imgH="1993667" progId="Visio.Drawing.6">
                  <p:embed/>
                </p:oleObj>
              </mc:Choice>
              <mc:Fallback>
                <p:oleObj name="VISIO" r:id="rId7" imgW="2001299" imgH="1993667"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53175" y="2209800"/>
                        <a:ext cx="2790825" cy="278055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3355086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1"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5316" name="Group 4"/>
          <p:cNvGraphicFramePr>
            <a:graphicFrameLocks noGrp="1"/>
          </p:cNvGraphicFramePr>
          <p:nvPr>
            <p:ph sz="half" idx="4294967295"/>
            <p:custDataLst>
              <p:tags r:id="rId2"/>
            </p:custDataLst>
            <p:extLst>
              <p:ext uri="{D42A27DB-BD31-4B8C-83A1-F6EECF244321}">
                <p14:modId xmlns:p14="http://schemas.microsoft.com/office/powerpoint/2010/main" val="2970594235"/>
              </p:ext>
            </p:extLst>
          </p:nvPr>
        </p:nvGraphicFramePr>
        <p:xfrm>
          <a:off x="457200" y="1366837"/>
          <a:ext cx="5715000" cy="3662363"/>
        </p:xfrm>
        <a:graphic>
          <a:graphicData uri="http://schemas.openxmlformats.org/drawingml/2006/table">
            <a:tbl>
              <a:tblPr/>
              <a:tblGrid>
                <a:gridCol w="1076739">
                  <a:extLst>
                    <a:ext uri="{9D8B030D-6E8A-4147-A177-3AD203B41FA5}">
                      <a16:colId xmlns:a16="http://schemas.microsoft.com/office/drawing/2014/main" val="20000"/>
                    </a:ext>
                  </a:extLst>
                </a:gridCol>
                <a:gridCol w="993913">
                  <a:extLst>
                    <a:ext uri="{9D8B030D-6E8A-4147-A177-3AD203B41FA5}">
                      <a16:colId xmlns:a16="http://schemas.microsoft.com/office/drawing/2014/main" val="20001"/>
                    </a:ext>
                  </a:extLst>
                </a:gridCol>
                <a:gridCol w="993913">
                  <a:extLst>
                    <a:ext uri="{9D8B030D-6E8A-4147-A177-3AD203B41FA5}">
                      <a16:colId xmlns:a16="http://schemas.microsoft.com/office/drawing/2014/main" val="20002"/>
                    </a:ext>
                  </a:extLst>
                </a:gridCol>
                <a:gridCol w="911087">
                  <a:extLst>
                    <a:ext uri="{9D8B030D-6E8A-4147-A177-3AD203B41FA5}">
                      <a16:colId xmlns:a16="http://schemas.microsoft.com/office/drawing/2014/main" val="20003"/>
                    </a:ext>
                  </a:extLst>
                </a:gridCol>
                <a:gridCol w="828261">
                  <a:extLst>
                    <a:ext uri="{9D8B030D-6E8A-4147-A177-3AD203B41FA5}">
                      <a16:colId xmlns:a16="http://schemas.microsoft.com/office/drawing/2014/main" val="20004"/>
                    </a:ext>
                  </a:extLst>
                </a:gridCol>
                <a:gridCol w="911087">
                  <a:extLst>
                    <a:ext uri="{9D8B030D-6E8A-4147-A177-3AD203B41FA5}">
                      <a16:colId xmlns:a16="http://schemas.microsoft.com/office/drawing/2014/main" val="20005"/>
                    </a:ext>
                  </a:extLst>
                </a:gridCol>
              </a:tblGrid>
              <a:tr h="25082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Current State</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0070C0"/>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Inputs</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0070C0"/>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Next State</a:t>
                      </a: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0070C0"/>
                    </a:solidFill>
                  </a:tcPr>
                </a:tc>
                <a:tc hMerge="1">
                  <a:txBody>
                    <a:bodyPr/>
                    <a:lstStyle/>
                    <a:p>
                      <a:endParaRPr lang="en-US"/>
                    </a:p>
                  </a:txBody>
                  <a:tcPr/>
                </a:tc>
                <a:extLst>
                  <a:ext uri="{0D108BD9-81ED-4DB2-BD59-A6C34878D82A}">
                    <a16:rowId xmlns:a16="http://schemas.microsoft.com/office/drawing/2014/main" val="10000"/>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r>
                        <a:rPr kumimoji="0" lang="en-US" sz="2400" b="1" i="0" u="none" strike="noStrike" cap="none" normalizeH="0" baseline="-25000" dirty="0">
                          <a:ln>
                            <a:noFill/>
                          </a:ln>
                          <a:solidFill>
                            <a:schemeClr val="bg1"/>
                          </a:solidFill>
                          <a:effectLst/>
                          <a:latin typeface="Times New Roman" pitchFamily="18" charset="0"/>
                          <a:cs typeface="Arial" charset="0"/>
                        </a:rPr>
                        <a:t>1</a:t>
                      </a:r>
                    </a:p>
                  </a:txBody>
                  <a:tcPr anchor="b" horzOverflow="overflow">
                    <a:lnL w="28575" cap="flat" cmpd="sng" algn="ctr">
                      <a:solidFill>
                        <a:schemeClr val="tx1"/>
                      </a:solidFill>
                      <a:prstDash val="solid"/>
                      <a:round/>
                      <a:headEnd type="none" w="med" len="med"/>
                      <a:tailEnd type="none" w="med" len="med"/>
                    </a:lnL>
                    <a:lnR>
                      <a:noFill/>
                    </a:lnR>
                    <a:lnT>
                      <a:noFill/>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r>
                        <a:rPr kumimoji="0" lang="en-US" sz="2400" b="1" i="0" u="none" strike="noStrike" cap="none" normalizeH="0" baseline="-25000" dirty="0">
                          <a:ln>
                            <a:noFill/>
                          </a:ln>
                          <a:solidFill>
                            <a:schemeClr val="bg1"/>
                          </a:solidFill>
                          <a:effectLst/>
                          <a:latin typeface="Times New Roman" pitchFamily="18" charset="0"/>
                          <a:cs typeface="Arial" charset="0"/>
                        </a:rPr>
                        <a:t>0</a:t>
                      </a:r>
                    </a:p>
                  </a:txBody>
                  <a:tcPr anchor="b" horzOverflow="overflow">
                    <a:lnL>
                      <a:noFill/>
                    </a:lnL>
                    <a:lnR w="12700" cap="flat" cmpd="sng" algn="ctr">
                      <a:solidFill>
                        <a:schemeClr val="tx1"/>
                      </a:solidFill>
                      <a:prstDash val="solid"/>
                      <a:round/>
                      <a:headEnd type="none" w="med" len="med"/>
                      <a:tailEnd type="none" w="med" len="med"/>
                    </a:lnR>
                    <a:lnT>
                      <a:noFill/>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T</a:t>
                      </a:r>
                      <a:r>
                        <a:rPr kumimoji="0" lang="en-US" sz="2400" b="1" i="1" u="none" strike="noStrike" cap="none" normalizeH="0" baseline="-25000" dirty="0">
                          <a:ln>
                            <a:noFill/>
                          </a:ln>
                          <a:solidFill>
                            <a:schemeClr val="bg1"/>
                          </a:solidFill>
                          <a:effectLst/>
                          <a:latin typeface="Times New Roman" pitchFamily="18" charset="0"/>
                          <a:cs typeface="Arial" charset="0"/>
                        </a:rPr>
                        <a:t>A</a:t>
                      </a:r>
                    </a:p>
                  </a:txBody>
                  <a:tcPr anchor="b" horzOverflow="overflow">
                    <a:lnL w="12700" cap="flat" cmpd="sng" algn="ctr">
                      <a:solidFill>
                        <a:schemeClr val="tx1"/>
                      </a:solidFill>
                      <a:prstDash val="solid"/>
                      <a:round/>
                      <a:headEnd type="none" w="med" len="med"/>
                      <a:tailEnd type="none" w="med" len="med"/>
                    </a:lnL>
                    <a:lnR>
                      <a:noFill/>
                    </a:lnR>
                    <a:lnT>
                      <a:noFill/>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T</a:t>
                      </a:r>
                      <a:r>
                        <a:rPr kumimoji="0" lang="en-US" sz="2400" b="1" i="1" u="none" strike="noStrike" cap="none" normalizeH="0" baseline="-25000" dirty="0">
                          <a:ln>
                            <a:noFill/>
                          </a:ln>
                          <a:solidFill>
                            <a:schemeClr val="bg1"/>
                          </a:solidFill>
                          <a:effectLst/>
                          <a:latin typeface="Times New Roman" pitchFamily="18" charset="0"/>
                          <a:cs typeface="Arial" charset="0"/>
                        </a:rPr>
                        <a:t>B</a:t>
                      </a:r>
                    </a:p>
                  </a:txBody>
                  <a:tcPr anchor="b" horzOverflow="overflow">
                    <a:lnL>
                      <a:noFill/>
                    </a:lnL>
                    <a:lnR w="57150" cap="flat" cmpd="sng" algn="ctr">
                      <a:solidFill>
                        <a:schemeClr val="tx1"/>
                      </a:solidFill>
                      <a:prstDash val="solid"/>
                      <a:round/>
                      <a:headEnd type="none" w="med" len="med"/>
                      <a:tailEnd type="none" w="med" len="med"/>
                    </a:lnR>
                    <a:lnT>
                      <a:noFill/>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r>
                        <a:rPr kumimoji="0" lang="en-US" sz="2400" b="1" i="1" u="none" strike="noStrike" cap="none" normalizeH="0" baseline="0" dirty="0">
                          <a:ln>
                            <a:noFill/>
                          </a:ln>
                          <a:solidFill>
                            <a:schemeClr val="bg1"/>
                          </a:solidFill>
                          <a:effectLst/>
                          <a:latin typeface="Times New Roman" pitchFamily="18" charset="0"/>
                          <a:cs typeface="Times New Roman" pitchFamily="18" charset="0"/>
                        </a:rPr>
                        <a:t>'</a:t>
                      </a:r>
                      <a:r>
                        <a:rPr kumimoji="0" lang="en-US" sz="2400" b="1" i="0" u="none" strike="noStrike" cap="none" normalizeH="0" baseline="-25000" dirty="0">
                          <a:ln>
                            <a:noFill/>
                          </a:ln>
                          <a:solidFill>
                            <a:schemeClr val="bg1"/>
                          </a:solidFill>
                          <a:effectLst/>
                          <a:latin typeface="Times New Roman" pitchFamily="18" charset="0"/>
                          <a:cs typeface="Times New Roman" pitchFamily="18" charset="0"/>
                        </a:rPr>
                        <a:t>1</a:t>
                      </a:r>
                    </a:p>
                  </a:txBody>
                  <a:tcPr anchor="b" horzOverflow="overflow">
                    <a:lnL w="57150" cap="flat" cmpd="sng" algn="ctr">
                      <a:solidFill>
                        <a:schemeClr val="tx1"/>
                      </a:solidFill>
                      <a:prstDash val="solid"/>
                      <a:round/>
                      <a:headEnd type="none" w="med" len="med"/>
                      <a:tailEnd type="none" w="med" len="med"/>
                    </a:lnL>
                    <a:lnR>
                      <a:noFill/>
                    </a:lnR>
                    <a:lnT>
                      <a:noFill/>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r>
                        <a:rPr kumimoji="0" lang="en-US" sz="2400" b="1" i="1" u="none" strike="noStrike" cap="none" normalizeH="0" baseline="0" dirty="0">
                          <a:ln>
                            <a:noFill/>
                          </a:ln>
                          <a:solidFill>
                            <a:schemeClr val="bg1"/>
                          </a:solidFill>
                          <a:effectLst/>
                          <a:latin typeface="Times New Roman" pitchFamily="18" charset="0"/>
                          <a:cs typeface="Times New Roman" pitchFamily="18" charset="0"/>
                        </a:rPr>
                        <a:t>'</a:t>
                      </a:r>
                      <a:r>
                        <a:rPr kumimoji="0" lang="en-US" sz="2400" b="1" i="0" u="none" strike="noStrike" cap="none" normalizeH="0" baseline="-25000" dirty="0">
                          <a:ln>
                            <a:noFill/>
                          </a:ln>
                          <a:solidFill>
                            <a:schemeClr val="bg1"/>
                          </a:solidFill>
                          <a:effectLst/>
                          <a:latin typeface="Times New Roman" pitchFamily="18" charset="0"/>
                          <a:cs typeface="Times New Roman" pitchFamily="18" charset="0"/>
                        </a:rPr>
                        <a:t>0</a:t>
                      </a:r>
                    </a:p>
                  </a:txBody>
                  <a:tcPr anchor="b" horzOverflow="overflow">
                    <a:lnL>
                      <a:noFill/>
                    </a:lnL>
                    <a:lnR w="28575" cap="flat" cmpd="sng" algn="ctr">
                      <a:solidFill>
                        <a:schemeClr val="tx1"/>
                      </a:solidFill>
                      <a:prstDash val="solid"/>
                      <a:round/>
                      <a:headEnd type="none" w="med" len="med"/>
                      <a:tailEnd type="none" w="med" len="med"/>
                    </a:lnR>
                    <a:lnT>
                      <a:noFill/>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4603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X</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165381" name="Group 69"/>
          <p:cNvGraphicFramePr>
            <a:graphicFrameLocks noGrp="1"/>
          </p:cNvGraphicFramePr>
          <p:nvPr>
            <p:ph sz="half" idx="4294967295"/>
            <p:custDataLst>
              <p:tags r:id="rId3"/>
            </p:custDataLst>
            <p:extLst>
              <p:ext uri="{D42A27DB-BD31-4B8C-83A1-F6EECF244321}">
                <p14:modId xmlns:p14="http://schemas.microsoft.com/office/powerpoint/2010/main" val="1436228071"/>
              </p:ext>
            </p:extLst>
          </p:nvPr>
        </p:nvGraphicFramePr>
        <p:xfrm>
          <a:off x="6324600" y="1408112"/>
          <a:ext cx="2514600" cy="2859088"/>
        </p:xfrm>
        <a:graphic>
          <a:graphicData uri="http://schemas.openxmlformats.org/drawingml/2006/table">
            <a:tbl>
              <a:tblPr/>
              <a:tblGrid>
                <a:gridCol w="990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State</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Encoding</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S0</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00</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S1</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01</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S2</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10</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S3</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11</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65314"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4" name="TextBox 13"/>
          <p:cNvSpPr txBox="1"/>
          <p:nvPr/>
        </p:nvSpPr>
        <p:spPr>
          <a:xfrm>
            <a:off x="457200" y="68759"/>
            <a:ext cx="7924800" cy="738664"/>
          </a:xfrm>
          <a:prstGeom prst="rect">
            <a:avLst/>
          </a:prstGeom>
          <a:noFill/>
        </p:spPr>
        <p:txBody>
          <a:bodyPr wrap="square" rtlCol="0">
            <a:spAutoFit/>
          </a:bodyPr>
          <a:lstStyle/>
          <a:p>
            <a:r>
              <a:rPr lang="en-US" sz="4200" dirty="0">
                <a:solidFill>
                  <a:schemeClr val="bg1"/>
                </a:solidFill>
                <a:latin typeface="+mj-lt"/>
              </a:rPr>
              <a:t>FSM Encoded State Transition Table</a:t>
            </a:r>
          </a:p>
        </p:txBody>
      </p:sp>
      <p:sp>
        <p:nvSpPr>
          <p:cNvPr id="6" name="Rectangle 91"/>
          <p:cNvSpPr>
            <a:spLocks noChangeArrowheads="1"/>
          </p:cNvSpPr>
          <p:nvPr>
            <p:custDataLst>
              <p:tags r:id="rId5"/>
            </p:custDataLst>
          </p:nvPr>
        </p:nvSpPr>
        <p:spPr bwMode="auto">
          <a:xfrm>
            <a:off x="1981200" y="5029200"/>
            <a:ext cx="3581400" cy="1295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b="1" i="1" dirty="0">
                <a:latin typeface="Times New Roman" pitchFamily="18" charset="0"/>
                <a:cs typeface="Arial" charset="0"/>
              </a:rPr>
              <a:t>S</a:t>
            </a:r>
            <a:r>
              <a:rPr lang="en-US" sz="2400" b="1" i="1" dirty="0">
                <a:latin typeface="Times New Roman" pitchFamily="18" charset="0"/>
                <a:cs typeface="Times New Roman" pitchFamily="18" charset="0"/>
              </a:rPr>
              <a:t>'</a:t>
            </a:r>
            <a:r>
              <a:rPr lang="en-US" sz="2400" b="1" baseline="-25000" dirty="0">
                <a:latin typeface="Times New Roman" pitchFamily="18" charset="0"/>
                <a:cs typeface="Arial" charset="0"/>
              </a:rPr>
              <a:t>1</a:t>
            </a:r>
            <a:r>
              <a:rPr lang="en-US" sz="2400" b="1" i="1" dirty="0">
                <a:latin typeface="Times New Roman" pitchFamily="18" charset="0"/>
                <a:cs typeface="Arial" charset="0"/>
              </a:rPr>
              <a:t> = S</a:t>
            </a:r>
            <a:r>
              <a:rPr lang="en-US" sz="2400" b="1" baseline="-25000" dirty="0">
                <a:latin typeface="Times New Roman" pitchFamily="18" charset="0"/>
                <a:cs typeface="Arial" charset="0"/>
              </a:rPr>
              <a:t>1</a:t>
            </a:r>
            <a:r>
              <a:rPr lang="en-US" sz="2400" b="1" i="1" dirty="0">
                <a:latin typeface="Times New Roman" pitchFamily="18" charset="0"/>
                <a:cs typeface="Arial" charset="0"/>
              </a:rPr>
              <a:t> </a:t>
            </a:r>
            <a:r>
              <a:rPr lang="en-US" sz="2400" b="1" i="1" dirty="0" err="1">
                <a:latin typeface="Times New Roman" pitchFamily="18" charset="0"/>
                <a:cs typeface="Arial" charset="0"/>
              </a:rPr>
              <a:t>xor</a:t>
            </a:r>
            <a:r>
              <a:rPr lang="en-US" sz="2400" b="1" i="1" dirty="0">
                <a:latin typeface="Times New Roman" pitchFamily="18" charset="0"/>
                <a:cs typeface="Arial" charset="0"/>
              </a:rPr>
              <a:t> S</a:t>
            </a:r>
            <a:r>
              <a:rPr lang="en-US" sz="2400" b="1" baseline="-25000" dirty="0">
                <a:latin typeface="Times New Roman" pitchFamily="18" charset="0"/>
                <a:cs typeface="Arial" charset="0"/>
              </a:rPr>
              <a:t>0</a:t>
            </a:r>
            <a:r>
              <a:rPr lang="en-US" sz="2400" b="1" i="1" dirty="0">
                <a:latin typeface="Times New Roman" pitchFamily="18" charset="0"/>
                <a:cs typeface="Arial" charset="0"/>
              </a:rPr>
              <a:t> </a:t>
            </a:r>
          </a:p>
          <a:p>
            <a:pPr marL="342900" indent="-342900">
              <a:spcBef>
                <a:spcPct val="20000"/>
              </a:spcBef>
            </a:pPr>
            <a:r>
              <a:rPr lang="en-US" sz="2400" b="1" i="1" dirty="0">
                <a:latin typeface="Times New Roman" pitchFamily="18" charset="0"/>
                <a:cs typeface="Arial" charset="0"/>
              </a:rPr>
              <a:t>S</a:t>
            </a:r>
            <a:r>
              <a:rPr lang="en-US" sz="2400" b="1" i="1" dirty="0">
                <a:latin typeface="Times New Roman" pitchFamily="18" charset="0"/>
                <a:cs typeface="Times New Roman" pitchFamily="18" charset="0"/>
              </a:rPr>
              <a:t>'</a:t>
            </a:r>
            <a:r>
              <a:rPr lang="en-US" sz="2400" b="1" baseline="-25000" dirty="0">
                <a:latin typeface="Times New Roman" pitchFamily="18" charset="0"/>
                <a:cs typeface="Arial" charset="0"/>
              </a:rPr>
              <a:t>0</a:t>
            </a:r>
            <a:r>
              <a:rPr lang="en-US" sz="2400" b="1" i="1" dirty="0">
                <a:latin typeface="Times New Roman" pitchFamily="18" charset="0"/>
                <a:cs typeface="Arial" charset="0"/>
              </a:rPr>
              <a:t> = S</a:t>
            </a:r>
            <a:r>
              <a:rPr lang="en-US" sz="2400" b="1" baseline="-25000" dirty="0">
                <a:latin typeface="Times New Roman" pitchFamily="18" charset="0"/>
                <a:cs typeface="Arial" charset="0"/>
              </a:rPr>
              <a:t>1</a:t>
            </a:r>
            <a:r>
              <a:rPr lang="en-US" sz="2400" b="1" i="1" dirty="0">
                <a:latin typeface="Times New Roman" pitchFamily="18" charset="0"/>
                <a:cs typeface="Arial" charset="0"/>
              </a:rPr>
              <a:t>S</a:t>
            </a:r>
            <a:r>
              <a:rPr lang="en-US" sz="2400" b="1" baseline="-25000" dirty="0">
                <a:latin typeface="Times New Roman" pitchFamily="18" charset="0"/>
                <a:cs typeface="Arial" charset="0"/>
              </a:rPr>
              <a:t>0</a:t>
            </a:r>
            <a:r>
              <a:rPr lang="en-US" sz="2400" b="1" i="1" dirty="0">
                <a:latin typeface="Times New Roman" pitchFamily="18" charset="0"/>
                <a:cs typeface="Arial" charset="0"/>
              </a:rPr>
              <a:t>T</a:t>
            </a:r>
            <a:r>
              <a:rPr lang="en-US" sz="2400" b="1" i="1" baseline="-25000" dirty="0">
                <a:latin typeface="Times New Roman" pitchFamily="18" charset="0"/>
                <a:cs typeface="Arial" charset="0"/>
              </a:rPr>
              <a:t>A</a:t>
            </a:r>
            <a:r>
              <a:rPr lang="en-US" sz="2400" b="1" i="1" dirty="0">
                <a:latin typeface="Times New Roman" pitchFamily="18" charset="0"/>
                <a:cs typeface="Arial" charset="0"/>
              </a:rPr>
              <a:t> + S</a:t>
            </a:r>
            <a:r>
              <a:rPr lang="en-US" sz="2400" b="1" baseline="-25000" dirty="0">
                <a:latin typeface="Times New Roman" pitchFamily="18" charset="0"/>
                <a:cs typeface="Arial" charset="0"/>
              </a:rPr>
              <a:t>1</a:t>
            </a:r>
            <a:r>
              <a:rPr lang="en-US" sz="2400" b="1" i="1" dirty="0">
                <a:latin typeface="Times New Roman" pitchFamily="18" charset="0"/>
                <a:cs typeface="Arial" charset="0"/>
              </a:rPr>
              <a:t>S</a:t>
            </a:r>
            <a:r>
              <a:rPr lang="en-US" sz="2400" b="1" baseline="-25000" dirty="0">
                <a:latin typeface="Times New Roman" pitchFamily="18" charset="0"/>
                <a:cs typeface="Arial" charset="0"/>
              </a:rPr>
              <a:t>0</a:t>
            </a:r>
            <a:r>
              <a:rPr lang="en-US" sz="2400" b="1" i="1" dirty="0">
                <a:latin typeface="Times New Roman" pitchFamily="18" charset="0"/>
                <a:cs typeface="Arial" charset="0"/>
              </a:rPr>
              <a:t>T</a:t>
            </a:r>
            <a:r>
              <a:rPr lang="en-US" sz="2400" b="1" i="1" baseline="-25000" dirty="0">
                <a:latin typeface="Times New Roman" pitchFamily="18" charset="0"/>
                <a:cs typeface="Arial" charset="0"/>
              </a:rPr>
              <a:t>B</a:t>
            </a:r>
          </a:p>
        </p:txBody>
      </p:sp>
      <p:sp>
        <p:nvSpPr>
          <p:cNvPr id="7" name="Line 92"/>
          <p:cNvSpPr>
            <a:spLocks noChangeShapeType="1"/>
          </p:cNvSpPr>
          <p:nvPr>
            <p:custDataLst>
              <p:tags r:id="rId6"/>
            </p:custDataLst>
          </p:nvPr>
        </p:nvSpPr>
        <p:spPr bwMode="auto">
          <a:xfrm>
            <a:off x="2743200" y="5561011"/>
            <a:ext cx="228600" cy="1587"/>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8" name="Line 93"/>
          <p:cNvSpPr>
            <a:spLocks noChangeShapeType="1"/>
          </p:cNvSpPr>
          <p:nvPr>
            <p:custDataLst>
              <p:tags r:id="rId7"/>
            </p:custDataLst>
          </p:nvPr>
        </p:nvSpPr>
        <p:spPr bwMode="auto">
          <a:xfrm>
            <a:off x="3048000" y="5561011"/>
            <a:ext cx="228600" cy="158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9" name="Line 94"/>
          <p:cNvSpPr>
            <a:spLocks noChangeShapeType="1"/>
          </p:cNvSpPr>
          <p:nvPr>
            <p:custDataLst>
              <p:tags r:id="rId8"/>
            </p:custDataLst>
          </p:nvPr>
        </p:nvSpPr>
        <p:spPr bwMode="auto">
          <a:xfrm>
            <a:off x="4191000" y="5551487"/>
            <a:ext cx="2286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10" name="Line 95"/>
          <p:cNvSpPr>
            <a:spLocks noChangeShapeType="1"/>
          </p:cNvSpPr>
          <p:nvPr>
            <p:custDataLst>
              <p:tags r:id="rId9"/>
            </p:custDataLst>
          </p:nvPr>
        </p:nvSpPr>
        <p:spPr bwMode="auto">
          <a:xfrm>
            <a:off x="4495800" y="5551487"/>
            <a:ext cx="2286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12" name="Line 93"/>
          <p:cNvSpPr>
            <a:spLocks noChangeShapeType="1"/>
          </p:cNvSpPr>
          <p:nvPr>
            <p:custDataLst>
              <p:tags r:id="rId10"/>
            </p:custDataLst>
          </p:nvPr>
        </p:nvSpPr>
        <p:spPr bwMode="auto">
          <a:xfrm>
            <a:off x="3352800" y="5561011"/>
            <a:ext cx="228600" cy="1587"/>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13" name="Rectangle 12"/>
          <p:cNvSpPr/>
          <p:nvPr/>
        </p:nvSpPr>
        <p:spPr>
          <a:xfrm>
            <a:off x="4572000" y="2362200"/>
            <a:ext cx="14478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4572000" y="2819400"/>
            <a:ext cx="14478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4572000" y="3276600"/>
            <a:ext cx="14478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4572000" y="3733800"/>
            <a:ext cx="14478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4572000" y="4191000"/>
            <a:ext cx="14478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4572000" y="4648200"/>
            <a:ext cx="14478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2743200" y="5105400"/>
            <a:ext cx="14478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2743200" y="5486400"/>
            <a:ext cx="2133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22" name="Object 21"/>
          <p:cNvGraphicFramePr>
            <a:graphicFrameLocks noChangeAspect="1"/>
          </p:cNvGraphicFramePr>
          <p:nvPr>
            <p:custDataLst>
              <p:tags r:id="rId11"/>
            </p:custDataLst>
            <p:extLst>
              <p:ext uri="{D42A27DB-BD31-4B8C-83A1-F6EECF244321}">
                <p14:modId xmlns:p14="http://schemas.microsoft.com/office/powerpoint/2010/main" val="1605076882"/>
              </p:ext>
            </p:extLst>
          </p:nvPr>
        </p:nvGraphicFramePr>
        <p:xfrm>
          <a:off x="6867567" y="4267200"/>
          <a:ext cx="1714458" cy="1708150"/>
        </p:xfrm>
        <a:graphic>
          <a:graphicData uri="http://schemas.openxmlformats.org/presentationml/2006/ole">
            <mc:AlternateContent xmlns:mc="http://schemas.openxmlformats.org/markup-compatibility/2006">
              <mc:Choice xmlns:v="urn:schemas-microsoft-com:vml" Requires="v">
                <p:oleObj spid="_x0000_s24578" name="VISIO" r:id="rId14" imgW="2001299" imgH="1993667" progId="Visio.Drawing.6">
                  <p:embed/>
                </p:oleObj>
              </mc:Choice>
              <mc:Fallback>
                <p:oleObj name="VISIO" r:id="rId14" imgW="2001299" imgH="1993667" progId="Visio.Drawing.6">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67567" y="4267200"/>
                        <a:ext cx="1714458" cy="17081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777122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7"/>
                                        </p:tgtEl>
                                      </p:cBhvr>
                                    </p:animEffect>
                                    <p:set>
                                      <p:cBhvr>
                                        <p:cTn id="22" dur="1" fill="hold">
                                          <p:stCondLst>
                                            <p:cond delay="499"/>
                                          </p:stCondLst>
                                        </p:cTn>
                                        <p:tgtEl>
                                          <p:spTgt spid="1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8"/>
                                        </p:tgtEl>
                                      </p:cBhvr>
                                    </p:animEffect>
                                    <p:set>
                                      <p:cBhvr>
                                        <p:cTn id="27" dur="1" fill="hold">
                                          <p:stCondLst>
                                            <p:cond delay="499"/>
                                          </p:stCondLst>
                                        </p:cTn>
                                        <p:tgtEl>
                                          <p:spTgt spid="1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9"/>
                                        </p:tgtEl>
                                      </p:cBhvr>
                                    </p:animEffect>
                                    <p:set>
                                      <p:cBhvr>
                                        <p:cTn id="32" dur="1" fill="hold">
                                          <p:stCondLst>
                                            <p:cond delay="499"/>
                                          </p:stCondLst>
                                        </p:cTn>
                                        <p:tgtEl>
                                          <p:spTgt spid="1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21"/>
                                        </p:tgtEl>
                                      </p:cBhvr>
                                    </p:animEffect>
                                    <p:set>
                                      <p:cBhvr>
                                        <p:cTn id="42"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8" grpId="0" animBg="1"/>
      <p:bldP spid="19" grpId="0" animBg="1"/>
      <p:bldP spid="20" grpId="0" animBg="1"/>
      <p:bldP spid="2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7363" name="Group 3"/>
          <p:cNvGraphicFramePr>
            <a:graphicFrameLocks noGrp="1"/>
          </p:cNvGraphicFramePr>
          <p:nvPr>
            <p:ph sz="half" idx="4294967295"/>
            <p:custDataLst>
              <p:tags r:id="rId2"/>
            </p:custDataLst>
            <p:extLst>
              <p:ext uri="{D42A27DB-BD31-4B8C-83A1-F6EECF244321}">
                <p14:modId xmlns:p14="http://schemas.microsoft.com/office/powerpoint/2010/main" val="2718132505"/>
              </p:ext>
            </p:extLst>
          </p:nvPr>
        </p:nvGraphicFramePr>
        <p:xfrm>
          <a:off x="381000" y="1447800"/>
          <a:ext cx="5524500" cy="2743200"/>
        </p:xfrm>
        <a:graphic>
          <a:graphicData uri="http://schemas.openxmlformats.org/drawingml/2006/table">
            <a:tbl>
              <a:tblPr/>
              <a:tblGrid>
                <a:gridCol w="12573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tblGrid>
              <a:tr h="233363">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Current State</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hMerge="1">
                  <a:txBody>
                    <a:bodyPr/>
                    <a:lstStyle/>
                    <a:p>
                      <a:endParaRPr 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Outputs</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r>
                        <a:rPr kumimoji="0" lang="en-US" sz="2400" b="1" i="0" u="none" strike="noStrike" cap="none" normalizeH="0" baseline="-25000" dirty="0">
                          <a:ln>
                            <a:noFill/>
                          </a:ln>
                          <a:solidFill>
                            <a:schemeClr val="bg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r>
                        <a:rPr kumimoji="0" lang="en-US" sz="2400" b="1" i="0" u="none" strike="noStrike" cap="none" normalizeH="0" baseline="-25000" dirty="0">
                          <a:ln>
                            <a:noFill/>
                          </a:ln>
                          <a:solidFill>
                            <a:schemeClr val="bg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L</a:t>
                      </a:r>
                      <a:r>
                        <a:rPr kumimoji="0" lang="en-US" sz="2400" b="1" i="1" u="none" strike="noStrike" cap="none" normalizeH="0" baseline="-25000" dirty="0">
                          <a:ln>
                            <a:noFill/>
                          </a:ln>
                          <a:solidFill>
                            <a:schemeClr val="bg1"/>
                          </a:solidFill>
                          <a:effectLst/>
                          <a:latin typeface="Times New Roman" pitchFamily="18" charset="0"/>
                          <a:cs typeface="Arial" charset="0"/>
                        </a:rPr>
                        <a:t>A</a:t>
                      </a:r>
                      <a:r>
                        <a:rPr kumimoji="0" lang="en-US" sz="2400" b="1" i="0" u="none" strike="noStrike" cap="none" normalizeH="0" baseline="-25000" dirty="0">
                          <a:ln>
                            <a:noFill/>
                          </a:ln>
                          <a:solidFill>
                            <a:schemeClr val="bg1"/>
                          </a:solidFill>
                          <a:effectLst/>
                          <a:latin typeface="Times New Roman" pitchFamily="18" charset="0"/>
                          <a:cs typeface="Arial" charset="0"/>
                        </a:rPr>
                        <a:t>1</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L</a:t>
                      </a:r>
                      <a:r>
                        <a:rPr kumimoji="0" lang="en-US" sz="2400" b="1" i="1" u="none" strike="noStrike" cap="none" normalizeH="0" baseline="-25000" dirty="0">
                          <a:ln>
                            <a:noFill/>
                          </a:ln>
                          <a:solidFill>
                            <a:schemeClr val="bg1"/>
                          </a:solidFill>
                          <a:effectLst/>
                          <a:latin typeface="Times New Roman" pitchFamily="18" charset="0"/>
                          <a:cs typeface="Arial" charset="0"/>
                        </a:rPr>
                        <a:t>A</a:t>
                      </a:r>
                      <a:r>
                        <a:rPr kumimoji="0" lang="en-US" sz="2400" b="1" i="0" u="none" strike="noStrike" cap="none" normalizeH="0" baseline="-25000" dirty="0">
                          <a:ln>
                            <a:noFill/>
                          </a:ln>
                          <a:solidFill>
                            <a:schemeClr val="bg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L</a:t>
                      </a:r>
                      <a:r>
                        <a:rPr kumimoji="0" lang="en-US" sz="2400" b="1" i="1" u="none" strike="noStrike" cap="none" normalizeH="0" baseline="-25000" dirty="0">
                          <a:ln>
                            <a:noFill/>
                          </a:ln>
                          <a:solidFill>
                            <a:schemeClr val="bg1"/>
                          </a:solidFill>
                          <a:effectLst/>
                          <a:latin typeface="Times New Roman" pitchFamily="18" charset="0"/>
                          <a:cs typeface="Arial" charset="0"/>
                        </a:rPr>
                        <a:t>B</a:t>
                      </a:r>
                      <a:r>
                        <a:rPr kumimoji="0" lang="en-US" sz="2400" b="1" i="0" u="none" strike="noStrike" cap="none" normalizeH="0" baseline="-25000" dirty="0">
                          <a:ln>
                            <a:noFill/>
                          </a:ln>
                          <a:solidFill>
                            <a:schemeClr val="bg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L</a:t>
                      </a:r>
                      <a:r>
                        <a:rPr kumimoji="0" lang="en-US" sz="2400" b="1" i="1" u="none" strike="noStrike" cap="none" normalizeH="0" baseline="-25000" dirty="0">
                          <a:ln>
                            <a:noFill/>
                          </a:ln>
                          <a:solidFill>
                            <a:schemeClr val="bg1"/>
                          </a:solidFill>
                          <a:effectLst/>
                          <a:latin typeface="Times New Roman" pitchFamily="18" charset="0"/>
                          <a:cs typeface="Arial" charset="0"/>
                        </a:rPr>
                        <a:t>B</a:t>
                      </a:r>
                      <a:r>
                        <a:rPr kumimoji="0" lang="en-US" sz="2400" b="1" i="0" u="none" strike="noStrike" cap="none" normalizeH="0" baseline="-25000" dirty="0">
                          <a:ln>
                            <a:noFill/>
                          </a:ln>
                          <a:solidFill>
                            <a:schemeClr val="bg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384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571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167411" name="Group 51"/>
          <p:cNvGraphicFramePr>
            <a:graphicFrameLocks noGrp="1"/>
          </p:cNvGraphicFramePr>
          <p:nvPr>
            <p:ph sz="half" idx="4294967295"/>
            <p:custDataLst>
              <p:tags r:id="rId3"/>
            </p:custDataLst>
            <p:extLst>
              <p:ext uri="{D42A27DB-BD31-4B8C-83A1-F6EECF244321}">
                <p14:modId xmlns:p14="http://schemas.microsoft.com/office/powerpoint/2010/main" val="3433571154"/>
              </p:ext>
            </p:extLst>
          </p:nvPr>
        </p:nvGraphicFramePr>
        <p:xfrm>
          <a:off x="6248400" y="1600200"/>
          <a:ext cx="2667000" cy="2297113"/>
        </p:xfrm>
        <a:graphic>
          <a:graphicData uri="http://schemas.openxmlformats.org/drawingml/2006/table">
            <a:tbl>
              <a:tblPr/>
              <a:tblGrid>
                <a:gridCol w="1219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Output</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Encoding</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green</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00</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yellow</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01</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red</a:t>
                      </a:r>
                    </a:p>
                  </a:txBody>
                  <a:tcPr anchor="b" horzOverflow="overflow">
                    <a:lnL w="28575"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10</a:t>
                      </a:r>
                    </a:p>
                  </a:txBody>
                  <a:tcPr anchor="b" horzOverflow="overflow">
                    <a:lnL w="571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Output Table</a:t>
            </a:r>
          </a:p>
        </p:txBody>
      </p:sp>
      <p:sp>
        <p:nvSpPr>
          <p:cNvPr id="5" name="Rectangle 70"/>
          <p:cNvSpPr>
            <a:spLocks noChangeArrowheads="1"/>
          </p:cNvSpPr>
          <p:nvPr>
            <p:custDataLst>
              <p:tags r:id="rId4"/>
            </p:custDataLst>
          </p:nvPr>
        </p:nvSpPr>
        <p:spPr bwMode="auto">
          <a:xfrm>
            <a:off x="2514600" y="4114800"/>
            <a:ext cx="2438400" cy="2057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b="1" i="1" dirty="0">
                <a:latin typeface="Times New Roman" pitchFamily="18" charset="0"/>
                <a:cs typeface="Arial" charset="0"/>
              </a:rPr>
              <a:t>L</a:t>
            </a:r>
            <a:r>
              <a:rPr lang="en-US" sz="2400" b="1" i="1" baseline="-25000" dirty="0">
                <a:latin typeface="Times New Roman" pitchFamily="18" charset="0"/>
                <a:cs typeface="Arial" charset="0"/>
              </a:rPr>
              <a:t>A</a:t>
            </a:r>
            <a:r>
              <a:rPr lang="en-US" sz="2400" b="1" baseline="-25000" dirty="0">
                <a:latin typeface="Times New Roman" pitchFamily="18" charset="0"/>
                <a:cs typeface="Arial" charset="0"/>
              </a:rPr>
              <a:t>1</a:t>
            </a:r>
            <a:r>
              <a:rPr lang="en-US" sz="2400" b="1" i="1" dirty="0">
                <a:latin typeface="Times New Roman" pitchFamily="18" charset="0"/>
                <a:cs typeface="Arial" charset="0"/>
              </a:rPr>
              <a:t> = S</a:t>
            </a:r>
            <a:r>
              <a:rPr lang="en-US" sz="2400" b="1" baseline="-25000" dirty="0">
                <a:latin typeface="Times New Roman" pitchFamily="18" charset="0"/>
                <a:cs typeface="Arial" charset="0"/>
              </a:rPr>
              <a:t>1</a:t>
            </a:r>
            <a:endParaRPr lang="en-US" sz="2400" b="1" i="1" dirty="0">
              <a:latin typeface="Times New Roman" pitchFamily="18" charset="0"/>
              <a:cs typeface="Arial" charset="0"/>
            </a:endParaRPr>
          </a:p>
          <a:p>
            <a:pPr marL="342900" indent="-342900">
              <a:spcBef>
                <a:spcPct val="20000"/>
              </a:spcBef>
            </a:pPr>
            <a:r>
              <a:rPr lang="en-US" sz="2400" b="1" i="1" dirty="0">
                <a:latin typeface="Times New Roman" pitchFamily="18" charset="0"/>
                <a:cs typeface="Arial" charset="0"/>
              </a:rPr>
              <a:t>L</a:t>
            </a:r>
            <a:r>
              <a:rPr lang="en-US" sz="2400" b="1" i="1" baseline="-25000" dirty="0">
                <a:latin typeface="Times New Roman" pitchFamily="18" charset="0"/>
                <a:cs typeface="Arial" charset="0"/>
              </a:rPr>
              <a:t>A</a:t>
            </a:r>
            <a:r>
              <a:rPr lang="en-US" sz="2400" b="1" baseline="-25000" dirty="0">
                <a:latin typeface="Times New Roman" pitchFamily="18" charset="0"/>
                <a:cs typeface="Arial" charset="0"/>
              </a:rPr>
              <a:t>0</a:t>
            </a:r>
            <a:r>
              <a:rPr lang="en-US" sz="2400" b="1" i="1" dirty="0">
                <a:latin typeface="Times New Roman" pitchFamily="18" charset="0"/>
                <a:cs typeface="Arial" charset="0"/>
              </a:rPr>
              <a:t> = S</a:t>
            </a:r>
            <a:r>
              <a:rPr lang="en-US" sz="2400" b="1" baseline="-25000" dirty="0">
                <a:latin typeface="Times New Roman" pitchFamily="18" charset="0"/>
                <a:cs typeface="Arial" charset="0"/>
              </a:rPr>
              <a:t>1</a:t>
            </a:r>
            <a:r>
              <a:rPr lang="en-US" sz="2400" b="1" i="1" dirty="0">
                <a:latin typeface="Times New Roman" pitchFamily="18" charset="0"/>
                <a:cs typeface="Arial" charset="0"/>
              </a:rPr>
              <a:t>S</a:t>
            </a:r>
            <a:r>
              <a:rPr lang="en-US" sz="2400" b="1" baseline="-25000" dirty="0">
                <a:latin typeface="Times New Roman" pitchFamily="18" charset="0"/>
                <a:cs typeface="Arial" charset="0"/>
              </a:rPr>
              <a:t>0</a:t>
            </a:r>
          </a:p>
          <a:p>
            <a:pPr marL="342900" indent="-342900">
              <a:spcBef>
                <a:spcPct val="20000"/>
              </a:spcBef>
            </a:pPr>
            <a:r>
              <a:rPr lang="en-US" sz="2400" b="1" i="1" dirty="0">
                <a:latin typeface="Times New Roman" pitchFamily="18" charset="0"/>
                <a:cs typeface="Arial" charset="0"/>
              </a:rPr>
              <a:t>L</a:t>
            </a:r>
            <a:r>
              <a:rPr lang="en-US" sz="2400" b="1" i="1" baseline="-25000" dirty="0">
                <a:latin typeface="Times New Roman" pitchFamily="18" charset="0"/>
                <a:cs typeface="Arial" charset="0"/>
              </a:rPr>
              <a:t>B</a:t>
            </a:r>
            <a:r>
              <a:rPr lang="en-US" sz="2400" b="1" baseline="-25000" dirty="0">
                <a:latin typeface="Times New Roman" pitchFamily="18" charset="0"/>
                <a:cs typeface="Arial" charset="0"/>
              </a:rPr>
              <a:t>1</a:t>
            </a:r>
            <a:r>
              <a:rPr lang="en-US" sz="2400" b="1" i="1" dirty="0">
                <a:latin typeface="Times New Roman" pitchFamily="18" charset="0"/>
                <a:cs typeface="Arial" charset="0"/>
              </a:rPr>
              <a:t> = S</a:t>
            </a:r>
            <a:r>
              <a:rPr lang="en-US" sz="2400" b="1" baseline="-25000" dirty="0">
                <a:latin typeface="Times New Roman" pitchFamily="18" charset="0"/>
                <a:cs typeface="Arial" charset="0"/>
              </a:rPr>
              <a:t>1</a:t>
            </a:r>
            <a:endParaRPr lang="en-US" sz="2400" b="1" i="1" dirty="0">
              <a:latin typeface="Times New Roman" pitchFamily="18" charset="0"/>
              <a:cs typeface="Arial" charset="0"/>
            </a:endParaRPr>
          </a:p>
          <a:p>
            <a:pPr marL="342900" indent="-342900">
              <a:spcBef>
                <a:spcPct val="20000"/>
              </a:spcBef>
            </a:pPr>
            <a:r>
              <a:rPr lang="en-US" sz="2400" b="1" i="1" dirty="0">
                <a:latin typeface="Times New Roman" pitchFamily="18" charset="0"/>
                <a:cs typeface="Arial" charset="0"/>
              </a:rPr>
              <a:t>L</a:t>
            </a:r>
            <a:r>
              <a:rPr lang="en-US" sz="2400" b="1" i="1" baseline="-25000" dirty="0">
                <a:latin typeface="Times New Roman" pitchFamily="18" charset="0"/>
                <a:cs typeface="Arial" charset="0"/>
              </a:rPr>
              <a:t>B</a:t>
            </a:r>
            <a:r>
              <a:rPr lang="en-US" sz="2400" b="1" baseline="-25000" dirty="0">
                <a:latin typeface="Times New Roman" pitchFamily="18" charset="0"/>
                <a:cs typeface="Arial" charset="0"/>
              </a:rPr>
              <a:t>0</a:t>
            </a:r>
            <a:r>
              <a:rPr lang="en-US" sz="2400" b="1" i="1" dirty="0">
                <a:latin typeface="Times New Roman" pitchFamily="18" charset="0"/>
                <a:cs typeface="Arial" charset="0"/>
              </a:rPr>
              <a:t> = S</a:t>
            </a:r>
            <a:r>
              <a:rPr lang="en-US" sz="2400" b="1" baseline="-25000" dirty="0">
                <a:latin typeface="Times New Roman" pitchFamily="18" charset="0"/>
                <a:cs typeface="Arial" charset="0"/>
              </a:rPr>
              <a:t>1</a:t>
            </a:r>
            <a:r>
              <a:rPr lang="en-US" sz="2400" b="1" i="1" dirty="0">
                <a:latin typeface="Times New Roman" pitchFamily="18" charset="0"/>
                <a:cs typeface="Arial" charset="0"/>
              </a:rPr>
              <a:t>S</a:t>
            </a:r>
            <a:r>
              <a:rPr lang="en-US" sz="2400" b="1" baseline="-25000" dirty="0">
                <a:latin typeface="Times New Roman" pitchFamily="18" charset="0"/>
                <a:cs typeface="Arial" charset="0"/>
              </a:rPr>
              <a:t>0</a:t>
            </a:r>
            <a:endParaRPr lang="en-US" sz="2400" b="1" i="1" baseline="-25000" dirty="0">
              <a:latin typeface="Times New Roman" pitchFamily="18" charset="0"/>
              <a:cs typeface="Arial" charset="0"/>
            </a:endParaRPr>
          </a:p>
        </p:txBody>
      </p:sp>
      <p:sp>
        <p:nvSpPr>
          <p:cNvPr id="6" name="Line 71"/>
          <p:cNvSpPr>
            <a:spLocks noChangeShapeType="1"/>
          </p:cNvSpPr>
          <p:nvPr>
            <p:custDataLst>
              <p:tags r:id="rId5"/>
            </p:custDataLst>
          </p:nvPr>
        </p:nvSpPr>
        <p:spPr bwMode="auto">
          <a:xfrm>
            <a:off x="3352800" y="46482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b="1"/>
          </a:p>
        </p:txBody>
      </p:sp>
      <p:sp>
        <p:nvSpPr>
          <p:cNvPr id="7" name="Line 72"/>
          <p:cNvSpPr>
            <a:spLocks noChangeShapeType="1"/>
          </p:cNvSpPr>
          <p:nvPr>
            <p:custDataLst>
              <p:tags r:id="rId6"/>
            </p:custDataLst>
          </p:nvPr>
        </p:nvSpPr>
        <p:spPr bwMode="auto">
          <a:xfrm>
            <a:off x="3352800" y="51054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b="1"/>
          </a:p>
        </p:txBody>
      </p:sp>
      <p:sp>
        <p:nvSpPr>
          <p:cNvPr id="8" name="Rectangle 7"/>
          <p:cNvSpPr/>
          <p:nvPr/>
        </p:nvSpPr>
        <p:spPr>
          <a:xfrm>
            <a:off x="2590800" y="2438400"/>
            <a:ext cx="3200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2590800" y="2895600"/>
            <a:ext cx="3200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2590800" y="3352800"/>
            <a:ext cx="3200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2667000" y="3810000"/>
            <a:ext cx="32004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352800" y="4191000"/>
            <a:ext cx="838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3352800" y="4572000"/>
            <a:ext cx="8382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3352800" y="5029200"/>
            <a:ext cx="8382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3352800" y="5486400"/>
            <a:ext cx="8382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7" name="Object 16"/>
          <p:cNvGraphicFramePr>
            <a:graphicFrameLocks noChangeAspect="1"/>
          </p:cNvGraphicFramePr>
          <p:nvPr>
            <p:custDataLst>
              <p:tags r:id="rId7"/>
            </p:custDataLst>
            <p:extLst>
              <p:ext uri="{D42A27DB-BD31-4B8C-83A1-F6EECF244321}">
                <p14:modId xmlns:p14="http://schemas.microsoft.com/office/powerpoint/2010/main" val="560879570"/>
              </p:ext>
            </p:extLst>
          </p:nvPr>
        </p:nvGraphicFramePr>
        <p:xfrm>
          <a:off x="6485161" y="3886200"/>
          <a:ext cx="2064998" cy="2057400"/>
        </p:xfrm>
        <a:graphic>
          <a:graphicData uri="http://schemas.openxmlformats.org/presentationml/2006/ole">
            <mc:AlternateContent xmlns:mc="http://schemas.openxmlformats.org/markup-compatibility/2006">
              <mc:Choice xmlns:v="urn:schemas-microsoft-com:vml" Requires="v">
                <p:oleObj spid="_x0000_s25602" name="VISIO" r:id="rId10" imgW="2001299" imgH="1993667" progId="Visio.Drawing.6">
                  <p:embed/>
                </p:oleObj>
              </mc:Choice>
              <mc:Fallback>
                <p:oleObj name="VISIO" r:id="rId10" imgW="2001299" imgH="1993667"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85161" y="3886200"/>
                        <a:ext cx="2064998" cy="20574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2877925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5" grpId="0" animBg="1"/>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3595" name="Object 75"/>
          <p:cNvGraphicFramePr>
            <a:graphicFrameLocks noGrp="1" noChangeAspect="1"/>
          </p:cNvGraphicFramePr>
          <p:nvPr>
            <p:ph idx="4294967295"/>
            <p:custDataLst>
              <p:tags r:id="rId2"/>
            </p:custDataLst>
            <p:extLst>
              <p:ext uri="{D42A27DB-BD31-4B8C-83A1-F6EECF244321}">
                <p14:modId xmlns:p14="http://schemas.microsoft.com/office/powerpoint/2010/main" val="1239452427"/>
              </p:ext>
            </p:extLst>
          </p:nvPr>
        </p:nvGraphicFramePr>
        <p:xfrm>
          <a:off x="4800600" y="1371600"/>
          <a:ext cx="1922462" cy="3352800"/>
        </p:xfrm>
        <a:graphic>
          <a:graphicData uri="http://schemas.openxmlformats.org/presentationml/2006/ole">
            <mc:AlternateContent xmlns:mc="http://schemas.openxmlformats.org/markup-compatibility/2006">
              <mc:Choice xmlns:v="urn:schemas-microsoft-com:vml" Requires="v">
                <p:oleObj spid="_x0000_s26626" name="VISIO" r:id="rId5" imgW="769680" imgH="1343160" progId="Visio.Drawing.6">
                  <p:embed/>
                </p:oleObj>
              </mc:Choice>
              <mc:Fallback>
                <p:oleObj name="VISIO" r:id="rId5" imgW="769680" imgH="134316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1371600"/>
                        <a:ext cx="1922462" cy="3352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Schematic: State Register</a:t>
            </a:r>
          </a:p>
        </p:txBody>
      </p:sp>
    </p:spTree>
    <p:extLst>
      <p:ext uri="{BB962C8B-B14F-4D97-AF65-F5344CB8AC3E}">
        <p14:creationId xmlns:p14="http://schemas.microsoft.com/office/powerpoint/2010/main" val="54328272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5572" name="Object 4"/>
          <p:cNvGraphicFramePr>
            <a:graphicFrameLocks noGrp="1" noChangeAspect="1"/>
          </p:cNvGraphicFramePr>
          <p:nvPr>
            <p:ph sz="half" idx="4294967295"/>
            <p:custDataLst>
              <p:tags r:id="rId2"/>
            </p:custDataLst>
            <p:extLst>
              <p:ext uri="{D42A27DB-BD31-4B8C-83A1-F6EECF244321}">
                <p14:modId xmlns:p14="http://schemas.microsoft.com/office/powerpoint/2010/main" val="4093365772"/>
              </p:ext>
            </p:extLst>
          </p:nvPr>
        </p:nvGraphicFramePr>
        <p:xfrm>
          <a:off x="685800" y="1344612"/>
          <a:ext cx="6030913" cy="3989388"/>
        </p:xfrm>
        <a:graphic>
          <a:graphicData uri="http://schemas.openxmlformats.org/presentationml/2006/ole">
            <mc:AlternateContent xmlns:mc="http://schemas.openxmlformats.org/markup-compatibility/2006">
              <mc:Choice xmlns:v="urn:schemas-microsoft-com:vml" Requires="v">
                <p:oleObj spid="_x0000_s27650" name="VISIO" r:id="rId5" imgW="2461680" imgH="1628640" progId="Visio.Drawing.6">
                  <p:embed/>
                </p:oleObj>
              </mc:Choice>
              <mc:Fallback>
                <p:oleObj name="VISIO" r:id="rId5" imgW="2461680" imgH="162864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1344612"/>
                        <a:ext cx="6030913" cy="3989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Schematic: Next State Logic</a:t>
            </a:r>
          </a:p>
        </p:txBody>
      </p:sp>
      <p:pic>
        <p:nvPicPr>
          <p:cNvPr id="3" name="Picture 2">
            <a:extLst>
              <a:ext uri="{FF2B5EF4-FFF2-40B4-BE49-F238E27FC236}">
                <a16:creationId xmlns:a16="http://schemas.microsoft.com/office/drawing/2014/main" id="{4A825DFC-BB85-420D-8252-72E6878DBE15}"/>
              </a:ext>
            </a:extLst>
          </p:cNvPr>
          <p:cNvPicPr>
            <a:picLocks noChangeAspect="1"/>
          </p:cNvPicPr>
          <p:nvPr/>
        </p:nvPicPr>
        <p:blipFill>
          <a:blip r:embed="rId7"/>
          <a:stretch>
            <a:fillRect/>
          </a:stretch>
        </p:blipFill>
        <p:spPr>
          <a:xfrm>
            <a:off x="1371600" y="1066912"/>
            <a:ext cx="1981200" cy="555399"/>
          </a:xfrm>
          <a:prstGeom prst="rect">
            <a:avLst/>
          </a:prstGeom>
        </p:spPr>
      </p:pic>
    </p:spTree>
    <p:extLst>
      <p:ext uri="{BB962C8B-B14F-4D97-AF65-F5344CB8AC3E}">
        <p14:creationId xmlns:p14="http://schemas.microsoft.com/office/powerpoint/2010/main" val="68659886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7620" name="Object 4"/>
          <p:cNvGraphicFramePr>
            <a:graphicFrameLocks noGrp="1" noChangeAspect="1"/>
          </p:cNvGraphicFramePr>
          <p:nvPr>
            <p:ph sz="half" idx="4294967295"/>
            <p:custDataLst>
              <p:tags r:id="rId2"/>
            </p:custDataLst>
          </p:nvPr>
        </p:nvGraphicFramePr>
        <p:xfrm>
          <a:off x="685800" y="1371600"/>
          <a:ext cx="8458200" cy="3937000"/>
        </p:xfrm>
        <a:graphic>
          <a:graphicData uri="http://schemas.openxmlformats.org/presentationml/2006/ole">
            <mc:AlternateContent xmlns:mc="http://schemas.openxmlformats.org/markup-compatibility/2006">
              <mc:Choice xmlns:v="urn:schemas-microsoft-com:vml" Requires="v">
                <p:oleObj spid="_x0000_s28674" name="VISIO" r:id="rId5" imgW="3498840" imgH="1628640" progId="Visio.Drawing.6">
                  <p:embed/>
                </p:oleObj>
              </mc:Choice>
              <mc:Fallback>
                <p:oleObj name="VISIO" r:id="rId5" imgW="3498840" imgH="162864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1371600"/>
                        <a:ext cx="8458200" cy="3937000"/>
                      </a:xfrm>
                      <a:prstGeom prst="rect">
                        <a:avLst/>
                      </a:prstGeom>
                    </p:spPr>
                  </p:pic>
                </p:oleObj>
              </mc:Fallback>
            </mc:AlternateContent>
          </a:graphicData>
        </a:graphic>
      </p:graphicFrame>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Schematic: Output Logic</a:t>
            </a:r>
          </a:p>
        </p:txBody>
      </p:sp>
      <p:pic>
        <p:nvPicPr>
          <p:cNvPr id="3" name="Picture 2">
            <a:extLst>
              <a:ext uri="{FF2B5EF4-FFF2-40B4-BE49-F238E27FC236}">
                <a16:creationId xmlns:a16="http://schemas.microsoft.com/office/drawing/2014/main" id="{C1BE41AE-3076-4D10-B6CF-CCABFDF5E111}"/>
              </a:ext>
            </a:extLst>
          </p:cNvPr>
          <p:cNvPicPr>
            <a:picLocks noChangeAspect="1"/>
          </p:cNvPicPr>
          <p:nvPr/>
        </p:nvPicPr>
        <p:blipFill>
          <a:blip r:embed="rId7"/>
          <a:stretch>
            <a:fillRect/>
          </a:stretch>
        </p:blipFill>
        <p:spPr>
          <a:xfrm>
            <a:off x="152400" y="990600"/>
            <a:ext cx="1481785" cy="1705330"/>
          </a:xfrm>
          <a:prstGeom prst="rect">
            <a:avLst/>
          </a:prstGeom>
        </p:spPr>
      </p:pic>
    </p:spTree>
    <p:extLst>
      <p:ext uri="{BB962C8B-B14F-4D97-AF65-F5344CB8AC3E}">
        <p14:creationId xmlns:p14="http://schemas.microsoft.com/office/powerpoint/2010/main" val="186720907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endParaRPr>
          </a:p>
          <a:p>
            <a:pPr marL="342900" indent="-342900">
              <a:spcBef>
                <a:spcPct val="20000"/>
              </a:spcBef>
            </a:pPr>
            <a:endParaRPr lang="en-US" sz="3200">
              <a:latin typeface="Times New Roman" pitchFamily="18" charset="0"/>
            </a:endParaRPr>
          </a:p>
          <a:p>
            <a:pPr marL="342900" indent="-342900">
              <a:spcBef>
                <a:spcPct val="20000"/>
              </a:spcBef>
            </a:pPr>
            <a:endParaRPr lang="en-US" sz="3200">
              <a:latin typeface="Times New Roman" pitchFamily="18" charset="0"/>
            </a:endParaRPr>
          </a:p>
        </p:txBody>
      </p:sp>
      <p:sp>
        <p:nvSpPr>
          <p:cNvPr id="84999" name="Rectangle 6"/>
          <p:cNvSpPr>
            <a:spLocks noChangeArrowheads="1"/>
          </p:cNvSpPr>
          <p:nvPr>
            <p:custDataLst>
              <p:tags r:id="rId2"/>
            </p:custDataLst>
          </p:nvPr>
        </p:nvSpPr>
        <p:spPr bwMode="auto">
          <a:xfrm>
            <a:off x="2362200" y="5943600"/>
            <a:ext cx="4759325" cy="519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FontTx/>
              <a:buChar char="•"/>
            </a:pPr>
            <a:r>
              <a:rPr lang="en-US"/>
              <a:t> Multi-input XOR: Odd parity</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SystemVerilog</a:t>
            </a:r>
            <a:r>
              <a:rPr lang="en-US" sz="4400" dirty="0">
                <a:solidFill>
                  <a:schemeClr val="bg1"/>
                </a:solidFill>
                <a:latin typeface="+mj-lt"/>
              </a:rPr>
              <a:t> Description</a:t>
            </a:r>
          </a:p>
        </p:txBody>
      </p:sp>
      <p:sp>
        <p:nvSpPr>
          <p:cNvPr id="8" name="Rectangle 7"/>
          <p:cNvSpPr/>
          <p:nvPr/>
        </p:nvSpPr>
        <p:spPr>
          <a:xfrm>
            <a:off x="3429000" y="35814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429000" y="3810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429000" y="41148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429000" y="43434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3429000" y="46482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429000" y="48768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3429000" y="51816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3429000" y="54102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7010400" y="35052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7010400" y="37338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7010400" y="40386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7010400" y="42672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7010400" y="45720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7010400" y="48006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7010400" y="5105400"/>
            <a:ext cx="381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7010400" y="5334000"/>
            <a:ext cx="3810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3"/>
          <p:cNvSpPr txBox="1">
            <a:spLocks noChangeArrowheads="1"/>
          </p:cNvSpPr>
          <p:nvPr>
            <p:custDataLst>
              <p:tags r:id="rId3"/>
            </p:custDataLst>
          </p:nvPr>
        </p:nvSpPr>
        <p:spPr>
          <a:xfrm>
            <a:off x="533400" y="1219200"/>
            <a:ext cx="8229600" cy="4525963"/>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latin typeface="Courier New"/>
                <a:cs typeface="Courier New"/>
              </a:rPr>
              <a:t>module </a:t>
            </a:r>
            <a:r>
              <a:rPr lang="en-US" sz="2000" dirty="0" err="1">
                <a:latin typeface="Courier New"/>
                <a:cs typeface="Courier New"/>
              </a:rPr>
              <a:t>trafficFSM</a:t>
            </a:r>
            <a:r>
              <a:rPr lang="en-US" sz="2000" dirty="0">
                <a:latin typeface="Courier New"/>
                <a:cs typeface="Courier New"/>
              </a:rPr>
              <a:t>(input  logic       </a:t>
            </a:r>
            <a:r>
              <a:rPr lang="en-US" sz="2000" dirty="0" err="1">
                <a:latin typeface="Courier New"/>
                <a:cs typeface="Courier New"/>
              </a:rPr>
              <a:t>clk</a:t>
            </a:r>
            <a:r>
              <a:rPr lang="en-US" sz="2000" dirty="0">
                <a:latin typeface="Courier New"/>
                <a:cs typeface="Courier New"/>
              </a:rPr>
              <a:t>, reset, </a:t>
            </a:r>
          </a:p>
          <a:p>
            <a:pPr marL="0" indent="0">
              <a:buNone/>
            </a:pPr>
            <a:r>
              <a:rPr lang="en-US" sz="2000" dirty="0">
                <a:latin typeface="Courier New"/>
                <a:cs typeface="Courier New"/>
              </a:rPr>
              <a:t>                  input  logic       ta, </a:t>
            </a:r>
            <a:r>
              <a:rPr lang="en-US" sz="2000" dirty="0" err="1">
                <a:latin typeface="Courier New"/>
                <a:cs typeface="Courier New"/>
              </a:rPr>
              <a:t>tb</a:t>
            </a:r>
            <a:r>
              <a:rPr lang="en-US" sz="2000" dirty="0">
                <a:latin typeface="Courier New"/>
                <a:cs typeface="Courier New"/>
              </a:rPr>
              <a:t>,</a:t>
            </a:r>
          </a:p>
          <a:p>
            <a:pPr marL="0" indent="0">
              <a:buNone/>
            </a:pPr>
            <a:r>
              <a:rPr lang="en-US" sz="2000" dirty="0">
                <a:latin typeface="Courier New"/>
                <a:cs typeface="Courier New"/>
              </a:rPr>
              <a:t>                  output logic [1:0] la, </a:t>
            </a:r>
            <a:r>
              <a:rPr lang="en-US" sz="2000" dirty="0" err="1">
                <a:latin typeface="Courier New"/>
                <a:cs typeface="Courier New"/>
              </a:rPr>
              <a:t>lb</a:t>
            </a:r>
            <a:r>
              <a:rPr lang="en-US" sz="2000" dirty="0">
                <a:latin typeface="Courier New"/>
                <a:cs typeface="Courier New"/>
              </a:rPr>
              <a:t>);</a:t>
            </a:r>
          </a:p>
          <a:p>
            <a:pPr marL="0" indent="0">
              <a:buNone/>
            </a:pPr>
            <a:r>
              <a:rPr lang="en-US" sz="2000" dirty="0">
                <a:latin typeface="Courier New"/>
                <a:cs typeface="Courier New"/>
              </a:rPr>
              <a:t>  logic [1:0] state, </a:t>
            </a:r>
            <a:r>
              <a:rPr lang="en-US" sz="2000" dirty="0" err="1">
                <a:latin typeface="Courier New"/>
                <a:cs typeface="Courier New"/>
              </a:rPr>
              <a:t>nextstate</a:t>
            </a:r>
            <a:r>
              <a:rPr lang="en-US" sz="2000" dirty="0">
                <a:latin typeface="Courier New"/>
                <a:cs typeface="Courier New"/>
              </a:rPr>
              <a:t>, </a:t>
            </a:r>
            <a:r>
              <a:rPr lang="en-US" sz="2000" dirty="0" err="1">
                <a:latin typeface="Courier New"/>
                <a:cs typeface="Courier New"/>
              </a:rPr>
              <a:t>sb</a:t>
            </a:r>
            <a:r>
              <a:rPr lang="en-US" sz="2000" dirty="0">
                <a:latin typeface="Courier New"/>
                <a:cs typeface="Courier New"/>
              </a:rPr>
              <a:t>;</a:t>
            </a:r>
          </a:p>
          <a:p>
            <a:pPr marL="0" indent="0">
              <a:buNone/>
            </a:pPr>
            <a:r>
              <a:rPr lang="en-US" sz="2000" dirty="0">
                <a:latin typeface="Courier New"/>
                <a:cs typeface="Courier New"/>
              </a:rPr>
              <a:t>  logic       tab, </a:t>
            </a:r>
            <a:r>
              <a:rPr lang="en-US" sz="2000" dirty="0" err="1">
                <a:latin typeface="Courier New"/>
                <a:cs typeface="Courier New"/>
              </a:rPr>
              <a:t>tbb</a:t>
            </a:r>
            <a:r>
              <a:rPr lang="en-US" sz="2000" dirty="0">
                <a:latin typeface="Courier New"/>
                <a:cs typeface="Courier New"/>
              </a:rPr>
              <a:t>, p1, p2;</a:t>
            </a:r>
          </a:p>
          <a:p>
            <a:pPr marL="0" indent="0">
              <a:buNone/>
            </a:pPr>
            <a:endParaRPr lang="en-US" sz="2000" dirty="0">
              <a:latin typeface="Courier New"/>
              <a:cs typeface="Courier New"/>
            </a:endParaRPr>
          </a:p>
          <a:p>
            <a:pPr marL="0" indent="0">
              <a:buNone/>
            </a:pPr>
            <a:r>
              <a:rPr lang="en-US" sz="2000" dirty="0">
                <a:latin typeface="Courier New"/>
                <a:cs typeface="Courier New"/>
              </a:rPr>
              <a:t>  // state register</a:t>
            </a:r>
          </a:p>
          <a:p>
            <a:pPr marL="0" indent="0">
              <a:buNone/>
            </a:pPr>
            <a:r>
              <a:rPr lang="en-US" sz="2000" dirty="0">
                <a:latin typeface="Courier New"/>
                <a:cs typeface="Courier New"/>
              </a:rPr>
              <a:t>  </a:t>
            </a:r>
            <a:r>
              <a:rPr lang="en-US" sz="2000" dirty="0" err="1">
                <a:latin typeface="Courier New"/>
                <a:cs typeface="Courier New"/>
              </a:rPr>
              <a:t>flopr</a:t>
            </a:r>
            <a:r>
              <a:rPr lang="en-US" sz="2000" dirty="0">
                <a:latin typeface="Courier New"/>
                <a:cs typeface="Courier New"/>
              </a:rPr>
              <a:t> #(2) </a:t>
            </a:r>
            <a:r>
              <a:rPr lang="en-US" sz="2000" dirty="0" err="1">
                <a:latin typeface="Courier New"/>
                <a:cs typeface="Courier New"/>
              </a:rPr>
              <a:t>statereg</a:t>
            </a:r>
            <a:r>
              <a:rPr lang="en-US" sz="2000" dirty="0">
                <a:latin typeface="Courier New"/>
                <a:cs typeface="Courier New"/>
              </a:rPr>
              <a:t>(</a:t>
            </a:r>
            <a:r>
              <a:rPr lang="en-US" sz="2000" dirty="0" err="1">
                <a:latin typeface="Courier New"/>
                <a:cs typeface="Courier New"/>
              </a:rPr>
              <a:t>clk</a:t>
            </a:r>
            <a:r>
              <a:rPr lang="en-US" sz="2000" dirty="0">
                <a:latin typeface="Courier New"/>
                <a:cs typeface="Courier New"/>
              </a:rPr>
              <a:t>, reset, </a:t>
            </a:r>
            <a:r>
              <a:rPr lang="en-US" sz="2000" dirty="0" err="1">
                <a:latin typeface="Courier New"/>
                <a:cs typeface="Courier New"/>
              </a:rPr>
              <a:t>nextstate</a:t>
            </a:r>
            <a:r>
              <a:rPr lang="en-US" sz="2000" dirty="0">
                <a:latin typeface="Courier New"/>
                <a:cs typeface="Courier New"/>
              </a:rPr>
              <a:t>, state);</a:t>
            </a:r>
          </a:p>
          <a:p>
            <a:pPr marL="0" indent="0">
              <a:buNone/>
            </a:pPr>
            <a:endParaRPr lang="en-US" sz="2000" dirty="0">
              <a:latin typeface="Courier New"/>
              <a:cs typeface="Courier New"/>
            </a:endParaRPr>
          </a:p>
          <a:p>
            <a:pPr marL="0" indent="0">
              <a:buNone/>
            </a:pPr>
            <a:r>
              <a:rPr lang="en-US" sz="2000" dirty="0">
                <a:latin typeface="Courier New"/>
                <a:cs typeface="Courier New"/>
              </a:rPr>
              <a:t>  // next state logic</a:t>
            </a:r>
          </a:p>
          <a:p>
            <a:pPr marL="0" indent="0">
              <a:buNone/>
            </a:pPr>
            <a:r>
              <a:rPr lang="en-US" sz="2000" dirty="0">
                <a:latin typeface="Courier New"/>
                <a:cs typeface="Courier New"/>
              </a:rPr>
              <a:t>  not n0(</a:t>
            </a:r>
            <a:r>
              <a:rPr lang="en-US" sz="2000" dirty="0" err="1">
                <a:latin typeface="Courier New"/>
                <a:cs typeface="Courier New"/>
              </a:rPr>
              <a:t>sb</a:t>
            </a:r>
            <a:r>
              <a:rPr lang="en-US" sz="2000" dirty="0">
                <a:latin typeface="Courier New"/>
                <a:cs typeface="Courier New"/>
              </a:rPr>
              <a:t>[0], s[0]);</a:t>
            </a:r>
          </a:p>
          <a:p>
            <a:pPr marL="0" indent="0">
              <a:buNone/>
            </a:pPr>
            <a:r>
              <a:rPr lang="en-US" sz="2000" dirty="0">
                <a:latin typeface="Courier New"/>
                <a:cs typeface="Courier New"/>
              </a:rPr>
              <a:t>  not n1(</a:t>
            </a:r>
            <a:r>
              <a:rPr lang="en-US" sz="2000" dirty="0" err="1">
                <a:latin typeface="Courier New"/>
                <a:cs typeface="Courier New"/>
              </a:rPr>
              <a:t>sb</a:t>
            </a:r>
            <a:r>
              <a:rPr lang="en-US" sz="2000" dirty="0">
                <a:latin typeface="Courier New"/>
                <a:cs typeface="Courier New"/>
              </a:rPr>
              <a:t>[1], s[1]);  </a:t>
            </a:r>
          </a:p>
          <a:p>
            <a:pPr marL="0" indent="0">
              <a:buNone/>
            </a:pPr>
            <a:r>
              <a:rPr lang="en-US" sz="2000" dirty="0">
                <a:latin typeface="Courier New"/>
                <a:cs typeface="Courier New"/>
              </a:rPr>
              <a:t>  not n2(tab, ta);</a:t>
            </a:r>
          </a:p>
          <a:p>
            <a:pPr marL="0" indent="0">
              <a:buNone/>
            </a:pPr>
            <a:r>
              <a:rPr lang="en-US" sz="2000" dirty="0">
                <a:latin typeface="Courier New"/>
                <a:cs typeface="Courier New"/>
              </a:rPr>
              <a:t>  not n3(</a:t>
            </a:r>
            <a:r>
              <a:rPr lang="en-US" sz="2000" dirty="0" err="1">
                <a:latin typeface="Courier New"/>
                <a:cs typeface="Courier New"/>
              </a:rPr>
              <a:t>tbb</a:t>
            </a:r>
            <a:r>
              <a:rPr lang="en-US" sz="2000" dirty="0">
                <a:latin typeface="Courier New"/>
                <a:cs typeface="Courier New"/>
              </a:rPr>
              <a:t>, </a:t>
            </a:r>
            <a:r>
              <a:rPr lang="en-US" sz="2000" dirty="0" err="1">
                <a:latin typeface="Courier New"/>
                <a:cs typeface="Courier New"/>
              </a:rPr>
              <a:t>tb</a:t>
            </a:r>
            <a:r>
              <a:rPr lang="en-US" sz="2000" dirty="0">
                <a:latin typeface="Courier New"/>
                <a:cs typeface="Courier New"/>
              </a:rPr>
              <a:t>);</a:t>
            </a:r>
          </a:p>
          <a:p>
            <a:pPr marL="0" indent="0">
              <a:buNone/>
            </a:pPr>
            <a:r>
              <a:rPr lang="en-US" sz="2000" dirty="0">
                <a:latin typeface="Courier New"/>
                <a:cs typeface="Courier New"/>
              </a:rPr>
              <a:t>  </a:t>
            </a:r>
            <a:r>
              <a:rPr lang="en-US" sz="2000" dirty="0" err="1">
                <a:latin typeface="Courier New"/>
                <a:cs typeface="Courier New"/>
              </a:rPr>
              <a:t>xor</a:t>
            </a:r>
            <a:r>
              <a:rPr lang="en-US" sz="2000" dirty="0">
                <a:latin typeface="Courier New"/>
                <a:cs typeface="Courier New"/>
              </a:rPr>
              <a:t> x1(</a:t>
            </a:r>
            <a:r>
              <a:rPr lang="en-US" sz="2000" dirty="0" err="1">
                <a:latin typeface="Courier New"/>
                <a:cs typeface="Courier New"/>
              </a:rPr>
              <a:t>nextstate</a:t>
            </a:r>
            <a:r>
              <a:rPr lang="en-US" sz="2000" dirty="0">
                <a:latin typeface="Courier New"/>
                <a:cs typeface="Courier New"/>
              </a:rPr>
              <a:t>[1], state[0], state[1]);</a:t>
            </a:r>
          </a:p>
          <a:p>
            <a:pPr marL="0" indent="0">
              <a:buNone/>
            </a:pPr>
            <a:r>
              <a:rPr lang="en-US" sz="2000" dirty="0">
                <a:latin typeface="Courier New"/>
                <a:cs typeface="Courier New"/>
              </a:rPr>
              <a:t>  and a1(p1, </a:t>
            </a:r>
            <a:r>
              <a:rPr lang="en-US" sz="2000" dirty="0" err="1">
                <a:latin typeface="Courier New"/>
                <a:cs typeface="Courier New"/>
              </a:rPr>
              <a:t>sb</a:t>
            </a:r>
            <a:r>
              <a:rPr lang="en-US" sz="2000" dirty="0">
                <a:latin typeface="Courier New"/>
                <a:cs typeface="Courier New"/>
              </a:rPr>
              <a:t>[0], </a:t>
            </a:r>
            <a:r>
              <a:rPr lang="en-US" sz="2000" dirty="0" err="1">
                <a:latin typeface="Courier New"/>
                <a:cs typeface="Courier New"/>
              </a:rPr>
              <a:t>sb</a:t>
            </a:r>
            <a:r>
              <a:rPr lang="en-US" sz="2000" dirty="0">
                <a:latin typeface="Courier New"/>
                <a:cs typeface="Courier New"/>
              </a:rPr>
              <a:t>[1], tab);</a:t>
            </a:r>
          </a:p>
          <a:p>
            <a:pPr marL="0" indent="0">
              <a:buNone/>
            </a:pPr>
            <a:r>
              <a:rPr lang="en-US" sz="2000" dirty="0">
                <a:latin typeface="Courier New"/>
                <a:cs typeface="Courier New"/>
              </a:rPr>
              <a:t>  and a2(p2, </a:t>
            </a:r>
            <a:r>
              <a:rPr lang="en-US" sz="2000" dirty="0" err="1">
                <a:latin typeface="Courier New"/>
                <a:cs typeface="Courier New"/>
              </a:rPr>
              <a:t>sb</a:t>
            </a:r>
            <a:r>
              <a:rPr lang="en-US" sz="2000" dirty="0">
                <a:latin typeface="Courier New"/>
                <a:cs typeface="Courier New"/>
              </a:rPr>
              <a:t>[0], s[1], </a:t>
            </a:r>
            <a:r>
              <a:rPr lang="en-US" sz="2000" dirty="0" err="1">
                <a:latin typeface="Courier New"/>
                <a:cs typeface="Courier New"/>
              </a:rPr>
              <a:t>tbb</a:t>
            </a:r>
            <a:r>
              <a:rPr lang="en-US" sz="2000" dirty="0">
                <a:latin typeface="Courier New"/>
                <a:cs typeface="Courier New"/>
              </a:rPr>
              <a:t>);</a:t>
            </a:r>
          </a:p>
          <a:p>
            <a:pPr marL="0" indent="0">
              <a:buNone/>
            </a:pPr>
            <a:r>
              <a:rPr lang="en-US" sz="2000" dirty="0">
                <a:latin typeface="Courier New"/>
                <a:cs typeface="Courier New"/>
              </a:rPr>
              <a:t>  or  o1(</a:t>
            </a:r>
            <a:r>
              <a:rPr lang="en-US" sz="2000" dirty="0" err="1">
                <a:latin typeface="Courier New"/>
                <a:cs typeface="Courier New"/>
              </a:rPr>
              <a:t>nextstate</a:t>
            </a:r>
            <a:r>
              <a:rPr lang="en-US" sz="2000" dirty="0">
                <a:latin typeface="Courier New"/>
                <a:cs typeface="Courier New"/>
              </a:rPr>
              <a:t>[0], p1, p2);</a:t>
            </a:r>
          </a:p>
          <a:p>
            <a:pPr marL="0" indent="0">
              <a:buNone/>
            </a:pPr>
            <a:endParaRPr lang="en-US" sz="2000" dirty="0">
              <a:latin typeface="Courier New"/>
              <a:cs typeface="Courier New"/>
            </a:endParaRPr>
          </a:p>
          <a:p>
            <a:pPr marL="0" indent="0">
              <a:buNone/>
            </a:pPr>
            <a:r>
              <a:rPr lang="en-US" sz="2000" dirty="0">
                <a:latin typeface="Courier New"/>
                <a:cs typeface="Courier New"/>
              </a:rPr>
              <a:t>  // output logic</a:t>
            </a:r>
          </a:p>
          <a:p>
            <a:pPr marL="0" indent="0">
              <a:buNone/>
            </a:pPr>
            <a:r>
              <a:rPr lang="en-US" sz="2000" dirty="0">
                <a:latin typeface="Courier New"/>
                <a:cs typeface="Courier New"/>
              </a:rPr>
              <a:t>  </a:t>
            </a:r>
            <a:r>
              <a:rPr lang="en-US" sz="2000" dirty="0" err="1">
                <a:latin typeface="Courier New"/>
                <a:cs typeface="Courier New"/>
              </a:rPr>
              <a:t>buf</a:t>
            </a:r>
            <a:r>
              <a:rPr lang="en-US" sz="2000" dirty="0">
                <a:latin typeface="Courier New"/>
                <a:cs typeface="Courier New"/>
              </a:rPr>
              <a:t> b1(la[1], s[1]);</a:t>
            </a:r>
          </a:p>
          <a:p>
            <a:pPr marL="0" indent="0">
              <a:buNone/>
            </a:pPr>
            <a:r>
              <a:rPr lang="en-US" sz="2000" dirty="0">
                <a:latin typeface="Courier New"/>
                <a:cs typeface="Courier New"/>
              </a:rPr>
              <a:t>  and a3(la[0], s[0], </a:t>
            </a:r>
            <a:r>
              <a:rPr lang="en-US" sz="2000" dirty="0" err="1">
                <a:latin typeface="Courier New"/>
                <a:cs typeface="Courier New"/>
              </a:rPr>
              <a:t>sb</a:t>
            </a:r>
            <a:r>
              <a:rPr lang="en-US" sz="2000" dirty="0">
                <a:latin typeface="Courier New"/>
                <a:cs typeface="Courier New"/>
              </a:rPr>
              <a:t>[1]);</a:t>
            </a:r>
          </a:p>
          <a:p>
            <a:pPr marL="0" indent="0">
              <a:buNone/>
            </a:pPr>
            <a:r>
              <a:rPr lang="en-US" sz="2000" dirty="0">
                <a:latin typeface="Courier New"/>
                <a:cs typeface="Courier New"/>
              </a:rPr>
              <a:t>  </a:t>
            </a:r>
            <a:r>
              <a:rPr lang="en-US" sz="2000" dirty="0" err="1">
                <a:latin typeface="Courier New"/>
                <a:cs typeface="Courier New"/>
              </a:rPr>
              <a:t>inv</a:t>
            </a:r>
            <a:r>
              <a:rPr lang="en-US" sz="2000" dirty="0">
                <a:latin typeface="Courier New"/>
                <a:cs typeface="Courier New"/>
              </a:rPr>
              <a:t> n4(</a:t>
            </a:r>
            <a:r>
              <a:rPr lang="en-US" sz="2000" dirty="0" err="1">
                <a:latin typeface="Courier New"/>
                <a:cs typeface="Courier New"/>
              </a:rPr>
              <a:t>lb</a:t>
            </a:r>
            <a:r>
              <a:rPr lang="en-US" sz="2000" dirty="0">
                <a:latin typeface="Courier New"/>
                <a:cs typeface="Courier New"/>
              </a:rPr>
              <a:t>[1], s[1]);</a:t>
            </a:r>
          </a:p>
          <a:p>
            <a:pPr marL="0" indent="0">
              <a:buNone/>
            </a:pPr>
            <a:r>
              <a:rPr lang="en-US" sz="2000" dirty="0">
                <a:latin typeface="Courier New"/>
                <a:cs typeface="Courier New"/>
              </a:rPr>
              <a:t>  and a4(</a:t>
            </a:r>
            <a:r>
              <a:rPr lang="en-US" sz="2000" dirty="0" err="1">
                <a:latin typeface="Courier New"/>
                <a:cs typeface="Courier New"/>
              </a:rPr>
              <a:t>lb</a:t>
            </a:r>
            <a:r>
              <a:rPr lang="en-US" sz="2000" dirty="0">
                <a:latin typeface="Courier New"/>
                <a:cs typeface="Courier New"/>
              </a:rPr>
              <a:t>[0], s[0], s[1]);</a:t>
            </a:r>
          </a:p>
          <a:p>
            <a:pPr marL="0" indent="0">
              <a:buNone/>
            </a:pPr>
            <a:r>
              <a:rPr lang="en-US" sz="2000" dirty="0" err="1">
                <a:latin typeface="Courier New"/>
                <a:cs typeface="Courier New"/>
              </a:rPr>
              <a:t>endmodule</a:t>
            </a:r>
            <a:endParaRPr lang="en-US" sz="2000" dirty="0">
              <a:latin typeface="Calibri"/>
              <a:cs typeface="Calibri"/>
            </a:endParaRPr>
          </a:p>
        </p:txBody>
      </p:sp>
    </p:spTree>
    <p:extLst>
      <p:ext uri="{BB962C8B-B14F-4D97-AF65-F5344CB8AC3E}">
        <p14:creationId xmlns:p14="http://schemas.microsoft.com/office/powerpoint/2010/main" val="39897319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15"/>
                                        </p:tgtEl>
                                      </p:cBhvr>
                                    </p:animEffect>
                                    <p:set>
                                      <p:cBhvr>
                                        <p:cTn id="42" dur="1" fill="hold">
                                          <p:stCondLst>
                                            <p:cond delay="499"/>
                                          </p:stCondLst>
                                        </p:cTn>
                                        <p:tgtEl>
                                          <p:spTgt spid="1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0" nodeType="clickEffect">
                                  <p:stCondLst>
                                    <p:cond delay="0"/>
                                  </p:stCondLst>
                                  <p:childTnLst>
                                    <p:animEffect transition="out" filter="dissolve">
                                      <p:cBhvr>
                                        <p:cTn id="46" dur="500"/>
                                        <p:tgtEl>
                                          <p:spTgt spid="16"/>
                                        </p:tgtEl>
                                      </p:cBhvr>
                                    </p:animEffect>
                                    <p:set>
                                      <p:cBhvr>
                                        <p:cTn id="47" dur="1" fill="hold">
                                          <p:stCondLst>
                                            <p:cond delay="499"/>
                                          </p:stCondLst>
                                        </p:cTn>
                                        <p:tgtEl>
                                          <p:spTgt spid="16"/>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grpId="0" nodeType="clickEffect">
                                  <p:stCondLst>
                                    <p:cond delay="0"/>
                                  </p:stCondLst>
                                  <p:childTnLst>
                                    <p:animEffect transition="out" filter="dissolve">
                                      <p:cBhvr>
                                        <p:cTn id="51" dur="500"/>
                                        <p:tgtEl>
                                          <p:spTgt spid="17"/>
                                        </p:tgtEl>
                                      </p:cBhvr>
                                    </p:animEffect>
                                    <p:set>
                                      <p:cBhvr>
                                        <p:cTn id="52" dur="1" fill="hold">
                                          <p:stCondLst>
                                            <p:cond delay="499"/>
                                          </p:stCondLst>
                                        </p:cTn>
                                        <p:tgtEl>
                                          <p:spTgt spid="17"/>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9" presetClass="exit" presetSubtype="0" fill="hold" grpId="0" nodeType="clickEffect">
                                  <p:stCondLst>
                                    <p:cond delay="0"/>
                                  </p:stCondLst>
                                  <p:childTnLst>
                                    <p:animEffect transition="out" filter="dissolve">
                                      <p:cBhvr>
                                        <p:cTn id="56" dur="500"/>
                                        <p:tgtEl>
                                          <p:spTgt spid="18"/>
                                        </p:tgtEl>
                                      </p:cBhvr>
                                    </p:animEffect>
                                    <p:set>
                                      <p:cBhvr>
                                        <p:cTn id="57" dur="1" fill="hold">
                                          <p:stCondLst>
                                            <p:cond delay="499"/>
                                          </p:stCondLst>
                                        </p:cTn>
                                        <p:tgtEl>
                                          <p:spTgt spid="1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xit" presetSubtype="0" fill="hold" grpId="0" nodeType="clickEffect">
                                  <p:stCondLst>
                                    <p:cond delay="0"/>
                                  </p:stCondLst>
                                  <p:childTnLst>
                                    <p:animEffect transition="out" filter="dissolve">
                                      <p:cBhvr>
                                        <p:cTn id="61" dur="500"/>
                                        <p:tgtEl>
                                          <p:spTgt spid="19"/>
                                        </p:tgtEl>
                                      </p:cBhvr>
                                    </p:animEffect>
                                    <p:set>
                                      <p:cBhvr>
                                        <p:cTn id="62" dur="1" fill="hold">
                                          <p:stCondLst>
                                            <p:cond delay="499"/>
                                          </p:stCondLst>
                                        </p:cTn>
                                        <p:tgtEl>
                                          <p:spTgt spid="1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xit" presetSubtype="0" fill="hold" grpId="0" nodeType="clickEffect">
                                  <p:stCondLst>
                                    <p:cond delay="0"/>
                                  </p:stCondLst>
                                  <p:childTnLst>
                                    <p:animEffect transition="out" filter="dissolve">
                                      <p:cBhvr>
                                        <p:cTn id="66" dur="500"/>
                                        <p:tgtEl>
                                          <p:spTgt spid="20"/>
                                        </p:tgtEl>
                                      </p:cBhvr>
                                    </p:animEffect>
                                    <p:set>
                                      <p:cBhvr>
                                        <p:cTn id="67" dur="1" fill="hold">
                                          <p:stCondLst>
                                            <p:cond delay="499"/>
                                          </p:stCondLst>
                                        </p:cTn>
                                        <p:tgtEl>
                                          <p:spTgt spid="2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9" presetClass="exit" presetSubtype="0" fill="hold" grpId="0" nodeType="clickEffect">
                                  <p:stCondLst>
                                    <p:cond delay="0"/>
                                  </p:stCondLst>
                                  <p:childTnLst>
                                    <p:animEffect transition="out" filter="dissolve">
                                      <p:cBhvr>
                                        <p:cTn id="71" dur="500"/>
                                        <p:tgtEl>
                                          <p:spTgt spid="21"/>
                                        </p:tgtEl>
                                      </p:cBhvr>
                                    </p:animEffect>
                                    <p:set>
                                      <p:cBhvr>
                                        <p:cTn id="72" dur="1" fill="hold">
                                          <p:stCondLst>
                                            <p:cond delay="499"/>
                                          </p:stCondLst>
                                        </p:cTn>
                                        <p:tgtEl>
                                          <p:spTgt spid="21"/>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9" presetClass="exit" presetSubtype="0" fill="hold" grpId="0" nodeType="clickEffect">
                                  <p:stCondLst>
                                    <p:cond delay="0"/>
                                  </p:stCondLst>
                                  <p:childTnLst>
                                    <p:animEffect transition="out" filter="dissolve">
                                      <p:cBhvr>
                                        <p:cTn id="76" dur="500"/>
                                        <p:tgtEl>
                                          <p:spTgt spid="22"/>
                                        </p:tgtEl>
                                      </p:cBhvr>
                                    </p:animEffect>
                                    <p:set>
                                      <p:cBhvr>
                                        <p:cTn id="77" dur="1" fill="hold">
                                          <p:stCondLst>
                                            <p:cond delay="499"/>
                                          </p:stCondLst>
                                        </p:cTn>
                                        <p:tgtEl>
                                          <p:spTgt spid="22"/>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9" presetClass="exit" presetSubtype="0" fill="hold" grpId="0" nodeType="clickEffect">
                                  <p:stCondLst>
                                    <p:cond delay="0"/>
                                  </p:stCondLst>
                                  <p:childTnLst>
                                    <p:animEffect transition="out" filter="dissolve">
                                      <p:cBhvr>
                                        <p:cTn id="81" dur="500"/>
                                        <p:tgtEl>
                                          <p:spTgt spid="23"/>
                                        </p:tgtEl>
                                      </p:cBhvr>
                                    </p:animEffect>
                                    <p:set>
                                      <p:cBhvr>
                                        <p:cTn id="82"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8644" name="Object 4"/>
          <p:cNvGraphicFramePr>
            <a:graphicFrameLocks noGrp="1" noChangeAspect="1"/>
          </p:cNvGraphicFramePr>
          <p:nvPr>
            <p:ph sz="half" idx="4294967295"/>
            <p:custDataLst>
              <p:tags r:id="rId2"/>
            </p:custDataLst>
            <p:extLst>
              <p:ext uri="{D42A27DB-BD31-4B8C-83A1-F6EECF244321}">
                <p14:modId xmlns:p14="http://schemas.microsoft.com/office/powerpoint/2010/main" val="2551334852"/>
              </p:ext>
            </p:extLst>
          </p:nvPr>
        </p:nvGraphicFramePr>
        <p:xfrm>
          <a:off x="228600" y="914400"/>
          <a:ext cx="8839200" cy="3295650"/>
        </p:xfrm>
        <a:graphic>
          <a:graphicData uri="http://schemas.openxmlformats.org/presentationml/2006/ole">
            <mc:AlternateContent xmlns:mc="http://schemas.openxmlformats.org/markup-compatibility/2006">
              <mc:Choice xmlns:v="urn:schemas-microsoft-com:vml" Requires="v">
                <p:oleObj spid="_x0000_s29698" name="VISIO" r:id="rId6" imgW="5529240" imgH="2543040" progId="Visio.Drawing.6">
                  <p:embed/>
                </p:oleObj>
              </mc:Choice>
              <mc:Fallback>
                <p:oleObj name="VISIO" r:id="rId6" imgW="5529240" imgH="254304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914400"/>
                        <a:ext cx="8839200" cy="3295650"/>
                      </a:xfrm>
                      <a:prstGeom prst="rect">
                        <a:avLst/>
                      </a:prstGeom>
                    </p:spPr>
                  </p:pic>
                </p:oleObj>
              </mc:Fallback>
            </mc:AlternateContent>
          </a:graphicData>
        </a:graphic>
      </p:graphicFrame>
      <p:graphicFrame>
        <p:nvGraphicFramePr>
          <p:cNvPr id="1008645" name="Object 5"/>
          <p:cNvGraphicFramePr>
            <a:graphicFrameLocks noGrp="1" noChangeAspect="1"/>
          </p:cNvGraphicFramePr>
          <p:nvPr>
            <p:ph idx="4294967295"/>
            <p:custDataLst>
              <p:tags r:id="rId3"/>
            </p:custDataLst>
            <p:extLst>
              <p:ext uri="{D42A27DB-BD31-4B8C-83A1-F6EECF244321}">
                <p14:modId xmlns:p14="http://schemas.microsoft.com/office/powerpoint/2010/main" val="3285401985"/>
              </p:ext>
            </p:extLst>
          </p:nvPr>
        </p:nvGraphicFramePr>
        <p:xfrm>
          <a:off x="5181600" y="4046538"/>
          <a:ext cx="1903901" cy="1897062"/>
        </p:xfrm>
        <a:graphic>
          <a:graphicData uri="http://schemas.openxmlformats.org/presentationml/2006/ole">
            <mc:AlternateContent xmlns:mc="http://schemas.openxmlformats.org/markup-compatibility/2006">
              <mc:Choice xmlns:v="urn:schemas-microsoft-com:vml" Requires="v">
                <p:oleObj spid="_x0000_s29699" name="VISIO" r:id="rId8" imgW="2000160" imgH="1992960" progId="Visio.Drawing.6">
                  <p:embed/>
                </p:oleObj>
              </mc:Choice>
              <mc:Fallback>
                <p:oleObj name="VISIO" r:id="rId8" imgW="2000160" imgH="199296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1600" y="4046538"/>
                        <a:ext cx="1903901" cy="1897062"/>
                      </a:xfrm>
                      <a:prstGeom prst="rect">
                        <a:avLst/>
                      </a:prstGeom>
                      <a:noFill/>
                      <a:ln>
                        <a:noFill/>
                      </a:ln>
                      <a:effectLst/>
                    </p:spPr>
                  </p:pic>
                </p:oleObj>
              </mc:Fallback>
            </mc:AlternateContent>
          </a:graphicData>
        </a:graphic>
      </p:graphicFrame>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Timing Diagram</a:t>
            </a:r>
          </a:p>
        </p:txBody>
      </p:sp>
      <p:pic>
        <p:nvPicPr>
          <p:cNvPr id="3" name="Picture 2">
            <a:extLst>
              <a:ext uri="{FF2B5EF4-FFF2-40B4-BE49-F238E27FC236}">
                <a16:creationId xmlns:a16="http://schemas.microsoft.com/office/drawing/2014/main" id="{FF63FCB4-1AE3-428A-A821-1E972A0808F2}"/>
              </a:ext>
            </a:extLst>
          </p:cNvPr>
          <p:cNvPicPr>
            <a:picLocks noChangeAspect="1"/>
          </p:cNvPicPr>
          <p:nvPr/>
        </p:nvPicPr>
        <p:blipFill>
          <a:blip r:embed="rId10"/>
          <a:stretch>
            <a:fillRect/>
          </a:stretch>
        </p:blipFill>
        <p:spPr>
          <a:xfrm>
            <a:off x="457200" y="4082098"/>
            <a:ext cx="2707640" cy="1669416"/>
          </a:xfrm>
          <a:prstGeom prst="rect">
            <a:avLst/>
          </a:prstGeom>
        </p:spPr>
      </p:pic>
    </p:spTree>
    <p:extLst>
      <p:ext uri="{BB962C8B-B14F-4D97-AF65-F5344CB8AC3E}">
        <p14:creationId xmlns:p14="http://schemas.microsoft.com/office/powerpoint/2010/main" val="111679471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9" name="Rectangle 5"/>
          <p:cNvSpPr>
            <a:spLocks noChangeArrowheads="1"/>
          </p:cNvSpPr>
          <p:nvPr>
            <p:custDataLst>
              <p:tags r:id="rId1"/>
            </p:custDataLst>
          </p:nvPr>
        </p:nvSpPr>
        <p:spPr bwMode="auto">
          <a:xfrm>
            <a:off x="914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Binary</a:t>
            </a:r>
            <a:r>
              <a:rPr lang="en-US" sz="3200" dirty="0">
                <a:latin typeface="+mj-lt"/>
                <a:cs typeface="Arial" charset="0"/>
              </a:rPr>
              <a:t> encoding: </a:t>
            </a:r>
          </a:p>
          <a:p>
            <a:pPr marL="742950" lvl="1" indent="-285750">
              <a:spcBef>
                <a:spcPct val="20000"/>
              </a:spcBef>
              <a:buFontTx/>
              <a:buChar char="–"/>
            </a:pPr>
            <a:r>
              <a:rPr lang="en-US" sz="2600" dirty="0">
                <a:latin typeface="+mj-lt"/>
                <a:cs typeface="Arial" charset="0"/>
              </a:rPr>
              <a:t>i.e., for four states, 00, 01, 10, 11</a:t>
            </a:r>
          </a:p>
          <a:p>
            <a:pPr marL="342900" indent="-342900">
              <a:spcBef>
                <a:spcPct val="20000"/>
              </a:spcBef>
              <a:buFontTx/>
              <a:buChar char="•"/>
            </a:pPr>
            <a:r>
              <a:rPr lang="en-US" sz="3200" b="1" dirty="0">
                <a:latin typeface="+mj-lt"/>
                <a:cs typeface="Arial" charset="0"/>
              </a:rPr>
              <a:t>One-hot</a:t>
            </a:r>
            <a:r>
              <a:rPr lang="en-US" sz="3200" dirty="0">
                <a:latin typeface="+mj-lt"/>
                <a:cs typeface="Arial" charset="0"/>
              </a:rPr>
              <a:t> encoding</a:t>
            </a:r>
          </a:p>
          <a:p>
            <a:pPr marL="742950" lvl="1" indent="-285750">
              <a:spcBef>
                <a:spcPct val="20000"/>
              </a:spcBef>
              <a:buFontTx/>
              <a:buChar char="–"/>
            </a:pPr>
            <a:r>
              <a:rPr lang="en-US" sz="2600" dirty="0">
                <a:latin typeface="+mj-lt"/>
                <a:cs typeface="Arial" charset="0"/>
              </a:rPr>
              <a:t>One state bit per state</a:t>
            </a:r>
          </a:p>
          <a:p>
            <a:pPr marL="742950" lvl="1" indent="-285750">
              <a:spcBef>
                <a:spcPct val="20000"/>
              </a:spcBef>
              <a:buFontTx/>
              <a:buChar char="–"/>
            </a:pPr>
            <a:r>
              <a:rPr lang="en-US" sz="2600" dirty="0">
                <a:latin typeface="+mj-lt"/>
                <a:cs typeface="Arial" charset="0"/>
              </a:rPr>
              <a:t>Only one state bit HIGH at once</a:t>
            </a:r>
          </a:p>
          <a:p>
            <a:pPr marL="742950" lvl="1" indent="-285750">
              <a:spcBef>
                <a:spcPct val="20000"/>
              </a:spcBef>
              <a:buFontTx/>
              <a:buChar char="–"/>
            </a:pPr>
            <a:r>
              <a:rPr lang="en-US" sz="2600" dirty="0">
                <a:latin typeface="+mj-lt"/>
                <a:cs typeface="Arial" charset="0"/>
              </a:rPr>
              <a:t>i.e., for 4 states, 0001, 0010, 0100, 1000</a:t>
            </a:r>
          </a:p>
          <a:p>
            <a:pPr marL="742950" lvl="1" indent="-285750">
              <a:spcBef>
                <a:spcPct val="20000"/>
              </a:spcBef>
              <a:buFontTx/>
              <a:buChar char="–"/>
            </a:pPr>
            <a:r>
              <a:rPr lang="en-US" sz="2600" dirty="0">
                <a:latin typeface="+mj-lt"/>
                <a:cs typeface="Arial" charset="0"/>
              </a:rPr>
              <a:t>Requires more flip-flops</a:t>
            </a:r>
          </a:p>
          <a:p>
            <a:pPr marL="742950" lvl="1" indent="-285750">
              <a:spcBef>
                <a:spcPct val="20000"/>
              </a:spcBef>
              <a:buFontTx/>
              <a:buChar char="–"/>
            </a:pPr>
            <a:r>
              <a:rPr lang="en-US" sz="2600" dirty="0">
                <a:latin typeface="+mj-lt"/>
                <a:cs typeface="Arial" charset="0"/>
              </a:rPr>
              <a:t>Often next state and output logic is simpler</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State Encoding</a:t>
            </a:r>
          </a:p>
        </p:txBody>
      </p:sp>
    </p:spTree>
    <p:extLst>
      <p:ext uri="{BB962C8B-B14F-4D97-AF65-F5344CB8AC3E}">
        <p14:creationId xmlns:p14="http://schemas.microsoft.com/office/powerpoint/2010/main" val="242565849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1" name="Rectangle 3"/>
          <p:cNvSpPr>
            <a:spLocks noChangeArrowheads="1"/>
          </p:cNvSpPr>
          <p:nvPr>
            <p:custDataLst>
              <p:tags r:id="rId1"/>
            </p:custDataLst>
          </p:nvPr>
        </p:nvSpPr>
        <p:spPr bwMode="auto">
          <a:xfrm>
            <a:off x="533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Alyssa P. Hacker has a snail that crawls down a paper tape with 1’s and 0’s on it. The snail smiles whenever the last two digits it has crawled over are 01.  Design Moore and Mealy FSMs of the snail’s brain.</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Moore vs. Mealy FSM</a:t>
            </a:r>
          </a:p>
        </p:txBody>
      </p:sp>
      <p:pic>
        <p:nvPicPr>
          <p:cNvPr id="1597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2362200"/>
            <a:ext cx="1864360" cy="3495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334106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D92242-D279-408D-A581-E3D6C1072FD0}"/>
              </a:ext>
            </a:extLst>
          </p:cNvPr>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Phân</a:t>
            </a:r>
            <a:r>
              <a:rPr lang="en-US" sz="4400" dirty="0">
                <a:solidFill>
                  <a:schemeClr val="bg1"/>
                </a:solidFill>
                <a:latin typeface="+mj-lt"/>
              </a:rPr>
              <a:t> </a:t>
            </a:r>
            <a:r>
              <a:rPr lang="en-US" sz="4400" dirty="0" err="1">
                <a:solidFill>
                  <a:schemeClr val="bg1"/>
                </a:solidFill>
                <a:latin typeface="+mj-lt"/>
              </a:rPr>
              <a:t>tích</a:t>
            </a:r>
            <a:r>
              <a:rPr lang="en-US" sz="4400" dirty="0">
                <a:solidFill>
                  <a:schemeClr val="bg1"/>
                </a:solidFill>
                <a:latin typeface="+mj-lt"/>
              </a:rPr>
              <a:t> </a:t>
            </a:r>
            <a:r>
              <a:rPr lang="en-US" sz="4400" dirty="0" err="1">
                <a:solidFill>
                  <a:schemeClr val="bg1"/>
                </a:solidFill>
                <a:latin typeface="+mj-lt"/>
              </a:rPr>
              <a:t>theo</a:t>
            </a:r>
            <a:r>
              <a:rPr lang="en-US" sz="4400" dirty="0">
                <a:solidFill>
                  <a:schemeClr val="bg1"/>
                </a:solidFill>
                <a:latin typeface="+mj-lt"/>
              </a:rPr>
              <a:t> </a:t>
            </a:r>
            <a:r>
              <a:rPr lang="en-US" sz="4400" dirty="0" err="1">
                <a:solidFill>
                  <a:schemeClr val="bg1"/>
                </a:solidFill>
                <a:latin typeface="+mj-lt"/>
              </a:rPr>
              <a:t>mô</a:t>
            </a:r>
            <a:r>
              <a:rPr lang="en-US" sz="4400" dirty="0">
                <a:solidFill>
                  <a:schemeClr val="bg1"/>
                </a:solidFill>
                <a:latin typeface="+mj-lt"/>
              </a:rPr>
              <a:t> </a:t>
            </a:r>
            <a:r>
              <a:rPr lang="en-US" sz="4400" dirty="0" err="1">
                <a:solidFill>
                  <a:schemeClr val="bg1"/>
                </a:solidFill>
                <a:latin typeface="+mj-lt"/>
              </a:rPr>
              <a:t>hình</a:t>
            </a:r>
            <a:r>
              <a:rPr lang="en-US" sz="4400" dirty="0">
                <a:solidFill>
                  <a:schemeClr val="bg1"/>
                </a:solidFill>
                <a:latin typeface="+mj-lt"/>
              </a:rPr>
              <a:t> Moore</a:t>
            </a:r>
          </a:p>
        </p:txBody>
      </p:sp>
      <p:pic>
        <p:nvPicPr>
          <p:cNvPr id="3" name="Picture 5">
            <a:extLst>
              <a:ext uri="{FF2B5EF4-FFF2-40B4-BE49-F238E27FC236}">
                <a16:creationId xmlns:a16="http://schemas.microsoft.com/office/drawing/2014/main" id="{6734A1B4-5AC8-4C0C-90C8-382AB1BD6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9640" y="2057400"/>
            <a:ext cx="1864360" cy="3495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F77D0811-D134-4528-8A76-947E27B773DC}"/>
              </a:ext>
            </a:extLst>
          </p:cNvPr>
          <p:cNvSpPr txBox="1"/>
          <p:nvPr/>
        </p:nvSpPr>
        <p:spPr>
          <a:xfrm>
            <a:off x="457200" y="1046202"/>
            <a:ext cx="5559855" cy="923330"/>
          </a:xfrm>
          <a:prstGeom prst="rect">
            <a:avLst/>
          </a:prstGeom>
          <a:noFill/>
        </p:spPr>
        <p:txBody>
          <a:bodyPr wrap="none" rtlCol="0">
            <a:spAutoFit/>
          </a:bodyPr>
          <a:lstStyle/>
          <a:p>
            <a:r>
              <a:rPr lang="en-US" dirty="0"/>
              <a:t>Note: </a:t>
            </a:r>
            <a:br>
              <a:rPr lang="en-US" dirty="0"/>
            </a:br>
            <a:r>
              <a:rPr lang="en-US" dirty="0"/>
              <a:t>- </a:t>
            </a:r>
            <a:r>
              <a:rPr lang="en-US" b="1" dirty="0"/>
              <a:t>Output</a:t>
            </a:r>
            <a:r>
              <a:rPr lang="en-US" dirty="0"/>
              <a:t> </a:t>
            </a:r>
            <a:r>
              <a:rPr lang="en-US" dirty="0" err="1">
                <a:solidFill>
                  <a:srgbClr val="FF0000"/>
                </a:solidFill>
              </a:rPr>
              <a:t>phụ</a:t>
            </a:r>
            <a:r>
              <a:rPr lang="en-US" dirty="0">
                <a:solidFill>
                  <a:srgbClr val="FF0000"/>
                </a:solidFill>
              </a:rPr>
              <a:t> </a:t>
            </a:r>
            <a:r>
              <a:rPr lang="en-US" dirty="0" err="1">
                <a:solidFill>
                  <a:srgbClr val="FF0000"/>
                </a:solidFill>
              </a:rPr>
              <a:t>thuộc</a:t>
            </a:r>
            <a:r>
              <a:rPr lang="en-US" dirty="0"/>
              <a:t> </a:t>
            </a:r>
            <a:r>
              <a:rPr lang="en-US" b="1" dirty="0"/>
              <a:t>state</a:t>
            </a:r>
            <a:r>
              <a:rPr lang="en-US" dirty="0"/>
              <a:t>, </a:t>
            </a:r>
            <a:r>
              <a:rPr lang="en-US" dirty="0" err="1"/>
              <a:t>được</a:t>
            </a:r>
            <a:r>
              <a:rPr lang="en-US" dirty="0"/>
              <a:t> </a:t>
            </a:r>
            <a:r>
              <a:rPr lang="en-US" dirty="0" err="1"/>
              <a:t>thể</a:t>
            </a:r>
            <a:r>
              <a:rPr lang="en-US" dirty="0"/>
              <a:t> </a:t>
            </a:r>
            <a:r>
              <a:rPr lang="en-US" dirty="0" err="1"/>
              <a:t>hiện</a:t>
            </a:r>
            <a:r>
              <a:rPr lang="en-US" dirty="0"/>
              <a:t> </a:t>
            </a:r>
            <a:r>
              <a:rPr lang="en-US" dirty="0" err="1">
                <a:solidFill>
                  <a:srgbClr val="FF0000"/>
                </a:solidFill>
              </a:rPr>
              <a:t>trong</a:t>
            </a:r>
            <a:r>
              <a:rPr lang="en-US" dirty="0">
                <a:solidFill>
                  <a:srgbClr val="FF0000"/>
                </a:solidFill>
              </a:rPr>
              <a:t> </a:t>
            </a:r>
            <a:r>
              <a:rPr lang="en-US" dirty="0" err="1">
                <a:solidFill>
                  <a:srgbClr val="FF0000"/>
                </a:solidFill>
              </a:rPr>
              <a:t>vòng</a:t>
            </a:r>
            <a:r>
              <a:rPr lang="en-US" dirty="0"/>
              <a:t> </a:t>
            </a:r>
            <a:r>
              <a:rPr lang="en-US" b="1" dirty="0"/>
              <a:t>state</a:t>
            </a:r>
          </a:p>
          <a:p>
            <a:r>
              <a:rPr lang="en-US" dirty="0"/>
              <a:t>- </a:t>
            </a:r>
            <a:r>
              <a:rPr lang="en-US" dirty="0" err="1"/>
              <a:t>Kích</a:t>
            </a:r>
            <a:r>
              <a:rPr lang="en-US" dirty="0"/>
              <a:t> </a:t>
            </a:r>
            <a:r>
              <a:rPr lang="en-US" dirty="0" err="1"/>
              <a:t>thích</a:t>
            </a:r>
            <a:r>
              <a:rPr lang="en-US" dirty="0"/>
              <a:t> </a:t>
            </a:r>
            <a:r>
              <a:rPr lang="en-US" b="1" dirty="0"/>
              <a:t>Input</a:t>
            </a:r>
            <a:r>
              <a:rPr lang="en-US" dirty="0"/>
              <a:t> </a:t>
            </a:r>
            <a:r>
              <a:rPr lang="en-US" dirty="0" err="1"/>
              <a:t>làm</a:t>
            </a:r>
            <a:r>
              <a:rPr lang="en-US" dirty="0"/>
              <a:t> </a:t>
            </a:r>
            <a:r>
              <a:rPr lang="en-US" dirty="0" err="1">
                <a:solidFill>
                  <a:srgbClr val="FF0000"/>
                </a:solidFill>
              </a:rPr>
              <a:t>chuyển</a:t>
            </a:r>
            <a:r>
              <a:rPr lang="en-US" dirty="0"/>
              <a:t> </a:t>
            </a:r>
            <a:r>
              <a:rPr lang="en-US" b="1" dirty="0"/>
              <a:t>state</a:t>
            </a:r>
          </a:p>
        </p:txBody>
      </p:sp>
      <mc:AlternateContent xmlns:mc="http://schemas.openxmlformats.org/markup-compatibility/2006" xmlns:a14="http://schemas.microsoft.com/office/drawing/2010/main">
        <mc:Choice Requires="a14">
          <p:sp>
            <p:nvSpPr>
              <p:cNvPr id="5" name="Flowchart: Connector 4">
                <a:extLst>
                  <a:ext uri="{FF2B5EF4-FFF2-40B4-BE49-F238E27FC236}">
                    <a16:creationId xmlns:a16="http://schemas.microsoft.com/office/drawing/2014/main" id="{B98FD38F-2957-4FA9-97F5-6267FD7CD312}"/>
                  </a:ext>
                </a:extLst>
              </p:cNvPr>
              <p:cNvSpPr/>
              <p:nvPr/>
            </p:nvSpPr>
            <p:spPr>
              <a:xfrm>
                <a:off x="1295400" y="3200400"/>
                <a:ext cx="923330" cy="923330"/>
              </a:xfrm>
              <a:prstGeom prst="flowChartConnector">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0</m:t>
                          </m:r>
                        </m:sub>
                      </m:sSub>
                    </m:oMath>
                  </m:oMathPara>
                </a14:m>
                <a:endParaRPr lang="en-US" dirty="0">
                  <a:solidFill>
                    <a:schemeClr val="tx1"/>
                  </a:solidFill>
                </a:endParaRPr>
              </a:p>
              <a:p>
                <a:pPr algn="ctr"/>
                <a:r>
                  <a:rPr lang="en-US" dirty="0">
                    <a:solidFill>
                      <a:schemeClr val="tx1"/>
                    </a:solidFill>
                  </a:rPr>
                  <a:t>Y=0</a:t>
                </a:r>
              </a:p>
            </p:txBody>
          </p:sp>
        </mc:Choice>
        <mc:Fallback xmlns="">
          <p:sp>
            <p:nvSpPr>
              <p:cNvPr id="5" name="Flowchart: Connector 4">
                <a:extLst>
                  <a:ext uri="{FF2B5EF4-FFF2-40B4-BE49-F238E27FC236}">
                    <a16:creationId xmlns:a16="http://schemas.microsoft.com/office/drawing/2014/main" id="{B98FD38F-2957-4FA9-97F5-6267FD7CD312}"/>
                  </a:ext>
                </a:extLst>
              </p:cNvPr>
              <p:cNvSpPr>
                <a:spLocks noRot="1" noChangeAspect="1" noMove="1" noResize="1" noEditPoints="1" noAdjustHandles="1" noChangeArrowheads="1" noChangeShapeType="1" noTextEdit="1"/>
              </p:cNvSpPr>
              <p:nvPr/>
            </p:nvSpPr>
            <p:spPr>
              <a:xfrm>
                <a:off x="1295400" y="3200400"/>
                <a:ext cx="923330" cy="923330"/>
              </a:xfrm>
              <a:prstGeom prst="flowChartConnector">
                <a:avLst/>
              </a:prstGeom>
              <a:blipFill>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Flowchart: Connector 5">
                <a:extLst>
                  <a:ext uri="{FF2B5EF4-FFF2-40B4-BE49-F238E27FC236}">
                    <a16:creationId xmlns:a16="http://schemas.microsoft.com/office/drawing/2014/main" id="{0EAA2DA5-73F1-4B4B-B392-6CF76389C0AB}"/>
                  </a:ext>
                </a:extLst>
              </p:cNvPr>
              <p:cNvSpPr/>
              <p:nvPr/>
            </p:nvSpPr>
            <p:spPr>
              <a:xfrm>
                <a:off x="3134360" y="3200400"/>
                <a:ext cx="923330" cy="923330"/>
              </a:xfrm>
              <a:prstGeom prst="flowChartConnector">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a:p>
                <a:pPr algn="ctr"/>
                <a:r>
                  <a:rPr lang="en-US" dirty="0">
                    <a:solidFill>
                      <a:schemeClr val="tx1"/>
                    </a:solidFill>
                  </a:rPr>
                  <a:t>Y=0</a:t>
                </a:r>
              </a:p>
            </p:txBody>
          </p:sp>
        </mc:Choice>
        <mc:Fallback xmlns="">
          <p:sp>
            <p:nvSpPr>
              <p:cNvPr id="6" name="Flowchart: Connector 5">
                <a:extLst>
                  <a:ext uri="{FF2B5EF4-FFF2-40B4-BE49-F238E27FC236}">
                    <a16:creationId xmlns:a16="http://schemas.microsoft.com/office/drawing/2014/main" id="{0EAA2DA5-73F1-4B4B-B392-6CF76389C0AB}"/>
                  </a:ext>
                </a:extLst>
              </p:cNvPr>
              <p:cNvSpPr>
                <a:spLocks noRot="1" noChangeAspect="1" noMove="1" noResize="1" noEditPoints="1" noAdjustHandles="1" noChangeArrowheads="1" noChangeShapeType="1" noTextEdit="1"/>
              </p:cNvSpPr>
              <p:nvPr/>
            </p:nvSpPr>
            <p:spPr>
              <a:xfrm>
                <a:off x="3134360" y="3200400"/>
                <a:ext cx="923330" cy="923330"/>
              </a:xfrm>
              <a:prstGeom prst="flowChartConnector">
                <a:avLst/>
              </a:prstGeom>
              <a:blipFill>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Flowchart: Connector 6">
                <a:extLst>
                  <a:ext uri="{FF2B5EF4-FFF2-40B4-BE49-F238E27FC236}">
                    <a16:creationId xmlns:a16="http://schemas.microsoft.com/office/drawing/2014/main" id="{6115EE72-EE3F-4B51-A499-8BE6E5B6007B}"/>
                  </a:ext>
                </a:extLst>
              </p:cNvPr>
              <p:cNvSpPr/>
              <p:nvPr/>
            </p:nvSpPr>
            <p:spPr>
              <a:xfrm>
                <a:off x="5054600" y="3200400"/>
                <a:ext cx="923330" cy="923330"/>
              </a:xfrm>
              <a:prstGeom prst="flowChartConnector">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 </m:t>
                      </m:r>
                    </m:oMath>
                  </m:oMathPara>
                </a14:m>
                <a:endParaRPr lang="en-US" dirty="0">
                  <a:solidFill>
                    <a:schemeClr val="tx1"/>
                  </a:solidFill>
                </a:endParaRPr>
              </a:p>
              <a:p>
                <a:pPr algn="ctr"/>
                <a:r>
                  <a:rPr lang="en-US" dirty="0">
                    <a:solidFill>
                      <a:schemeClr val="tx1"/>
                    </a:solidFill>
                  </a:rPr>
                  <a:t>Y=1</a:t>
                </a:r>
              </a:p>
            </p:txBody>
          </p:sp>
        </mc:Choice>
        <mc:Fallback xmlns="">
          <p:sp>
            <p:nvSpPr>
              <p:cNvPr id="7" name="Flowchart: Connector 6">
                <a:extLst>
                  <a:ext uri="{FF2B5EF4-FFF2-40B4-BE49-F238E27FC236}">
                    <a16:creationId xmlns:a16="http://schemas.microsoft.com/office/drawing/2014/main" id="{6115EE72-EE3F-4B51-A499-8BE6E5B6007B}"/>
                  </a:ext>
                </a:extLst>
              </p:cNvPr>
              <p:cNvSpPr>
                <a:spLocks noRot="1" noChangeAspect="1" noMove="1" noResize="1" noEditPoints="1" noAdjustHandles="1" noChangeArrowheads="1" noChangeShapeType="1" noTextEdit="1"/>
              </p:cNvSpPr>
              <p:nvPr/>
            </p:nvSpPr>
            <p:spPr>
              <a:xfrm>
                <a:off x="5054600" y="3200400"/>
                <a:ext cx="923330" cy="923330"/>
              </a:xfrm>
              <a:prstGeom prst="flowChartConnector">
                <a:avLst/>
              </a:prstGeom>
              <a:blipFill>
                <a:blip r:embed="rId5"/>
                <a:stretch>
                  <a:fillRect/>
                </a:stretch>
              </a:blipFill>
              <a:ln w="38100">
                <a:solidFill>
                  <a:schemeClr val="tx1"/>
                </a:solidFill>
              </a:ln>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AF6EC689-B281-4889-A3C6-8F010167F47A}"/>
              </a:ext>
            </a:extLst>
          </p:cNvPr>
          <p:cNvGrpSpPr/>
          <p:nvPr/>
        </p:nvGrpSpPr>
        <p:grpSpPr>
          <a:xfrm>
            <a:off x="737735" y="2678668"/>
            <a:ext cx="658129" cy="674132"/>
            <a:chOff x="737735" y="2678668"/>
            <a:chExt cx="658129" cy="674132"/>
          </a:xfrm>
        </p:grpSpPr>
        <p:cxnSp>
          <p:nvCxnSpPr>
            <p:cNvPr id="9" name="Straight Arrow Connector 8">
              <a:extLst>
                <a:ext uri="{FF2B5EF4-FFF2-40B4-BE49-F238E27FC236}">
                  <a16:creationId xmlns:a16="http://schemas.microsoft.com/office/drawing/2014/main" id="{A10D021B-1D3A-4908-9BB5-466EA00773C1}"/>
                </a:ext>
              </a:extLst>
            </p:cNvPr>
            <p:cNvCxnSpPr>
              <a:cxnSpLocks/>
            </p:cNvCxnSpPr>
            <p:nvPr/>
          </p:nvCxnSpPr>
          <p:spPr>
            <a:xfrm>
              <a:off x="1066800" y="3048000"/>
              <a:ext cx="30480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CDD3A88-5855-4662-B5B7-9571DA56BC19}"/>
                </a:ext>
              </a:extLst>
            </p:cNvPr>
            <p:cNvSpPr txBox="1"/>
            <p:nvPr/>
          </p:nvSpPr>
          <p:spPr>
            <a:xfrm>
              <a:off x="737735" y="2678668"/>
              <a:ext cx="658129" cy="369332"/>
            </a:xfrm>
            <a:prstGeom prst="rect">
              <a:avLst/>
            </a:prstGeom>
            <a:noFill/>
          </p:spPr>
          <p:txBody>
            <a:bodyPr wrap="none" rtlCol="0">
              <a:spAutoFit/>
            </a:bodyPr>
            <a:lstStyle/>
            <a:p>
              <a:r>
                <a:rPr lang="en-US" dirty="0"/>
                <a:t>reset</a:t>
              </a:r>
            </a:p>
          </p:txBody>
        </p:sp>
      </p:grpSp>
      <p:grpSp>
        <p:nvGrpSpPr>
          <p:cNvPr id="17" name="Group 16">
            <a:extLst>
              <a:ext uri="{FF2B5EF4-FFF2-40B4-BE49-F238E27FC236}">
                <a16:creationId xmlns:a16="http://schemas.microsoft.com/office/drawing/2014/main" id="{28BDC996-940D-4883-BE01-A109D10887FA}"/>
              </a:ext>
            </a:extLst>
          </p:cNvPr>
          <p:cNvGrpSpPr/>
          <p:nvPr/>
        </p:nvGrpSpPr>
        <p:grpSpPr>
          <a:xfrm>
            <a:off x="1762541" y="2678668"/>
            <a:ext cx="1591366" cy="1860090"/>
            <a:chOff x="1762541" y="2678668"/>
            <a:chExt cx="1591366" cy="1860090"/>
          </a:xfrm>
        </p:grpSpPr>
        <p:sp>
          <p:nvSpPr>
            <p:cNvPr id="13" name="Arc 12">
              <a:extLst>
                <a:ext uri="{FF2B5EF4-FFF2-40B4-BE49-F238E27FC236}">
                  <a16:creationId xmlns:a16="http://schemas.microsoft.com/office/drawing/2014/main" id="{76B42AC7-8E68-4645-9ECF-6D0BF704ED92}"/>
                </a:ext>
              </a:extLst>
            </p:cNvPr>
            <p:cNvSpPr/>
            <p:nvPr/>
          </p:nvSpPr>
          <p:spPr>
            <a:xfrm rot="18735581">
              <a:off x="1800040" y="2984891"/>
              <a:ext cx="1516368" cy="1591366"/>
            </a:xfrm>
            <a:prstGeom prst="arc">
              <a:avLst>
                <a:gd name="adj1" fmla="val 16227240"/>
                <a:gd name="adj2" fmla="val 918525"/>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1D0F81A-4978-4B7B-85B4-E69CDAA330F0}"/>
                </a:ext>
              </a:extLst>
            </p:cNvPr>
            <p:cNvSpPr txBox="1"/>
            <p:nvPr/>
          </p:nvSpPr>
          <p:spPr>
            <a:xfrm>
              <a:off x="1889665" y="2678668"/>
              <a:ext cx="550151" cy="369332"/>
            </a:xfrm>
            <a:prstGeom prst="rect">
              <a:avLst/>
            </a:prstGeom>
            <a:noFill/>
          </p:spPr>
          <p:txBody>
            <a:bodyPr wrap="none" rtlCol="0">
              <a:spAutoFit/>
            </a:bodyPr>
            <a:lstStyle/>
            <a:p>
              <a:r>
                <a:rPr lang="en-US" dirty="0"/>
                <a:t>A=0</a:t>
              </a:r>
            </a:p>
          </p:txBody>
        </p:sp>
      </p:grpSp>
      <p:grpSp>
        <p:nvGrpSpPr>
          <p:cNvPr id="18" name="Group 17">
            <a:extLst>
              <a:ext uri="{FF2B5EF4-FFF2-40B4-BE49-F238E27FC236}">
                <a16:creationId xmlns:a16="http://schemas.microsoft.com/office/drawing/2014/main" id="{88D63754-18CB-4603-B966-860D662A56CF}"/>
              </a:ext>
            </a:extLst>
          </p:cNvPr>
          <p:cNvGrpSpPr/>
          <p:nvPr/>
        </p:nvGrpSpPr>
        <p:grpSpPr>
          <a:xfrm>
            <a:off x="3641746" y="2732020"/>
            <a:ext cx="1591366" cy="1860090"/>
            <a:chOff x="1762541" y="2678668"/>
            <a:chExt cx="1591366" cy="1860090"/>
          </a:xfrm>
        </p:grpSpPr>
        <p:sp>
          <p:nvSpPr>
            <p:cNvPr id="19" name="Arc 18">
              <a:extLst>
                <a:ext uri="{FF2B5EF4-FFF2-40B4-BE49-F238E27FC236}">
                  <a16:creationId xmlns:a16="http://schemas.microsoft.com/office/drawing/2014/main" id="{81F52152-6164-4E66-A1ED-50597A69B9DE}"/>
                </a:ext>
              </a:extLst>
            </p:cNvPr>
            <p:cNvSpPr/>
            <p:nvPr/>
          </p:nvSpPr>
          <p:spPr>
            <a:xfrm rot="18735581">
              <a:off x="1800040" y="2984891"/>
              <a:ext cx="1516368" cy="1591366"/>
            </a:xfrm>
            <a:prstGeom prst="arc">
              <a:avLst>
                <a:gd name="adj1" fmla="val 16227240"/>
                <a:gd name="adj2" fmla="val 918525"/>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F7BC532D-5919-4EBD-BECA-863216ABA577}"/>
                </a:ext>
              </a:extLst>
            </p:cNvPr>
            <p:cNvSpPr txBox="1"/>
            <p:nvPr/>
          </p:nvSpPr>
          <p:spPr>
            <a:xfrm>
              <a:off x="1889665" y="2678668"/>
              <a:ext cx="550151" cy="369332"/>
            </a:xfrm>
            <a:prstGeom prst="rect">
              <a:avLst/>
            </a:prstGeom>
            <a:noFill/>
          </p:spPr>
          <p:txBody>
            <a:bodyPr wrap="none" rtlCol="0">
              <a:spAutoFit/>
            </a:bodyPr>
            <a:lstStyle/>
            <a:p>
              <a:r>
                <a:rPr lang="en-US" dirty="0"/>
                <a:t>A=1</a:t>
              </a:r>
            </a:p>
          </p:txBody>
        </p:sp>
      </p:grpSp>
      <p:grpSp>
        <p:nvGrpSpPr>
          <p:cNvPr id="21" name="Group 20">
            <a:extLst>
              <a:ext uri="{FF2B5EF4-FFF2-40B4-BE49-F238E27FC236}">
                <a16:creationId xmlns:a16="http://schemas.microsoft.com/office/drawing/2014/main" id="{D5FE41E8-2BFD-4007-86FB-0C48A839FA8C}"/>
              </a:ext>
            </a:extLst>
          </p:cNvPr>
          <p:cNvGrpSpPr/>
          <p:nvPr/>
        </p:nvGrpSpPr>
        <p:grpSpPr>
          <a:xfrm>
            <a:off x="3671885" y="2749890"/>
            <a:ext cx="1591366" cy="1516368"/>
            <a:chOff x="2197299" y="1304828"/>
            <a:chExt cx="1591366" cy="1516368"/>
          </a:xfrm>
        </p:grpSpPr>
        <p:sp>
          <p:nvSpPr>
            <p:cNvPr id="22" name="Arc 21">
              <a:extLst>
                <a:ext uri="{FF2B5EF4-FFF2-40B4-BE49-F238E27FC236}">
                  <a16:creationId xmlns:a16="http://schemas.microsoft.com/office/drawing/2014/main" id="{85909C58-89E7-443E-AE1F-AB5C4657FE6C}"/>
                </a:ext>
              </a:extLst>
            </p:cNvPr>
            <p:cNvSpPr/>
            <p:nvPr/>
          </p:nvSpPr>
          <p:spPr>
            <a:xfrm rot="7386071">
              <a:off x="2234798" y="1267329"/>
              <a:ext cx="1516368" cy="1591366"/>
            </a:xfrm>
            <a:prstGeom prst="arc">
              <a:avLst>
                <a:gd name="adj1" fmla="val 16227240"/>
                <a:gd name="adj2" fmla="val 918525"/>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3484082B-3B44-4100-95E8-48DC9121351F}"/>
                </a:ext>
              </a:extLst>
            </p:cNvPr>
            <p:cNvSpPr txBox="1"/>
            <p:nvPr/>
          </p:nvSpPr>
          <p:spPr>
            <a:xfrm>
              <a:off x="3110553" y="2303446"/>
              <a:ext cx="550151" cy="369332"/>
            </a:xfrm>
            <a:prstGeom prst="rect">
              <a:avLst/>
            </a:prstGeom>
            <a:noFill/>
          </p:spPr>
          <p:txBody>
            <a:bodyPr wrap="none" rtlCol="0">
              <a:spAutoFit/>
            </a:bodyPr>
            <a:lstStyle/>
            <a:p>
              <a:r>
                <a:rPr lang="en-US" dirty="0"/>
                <a:t>A=0</a:t>
              </a:r>
            </a:p>
          </p:txBody>
        </p:sp>
      </p:grpSp>
      <p:grpSp>
        <p:nvGrpSpPr>
          <p:cNvPr id="27" name="Group 26">
            <a:extLst>
              <a:ext uri="{FF2B5EF4-FFF2-40B4-BE49-F238E27FC236}">
                <a16:creationId xmlns:a16="http://schemas.microsoft.com/office/drawing/2014/main" id="{4B1F24EA-4168-4EC2-9C18-029F82A7218F}"/>
              </a:ext>
            </a:extLst>
          </p:cNvPr>
          <p:cNvGrpSpPr/>
          <p:nvPr/>
        </p:nvGrpSpPr>
        <p:grpSpPr>
          <a:xfrm>
            <a:off x="1724929" y="3124200"/>
            <a:ext cx="4423315" cy="2037953"/>
            <a:chOff x="1724929" y="3124200"/>
            <a:chExt cx="4423315" cy="2037953"/>
          </a:xfrm>
        </p:grpSpPr>
        <p:sp>
          <p:nvSpPr>
            <p:cNvPr id="25" name="Arc 24">
              <a:extLst>
                <a:ext uri="{FF2B5EF4-FFF2-40B4-BE49-F238E27FC236}">
                  <a16:creationId xmlns:a16="http://schemas.microsoft.com/office/drawing/2014/main" id="{67E66BE7-8879-4AAD-B193-60E7B3787223}"/>
                </a:ext>
              </a:extLst>
            </p:cNvPr>
            <p:cNvSpPr/>
            <p:nvPr/>
          </p:nvSpPr>
          <p:spPr>
            <a:xfrm rot="5400000">
              <a:off x="2623734" y="2225395"/>
              <a:ext cx="2037953" cy="3835564"/>
            </a:xfrm>
            <a:prstGeom prst="arc">
              <a:avLst>
                <a:gd name="adj1" fmla="val 16197088"/>
                <a:gd name="adj2" fmla="val 5398163"/>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C0D3675E-5E32-4747-AFD5-13734E3D2ACC}"/>
                </a:ext>
              </a:extLst>
            </p:cNvPr>
            <p:cNvSpPr txBox="1"/>
            <p:nvPr/>
          </p:nvSpPr>
          <p:spPr>
            <a:xfrm>
              <a:off x="5516265" y="4088590"/>
              <a:ext cx="631979" cy="369332"/>
            </a:xfrm>
            <a:prstGeom prst="rect">
              <a:avLst/>
            </a:prstGeom>
            <a:noFill/>
          </p:spPr>
          <p:txBody>
            <a:bodyPr wrap="square" rtlCol="0">
              <a:spAutoFit/>
            </a:bodyPr>
            <a:lstStyle/>
            <a:p>
              <a:r>
                <a:rPr lang="en-US" dirty="0"/>
                <a:t>A=1</a:t>
              </a:r>
            </a:p>
          </p:txBody>
        </p:sp>
      </p:grpSp>
      <p:grpSp>
        <p:nvGrpSpPr>
          <p:cNvPr id="30" name="Group 29">
            <a:extLst>
              <a:ext uri="{FF2B5EF4-FFF2-40B4-BE49-F238E27FC236}">
                <a16:creationId xmlns:a16="http://schemas.microsoft.com/office/drawing/2014/main" id="{1913BD72-A750-484D-8BA5-146D03D995F6}"/>
              </a:ext>
            </a:extLst>
          </p:cNvPr>
          <p:cNvGrpSpPr/>
          <p:nvPr/>
        </p:nvGrpSpPr>
        <p:grpSpPr>
          <a:xfrm>
            <a:off x="800913" y="3596843"/>
            <a:ext cx="678475" cy="669216"/>
            <a:chOff x="800913" y="3596843"/>
            <a:chExt cx="678475" cy="669216"/>
          </a:xfrm>
        </p:grpSpPr>
        <p:sp>
          <p:nvSpPr>
            <p:cNvPr id="28" name="Arc 27">
              <a:extLst>
                <a:ext uri="{FF2B5EF4-FFF2-40B4-BE49-F238E27FC236}">
                  <a16:creationId xmlns:a16="http://schemas.microsoft.com/office/drawing/2014/main" id="{4665264F-960F-4C49-9A1C-BC9C1B5FA94A}"/>
                </a:ext>
              </a:extLst>
            </p:cNvPr>
            <p:cNvSpPr/>
            <p:nvPr/>
          </p:nvSpPr>
          <p:spPr>
            <a:xfrm rot="9895296">
              <a:off x="800913" y="3596843"/>
              <a:ext cx="668461" cy="669216"/>
            </a:xfrm>
            <a:prstGeom prst="arc">
              <a:avLst>
                <a:gd name="adj1" fmla="val 12817735"/>
                <a:gd name="adj2" fmla="val 7852758"/>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663617CF-FE50-4DBE-9B47-E74A99C5BC0F}"/>
                </a:ext>
              </a:extLst>
            </p:cNvPr>
            <p:cNvSpPr txBox="1"/>
            <p:nvPr/>
          </p:nvSpPr>
          <p:spPr>
            <a:xfrm>
              <a:off x="847409" y="3868852"/>
              <a:ext cx="631979" cy="369332"/>
            </a:xfrm>
            <a:prstGeom prst="rect">
              <a:avLst/>
            </a:prstGeom>
            <a:noFill/>
          </p:spPr>
          <p:txBody>
            <a:bodyPr wrap="square" rtlCol="0">
              <a:spAutoFit/>
            </a:bodyPr>
            <a:lstStyle/>
            <a:p>
              <a:r>
                <a:rPr lang="en-US" dirty="0"/>
                <a:t>A=1</a:t>
              </a:r>
            </a:p>
          </p:txBody>
        </p:sp>
      </p:grpSp>
      <p:grpSp>
        <p:nvGrpSpPr>
          <p:cNvPr id="31" name="Group 30">
            <a:extLst>
              <a:ext uri="{FF2B5EF4-FFF2-40B4-BE49-F238E27FC236}">
                <a16:creationId xmlns:a16="http://schemas.microsoft.com/office/drawing/2014/main" id="{F35CDD0B-903D-4824-872C-15218929F834}"/>
              </a:ext>
            </a:extLst>
          </p:cNvPr>
          <p:cNvGrpSpPr/>
          <p:nvPr/>
        </p:nvGrpSpPr>
        <p:grpSpPr>
          <a:xfrm rot="20945205">
            <a:off x="2668502" y="3704672"/>
            <a:ext cx="678475" cy="669216"/>
            <a:chOff x="800913" y="3596843"/>
            <a:chExt cx="678475" cy="669216"/>
          </a:xfrm>
        </p:grpSpPr>
        <p:sp>
          <p:nvSpPr>
            <p:cNvPr id="32" name="Arc 31">
              <a:extLst>
                <a:ext uri="{FF2B5EF4-FFF2-40B4-BE49-F238E27FC236}">
                  <a16:creationId xmlns:a16="http://schemas.microsoft.com/office/drawing/2014/main" id="{270DAAF7-6729-46B2-9A68-8CBFBD8501D2}"/>
                </a:ext>
              </a:extLst>
            </p:cNvPr>
            <p:cNvSpPr/>
            <p:nvPr/>
          </p:nvSpPr>
          <p:spPr>
            <a:xfrm rot="9895296">
              <a:off x="800913" y="3596843"/>
              <a:ext cx="668461" cy="669216"/>
            </a:xfrm>
            <a:prstGeom prst="arc">
              <a:avLst>
                <a:gd name="adj1" fmla="val 12817735"/>
                <a:gd name="adj2" fmla="val 7852758"/>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9F01FD0C-46FD-4C3F-927F-D85A91ECCD48}"/>
                </a:ext>
              </a:extLst>
            </p:cNvPr>
            <p:cNvSpPr txBox="1"/>
            <p:nvPr/>
          </p:nvSpPr>
          <p:spPr>
            <a:xfrm rot="654795">
              <a:off x="847409" y="3868852"/>
              <a:ext cx="631979" cy="369332"/>
            </a:xfrm>
            <a:prstGeom prst="rect">
              <a:avLst/>
            </a:prstGeom>
            <a:noFill/>
          </p:spPr>
          <p:txBody>
            <a:bodyPr wrap="square" rtlCol="0">
              <a:spAutoFit/>
            </a:bodyPr>
            <a:lstStyle/>
            <a:p>
              <a:r>
                <a:rPr lang="en-US" dirty="0"/>
                <a:t>A=0</a:t>
              </a:r>
            </a:p>
          </p:txBody>
        </p:sp>
      </p:grpSp>
    </p:spTree>
    <p:extLst>
      <p:ext uri="{BB962C8B-B14F-4D97-AF65-F5344CB8AC3E}">
        <p14:creationId xmlns:p14="http://schemas.microsoft.com/office/powerpoint/2010/main" val="18592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D92242-D279-408D-A581-E3D6C1072FD0}"/>
              </a:ext>
            </a:extLst>
          </p:cNvPr>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Phân</a:t>
            </a:r>
            <a:r>
              <a:rPr lang="en-US" sz="4400" dirty="0">
                <a:solidFill>
                  <a:schemeClr val="bg1"/>
                </a:solidFill>
                <a:latin typeface="+mj-lt"/>
              </a:rPr>
              <a:t> </a:t>
            </a:r>
            <a:r>
              <a:rPr lang="en-US" sz="4400" dirty="0" err="1">
                <a:solidFill>
                  <a:schemeClr val="bg1"/>
                </a:solidFill>
                <a:latin typeface="+mj-lt"/>
              </a:rPr>
              <a:t>tích</a:t>
            </a:r>
            <a:r>
              <a:rPr lang="en-US" sz="4400" dirty="0">
                <a:solidFill>
                  <a:schemeClr val="bg1"/>
                </a:solidFill>
                <a:latin typeface="+mj-lt"/>
              </a:rPr>
              <a:t> </a:t>
            </a:r>
            <a:r>
              <a:rPr lang="en-US" sz="4400" dirty="0" err="1">
                <a:solidFill>
                  <a:schemeClr val="bg1"/>
                </a:solidFill>
                <a:latin typeface="+mj-lt"/>
              </a:rPr>
              <a:t>theo</a:t>
            </a:r>
            <a:r>
              <a:rPr lang="en-US" sz="4400" dirty="0">
                <a:solidFill>
                  <a:schemeClr val="bg1"/>
                </a:solidFill>
                <a:latin typeface="+mj-lt"/>
              </a:rPr>
              <a:t> </a:t>
            </a:r>
            <a:r>
              <a:rPr lang="en-US" sz="4400" dirty="0" err="1">
                <a:solidFill>
                  <a:schemeClr val="bg1"/>
                </a:solidFill>
                <a:latin typeface="+mj-lt"/>
              </a:rPr>
              <a:t>mô</a:t>
            </a:r>
            <a:r>
              <a:rPr lang="en-US" sz="4400" dirty="0">
                <a:solidFill>
                  <a:schemeClr val="bg1"/>
                </a:solidFill>
                <a:latin typeface="+mj-lt"/>
              </a:rPr>
              <a:t> </a:t>
            </a:r>
            <a:r>
              <a:rPr lang="en-US" sz="4400" dirty="0" err="1">
                <a:solidFill>
                  <a:schemeClr val="bg1"/>
                </a:solidFill>
                <a:latin typeface="+mj-lt"/>
              </a:rPr>
              <a:t>hình</a:t>
            </a:r>
            <a:r>
              <a:rPr lang="en-US" sz="4400" dirty="0">
                <a:solidFill>
                  <a:schemeClr val="bg1"/>
                </a:solidFill>
                <a:latin typeface="+mj-lt"/>
              </a:rPr>
              <a:t> Mealy</a:t>
            </a:r>
          </a:p>
        </p:txBody>
      </p:sp>
      <p:pic>
        <p:nvPicPr>
          <p:cNvPr id="3" name="Picture 5">
            <a:extLst>
              <a:ext uri="{FF2B5EF4-FFF2-40B4-BE49-F238E27FC236}">
                <a16:creationId xmlns:a16="http://schemas.microsoft.com/office/drawing/2014/main" id="{6734A1B4-5AC8-4C0C-90C8-382AB1BD6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9640" y="2057400"/>
            <a:ext cx="1864360" cy="3495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F77D0811-D134-4528-8A76-947E27B773DC}"/>
              </a:ext>
            </a:extLst>
          </p:cNvPr>
          <p:cNvSpPr txBox="1"/>
          <p:nvPr/>
        </p:nvSpPr>
        <p:spPr>
          <a:xfrm>
            <a:off x="457200" y="1046202"/>
            <a:ext cx="6954533" cy="923330"/>
          </a:xfrm>
          <a:prstGeom prst="rect">
            <a:avLst/>
          </a:prstGeom>
          <a:noFill/>
        </p:spPr>
        <p:txBody>
          <a:bodyPr wrap="none" rtlCol="0">
            <a:spAutoFit/>
          </a:bodyPr>
          <a:lstStyle/>
          <a:p>
            <a:r>
              <a:rPr lang="en-US" dirty="0"/>
              <a:t>Note: </a:t>
            </a:r>
            <a:br>
              <a:rPr lang="en-US" dirty="0"/>
            </a:br>
            <a:r>
              <a:rPr lang="en-US" dirty="0"/>
              <a:t>- </a:t>
            </a:r>
            <a:r>
              <a:rPr lang="en-US" b="1" dirty="0"/>
              <a:t>Output</a:t>
            </a:r>
            <a:r>
              <a:rPr lang="en-US" dirty="0"/>
              <a:t> </a:t>
            </a:r>
            <a:r>
              <a:rPr lang="en-US" dirty="0" err="1">
                <a:solidFill>
                  <a:srgbClr val="FF0000"/>
                </a:solidFill>
              </a:rPr>
              <a:t>phụ</a:t>
            </a:r>
            <a:r>
              <a:rPr lang="en-US" dirty="0">
                <a:solidFill>
                  <a:srgbClr val="FF0000"/>
                </a:solidFill>
              </a:rPr>
              <a:t> </a:t>
            </a:r>
            <a:r>
              <a:rPr lang="en-US" dirty="0" err="1">
                <a:solidFill>
                  <a:srgbClr val="FF0000"/>
                </a:solidFill>
              </a:rPr>
              <a:t>thuộc</a:t>
            </a:r>
            <a:r>
              <a:rPr lang="en-US" dirty="0"/>
              <a:t> </a:t>
            </a:r>
            <a:r>
              <a:rPr lang="en-US" b="1" dirty="0"/>
              <a:t>state </a:t>
            </a:r>
            <a:r>
              <a:rPr lang="en-US" dirty="0" err="1"/>
              <a:t>và</a:t>
            </a:r>
            <a:r>
              <a:rPr lang="en-US" dirty="0"/>
              <a:t> </a:t>
            </a:r>
            <a:r>
              <a:rPr lang="en-US" dirty="0" err="1"/>
              <a:t>kích</a:t>
            </a:r>
            <a:r>
              <a:rPr lang="en-US" dirty="0"/>
              <a:t> </a:t>
            </a:r>
            <a:r>
              <a:rPr lang="en-US" dirty="0" err="1"/>
              <a:t>thích</a:t>
            </a:r>
            <a:r>
              <a:rPr lang="en-US" b="1" dirty="0"/>
              <a:t> Input</a:t>
            </a:r>
            <a:r>
              <a:rPr lang="en-US" dirty="0"/>
              <a:t>, </a:t>
            </a:r>
            <a:r>
              <a:rPr lang="en-US" dirty="0" err="1"/>
              <a:t>được</a:t>
            </a:r>
            <a:r>
              <a:rPr lang="en-US" dirty="0"/>
              <a:t> </a:t>
            </a:r>
            <a:r>
              <a:rPr lang="en-US" dirty="0" err="1"/>
              <a:t>thể</a:t>
            </a:r>
            <a:r>
              <a:rPr lang="en-US" dirty="0"/>
              <a:t> </a:t>
            </a:r>
            <a:r>
              <a:rPr lang="en-US" dirty="0" err="1"/>
              <a:t>hiện</a:t>
            </a:r>
            <a:r>
              <a:rPr lang="en-US" dirty="0"/>
              <a:t> </a:t>
            </a:r>
            <a:r>
              <a:rPr lang="en-US" dirty="0" err="1">
                <a:solidFill>
                  <a:srgbClr val="FF0000"/>
                </a:solidFill>
              </a:rPr>
              <a:t>trên</a:t>
            </a:r>
            <a:r>
              <a:rPr lang="en-US" dirty="0">
                <a:solidFill>
                  <a:srgbClr val="FF0000"/>
                </a:solidFill>
              </a:rPr>
              <a:t> </a:t>
            </a:r>
            <a:r>
              <a:rPr lang="en-US" dirty="0" err="1">
                <a:solidFill>
                  <a:srgbClr val="FF0000"/>
                </a:solidFill>
              </a:rPr>
              <a:t>thay</a:t>
            </a:r>
            <a:r>
              <a:rPr lang="en-US" dirty="0">
                <a:solidFill>
                  <a:srgbClr val="FF0000"/>
                </a:solidFill>
              </a:rPr>
              <a:t> </a:t>
            </a:r>
            <a:r>
              <a:rPr lang="en-US" dirty="0" err="1">
                <a:solidFill>
                  <a:srgbClr val="FF0000"/>
                </a:solidFill>
              </a:rPr>
              <a:t>đổi</a:t>
            </a:r>
            <a:endParaRPr lang="en-US" b="1" dirty="0">
              <a:solidFill>
                <a:srgbClr val="FF0000"/>
              </a:solidFill>
            </a:endParaRPr>
          </a:p>
          <a:p>
            <a:r>
              <a:rPr lang="en-US" dirty="0"/>
              <a:t>- </a:t>
            </a:r>
            <a:r>
              <a:rPr lang="en-US" dirty="0" err="1"/>
              <a:t>Kích</a:t>
            </a:r>
            <a:r>
              <a:rPr lang="en-US" dirty="0"/>
              <a:t> </a:t>
            </a:r>
            <a:r>
              <a:rPr lang="en-US" dirty="0" err="1"/>
              <a:t>thích</a:t>
            </a:r>
            <a:r>
              <a:rPr lang="en-US" dirty="0"/>
              <a:t> </a:t>
            </a:r>
            <a:r>
              <a:rPr lang="en-US" b="1" dirty="0"/>
              <a:t>Input</a:t>
            </a:r>
            <a:r>
              <a:rPr lang="en-US" dirty="0"/>
              <a:t> </a:t>
            </a:r>
            <a:r>
              <a:rPr lang="en-US" dirty="0" err="1"/>
              <a:t>làm</a:t>
            </a:r>
            <a:r>
              <a:rPr lang="en-US" dirty="0"/>
              <a:t> </a:t>
            </a:r>
            <a:r>
              <a:rPr lang="en-US" dirty="0" err="1">
                <a:solidFill>
                  <a:srgbClr val="FF0000"/>
                </a:solidFill>
              </a:rPr>
              <a:t>chuyển</a:t>
            </a:r>
            <a:r>
              <a:rPr lang="en-US" dirty="0"/>
              <a:t> </a:t>
            </a:r>
            <a:r>
              <a:rPr lang="en-US" b="1" dirty="0"/>
              <a:t>state</a:t>
            </a:r>
          </a:p>
        </p:txBody>
      </p:sp>
      <mc:AlternateContent xmlns:mc="http://schemas.openxmlformats.org/markup-compatibility/2006" xmlns:a14="http://schemas.microsoft.com/office/drawing/2010/main">
        <mc:Choice Requires="a14">
          <p:sp>
            <p:nvSpPr>
              <p:cNvPr id="5" name="Flowchart: Connector 4">
                <a:extLst>
                  <a:ext uri="{FF2B5EF4-FFF2-40B4-BE49-F238E27FC236}">
                    <a16:creationId xmlns:a16="http://schemas.microsoft.com/office/drawing/2014/main" id="{B98FD38F-2957-4FA9-97F5-6267FD7CD312}"/>
                  </a:ext>
                </a:extLst>
              </p:cNvPr>
              <p:cNvSpPr/>
              <p:nvPr/>
            </p:nvSpPr>
            <p:spPr>
              <a:xfrm>
                <a:off x="1295400" y="3200400"/>
                <a:ext cx="923330" cy="923330"/>
              </a:xfrm>
              <a:prstGeom prst="flowChartConnector">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0</m:t>
                          </m:r>
                        </m:sub>
                      </m:sSub>
                    </m:oMath>
                  </m:oMathPara>
                </a14:m>
                <a:endParaRPr lang="en-US" dirty="0">
                  <a:solidFill>
                    <a:schemeClr val="tx1"/>
                  </a:solidFill>
                </a:endParaRPr>
              </a:p>
            </p:txBody>
          </p:sp>
        </mc:Choice>
        <mc:Fallback xmlns="">
          <p:sp>
            <p:nvSpPr>
              <p:cNvPr id="5" name="Flowchart: Connector 4">
                <a:extLst>
                  <a:ext uri="{FF2B5EF4-FFF2-40B4-BE49-F238E27FC236}">
                    <a16:creationId xmlns:a16="http://schemas.microsoft.com/office/drawing/2014/main" id="{B98FD38F-2957-4FA9-97F5-6267FD7CD312}"/>
                  </a:ext>
                </a:extLst>
              </p:cNvPr>
              <p:cNvSpPr>
                <a:spLocks noRot="1" noChangeAspect="1" noMove="1" noResize="1" noEditPoints="1" noAdjustHandles="1" noChangeArrowheads="1" noChangeShapeType="1" noTextEdit="1"/>
              </p:cNvSpPr>
              <p:nvPr/>
            </p:nvSpPr>
            <p:spPr>
              <a:xfrm>
                <a:off x="1295400" y="3200400"/>
                <a:ext cx="923330" cy="923330"/>
              </a:xfrm>
              <a:prstGeom prst="flowChartConnector">
                <a:avLst/>
              </a:prstGeom>
              <a:blipFill>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Flowchart: Connector 5">
                <a:extLst>
                  <a:ext uri="{FF2B5EF4-FFF2-40B4-BE49-F238E27FC236}">
                    <a16:creationId xmlns:a16="http://schemas.microsoft.com/office/drawing/2014/main" id="{0EAA2DA5-73F1-4B4B-B392-6CF76389C0AB}"/>
                  </a:ext>
                </a:extLst>
              </p:cNvPr>
              <p:cNvSpPr/>
              <p:nvPr/>
            </p:nvSpPr>
            <p:spPr>
              <a:xfrm>
                <a:off x="3134360" y="3200400"/>
                <a:ext cx="923330" cy="923330"/>
              </a:xfrm>
              <a:prstGeom prst="flowChartConnector">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6" name="Flowchart: Connector 5">
                <a:extLst>
                  <a:ext uri="{FF2B5EF4-FFF2-40B4-BE49-F238E27FC236}">
                    <a16:creationId xmlns:a16="http://schemas.microsoft.com/office/drawing/2014/main" id="{0EAA2DA5-73F1-4B4B-B392-6CF76389C0AB}"/>
                  </a:ext>
                </a:extLst>
              </p:cNvPr>
              <p:cNvSpPr>
                <a:spLocks noRot="1" noChangeAspect="1" noMove="1" noResize="1" noEditPoints="1" noAdjustHandles="1" noChangeArrowheads="1" noChangeShapeType="1" noTextEdit="1"/>
              </p:cNvSpPr>
              <p:nvPr/>
            </p:nvSpPr>
            <p:spPr>
              <a:xfrm>
                <a:off x="3134360" y="3200400"/>
                <a:ext cx="923330" cy="923330"/>
              </a:xfrm>
              <a:prstGeom prst="flowChartConnector">
                <a:avLst/>
              </a:prstGeom>
              <a:blipFill>
                <a:blip r:embed="rId4"/>
                <a:stretch>
                  <a:fillRect/>
                </a:stretch>
              </a:blipFill>
              <a:ln w="38100">
                <a:solidFill>
                  <a:schemeClr val="tx1"/>
                </a:solidFill>
              </a:ln>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AF6EC689-B281-4889-A3C6-8F010167F47A}"/>
              </a:ext>
            </a:extLst>
          </p:cNvPr>
          <p:cNvGrpSpPr/>
          <p:nvPr/>
        </p:nvGrpSpPr>
        <p:grpSpPr>
          <a:xfrm>
            <a:off x="737735" y="2678668"/>
            <a:ext cx="658129" cy="674132"/>
            <a:chOff x="737735" y="2678668"/>
            <a:chExt cx="658129" cy="674132"/>
          </a:xfrm>
        </p:grpSpPr>
        <p:cxnSp>
          <p:nvCxnSpPr>
            <p:cNvPr id="9" name="Straight Arrow Connector 8">
              <a:extLst>
                <a:ext uri="{FF2B5EF4-FFF2-40B4-BE49-F238E27FC236}">
                  <a16:creationId xmlns:a16="http://schemas.microsoft.com/office/drawing/2014/main" id="{A10D021B-1D3A-4908-9BB5-466EA00773C1}"/>
                </a:ext>
              </a:extLst>
            </p:cNvPr>
            <p:cNvCxnSpPr>
              <a:cxnSpLocks/>
            </p:cNvCxnSpPr>
            <p:nvPr/>
          </p:nvCxnSpPr>
          <p:spPr>
            <a:xfrm>
              <a:off x="1066800" y="3048000"/>
              <a:ext cx="30480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CDD3A88-5855-4662-B5B7-9571DA56BC19}"/>
                </a:ext>
              </a:extLst>
            </p:cNvPr>
            <p:cNvSpPr txBox="1"/>
            <p:nvPr/>
          </p:nvSpPr>
          <p:spPr>
            <a:xfrm>
              <a:off x="737735" y="2678668"/>
              <a:ext cx="658129" cy="369332"/>
            </a:xfrm>
            <a:prstGeom prst="rect">
              <a:avLst/>
            </a:prstGeom>
            <a:noFill/>
          </p:spPr>
          <p:txBody>
            <a:bodyPr wrap="none" rtlCol="0">
              <a:spAutoFit/>
            </a:bodyPr>
            <a:lstStyle/>
            <a:p>
              <a:r>
                <a:rPr lang="en-US" dirty="0"/>
                <a:t>reset</a:t>
              </a:r>
            </a:p>
          </p:txBody>
        </p:sp>
      </p:grpSp>
      <p:grpSp>
        <p:nvGrpSpPr>
          <p:cNvPr id="17" name="Group 16">
            <a:extLst>
              <a:ext uri="{FF2B5EF4-FFF2-40B4-BE49-F238E27FC236}">
                <a16:creationId xmlns:a16="http://schemas.microsoft.com/office/drawing/2014/main" id="{28BDC996-940D-4883-BE01-A109D10887FA}"/>
              </a:ext>
            </a:extLst>
          </p:cNvPr>
          <p:cNvGrpSpPr/>
          <p:nvPr/>
        </p:nvGrpSpPr>
        <p:grpSpPr>
          <a:xfrm>
            <a:off x="1762541" y="2678668"/>
            <a:ext cx="1591366" cy="1860090"/>
            <a:chOff x="1762541" y="2678668"/>
            <a:chExt cx="1591366" cy="1860090"/>
          </a:xfrm>
        </p:grpSpPr>
        <p:sp>
          <p:nvSpPr>
            <p:cNvPr id="13" name="Arc 12">
              <a:extLst>
                <a:ext uri="{FF2B5EF4-FFF2-40B4-BE49-F238E27FC236}">
                  <a16:creationId xmlns:a16="http://schemas.microsoft.com/office/drawing/2014/main" id="{76B42AC7-8E68-4645-9ECF-6D0BF704ED92}"/>
                </a:ext>
              </a:extLst>
            </p:cNvPr>
            <p:cNvSpPr/>
            <p:nvPr/>
          </p:nvSpPr>
          <p:spPr>
            <a:xfrm rot="18735581">
              <a:off x="1800040" y="2984891"/>
              <a:ext cx="1516368" cy="1591366"/>
            </a:xfrm>
            <a:prstGeom prst="arc">
              <a:avLst>
                <a:gd name="adj1" fmla="val 16227240"/>
                <a:gd name="adj2" fmla="val 918525"/>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61D0F81A-4978-4B7B-85B4-E69CDAA330F0}"/>
                </a:ext>
              </a:extLst>
            </p:cNvPr>
            <p:cNvSpPr txBox="1"/>
            <p:nvPr/>
          </p:nvSpPr>
          <p:spPr>
            <a:xfrm>
              <a:off x="2283148" y="2678668"/>
              <a:ext cx="808235" cy="307777"/>
            </a:xfrm>
            <a:prstGeom prst="rect">
              <a:avLst/>
            </a:prstGeom>
            <a:noFill/>
          </p:spPr>
          <p:txBody>
            <a:bodyPr wrap="none" rtlCol="0">
              <a:spAutoFit/>
            </a:bodyPr>
            <a:lstStyle/>
            <a:p>
              <a:r>
                <a:rPr lang="en-US" sz="1400" dirty="0"/>
                <a:t>A=0/Y=0</a:t>
              </a:r>
            </a:p>
          </p:txBody>
        </p:sp>
      </p:grpSp>
      <p:grpSp>
        <p:nvGrpSpPr>
          <p:cNvPr id="21" name="Group 20">
            <a:extLst>
              <a:ext uri="{FF2B5EF4-FFF2-40B4-BE49-F238E27FC236}">
                <a16:creationId xmlns:a16="http://schemas.microsoft.com/office/drawing/2014/main" id="{D5FE41E8-2BFD-4007-86FB-0C48A839FA8C}"/>
              </a:ext>
            </a:extLst>
          </p:cNvPr>
          <p:cNvGrpSpPr/>
          <p:nvPr/>
        </p:nvGrpSpPr>
        <p:grpSpPr>
          <a:xfrm>
            <a:off x="1795827" y="2809684"/>
            <a:ext cx="1591366" cy="1904059"/>
            <a:chOff x="2197299" y="1304828"/>
            <a:chExt cx="1591366" cy="1904059"/>
          </a:xfrm>
        </p:grpSpPr>
        <p:sp>
          <p:nvSpPr>
            <p:cNvPr id="22" name="Arc 21">
              <a:extLst>
                <a:ext uri="{FF2B5EF4-FFF2-40B4-BE49-F238E27FC236}">
                  <a16:creationId xmlns:a16="http://schemas.microsoft.com/office/drawing/2014/main" id="{85909C58-89E7-443E-AE1F-AB5C4657FE6C}"/>
                </a:ext>
              </a:extLst>
            </p:cNvPr>
            <p:cNvSpPr/>
            <p:nvPr/>
          </p:nvSpPr>
          <p:spPr>
            <a:xfrm rot="7386071">
              <a:off x="2234798" y="1267329"/>
              <a:ext cx="1516368" cy="1591366"/>
            </a:xfrm>
            <a:prstGeom prst="arc">
              <a:avLst>
                <a:gd name="adj1" fmla="val 16227240"/>
                <a:gd name="adj2" fmla="val 918525"/>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3484082B-3B44-4100-95E8-48DC9121351F}"/>
                </a:ext>
              </a:extLst>
            </p:cNvPr>
            <p:cNvSpPr txBox="1"/>
            <p:nvPr/>
          </p:nvSpPr>
          <p:spPr>
            <a:xfrm>
              <a:off x="2702694" y="2901110"/>
              <a:ext cx="808235" cy="307777"/>
            </a:xfrm>
            <a:prstGeom prst="rect">
              <a:avLst/>
            </a:prstGeom>
            <a:noFill/>
          </p:spPr>
          <p:txBody>
            <a:bodyPr wrap="none" rtlCol="0">
              <a:spAutoFit/>
            </a:bodyPr>
            <a:lstStyle/>
            <a:p>
              <a:r>
                <a:rPr lang="en-US" sz="1400" dirty="0"/>
                <a:t>A=1/Y=1</a:t>
              </a:r>
            </a:p>
          </p:txBody>
        </p:sp>
      </p:grpSp>
      <p:grpSp>
        <p:nvGrpSpPr>
          <p:cNvPr id="30" name="Group 29">
            <a:extLst>
              <a:ext uri="{FF2B5EF4-FFF2-40B4-BE49-F238E27FC236}">
                <a16:creationId xmlns:a16="http://schemas.microsoft.com/office/drawing/2014/main" id="{1913BD72-A750-484D-8BA5-146D03D995F6}"/>
              </a:ext>
            </a:extLst>
          </p:cNvPr>
          <p:cNvGrpSpPr/>
          <p:nvPr/>
        </p:nvGrpSpPr>
        <p:grpSpPr>
          <a:xfrm>
            <a:off x="317162" y="3596843"/>
            <a:ext cx="1152212" cy="873684"/>
            <a:chOff x="317162" y="3596843"/>
            <a:chExt cx="1152212" cy="873684"/>
          </a:xfrm>
        </p:grpSpPr>
        <p:sp>
          <p:nvSpPr>
            <p:cNvPr id="28" name="Arc 27">
              <a:extLst>
                <a:ext uri="{FF2B5EF4-FFF2-40B4-BE49-F238E27FC236}">
                  <a16:creationId xmlns:a16="http://schemas.microsoft.com/office/drawing/2014/main" id="{4665264F-960F-4C49-9A1C-BC9C1B5FA94A}"/>
                </a:ext>
              </a:extLst>
            </p:cNvPr>
            <p:cNvSpPr/>
            <p:nvPr/>
          </p:nvSpPr>
          <p:spPr>
            <a:xfrm rot="9895296">
              <a:off x="800913" y="3596843"/>
              <a:ext cx="668461" cy="669216"/>
            </a:xfrm>
            <a:prstGeom prst="arc">
              <a:avLst>
                <a:gd name="adj1" fmla="val 12817735"/>
                <a:gd name="adj2" fmla="val 7852758"/>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663617CF-FE50-4DBE-9B47-E74A99C5BC0F}"/>
                </a:ext>
              </a:extLst>
            </p:cNvPr>
            <p:cNvSpPr txBox="1"/>
            <p:nvPr/>
          </p:nvSpPr>
          <p:spPr>
            <a:xfrm>
              <a:off x="317162" y="4162750"/>
              <a:ext cx="847052" cy="307777"/>
            </a:xfrm>
            <a:prstGeom prst="rect">
              <a:avLst/>
            </a:prstGeom>
            <a:noFill/>
          </p:spPr>
          <p:txBody>
            <a:bodyPr wrap="square" rtlCol="0">
              <a:spAutoFit/>
            </a:bodyPr>
            <a:lstStyle/>
            <a:p>
              <a:r>
                <a:rPr lang="en-US" sz="1400" dirty="0"/>
                <a:t>A=1/Y=0</a:t>
              </a:r>
            </a:p>
          </p:txBody>
        </p:sp>
      </p:grpSp>
      <p:grpSp>
        <p:nvGrpSpPr>
          <p:cNvPr id="31" name="Group 30">
            <a:extLst>
              <a:ext uri="{FF2B5EF4-FFF2-40B4-BE49-F238E27FC236}">
                <a16:creationId xmlns:a16="http://schemas.microsoft.com/office/drawing/2014/main" id="{6B39CB0B-7CD2-49B9-A60E-4B678A93925C}"/>
              </a:ext>
            </a:extLst>
          </p:cNvPr>
          <p:cNvGrpSpPr/>
          <p:nvPr/>
        </p:nvGrpSpPr>
        <p:grpSpPr>
          <a:xfrm rot="9012007">
            <a:off x="3693537" y="2638617"/>
            <a:ext cx="1183120" cy="756709"/>
            <a:chOff x="166173" y="3596843"/>
            <a:chExt cx="1303201" cy="833511"/>
          </a:xfrm>
        </p:grpSpPr>
        <p:sp>
          <p:nvSpPr>
            <p:cNvPr id="32" name="Arc 31">
              <a:extLst>
                <a:ext uri="{FF2B5EF4-FFF2-40B4-BE49-F238E27FC236}">
                  <a16:creationId xmlns:a16="http://schemas.microsoft.com/office/drawing/2014/main" id="{526CA532-FB65-4F60-9F75-F3270C9C6CB8}"/>
                </a:ext>
              </a:extLst>
            </p:cNvPr>
            <p:cNvSpPr/>
            <p:nvPr/>
          </p:nvSpPr>
          <p:spPr>
            <a:xfrm rot="9895296">
              <a:off x="800913" y="3596843"/>
              <a:ext cx="668461" cy="669216"/>
            </a:xfrm>
            <a:prstGeom prst="arc">
              <a:avLst>
                <a:gd name="adj1" fmla="val 14095353"/>
                <a:gd name="adj2" fmla="val 7852758"/>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16256F7C-34EF-4E84-9A11-4309B9871F67}"/>
                </a:ext>
              </a:extLst>
            </p:cNvPr>
            <p:cNvSpPr txBox="1"/>
            <p:nvPr/>
          </p:nvSpPr>
          <p:spPr>
            <a:xfrm rot="12587993">
              <a:off x="166173" y="4091339"/>
              <a:ext cx="1017043" cy="339015"/>
            </a:xfrm>
            <a:prstGeom prst="rect">
              <a:avLst/>
            </a:prstGeom>
            <a:noFill/>
          </p:spPr>
          <p:txBody>
            <a:bodyPr wrap="square" rtlCol="0">
              <a:spAutoFit/>
            </a:bodyPr>
            <a:lstStyle/>
            <a:p>
              <a:r>
                <a:rPr lang="en-US" sz="1400" dirty="0"/>
                <a:t>A=0/Y=0</a:t>
              </a:r>
            </a:p>
          </p:txBody>
        </p:sp>
      </p:grpSp>
    </p:spTree>
    <p:extLst>
      <p:ext uri="{BB962C8B-B14F-4D97-AF65-F5344CB8AC3E}">
        <p14:creationId xmlns:p14="http://schemas.microsoft.com/office/powerpoint/2010/main" val="377355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21" name="Rectangle 9"/>
          <p:cNvSpPr>
            <a:spLocks noChangeArrowheads="1"/>
          </p:cNvSpPr>
          <p:nvPr>
            <p:custDataLst>
              <p:tags r:id="rId2"/>
            </p:custDataLst>
          </p:nvPr>
        </p:nvSpPr>
        <p:spPr bwMode="auto">
          <a:xfrm>
            <a:off x="914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2400" dirty="0">
              <a:latin typeface="Times New Roman" pitchFamily="18" charset="0"/>
              <a:cs typeface="Arial" charset="0"/>
            </a:endParaRPr>
          </a:p>
          <a:p>
            <a:pPr marL="342900" indent="-342900">
              <a:spcBef>
                <a:spcPct val="20000"/>
              </a:spcBef>
            </a:pPr>
            <a:endParaRPr lang="en-US" sz="2400" dirty="0">
              <a:latin typeface="Times New Roman" pitchFamily="18" charset="0"/>
              <a:cs typeface="Arial" charset="0"/>
            </a:endParaRPr>
          </a:p>
          <a:p>
            <a:pPr marL="342900" indent="-342900">
              <a:spcBef>
                <a:spcPct val="20000"/>
              </a:spcBef>
            </a:pPr>
            <a:endParaRPr lang="en-US" sz="2400" dirty="0">
              <a:latin typeface="Times New Roman" pitchFamily="18" charset="0"/>
              <a:cs typeface="Arial" charset="0"/>
            </a:endParaRPr>
          </a:p>
          <a:p>
            <a:pPr marL="342900" indent="-342900">
              <a:spcBef>
                <a:spcPct val="20000"/>
              </a:spcBef>
            </a:pPr>
            <a:endParaRPr lang="en-US" sz="2400" dirty="0">
              <a:latin typeface="Times New Roman" pitchFamily="18" charset="0"/>
              <a:cs typeface="Arial" charset="0"/>
            </a:endParaRPr>
          </a:p>
          <a:p>
            <a:pPr marL="342900" indent="-342900">
              <a:spcBef>
                <a:spcPct val="20000"/>
              </a:spcBef>
            </a:pPr>
            <a:endParaRPr lang="en-US" sz="2400" dirty="0">
              <a:latin typeface="Times New Roman" pitchFamily="18" charset="0"/>
              <a:cs typeface="Arial" charset="0"/>
            </a:endParaRPr>
          </a:p>
          <a:p>
            <a:pPr marL="342900" indent="-342900">
              <a:spcBef>
                <a:spcPct val="20000"/>
              </a:spcBef>
            </a:pPr>
            <a:endParaRPr lang="en-US" sz="1400" dirty="0">
              <a:latin typeface="Times New Roman" pitchFamily="18" charset="0"/>
              <a:cs typeface="Arial" charset="0"/>
            </a:endParaRPr>
          </a:p>
          <a:p>
            <a:pPr marL="342900" indent="-342900">
              <a:spcBef>
                <a:spcPct val="20000"/>
              </a:spcBef>
            </a:pPr>
            <a:endParaRPr lang="en-US" sz="2000" dirty="0">
              <a:latin typeface="Times New Roman" pitchFamily="18" charset="0"/>
              <a:cs typeface="Arial" charset="0"/>
            </a:endParaRPr>
          </a:p>
          <a:p>
            <a:pPr marL="342900" indent="-342900">
              <a:spcBef>
                <a:spcPct val="20000"/>
              </a:spcBef>
            </a:pPr>
            <a:endParaRPr lang="en-US" sz="2000" dirty="0">
              <a:latin typeface="Times New Roman" pitchFamily="18" charset="0"/>
              <a:cs typeface="Arial" charset="0"/>
            </a:endParaRPr>
          </a:p>
          <a:p>
            <a:pPr marL="342900" indent="-342900">
              <a:spcBef>
                <a:spcPct val="20000"/>
              </a:spcBef>
            </a:pPr>
            <a:endParaRPr lang="en-US" sz="2000" dirty="0">
              <a:latin typeface="Times New Roman" pitchFamily="18" charset="0"/>
              <a:cs typeface="Arial" charset="0"/>
            </a:endParaRPr>
          </a:p>
          <a:p>
            <a:pPr marL="342900" indent="-342900">
              <a:spcBef>
                <a:spcPct val="20000"/>
              </a:spcBef>
            </a:pPr>
            <a:endParaRPr lang="en-US" sz="2000" dirty="0">
              <a:latin typeface="Times New Roman" pitchFamily="18" charset="0"/>
              <a:cs typeface="Arial" charset="0"/>
            </a:endParaRPr>
          </a:p>
          <a:p>
            <a:pPr marL="342900" indent="-342900">
              <a:spcBef>
                <a:spcPct val="20000"/>
              </a:spcBef>
            </a:pPr>
            <a:endParaRPr lang="en-US" sz="2000" dirty="0">
              <a:latin typeface="Times New Roman" pitchFamily="18" charset="0"/>
              <a:cs typeface="Arial" charset="0"/>
            </a:endParaRPr>
          </a:p>
          <a:p>
            <a:pPr marL="342900" indent="-342900">
              <a:spcBef>
                <a:spcPct val="20000"/>
              </a:spcBef>
            </a:pPr>
            <a:endParaRPr lang="en-US" sz="2000" dirty="0">
              <a:latin typeface="Times New Roman" pitchFamily="18" charset="0"/>
              <a:cs typeface="Arial" charset="0"/>
            </a:endParaRPr>
          </a:p>
          <a:p>
            <a:pPr marL="342900" indent="-342900">
              <a:spcBef>
                <a:spcPct val="20000"/>
              </a:spcBef>
            </a:pPr>
            <a:r>
              <a:rPr lang="en-US" sz="2000" dirty="0">
                <a:latin typeface="Times New Roman" pitchFamily="18" charset="0"/>
                <a:cs typeface="Arial" charset="0"/>
              </a:rPr>
              <a:t>Mealy FSM: arcs indicate input/output</a:t>
            </a: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State Transition Diagrams</a:t>
            </a:r>
          </a:p>
        </p:txBody>
      </p:sp>
      <p:graphicFrame>
        <p:nvGraphicFramePr>
          <p:cNvPr id="3" name="Object 2"/>
          <p:cNvGraphicFramePr>
            <a:graphicFrameLocks noChangeAspect="1"/>
          </p:cNvGraphicFramePr>
          <p:nvPr>
            <p:extLst>
              <p:ext uri="{D42A27DB-BD31-4B8C-83A1-F6EECF244321}">
                <p14:modId xmlns:p14="http://schemas.microsoft.com/office/powerpoint/2010/main" val="910793193"/>
              </p:ext>
            </p:extLst>
          </p:nvPr>
        </p:nvGraphicFramePr>
        <p:xfrm>
          <a:off x="990599" y="1371600"/>
          <a:ext cx="3873062" cy="2133600"/>
        </p:xfrm>
        <a:graphic>
          <a:graphicData uri="http://schemas.openxmlformats.org/presentationml/2006/ole">
            <mc:AlternateContent xmlns:mc="http://schemas.openxmlformats.org/markup-compatibility/2006">
              <mc:Choice xmlns:v="urn:schemas-microsoft-com:vml" Requires="v">
                <p:oleObj spid="_x0000_s30722" name="VISIO" r:id="rId5" imgW="2339280" imgH="1289160" progId="Visio.Drawing.6">
                  <p:embed/>
                </p:oleObj>
              </mc:Choice>
              <mc:Fallback>
                <p:oleObj name="VISIO" r:id="rId5" imgW="2339280" imgH="1289160" progId="Visio.Drawing.6">
                  <p:embed/>
                  <p:pic>
                    <p:nvPicPr>
                      <p:cNvPr id="0" name=""/>
                      <p:cNvPicPr/>
                      <p:nvPr/>
                    </p:nvPicPr>
                    <p:blipFill>
                      <a:blip r:embed="rId6"/>
                      <a:stretch>
                        <a:fillRect/>
                      </a:stretch>
                    </p:blipFill>
                    <p:spPr>
                      <a:xfrm>
                        <a:off x="990599" y="1371600"/>
                        <a:ext cx="3873062" cy="2133600"/>
                      </a:xfrm>
                      <a:prstGeom prst="rect">
                        <a:avLst/>
                      </a:prstGeom>
                    </p:spPr>
                  </p:pic>
                </p:oleObj>
              </mc:Fallback>
            </mc:AlternateContent>
          </a:graphicData>
        </a:graphic>
      </p:graphicFrame>
      <p:pic>
        <p:nvPicPr>
          <p:cNvPr id="160776"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4400" y="3657600"/>
            <a:ext cx="2467381" cy="2057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76AC6E51-A028-447D-8B4A-E04404530A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532724">
            <a:off x="6178173" y="1461708"/>
            <a:ext cx="1864360" cy="3495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848891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69412" name="Group 4"/>
          <p:cNvGraphicFramePr>
            <a:graphicFrameLocks noGrp="1"/>
          </p:cNvGraphicFramePr>
          <p:nvPr>
            <p:ph sz="half" idx="4294967295"/>
            <p:custDataLst>
              <p:tags r:id="rId2"/>
            </p:custDataLst>
            <p:extLst>
              <p:ext uri="{D42A27DB-BD31-4B8C-83A1-F6EECF244321}">
                <p14:modId xmlns:p14="http://schemas.microsoft.com/office/powerpoint/2010/main" val="3305088236"/>
              </p:ext>
            </p:extLst>
          </p:nvPr>
        </p:nvGraphicFramePr>
        <p:xfrm>
          <a:off x="838200" y="1447800"/>
          <a:ext cx="4572000" cy="3656013"/>
        </p:xfrm>
        <a:graphic>
          <a:graphicData uri="http://schemas.openxmlformats.org/drawingml/2006/table">
            <a:tbl>
              <a:tblPr/>
              <a:tblGrid>
                <a:gridCol w="914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tblGrid>
              <a:tr h="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Current State</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solidFill>
                      <a:srgbClr val="0070C0"/>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Inputs</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solidFill>
                      <a:srgbClr val="0070C0"/>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Next State</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solidFill>
                      <a:srgbClr val="0070C0"/>
                    </a:solidFill>
                  </a:tcPr>
                </a:tc>
                <a:tc hMerge="1">
                  <a:txBody>
                    <a:bodyPr/>
                    <a:lstStyle/>
                    <a:p>
                      <a:endParaRPr lang="en-US"/>
                    </a:p>
                  </a:txBody>
                  <a:tcPr/>
                </a:tc>
                <a:extLst>
                  <a:ext uri="{0D108BD9-81ED-4DB2-BD59-A6C34878D82A}">
                    <a16:rowId xmlns:a16="http://schemas.microsoft.com/office/drawing/2014/main" val="10000"/>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a:ln>
                            <a:noFill/>
                          </a:ln>
                          <a:solidFill>
                            <a:schemeClr val="bg1"/>
                          </a:solidFill>
                          <a:effectLst/>
                          <a:latin typeface="Times New Roman" pitchFamily="18" charset="0"/>
                          <a:cs typeface="Arial" charset="0"/>
                        </a:rPr>
                        <a:t>S</a:t>
                      </a:r>
                      <a:r>
                        <a:rPr kumimoji="0" lang="en-US" sz="2000" b="1" i="0" u="none" strike="noStrike" cap="none" normalizeH="0" baseline="-25000">
                          <a:ln>
                            <a:noFill/>
                          </a:ln>
                          <a:solidFill>
                            <a:schemeClr val="bg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a:ln>
                            <a:noFill/>
                          </a:ln>
                          <a:solidFill>
                            <a:schemeClr val="bg1"/>
                          </a:solidFill>
                          <a:effectLst/>
                          <a:latin typeface="Times New Roman" pitchFamily="18" charset="0"/>
                          <a:cs typeface="Arial" charset="0"/>
                        </a:rPr>
                        <a:t>S</a:t>
                      </a:r>
                      <a:r>
                        <a:rPr kumimoji="0" lang="en-US" sz="2000" b="1" i="0" u="none" strike="noStrike" cap="none" normalizeH="0" baseline="-25000">
                          <a:ln>
                            <a:noFill/>
                          </a:ln>
                          <a:solidFill>
                            <a:schemeClr val="bg1"/>
                          </a:solidFill>
                          <a:effectLst/>
                          <a:latin typeface="Times New Roman" pitchFamily="18" charset="0"/>
                          <a:cs typeface="Arial" charset="0"/>
                        </a:rPr>
                        <a:t>0</a:t>
                      </a:r>
                    </a:p>
                  </a:txBody>
                  <a:tcPr anchor="b"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a:ln>
                            <a:noFill/>
                          </a:ln>
                          <a:solidFill>
                            <a:schemeClr val="bg1"/>
                          </a:solidFill>
                          <a:effectLst/>
                          <a:latin typeface="Times New Roman" pitchFamily="18" charset="0"/>
                          <a:cs typeface="Arial" charset="0"/>
                        </a:rPr>
                        <a:t>A</a:t>
                      </a:r>
                      <a:endParaRPr kumimoji="0" lang="en-US" sz="2000" b="1" i="1" u="none" strike="noStrike" cap="none" normalizeH="0" baseline="-25000" dirty="0">
                        <a:ln>
                          <a:noFill/>
                        </a:ln>
                        <a:solidFill>
                          <a:schemeClr val="bg1"/>
                        </a:solidFill>
                        <a:effectLst/>
                        <a:latin typeface="Times New Roman" pitchFamily="18" charset="0"/>
                        <a:cs typeface="Arial" charset="0"/>
                      </a:endParaRP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a:ln>
                            <a:noFill/>
                          </a:ln>
                          <a:solidFill>
                            <a:schemeClr val="bg1"/>
                          </a:solidFill>
                          <a:effectLst/>
                          <a:latin typeface="Times New Roman" pitchFamily="18" charset="0"/>
                          <a:cs typeface="Arial" charset="0"/>
                        </a:rPr>
                        <a:t>S</a:t>
                      </a:r>
                      <a:r>
                        <a:rPr kumimoji="0" lang="en-US" sz="2000" b="1" i="1" u="none" strike="noStrike" cap="none" normalizeH="0" baseline="0" dirty="0">
                          <a:ln>
                            <a:noFill/>
                          </a:ln>
                          <a:solidFill>
                            <a:schemeClr val="bg1"/>
                          </a:solidFill>
                          <a:effectLst/>
                          <a:latin typeface="Times New Roman" pitchFamily="18" charset="0"/>
                          <a:cs typeface="Times New Roman" pitchFamily="18" charset="0"/>
                        </a:rPr>
                        <a:t>'</a:t>
                      </a:r>
                      <a:r>
                        <a:rPr kumimoji="0" lang="en-US" sz="2000" b="1" i="0" u="none" strike="noStrike" cap="none" normalizeH="0" baseline="-25000" dirty="0">
                          <a:ln>
                            <a:noFill/>
                          </a:ln>
                          <a:solidFill>
                            <a:schemeClr val="bg1"/>
                          </a:solidFill>
                          <a:effectLst/>
                          <a:latin typeface="Times New Roman" pitchFamily="18" charset="0"/>
                          <a:cs typeface="Times New Roman" pitchFamily="18" charset="0"/>
                        </a:rPr>
                        <a:t>1</a:t>
                      </a:r>
                    </a:p>
                  </a:txBody>
                  <a:tcPr anchor="b" horzOverflow="overflow">
                    <a:lnL w="381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a:ln>
                            <a:noFill/>
                          </a:ln>
                          <a:solidFill>
                            <a:schemeClr val="bg1"/>
                          </a:solidFill>
                          <a:effectLst/>
                          <a:latin typeface="Times New Roman" pitchFamily="18" charset="0"/>
                          <a:cs typeface="Arial" charset="0"/>
                        </a:rPr>
                        <a:t>S</a:t>
                      </a:r>
                      <a:r>
                        <a:rPr kumimoji="0" lang="en-US" sz="2000" b="1" i="1" u="none" strike="noStrike" cap="none" normalizeH="0" baseline="0" dirty="0">
                          <a:ln>
                            <a:noFill/>
                          </a:ln>
                          <a:solidFill>
                            <a:schemeClr val="bg1"/>
                          </a:solidFill>
                          <a:effectLst/>
                          <a:latin typeface="Times New Roman" pitchFamily="18" charset="0"/>
                          <a:cs typeface="Times New Roman" pitchFamily="18" charset="0"/>
                        </a:rPr>
                        <a:t>'</a:t>
                      </a:r>
                      <a:r>
                        <a:rPr kumimoji="0" lang="en-US" sz="2000" b="1" i="0" u="none" strike="noStrike" cap="none" normalizeH="0" baseline="-25000" dirty="0">
                          <a:ln>
                            <a:noFill/>
                          </a:ln>
                          <a:solidFill>
                            <a:schemeClr val="bg1"/>
                          </a:solidFill>
                          <a:effectLst/>
                          <a:latin typeface="Times New Roman" pitchFamily="18" charset="0"/>
                          <a:cs typeface="Times New Roman" pitchFamily="18" charset="0"/>
                        </a:rPr>
                        <a:t>0</a:t>
                      </a:r>
                    </a:p>
                  </a:txBody>
                  <a:tcPr anchor="b" horzOverflow="overflow">
                    <a:lnL>
                      <a:noFill/>
                    </a:lnL>
                    <a:lnR w="381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323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70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8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5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dirty="0"/>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169515" name="Group 107"/>
          <p:cNvGraphicFramePr>
            <a:graphicFrameLocks noGrp="1"/>
          </p:cNvGraphicFramePr>
          <p:nvPr>
            <p:ph sz="half" idx="4294967295"/>
            <p:custDataLst>
              <p:tags r:id="rId3"/>
            </p:custDataLst>
            <p:extLst>
              <p:ext uri="{D42A27DB-BD31-4B8C-83A1-F6EECF244321}">
                <p14:modId xmlns:p14="http://schemas.microsoft.com/office/powerpoint/2010/main" val="1152117729"/>
              </p:ext>
            </p:extLst>
          </p:nvPr>
        </p:nvGraphicFramePr>
        <p:xfrm>
          <a:off x="6019800" y="1295400"/>
          <a:ext cx="2514600" cy="2297113"/>
        </p:xfrm>
        <a:graphic>
          <a:graphicData uri="http://schemas.openxmlformats.org/drawingml/2006/table">
            <a:tbl>
              <a:tblPr/>
              <a:tblGrid>
                <a:gridCol w="1066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State</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Encoding</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S2</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69410"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Moore FSM State Transition Table</a:t>
            </a:r>
          </a:p>
        </p:txBody>
      </p:sp>
      <p:sp>
        <p:nvSpPr>
          <p:cNvPr id="6" name="Rectangle 44"/>
          <p:cNvSpPr>
            <a:spLocks noChangeArrowheads="1"/>
          </p:cNvSpPr>
          <p:nvPr>
            <p:custDataLst>
              <p:tags r:id="rId5"/>
            </p:custDataLst>
          </p:nvPr>
        </p:nvSpPr>
        <p:spPr bwMode="auto">
          <a:xfrm>
            <a:off x="6019800" y="4648200"/>
            <a:ext cx="1676400" cy="685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b="1" i="1" dirty="0">
                <a:latin typeface="Times New Roman" pitchFamily="18" charset="0"/>
                <a:cs typeface="Arial" charset="0"/>
              </a:rPr>
              <a:t>S</a:t>
            </a:r>
            <a:r>
              <a:rPr lang="en-US" sz="2400" b="1" baseline="-25000" dirty="0">
                <a:latin typeface="Times New Roman" pitchFamily="18" charset="0"/>
                <a:cs typeface="Arial" charset="0"/>
              </a:rPr>
              <a:t>1</a:t>
            </a:r>
            <a:r>
              <a:rPr lang="en-US" sz="2400" b="1" baseline="30000" dirty="0">
                <a:latin typeface="Courier (W1)" pitchFamily="49" charset="0"/>
                <a:cs typeface="Arial" charset="0"/>
              </a:rPr>
              <a:t>’</a:t>
            </a:r>
            <a:r>
              <a:rPr lang="en-US" sz="2400" b="1" i="1" dirty="0">
                <a:latin typeface="Times New Roman" pitchFamily="18" charset="0"/>
                <a:cs typeface="Arial" charset="0"/>
              </a:rPr>
              <a:t> = S</a:t>
            </a:r>
            <a:r>
              <a:rPr lang="en-US" sz="2400" b="1" baseline="-25000" dirty="0">
                <a:latin typeface="Times New Roman" pitchFamily="18" charset="0"/>
                <a:cs typeface="Arial" charset="0"/>
              </a:rPr>
              <a:t>0</a:t>
            </a:r>
            <a:r>
              <a:rPr lang="en-US" sz="2400" b="1" i="1" dirty="0">
                <a:latin typeface="Times New Roman" pitchFamily="18" charset="0"/>
                <a:cs typeface="Arial" charset="0"/>
              </a:rPr>
              <a:t>A</a:t>
            </a:r>
          </a:p>
          <a:p>
            <a:pPr marL="342900" indent="-342900">
              <a:spcBef>
                <a:spcPct val="20000"/>
              </a:spcBef>
            </a:pPr>
            <a:r>
              <a:rPr lang="en-US" sz="2400" b="1" i="1" dirty="0">
                <a:latin typeface="Times New Roman" pitchFamily="18" charset="0"/>
                <a:cs typeface="Arial" charset="0"/>
              </a:rPr>
              <a:t>S</a:t>
            </a:r>
            <a:r>
              <a:rPr lang="en-US" sz="2400" b="1" baseline="-25000" dirty="0">
                <a:latin typeface="Times New Roman" pitchFamily="18" charset="0"/>
                <a:cs typeface="Arial" charset="0"/>
              </a:rPr>
              <a:t>0</a:t>
            </a:r>
            <a:r>
              <a:rPr lang="en-US" sz="2400" b="1" baseline="30000" dirty="0">
                <a:latin typeface="Courier (W1)" pitchFamily="49" charset="0"/>
                <a:cs typeface="Arial" charset="0"/>
              </a:rPr>
              <a:t>’</a:t>
            </a:r>
            <a:r>
              <a:rPr lang="en-US" sz="2400" b="1" i="1" dirty="0">
                <a:latin typeface="Times New Roman" pitchFamily="18" charset="0"/>
                <a:cs typeface="Arial" charset="0"/>
              </a:rPr>
              <a:t> = A</a:t>
            </a:r>
            <a:endParaRPr lang="en-US" sz="2400" b="1" i="1" baseline="-25000" dirty="0">
              <a:latin typeface="Times New Roman" pitchFamily="18" charset="0"/>
              <a:cs typeface="Arial" charset="0"/>
            </a:endParaRPr>
          </a:p>
        </p:txBody>
      </p:sp>
      <p:cxnSp>
        <p:nvCxnSpPr>
          <p:cNvPr id="3" name="Straight Connector 2"/>
          <p:cNvCxnSpPr/>
          <p:nvPr/>
        </p:nvCxnSpPr>
        <p:spPr>
          <a:xfrm>
            <a:off x="6858000" y="51816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886200" y="2667000"/>
            <a:ext cx="14478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886200" y="3048000"/>
            <a:ext cx="14478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886200" y="3429000"/>
            <a:ext cx="14478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3886200" y="3810000"/>
            <a:ext cx="14478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886200" y="4267200"/>
            <a:ext cx="14478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3886200" y="4724400"/>
            <a:ext cx="14478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6705600" y="4724400"/>
            <a:ext cx="990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6705600" y="5105400"/>
            <a:ext cx="990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7" name="Object 16"/>
          <p:cNvGraphicFramePr>
            <a:graphicFrameLocks noChangeAspect="1"/>
          </p:cNvGraphicFramePr>
          <p:nvPr>
            <p:extLst>
              <p:ext uri="{D42A27DB-BD31-4B8C-83A1-F6EECF244321}">
                <p14:modId xmlns:p14="http://schemas.microsoft.com/office/powerpoint/2010/main" val="3607867549"/>
              </p:ext>
            </p:extLst>
          </p:nvPr>
        </p:nvGraphicFramePr>
        <p:xfrm>
          <a:off x="6248400" y="3657600"/>
          <a:ext cx="2057401" cy="1133385"/>
        </p:xfrm>
        <a:graphic>
          <a:graphicData uri="http://schemas.openxmlformats.org/presentationml/2006/ole">
            <mc:AlternateContent xmlns:mc="http://schemas.openxmlformats.org/markup-compatibility/2006">
              <mc:Choice xmlns:v="urn:schemas-microsoft-com:vml" Requires="v">
                <p:oleObj spid="_x0000_s31746" name="VISIO" r:id="rId8" imgW="2339280" imgH="1289160" progId="Visio.Drawing.6">
                  <p:embed/>
                </p:oleObj>
              </mc:Choice>
              <mc:Fallback>
                <p:oleObj name="VISIO" r:id="rId8" imgW="2339280" imgH="1289160" progId="Visio.Drawing.6">
                  <p:embed/>
                  <p:pic>
                    <p:nvPicPr>
                      <p:cNvPr id="0" name=""/>
                      <p:cNvPicPr/>
                      <p:nvPr/>
                    </p:nvPicPr>
                    <p:blipFill>
                      <a:blip r:embed="rId9"/>
                      <a:stretch>
                        <a:fillRect/>
                      </a:stretch>
                    </p:blipFill>
                    <p:spPr>
                      <a:xfrm>
                        <a:off x="6248400" y="3657600"/>
                        <a:ext cx="2057401" cy="1133385"/>
                      </a:xfrm>
                      <a:prstGeom prst="rect">
                        <a:avLst/>
                      </a:prstGeom>
                    </p:spPr>
                  </p:pic>
                </p:oleObj>
              </mc:Fallback>
            </mc:AlternateContent>
          </a:graphicData>
        </a:graphic>
      </p:graphicFrame>
    </p:spTree>
    <p:extLst>
      <p:ext uri="{BB962C8B-B14F-4D97-AF65-F5344CB8AC3E}">
        <p14:creationId xmlns:p14="http://schemas.microsoft.com/office/powerpoint/2010/main" val="1813142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Moore FSM Output Table</a:t>
            </a:r>
          </a:p>
        </p:txBody>
      </p:sp>
      <p:sp>
        <p:nvSpPr>
          <p:cNvPr id="4" name="Rectangle 44"/>
          <p:cNvSpPr>
            <a:spLocks noChangeArrowheads="1"/>
          </p:cNvSpPr>
          <p:nvPr>
            <p:custDataLst>
              <p:tags r:id="rId2"/>
            </p:custDataLst>
          </p:nvPr>
        </p:nvSpPr>
        <p:spPr bwMode="auto">
          <a:xfrm>
            <a:off x="2514600" y="4648200"/>
            <a:ext cx="1676400" cy="685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b="1" i="1" dirty="0">
                <a:latin typeface="Times New Roman" pitchFamily="18" charset="0"/>
                <a:cs typeface="Arial" charset="0"/>
              </a:rPr>
              <a:t>Y = S</a:t>
            </a:r>
            <a:r>
              <a:rPr lang="en-US" sz="2400" b="1" baseline="-25000" dirty="0">
                <a:latin typeface="Times New Roman" pitchFamily="18" charset="0"/>
                <a:cs typeface="Arial" charset="0"/>
              </a:rPr>
              <a:t>1</a:t>
            </a:r>
            <a:endParaRPr lang="en-US" sz="2400" b="1" i="1" baseline="-25000" dirty="0">
              <a:latin typeface="Times New Roman" pitchFamily="18" charset="0"/>
              <a:cs typeface="Arial" charset="0"/>
            </a:endParaRPr>
          </a:p>
        </p:txBody>
      </p:sp>
      <p:graphicFrame>
        <p:nvGraphicFramePr>
          <p:cNvPr id="5" name="Group 3"/>
          <p:cNvGraphicFramePr>
            <a:graphicFrameLocks/>
          </p:cNvGraphicFramePr>
          <p:nvPr>
            <p:custDataLst>
              <p:tags r:id="rId3"/>
            </p:custDataLst>
            <p:extLst>
              <p:ext uri="{D42A27DB-BD31-4B8C-83A1-F6EECF244321}">
                <p14:modId xmlns:p14="http://schemas.microsoft.com/office/powerpoint/2010/main" val="419409409"/>
              </p:ext>
            </p:extLst>
          </p:nvPr>
        </p:nvGraphicFramePr>
        <p:xfrm>
          <a:off x="1524001" y="1905000"/>
          <a:ext cx="3352800" cy="2286000"/>
        </p:xfrm>
        <a:graphic>
          <a:graphicData uri="http://schemas.openxmlformats.org/drawingml/2006/table">
            <a:tbl>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233363">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Current State</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solidFill>
                      <a:srgbClr val="0070C0"/>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Output</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lnTlToBr>
                      <a:noFill/>
                    </a:lnTlToBr>
                    <a:lnBlToTr>
                      <a:noFill/>
                    </a:lnBlToTr>
                    <a:solidFill>
                      <a:srgbClr val="0070C0"/>
                    </a:solidFill>
                  </a:tcPr>
                </a:tc>
                <a:extLst>
                  <a:ext uri="{0D108BD9-81ED-4DB2-BD59-A6C34878D82A}">
                    <a16:rowId xmlns:a16="http://schemas.microsoft.com/office/drawing/2014/main" val="10000"/>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a:ln>
                            <a:noFill/>
                          </a:ln>
                          <a:solidFill>
                            <a:schemeClr val="bg1"/>
                          </a:solidFill>
                          <a:effectLst/>
                          <a:latin typeface="Times New Roman" pitchFamily="18" charset="0"/>
                          <a:cs typeface="Arial" charset="0"/>
                        </a:rPr>
                        <a:t>S</a:t>
                      </a:r>
                      <a:r>
                        <a:rPr kumimoji="0" lang="en-US" sz="2400" b="1" i="0" u="none" strike="noStrike" cap="none" normalizeH="0" baseline="-25000">
                          <a:ln>
                            <a:noFill/>
                          </a:ln>
                          <a:solidFill>
                            <a:schemeClr val="bg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S</a:t>
                      </a:r>
                      <a:r>
                        <a:rPr kumimoji="0" lang="en-US" sz="2400" b="1" i="0" u="none" strike="noStrike" cap="none" normalizeH="0" baseline="-25000" dirty="0">
                          <a:ln>
                            <a:noFill/>
                          </a:ln>
                          <a:solidFill>
                            <a:schemeClr val="bg1"/>
                          </a:solidFill>
                          <a:effectLst/>
                          <a:latin typeface="Times New Roman" pitchFamily="18" charset="0"/>
                          <a:cs typeface="Arial" charset="0"/>
                        </a:rPr>
                        <a:t>0</a:t>
                      </a:r>
                    </a:p>
                  </a:txBody>
                  <a:tcPr anchor="b" horzOverflow="overflow">
                    <a:lnL>
                      <a:noFill/>
                    </a:lnL>
                    <a:lnR w="381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1" u="none" strike="noStrike" cap="none" normalizeH="0" baseline="0" dirty="0">
                          <a:ln>
                            <a:noFill/>
                          </a:ln>
                          <a:solidFill>
                            <a:schemeClr val="bg1"/>
                          </a:solidFill>
                          <a:effectLst/>
                          <a:latin typeface="Times New Roman" pitchFamily="18" charset="0"/>
                          <a:cs typeface="Arial" charset="0"/>
                        </a:rPr>
                        <a:t>Y</a:t>
                      </a:r>
                      <a:endParaRPr kumimoji="0" lang="en-US" sz="2400" b="1" i="0" u="none" strike="noStrike" cap="none" normalizeH="0" baseline="-25000" dirty="0">
                        <a:ln>
                          <a:noFill/>
                        </a:ln>
                        <a:solidFill>
                          <a:schemeClr val="bg1"/>
                        </a:solidFill>
                        <a:effectLst/>
                        <a:latin typeface="Times New Roman" pitchFamily="18" charset="0"/>
                        <a:cs typeface="Arial" charset="0"/>
                      </a:endParaRP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384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anose="02020603050405020304" pitchFamily="18"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sz="2400" dirty="0">
                          <a:latin typeface="Times New Roman" panose="02020603050405020304" pitchFamily="18" charset="0"/>
                          <a:cs typeface="Times New Roman" panose="02020603050405020304" pitchFamily="18" charset="0"/>
                        </a:rPr>
                        <a:t>0</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anose="02020603050405020304" pitchFamily="18"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sz="2400" dirty="0">
                          <a:latin typeface="Times New Roman" panose="02020603050405020304" pitchFamily="18" charset="0"/>
                          <a:cs typeface="Times New Roman" panose="02020603050405020304" pitchFamily="18" charset="0"/>
                        </a:rPr>
                        <a:t>0</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Times New Roman" panose="02020603050405020304" pitchFamily="18"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sz="2400" dirty="0">
                          <a:latin typeface="Times New Roman" panose="02020603050405020304" pitchFamily="18" charset="0"/>
                          <a:cs typeface="Times New Roman" panose="02020603050405020304" pitchFamily="18" charset="0"/>
                        </a:rPr>
                        <a:t>1</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Rectangle 5"/>
          <p:cNvSpPr/>
          <p:nvPr/>
        </p:nvSpPr>
        <p:spPr>
          <a:xfrm>
            <a:off x="3733800" y="2895600"/>
            <a:ext cx="990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3733800" y="3276600"/>
            <a:ext cx="990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733800" y="3733800"/>
            <a:ext cx="990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048000" y="4724400"/>
            <a:ext cx="990600" cy="381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1" name="Object 10"/>
          <p:cNvGraphicFramePr>
            <a:graphicFrameLocks noChangeAspect="1"/>
          </p:cNvGraphicFramePr>
          <p:nvPr>
            <p:extLst>
              <p:ext uri="{D42A27DB-BD31-4B8C-83A1-F6EECF244321}">
                <p14:modId xmlns:p14="http://schemas.microsoft.com/office/powerpoint/2010/main" val="3459571195"/>
              </p:ext>
            </p:extLst>
          </p:nvPr>
        </p:nvGraphicFramePr>
        <p:xfrm>
          <a:off x="5105400" y="1752600"/>
          <a:ext cx="3873062" cy="2133600"/>
        </p:xfrm>
        <a:graphic>
          <a:graphicData uri="http://schemas.openxmlformats.org/presentationml/2006/ole">
            <mc:AlternateContent xmlns:mc="http://schemas.openxmlformats.org/markup-compatibility/2006">
              <mc:Choice xmlns:v="urn:schemas-microsoft-com:vml" Requires="v">
                <p:oleObj spid="_x0000_s32770" name="VISIO" r:id="rId6" imgW="2339280" imgH="1289160" progId="Visio.Drawing.6">
                  <p:embed/>
                </p:oleObj>
              </mc:Choice>
              <mc:Fallback>
                <p:oleObj name="VISIO" r:id="rId6" imgW="2339280" imgH="1289160" progId="Visio.Drawing.6">
                  <p:embed/>
                  <p:pic>
                    <p:nvPicPr>
                      <p:cNvPr id="0" name=""/>
                      <p:cNvPicPr/>
                      <p:nvPr/>
                    </p:nvPicPr>
                    <p:blipFill>
                      <a:blip r:embed="rId7"/>
                      <a:stretch>
                        <a:fillRect/>
                      </a:stretch>
                    </p:blipFill>
                    <p:spPr>
                      <a:xfrm>
                        <a:off x="5105400" y="1752600"/>
                        <a:ext cx="3873062" cy="2133600"/>
                      </a:xfrm>
                      <a:prstGeom prst="rect">
                        <a:avLst/>
                      </a:prstGeom>
                    </p:spPr>
                  </p:pic>
                </p:oleObj>
              </mc:Fallback>
            </mc:AlternateContent>
          </a:graphicData>
        </a:graphic>
      </p:graphicFrame>
    </p:spTree>
    <p:extLst>
      <p:ext uri="{BB962C8B-B14F-4D97-AF65-F5344CB8AC3E}">
        <p14:creationId xmlns:p14="http://schemas.microsoft.com/office/powerpoint/2010/main" val="21958216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8119" name="Group 263"/>
          <p:cNvGraphicFramePr>
            <a:graphicFrameLocks noGrp="1"/>
          </p:cNvGraphicFramePr>
          <p:nvPr>
            <p:ph sz="half" idx="4294967295"/>
            <p:custDataLst>
              <p:tags r:id="rId1"/>
            </p:custDataLst>
            <p:extLst>
              <p:ext uri="{D42A27DB-BD31-4B8C-83A1-F6EECF244321}">
                <p14:modId xmlns:p14="http://schemas.microsoft.com/office/powerpoint/2010/main" val="3906775993"/>
              </p:ext>
            </p:extLst>
          </p:nvPr>
        </p:nvGraphicFramePr>
        <p:xfrm>
          <a:off x="1143000" y="1524000"/>
          <a:ext cx="4343399" cy="2621280"/>
        </p:xfrm>
        <a:graphic>
          <a:graphicData uri="http://schemas.openxmlformats.org/drawingml/2006/table">
            <a:tbl>
              <a:tblPr/>
              <a:tblGrid>
                <a:gridCol w="12954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1066799">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bg1"/>
                          </a:solidFill>
                          <a:effectLst/>
                          <a:latin typeface="Times New Roman" pitchFamily="18" charset="0"/>
                          <a:cs typeface="Arial" charset="0"/>
                        </a:rPr>
                        <a:t>Current State</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bg1"/>
                          </a:solidFill>
                          <a:effectLst/>
                          <a:latin typeface="Times New Roman" pitchFamily="18" charset="0"/>
                          <a:cs typeface="Arial" charset="0"/>
                        </a:rPr>
                        <a:t>Input</a:t>
                      </a:r>
                      <a:endParaRPr kumimoji="0" lang="en-US" sz="2000" b="1" i="1" u="none" strike="noStrike" cap="none" normalizeH="0" baseline="-25000" dirty="0">
                        <a:ln>
                          <a:noFill/>
                        </a:ln>
                        <a:solidFill>
                          <a:schemeClr val="bg1"/>
                        </a:solidFill>
                        <a:effectLst/>
                        <a:latin typeface="Times New Roman" pitchFamily="18" charset="0"/>
                        <a:cs typeface="Arial" charset="0"/>
                      </a:endParaRP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bg1"/>
                          </a:solidFill>
                          <a:effectLst/>
                          <a:latin typeface="Times New Roman" pitchFamily="18" charset="0"/>
                          <a:cs typeface="Arial" charset="0"/>
                        </a:rPr>
                        <a:t>Next State</a:t>
                      </a:r>
                      <a:endParaRPr kumimoji="0" lang="en-US" sz="2000" b="1" i="0" u="none" strike="noStrike" cap="none" normalizeH="0" baseline="-25000" dirty="0">
                        <a:ln>
                          <a:noFill/>
                        </a:ln>
                        <a:solidFill>
                          <a:schemeClr val="bg1"/>
                        </a:solidFill>
                        <a:effectLst/>
                        <a:latin typeface="Times New Roman" pitchFamily="18" charset="0"/>
                        <a:cs typeface="Times New Roman" pitchFamily="18"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bg1"/>
                          </a:solidFill>
                          <a:effectLst/>
                          <a:latin typeface="Times New Roman" pitchFamily="18" charset="0"/>
                          <a:cs typeface="Arial" charset="0"/>
                        </a:rPr>
                        <a:t>Output</a:t>
                      </a:r>
                      <a:endParaRPr kumimoji="0" lang="en-US" sz="2000" b="1" i="0" u="none" strike="noStrike" cap="none" normalizeH="0" baseline="-25000" dirty="0">
                        <a:ln>
                          <a:noFill/>
                        </a:ln>
                        <a:solidFill>
                          <a:schemeClr val="bg1"/>
                        </a:solidFill>
                        <a:effectLst/>
                        <a:latin typeface="Times New Roman" pitchFamily="18" charset="0"/>
                        <a:cs typeface="Times New Roman" pitchFamily="18" charset="0"/>
                      </a:endParaRP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a:ln>
                            <a:noFill/>
                          </a:ln>
                          <a:solidFill>
                            <a:schemeClr val="bg1"/>
                          </a:solidFill>
                          <a:effectLst/>
                          <a:latin typeface="Times New Roman" pitchFamily="18" charset="0"/>
                          <a:cs typeface="Arial" charset="0"/>
                        </a:rPr>
                        <a:t>S</a:t>
                      </a:r>
                      <a:r>
                        <a:rPr kumimoji="0" lang="en-US" sz="2000" b="1" i="0" u="none" strike="noStrike" cap="none" normalizeH="0" baseline="-25000">
                          <a:ln>
                            <a:noFill/>
                          </a:ln>
                          <a:solidFill>
                            <a:schemeClr val="bg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a:ln>
                            <a:noFill/>
                          </a:ln>
                          <a:solidFill>
                            <a:schemeClr val="bg1"/>
                          </a:solidFill>
                          <a:effectLst/>
                          <a:latin typeface="Times New Roman" pitchFamily="18" charset="0"/>
                          <a:cs typeface="Arial" charset="0"/>
                        </a:rPr>
                        <a:t>A</a:t>
                      </a:r>
                      <a:endParaRPr kumimoji="0" lang="en-US" sz="2000" b="1" i="1" u="none" strike="noStrike" cap="none" normalizeH="0" baseline="-25000" dirty="0">
                        <a:ln>
                          <a:noFill/>
                        </a:ln>
                        <a:solidFill>
                          <a:schemeClr val="bg1"/>
                        </a:solidFill>
                        <a:effectLst/>
                        <a:latin typeface="Times New Roman" pitchFamily="18" charset="0"/>
                        <a:cs typeface="Arial" charset="0"/>
                      </a:endParaRP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a:ln>
                            <a:noFill/>
                          </a:ln>
                          <a:solidFill>
                            <a:schemeClr val="bg1"/>
                          </a:solidFill>
                          <a:effectLst/>
                          <a:latin typeface="Times New Roman" pitchFamily="18" charset="0"/>
                          <a:cs typeface="Arial" charset="0"/>
                        </a:rPr>
                        <a:t>S</a:t>
                      </a:r>
                      <a:r>
                        <a:rPr kumimoji="0" lang="en-US" sz="2000" b="1" i="1" u="none" strike="noStrike" cap="none" normalizeH="0" baseline="0" dirty="0">
                          <a:ln>
                            <a:noFill/>
                          </a:ln>
                          <a:solidFill>
                            <a:schemeClr val="bg1"/>
                          </a:solidFill>
                          <a:effectLst/>
                          <a:latin typeface="Times New Roman" pitchFamily="18" charset="0"/>
                          <a:cs typeface="Times New Roman" pitchFamily="18" charset="0"/>
                        </a:rPr>
                        <a:t>'</a:t>
                      </a:r>
                      <a:r>
                        <a:rPr kumimoji="0" lang="en-US" sz="2000" b="1" i="0" u="none" strike="noStrike" cap="none" normalizeH="0" baseline="-25000" dirty="0">
                          <a:ln>
                            <a:noFill/>
                          </a:ln>
                          <a:solidFill>
                            <a:schemeClr val="bg1"/>
                          </a:solidFill>
                          <a:effectLst/>
                          <a:latin typeface="Times New Roman" pitchFamily="18" charset="0"/>
                          <a:cs typeface="Times New Roman" pitchFamily="18"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1" u="none" strike="noStrike" cap="none" normalizeH="0" baseline="0" dirty="0">
                          <a:ln>
                            <a:noFill/>
                          </a:ln>
                          <a:solidFill>
                            <a:schemeClr val="bg1"/>
                          </a:solidFill>
                          <a:effectLst/>
                          <a:latin typeface="Times New Roman" pitchFamily="18" charset="0"/>
                          <a:cs typeface="Arial" charset="0"/>
                        </a:rPr>
                        <a:t>Y</a:t>
                      </a:r>
                      <a:endParaRPr kumimoji="0" lang="en-US" sz="2000" b="1" i="0" u="none" strike="noStrike" cap="none" normalizeH="0" baseline="-25000" dirty="0">
                        <a:ln>
                          <a:noFill/>
                        </a:ln>
                        <a:solidFill>
                          <a:schemeClr val="bg1"/>
                        </a:solidFill>
                        <a:effectLst/>
                        <a:latin typeface="Times New Roman" pitchFamily="18" charset="0"/>
                        <a:cs typeface="Times New Roman" pitchFamily="18" charset="0"/>
                      </a:endParaRP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1"/>
                  </a:ext>
                </a:extLst>
              </a:tr>
              <a:tr h="323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4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70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8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017988" name="Group 132"/>
          <p:cNvGraphicFramePr>
            <a:graphicFrameLocks noGrp="1"/>
          </p:cNvGraphicFramePr>
          <p:nvPr>
            <p:ph sz="half" idx="4294967295"/>
            <p:custDataLst>
              <p:tags r:id="rId2"/>
            </p:custDataLst>
            <p:extLst>
              <p:ext uri="{D42A27DB-BD31-4B8C-83A1-F6EECF244321}">
                <p14:modId xmlns:p14="http://schemas.microsoft.com/office/powerpoint/2010/main" val="1252558694"/>
              </p:ext>
            </p:extLst>
          </p:nvPr>
        </p:nvGraphicFramePr>
        <p:xfrm>
          <a:off x="5715000" y="2133600"/>
          <a:ext cx="2514600" cy="1735138"/>
        </p:xfrm>
        <a:graphic>
          <a:graphicData uri="http://schemas.openxmlformats.org/drawingml/2006/table">
            <a:tbl>
              <a:tblPr/>
              <a:tblGrid>
                <a:gridCol w="990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State</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imes New Roman" pitchFamily="18" charset="0"/>
                          <a:cs typeface="Arial" charset="0"/>
                        </a:rPr>
                        <a:t>Encoding</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extLst>
                  <a:ext uri="{0D108BD9-81ED-4DB2-BD59-A6C34878D82A}">
                    <a16:rowId xmlns:a16="http://schemas.microsoft.com/office/drawing/2014/main" val="10000"/>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cs typeface="Arial" charset="0"/>
                        </a:rPr>
                        <a:t>S1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1785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9" name="TextBox 8"/>
          <p:cNvSpPr txBox="1"/>
          <p:nvPr/>
        </p:nvSpPr>
        <p:spPr>
          <a:xfrm>
            <a:off x="457200" y="152400"/>
            <a:ext cx="8686800" cy="677108"/>
          </a:xfrm>
          <a:prstGeom prst="rect">
            <a:avLst/>
          </a:prstGeom>
          <a:noFill/>
        </p:spPr>
        <p:txBody>
          <a:bodyPr wrap="square" rtlCol="0">
            <a:spAutoFit/>
          </a:bodyPr>
          <a:lstStyle/>
          <a:p>
            <a:r>
              <a:rPr lang="en-US" sz="3800" dirty="0">
                <a:solidFill>
                  <a:schemeClr val="bg1"/>
                </a:solidFill>
                <a:latin typeface="+mj-lt"/>
              </a:rPr>
              <a:t>Mealy FSM State Transition &amp; Output Table</a:t>
            </a:r>
          </a:p>
        </p:txBody>
      </p:sp>
      <p:sp>
        <p:nvSpPr>
          <p:cNvPr id="6" name="Rectangle 44"/>
          <p:cNvSpPr>
            <a:spLocks noChangeArrowheads="1"/>
          </p:cNvSpPr>
          <p:nvPr>
            <p:custDataLst>
              <p:tags r:id="rId4"/>
            </p:custDataLst>
          </p:nvPr>
        </p:nvSpPr>
        <p:spPr bwMode="auto">
          <a:xfrm>
            <a:off x="2438400" y="4495800"/>
            <a:ext cx="1676400" cy="685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b="1" i="1" dirty="0">
                <a:latin typeface="Times New Roman" pitchFamily="18" charset="0"/>
                <a:cs typeface="Arial" charset="0"/>
              </a:rPr>
              <a:t>S</a:t>
            </a:r>
            <a:r>
              <a:rPr lang="en-US" sz="2400" b="1" baseline="-25000" dirty="0">
                <a:latin typeface="Times New Roman" pitchFamily="18" charset="0"/>
                <a:cs typeface="Arial" charset="0"/>
              </a:rPr>
              <a:t>0</a:t>
            </a:r>
            <a:r>
              <a:rPr lang="en-US" sz="2400" b="1" baseline="30000" dirty="0">
                <a:latin typeface="Courier (W1)" pitchFamily="49" charset="0"/>
                <a:cs typeface="Arial" charset="0"/>
              </a:rPr>
              <a:t>’</a:t>
            </a:r>
            <a:r>
              <a:rPr lang="en-US" sz="2400" b="1" i="1" dirty="0">
                <a:latin typeface="Times New Roman" pitchFamily="18" charset="0"/>
                <a:cs typeface="Arial" charset="0"/>
              </a:rPr>
              <a:t> =  A</a:t>
            </a:r>
          </a:p>
          <a:p>
            <a:pPr marL="342900" indent="-342900">
              <a:spcBef>
                <a:spcPct val="20000"/>
              </a:spcBef>
            </a:pPr>
            <a:r>
              <a:rPr lang="en-US" sz="2400" b="1" i="1" dirty="0">
                <a:latin typeface="Times New Roman" pitchFamily="18" charset="0"/>
                <a:cs typeface="Arial" charset="0"/>
              </a:rPr>
              <a:t>Y = S</a:t>
            </a:r>
            <a:r>
              <a:rPr lang="en-US" sz="2400" b="1" baseline="-25000" dirty="0">
                <a:latin typeface="Times New Roman" pitchFamily="18" charset="0"/>
                <a:cs typeface="Arial" charset="0"/>
              </a:rPr>
              <a:t>0 </a:t>
            </a:r>
            <a:r>
              <a:rPr lang="en-US" sz="2400" b="1" i="1" dirty="0">
                <a:latin typeface="Times New Roman" pitchFamily="18" charset="0"/>
                <a:cs typeface="Arial" charset="0"/>
              </a:rPr>
              <a:t>A</a:t>
            </a:r>
            <a:endParaRPr lang="en-US" sz="2400" b="1" i="1" baseline="-25000" dirty="0">
              <a:latin typeface="Times New Roman" pitchFamily="18" charset="0"/>
              <a:cs typeface="Arial" charset="0"/>
            </a:endParaRPr>
          </a:p>
        </p:txBody>
      </p:sp>
      <p:cxnSp>
        <p:nvCxnSpPr>
          <p:cNvPr id="3" name="Straight Connector 2"/>
          <p:cNvCxnSpPr/>
          <p:nvPr/>
        </p:nvCxnSpPr>
        <p:spPr>
          <a:xfrm>
            <a:off x="3352800" y="4572000"/>
            <a:ext cx="228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352800" y="2743200"/>
            <a:ext cx="2057400" cy="22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352800" y="3124200"/>
            <a:ext cx="2057400" cy="22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3352800" y="3505200"/>
            <a:ext cx="2057400" cy="22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3352800" y="3886200"/>
            <a:ext cx="2057400" cy="22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3200400" y="4495800"/>
            <a:ext cx="10668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2971800" y="4953000"/>
            <a:ext cx="10668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91200" y="3886200"/>
            <a:ext cx="2467381" cy="2057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08665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Moore					Mealy</a:t>
            </a:r>
          </a:p>
        </p:txBody>
      </p:sp>
      <p:pic>
        <p:nvPicPr>
          <p:cNvPr id="161800"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600" y="1447800"/>
            <a:ext cx="4266855" cy="3429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5"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72000" y="2057400"/>
            <a:ext cx="4384088" cy="295925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983269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Moore &amp; Mealy Timing Diagram</a:t>
            </a:r>
          </a:p>
        </p:txBody>
      </p:sp>
      <p:graphicFrame>
        <p:nvGraphicFramePr>
          <p:cNvPr id="3" name="Object 2"/>
          <p:cNvGraphicFramePr>
            <a:graphicFrameLocks noChangeAspect="1"/>
          </p:cNvGraphicFramePr>
          <p:nvPr>
            <p:extLst>
              <p:ext uri="{D42A27DB-BD31-4B8C-83A1-F6EECF244321}">
                <p14:modId xmlns:p14="http://schemas.microsoft.com/office/powerpoint/2010/main" val="1572445487"/>
              </p:ext>
            </p:extLst>
          </p:nvPr>
        </p:nvGraphicFramePr>
        <p:xfrm>
          <a:off x="228600" y="1371600"/>
          <a:ext cx="8557429" cy="3429000"/>
        </p:xfrm>
        <a:graphic>
          <a:graphicData uri="http://schemas.openxmlformats.org/presentationml/2006/ole">
            <mc:AlternateContent xmlns:mc="http://schemas.openxmlformats.org/markup-compatibility/2006">
              <mc:Choice xmlns:v="urn:schemas-microsoft-com:vml" Requires="v">
                <p:oleObj spid="_x0000_s33794" name="VISIO" r:id="rId4" imgW="5859000" imgH="2348280" progId="Visio.Drawing.6">
                  <p:embed/>
                </p:oleObj>
              </mc:Choice>
              <mc:Fallback>
                <p:oleObj name="VISIO" r:id="rId4" imgW="5859000" imgH="2348280" progId="Visio.Drawing.6">
                  <p:embed/>
                  <p:pic>
                    <p:nvPicPr>
                      <p:cNvPr id="0" name=""/>
                      <p:cNvPicPr/>
                      <p:nvPr/>
                    </p:nvPicPr>
                    <p:blipFill>
                      <a:blip r:embed="rId5"/>
                      <a:stretch>
                        <a:fillRect/>
                      </a:stretch>
                    </p:blipFill>
                    <p:spPr>
                      <a:xfrm>
                        <a:off x="228600" y="1371600"/>
                        <a:ext cx="8557429" cy="3429000"/>
                      </a:xfrm>
                      <a:prstGeom prst="rect">
                        <a:avLst/>
                      </a:prstGeom>
                    </p:spPr>
                  </p:pic>
                </p:oleObj>
              </mc:Fallback>
            </mc:AlternateContent>
          </a:graphicData>
        </a:graphic>
      </p:graphicFrame>
    </p:spTree>
    <p:extLst>
      <p:ext uri="{BB962C8B-B14F-4D97-AF65-F5344CB8AC3E}">
        <p14:creationId xmlns:p14="http://schemas.microsoft.com/office/powerpoint/2010/main" val="35611841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4" name="Rectangle 4"/>
          <p:cNvSpPr>
            <a:spLocks noGrp="1" noChangeArrowheads="1"/>
          </p:cNvSpPr>
          <p:nvPr>
            <p:ph idx="4294967295"/>
            <p:custDataLst>
              <p:tags r:id="rId1"/>
            </p:custDataLst>
          </p:nvPr>
        </p:nvSpPr>
        <p:spPr>
          <a:xfrm>
            <a:off x="457200" y="1036637"/>
            <a:ext cx="8229600" cy="4525963"/>
          </a:xfrm>
        </p:spPr>
        <p:txBody>
          <a:bodyPr/>
          <a:lstStyle/>
          <a:p>
            <a:r>
              <a:rPr lang="en-US" dirty="0"/>
              <a:t>Break complex FSMs into smaller interacting FSMs</a:t>
            </a:r>
          </a:p>
          <a:p>
            <a:r>
              <a:rPr lang="en-US" dirty="0"/>
              <a:t>Example: Modify traffic light controller to have Parade Mode.</a:t>
            </a:r>
          </a:p>
          <a:p>
            <a:pPr lvl="1"/>
            <a:r>
              <a:rPr lang="en-US" dirty="0"/>
              <a:t>Two more inputs: </a:t>
            </a:r>
            <a:r>
              <a:rPr lang="en-US" i="1" dirty="0"/>
              <a:t>P</a:t>
            </a:r>
            <a:r>
              <a:rPr lang="en-US" dirty="0"/>
              <a:t>, </a:t>
            </a:r>
            <a:r>
              <a:rPr lang="en-US" i="1" dirty="0"/>
              <a:t>R</a:t>
            </a:r>
          </a:p>
          <a:p>
            <a:pPr lvl="1"/>
            <a:r>
              <a:rPr lang="en-US" dirty="0"/>
              <a:t>When </a:t>
            </a:r>
            <a:r>
              <a:rPr lang="en-US" b="1" i="1" dirty="0"/>
              <a:t>P</a:t>
            </a:r>
            <a:r>
              <a:rPr lang="en-US" b="1" dirty="0"/>
              <a:t> = 1</a:t>
            </a:r>
            <a:r>
              <a:rPr lang="en-US" dirty="0"/>
              <a:t>, enter Parade Mode &amp; Bravado Blvd light stays green</a:t>
            </a:r>
          </a:p>
          <a:p>
            <a:pPr lvl="1"/>
            <a:r>
              <a:rPr lang="en-US" dirty="0"/>
              <a:t>When </a:t>
            </a:r>
            <a:r>
              <a:rPr lang="en-US" b="1" i="1" dirty="0"/>
              <a:t>R</a:t>
            </a:r>
            <a:r>
              <a:rPr lang="en-US" b="1" dirty="0"/>
              <a:t> = 1</a:t>
            </a:r>
            <a:r>
              <a:rPr lang="en-US" dirty="0"/>
              <a:t>, leave Parade Mode</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Factoring State Machines</a:t>
            </a:r>
          </a:p>
        </p:txBody>
      </p:sp>
    </p:spTree>
    <p:extLst>
      <p:ext uri="{BB962C8B-B14F-4D97-AF65-F5344CB8AC3E}">
        <p14:creationId xmlns:p14="http://schemas.microsoft.com/office/powerpoint/2010/main" val="8670163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7" name="Rectangle 3"/>
          <p:cNvSpPr>
            <a:spLocks noGrp="1" noChangeArrowheads="1"/>
          </p:cNvSpPr>
          <p:nvPr>
            <p:ph sz="half" idx="4294967295"/>
            <p:custDataLst>
              <p:tags r:id="rId2"/>
            </p:custDataLst>
          </p:nvPr>
        </p:nvSpPr>
        <p:spPr>
          <a:xfrm>
            <a:off x="914400" y="1219200"/>
            <a:ext cx="7696200" cy="4953000"/>
          </a:xfrm>
        </p:spPr>
        <p:txBody>
          <a:bodyPr/>
          <a:lstStyle/>
          <a:p>
            <a:pPr>
              <a:buFontTx/>
              <a:buNone/>
            </a:pPr>
            <a:r>
              <a:rPr lang="en-US" b="1" dirty="0" err="1">
                <a:solidFill>
                  <a:srgbClr val="0070C0"/>
                </a:solidFill>
              </a:rPr>
              <a:t>Unfactored</a:t>
            </a:r>
            <a:r>
              <a:rPr lang="en-US" b="1" dirty="0">
                <a:solidFill>
                  <a:srgbClr val="0070C0"/>
                </a:solidFill>
              </a:rPr>
              <a:t> FSM</a:t>
            </a:r>
          </a:p>
          <a:p>
            <a:pPr>
              <a:buFontTx/>
              <a:buNone/>
            </a:pPr>
            <a:endParaRPr lang="en-US" b="1" dirty="0">
              <a:solidFill>
                <a:srgbClr val="0070C0"/>
              </a:solidFill>
            </a:endParaRPr>
          </a:p>
          <a:p>
            <a:pPr>
              <a:buFontTx/>
              <a:buNone/>
            </a:pPr>
            <a:endParaRPr lang="en-US" b="1" dirty="0">
              <a:solidFill>
                <a:srgbClr val="0070C0"/>
              </a:solidFill>
            </a:endParaRPr>
          </a:p>
          <a:p>
            <a:pPr>
              <a:buFontTx/>
              <a:buNone/>
            </a:pPr>
            <a:r>
              <a:rPr lang="en-US" b="1" dirty="0">
                <a:solidFill>
                  <a:srgbClr val="0070C0"/>
                </a:solidFill>
              </a:rPr>
              <a:t>Factored FSM</a:t>
            </a:r>
          </a:p>
        </p:txBody>
      </p:sp>
      <p:graphicFrame>
        <p:nvGraphicFramePr>
          <p:cNvPr id="1025030" name="Object 6"/>
          <p:cNvGraphicFramePr>
            <a:graphicFrameLocks noGrp="1" noChangeAspect="1"/>
          </p:cNvGraphicFramePr>
          <p:nvPr>
            <p:ph sz="quarter" idx="4294967295"/>
            <p:custDataLst>
              <p:tags r:id="rId3"/>
            </p:custDataLst>
            <p:extLst>
              <p:ext uri="{D42A27DB-BD31-4B8C-83A1-F6EECF244321}">
                <p14:modId xmlns:p14="http://schemas.microsoft.com/office/powerpoint/2010/main" val="514483545"/>
              </p:ext>
            </p:extLst>
          </p:nvPr>
        </p:nvGraphicFramePr>
        <p:xfrm>
          <a:off x="3886200" y="1066800"/>
          <a:ext cx="2676525" cy="1268413"/>
        </p:xfrm>
        <a:graphic>
          <a:graphicData uri="http://schemas.openxmlformats.org/presentationml/2006/ole">
            <mc:AlternateContent xmlns:mc="http://schemas.openxmlformats.org/markup-compatibility/2006">
              <mc:Choice xmlns:v="urn:schemas-microsoft-com:vml" Requires="v">
                <p:oleObj spid="_x0000_s34818" name="VISIO" r:id="rId7" imgW="1542960" imgH="732600" progId="Visio.Drawing.6">
                  <p:embed/>
                </p:oleObj>
              </mc:Choice>
              <mc:Fallback>
                <p:oleObj name="VISIO" r:id="rId7" imgW="1542960" imgH="732600"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1066800"/>
                        <a:ext cx="2676525" cy="1268413"/>
                      </a:xfrm>
                      <a:prstGeom prst="rect">
                        <a:avLst/>
                      </a:prstGeom>
                    </p:spPr>
                  </p:pic>
                </p:oleObj>
              </mc:Fallback>
            </mc:AlternateContent>
          </a:graphicData>
        </a:graphic>
      </p:graphicFrame>
      <p:graphicFrame>
        <p:nvGraphicFramePr>
          <p:cNvPr id="1025031" name="Object 7"/>
          <p:cNvGraphicFramePr>
            <a:graphicFrameLocks noGrp="1" noChangeAspect="1"/>
          </p:cNvGraphicFramePr>
          <p:nvPr>
            <p:ph sz="quarter" idx="4294967295"/>
            <p:custDataLst>
              <p:tags r:id="rId4"/>
            </p:custDataLst>
            <p:extLst>
              <p:ext uri="{D42A27DB-BD31-4B8C-83A1-F6EECF244321}">
                <p14:modId xmlns:p14="http://schemas.microsoft.com/office/powerpoint/2010/main" val="35374887"/>
              </p:ext>
            </p:extLst>
          </p:nvPr>
        </p:nvGraphicFramePr>
        <p:xfrm>
          <a:off x="4114800" y="2590800"/>
          <a:ext cx="2338387" cy="3276600"/>
        </p:xfrm>
        <a:graphic>
          <a:graphicData uri="http://schemas.openxmlformats.org/presentationml/2006/ole">
            <mc:AlternateContent xmlns:mc="http://schemas.openxmlformats.org/markup-compatibility/2006">
              <mc:Choice xmlns:v="urn:schemas-microsoft-com:vml" Requires="v">
                <p:oleObj spid="_x0000_s34819" name="VISIO" r:id="rId9" imgW="1542960" imgH="2161440" progId="Visio.Drawing.6">
                  <p:embed/>
                </p:oleObj>
              </mc:Choice>
              <mc:Fallback>
                <p:oleObj name="VISIO" r:id="rId9" imgW="1542960" imgH="216144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4800" y="2590800"/>
                        <a:ext cx="2338387" cy="3276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Box 7"/>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Parade FSM</a:t>
            </a:r>
          </a:p>
        </p:txBody>
      </p:sp>
    </p:spTree>
    <p:extLst>
      <p:ext uri="{BB962C8B-B14F-4D97-AF65-F5344CB8AC3E}">
        <p14:creationId xmlns:p14="http://schemas.microsoft.com/office/powerpoint/2010/main" val="7859034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Unfactored</a:t>
            </a:r>
            <a:r>
              <a:rPr lang="en-US" sz="4400" dirty="0">
                <a:solidFill>
                  <a:schemeClr val="bg1"/>
                </a:solidFill>
                <a:latin typeface="+mj-lt"/>
              </a:rPr>
              <a:t> FSM</a:t>
            </a:r>
          </a:p>
        </p:txBody>
      </p:sp>
      <p:grpSp>
        <p:nvGrpSpPr>
          <p:cNvPr id="3" name="Group 2"/>
          <p:cNvGrpSpPr/>
          <p:nvPr/>
        </p:nvGrpSpPr>
        <p:grpSpPr>
          <a:xfrm>
            <a:off x="457200" y="990600"/>
            <a:ext cx="7696200" cy="4883347"/>
            <a:chOff x="457200" y="990600"/>
            <a:chExt cx="7696200" cy="4883347"/>
          </a:xfrm>
        </p:grpSpPr>
        <p:pic>
          <p:nvPicPr>
            <p:cNvPr id="165914"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990600"/>
              <a:ext cx="7239000" cy="488334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2" name="Rectangle 1"/>
            <p:cNvSpPr/>
            <p:nvPr/>
          </p:nvSpPr>
          <p:spPr>
            <a:xfrm>
              <a:off x="457200" y="5105400"/>
              <a:ext cx="1371600" cy="768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949335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0148" name="Object 4"/>
          <p:cNvGraphicFramePr>
            <a:graphicFrameLocks noGrp="1" noChangeAspect="1"/>
          </p:cNvGraphicFramePr>
          <p:nvPr>
            <p:ph idx="4294967295"/>
            <p:custDataLst>
              <p:tags r:id="rId2"/>
            </p:custDataLst>
            <p:extLst>
              <p:ext uri="{D42A27DB-BD31-4B8C-83A1-F6EECF244321}">
                <p14:modId xmlns:p14="http://schemas.microsoft.com/office/powerpoint/2010/main" val="4084888728"/>
              </p:ext>
            </p:extLst>
          </p:nvPr>
        </p:nvGraphicFramePr>
        <p:xfrm>
          <a:off x="990600" y="1447800"/>
          <a:ext cx="7772400" cy="4027487"/>
        </p:xfrm>
        <a:graphic>
          <a:graphicData uri="http://schemas.openxmlformats.org/presentationml/2006/ole">
            <mc:AlternateContent xmlns:mc="http://schemas.openxmlformats.org/markup-compatibility/2006">
              <mc:Choice xmlns:v="urn:schemas-microsoft-com:vml" Requires="v">
                <p:oleObj spid="_x0000_s35842" name="VISIO" r:id="rId5" imgW="4286160" imgH="2221560" progId="Visio.Drawing.6">
                  <p:embed/>
                </p:oleObj>
              </mc:Choice>
              <mc:Fallback>
                <p:oleObj name="VISIO" r:id="rId5" imgW="4286160" imgH="222156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1447800"/>
                        <a:ext cx="7772400" cy="4027487"/>
                      </a:xfrm>
                      <a:prstGeom prst="rect">
                        <a:avLst/>
                      </a:prstGeom>
                    </p:spPr>
                  </p:pic>
                </p:oleObj>
              </mc:Fallback>
            </mc:AlternateContent>
          </a:graphicData>
        </a:graphic>
      </p:graphicFrame>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Factored FSM</a:t>
            </a:r>
          </a:p>
        </p:txBody>
      </p:sp>
    </p:spTree>
    <p:extLst>
      <p:ext uri="{BB962C8B-B14F-4D97-AF65-F5344CB8AC3E}">
        <p14:creationId xmlns:p14="http://schemas.microsoft.com/office/powerpoint/2010/main" val="2301492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6" name="Rectangle 4"/>
          <p:cNvSpPr>
            <a:spLocks noChangeArrowheads="1"/>
          </p:cNvSpPr>
          <p:nvPr>
            <p:custDataLst>
              <p:tags r:id="rId1"/>
            </p:custDataLst>
          </p:nvPr>
        </p:nvSpPr>
        <p:spPr bwMode="auto">
          <a:xfrm>
            <a:off x="533400" y="990600"/>
            <a:ext cx="83058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533400" indent="-533400">
              <a:buFont typeface="+mj-lt"/>
              <a:buAutoNum type="arabicPeriod"/>
            </a:pPr>
            <a:r>
              <a:rPr lang="en-US" sz="2600" dirty="0">
                <a:latin typeface="+mj-lt"/>
                <a:cs typeface="Arial" charset="0"/>
              </a:rPr>
              <a:t>Identify inputs and outputs</a:t>
            </a:r>
          </a:p>
          <a:p>
            <a:pPr marL="533400" indent="-533400">
              <a:buFont typeface="+mj-lt"/>
              <a:buAutoNum type="arabicPeriod"/>
            </a:pPr>
            <a:r>
              <a:rPr lang="en-US" sz="2600" dirty="0">
                <a:latin typeface="+mj-lt"/>
                <a:cs typeface="Arial" charset="0"/>
              </a:rPr>
              <a:t>Sketch state transition diagram</a:t>
            </a:r>
          </a:p>
          <a:p>
            <a:pPr marL="533400" indent="-533400">
              <a:buFont typeface="+mj-lt"/>
              <a:buAutoNum type="arabicPeriod"/>
            </a:pPr>
            <a:r>
              <a:rPr lang="en-US" sz="2600" dirty="0">
                <a:latin typeface="+mj-lt"/>
                <a:cs typeface="Arial" charset="0"/>
              </a:rPr>
              <a:t>Write state transition table</a:t>
            </a:r>
          </a:p>
          <a:p>
            <a:pPr marL="533400" indent="-533400">
              <a:buFont typeface="+mj-lt"/>
              <a:buAutoNum type="arabicPeriod"/>
            </a:pPr>
            <a:r>
              <a:rPr lang="en-US" sz="2600" dirty="0">
                <a:latin typeface="+mj-lt"/>
                <a:cs typeface="Arial" charset="0"/>
              </a:rPr>
              <a:t>Select state encodings</a:t>
            </a:r>
          </a:p>
          <a:p>
            <a:pPr marL="533400" indent="-533400">
              <a:buFont typeface="+mj-lt"/>
              <a:buAutoNum type="arabicPeriod"/>
            </a:pPr>
            <a:r>
              <a:rPr lang="en-US" sz="2600" dirty="0">
                <a:latin typeface="+mj-lt"/>
                <a:cs typeface="Arial" charset="0"/>
              </a:rPr>
              <a:t>For Moore machine:</a:t>
            </a:r>
          </a:p>
          <a:p>
            <a:pPr marL="914400" lvl="1" indent="-457200">
              <a:buFont typeface="+mj-lt"/>
              <a:buAutoNum type="alphaLcPeriod"/>
            </a:pPr>
            <a:r>
              <a:rPr lang="en-US" sz="2200" dirty="0">
                <a:latin typeface="+mj-lt"/>
                <a:cs typeface="Arial" charset="0"/>
              </a:rPr>
              <a:t>Rewrite state transition table with state encodings</a:t>
            </a:r>
          </a:p>
          <a:p>
            <a:pPr marL="914400" lvl="1" indent="-457200">
              <a:buFont typeface="+mj-lt"/>
              <a:buAutoNum type="alphaLcPeriod"/>
            </a:pPr>
            <a:r>
              <a:rPr lang="en-US" sz="2200" dirty="0">
                <a:latin typeface="+mj-lt"/>
                <a:cs typeface="Arial" charset="0"/>
              </a:rPr>
              <a:t>Write output table</a:t>
            </a:r>
          </a:p>
          <a:p>
            <a:r>
              <a:rPr lang="en-US" sz="2600" dirty="0">
                <a:latin typeface="+mj-lt"/>
                <a:cs typeface="Arial" charset="0"/>
              </a:rPr>
              <a:t>5.    For a Mealy machine:</a:t>
            </a:r>
          </a:p>
          <a:p>
            <a:pPr lvl="1"/>
            <a:r>
              <a:rPr lang="en-US" sz="2200" dirty="0">
                <a:latin typeface="+mj-lt"/>
                <a:cs typeface="Arial" charset="0"/>
              </a:rPr>
              <a:t>	Rewrite combined state transition and output table with state 	encodings</a:t>
            </a:r>
          </a:p>
          <a:p>
            <a:r>
              <a:rPr lang="en-US" sz="2600" dirty="0">
                <a:latin typeface="+mj-lt"/>
                <a:cs typeface="Arial" charset="0"/>
              </a:rPr>
              <a:t>6.    Write Boolean equations for next state and output logic</a:t>
            </a:r>
          </a:p>
          <a:p>
            <a:r>
              <a:rPr lang="en-US" sz="2600" dirty="0">
                <a:latin typeface="+mj-lt"/>
                <a:cs typeface="Arial" charset="0"/>
              </a:rPr>
              <a:t>7.    Sketch the circuit schematic</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FSM Design Procedure</a:t>
            </a:r>
          </a:p>
        </p:txBody>
      </p:sp>
    </p:spTree>
    <p:extLst>
      <p:ext uri="{BB962C8B-B14F-4D97-AF65-F5344CB8AC3E}">
        <p14:creationId xmlns:p14="http://schemas.microsoft.com/office/powerpoint/2010/main" val="2114665085"/>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5" name="Rectangle 3"/>
          <p:cNvSpPr>
            <a:spLocks noChangeArrowheads="1"/>
          </p:cNvSpPr>
          <p:nvPr>
            <p:custDataLst>
              <p:tags r:id="rId1"/>
            </p:custDataLst>
          </p:nvPr>
        </p:nvSpPr>
        <p:spPr bwMode="auto">
          <a:xfrm>
            <a:off x="914400" y="12192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533400" indent="-533400">
              <a:spcBef>
                <a:spcPct val="20000"/>
              </a:spcBef>
              <a:buFontTx/>
              <a:buChar char="•"/>
            </a:pPr>
            <a:r>
              <a:rPr lang="en-US" sz="3200" dirty="0">
                <a:latin typeface="+mj-lt"/>
                <a:cs typeface="Arial" charset="0"/>
              </a:rPr>
              <a:t>Flip-flop samples </a:t>
            </a:r>
            <a:r>
              <a:rPr lang="en-US" sz="3200" i="1" dirty="0">
                <a:latin typeface="+mj-lt"/>
                <a:cs typeface="Arial" charset="0"/>
              </a:rPr>
              <a:t>D</a:t>
            </a:r>
            <a:r>
              <a:rPr lang="en-US" sz="3200" dirty="0">
                <a:latin typeface="+mj-lt"/>
                <a:cs typeface="Arial" charset="0"/>
              </a:rPr>
              <a:t> at clock edge</a:t>
            </a:r>
          </a:p>
          <a:p>
            <a:pPr marL="533400" indent="-533400">
              <a:spcBef>
                <a:spcPct val="20000"/>
              </a:spcBef>
              <a:buFontTx/>
              <a:buChar char="•"/>
            </a:pPr>
            <a:r>
              <a:rPr lang="en-US" sz="3200" i="1" dirty="0">
                <a:latin typeface="+mj-lt"/>
                <a:cs typeface="Arial" charset="0"/>
              </a:rPr>
              <a:t>D</a:t>
            </a:r>
            <a:r>
              <a:rPr lang="en-US" sz="3200" dirty="0">
                <a:latin typeface="+mj-lt"/>
                <a:cs typeface="Arial" charset="0"/>
              </a:rPr>
              <a:t> must be stable when sampled</a:t>
            </a:r>
          </a:p>
          <a:p>
            <a:pPr marL="533400" indent="-533400">
              <a:spcBef>
                <a:spcPct val="20000"/>
              </a:spcBef>
              <a:buFontTx/>
              <a:buChar char="•"/>
            </a:pPr>
            <a:r>
              <a:rPr lang="en-US" sz="3200" dirty="0">
                <a:latin typeface="+mj-lt"/>
                <a:cs typeface="Arial" charset="0"/>
              </a:rPr>
              <a:t>Similar to a photograph, </a:t>
            </a:r>
            <a:r>
              <a:rPr lang="en-US" sz="3200" i="1" dirty="0">
                <a:latin typeface="+mj-lt"/>
                <a:cs typeface="Arial" charset="0"/>
              </a:rPr>
              <a:t>D</a:t>
            </a:r>
            <a:r>
              <a:rPr lang="en-US" sz="3200" dirty="0">
                <a:latin typeface="+mj-lt"/>
                <a:cs typeface="Arial" charset="0"/>
              </a:rPr>
              <a:t> must be stable around clock edge</a:t>
            </a:r>
          </a:p>
          <a:p>
            <a:pPr marL="533400" indent="-533400">
              <a:spcBef>
                <a:spcPct val="20000"/>
              </a:spcBef>
              <a:buFontTx/>
              <a:buChar char="•"/>
            </a:pPr>
            <a:r>
              <a:rPr lang="en-US" sz="3200" dirty="0">
                <a:latin typeface="+mj-lt"/>
                <a:cs typeface="Arial" charset="0"/>
              </a:rPr>
              <a:t>If not, </a:t>
            </a:r>
            <a:r>
              <a:rPr lang="en-US" sz="3200" dirty="0" err="1">
                <a:latin typeface="+mj-lt"/>
                <a:cs typeface="Arial" charset="0"/>
              </a:rPr>
              <a:t>metastability</a:t>
            </a:r>
            <a:r>
              <a:rPr lang="en-US" sz="3200" dirty="0">
                <a:latin typeface="+mj-lt"/>
                <a:cs typeface="Arial" charset="0"/>
              </a:rPr>
              <a:t> can occur</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Timing</a:t>
            </a:r>
          </a:p>
        </p:txBody>
      </p:sp>
    </p:spTree>
    <p:extLst>
      <p:ext uri="{BB962C8B-B14F-4D97-AF65-F5344CB8AC3E}">
        <p14:creationId xmlns:p14="http://schemas.microsoft.com/office/powerpoint/2010/main" val="268278784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4708" name="Object 4"/>
          <p:cNvGraphicFramePr>
            <a:graphicFrameLocks noGrp="1" noChangeAspect="1"/>
          </p:cNvGraphicFramePr>
          <p:nvPr>
            <p:ph sz="half" idx="4294967295"/>
            <p:custDataLst>
              <p:tags r:id="rId2"/>
            </p:custDataLst>
            <p:extLst>
              <p:ext uri="{D42A27DB-BD31-4B8C-83A1-F6EECF244321}">
                <p14:modId xmlns:p14="http://schemas.microsoft.com/office/powerpoint/2010/main" val="2007352683"/>
              </p:ext>
            </p:extLst>
          </p:nvPr>
        </p:nvGraphicFramePr>
        <p:xfrm>
          <a:off x="2209800" y="3124200"/>
          <a:ext cx="4572000" cy="2809875"/>
        </p:xfrm>
        <a:graphic>
          <a:graphicData uri="http://schemas.openxmlformats.org/presentationml/2006/ole">
            <mc:AlternateContent xmlns:mc="http://schemas.openxmlformats.org/markup-compatibility/2006">
              <mc:Choice xmlns:v="urn:schemas-microsoft-com:vml" Requires="v">
                <p:oleObj spid="_x0000_s36866" name="VISIO" r:id="rId6" imgW="1968120" imgH="1209240" progId="Visio.Drawing.6">
                  <p:embed/>
                </p:oleObj>
              </mc:Choice>
              <mc:Fallback>
                <p:oleObj name="VISIO" r:id="rId6" imgW="1968120" imgH="120924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3124200"/>
                        <a:ext cx="4572000" cy="2809875"/>
                      </a:xfrm>
                      <a:prstGeom prst="rect">
                        <a:avLst/>
                      </a:prstGeom>
                    </p:spPr>
                  </p:pic>
                </p:oleObj>
              </mc:Fallback>
            </mc:AlternateContent>
          </a:graphicData>
        </a:graphic>
      </p:graphicFrame>
      <p:sp>
        <p:nvSpPr>
          <p:cNvPr id="1224707" name="Rectangle 3"/>
          <p:cNvSpPr>
            <a:spLocks noChangeArrowheads="1"/>
          </p:cNvSpPr>
          <p:nvPr>
            <p:custDataLst>
              <p:tags r:id="rId3"/>
            </p:custDataLst>
          </p:nvPr>
        </p:nvSpPr>
        <p:spPr bwMode="auto">
          <a:xfrm>
            <a:off x="6096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b="1" dirty="0">
                <a:solidFill>
                  <a:srgbClr val="0070C0"/>
                </a:solidFill>
                <a:latin typeface="+mj-lt"/>
                <a:cs typeface="Arial" charset="0"/>
              </a:rPr>
              <a:t>Setup time: </a:t>
            </a:r>
            <a:r>
              <a:rPr lang="en-US" sz="2400" i="1" dirty="0" err="1">
                <a:latin typeface="+mj-lt"/>
                <a:cs typeface="Arial" charset="0"/>
              </a:rPr>
              <a:t>t</a:t>
            </a:r>
            <a:r>
              <a:rPr lang="en-US" sz="2400" baseline="-25000" dirty="0" err="1">
                <a:latin typeface="+mj-lt"/>
                <a:cs typeface="Arial" charset="0"/>
              </a:rPr>
              <a:t>setup</a:t>
            </a:r>
            <a:r>
              <a:rPr lang="en-US" sz="2400" b="1" dirty="0">
                <a:solidFill>
                  <a:schemeClr val="accent2"/>
                </a:solidFill>
                <a:latin typeface="+mj-lt"/>
                <a:cs typeface="Arial" charset="0"/>
              </a:rPr>
              <a:t> </a:t>
            </a:r>
            <a:r>
              <a:rPr lang="en-US" sz="2400" dirty="0">
                <a:latin typeface="+mj-lt"/>
                <a:cs typeface="Arial" charset="0"/>
              </a:rPr>
              <a:t>= time </a:t>
            </a:r>
            <a:r>
              <a:rPr lang="en-US" sz="2400" i="1" dirty="0">
                <a:latin typeface="+mj-lt"/>
                <a:cs typeface="Arial" charset="0"/>
              </a:rPr>
              <a:t>before</a:t>
            </a:r>
            <a:r>
              <a:rPr lang="en-US" sz="2400" dirty="0">
                <a:latin typeface="+mj-lt"/>
                <a:cs typeface="Arial" charset="0"/>
              </a:rPr>
              <a:t> clock edge data must be stable (i.e. not changing)</a:t>
            </a:r>
          </a:p>
          <a:p>
            <a:pPr marL="342900" indent="-342900">
              <a:spcBef>
                <a:spcPct val="20000"/>
              </a:spcBef>
              <a:buFontTx/>
              <a:buChar char="•"/>
            </a:pPr>
            <a:r>
              <a:rPr lang="en-US" sz="2400" b="1" dirty="0">
                <a:solidFill>
                  <a:srgbClr val="0070C0"/>
                </a:solidFill>
                <a:latin typeface="+mj-lt"/>
                <a:cs typeface="Arial" charset="0"/>
              </a:rPr>
              <a:t>Hold time:</a:t>
            </a:r>
            <a:r>
              <a:rPr lang="en-US" sz="2400" dirty="0">
                <a:solidFill>
                  <a:srgbClr val="0070C0"/>
                </a:solidFill>
                <a:latin typeface="+mj-lt"/>
                <a:cs typeface="Arial" charset="0"/>
              </a:rPr>
              <a:t> </a:t>
            </a:r>
            <a:r>
              <a:rPr lang="en-US" sz="2400" i="1" dirty="0" err="1">
                <a:latin typeface="+mj-lt"/>
                <a:cs typeface="Arial" charset="0"/>
              </a:rPr>
              <a:t>t</a:t>
            </a:r>
            <a:r>
              <a:rPr lang="en-US" sz="2400" baseline="-25000" dirty="0" err="1">
                <a:latin typeface="+mj-lt"/>
                <a:cs typeface="Arial" charset="0"/>
              </a:rPr>
              <a:t>hold</a:t>
            </a:r>
            <a:r>
              <a:rPr lang="en-US" sz="2400" b="1" dirty="0">
                <a:solidFill>
                  <a:schemeClr val="accent2"/>
                </a:solidFill>
                <a:latin typeface="+mj-lt"/>
                <a:cs typeface="Arial" charset="0"/>
              </a:rPr>
              <a:t> </a:t>
            </a:r>
            <a:r>
              <a:rPr lang="en-US" sz="2400" dirty="0">
                <a:latin typeface="+mj-lt"/>
                <a:cs typeface="Arial" charset="0"/>
              </a:rPr>
              <a:t>= time </a:t>
            </a:r>
            <a:r>
              <a:rPr lang="en-US" sz="2400" i="1" dirty="0">
                <a:latin typeface="+mj-lt"/>
                <a:cs typeface="Arial" charset="0"/>
              </a:rPr>
              <a:t>after</a:t>
            </a:r>
            <a:r>
              <a:rPr lang="en-US" sz="2400" dirty="0">
                <a:latin typeface="+mj-lt"/>
                <a:cs typeface="Arial" charset="0"/>
              </a:rPr>
              <a:t> clock edge data must be stable</a:t>
            </a:r>
          </a:p>
          <a:p>
            <a:pPr marL="342900" indent="-342900">
              <a:spcBef>
                <a:spcPct val="20000"/>
              </a:spcBef>
              <a:buFontTx/>
              <a:buChar char="•"/>
            </a:pPr>
            <a:r>
              <a:rPr lang="en-US" sz="2400" b="1" dirty="0">
                <a:solidFill>
                  <a:srgbClr val="0070C0"/>
                </a:solidFill>
                <a:latin typeface="+mj-lt"/>
                <a:cs typeface="Arial" charset="0"/>
              </a:rPr>
              <a:t>Aperture time:</a:t>
            </a:r>
            <a:r>
              <a:rPr lang="en-US" sz="2400" b="1" dirty="0">
                <a:solidFill>
                  <a:schemeClr val="accent1"/>
                </a:solidFill>
                <a:latin typeface="+mj-lt"/>
                <a:cs typeface="Arial" charset="0"/>
              </a:rPr>
              <a:t> </a:t>
            </a:r>
            <a:r>
              <a:rPr lang="en-US" sz="2400" i="1" dirty="0">
                <a:latin typeface="+mj-lt"/>
                <a:cs typeface="Arial" charset="0"/>
              </a:rPr>
              <a:t>t</a:t>
            </a:r>
            <a:r>
              <a:rPr lang="en-US" sz="2400" i="1" baseline="-25000" dirty="0">
                <a:latin typeface="+mj-lt"/>
                <a:cs typeface="Arial" charset="0"/>
              </a:rPr>
              <a:t>a</a:t>
            </a:r>
            <a:r>
              <a:rPr lang="en-US" sz="2400" b="1" dirty="0">
                <a:solidFill>
                  <a:schemeClr val="accent2"/>
                </a:solidFill>
                <a:latin typeface="+mj-lt"/>
                <a:cs typeface="Arial" charset="0"/>
              </a:rPr>
              <a:t> </a:t>
            </a:r>
            <a:r>
              <a:rPr lang="en-US" sz="2400" dirty="0">
                <a:latin typeface="+mj-lt"/>
                <a:cs typeface="Arial" charset="0"/>
              </a:rPr>
              <a:t>= time </a:t>
            </a:r>
            <a:r>
              <a:rPr lang="en-US" sz="2400" i="1" dirty="0">
                <a:latin typeface="+mj-lt"/>
                <a:cs typeface="Arial" charset="0"/>
              </a:rPr>
              <a:t>around</a:t>
            </a:r>
            <a:r>
              <a:rPr lang="en-US" sz="2400" dirty="0">
                <a:latin typeface="+mj-lt"/>
                <a:cs typeface="Arial" charset="0"/>
              </a:rPr>
              <a:t> clock edge data must be stable (</a:t>
            </a:r>
            <a:r>
              <a:rPr lang="en-US" sz="2400" i="1" dirty="0">
                <a:latin typeface="+mj-lt"/>
                <a:cs typeface="Arial" charset="0"/>
              </a:rPr>
              <a:t>t</a:t>
            </a:r>
            <a:r>
              <a:rPr lang="en-US" sz="2400" i="1" baseline="-25000" dirty="0">
                <a:latin typeface="+mj-lt"/>
                <a:cs typeface="Arial" charset="0"/>
              </a:rPr>
              <a:t>a</a:t>
            </a:r>
            <a:r>
              <a:rPr lang="en-US" sz="2400" dirty="0">
                <a:latin typeface="+mj-lt"/>
                <a:cs typeface="Arial" charset="0"/>
              </a:rPr>
              <a:t> = </a:t>
            </a:r>
            <a:r>
              <a:rPr lang="en-US" sz="2400" i="1" dirty="0" err="1">
                <a:latin typeface="+mj-lt"/>
                <a:cs typeface="Arial" charset="0"/>
              </a:rPr>
              <a:t>t</a:t>
            </a:r>
            <a:r>
              <a:rPr lang="en-US" sz="2400" baseline="-25000" dirty="0" err="1">
                <a:latin typeface="+mj-lt"/>
                <a:cs typeface="Arial" charset="0"/>
              </a:rPr>
              <a:t>setup</a:t>
            </a:r>
            <a:r>
              <a:rPr lang="en-US" sz="2400" dirty="0">
                <a:latin typeface="+mj-lt"/>
                <a:cs typeface="Arial" charset="0"/>
              </a:rPr>
              <a:t> +  </a:t>
            </a:r>
            <a:r>
              <a:rPr lang="en-US" sz="2400" i="1" dirty="0" err="1">
                <a:latin typeface="+mj-lt"/>
                <a:cs typeface="Arial" charset="0"/>
              </a:rPr>
              <a:t>t</a:t>
            </a:r>
            <a:r>
              <a:rPr lang="en-US" sz="2400" baseline="-25000" dirty="0" err="1">
                <a:latin typeface="+mj-lt"/>
                <a:cs typeface="Arial" charset="0"/>
              </a:rPr>
              <a:t>hold</a:t>
            </a:r>
            <a:r>
              <a:rPr lang="en-US" sz="2400" dirty="0">
                <a:latin typeface="+mj-lt"/>
                <a:cs typeface="Arial" charset="0"/>
              </a:rPr>
              <a:t>)</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Input Timing Constraints</a:t>
            </a:r>
          </a:p>
        </p:txBody>
      </p:sp>
    </p:spTree>
    <p:extLst>
      <p:ext uri="{BB962C8B-B14F-4D97-AF65-F5344CB8AC3E}">
        <p14:creationId xmlns:p14="http://schemas.microsoft.com/office/powerpoint/2010/main" val="1081099904"/>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5" name="Rectangle 3"/>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Synchronous sequential circuit inputs must be stable during aperture (setup and hold) time around clock edge</a:t>
            </a:r>
          </a:p>
          <a:p>
            <a:pPr marL="342900" indent="-342900">
              <a:spcBef>
                <a:spcPct val="20000"/>
              </a:spcBef>
              <a:buFontTx/>
              <a:buChar char="•"/>
            </a:pPr>
            <a:r>
              <a:rPr lang="en-US" sz="3200" dirty="0">
                <a:latin typeface="+mj-lt"/>
                <a:cs typeface="Arial" charset="0"/>
              </a:rPr>
              <a:t>Specifically, inputs must be stable</a:t>
            </a:r>
          </a:p>
          <a:p>
            <a:pPr marL="742950" lvl="1" indent="-285750">
              <a:spcBef>
                <a:spcPct val="20000"/>
              </a:spcBef>
              <a:buFontTx/>
              <a:buChar char="–"/>
            </a:pPr>
            <a:r>
              <a:rPr lang="en-US" sz="2600" dirty="0">
                <a:latin typeface="+mj-lt"/>
                <a:cs typeface="Arial" charset="0"/>
              </a:rPr>
              <a:t>at least </a:t>
            </a:r>
            <a:r>
              <a:rPr lang="en-US" sz="2600" i="1" dirty="0" err="1">
                <a:latin typeface="+mj-lt"/>
                <a:cs typeface="Arial" charset="0"/>
              </a:rPr>
              <a:t>t</a:t>
            </a:r>
            <a:r>
              <a:rPr lang="en-US" sz="2600" baseline="-25000" dirty="0" err="1">
                <a:latin typeface="+mj-lt"/>
                <a:cs typeface="Arial" charset="0"/>
              </a:rPr>
              <a:t>setup</a:t>
            </a:r>
            <a:r>
              <a:rPr lang="en-US" sz="2600" dirty="0">
                <a:latin typeface="+mj-lt"/>
                <a:cs typeface="Arial" charset="0"/>
              </a:rPr>
              <a:t> before the clock edge</a:t>
            </a:r>
          </a:p>
          <a:p>
            <a:pPr marL="742950" lvl="1" indent="-285750">
              <a:spcBef>
                <a:spcPct val="20000"/>
              </a:spcBef>
              <a:buFontTx/>
              <a:buChar char="–"/>
            </a:pPr>
            <a:r>
              <a:rPr lang="en-US" sz="2600" dirty="0">
                <a:latin typeface="+mj-lt"/>
                <a:cs typeface="Arial" charset="0"/>
              </a:rPr>
              <a:t>at least until </a:t>
            </a:r>
            <a:r>
              <a:rPr lang="en-US" sz="2600" i="1" dirty="0" err="1">
                <a:latin typeface="+mj-lt"/>
                <a:cs typeface="Arial" charset="0"/>
              </a:rPr>
              <a:t>t</a:t>
            </a:r>
            <a:r>
              <a:rPr lang="en-US" sz="2600" baseline="-25000" dirty="0" err="1">
                <a:latin typeface="+mj-lt"/>
                <a:cs typeface="Arial" charset="0"/>
              </a:rPr>
              <a:t>hold</a:t>
            </a:r>
            <a:r>
              <a:rPr lang="en-US" sz="2600" dirty="0">
                <a:latin typeface="+mj-lt"/>
                <a:cs typeface="Arial" charset="0"/>
              </a:rPr>
              <a:t> after the clock edge</a:t>
            </a:r>
          </a:p>
        </p:txBody>
      </p:sp>
      <p:sp>
        <p:nvSpPr>
          <p:cNvPr id="6" name="TextBox 5"/>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Dynamic Discipline</a:t>
            </a:r>
          </a:p>
        </p:txBody>
      </p:sp>
    </p:spTree>
    <p:extLst>
      <p:ext uri="{BB962C8B-B14F-4D97-AF65-F5344CB8AC3E}">
        <p14:creationId xmlns:p14="http://schemas.microsoft.com/office/powerpoint/2010/main" val="226452097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6756" name="Object 4"/>
          <p:cNvGraphicFramePr>
            <a:graphicFrameLocks noGrp="1" noChangeAspect="1"/>
          </p:cNvGraphicFramePr>
          <p:nvPr>
            <p:ph sz="half" idx="4294967295"/>
            <p:custDataLst>
              <p:tags r:id="rId2"/>
            </p:custDataLst>
            <p:extLst>
              <p:ext uri="{D42A27DB-BD31-4B8C-83A1-F6EECF244321}">
                <p14:modId xmlns:p14="http://schemas.microsoft.com/office/powerpoint/2010/main" val="1699424127"/>
              </p:ext>
            </p:extLst>
          </p:nvPr>
        </p:nvGraphicFramePr>
        <p:xfrm>
          <a:off x="2057400" y="3046413"/>
          <a:ext cx="4953000" cy="3354387"/>
        </p:xfrm>
        <a:graphic>
          <a:graphicData uri="http://schemas.openxmlformats.org/presentationml/2006/ole">
            <mc:AlternateContent xmlns:mc="http://schemas.openxmlformats.org/markup-compatibility/2006">
              <mc:Choice xmlns:v="urn:schemas-microsoft-com:vml" Requires="v">
                <p:oleObj spid="_x0000_s37890" name="VISIO" r:id="rId6" imgW="1912680" imgH="1294920" progId="Visio.Drawing.6">
                  <p:embed/>
                </p:oleObj>
              </mc:Choice>
              <mc:Fallback>
                <p:oleObj name="VISIO" r:id="rId6" imgW="1912680" imgH="129492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400" y="3046413"/>
                        <a:ext cx="4953000" cy="3354387"/>
                      </a:xfrm>
                      <a:prstGeom prst="rect">
                        <a:avLst/>
                      </a:prstGeom>
                    </p:spPr>
                  </p:pic>
                </p:oleObj>
              </mc:Fallback>
            </mc:AlternateContent>
          </a:graphicData>
        </a:graphic>
      </p:graphicFrame>
      <p:sp>
        <p:nvSpPr>
          <p:cNvPr id="1226755" name="Rectangle 3"/>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b="1" dirty="0">
                <a:solidFill>
                  <a:srgbClr val="0070C0"/>
                </a:solidFill>
                <a:latin typeface="+mj-lt"/>
                <a:cs typeface="Arial" charset="0"/>
              </a:rPr>
              <a:t>Contamination delay:</a:t>
            </a:r>
            <a:r>
              <a:rPr lang="en-US" sz="2400" dirty="0">
                <a:solidFill>
                  <a:schemeClr val="accent1"/>
                </a:solidFill>
                <a:latin typeface="+mj-lt"/>
                <a:cs typeface="Arial" charset="0"/>
              </a:rPr>
              <a:t> </a:t>
            </a:r>
            <a:r>
              <a:rPr lang="en-US" sz="2400" b="1" i="1" dirty="0" err="1">
                <a:latin typeface="+mj-lt"/>
                <a:cs typeface="Arial" charset="0"/>
              </a:rPr>
              <a:t>t</a:t>
            </a:r>
            <a:r>
              <a:rPr lang="en-US" sz="2400" b="1" i="1" baseline="-25000" dirty="0" err="1">
                <a:latin typeface="+mj-lt"/>
                <a:cs typeface="Arial" charset="0"/>
              </a:rPr>
              <a:t>ccq</a:t>
            </a:r>
            <a:r>
              <a:rPr lang="en-US" sz="2400" dirty="0">
                <a:latin typeface="+mj-lt"/>
                <a:cs typeface="Arial" charset="0"/>
              </a:rPr>
              <a:t> = time after clock edge that </a:t>
            </a:r>
            <a:r>
              <a:rPr lang="en-US" sz="2400" i="1" dirty="0">
                <a:latin typeface="+mj-lt"/>
                <a:cs typeface="Arial" charset="0"/>
              </a:rPr>
              <a:t>Q</a:t>
            </a:r>
            <a:r>
              <a:rPr lang="en-US" sz="2400" dirty="0">
                <a:latin typeface="+mj-lt"/>
                <a:cs typeface="Arial" charset="0"/>
              </a:rPr>
              <a:t> might be unstable (i.e., start changing)</a:t>
            </a:r>
          </a:p>
          <a:p>
            <a:pPr marL="342900" indent="-342900">
              <a:spcBef>
                <a:spcPct val="20000"/>
              </a:spcBef>
              <a:buFontTx/>
              <a:buChar char="•"/>
            </a:pPr>
            <a:r>
              <a:rPr lang="en-US" sz="2400" b="1" dirty="0">
                <a:solidFill>
                  <a:srgbClr val="0070C0"/>
                </a:solidFill>
                <a:latin typeface="+mj-lt"/>
                <a:cs typeface="Arial" charset="0"/>
              </a:rPr>
              <a:t>Propagation delay:</a:t>
            </a:r>
            <a:r>
              <a:rPr lang="en-US" sz="2400" dirty="0">
                <a:solidFill>
                  <a:schemeClr val="accent1"/>
                </a:solidFill>
                <a:latin typeface="+mj-lt"/>
                <a:cs typeface="Arial" charset="0"/>
              </a:rPr>
              <a:t> </a:t>
            </a:r>
            <a:r>
              <a:rPr lang="en-US" sz="2400" b="1" i="1" dirty="0" err="1">
                <a:latin typeface="+mj-lt"/>
                <a:cs typeface="Arial" charset="0"/>
              </a:rPr>
              <a:t>t</a:t>
            </a:r>
            <a:r>
              <a:rPr lang="en-US" sz="2400" b="1" i="1" baseline="-25000" dirty="0" err="1">
                <a:latin typeface="+mj-lt"/>
                <a:cs typeface="Arial" charset="0"/>
              </a:rPr>
              <a:t>pcq</a:t>
            </a:r>
            <a:r>
              <a:rPr lang="en-US" sz="2400" dirty="0">
                <a:latin typeface="+mj-lt"/>
                <a:cs typeface="Arial" charset="0"/>
              </a:rPr>
              <a:t> = time after clock edge that the output </a:t>
            </a:r>
            <a:r>
              <a:rPr lang="en-US" sz="2400" i="1" dirty="0">
                <a:latin typeface="+mj-lt"/>
                <a:cs typeface="Arial" charset="0"/>
              </a:rPr>
              <a:t>Q</a:t>
            </a:r>
            <a:r>
              <a:rPr lang="en-US" sz="2400" dirty="0">
                <a:latin typeface="+mj-lt"/>
                <a:cs typeface="Arial" charset="0"/>
              </a:rPr>
              <a:t> is guaranteed to be stable (i.e., to stop changing)</a:t>
            </a:r>
          </a:p>
        </p:txBody>
      </p:sp>
      <p:sp>
        <p:nvSpPr>
          <p:cNvPr id="7" name="TextBox 6"/>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Output Timing Parameters</a:t>
            </a:r>
          </a:p>
        </p:txBody>
      </p:sp>
    </p:spTree>
    <p:extLst>
      <p:ext uri="{BB962C8B-B14F-4D97-AF65-F5344CB8AC3E}">
        <p14:creationId xmlns:p14="http://schemas.microsoft.com/office/powerpoint/2010/main" val="31183032"/>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6" name="Rectangle 6"/>
          <p:cNvSpPr>
            <a:spLocks noGrp="1" noChangeArrowheads="1"/>
          </p:cNvSpPr>
          <p:nvPr>
            <p:ph sz="half" idx="4294967295"/>
            <p:custDataLst>
              <p:tags r:id="rId2"/>
            </p:custDataLst>
          </p:nvPr>
        </p:nvSpPr>
        <p:spPr>
          <a:xfrm>
            <a:off x="609600" y="1066800"/>
            <a:ext cx="8077200" cy="4953000"/>
          </a:xfrm>
        </p:spPr>
        <p:txBody>
          <a:bodyPr>
            <a:normAutofit/>
          </a:bodyPr>
          <a:lstStyle/>
          <a:p>
            <a:r>
              <a:rPr lang="en-US" dirty="0"/>
              <a:t>The delay between registers has a </a:t>
            </a:r>
            <a:r>
              <a:rPr lang="en-US" b="1" dirty="0"/>
              <a:t>minimum</a:t>
            </a:r>
            <a:r>
              <a:rPr lang="en-US" dirty="0"/>
              <a:t> and </a:t>
            </a:r>
            <a:r>
              <a:rPr lang="en-US" b="1" dirty="0"/>
              <a:t>maximum</a:t>
            </a:r>
            <a:r>
              <a:rPr lang="en-US" dirty="0"/>
              <a:t> delay, dependent on the delays of the circuit elements</a:t>
            </a:r>
          </a:p>
        </p:txBody>
      </p:sp>
      <p:graphicFrame>
        <p:nvGraphicFramePr>
          <p:cNvPr id="1034247" name="Object 7"/>
          <p:cNvGraphicFramePr>
            <a:graphicFrameLocks noGrp="1" noChangeAspect="1"/>
          </p:cNvGraphicFramePr>
          <p:nvPr>
            <p:ph sz="half" idx="4294967295"/>
            <p:custDataLst>
              <p:tags r:id="rId3"/>
            </p:custDataLst>
            <p:extLst>
              <p:ext uri="{D42A27DB-BD31-4B8C-83A1-F6EECF244321}">
                <p14:modId xmlns:p14="http://schemas.microsoft.com/office/powerpoint/2010/main" val="1391017476"/>
              </p:ext>
            </p:extLst>
          </p:nvPr>
        </p:nvGraphicFramePr>
        <p:xfrm>
          <a:off x="2546322" y="2514600"/>
          <a:ext cx="3854478" cy="3384786"/>
        </p:xfrm>
        <a:graphic>
          <a:graphicData uri="http://schemas.openxmlformats.org/presentationml/2006/ole">
            <mc:AlternateContent xmlns:mc="http://schemas.openxmlformats.org/markup-compatibility/2006">
              <mc:Choice xmlns:v="urn:schemas-microsoft-com:vml" Requires="v">
                <p:oleObj spid="_x0000_s38914" name="VISIO" r:id="rId8" imgW="1952280" imgH="1714680" progId="Visio.Drawing.6">
                  <p:embed/>
                </p:oleObj>
              </mc:Choice>
              <mc:Fallback>
                <p:oleObj name="VISIO" r:id="rId8" imgW="1952280" imgH="171468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6322" y="2514600"/>
                        <a:ext cx="3854478" cy="3384786"/>
                      </a:xfrm>
                      <a:prstGeom prst="rect">
                        <a:avLst/>
                      </a:prstGeom>
                      <a:noFill/>
                      <a:ln>
                        <a:noFill/>
                      </a:ln>
                      <a:effectLst/>
                    </p:spPr>
                  </p:pic>
                </p:oleObj>
              </mc:Fallback>
            </mc:AlternateContent>
          </a:graphicData>
        </a:graphic>
      </p:graphicFrame>
      <p:sp>
        <p:nvSpPr>
          <p:cNvPr id="1034242"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34244" name="Rectangle 4"/>
          <p:cNvSpPr>
            <a:spLocks noChangeArrowheads="1"/>
          </p:cNvSpPr>
          <p:nvPr>
            <p:custDataLst>
              <p:tags r:id="rId5"/>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Dynamic Discipline</a:t>
            </a:r>
          </a:p>
        </p:txBody>
      </p:sp>
      <p:sp>
        <p:nvSpPr>
          <p:cNvPr id="2" name="Rectangle: Rounded Corners 1">
            <a:extLst>
              <a:ext uri="{FF2B5EF4-FFF2-40B4-BE49-F238E27FC236}">
                <a16:creationId xmlns:a16="http://schemas.microsoft.com/office/drawing/2014/main" id="{39BC0174-8913-4F59-B9F5-6160AFE52E0A}"/>
              </a:ext>
            </a:extLst>
          </p:cNvPr>
          <p:cNvSpPr/>
          <p:nvPr/>
        </p:nvSpPr>
        <p:spPr>
          <a:xfrm>
            <a:off x="3886200" y="2971800"/>
            <a:ext cx="1524000" cy="457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261110"/>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04" name="Rectangle 4"/>
          <p:cNvSpPr>
            <a:spLocks noGrp="1" noChangeArrowheads="1"/>
          </p:cNvSpPr>
          <p:nvPr>
            <p:ph sz="half" idx="4294967295"/>
            <p:custDataLst>
              <p:tags r:id="rId2"/>
            </p:custDataLst>
          </p:nvPr>
        </p:nvSpPr>
        <p:spPr>
          <a:xfrm>
            <a:off x="533400" y="1066800"/>
            <a:ext cx="7543800" cy="4953000"/>
          </a:xfrm>
        </p:spPr>
        <p:txBody>
          <a:bodyPr>
            <a:normAutofit/>
          </a:bodyPr>
          <a:lstStyle/>
          <a:p>
            <a:r>
              <a:rPr lang="en-US" sz="2600" dirty="0"/>
              <a:t>Depends on the </a:t>
            </a:r>
            <a:r>
              <a:rPr lang="en-US" sz="2600" b="1" dirty="0">
                <a:solidFill>
                  <a:srgbClr val="0070C0"/>
                </a:solidFill>
              </a:rPr>
              <a:t>maximum</a:t>
            </a:r>
            <a:r>
              <a:rPr lang="en-US" sz="2600" dirty="0">
                <a:solidFill>
                  <a:srgbClr val="0070C0"/>
                </a:solidFill>
              </a:rPr>
              <a:t> </a:t>
            </a:r>
            <a:r>
              <a:rPr lang="en-US" sz="2600" dirty="0"/>
              <a:t>delay from register R1 through combinational logic to R2</a:t>
            </a:r>
          </a:p>
          <a:p>
            <a:r>
              <a:rPr lang="en-US" sz="2600" dirty="0"/>
              <a:t>The input to register R2 must be stable at least </a:t>
            </a:r>
            <a:r>
              <a:rPr lang="en-US" sz="2600" i="1" dirty="0" err="1"/>
              <a:t>t</a:t>
            </a:r>
            <a:r>
              <a:rPr lang="en-US" sz="2600" baseline="-25000" dirty="0" err="1"/>
              <a:t>setup</a:t>
            </a:r>
            <a:r>
              <a:rPr lang="en-US" sz="2600" dirty="0"/>
              <a:t> before clock edge</a:t>
            </a:r>
          </a:p>
        </p:txBody>
      </p:sp>
      <p:graphicFrame>
        <p:nvGraphicFramePr>
          <p:cNvPr id="1177606" name="Object 6"/>
          <p:cNvGraphicFramePr>
            <a:graphicFrameLocks noGrp="1" noChangeAspect="1"/>
          </p:cNvGraphicFramePr>
          <p:nvPr>
            <p:ph sz="half" idx="4294967295"/>
            <p:custDataLst>
              <p:tags r:id="rId3"/>
            </p:custDataLst>
            <p:extLst>
              <p:ext uri="{D42A27DB-BD31-4B8C-83A1-F6EECF244321}">
                <p14:modId xmlns:p14="http://schemas.microsoft.com/office/powerpoint/2010/main" val="1568354263"/>
              </p:ext>
            </p:extLst>
          </p:nvPr>
        </p:nvGraphicFramePr>
        <p:xfrm>
          <a:off x="1160585" y="2667000"/>
          <a:ext cx="3844238" cy="3248025"/>
        </p:xfrm>
        <a:graphic>
          <a:graphicData uri="http://schemas.openxmlformats.org/presentationml/2006/ole">
            <mc:AlternateContent xmlns:mc="http://schemas.openxmlformats.org/markup-compatibility/2006">
              <mc:Choice xmlns:v="urn:schemas-microsoft-com:vml" Requires="v">
                <p:oleObj spid="_x0000_s39938" name="VISIO" r:id="rId10" imgW="1952280" imgH="1649880" progId="Visio.Drawing.6">
                  <p:embed/>
                </p:oleObj>
              </mc:Choice>
              <mc:Fallback>
                <p:oleObj name="VISIO" r:id="rId10" imgW="1952280" imgH="164988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60585" y="2667000"/>
                        <a:ext cx="3844238" cy="3248025"/>
                      </a:xfrm>
                      <a:prstGeom prst="rect">
                        <a:avLst/>
                      </a:prstGeom>
                      <a:noFill/>
                      <a:ln>
                        <a:noFill/>
                      </a:ln>
                      <a:effectLst/>
                    </p:spPr>
                  </p:pic>
                </p:oleObj>
              </mc:Fallback>
            </mc:AlternateContent>
          </a:graphicData>
        </a:graphic>
      </p:graphicFrame>
      <p:sp>
        <p:nvSpPr>
          <p:cNvPr id="1177602"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77605" name="Rectangle 5"/>
          <p:cNvSpPr>
            <a:spLocks noChangeArrowheads="1"/>
          </p:cNvSpPr>
          <p:nvPr>
            <p:custDataLst>
              <p:tags r:id="rId5"/>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77607" name="Rectangle 7"/>
          <p:cNvSpPr>
            <a:spLocks noChangeArrowheads="1"/>
          </p:cNvSpPr>
          <p:nvPr>
            <p:custDataLst>
              <p:tags r:id="rId6"/>
            </p:custDataLst>
          </p:nvPr>
        </p:nvSpPr>
        <p:spPr bwMode="auto">
          <a:xfrm>
            <a:off x="5562600" y="3429000"/>
            <a:ext cx="3352800" cy="137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pcq</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pd</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t</a:t>
            </a:r>
            <a:r>
              <a:rPr lang="en-US" sz="2800" b="1" baseline="-25000" dirty="0" err="1">
                <a:solidFill>
                  <a:srgbClr val="0070C0"/>
                </a:solidFill>
                <a:latin typeface="Times New Roman" pitchFamily="18" charset="0"/>
                <a:cs typeface="Arial" charset="0"/>
              </a:rPr>
              <a:t>setup</a:t>
            </a:r>
            <a:endParaRPr lang="en-US" sz="2800" b="1" baseline="-25000" dirty="0">
              <a:solidFill>
                <a:srgbClr val="0070C0"/>
              </a:solidFill>
              <a:latin typeface="Times New Roman" pitchFamily="18" charset="0"/>
              <a:cs typeface="Arial" charset="0"/>
            </a:endParaRPr>
          </a:p>
          <a:p>
            <a:pPr marL="342900" indent="-342900">
              <a:spcBef>
                <a:spcPct val="20000"/>
              </a:spcBef>
            </a:pP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pd</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pcq</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t</a:t>
            </a:r>
            <a:r>
              <a:rPr lang="en-US" sz="2800" b="1" baseline="-25000" dirty="0" err="1">
                <a:solidFill>
                  <a:srgbClr val="0070C0"/>
                </a:solidFill>
                <a:latin typeface="Times New Roman" pitchFamily="18" charset="0"/>
                <a:cs typeface="Arial" charset="0"/>
              </a:rPr>
              <a:t>setup</a:t>
            </a:r>
            <a:r>
              <a:rPr lang="en-US" sz="2800" b="1" dirty="0">
                <a:solidFill>
                  <a:srgbClr val="0070C0"/>
                </a:solidFill>
                <a:latin typeface="Times New Roman" pitchFamily="18" charset="0"/>
                <a:cs typeface="Arial" charset="0"/>
              </a:rPr>
              <a:t>)</a:t>
            </a:r>
            <a:endParaRPr lang="en-US" sz="2800" b="1" baseline="-25000" dirty="0">
              <a:solidFill>
                <a:srgbClr val="0070C0"/>
              </a:solidFill>
              <a:latin typeface="Times New Roman" pitchFamily="18" charset="0"/>
              <a:cs typeface="Times New Roman" pitchFamily="18" charset="0"/>
            </a:endParaRPr>
          </a:p>
          <a:p>
            <a:pPr marL="342900" indent="-342900">
              <a:spcBef>
                <a:spcPct val="20000"/>
              </a:spcBef>
            </a:pPr>
            <a:endParaRPr lang="en-US" sz="2800" b="1" baseline="-25000" dirty="0">
              <a:solidFill>
                <a:srgbClr val="0070C0"/>
              </a:solidFill>
              <a:latin typeface="Times New Roman" pitchFamily="18" charset="0"/>
              <a:cs typeface="Times New Roman" pitchFamily="18" charset="0"/>
            </a:endParaRPr>
          </a:p>
        </p:txBody>
      </p:sp>
      <p:sp>
        <p:nvSpPr>
          <p:cNvPr id="1177608" name="Rectangle 8"/>
          <p:cNvSpPr>
            <a:spLocks noChangeArrowheads="1"/>
          </p:cNvSpPr>
          <p:nvPr>
            <p:custDataLst>
              <p:tags r:id="rId7"/>
            </p:custDataLst>
          </p:nvPr>
        </p:nvSpPr>
        <p:spPr bwMode="auto">
          <a:xfrm>
            <a:off x="5486400" y="3352800"/>
            <a:ext cx="3352800" cy="1371600"/>
          </a:xfrm>
          <a:prstGeom prst="rect">
            <a:avLst/>
          </a:prstGeom>
          <a:noFill/>
          <a:ln w="19050">
            <a:solidFill>
              <a:schemeClr val="accent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0070C0"/>
              </a:solidFill>
            </a:endParaRPr>
          </a:p>
        </p:txBody>
      </p:sp>
      <p:sp>
        <p:nvSpPr>
          <p:cNvPr id="11" name="TextBox 10"/>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Setup Time Constraint</a:t>
            </a:r>
          </a:p>
        </p:txBody>
      </p:sp>
      <p:sp>
        <p:nvSpPr>
          <p:cNvPr id="2" name="Rectangle 1"/>
          <p:cNvSpPr/>
          <p:nvPr/>
        </p:nvSpPr>
        <p:spPr>
          <a:xfrm>
            <a:off x="5194214" y="5333999"/>
            <a:ext cx="3797386" cy="461665"/>
          </a:xfrm>
          <a:prstGeom prst="rect">
            <a:avLst/>
          </a:prstGeom>
        </p:spPr>
        <p:txBody>
          <a:bodyPr wrap="none">
            <a:spAutoFit/>
          </a:bodyPr>
          <a:lstStyle/>
          <a:p>
            <a:r>
              <a:rPr lang="en-US" sz="2400" dirty="0"/>
              <a:t> </a:t>
            </a:r>
            <a:r>
              <a:rPr lang="en-US" sz="2000" b="1" dirty="0">
                <a:solidFill>
                  <a:srgbClr val="0070C0"/>
                </a:solidFill>
                <a:latin typeface="Times New Roman" pitchFamily="18" charset="0"/>
                <a:cs typeface="Arial" charset="0"/>
              </a:rPr>
              <a:t>(</a:t>
            </a:r>
            <a:r>
              <a:rPr lang="en-US" sz="2000" b="1" i="1" dirty="0" err="1">
                <a:solidFill>
                  <a:srgbClr val="0070C0"/>
                </a:solidFill>
                <a:latin typeface="Times New Roman" pitchFamily="18" charset="0"/>
                <a:cs typeface="Arial" charset="0"/>
              </a:rPr>
              <a:t>t</a:t>
            </a:r>
            <a:r>
              <a:rPr lang="en-US" sz="2000" b="1" i="1" baseline="-25000" dirty="0" err="1">
                <a:solidFill>
                  <a:srgbClr val="0070C0"/>
                </a:solidFill>
                <a:latin typeface="Times New Roman" pitchFamily="18" charset="0"/>
                <a:cs typeface="Arial" charset="0"/>
              </a:rPr>
              <a:t>pcq</a:t>
            </a:r>
            <a:r>
              <a:rPr lang="en-US" sz="2000" b="1" dirty="0">
                <a:solidFill>
                  <a:srgbClr val="0070C0"/>
                </a:solidFill>
                <a:latin typeface="Times New Roman" pitchFamily="18" charset="0"/>
                <a:cs typeface="Arial" charset="0"/>
              </a:rPr>
              <a:t> + </a:t>
            </a:r>
            <a:r>
              <a:rPr lang="en-US" sz="2000" b="1" i="1" dirty="0" err="1">
                <a:solidFill>
                  <a:srgbClr val="0070C0"/>
                </a:solidFill>
                <a:latin typeface="Times New Roman" pitchFamily="18" charset="0"/>
                <a:cs typeface="Arial" charset="0"/>
              </a:rPr>
              <a:t>t</a:t>
            </a:r>
            <a:r>
              <a:rPr lang="en-US" sz="2000" b="1" baseline="-25000" dirty="0" err="1">
                <a:solidFill>
                  <a:srgbClr val="0070C0"/>
                </a:solidFill>
                <a:latin typeface="Times New Roman" pitchFamily="18" charset="0"/>
                <a:cs typeface="Arial" charset="0"/>
              </a:rPr>
              <a:t>setup</a:t>
            </a:r>
            <a:r>
              <a:rPr lang="en-US" sz="2000" b="1" dirty="0">
                <a:solidFill>
                  <a:srgbClr val="0070C0"/>
                </a:solidFill>
                <a:latin typeface="Times New Roman" pitchFamily="18" charset="0"/>
                <a:cs typeface="Arial" charset="0"/>
              </a:rPr>
              <a:t>)</a:t>
            </a:r>
            <a:r>
              <a:rPr lang="en-US" sz="2000" b="1" dirty="0">
                <a:solidFill>
                  <a:srgbClr val="0070C0"/>
                </a:solidFill>
              </a:rPr>
              <a:t>: </a:t>
            </a:r>
            <a:r>
              <a:rPr lang="en-US" sz="2000" i="1" dirty="0"/>
              <a:t>sequencing overhead</a:t>
            </a:r>
            <a:endParaRPr lang="en-US" i="1" baseline="-25000" dirty="0">
              <a:solidFill>
                <a:schemeClr val="accent1"/>
              </a:solidFill>
              <a:latin typeface="Times New Roman" pitchFamily="18" charset="0"/>
              <a:cs typeface="Times New Roman" pitchFamily="18" charset="0"/>
            </a:endParaRPr>
          </a:p>
        </p:txBody>
      </p:sp>
      <p:sp>
        <p:nvSpPr>
          <p:cNvPr id="10" name="Rectangle 9"/>
          <p:cNvSpPr/>
          <p:nvPr/>
        </p:nvSpPr>
        <p:spPr>
          <a:xfrm>
            <a:off x="6324600" y="3581400"/>
            <a:ext cx="24384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6324600" y="4038600"/>
            <a:ext cx="24384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AD8BB27-3A85-4616-B15C-B1224B92715D}"/>
              </a:ext>
            </a:extLst>
          </p:cNvPr>
          <p:cNvSpPr/>
          <p:nvPr/>
        </p:nvSpPr>
        <p:spPr>
          <a:xfrm>
            <a:off x="2514600" y="3124200"/>
            <a:ext cx="1524000" cy="457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6370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1700" name="Rectangle 4"/>
          <p:cNvSpPr>
            <a:spLocks noGrp="1" noChangeArrowheads="1"/>
          </p:cNvSpPr>
          <p:nvPr>
            <p:ph sz="half" idx="4294967295"/>
            <p:custDataLst>
              <p:tags r:id="rId2"/>
            </p:custDataLst>
          </p:nvPr>
        </p:nvSpPr>
        <p:spPr>
          <a:xfrm>
            <a:off x="457200" y="990600"/>
            <a:ext cx="7543800" cy="4953000"/>
          </a:xfrm>
        </p:spPr>
        <p:txBody>
          <a:bodyPr>
            <a:normAutofit/>
          </a:bodyPr>
          <a:lstStyle/>
          <a:p>
            <a:r>
              <a:rPr lang="en-US" sz="2600" dirty="0"/>
              <a:t>Depends on the </a:t>
            </a:r>
            <a:r>
              <a:rPr lang="en-US" sz="2600" b="1" dirty="0">
                <a:solidFill>
                  <a:srgbClr val="0070C0"/>
                </a:solidFill>
              </a:rPr>
              <a:t>minimum</a:t>
            </a:r>
            <a:r>
              <a:rPr lang="en-US" sz="2600" dirty="0">
                <a:solidFill>
                  <a:srgbClr val="0070C0"/>
                </a:solidFill>
              </a:rPr>
              <a:t> </a:t>
            </a:r>
            <a:r>
              <a:rPr lang="en-US" sz="2600" dirty="0"/>
              <a:t>delay from register R1 through the combinational logic to R2</a:t>
            </a:r>
          </a:p>
          <a:p>
            <a:r>
              <a:rPr lang="en-US" sz="2600" dirty="0"/>
              <a:t>The input to register R2 must be stable for at least </a:t>
            </a:r>
            <a:r>
              <a:rPr lang="en-US" sz="2600" i="1" dirty="0" err="1"/>
              <a:t>t</a:t>
            </a:r>
            <a:r>
              <a:rPr lang="en-US" sz="2600" baseline="-25000" dirty="0" err="1"/>
              <a:t>hold</a:t>
            </a:r>
            <a:r>
              <a:rPr lang="en-US" sz="2600" dirty="0"/>
              <a:t> after the clock edge</a:t>
            </a:r>
          </a:p>
        </p:txBody>
      </p:sp>
      <p:graphicFrame>
        <p:nvGraphicFramePr>
          <p:cNvPr id="1181704" name="Object 8"/>
          <p:cNvGraphicFramePr>
            <a:graphicFrameLocks noGrp="1" noChangeAspect="1"/>
          </p:cNvGraphicFramePr>
          <p:nvPr>
            <p:ph sz="half" idx="4294967295"/>
            <p:custDataLst>
              <p:tags r:id="rId3"/>
            </p:custDataLst>
            <p:extLst>
              <p:ext uri="{D42A27DB-BD31-4B8C-83A1-F6EECF244321}">
                <p14:modId xmlns:p14="http://schemas.microsoft.com/office/powerpoint/2010/main" val="758360967"/>
              </p:ext>
            </p:extLst>
          </p:nvPr>
        </p:nvGraphicFramePr>
        <p:xfrm>
          <a:off x="1536150" y="2584450"/>
          <a:ext cx="3493050" cy="3359150"/>
        </p:xfrm>
        <a:graphic>
          <a:graphicData uri="http://schemas.openxmlformats.org/presentationml/2006/ole">
            <mc:AlternateContent xmlns:mc="http://schemas.openxmlformats.org/markup-compatibility/2006">
              <mc:Choice xmlns:v="urn:schemas-microsoft-com:vml" Requires="v">
                <p:oleObj spid="_x0000_s40962" name="VISIO" r:id="rId10" imgW="1952280" imgH="1878480" progId="Visio.Drawing.6">
                  <p:embed/>
                </p:oleObj>
              </mc:Choice>
              <mc:Fallback>
                <p:oleObj name="VISIO" r:id="rId10" imgW="1952280" imgH="187848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36150" y="2584450"/>
                        <a:ext cx="3493050" cy="3359150"/>
                      </a:xfrm>
                      <a:prstGeom prst="rect">
                        <a:avLst/>
                      </a:prstGeom>
                    </p:spPr>
                  </p:pic>
                </p:oleObj>
              </mc:Fallback>
            </mc:AlternateContent>
          </a:graphicData>
        </a:graphic>
      </p:graphicFrame>
      <p:sp>
        <p:nvSpPr>
          <p:cNvPr id="1181698"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81701" name="Rectangle 5"/>
          <p:cNvSpPr>
            <a:spLocks noChangeArrowheads="1"/>
          </p:cNvSpPr>
          <p:nvPr>
            <p:custDataLst>
              <p:tags r:id="rId5"/>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81702" name="Rectangle 6"/>
          <p:cNvSpPr>
            <a:spLocks noChangeArrowheads="1"/>
          </p:cNvSpPr>
          <p:nvPr>
            <p:custDataLst>
              <p:tags r:id="rId6"/>
            </p:custDataLst>
          </p:nvPr>
        </p:nvSpPr>
        <p:spPr bwMode="auto">
          <a:xfrm>
            <a:off x="6172200" y="3429000"/>
            <a:ext cx="2286000" cy="990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800" b="1" i="1" dirty="0" err="1">
                <a:solidFill>
                  <a:srgbClr val="0070C0"/>
                </a:solidFill>
                <a:latin typeface="Times New Roman" pitchFamily="18" charset="0"/>
                <a:cs typeface="Arial" charset="0"/>
              </a:rPr>
              <a:t>t</a:t>
            </a:r>
            <a:r>
              <a:rPr lang="en-US" sz="2800" b="1" baseline="-25000" dirty="0" err="1">
                <a:solidFill>
                  <a:srgbClr val="0070C0"/>
                </a:solidFill>
                <a:latin typeface="Times New Roman" pitchFamily="18" charset="0"/>
                <a:cs typeface="Arial" charset="0"/>
              </a:rPr>
              <a:t>hold</a:t>
            </a:r>
            <a:r>
              <a:rPr lang="en-US" sz="2800" b="1" dirty="0">
                <a:solidFill>
                  <a:srgbClr val="0070C0"/>
                </a:solidFill>
                <a:latin typeface="Times New Roman" pitchFamily="18" charset="0"/>
                <a:cs typeface="Arial" charset="0"/>
              </a:rPr>
              <a:t> &lt;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ccq</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cd</a:t>
            </a:r>
            <a:endParaRPr lang="en-US" sz="2800" b="1" baseline="-25000" dirty="0">
              <a:solidFill>
                <a:srgbClr val="0070C0"/>
              </a:solidFill>
              <a:latin typeface="Times New Roman" pitchFamily="18" charset="0"/>
              <a:cs typeface="Arial" charset="0"/>
            </a:endParaRPr>
          </a:p>
          <a:p>
            <a:pPr marL="342900" indent="-342900">
              <a:spcBef>
                <a:spcPct val="20000"/>
              </a:spcBef>
            </a:pP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cd</a:t>
            </a:r>
            <a:r>
              <a:rPr lang="en-US" sz="2800" b="1" dirty="0">
                <a:solidFill>
                  <a:srgbClr val="0070C0"/>
                </a:solidFill>
                <a:latin typeface="Times New Roman" pitchFamily="18" charset="0"/>
                <a:cs typeface="Arial" charset="0"/>
              </a:rPr>
              <a:t> &gt; </a:t>
            </a:r>
            <a:r>
              <a:rPr lang="en-US" sz="2800" b="1" i="1" dirty="0" err="1">
                <a:solidFill>
                  <a:srgbClr val="0070C0"/>
                </a:solidFill>
                <a:latin typeface="Times New Roman" pitchFamily="18" charset="0"/>
                <a:cs typeface="Arial" charset="0"/>
              </a:rPr>
              <a:t>t</a:t>
            </a:r>
            <a:r>
              <a:rPr lang="en-US" sz="2800" b="1" baseline="-25000" dirty="0" err="1">
                <a:solidFill>
                  <a:srgbClr val="0070C0"/>
                </a:solidFill>
                <a:latin typeface="Times New Roman" pitchFamily="18" charset="0"/>
                <a:cs typeface="Arial" charset="0"/>
              </a:rPr>
              <a:t>hold</a:t>
            </a:r>
            <a:r>
              <a:rPr lang="en-US" sz="2800" b="1" baseline="-25000"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ccq</a:t>
            </a:r>
            <a:r>
              <a:rPr lang="en-US" sz="2800" b="1" dirty="0">
                <a:solidFill>
                  <a:srgbClr val="0070C0"/>
                </a:solidFill>
                <a:latin typeface="Times New Roman" pitchFamily="18" charset="0"/>
                <a:cs typeface="Arial" charset="0"/>
              </a:rPr>
              <a:t> </a:t>
            </a:r>
          </a:p>
        </p:txBody>
      </p:sp>
      <p:sp>
        <p:nvSpPr>
          <p:cNvPr id="1181703" name="Rectangle 7"/>
          <p:cNvSpPr>
            <a:spLocks noChangeArrowheads="1"/>
          </p:cNvSpPr>
          <p:nvPr>
            <p:custDataLst>
              <p:tags r:id="rId7"/>
            </p:custDataLst>
          </p:nvPr>
        </p:nvSpPr>
        <p:spPr bwMode="auto">
          <a:xfrm>
            <a:off x="5943600" y="3429000"/>
            <a:ext cx="2590800" cy="1219200"/>
          </a:xfrm>
          <a:prstGeom prst="rect">
            <a:avLst/>
          </a:prstGeom>
          <a:noFill/>
          <a:ln w="19050">
            <a:solidFill>
              <a:schemeClr val="accent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0070C0"/>
              </a:solidFill>
            </a:endParaRPr>
          </a:p>
        </p:txBody>
      </p:sp>
      <p:sp>
        <p:nvSpPr>
          <p:cNvPr id="11" name="TextBox 10"/>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Hold Time Constraint</a:t>
            </a:r>
          </a:p>
        </p:txBody>
      </p:sp>
      <p:sp>
        <p:nvSpPr>
          <p:cNvPr id="9" name="Rectangle 8"/>
          <p:cNvSpPr/>
          <p:nvPr/>
        </p:nvSpPr>
        <p:spPr>
          <a:xfrm>
            <a:off x="7086600" y="3505200"/>
            <a:ext cx="1371600" cy="53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6934200" y="4038600"/>
            <a:ext cx="1371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68600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3748" name="Object 4"/>
          <p:cNvGraphicFramePr>
            <a:graphicFrameLocks noGrp="1" noChangeAspect="1"/>
          </p:cNvGraphicFramePr>
          <p:nvPr>
            <p:ph sz="half" idx="4294967295"/>
            <p:custDataLst>
              <p:tags r:id="rId2"/>
            </p:custDataLst>
            <p:extLst>
              <p:ext uri="{D42A27DB-BD31-4B8C-83A1-F6EECF244321}">
                <p14:modId xmlns:p14="http://schemas.microsoft.com/office/powerpoint/2010/main" val="314063413"/>
              </p:ext>
            </p:extLst>
          </p:nvPr>
        </p:nvGraphicFramePr>
        <p:xfrm>
          <a:off x="1364456" y="1143000"/>
          <a:ext cx="4205288" cy="2757488"/>
        </p:xfrm>
        <a:graphic>
          <a:graphicData uri="http://schemas.openxmlformats.org/presentationml/2006/ole">
            <mc:AlternateContent xmlns:mc="http://schemas.openxmlformats.org/markup-compatibility/2006">
              <mc:Choice xmlns:v="urn:schemas-microsoft-com:vml" Requires="v">
                <p:oleObj spid="_x0000_s41986" name="VISIO" r:id="rId12" imgW="2314440" imgH="1517400" progId="Visio.Drawing.6">
                  <p:embed/>
                </p:oleObj>
              </mc:Choice>
              <mc:Fallback>
                <p:oleObj name="VISIO" r:id="rId12" imgW="2314440" imgH="1517400" progId="Visio.Drawing.6">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64456" y="1143000"/>
                        <a:ext cx="4205288" cy="2757488"/>
                      </a:xfrm>
                      <a:prstGeom prst="rect">
                        <a:avLst/>
                      </a:prstGeom>
                    </p:spPr>
                  </p:pic>
                </p:oleObj>
              </mc:Fallback>
            </mc:AlternateContent>
          </a:graphicData>
        </a:graphic>
      </p:graphicFrame>
      <p:graphicFrame>
        <p:nvGraphicFramePr>
          <p:cNvPr id="1183749" name="Object 5"/>
          <p:cNvGraphicFramePr>
            <a:graphicFrameLocks noGrp="1" noChangeAspect="1"/>
          </p:cNvGraphicFramePr>
          <p:nvPr>
            <p:ph sz="quarter" idx="4294967295"/>
            <p:custDataLst>
              <p:tags r:id="rId3"/>
            </p:custDataLst>
            <p:extLst>
              <p:ext uri="{D42A27DB-BD31-4B8C-83A1-F6EECF244321}">
                <p14:modId xmlns:p14="http://schemas.microsoft.com/office/powerpoint/2010/main" val="2830638456"/>
              </p:ext>
            </p:extLst>
          </p:nvPr>
        </p:nvGraphicFramePr>
        <p:xfrm>
          <a:off x="6400800" y="2822697"/>
          <a:ext cx="152400" cy="731838"/>
        </p:xfrm>
        <a:graphic>
          <a:graphicData uri="http://schemas.openxmlformats.org/presentationml/2006/ole">
            <mc:AlternateContent xmlns:mc="http://schemas.openxmlformats.org/markup-compatibility/2006">
              <mc:Choice xmlns:v="urn:schemas-microsoft-com:vml" Requires="v">
                <p:oleObj spid="_x0000_s41987" name="VISIO" r:id="rId14" imgW="104040" imgH="504000" progId="Visio.Drawing.6">
                  <p:embed/>
                </p:oleObj>
              </mc:Choice>
              <mc:Fallback>
                <p:oleObj name="VISIO" r:id="rId14" imgW="104040" imgH="504000" progId="Visio.Drawing.6">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00800" y="2822697"/>
                        <a:ext cx="152400" cy="7318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3752" name="Object 8"/>
          <p:cNvGraphicFramePr>
            <a:graphicFrameLocks noGrp="1" noChangeAspect="1"/>
          </p:cNvGraphicFramePr>
          <p:nvPr>
            <p:ph sz="quarter" idx="4294967295"/>
            <p:custDataLst>
              <p:tags r:id="rId4"/>
            </p:custDataLst>
            <p:extLst>
              <p:ext uri="{D42A27DB-BD31-4B8C-83A1-F6EECF244321}">
                <p14:modId xmlns:p14="http://schemas.microsoft.com/office/powerpoint/2010/main" val="3763643857"/>
              </p:ext>
            </p:extLst>
          </p:nvPr>
        </p:nvGraphicFramePr>
        <p:xfrm>
          <a:off x="6019800" y="2576512"/>
          <a:ext cx="495300" cy="1157288"/>
        </p:xfrm>
        <a:graphic>
          <a:graphicData uri="http://schemas.openxmlformats.org/presentationml/2006/ole">
            <mc:AlternateContent xmlns:mc="http://schemas.openxmlformats.org/markup-compatibility/2006">
              <mc:Choice xmlns:v="urn:schemas-microsoft-com:vml" Requires="v">
                <p:oleObj spid="_x0000_s41988" name="VISIO" r:id="rId16" imgW="257040" imgH="600120" progId="Visio.Drawing.6">
                  <p:embed/>
                </p:oleObj>
              </mc:Choice>
              <mc:Fallback>
                <p:oleObj name="VISIO" r:id="rId16" imgW="257040" imgH="600120" progId="Visio.Drawing.6">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19800" y="2576512"/>
                        <a:ext cx="495300" cy="1157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3746" name="Rectangle 2"/>
          <p:cNvSpPr>
            <a:spLocks noChangeArrowheads="1"/>
          </p:cNvSpPr>
          <p:nvPr>
            <p:custDataLst>
              <p:tags r:id="rId5"/>
            </p:custDataLst>
          </p:nvPr>
        </p:nvSpPr>
        <p:spPr bwMode="auto">
          <a:xfrm>
            <a:off x="947896" y="1063625"/>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83750" name="Rectangle 6"/>
          <p:cNvSpPr>
            <a:spLocks noChangeArrowheads="1"/>
          </p:cNvSpPr>
          <p:nvPr>
            <p:custDataLst>
              <p:tags r:id="rId6"/>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83751" name="Text Box 7"/>
          <p:cNvSpPr txBox="1">
            <a:spLocks noChangeArrowheads="1"/>
          </p:cNvSpPr>
          <p:nvPr>
            <p:custDataLst>
              <p:tags r:id="rId7"/>
            </p:custDataLst>
          </p:nvPr>
        </p:nvSpPr>
        <p:spPr bwMode="auto">
          <a:xfrm>
            <a:off x="5562600" y="1066800"/>
            <a:ext cx="3200400" cy="24006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t>Timing Characteristics</a:t>
            </a:r>
          </a:p>
          <a:p>
            <a:r>
              <a:rPr lang="en-US" sz="1800" i="1" dirty="0"/>
              <a:t>	</a:t>
            </a:r>
            <a:r>
              <a:rPr lang="en-US" sz="1800" i="1" dirty="0" err="1"/>
              <a:t>t</a:t>
            </a:r>
            <a:r>
              <a:rPr lang="en-US" sz="1800" i="1" baseline="-25000" dirty="0" err="1"/>
              <a:t>ccq</a:t>
            </a:r>
            <a:r>
              <a:rPr lang="en-US" sz="1800" dirty="0"/>
              <a:t>    = 30 </a:t>
            </a:r>
            <a:r>
              <a:rPr lang="en-US" sz="1800" dirty="0" err="1"/>
              <a:t>ps</a:t>
            </a:r>
            <a:endParaRPr lang="en-US" sz="1800" dirty="0"/>
          </a:p>
          <a:p>
            <a:r>
              <a:rPr lang="en-US" sz="1800" i="1" dirty="0"/>
              <a:t>	</a:t>
            </a:r>
            <a:r>
              <a:rPr lang="en-US" sz="1800" i="1" dirty="0" err="1"/>
              <a:t>t</a:t>
            </a:r>
            <a:r>
              <a:rPr lang="en-US" sz="1800" i="1" baseline="-25000" dirty="0" err="1"/>
              <a:t>pcq</a:t>
            </a:r>
            <a:r>
              <a:rPr lang="en-US" sz="1800" dirty="0"/>
              <a:t>    = 50 </a:t>
            </a:r>
            <a:r>
              <a:rPr lang="en-US" sz="1800" dirty="0" err="1"/>
              <a:t>ps</a:t>
            </a:r>
            <a:endParaRPr lang="en-US" sz="1800" dirty="0"/>
          </a:p>
          <a:p>
            <a:r>
              <a:rPr lang="en-US" sz="1800" i="1" dirty="0"/>
              <a:t>	</a:t>
            </a:r>
            <a:r>
              <a:rPr lang="en-US" sz="1800" i="1" dirty="0" err="1"/>
              <a:t>t</a:t>
            </a:r>
            <a:r>
              <a:rPr lang="en-US" sz="1800" baseline="-25000" dirty="0" err="1"/>
              <a:t>setup</a:t>
            </a:r>
            <a:r>
              <a:rPr lang="en-US" sz="1800" dirty="0"/>
              <a:t>  = 60 </a:t>
            </a:r>
            <a:r>
              <a:rPr lang="en-US" sz="1800" dirty="0" err="1"/>
              <a:t>ps</a:t>
            </a:r>
            <a:endParaRPr lang="en-US" sz="1800" dirty="0"/>
          </a:p>
          <a:p>
            <a:r>
              <a:rPr lang="en-US" sz="1800" i="1" dirty="0"/>
              <a:t>	</a:t>
            </a:r>
            <a:r>
              <a:rPr lang="en-US" sz="1800" i="1" dirty="0" err="1"/>
              <a:t>t</a:t>
            </a:r>
            <a:r>
              <a:rPr lang="en-US" sz="1800" baseline="-25000" dirty="0" err="1"/>
              <a:t>hold</a:t>
            </a:r>
            <a:r>
              <a:rPr lang="en-US" sz="1800" dirty="0"/>
              <a:t>    = 70 </a:t>
            </a:r>
            <a:r>
              <a:rPr lang="en-US" sz="1800" dirty="0" err="1"/>
              <a:t>ps</a:t>
            </a:r>
            <a:endParaRPr lang="en-US" sz="1800" dirty="0"/>
          </a:p>
          <a:p>
            <a:endParaRPr lang="en-US" sz="1800" dirty="0"/>
          </a:p>
          <a:p>
            <a:r>
              <a:rPr lang="en-US" sz="1800" i="1" dirty="0"/>
              <a:t>	</a:t>
            </a:r>
            <a:r>
              <a:rPr lang="en-US" sz="1800" i="1" dirty="0" err="1"/>
              <a:t>t</a:t>
            </a:r>
            <a:r>
              <a:rPr lang="en-US" sz="1800" i="1" baseline="-25000" dirty="0" err="1"/>
              <a:t>pd</a:t>
            </a:r>
            <a:r>
              <a:rPr lang="en-US" sz="1800" dirty="0"/>
              <a:t>      = 35 </a:t>
            </a:r>
            <a:r>
              <a:rPr lang="en-US" sz="1800" dirty="0" err="1"/>
              <a:t>ps</a:t>
            </a:r>
            <a:endParaRPr lang="en-US" sz="1800" dirty="0"/>
          </a:p>
          <a:p>
            <a:r>
              <a:rPr lang="en-US" sz="1800" i="1" dirty="0"/>
              <a:t>	</a:t>
            </a:r>
            <a:r>
              <a:rPr lang="en-US" sz="1800" i="1" dirty="0" err="1"/>
              <a:t>t</a:t>
            </a:r>
            <a:r>
              <a:rPr lang="en-US" sz="1800" i="1" baseline="-25000" dirty="0" err="1"/>
              <a:t>cd</a:t>
            </a:r>
            <a:r>
              <a:rPr lang="en-US" sz="1800" dirty="0"/>
              <a:t>      = 25 </a:t>
            </a:r>
            <a:r>
              <a:rPr lang="en-US" sz="1800" dirty="0" err="1"/>
              <a:t>ps</a:t>
            </a:r>
            <a:endParaRPr lang="en-US" sz="1800" dirty="0"/>
          </a:p>
        </p:txBody>
      </p:sp>
      <p:sp>
        <p:nvSpPr>
          <p:cNvPr id="1183753" name="Text Box 9"/>
          <p:cNvSpPr txBox="1">
            <a:spLocks noChangeArrowheads="1"/>
          </p:cNvSpPr>
          <p:nvPr>
            <p:custDataLst>
              <p:tags r:id="rId8"/>
            </p:custDataLst>
          </p:nvPr>
        </p:nvSpPr>
        <p:spPr bwMode="auto">
          <a:xfrm>
            <a:off x="1524000" y="4002087"/>
            <a:ext cx="3581400" cy="2170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i="1" dirty="0" err="1"/>
              <a:t>t</a:t>
            </a:r>
            <a:r>
              <a:rPr lang="en-US" sz="1600" i="1" baseline="-25000" dirty="0" err="1"/>
              <a:t>pd</a:t>
            </a:r>
            <a:r>
              <a:rPr lang="en-US" sz="1600" dirty="0"/>
              <a:t> = 3 x 35 </a:t>
            </a:r>
            <a:r>
              <a:rPr lang="en-US" sz="1600" dirty="0" err="1"/>
              <a:t>ps</a:t>
            </a:r>
            <a:r>
              <a:rPr lang="en-US" sz="1600" dirty="0"/>
              <a:t> = 105 </a:t>
            </a:r>
            <a:r>
              <a:rPr lang="en-US" sz="1600" dirty="0" err="1"/>
              <a:t>ps</a:t>
            </a:r>
            <a:endParaRPr lang="en-US" sz="1600" dirty="0"/>
          </a:p>
          <a:p>
            <a:pPr>
              <a:spcBef>
                <a:spcPct val="50000"/>
              </a:spcBef>
            </a:pPr>
            <a:r>
              <a:rPr lang="en-US" sz="1600" i="1" dirty="0" err="1"/>
              <a:t>t</a:t>
            </a:r>
            <a:r>
              <a:rPr lang="en-US" sz="1600" i="1" baseline="-25000" dirty="0" err="1"/>
              <a:t>cd</a:t>
            </a:r>
            <a:r>
              <a:rPr lang="en-US" sz="1600" dirty="0"/>
              <a:t> = 25 </a:t>
            </a:r>
            <a:r>
              <a:rPr lang="en-US" sz="1600" dirty="0" err="1"/>
              <a:t>ps</a:t>
            </a:r>
            <a:endParaRPr lang="en-US" sz="1600" dirty="0"/>
          </a:p>
          <a:p>
            <a:pPr>
              <a:spcBef>
                <a:spcPct val="50000"/>
              </a:spcBef>
            </a:pPr>
            <a:r>
              <a:rPr lang="en-US" sz="1600" b="1" dirty="0">
                <a:solidFill>
                  <a:srgbClr val="0070C0"/>
                </a:solidFill>
              </a:rPr>
              <a:t>Setup time constraint:</a:t>
            </a:r>
          </a:p>
          <a:p>
            <a:pPr>
              <a:spcBef>
                <a:spcPct val="50000"/>
              </a:spcBef>
            </a:pPr>
            <a:r>
              <a:rPr lang="en-US" sz="1600" i="1" dirty="0"/>
              <a:t> </a:t>
            </a:r>
            <a:r>
              <a:rPr lang="en-US" sz="1600" i="1" dirty="0" err="1"/>
              <a:t>T</a:t>
            </a:r>
            <a:r>
              <a:rPr lang="en-US" sz="1600" i="1" baseline="-25000" dirty="0" err="1"/>
              <a:t>c</a:t>
            </a:r>
            <a:r>
              <a:rPr lang="en-US" sz="1600" dirty="0"/>
              <a:t> </a:t>
            </a:r>
            <a:r>
              <a:rPr lang="en-US" sz="1600" dirty="0">
                <a:cs typeface="Arial" charset="0"/>
              </a:rPr>
              <a:t>≥</a:t>
            </a:r>
            <a:r>
              <a:rPr lang="en-US" sz="1600" dirty="0"/>
              <a:t> (50 + 105 + 60) </a:t>
            </a:r>
            <a:r>
              <a:rPr lang="en-US" sz="1600" dirty="0" err="1"/>
              <a:t>ps</a:t>
            </a:r>
            <a:r>
              <a:rPr lang="en-US" sz="1600" dirty="0"/>
              <a:t> = 215 </a:t>
            </a:r>
            <a:r>
              <a:rPr lang="en-US" sz="1600" dirty="0" err="1"/>
              <a:t>ps</a:t>
            </a:r>
            <a:endParaRPr lang="en-US" sz="1600" dirty="0"/>
          </a:p>
          <a:p>
            <a:pPr>
              <a:spcBef>
                <a:spcPct val="50000"/>
              </a:spcBef>
            </a:pPr>
            <a:r>
              <a:rPr lang="en-US" sz="1600" dirty="0"/>
              <a:t> </a:t>
            </a:r>
            <a:r>
              <a:rPr lang="en-US" sz="1600" i="1" dirty="0"/>
              <a:t>f</a:t>
            </a:r>
            <a:r>
              <a:rPr lang="en-US" sz="1600" i="1" baseline="-25000" dirty="0"/>
              <a:t>c</a:t>
            </a:r>
            <a:r>
              <a:rPr lang="en-US" sz="1600" dirty="0"/>
              <a:t> = 1/</a:t>
            </a:r>
            <a:r>
              <a:rPr lang="en-US" sz="1600" i="1" dirty="0" err="1"/>
              <a:t>T</a:t>
            </a:r>
            <a:r>
              <a:rPr lang="en-US" sz="1600" i="1" baseline="-25000" dirty="0" err="1"/>
              <a:t>c</a:t>
            </a:r>
            <a:r>
              <a:rPr lang="en-US" sz="1600" dirty="0"/>
              <a:t> = 4.65 GHz</a:t>
            </a:r>
          </a:p>
          <a:p>
            <a:pPr>
              <a:spcBef>
                <a:spcPct val="50000"/>
              </a:spcBef>
            </a:pPr>
            <a:endParaRPr lang="en-US" sz="1600" dirty="0"/>
          </a:p>
        </p:txBody>
      </p:sp>
      <p:sp>
        <p:nvSpPr>
          <p:cNvPr id="1183754" name="Text Box 10"/>
          <p:cNvSpPr txBox="1">
            <a:spLocks noChangeArrowheads="1"/>
          </p:cNvSpPr>
          <p:nvPr>
            <p:custDataLst>
              <p:tags r:id="rId9"/>
            </p:custDataLst>
          </p:nvPr>
        </p:nvSpPr>
        <p:spPr bwMode="auto">
          <a:xfrm>
            <a:off x="5181600" y="4724400"/>
            <a:ext cx="3581400" cy="1069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b="1" dirty="0">
                <a:solidFill>
                  <a:srgbClr val="0070C0"/>
                </a:solidFill>
              </a:rPr>
              <a:t>Hold time constraint:</a:t>
            </a:r>
          </a:p>
          <a:p>
            <a:pPr>
              <a:spcBef>
                <a:spcPct val="50000"/>
              </a:spcBef>
            </a:pPr>
            <a:r>
              <a:rPr lang="en-US" sz="1600" i="1" dirty="0"/>
              <a:t> </a:t>
            </a:r>
            <a:r>
              <a:rPr lang="en-US" sz="1600" i="1" dirty="0" err="1"/>
              <a:t>t</a:t>
            </a:r>
            <a:r>
              <a:rPr lang="en-US" sz="1600" baseline="-25000" dirty="0" err="1"/>
              <a:t>ccq</a:t>
            </a:r>
            <a:r>
              <a:rPr lang="en-US" sz="1600" dirty="0"/>
              <a:t> + </a:t>
            </a:r>
            <a:r>
              <a:rPr lang="en-US" sz="1600" i="1" dirty="0" err="1"/>
              <a:t>t</a:t>
            </a:r>
            <a:r>
              <a:rPr lang="en-US" sz="1600" i="1" baseline="-25000" dirty="0" err="1"/>
              <a:t>cd</a:t>
            </a:r>
            <a:r>
              <a:rPr lang="en-US" sz="1600" dirty="0"/>
              <a:t>  &gt;  </a:t>
            </a:r>
            <a:r>
              <a:rPr lang="en-US" sz="1600" i="1" dirty="0" err="1"/>
              <a:t>t</a:t>
            </a:r>
            <a:r>
              <a:rPr lang="en-US" sz="1600" baseline="-25000" dirty="0" err="1"/>
              <a:t>hold</a:t>
            </a:r>
            <a:r>
              <a:rPr lang="en-US" sz="1600" dirty="0"/>
              <a:t> ?</a:t>
            </a:r>
          </a:p>
          <a:p>
            <a:pPr>
              <a:spcBef>
                <a:spcPct val="50000"/>
              </a:spcBef>
            </a:pPr>
            <a:r>
              <a:rPr lang="en-US" sz="1600" dirty="0"/>
              <a:t> (30 + 25) </a:t>
            </a:r>
            <a:r>
              <a:rPr lang="en-US" sz="1600" dirty="0" err="1"/>
              <a:t>ps</a:t>
            </a:r>
            <a:r>
              <a:rPr lang="en-US" sz="1600" dirty="0"/>
              <a:t> &gt; 70 </a:t>
            </a:r>
            <a:r>
              <a:rPr lang="en-US" sz="1600" dirty="0" err="1"/>
              <a:t>ps</a:t>
            </a:r>
            <a:r>
              <a:rPr lang="en-US" sz="1600" dirty="0"/>
              <a:t> ?  </a:t>
            </a:r>
            <a:r>
              <a:rPr lang="en-US" sz="1600" b="1" dirty="0">
                <a:solidFill>
                  <a:srgbClr val="C00000"/>
                </a:solidFill>
              </a:rPr>
              <a:t>No!</a:t>
            </a:r>
          </a:p>
        </p:txBody>
      </p:sp>
      <p:sp>
        <p:nvSpPr>
          <p:cNvPr id="14" name="TextBox 13"/>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Timing Analysis</a:t>
            </a:r>
          </a:p>
        </p:txBody>
      </p:sp>
      <p:sp>
        <p:nvSpPr>
          <p:cNvPr id="11" name="Rectangle 10"/>
          <p:cNvSpPr/>
          <p:nvPr/>
        </p:nvSpPr>
        <p:spPr>
          <a:xfrm>
            <a:off x="1981200" y="5105400"/>
            <a:ext cx="2286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2438400" y="5486400"/>
            <a:ext cx="2286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5257800" y="5486400"/>
            <a:ext cx="2286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778CCAC-31BF-4E0A-8653-83D7304AFB34}"/>
              </a:ext>
            </a:extLst>
          </p:cNvPr>
          <p:cNvPicPr>
            <a:picLocks noChangeAspect="1"/>
          </p:cNvPicPr>
          <p:nvPr/>
        </p:nvPicPr>
        <p:blipFill>
          <a:blip r:embed="rId18"/>
          <a:stretch>
            <a:fillRect/>
          </a:stretch>
        </p:blipFill>
        <p:spPr>
          <a:xfrm>
            <a:off x="4235413" y="3920393"/>
            <a:ext cx="1891067" cy="784101"/>
          </a:xfrm>
          <a:prstGeom prst="rect">
            <a:avLst/>
          </a:prstGeom>
        </p:spPr>
      </p:pic>
      <p:pic>
        <p:nvPicPr>
          <p:cNvPr id="5" name="Picture 4">
            <a:extLst>
              <a:ext uri="{FF2B5EF4-FFF2-40B4-BE49-F238E27FC236}">
                <a16:creationId xmlns:a16="http://schemas.microsoft.com/office/drawing/2014/main" id="{70DEB94A-7756-4523-8208-7B1ED1B1E269}"/>
              </a:ext>
            </a:extLst>
          </p:cNvPr>
          <p:cNvPicPr>
            <a:picLocks noChangeAspect="1"/>
          </p:cNvPicPr>
          <p:nvPr/>
        </p:nvPicPr>
        <p:blipFill>
          <a:blip r:embed="rId19"/>
          <a:stretch>
            <a:fillRect/>
          </a:stretch>
        </p:blipFill>
        <p:spPr>
          <a:xfrm>
            <a:off x="6519704" y="3896226"/>
            <a:ext cx="1676400" cy="806116"/>
          </a:xfrm>
          <a:prstGeom prst="rect">
            <a:avLst/>
          </a:prstGeom>
        </p:spPr>
      </p:pic>
      <p:pic>
        <p:nvPicPr>
          <p:cNvPr id="7" name="Picture 6">
            <a:extLst>
              <a:ext uri="{FF2B5EF4-FFF2-40B4-BE49-F238E27FC236}">
                <a16:creationId xmlns:a16="http://schemas.microsoft.com/office/drawing/2014/main" id="{10DF7E2E-3619-4D0F-AC45-4BEFC511B02E}"/>
              </a:ext>
            </a:extLst>
          </p:cNvPr>
          <p:cNvPicPr>
            <a:picLocks noChangeAspect="1"/>
          </p:cNvPicPr>
          <p:nvPr/>
        </p:nvPicPr>
        <p:blipFill>
          <a:blip r:embed="rId20"/>
          <a:stretch>
            <a:fillRect/>
          </a:stretch>
        </p:blipFill>
        <p:spPr>
          <a:xfrm>
            <a:off x="-17786" y="3754536"/>
            <a:ext cx="1541786" cy="1132009"/>
          </a:xfrm>
          <a:prstGeom prst="rect">
            <a:avLst/>
          </a:prstGeom>
        </p:spPr>
      </p:pic>
    </p:spTree>
    <p:extLst>
      <p:ext uri="{BB962C8B-B14F-4D97-AF65-F5344CB8AC3E}">
        <p14:creationId xmlns:p14="http://schemas.microsoft.com/office/powerpoint/2010/main" val="31930154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3749" name="Object 5"/>
          <p:cNvGraphicFramePr>
            <a:graphicFrameLocks noGrp="1" noChangeAspect="1"/>
          </p:cNvGraphicFramePr>
          <p:nvPr>
            <p:ph sz="quarter" idx="4294967295"/>
            <p:custDataLst>
              <p:tags r:id="rId2"/>
            </p:custDataLst>
            <p:extLst>
              <p:ext uri="{D42A27DB-BD31-4B8C-83A1-F6EECF244321}">
                <p14:modId xmlns:p14="http://schemas.microsoft.com/office/powerpoint/2010/main" val="2388942406"/>
              </p:ext>
            </p:extLst>
          </p:nvPr>
        </p:nvGraphicFramePr>
        <p:xfrm>
          <a:off x="6400800" y="2836985"/>
          <a:ext cx="152400" cy="731838"/>
        </p:xfrm>
        <a:graphic>
          <a:graphicData uri="http://schemas.openxmlformats.org/presentationml/2006/ole">
            <mc:AlternateContent xmlns:mc="http://schemas.openxmlformats.org/markup-compatibility/2006">
              <mc:Choice xmlns:v="urn:schemas-microsoft-com:vml" Requires="v">
                <p:oleObj spid="_x0000_s43010" name="VISIO" r:id="rId13" imgW="104040" imgH="504000" progId="Visio.Drawing.6">
                  <p:embed/>
                </p:oleObj>
              </mc:Choice>
              <mc:Fallback>
                <p:oleObj name="VISIO" r:id="rId13" imgW="104040" imgH="504000" progId="Visio.Drawing.6">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00800" y="2836985"/>
                        <a:ext cx="152400" cy="7318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3752" name="Object 8"/>
          <p:cNvGraphicFramePr>
            <a:graphicFrameLocks noGrp="1" noChangeAspect="1"/>
          </p:cNvGraphicFramePr>
          <p:nvPr>
            <p:ph sz="quarter" idx="4294967295"/>
            <p:custDataLst>
              <p:tags r:id="rId3"/>
            </p:custDataLst>
            <p:extLst>
              <p:ext uri="{D42A27DB-BD31-4B8C-83A1-F6EECF244321}">
                <p14:modId xmlns:p14="http://schemas.microsoft.com/office/powerpoint/2010/main" val="1881026248"/>
              </p:ext>
            </p:extLst>
          </p:nvPr>
        </p:nvGraphicFramePr>
        <p:xfrm>
          <a:off x="6019800" y="2590800"/>
          <a:ext cx="495300" cy="1157288"/>
        </p:xfrm>
        <a:graphic>
          <a:graphicData uri="http://schemas.openxmlformats.org/presentationml/2006/ole">
            <mc:AlternateContent xmlns:mc="http://schemas.openxmlformats.org/markup-compatibility/2006">
              <mc:Choice xmlns:v="urn:schemas-microsoft-com:vml" Requires="v">
                <p:oleObj spid="_x0000_s43011" name="VISIO" r:id="rId15" imgW="257040" imgH="600120" progId="Visio.Drawing.6">
                  <p:embed/>
                </p:oleObj>
              </mc:Choice>
              <mc:Fallback>
                <p:oleObj name="VISIO" r:id="rId15" imgW="257040" imgH="600120" progId="Visio.Drawing.6">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19800" y="2590800"/>
                        <a:ext cx="495300" cy="1157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3746"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83750" name="Rectangle 6"/>
          <p:cNvSpPr>
            <a:spLocks noChangeArrowheads="1"/>
          </p:cNvSpPr>
          <p:nvPr>
            <p:custDataLst>
              <p:tags r:id="rId5"/>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83751" name="Text Box 7"/>
          <p:cNvSpPr txBox="1">
            <a:spLocks noChangeArrowheads="1"/>
          </p:cNvSpPr>
          <p:nvPr>
            <p:custDataLst>
              <p:tags r:id="rId6"/>
            </p:custDataLst>
          </p:nvPr>
        </p:nvSpPr>
        <p:spPr bwMode="auto">
          <a:xfrm>
            <a:off x="5562600" y="1066800"/>
            <a:ext cx="3200400" cy="240065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t>Timing Characteristics</a:t>
            </a:r>
          </a:p>
          <a:p>
            <a:r>
              <a:rPr lang="en-US" sz="1800" i="1" dirty="0"/>
              <a:t>	</a:t>
            </a:r>
            <a:r>
              <a:rPr lang="en-US" sz="1800" i="1" dirty="0" err="1"/>
              <a:t>t</a:t>
            </a:r>
            <a:r>
              <a:rPr lang="en-US" sz="1800" i="1" baseline="-25000" dirty="0" err="1"/>
              <a:t>ccq</a:t>
            </a:r>
            <a:r>
              <a:rPr lang="en-US" sz="1800" dirty="0"/>
              <a:t>    = 30 </a:t>
            </a:r>
            <a:r>
              <a:rPr lang="en-US" sz="1800" dirty="0" err="1"/>
              <a:t>ps</a:t>
            </a:r>
            <a:endParaRPr lang="en-US" sz="1800" dirty="0"/>
          </a:p>
          <a:p>
            <a:r>
              <a:rPr lang="en-US" sz="1800" i="1" dirty="0"/>
              <a:t>	</a:t>
            </a:r>
            <a:r>
              <a:rPr lang="en-US" sz="1800" i="1" dirty="0" err="1"/>
              <a:t>t</a:t>
            </a:r>
            <a:r>
              <a:rPr lang="en-US" sz="1800" i="1" baseline="-25000" dirty="0" err="1"/>
              <a:t>pcq</a:t>
            </a:r>
            <a:r>
              <a:rPr lang="en-US" sz="1800" dirty="0"/>
              <a:t>    = 50 </a:t>
            </a:r>
            <a:r>
              <a:rPr lang="en-US" sz="1800" dirty="0" err="1"/>
              <a:t>ps</a:t>
            </a:r>
            <a:endParaRPr lang="en-US" sz="1800" dirty="0"/>
          </a:p>
          <a:p>
            <a:r>
              <a:rPr lang="en-US" sz="1800" i="1" dirty="0"/>
              <a:t>	</a:t>
            </a:r>
            <a:r>
              <a:rPr lang="en-US" sz="1800" i="1" dirty="0" err="1"/>
              <a:t>t</a:t>
            </a:r>
            <a:r>
              <a:rPr lang="en-US" sz="1800" baseline="-25000" dirty="0" err="1"/>
              <a:t>setup</a:t>
            </a:r>
            <a:r>
              <a:rPr lang="en-US" sz="1800" dirty="0"/>
              <a:t>  = 60 </a:t>
            </a:r>
            <a:r>
              <a:rPr lang="en-US" sz="1800" dirty="0" err="1"/>
              <a:t>ps</a:t>
            </a:r>
            <a:endParaRPr lang="en-US" sz="1800" dirty="0"/>
          </a:p>
          <a:p>
            <a:r>
              <a:rPr lang="en-US" sz="1800" i="1" dirty="0"/>
              <a:t>	</a:t>
            </a:r>
            <a:r>
              <a:rPr lang="en-US" sz="1800" i="1" dirty="0" err="1"/>
              <a:t>t</a:t>
            </a:r>
            <a:r>
              <a:rPr lang="en-US" sz="1800" baseline="-25000" dirty="0" err="1"/>
              <a:t>hold</a:t>
            </a:r>
            <a:r>
              <a:rPr lang="en-US" sz="1800" dirty="0"/>
              <a:t>    = 70 </a:t>
            </a:r>
            <a:r>
              <a:rPr lang="en-US" sz="1800" dirty="0" err="1"/>
              <a:t>ps</a:t>
            </a:r>
            <a:endParaRPr lang="en-US" sz="1800" dirty="0"/>
          </a:p>
          <a:p>
            <a:endParaRPr lang="en-US" sz="1800" dirty="0"/>
          </a:p>
          <a:p>
            <a:r>
              <a:rPr lang="en-US" sz="1800" i="1" dirty="0"/>
              <a:t>	</a:t>
            </a:r>
            <a:r>
              <a:rPr lang="en-US" sz="1800" i="1" dirty="0" err="1"/>
              <a:t>t</a:t>
            </a:r>
            <a:r>
              <a:rPr lang="en-US" sz="1800" i="1" baseline="-25000" dirty="0" err="1"/>
              <a:t>pd</a:t>
            </a:r>
            <a:r>
              <a:rPr lang="en-US" sz="1800" dirty="0"/>
              <a:t>      = 35 </a:t>
            </a:r>
            <a:r>
              <a:rPr lang="en-US" sz="1800" dirty="0" err="1"/>
              <a:t>ps</a:t>
            </a:r>
            <a:endParaRPr lang="en-US" sz="1800" dirty="0"/>
          </a:p>
          <a:p>
            <a:r>
              <a:rPr lang="en-US" sz="1800" i="1" dirty="0"/>
              <a:t>	</a:t>
            </a:r>
            <a:r>
              <a:rPr lang="en-US" sz="1800" i="1" dirty="0" err="1"/>
              <a:t>t</a:t>
            </a:r>
            <a:r>
              <a:rPr lang="en-US" sz="1800" i="1" baseline="-25000" dirty="0" err="1"/>
              <a:t>cd</a:t>
            </a:r>
            <a:r>
              <a:rPr lang="en-US" sz="1800" dirty="0"/>
              <a:t>      = 25 </a:t>
            </a:r>
            <a:r>
              <a:rPr lang="en-US" sz="1800" dirty="0" err="1"/>
              <a:t>ps</a:t>
            </a:r>
            <a:endParaRPr lang="en-US" sz="1800" dirty="0"/>
          </a:p>
        </p:txBody>
      </p:sp>
      <p:sp>
        <p:nvSpPr>
          <p:cNvPr id="1183753" name="Text Box 9"/>
          <p:cNvSpPr txBox="1">
            <a:spLocks noChangeArrowheads="1"/>
          </p:cNvSpPr>
          <p:nvPr>
            <p:custDataLst>
              <p:tags r:id="rId7"/>
            </p:custDataLst>
          </p:nvPr>
        </p:nvSpPr>
        <p:spPr bwMode="auto">
          <a:xfrm>
            <a:off x="1676400" y="4038600"/>
            <a:ext cx="3581400" cy="2170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i="1" dirty="0" err="1"/>
              <a:t>t</a:t>
            </a:r>
            <a:r>
              <a:rPr lang="en-US" sz="1600" i="1" baseline="-25000" dirty="0" err="1"/>
              <a:t>pd</a:t>
            </a:r>
            <a:r>
              <a:rPr lang="en-US" sz="1600" dirty="0"/>
              <a:t> = 3 x 35 </a:t>
            </a:r>
            <a:r>
              <a:rPr lang="en-US" sz="1600" dirty="0" err="1"/>
              <a:t>ps</a:t>
            </a:r>
            <a:r>
              <a:rPr lang="en-US" sz="1600" dirty="0"/>
              <a:t> = 105 </a:t>
            </a:r>
            <a:r>
              <a:rPr lang="en-US" sz="1600" dirty="0" err="1"/>
              <a:t>ps</a:t>
            </a:r>
            <a:endParaRPr lang="en-US" sz="1600" dirty="0"/>
          </a:p>
          <a:p>
            <a:pPr>
              <a:spcBef>
                <a:spcPct val="50000"/>
              </a:spcBef>
            </a:pPr>
            <a:r>
              <a:rPr lang="en-US" sz="1600" i="1" dirty="0" err="1"/>
              <a:t>t</a:t>
            </a:r>
            <a:r>
              <a:rPr lang="en-US" sz="1600" i="1" baseline="-25000" dirty="0" err="1"/>
              <a:t>cd</a:t>
            </a:r>
            <a:r>
              <a:rPr lang="en-US" sz="1600" dirty="0"/>
              <a:t> = 2 x 25 </a:t>
            </a:r>
            <a:r>
              <a:rPr lang="en-US" sz="1600" dirty="0" err="1"/>
              <a:t>ps</a:t>
            </a:r>
            <a:r>
              <a:rPr lang="en-US" sz="1600" dirty="0"/>
              <a:t> = 50 </a:t>
            </a:r>
            <a:r>
              <a:rPr lang="en-US" sz="1600" dirty="0" err="1"/>
              <a:t>ps</a:t>
            </a:r>
            <a:endParaRPr lang="en-US" sz="1600" dirty="0"/>
          </a:p>
          <a:p>
            <a:pPr>
              <a:spcBef>
                <a:spcPct val="50000"/>
              </a:spcBef>
            </a:pPr>
            <a:r>
              <a:rPr lang="en-US" sz="1600" b="1" dirty="0">
                <a:solidFill>
                  <a:schemeClr val="accent1"/>
                </a:solidFill>
              </a:rPr>
              <a:t>Setup time constraint:</a:t>
            </a:r>
          </a:p>
          <a:p>
            <a:pPr>
              <a:spcBef>
                <a:spcPct val="50000"/>
              </a:spcBef>
            </a:pPr>
            <a:r>
              <a:rPr lang="en-US" sz="1600" i="1" dirty="0"/>
              <a:t> </a:t>
            </a:r>
            <a:r>
              <a:rPr lang="en-US" sz="1600" i="1" dirty="0" err="1"/>
              <a:t>T</a:t>
            </a:r>
            <a:r>
              <a:rPr lang="en-US" sz="1600" i="1" baseline="-25000" dirty="0" err="1"/>
              <a:t>c</a:t>
            </a:r>
            <a:r>
              <a:rPr lang="en-US" sz="1600" dirty="0"/>
              <a:t> </a:t>
            </a:r>
            <a:r>
              <a:rPr lang="en-US" sz="1600" dirty="0">
                <a:cs typeface="Arial" charset="0"/>
              </a:rPr>
              <a:t>≥</a:t>
            </a:r>
            <a:r>
              <a:rPr lang="en-US" sz="1600" dirty="0"/>
              <a:t> (50 + 105 + 60) </a:t>
            </a:r>
            <a:r>
              <a:rPr lang="en-US" sz="1600" dirty="0" err="1"/>
              <a:t>ps</a:t>
            </a:r>
            <a:r>
              <a:rPr lang="en-US" sz="1600" dirty="0"/>
              <a:t> = 215 </a:t>
            </a:r>
            <a:r>
              <a:rPr lang="en-US" sz="1600" dirty="0" err="1"/>
              <a:t>ps</a:t>
            </a:r>
            <a:endParaRPr lang="en-US" sz="1600" dirty="0"/>
          </a:p>
          <a:p>
            <a:pPr>
              <a:spcBef>
                <a:spcPct val="50000"/>
              </a:spcBef>
            </a:pPr>
            <a:r>
              <a:rPr lang="en-US" sz="1600" dirty="0"/>
              <a:t> </a:t>
            </a:r>
            <a:r>
              <a:rPr lang="en-US" sz="1600" i="1" dirty="0"/>
              <a:t>f</a:t>
            </a:r>
            <a:r>
              <a:rPr lang="en-US" sz="1600" i="1" baseline="-25000" dirty="0"/>
              <a:t>c</a:t>
            </a:r>
            <a:r>
              <a:rPr lang="en-US" sz="1600" dirty="0"/>
              <a:t> = 1/</a:t>
            </a:r>
            <a:r>
              <a:rPr lang="en-US" sz="1600" i="1" dirty="0" err="1"/>
              <a:t>T</a:t>
            </a:r>
            <a:r>
              <a:rPr lang="en-US" sz="1600" i="1" baseline="-25000" dirty="0" err="1"/>
              <a:t>c</a:t>
            </a:r>
            <a:r>
              <a:rPr lang="en-US" sz="1600" dirty="0"/>
              <a:t> = 4.65 GHz</a:t>
            </a:r>
          </a:p>
          <a:p>
            <a:pPr>
              <a:spcBef>
                <a:spcPct val="50000"/>
              </a:spcBef>
            </a:pPr>
            <a:endParaRPr lang="en-US" sz="1600" dirty="0"/>
          </a:p>
        </p:txBody>
      </p:sp>
      <p:sp>
        <p:nvSpPr>
          <p:cNvPr id="1183754" name="Text Box 10"/>
          <p:cNvSpPr txBox="1">
            <a:spLocks noChangeArrowheads="1"/>
          </p:cNvSpPr>
          <p:nvPr>
            <p:custDataLst>
              <p:tags r:id="rId8"/>
            </p:custDataLst>
          </p:nvPr>
        </p:nvSpPr>
        <p:spPr bwMode="auto">
          <a:xfrm>
            <a:off x="5181600" y="4797425"/>
            <a:ext cx="3581400" cy="1069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600" b="1" dirty="0">
                <a:solidFill>
                  <a:schemeClr val="accent1"/>
                </a:solidFill>
              </a:rPr>
              <a:t>Hold time constraint:</a:t>
            </a:r>
          </a:p>
          <a:p>
            <a:pPr>
              <a:spcBef>
                <a:spcPct val="50000"/>
              </a:spcBef>
            </a:pPr>
            <a:r>
              <a:rPr lang="en-US" sz="1600" i="1" dirty="0"/>
              <a:t> </a:t>
            </a:r>
            <a:r>
              <a:rPr lang="en-US" sz="1600" i="1" dirty="0" err="1"/>
              <a:t>t</a:t>
            </a:r>
            <a:r>
              <a:rPr lang="en-US" sz="1600" baseline="-25000" dirty="0" err="1"/>
              <a:t>ccq</a:t>
            </a:r>
            <a:r>
              <a:rPr lang="en-US" sz="1600" dirty="0"/>
              <a:t> + </a:t>
            </a:r>
            <a:r>
              <a:rPr lang="en-US" sz="1600" i="1" dirty="0" err="1"/>
              <a:t>t</a:t>
            </a:r>
            <a:r>
              <a:rPr lang="en-US" sz="1600" i="1" baseline="-25000" dirty="0" err="1"/>
              <a:t>cd</a:t>
            </a:r>
            <a:r>
              <a:rPr lang="en-US" sz="1600" dirty="0"/>
              <a:t> &gt; </a:t>
            </a:r>
            <a:r>
              <a:rPr lang="en-US" sz="1600" i="1" dirty="0" err="1"/>
              <a:t>t</a:t>
            </a:r>
            <a:r>
              <a:rPr lang="en-US" sz="1600" baseline="-25000" dirty="0" err="1"/>
              <a:t>hold</a:t>
            </a:r>
            <a:r>
              <a:rPr lang="en-US" sz="1600" dirty="0"/>
              <a:t> ?</a:t>
            </a:r>
          </a:p>
          <a:p>
            <a:pPr>
              <a:spcBef>
                <a:spcPct val="50000"/>
              </a:spcBef>
            </a:pPr>
            <a:r>
              <a:rPr lang="en-US" sz="1600" dirty="0"/>
              <a:t> (30 + 50) </a:t>
            </a:r>
            <a:r>
              <a:rPr lang="en-US" sz="1600" dirty="0" err="1"/>
              <a:t>ps</a:t>
            </a:r>
            <a:r>
              <a:rPr lang="en-US" sz="1600" dirty="0"/>
              <a:t> &gt; 70 </a:t>
            </a:r>
            <a:r>
              <a:rPr lang="en-US" sz="1600" dirty="0" err="1"/>
              <a:t>ps</a:t>
            </a:r>
            <a:r>
              <a:rPr lang="en-US" sz="1600" dirty="0"/>
              <a:t> ?  </a:t>
            </a:r>
            <a:r>
              <a:rPr lang="en-US" sz="1600" b="1" dirty="0">
                <a:solidFill>
                  <a:srgbClr val="C00000"/>
                </a:solidFill>
              </a:rPr>
              <a:t>Yes!</a:t>
            </a:r>
          </a:p>
        </p:txBody>
      </p:sp>
      <p:sp>
        <p:nvSpPr>
          <p:cNvPr id="14" name="TextBox 13"/>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Timing Analysis</a:t>
            </a:r>
          </a:p>
        </p:txBody>
      </p:sp>
      <p:graphicFrame>
        <p:nvGraphicFramePr>
          <p:cNvPr id="2" name="Object 1"/>
          <p:cNvGraphicFramePr>
            <a:graphicFrameLocks noChangeAspect="1"/>
          </p:cNvGraphicFramePr>
          <p:nvPr>
            <p:custDataLst>
              <p:tags r:id="rId9"/>
            </p:custDataLst>
            <p:extLst>
              <p:ext uri="{D42A27DB-BD31-4B8C-83A1-F6EECF244321}">
                <p14:modId xmlns:p14="http://schemas.microsoft.com/office/powerpoint/2010/main" val="3672458747"/>
              </p:ext>
            </p:extLst>
          </p:nvPr>
        </p:nvGraphicFramePr>
        <p:xfrm>
          <a:off x="1143000" y="1371600"/>
          <a:ext cx="3810000" cy="2498725"/>
        </p:xfrm>
        <a:graphic>
          <a:graphicData uri="http://schemas.openxmlformats.org/presentationml/2006/ole">
            <mc:AlternateContent xmlns:mc="http://schemas.openxmlformats.org/markup-compatibility/2006">
              <mc:Choice xmlns:v="urn:schemas-microsoft-com:vml" Requires="v">
                <p:oleObj spid="_x0000_s43012" name="VISIO" r:id="rId17" imgW="2315768" imgH="1517385" progId="Visio.Drawing.6">
                  <p:embed/>
                </p:oleObj>
              </mc:Choice>
              <mc:Fallback>
                <p:oleObj name="VISIO" r:id="rId17" imgW="2315768" imgH="1517385" progId="Visio.Drawing.6">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43000" y="1371600"/>
                        <a:ext cx="3810000" cy="2498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12"/>
          <p:cNvSpPr txBox="1">
            <a:spLocks noChangeArrowheads="1"/>
          </p:cNvSpPr>
          <p:nvPr>
            <p:custDataLst>
              <p:tags r:id="rId10"/>
            </p:custDataLst>
          </p:nvPr>
        </p:nvSpPr>
        <p:spPr bwMode="auto">
          <a:xfrm>
            <a:off x="914400" y="1081088"/>
            <a:ext cx="358140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b="1" dirty="0">
                <a:solidFill>
                  <a:srgbClr val="0070C0"/>
                </a:solidFill>
              </a:rPr>
              <a:t>Add buffers to the short paths:</a:t>
            </a:r>
          </a:p>
        </p:txBody>
      </p:sp>
      <p:sp>
        <p:nvSpPr>
          <p:cNvPr id="13" name="Rectangle 12"/>
          <p:cNvSpPr/>
          <p:nvPr/>
        </p:nvSpPr>
        <p:spPr>
          <a:xfrm>
            <a:off x="2133600" y="5181600"/>
            <a:ext cx="2286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590800" y="5562600"/>
            <a:ext cx="2286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5257800" y="5562600"/>
            <a:ext cx="2286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D9676DDF-65B9-432B-8565-F08B7C9FC136}"/>
              </a:ext>
            </a:extLst>
          </p:cNvPr>
          <p:cNvPicPr>
            <a:picLocks noChangeAspect="1"/>
          </p:cNvPicPr>
          <p:nvPr/>
        </p:nvPicPr>
        <p:blipFill>
          <a:blip r:embed="rId19"/>
          <a:stretch>
            <a:fillRect/>
          </a:stretch>
        </p:blipFill>
        <p:spPr>
          <a:xfrm>
            <a:off x="4235413" y="3920393"/>
            <a:ext cx="1891067" cy="784101"/>
          </a:xfrm>
          <a:prstGeom prst="rect">
            <a:avLst/>
          </a:prstGeom>
        </p:spPr>
      </p:pic>
      <p:pic>
        <p:nvPicPr>
          <p:cNvPr id="18" name="Picture 17">
            <a:extLst>
              <a:ext uri="{FF2B5EF4-FFF2-40B4-BE49-F238E27FC236}">
                <a16:creationId xmlns:a16="http://schemas.microsoft.com/office/drawing/2014/main" id="{07F1FE28-319E-4BE9-9A45-E42DF2B94BB0}"/>
              </a:ext>
            </a:extLst>
          </p:cNvPr>
          <p:cNvPicPr>
            <a:picLocks noChangeAspect="1"/>
          </p:cNvPicPr>
          <p:nvPr/>
        </p:nvPicPr>
        <p:blipFill>
          <a:blip r:embed="rId20"/>
          <a:stretch>
            <a:fillRect/>
          </a:stretch>
        </p:blipFill>
        <p:spPr>
          <a:xfrm>
            <a:off x="6519704" y="3896226"/>
            <a:ext cx="1676400" cy="806116"/>
          </a:xfrm>
          <a:prstGeom prst="rect">
            <a:avLst/>
          </a:prstGeom>
        </p:spPr>
      </p:pic>
      <p:pic>
        <p:nvPicPr>
          <p:cNvPr id="19" name="Picture 18">
            <a:extLst>
              <a:ext uri="{FF2B5EF4-FFF2-40B4-BE49-F238E27FC236}">
                <a16:creationId xmlns:a16="http://schemas.microsoft.com/office/drawing/2014/main" id="{BAE6886C-7D2F-46A6-8444-C9730C20A99D}"/>
              </a:ext>
            </a:extLst>
          </p:cNvPr>
          <p:cNvPicPr>
            <a:picLocks noChangeAspect="1"/>
          </p:cNvPicPr>
          <p:nvPr/>
        </p:nvPicPr>
        <p:blipFill>
          <a:blip r:embed="rId21"/>
          <a:stretch>
            <a:fillRect/>
          </a:stretch>
        </p:blipFill>
        <p:spPr>
          <a:xfrm>
            <a:off x="-17786" y="3754536"/>
            <a:ext cx="1541786" cy="1132009"/>
          </a:xfrm>
          <a:prstGeom prst="rect">
            <a:avLst/>
          </a:prstGeom>
        </p:spPr>
      </p:pic>
    </p:spTree>
    <p:extLst>
      <p:ext uri="{BB962C8B-B14F-4D97-AF65-F5344CB8AC3E}">
        <p14:creationId xmlns:p14="http://schemas.microsoft.com/office/powerpoint/2010/main" val="10141801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72" name="Rectangle 4"/>
          <p:cNvSpPr>
            <a:spLocks noGrp="1" noChangeArrowheads="1"/>
          </p:cNvSpPr>
          <p:nvPr>
            <p:ph sz="half" idx="4294967295"/>
            <p:custDataLst>
              <p:tags r:id="rId2"/>
            </p:custDataLst>
          </p:nvPr>
        </p:nvSpPr>
        <p:spPr>
          <a:xfrm>
            <a:off x="533400" y="1066800"/>
            <a:ext cx="7543800" cy="4953000"/>
          </a:xfrm>
        </p:spPr>
        <p:txBody>
          <a:bodyPr>
            <a:normAutofit/>
          </a:bodyPr>
          <a:lstStyle/>
          <a:p>
            <a:r>
              <a:rPr lang="en-US" sz="2600" dirty="0"/>
              <a:t>The clock doesn’t arrive at all registers at same time</a:t>
            </a:r>
          </a:p>
          <a:p>
            <a:r>
              <a:rPr lang="en-US" sz="2600" b="1" dirty="0"/>
              <a:t>Skew:</a:t>
            </a:r>
            <a:r>
              <a:rPr lang="en-US" sz="2600" dirty="0"/>
              <a:t> difference between two clock edges</a:t>
            </a:r>
          </a:p>
          <a:p>
            <a:r>
              <a:rPr lang="en-US" sz="2600" dirty="0"/>
              <a:t>Perform </a:t>
            </a:r>
            <a:r>
              <a:rPr lang="en-US" sz="2600" b="1" dirty="0"/>
              <a:t>worst case analysis </a:t>
            </a:r>
            <a:r>
              <a:rPr lang="en-US" sz="2600" dirty="0"/>
              <a:t>to guarantee dynamic discipline is not violated for any register – many registers in a system!</a:t>
            </a:r>
          </a:p>
        </p:txBody>
      </p:sp>
      <p:graphicFrame>
        <p:nvGraphicFramePr>
          <p:cNvPr id="1056778" name="Object 10"/>
          <p:cNvGraphicFramePr>
            <a:graphicFrameLocks noGrp="1" noChangeAspect="1"/>
          </p:cNvGraphicFramePr>
          <p:nvPr>
            <p:ph sz="half" idx="4294967295"/>
            <p:custDataLst>
              <p:tags r:id="rId3"/>
            </p:custDataLst>
            <p:extLst>
              <p:ext uri="{D42A27DB-BD31-4B8C-83A1-F6EECF244321}">
                <p14:modId xmlns:p14="http://schemas.microsoft.com/office/powerpoint/2010/main" val="153380785"/>
              </p:ext>
            </p:extLst>
          </p:nvPr>
        </p:nvGraphicFramePr>
        <p:xfrm>
          <a:off x="3048000" y="3124200"/>
          <a:ext cx="3391680" cy="2874963"/>
        </p:xfrm>
        <a:graphic>
          <a:graphicData uri="http://schemas.openxmlformats.org/presentationml/2006/ole">
            <mc:AlternateContent xmlns:mc="http://schemas.openxmlformats.org/markup-compatibility/2006">
              <mc:Choice xmlns:v="urn:schemas-microsoft-com:vml" Requires="v">
                <p:oleObj spid="_x0000_s44034" name="VISIO" r:id="rId8" imgW="2321280" imgH="1967400" progId="Visio.Drawing.6">
                  <p:embed/>
                </p:oleObj>
              </mc:Choice>
              <mc:Fallback>
                <p:oleObj name="VISIO" r:id="rId8" imgW="2321280" imgH="196740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0" y="3124200"/>
                        <a:ext cx="3391680" cy="2874963"/>
                      </a:xfrm>
                      <a:prstGeom prst="rect">
                        <a:avLst/>
                      </a:prstGeom>
                      <a:noFill/>
                      <a:ln>
                        <a:noFill/>
                      </a:ln>
                      <a:effectLst/>
                    </p:spPr>
                  </p:pic>
                </p:oleObj>
              </mc:Fallback>
            </mc:AlternateContent>
          </a:graphicData>
        </a:graphic>
      </p:graphicFrame>
      <p:sp>
        <p:nvSpPr>
          <p:cNvPr id="1056770"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56773" name="Rectangle 5"/>
          <p:cNvSpPr>
            <a:spLocks noChangeArrowheads="1"/>
          </p:cNvSpPr>
          <p:nvPr>
            <p:custDataLst>
              <p:tags r:id="rId5"/>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Clock Skew</a:t>
            </a:r>
          </a:p>
        </p:txBody>
      </p:sp>
    </p:spTree>
    <p:extLst>
      <p:ext uri="{BB962C8B-B14F-4D97-AF65-F5344CB8AC3E}">
        <p14:creationId xmlns:p14="http://schemas.microsoft.com/office/powerpoint/2010/main" val="2662023514"/>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892" name="Rectangle 4"/>
          <p:cNvSpPr>
            <a:spLocks noGrp="1" noChangeArrowheads="1"/>
          </p:cNvSpPr>
          <p:nvPr>
            <p:ph sz="half" idx="4294967295"/>
            <p:custDataLst>
              <p:tags r:id="rId2"/>
            </p:custDataLst>
          </p:nvPr>
        </p:nvSpPr>
        <p:spPr>
          <a:xfrm>
            <a:off x="457200" y="1066800"/>
            <a:ext cx="7848600" cy="4953000"/>
          </a:xfrm>
        </p:spPr>
        <p:txBody>
          <a:bodyPr>
            <a:normAutofit/>
          </a:bodyPr>
          <a:lstStyle/>
          <a:p>
            <a:r>
              <a:rPr lang="en-US" dirty="0"/>
              <a:t>In the worst case, CLK2 is earlier than CLK1</a:t>
            </a:r>
          </a:p>
        </p:txBody>
      </p:sp>
      <p:graphicFrame>
        <p:nvGraphicFramePr>
          <p:cNvPr id="1189896" name="Object 8"/>
          <p:cNvGraphicFramePr>
            <a:graphicFrameLocks noGrp="1" noChangeAspect="1"/>
          </p:cNvGraphicFramePr>
          <p:nvPr>
            <p:ph sz="half" idx="4294967295"/>
            <p:custDataLst>
              <p:tags r:id="rId3"/>
            </p:custDataLst>
            <p:extLst>
              <p:ext uri="{D42A27DB-BD31-4B8C-83A1-F6EECF244321}">
                <p14:modId xmlns:p14="http://schemas.microsoft.com/office/powerpoint/2010/main" val="1197301213"/>
              </p:ext>
            </p:extLst>
          </p:nvPr>
        </p:nvGraphicFramePr>
        <p:xfrm>
          <a:off x="762000" y="1752600"/>
          <a:ext cx="4495800" cy="4108450"/>
        </p:xfrm>
        <a:graphic>
          <a:graphicData uri="http://schemas.openxmlformats.org/presentationml/2006/ole">
            <mc:AlternateContent xmlns:mc="http://schemas.openxmlformats.org/markup-compatibility/2006">
              <mc:Choice xmlns:v="urn:schemas-microsoft-com:vml" Requires="v">
                <p:oleObj spid="_x0000_s45058" name="VISIO" r:id="rId10" imgW="2157480" imgH="1971720" progId="Visio.Drawing.6">
                  <p:embed/>
                </p:oleObj>
              </mc:Choice>
              <mc:Fallback>
                <p:oleObj name="VISIO" r:id="rId10" imgW="2157480" imgH="197172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0" y="1752600"/>
                        <a:ext cx="4495800" cy="4108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9890"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89893" name="Rectangle 5"/>
          <p:cNvSpPr>
            <a:spLocks noChangeArrowheads="1"/>
          </p:cNvSpPr>
          <p:nvPr>
            <p:custDataLst>
              <p:tags r:id="rId5"/>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89894" name="Rectangle 6"/>
          <p:cNvSpPr>
            <a:spLocks noChangeArrowheads="1"/>
          </p:cNvSpPr>
          <p:nvPr>
            <p:custDataLst>
              <p:tags r:id="rId6"/>
            </p:custDataLst>
          </p:nvPr>
        </p:nvSpPr>
        <p:spPr bwMode="auto">
          <a:xfrm>
            <a:off x="5181600" y="3429000"/>
            <a:ext cx="3727580" cy="137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b="1" i="1" dirty="0" err="1">
                <a:solidFill>
                  <a:srgbClr val="0070C0"/>
                </a:solidFill>
                <a:latin typeface="Times New Roman" pitchFamily="18" charset="0"/>
                <a:cs typeface="Arial" charset="0"/>
              </a:rPr>
              <a:t>T</a:t>
            </a:r>
            <a:r>
              <a:rPr lang="en-US" sz="2400" b="1" i="1" baseline="-25000" dirty="0" err="1">
                <a:solidFill>
                  <a:srgbClr val="0070C0"/>
                </a:solidFill>
                <a:latin typeface="Times New Roman" pitchFamily="18" charset="0"/>
                <a:cs typeface="Arial" charset="0"/>
              </a:rPr>
              <a:t>c</a:t>
            </a:r>
            <a:r>
              <a:rPr lang="en-US" sz="2400" b="1" dirty="0">
                <a:solidFill>
                  <a:srgbClr val="0070C0"/>
                </a:solidFill>
                <a:latin typeface="Times New Roman" pitchFamily="18" charset="0"/>
                <a:cs typeface="Arial" charset="0"/>
              </a:rPr>
              <a:t> ≥ </a:t>
            </a:r>
            <a:r>
              <a:rPr lang="en-US" sz="2400" b="1" i="1" dirty="0" err="1">
                <a:solidFill>
                  <a:srgbClr val="0070C0"/>
                </a:solidFill>
                <a:latin typeface="Times New Roman" pitchFamily="18" charset="0"/>
                <a:cs typeface="Arial" charset="0"/>
              </a:rPr>
              <a:t>t</a:t>
            </a:r>
            <a:r>
              <a:rPr lang="en-US" sz="2400" b="1" i="1" baseline="-25000" dirty="0" err="1">
                <a:solidFill>
                  <a:srgbClr val="0070C0"/>
                </a:solidFill>
                <a:latin typeface="Times New Roman" pitchFamily="18" charset="0"/>
                <a:cs typeface="Arial" charset="0"/>
              </a:rPr>
              <a:t>pcq</a:t>
            </a:r>
            <a:r>
              <a:rPr lang="en-US" sz="2400" b="1" dirty="0">
                <a:solidFill>
                  <a:srgbClr val="0070C0"/>
                </a:solidFill>
                <a:latin typeface="Times New Roman" pitchFamily="18" charset="0"/>
                <a:cs typeface="Arial" charset="0"/>
              </a:rPr>
              <a:t> + </a:t>
            </a:r>
            <a:r>
              <a:rPr lang="en-US" sz="2400" b="1" i="1" dirty="0" err="1">
                <a:solidFill>
                  <a:srgbClr val="0070C0"/>
                </a:solidFill>
                <a:latin typeface="Times New Roman" pitchFamily="18" charset="0"/>
                <a:cs typeface="Arial" charset="0"/>
              </a:rPr>
              <a:t>t</a:t>
            </a:r>
            <a:r>
              <a:rPr lang="en-US" sz="2400" b="1" i="1" baseline="-25000" dirty="0" err="1">
                <a:solidFill>
                  <a:srgbClr val="0070C0"/>
                </a:solidFill>
                <a:latin typeface="Times New Roman" pitchFamily="18" charset="0"/>
                <a:cs typeface="Arial" charset="0"/>
              </a:rPr>
              <a:t>pd</a:t>
            </a:r>
            <a:r>
              <a:rPr lang="en-US" sz="2400" b="1" dirty="0">
                <a:solidFill>
                  <a:srgbClr val="0070C0"/>
                </a:solidFill>
                <a:latin typeface="Times New Roman" pitchFamily="18" charset="0"/>
                <a:cs typeface="Arial" charset="0"/>
              </a:rPr>
              <a:t> + </a:t>
            </a:r>
            <a:r>
              <a:rPr lang="en-US" sz="2400" b="1" i="1" dirty="0" err="1">
                <a:solidFill>
                  <a:srgbClr val="0070C0"/>
                </a:solidFill>
                <a:latin typeface="Times New Roman" pitchFamily="18" charset="0"/>
                <a:cs typeface="Arial" charset="0"/>
              </a:rPr>
              <a:t>t</a:t>
            </a:r>
            <a:r>
              <a:rPr lang="en-US" sz="2400" b="1" baseline="-25000" dirty="0" err="1">
                <a:solidFill>
                  <a:srgbClr val="0070C0"/>
                </a:solidFill>
                <a:latin typeface="Times New Roman" pitchFamily="18" charset="0"/>
                <a:cs typeface="Arial" charset="0"/>
              </a:rPr>
              <a:t>setup</a:t>
            </a:r>
            <a:r>
              <a:rPr lang="en-US" sz="2400" b="1" dirty="0">
                <a:solidFill>
                  <a:srgbClr val="0070C0"/>
                </a:solidFill>
                <a:latin typeface="Times New Roman" pitchFamily="18" charset="0"/>
                <a:cs typeface="Arial" charset="0"/>
              </a:rPr>
              <a:t> + </a:t>
            </a:r>
            <a:r>
              <a:rPr lang="en-US" sz="2400" b="1" i="1" dirty="0" err="1">
                <a:solidFill>
                  <a:srgbClr val="0070C0"/>
                </a:solidFill>
                <a:latin typeface="Times New Roman" pitchFamily="18" charset="0"/>
                <a:cs typeface="Arial" charset="0"/>
              </a:rPr>
              <a:t>t</a:t>
            </a:r>
            <a:r>
              <a:rPr lang="en-US" sz="2400" b="1" baseline="-25000" dirty="0" err="1">
                <a:solidFill>
                  <a:srgbClr val="0070C0"/>
                </a:solidFill>
                <a:latin typeface="Times New Roman" pitchFamily="18" charset="0"/>
                <a:cs typeface="Arial" charset="0"/>
              </a:rPr>
              <a:t>skew</a:t>
            </a:r>
            <a:endParaRPr lang="en-US" sz="2400" b="1" baseline="-25000" dirty="0">
              <a:solidFill>
                <a:srgbClr val="0070C0"/>
              </a:solidFill>
              <a:latin typeface="Times New Roman" pitchFamily="18" charset="0"/>
              <a:cs typeface="Arial" charset="0"/>
            </a:endParaRPr>
          </a:p>
          <a:p>
            <a:pPr marL="342900" indent="-342900">
              <a:spcBef>
                <a:spcPct val="20000"/>
              </a:spcBef>
            </a:pPr>
            <a:r>
              <a:rPr lang="en-US" sz="2400" b="1" i="1" dirty="0" err="1">
                <a:solidFill>
                  <a:srgbClr val="0070C0"/>
                </a:solidFill>
                <a:latin typeface="Times New Roman" pitchFamily="18" charset="0"/>
                <a:cs typeface="Arial" charset="0"/>
              </a:rPr>
              <a:t>t</a:t>
            </a:r>
            <a:r>
              <a:rPr lang="en-US" sz="2400" b="1" i="1" baseline="-25000" dirty="0" err="1">
                <a:solidFill>
                  <a:srgbClr val="0070C0"/>
                </a:solidFill>
                <a:latin typeface="Times New Roman" pitchFamily="18" charset="0"/>
                <a:cs typeface="Arial" charset="0"/>
              </a:rPr>
              <a:t>pd</a:t>
            </a:r>
            <a:r>
              <a:rPr lang="en-US" sz="2400" b="1" dirty="0">
                <a:solidFill>
                  <a:srgbClr val="0070C0"/>
                </a:solidFill>
                <a:latin typeface="Times New Roman" pitchFamily="18" charset="0"/>
                <a:cs typeface="Arial" charset="0"/>
              </a:rPr>
              <a:t> ≤ </a:t>
            </a:r>
            <a:r>
              <a:rPr lang="en-US" sz="2400" b="1" i="1" dirty="0" err="1">
                <a:solidFill>
                  <a:srgbClr val="0070C0"/>
                </a:solidFill>
                <a:latin typeface="Times New Roman" pitchFamily="18" charset="0"/>
                <a:cs typeface="Arial" charset="0"/>
              </a:rPr>
              <a:t>T</a:t>
            </a:r>
            <a:r>
              <a:rPr lang="en-US" sz="2400" b="1" i="1" baseline="-25000" dirty="0" err="1">
                <a:solidFill>
                  <a:srgbClr val="0070C0"/>
                </a:solidFill>
                <a:latin typeface="Times New Roman" pitchFamily="18" charset="0"/>
                <a:cs typeface="Arial" charset="0"/>
              </a:rPr>
              <a:t>c</a:t>
            </a:r>
            <a:r>
              <a:rPr lang="en-US" sz="2400" b="1" dirty="0">
                <a:solidFill>
                  <a:srgbClr val="0070C0"/>
                </a:solidFill>
                <a:latin typeface="Times New Roman" pitchFamily="18" charset="0"/>
                <a:cs typeface="Arial" charset="0"/>
              </a:rPr>
              <a:t> – (</a:t>
            </a:r>
            <a:r>
              <a:rPr lang="en-US" sz="2400" b="1" i="1" dirty="0" err="1">
                <a:solidFill>
                  <a:srgbClr val="0070C0"/>
                </a:solidFill>
                <a:latin typeface="Times New Roman" pitchFamily="18" charset="0"/>
                <a:cs typeface="Arial" charset="0"/>
              </a:rPr>
              <a:t>t</a:t>
            </a:r>
            <a:r>
              <a:rPr lang="en-US" sz="2400" b="1" i="1" baseline="-25000" dirty="0" err="1">
                <a:solidFill>
                  <a:srgbClr val="0070C0"/>
                </a:solidFill>
                <a:latin typeface="Times New Roman" pitchFamily="18" charset="0"/>
                <a:cs typeface="Arial" charset="0"/>
              </a:rPr>
              <a:t>pcq</a:t>
            </a:r>
            <a:r>
              <a:rPr lang="en-US" sz="2400" b="1" dirty="0">
                <a:solidFill>
                  <a:srgbClr val="0070C0"/>
                </a:solidFill>
                <a:latin typeface="Times New Roman" pitchFamily="18" charset="0"/>
                <a:cs typeface="Arial" charset="0"/>
              </a:rPr>
              <a:t> + </a:t>
            </a:r>
            <a:r>
              <a:rPr lang="en-US" sz="2400" b="1" i="1" dirty="0" err="1">
                <a:solidFill>
                  <a:srgbClr val="0070C0"/>
                </a:solidFill>
                <a:latin typeface="Times New Roman" pitchFamily="18" charset="0"/>
                <a:cs typeface="Arial" charset="0"/>
              </a:rPr>
              <a:t>t</a:t>
            </a:r>
            <a:r>
              <a:rPr lang="en-US" sz="2400" b="1" baseline="-25000" dirty="0" err="1">
                <a:solidFill>
                  <a:srgbClr val="0070C0"/>
                </a:solidFill>
                <a:latin typeface="Times New Roman" pitchFamily="18" charset="0"/>
                <a:cs typeface="Arial" charset="0"/>
              </a:rPr>
              <a:t>setup</a:t>
            </a:r>
            <a:r>
              <a:rPr lang="en-US" sz="2400" b="1" baseline="-25000" dirty="0">
                <a:solidFill>
                  <a:srgbClr val="0070C0"/>
                </a:solidFill>
                <a:latin typeface="Times New Roman" pitchFamily="18" charset="0"/>
                <a:cs typeface="Arial" charset="0"/>
              </a:rPr>
              <a:t> </a:t>
            </a:r>
            <a:r>
              <a:rPr lang="en-US" sz="2400" b="1" dirty="0">
                <a:solidFill>
                  <a:srgbClr val="0070C0"/>
                </a:solidFill>
                <a:latin typeface="Times New Roman" pitchFamily="18" charset="0"/>
                <a:cs typeface="Arial" charset="0"/>
              </a:rPr>
              <a:t>+ </a:t>
            </a:r>
            <a:r>
              <a:rPr lang="en-US" sz="2400" b="1" i="1" dirty="0" err="1">
                <a:solidFill>
                  <a:srgbClr val="0070C0"/>
                </a:solidFill>
                <a:latin typeface="Times New Roman" pitchFamily="18" charset="0"/>
                <a:cs typeface="Arial" charset="0"/>
              </a:rPr>
              <a:t>t</a:t>
            </a:r>
            <a:r>
              <a:rPr lang="en-US" sz="2400" b="1" baseline="-25000" dirty="0" err="1">
                <a:solidFill>
                  <a:srgbClr val="0070C0"/>
                </a:solidFill>
                <a:latin typeface="Times New Roman" pitchFamily="18" charset="0"/>
                <a:cs typeface="Arial" charset="0"/>
              </a:rPr>
              <a:t>skew</a:t>
            </a:r>
            <a:r>
              <a:rPr lang="en-US" sz="2400" b="1" dirty="0">
                <a:solidFill>
                  <a:srgbClr val="0070C0"/>
                </a:solidFill>
                <a:latin typeface="Times New Roman" pitchFamily="18" charset="0"/>
                <a:cs typeface="Arial" charset="0"/>
              </a:rPr>
              <a:t>)</a:t>
            </a:r>
            <a:endParaRPr lang="en-US" sz="2400" b="1" baseline="-25000" dirty="0">
              <a:solidFill>
                <a:srgbClr val="0070C0"/>
              </a:solidFill>
              <a:latin typeface="Times New Roman" pitchFamily="18" charset="0"/>
              <a:cs typeface="Times New Roman" pitchFamily="18" charset="0"/>
            </a:endParaRPr>
          </a:p>
          <a:p>
            <a:pPr marL="342900" indent="-342900">
              <a:spcBef>
                <a:spcPct val="20000"/>
              </a:spcBef>
            </a:pPr>
            <a:endParaRPr lang="en-US" sz="2400" b="1" baseline="-25000" dirty="0">
              <a:solidFill>
                <a:srgbClr val="0070C0"/>
              </a:solidFill>
              <a:latin typeface="Times New Roman" pitchFamily="18" charset="0"/>
              <a:cs typeface="Times New Roman" pitchFamily="18" charset="0"/>
            </a:endParaRPr>
          </a:p>
        </p:txBody>
      </p:sp>
      <p:sp>
        <p:nvSpPr>
          <p:cNvPr id="1189895" name="Rectangle 7"/>
          <p:cNvSpPr>
            <a:spLocks noChangeArrowheads="1"/>
          </p:cNvSpPr>
          <p:nvPr>
            <p:custDataLst>
              <p:tags r:id="rId7"/>
            </p:custDataLst>
          </p:nvPr>
        </p:nvSpPr>
        <p:spPr bwMode="auto">
          <a:xfrm>
            <a:off x="5181600" y="3352800"/>
            <a:ext cx="3886200" cy="1371600"/>
          </a:xfrm>
          <a:prstGeom prst="rect">
            <a:avLst/>
          </a:prstGeom>
          <a:noFill/>
          <a:ln w="19050">
            <a:solidFill>
              <a:schemeClr val="accent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0070C0"/>
              </a:solidFill>
            </a:endParaRPr>
          </a:p>
        </p:txBody>
      </p:sp>
      <p:sp>
        <p:nvSpPr>
          <p:cNvPr id="11" name="TextBox 10"/>
          <p:cNvSpPr txBox="1"/>
          <p:nvPr/>
        </p:nvSpPr>
        <p:spPr>
          <a:xfrm>
            <a:off x="457200" y="76558"/>
            <a:ext cx="7924800" cy="769441"/>
          </a:xfrm>
          <a:prstGeom prst="rect">
            <a:avLst/>
          </a:prstGeom>
          <a:noFill/>
        </p:spPr>
        <p:txBody>
          <a:bodyPr wrap="square" rtlCol="0">
            <a:spAutoFit/>
          </a:bodyPr>
          <a:lstStyle/>
          <a:p>
            <a:r>
              <a:rPr lang="en-US" sz="4400" dirty="0">
                <a:solidFill>
                  <a:schemeClr val="bg1"/>
                </a:solidFill>
                <a:latin typeface="+mj-lt"/>
              </a:rPr>
              <a:t>Setup Time Constraint with Skew</a:t>
            </a:r>
          </a:p>
        </p:txBody>
      </p:sp>
      <p:sp>
        <p:nvSpPr>
          <p:cNvPr id="13" name="Rectangle 12"/>
          <p:cNvSpPr/>
          <p:nvPr/>
        </p:nvSpPr>
        <p:spPr>
          <a:xfrm>
            <a:off x="5791200" y="3505200"/>
            <a:ext cx="31242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5867400" y="3962400"/>
            <a:ext cx="31242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24361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3988" name="Rectangle 4"/>
          <p:cNvSpPr>
            <a:spLocks noGrp="1" noChangeArrowheads="1"/>
          </p:cNvSpPr>
          <p:nvPr>
            <p:ph sz="half" idx="4294967295"/>
            <p:custDataLst>
              <p:tags r:id="rId2"/>
            </p:custDataLst>
          </p:nvPr>
        </p:nvSpPr>
        <p:spPr>
          <a:xfrm>
            <a:off x="609600" y="990600"/>
            <a:ext cx="7543800" cy="4953000"/>
          </a:xfrm>
        </p:spPr>
        <p:txBody>
          <a:bodyPr>
            <a:normAutofit/>
          </a:bodyPr>
          <a:lstStyle/>
          <a:p>
            <a:r>
              <a:rPr lang="en-US" dirty="0"/>
              <a:t>In the worst case, CLK2 is later than CLK1</a:t>
            </a:r>
          </a:p>
        </p:txBody>
      </p:sp>
      <p:graphicFrame>
        <p:nvGraphicFramePr>
          <p:cNvPr id="1193992" name="Object 8"/>
          <p:cNvGraphicFramePr>
            <a:graphicFrameLocks noGrp="1" noChangeAspect="1"/>
          </p:cNvGraphicFramePr>
          <p:nvPr>
            <p:ph sz="half" idx="4294967295"/>
            <p:custDataLst>
              <p:tags r:id="rId3"/>
            </p:custDataLst>
            <p:extLst>
              <p:ext uri="{D42A27DB-BD31-4B8C-83A1-F6EECF244321}">
                <p14:modId xmlns:p14="http://schemas.microsoft.com/office/powerpoint/2010/main" val="2443128745"/>
              </p:ext>
            </p:extLst>
          </p:nvPr>
        </p:nvGraphicFramePr>
        <p:xfrm>
          <a:off x="906462" y="1524000"/>
          <a:ext cx="4275138" cy="4419600"/>
        </p:xfrm>
        <a:graphic>
          <a:graphicData uri="http://schemas.openxmlformats.org/presentationml/2006/ole">
            <mc:AlternateContent xmlns:mc="http://schemas.openxmlformats.org/markup-compatibility/2006">
              <mc:Choice xmlns:v="urn:schemas-microsoft-com:vml" Requires="v">
                <p:oleObj spid="_x0000_s46082" name="VISIO" r:id="rId10" imgW="2128680" imgH="2200320" progId="Visio.Drawing.6">
                  <p:embed/>
                </p:oleObj>
              </mc:Choice>
              <mc:Fallback>
                <p:oleObj name="VISIO" r:id="rId10" imgW="2128680" imgH="220032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6462" y="1524000"/>
                        <a:ext cx="4275138" cy="4419600"/>
                      </a:xfrm>
                      <a:prstGeom prst="rect">
                        <a:avLst/>
                      </a:prstGeom>
                    </p:spPr>
                  </p:pic>
                </p:oleObj>
              </mc:Fallback>
            </mc:AlternateContent>
          </a:graphicData>
        </a:graphic>
      </p:graphicFrame>
      <p:sp>
        <p:nvSpPr>
          <p:cNvPr id="1193986"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93989" name="Rectangle 5"/>
          <p:cNvSpPr>
            <a:spLocks noChangeArrowheads="1"/>
          </p:cNvSpPr>
          <p:nvPr>
            <p:custDataLst>
              <p:tags r:id="rId5"/>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93990" name="Rectangle 6"/>
          <p:cNvSpPr>
            <a:spLocks noChangeArrowheads="1"/>
          </p:cNvSpPr>
          <p:nvPr>
            <p:custDataLst>
              <p:tags r:id="rId6"/>
            </p:custDataLst>
          </p:nvPr>
        </p:nvSpPr>
        <p:spPr bwMode="auto">
          <a:xfrm>
            <a:off x="5257800" y="3429000"/>
            <a:ext cx="3200400" cy="990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ccq</a:t>
            </a:r>
            <a:r>
              <a:rPr lang="en-US" sz="2800" b="1" dirty="0">
                <a:solidFill>
                  <a:srgbClr val="0070C0"/>
                </a:solidFill>
                <a:latin typeface="Times New Roman" pitchFamily="18" charset="0"/>
                <a:cs typeface="Arial" charset="0"/>
              </a:rPr>
              <a:t> +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cd</a:t>
            </a:r>
            <a:r>
              <a:rPr lang="en-US" sz="2800" b="1" dirty="0">
                <a:solidFill>
                  <a:srgbClr val="0070C0"/>
                </a:solidFill>
                <a:latin typeface="Times New Roman" pitchFamily="18" charset="0"/>
                <a:cs typeface="Arial" charset="0"/>
              </a:rPr>
              <a:t> &gt; </a:t>
            </a:r>
            <a:r>
              <a:rPr lang="en-US" sz="2800" b="1" i="1" dirty="0" err="1">
                <a:solidFill>
                  <a:srgbClr val="0070C0"/>
                </a:solidFill>
                <a:latin typeface="Times New Roman" pitchFamily="18" charset="0"/>
                <a:cs typeface="Arial" charset="0"/>
              </a:rPr>
              <a:t>t</a:t>
            </a:r>
            <a:r>
              <a:rPr lang="en-US" sz="2800" b="1" baseline="-25000" dirty="0" err="1">
                <a:solidFill>
                  <a:srgbClr val="0070C0"/>
                </a:solidFill>
                <a:latin typeface="Times New Roman" pitchFamily="18" charset="0"/>
                <a:cs typeface="Arial" charset="0"/>
              </a:rPr>
              <a:t>hold</a:t>
            </a:r>
            <a:r>
              <a:rPr lang="en-US" sz="2800" b="1" baseline="-25000"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t</a:t>
            </a:r>
            <a:r>
              <a:rPr lang="en-US" sz="2800" b="1" baseline="-25000" dirty="0" err="1">
                <a:solidFill>
                  <a:srgbClr val="0070C0"/>
                </a:solidFill>
                <a:latin typeface="Times New Roman" pitchFamily="18" charset="0"/>
                <a:cs typeface="Arial" charset="0"/>
              </a:rPr>
              <a:t>skew</a:t>
            </a:r>
            <a:endParaRPr lang="en-US" sz="2800" b="1" baseline="-25000" dirty="0">
              <a:solidFill>
                <a:srgbClr val="0070C0"/>
              </a:solidFill>
              <a:latin typeface="Times New Roman" pitchFamily="18" charset="0"/>
              <a:cs typeface="Arial" charset="0"/>
            </a:endParaRPr>
          </a:p>
          <a:p>
            <a:pPr marL="342900" indent="-342900">
              <a:spcBef>
                <a:spcPct val="20000"/>
              </a:spcBef>
            </a:pP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cd</a:t>
            </a:r>
            <a:r>
              <a:rPr lang="en-US" sz="2800" b="1" dirty="0">
                <a:solidFill>
                  <a:srgbClr val="0070C0"/>
                </a:solidFill>
                <a:latin typeface="Times New Roman" pitchFamily="18" charset="0"/>
                <a:cs typeface="Arial" charset="0"/>
              </a:rPr>
              <a:t> &gt; </a:t>
            </a:r>
            <a:r>
              <a:rPr lang="en-US" sz="2800" b="1" i="1" dirty="0" err="1">
                <a:solidFill>
                  <a:srgbClr val="0070C0"/>
                </a:solidFill>
                <a:latin typeface="Times New Roman" pitchFamily="18" charset="0"/>
                <a:cs typeface="Arial" charset="0"/>
              </a:rPr>
              <a:t>t</a:t>
            </a:r>
            <a:r>
              <a:rPr lang="en-US" sz="2800" b="1" baseline="-25000" dirty="0" err="1">
                <a:solidFill>
                  <a:srgbClr val="0070C0"/>
                </a:solidFill>
                <a:latin typeface="Times New Roman" pitchFamily="18" charset="0"/>
                <a:cs typeface="Arial" charset="0"/>
              </a:rPr>
              <a:t>hold</a:t>
            </a:r>
            <a:r>
              <a:rPr lang="en-US" sz="2800" b="1" baseline="-25000"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t</a:t>
            </a:r>
            <a:r>
              <a:rPr lang="en-US" sz="2800" b="1" baseline="-25000" dirty="0" err="1">
                <a:solidFill>
                  <a:srgbClr val="0070C0"/>
                </a:solidFill>
                <a:latin typeface="Times New Roman" pitchFamily="18" charset="0"/>
                <a:cs typeface="Arial" charset="0"/>
              </a:rPr>
              <a:t>skew</a:t>
            </a:r>
            <a:r>
              <a:rPr lang="en-US" sz="2800" b="1" baseline="-25000" dirty="0">
                <a:solidFill>
                  <a:srgbClr val="0070C0"/>
                </a:solidFill>
                <a:latin typeface="Times New Roman" pitchFamily="18" charset="0"/>
                <a:cs typeface="Arial" charset="0"/>
              </a:rPr>
              <a:t> </a:t>
            </a:r>
            <a:r>
              <a:rPr lang="en-US" sz="2800" b="1" dirty="0">
                <a:solidFill>
                  <a:srgbClr val="0070C0"/>
                </a:solidFill>
                <a:latin typeface="Times New Roman" pitchFamily="18" charset="0"/>
                <a:cs typeface="Arial" charset="0"/>
              </a:rPr>
              <a:t>– </a:t>
            </a:r>
            <a:r>
              <a:rPr lang="en-US" sz="2800" b="1" i="1" dirty="0" err="1">
                <a:solidFill>
                  <a:srgbClr val="0070C0"/>
                </a:solidFill>
                <a:latin typeface="Times New Roman" pitchFamily="18" charset="0"/>
                <a:cs typeface="Arial" charset="0"/>
              </a:rPr>
              <a:t>t</a:t>
            </a:r>
            <a:r>
              <a:rPr lang="en-US" sz="2800" b="1" i="1" baseline="-25000" dirty="0" err="1">
                <a:solidFill>
                  <a:srgbClr val="0070C0"/>
                </a:solidFill>
                <a:latin typeface="Times New Roman" pitchFamily="18" charset="0"/>
                <a:cs typeface="Arial" charset="0"/>
              </a:rPr>
              <a:t>ccq</a:t>
            </a:r>
            <a:r>
              <a:rPr lang="en-US" sz="2800" b="1" dirty="0">
                <a:solidFill>
                  <a:srgbClr val="0070C0"/>
                </a:solidFill>
                <a:latin typeface="Times New Roman" pitchFamily="18" charset="0"/>
                <a:cs typeface="Arial" charset="0"/>
              </a:rPr>
              <a:t> </a:t>
            </a:r>
          </a:p>
        </p:txBody>
      </p:sp>
      <p:sp>
        <p:nvSpPr>
          <p:cNvPr id="1193991" name="Rectangle 7"/>
          <p:cNvSpPr>
            <a:spLocks noChangeArrowheads="1"/>
          </p:cNvSpPr>
          <p:nvPr>
            <p:custDataLst>
              <p:tags r:id="rId7"/>
            </p:custDataLst>
          </p:nvPr>
        </p:nvSpPr>
        <p:spPr bwMode="auto">
          <a:xfrm>
            <a:off x="5257800" y="3429000"/>
            <a:ext cx="3276600" cy="1219200"/>
          </a:xfrm>
          <a:prstGeom prst="rect">
            <a:avLst/>
          </a:prstGeom>
          <a:noFill/>
          <a:ln w="19050">
            <a:solidFill>
              <a:schemeClr val="accent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0070C0"/>
              </a:solidFill>
            </a:endParaRPr>
          </a:p>
        </p:txBody>
      </p:sp>
      <p:sp>
        <p:nvSpPr>
          <p:cNvPr id="11" name="TextBox 10"/>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Hold Time Constraint with Skew</a:t>
            </a:r>
          </a:p>
        </p:txBody>
      </p:sp>
      <p:sp>
        <p:nvSpPr>
          <p:cNvPr id="10" name="Rectangle 9"/>
          <p:cNvSpPr/>
          <p:nvPr/>
        </p:nvSpPr>
        <p:spPr>
          <a:xfrm>
            <a:off x="5334000" y="3581400"/>
            <a:ext cx="31242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6019800" y="4038600"/>
            <a:ext cx="24384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68165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1897" name="Object 9"/>
          <p:cNvGraphicFramePr>
            <a:graphicFrameLocks noGrp="1" noChangeAspect="1"/>
          </p:cNvGraphicFramePr>
          <p:nvPr>
            <p:ph sz="half" idx="4294967295"/>
            <p:custDataLst>
              <p:tags r:id="rId2"/>
            </p:custDataLst>
            <p:extLst>
              <p:ext uri="{D42A27DB-BD31-4B8C-83A1-F6EECF244321}">
                <p14:modId xmlns:p14="http://schemas.microsoft.com/office/powerpoint/2010/main" val="1357914871"/>
              </p:ext>
            </p:extLst>
          </p:nvPr>
        </p:nvGraphicFramePr>
        <p:xfrm>
          <a:off x="5558487" y="1066800"/>
          <a:ext cx="2747313" cy="4800600"/>
        </p:xfrm>
        <a:graphic>
          <a:graphicData uri="http://schemas.openxmlformats.org/presentationml/2006/ole">
            <mc:AlternateContent xmlns:mc="http://schemas.openxmlformats.org/markup-compatibility/2006">
              <mc:Choice xmlns:v="urn:schemas-microsoft-com:vml" Requires="v">
                <p:oleObj spid="_x0000_s47106" name="VISIO" r:id="rId10" imgW="1457280" imgH="2546280" progId="Visio.Drawing.6">
                  <p:embed/>
                </p:oleObj>
              </mc:Choice>
              <mc:Fallback>
                <p:oleObj name="VISIO" r:id="rId10" imgW="1457280" imgH="2546280"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58487" y="1066800"/>
                        <a:ext cx="2747313" cy="4800600"/>
                      </a:xfrm>
                      <a:prstGeom prst="rect">
                        <a:avLst/>
                      </a:prstGeom>
                      <a:noFill/>
                      <a:ln>
                        <a:noFill/>
                      </a:ln>
                      <a:effectLst/>
                    </p:spPr>
                  </p:pic>
                </p:oleObj>
              </mc:Fallback>
            </mc:AlternateContent>
          </a:graphicData>
        </a:graphic>
      </p:graphicFrame>
      <p:graphicFrame>
        <p:nvGraphicFramePr>
          <p:cNvPr id="1061899" name="Object 11"/>
          <p:cNvGraphicFramePr>
            <a:graphicFrameLocks noGrp="1" noChangeAspect="1"/>
          </p:cNvGraphicFramePr>
          <p:nvPr>
            <p:ph sz="half" idx="4294967295"/>
            <p:custDataLst>
              <p:tags r:id="rId3"/>
            </p:custDataLst>
            <p:extLst>
              <p:ext uri="{D42A27DB-BD31-4B8C-83A1-F6EECF244321}">
                <p14:modId xmlns:p14="http://schemas.microsoft.com/office/powerpoint/2010/main" val="2323907319"/>
              </p:ext>
            </p:extLst>
          </p:nvPr>
        </p:nvGraphicFramePr>
        <p:xfrm>
          <a:off x="2095500" y="2434737"/>
          <a:ext cx="2667000" cy="2259013"/>
        </p:xfrm>
        <a:graphic>
          <a:graphicData uri="http://schemas.openxmlformats.org/presentationml/2006/ole">
            <mc:AlternateContent xmlns:mc="http://schemas.openxmlformats.org/markup-compatibility/2006">
              <mc:Choice xmlns:v="urn:schemas-microsoft-com:vml" Requires="v">
                <p:oleObj spid="_x0000_s47107" name="VISIO" r:id="rId12" imgW="914400" imgH="774720" progId="Visio.Drawing.6">
                  <p:embed/>
                </p:oleObj>
              </mc:Choice>
              <mc:Fallback>
                <p:oleObj name="VISIO" r:id="rId12" imgW="914400" imgH="774720" progId="Visio.Drawing.6">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95500" y="2434737"/>
                        <a:ext cx="2667000" cy="2259013"/>
                      </a:xfrm>
                      <a:prstGeom prst="rect">
                        <a:avLst/>
                      </a:prstGeom>
                    </p:spPr>
                  </p:pic>
                </p:oleObj>
              </mc:Fallback>
            </mc:AlternateContent>
          </a:graphicData>
        </a:graphic>
      </p:graphicFrame>
      <p:sp>
        <p:nvSpPr>
          <p:cNvPr id="1061890" name="Rectangle 2"/>
          <p:cNvSpPr>
            <a:spLocks noChangeArrowheads="1"/>
          </p:cNvSpPr>
          <p:nvPr>
            <p:custDataLst>
              <p:tags r:id="rId4"/>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61893" name="Rectangle 5"/>
          <p:cNvSpPr>
            <a:spLocks noChangeArrowheads="1"/>
          </p:cNvSpPr>
          <p:nvPr>
            <p:custDataLst>
              <p:tags r:id="rId5"/>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61894" name="Rectangle 6"/>
          <p:cNvSpPr>
            <a:spLocks noChangeArrowheads="1"/>
          </p:cNvSpPr>
          <p:nvPr>
            <p:custDataLst>
              <p:tags r:id="rId6"/>
            </p:custDataLst>
          </p:nvPr>
        </p:nvSpPr>
        <p:spPr bwMode="auto">
          <a:xfrm>
            <a:off x="533400" y="1066800"/>
            <a:ext cx="5486400" cy="495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spcBef>
                <a:spcPct val="20000"/>
              </a:spcBef>
            </a:pPr>
            <a:r>
              <a:rPr lang="en-US" sz="2600" b="1" dirty="0">
                <a:latin typeface="+mj-lt"/>
                <a:cs typeface="Arial" charset="0"/>
              </a:rPr>
              <a:t>Asynchronous</a:t>
            </a:r>
            <a:r>
              <a:rPr lang="en-US" sz="2600" dirty="0">
                <a:latin typeface="+mj-lt"/>
                <a:cs typeface="Arial" charset="0"/>
              </a:rPr>
              <a:t> (for example, user) </a:t>
            </a:r>
            <a:r>
              <a:rPr lang="en-US" sz="2600" b="1" dirty="0">
                <a:latin typeface="+mj-lt"/>
                <a:cs typeface="Arial" charset="0"/>
              </a:rPr>
              <a:t>inputs</a:t>
            </a:r>
            <a:r>
              <a:rPr lang="en-US" sz="2600" dirty="0">
                <a:latin typeface="+mj-lt"/>
                <a:cs typeface="Arial" charset="0"/>
              </a:rPr>
              <a:t> might violate the dynamic discipline</a:t>
            </a:r>
          </a:p>
        </p:txBody>
      </p:sp>
      <p:pic>
        <p:nvPicPr>
          <p:cNvPr id="1061904" name="Picture 16"/>
          <p:cNvPicPr>
            <a:picLocks noChangeAspect="1" noChangeArrowheads="1"/>
          </p:cNvPicPr>
          <p:nvPr>
            <p:custDataLst>
              <p:tags r:id="rId7"/>
            </p:custDataLst>
          </p:nvPr>
        </p:nvPicPr>
        <p:blipFill>
          <a:blip r:embed="rId14" cstate="print">
            <a:extLst>
              <a:ext uri="{28A0092B-C50C-407E-A947-70E740481C1C}">
                <a14:useLocalDpi xmlns:a14="http://schemas.microsoft.com/office/drawing/2010/main" val="0"/>
              </a:ext>
            </a:extLst>
          </a:blip>
          <a:srcRect/>
          <a:stretch>
            <a:fillRect/>
          </a:stretch>
        </p:blipFill>
        <p:spPr bwMode="auto">
          <a:xfrm flipH="1">
            <a:off x="609600" y="2895600"/>
            <a:ext cx="1572175" cy="26392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Violating the Dynamic Discipline</a:t>
            </a:r>
          </a:p>
        </p:txBody>
      </p:sp>
    </p:spTree>
    <p:extLst>
      <p:ext uri="{BB962C8B-B14F-4D97-AF65-F5344CB8AC3E}">
        <p14:creationId xmlns:p14="http://schemas.microsoft.com/office/powerpoint/2010/main" val="2667099638"/>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2922" name="Object 10"/>
          <p:cNvGraphicFramePr>
            <a:graphicFrameLocks noGrp="1" noChangeAspect="1"/>
          </p:cNvGraphicFramePr>
          <p:nvPr>
            <p:ph idx="4294967295"/>
            <p:custDataLst>
              <p:tags r:id="rId2"/>
            </p:custDataLst>
            <p:extLst>
              <p:ext uri="{D42A27DB-BD31-4B8C-83A1-F6EECF244321}">
                <p14:modId xmlns:p14="http://schemas.microsoft.com/office/powerpoint/2010/main" val="1947696227"/>
              </p:ext>
            </p:extLst>
          </p:nvPr>
        </p:nvGraphicFramePr>
        <p:xfrm>
          <a:off x="2895600" y="3810000"/>
          <a:ext cx="3676650" cy="1898650"/>
        </p:xfrm>
        <a:graphic>
          <a:graphicData uri="http://schemas.openxmlformats.org/presentationml/2006/ole">
            <mc:AlternateContent xmlns:mc="http://schemas.openxmlformats.org/markup-compatibility/2006">
              <mc:Choice xmlns:v="urn:schemas-microsoft-com:vml" Requires="v">
                <p:oleObj spid="_x0000_s48130" name="VISIO" r:id="rId8" imgW="1257480" imgH="649800" progId="Visio.Drawing.6">
                  <p:embed/>
                </p:oleObj>
              </mc:Choice>
              <mc:Fallback>
                <p:oleObj name="VISIO" r:id="rId8" imgW="1257480" imgH="64980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0" y="3810000"/>
                        <a:ext cx="3676650" cy="18986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2914"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62916" name="Rectangle 4"/>
          <p:cNvSpPr>
            <a:spLocks noChangeArrowheads="1"/>
          </p:cNvSpPr>
          <p:nvPr>
            <p:custDataLst>
              <p:tags r:id="rId4"/>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62917" name="Rectangle 5"/>
          <p:cNvSpPr>
            <a:spLocks noChangeArrowheads="1"/>
          </p:cNvSpPr>
          <p:nvPr>
            <p:custDataLst>
              <p:tags r:id="rId5"/>
            </p:custDataLst>
          </p:nvPr>
        </p:nvSpPr>
        <p:spPr bwMode="auto">
          <a:xfrm>
            <a:off x="533400" y="1066800"/>
            <a:ext cx="7543800" cy="495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b="1" dirty="0" err="1">
                <a:latin typeface="+mj-lt"/>
                <a:cs typeface="Arial" charset="0"/>
              </a:rPr>
              <a:t>Bistable</a:t>
            </a:r>
            <a:r>
              <a:rPr lang="en-US" sz="2600" b="1" dirty="0">
                <a:latin typeface="+mj-lt"/>
                <a:cs typeface="Arial" charset="0"/>
              </a:rPr>
              <a:t> devices: </a:t>
            </a:r>
            <a:r>
              <a:rPr lang="en-US" sz="2600" dirty="0">
                <a:latin typeface="+mj-lt"/>
                <a:cs typeface="Arial" charset="0"/>
              </a:rPr>
              <a:t>two stable states, and a metastable state between them</a:t>
            </a:r>
          </a:p>
          <a:p>
            <a:pPr marL="342900" indent="-342900">
              <a:spcBef>
                <a:spcPct val="20000"/>
              </a:spcBef>
              <a:buFontTx/>
              <a:buChar char="•"/>
            </a:pPr>
            <a:r>
              <a:rPr lang="en-US" sz="2600" b="1" dirty="0">
                <a:latin typeface="+mj-lt"/>
                <a:cs typeface="Arial" charset="0"/>
              </a:rPr>
              <a:t>Flip-flop: </a:t>
            </a:r>
            <a:r>
              <a:rPr lang="en-US" sz="2600" dirty="0">
                <a:latin typeface="+mj-lt"/>
                <a:cs typeface="Arial" charset="0"/>
              </a:rPr>
              <a:t>two stable states (1 and 0) and one metastable state</a:t>
            </a:r>
          </a:p>
          <a:p>
            <a:pPr marL="342900" indent="-342900">
              <a:spcBef>
                <a:spcPct val="20000"/>
              </a:spcBef>
              <a:buFontTx/>
              <a:buChar char="•"/>
            </a:pPr>
            <a:r>
              <a:rPr lang="en-US" sz="2600" dirty="0">
                <a:latin typeface="+mj-lt"/>
                <a:cs typeface="Arial" charset="0"/>
              </a:rPr>
              <a:t>If flip-flop lands in metastable state, could stay there for an undetermined amount of time</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Metastability</a:t>
            </a:r>
            <a:endParaRPr lang="en-US" sz="4400" dirty="0">
              <a:solidFill>
                <a:schemeClr val="bg1"/>
              </a:solidFill>
              <a:latin typeface="+mj-lt"/>
            </a:endParaRPr>
          </a:p>
        </p:txBody>
      </p:sp>
    </p:spTree>
    <p:extLst>
      <p:ext uri="{BB962C8B-B14F-4D97-AF65-F5344CB8AC3E}">
        <p14:creationId xmlns:p14="http://schemas.microsoft.com/office/powerpoint/2010/main" val="1726106562"/>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8341" name="Object 5"/>
          <p:cNvGraphicFramePr>
            <a:graphicFrameLocks noGrp="1" noChangeAspect="1"/>
          </p:cNvGraphicFramePr>
          <p:nvPr>
            <p:ph idx="4294967295"/>
            <p:custDataLst>
              <p:tags r:id="rId2"/>
            </p:custDataLst>
            <p:extLst>
              <p:ext uri="{D42A27DB-BD31-4B8C-83A1-F6EECF244321}">
                <p14:modId xmlns:p14="http://schemas.microsoft.com/office/powerpoint/2010/main" val="3881567984"/>
              </p:ext>
            </p:extLst>
          </p:nvPr>
        </p:nvGraphicFramePr>
        <p:xfrm>
          <a:off x="3276600" y="1905000"/>
          <a:ext cx="1981200" cy="1484313"/>
        </p:xfrm>
        <a:graphic>
          <a:graphicData uri="http://schemas.openxmlformats.org/presentationml/2006/ole">
            <mc:AlternateContent xmlns:mc="http://schemas.openxmlformats.org/markup-compatibility/2006">
              <mc:Choice xmlns:v="urn:schemas-microsoft-com:vml" Requires="v">
                <p:oleObj spid="_x0000_s49154" name="VISIO" r:id="rId9" imgW="1057320" imgH="828720" progId="Visio.Drawing.6">
                  <p:embed/>
                </p:oleObj>
              </mc:Choice>
              <mc:Fallback>
                <p:oleObj name="VISIO" r:id="rId9" imgW="1057320" imgH="82872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6600" y="1905000"/>
                        <a:ext cx="1981200" cy="1484313"/>
                      </a:xfrm>
                      <a:prstGeom prst="rect">
                        <a:avLst/>
                      </a:prstGeom>
                    </p:spPr>
                  </p:pic>
                </p:oleObj>
              </mc:Fallback>
            </mc:AlternateContent>
          </a:graphicData>
        </a:graphic>
      </p:graphicFrame>
      <p:sp>
        <p:nvSpPr>
          <p:cNvPr id="103833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p:txBody>
      </p:sp>
      <p:sp>
        <p:nvSpPr>
          <p:cNvPr id="1038340" name="Rectangle 4"/>
          <p:cNvSpPr>
            <a:spLocks noChangeArrowheads="1"/>
          </p:cNvSpPr>
          <p:nvPr>
            <p:custDataLst>
              <p:tags r:id="rId4"/>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38342" name="Rectangle 6"/>
          <p:cNvSpPr>
            <a:spLocks noChangeArrowheads="1"/>
          </p:cNvSpPr>
          <p:nvPr>
            <p:custDataLst>
              <p:tags r:id="rId5"/>
            </p:custDataLst>
          </p:nvPr>
        </p:nvSpPr>
        <p:spPr bwMode="auto">
          <a:xfrm>
            <a:off x="609600" y="1066800"/>
            <a:ext cx="7543800" cy="137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dirty="0">
                <a:latin typeface="+mj-lt"/>
                <a:cs typeface="Arial" charset="0"/>
              </a:rPr>
              <a:t>Flip-flop has </a:t>
            </a:r>
            <a:r>
              <a:rPr lang="en-US" sz="2600" b="1" dirty="0">
                <a:latin typeface="+mj-lt"/>
                <a:cs typeface="Arial" charset="0"/>
              </a:rPr>
              <a:t>feedback</a:t>
            </a:r>
            <a:r>
              <a:rPr lang="en-US" sz="2600" dirty="0">
                <a:latin typeface="+mj-lt"/>
                <a:cs typeface="Arial" charset="0"/>
              </a:rPr>
              <a:t>: if </a:t>
            </a:r>
            <a:r>
              <a:rPr lang="en-US" sz="2600" i="1" dirty="0">
                <a:latin typeface="+mj-lt"/>
                <a:cs typeface="Arial" charset="0"/>
              </a:rPr>
              <a:t>Q</a:t>
            </a:r>
            <a:r>
              <a:rPr lang="en-US" sz="2600" dirty="0">
                <a:latin typeface="+mj-lt"/>
                <a:cs typeface="Arial" charset="0"/>
              </a:rPr>
              <a:t> is somewhere between 1 and 0, cross-coupled gates drive output to either rail (1 or 0)</a:t>
            </a:r>
          </a:p>
        </p:txBody>
      </p:sp>
      <p:sp>
        <p:nvSpPr>
          <p:cNvPr id="1038343" name="Rectangle 7"/>
          <p:cNvSpPr>
            <a:spLocks noChangeArrowheads="1"/>
          </p:cNvSpPr>
          <p:nvPr>
            <p:custDataLst>
              <p:tags r:id="rId6"/>
            </p:custDataLst>
          </p:nvPr>
        </p:nvSpPr>
        <p:spPr bwMode="auto">
          <a:xfrm>
            <a:off x="609600" y="3276600"/>
            <a:ext cx="7543800" cy="2514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b="1" dirty="0">
                <a:latin typeface="+mj-lt"/>
                <a:cs typeface="Arial" charset="0"/>
              </a:rPr>
              <a:t>Metastable signal:</a:t>
            </a:r>
            <a:r>
              <a:rPr lang="en-US" sz="2400" dirty="0">
                <a:latin typeface="+mj-lt"/>
                <a:cs typeface="Arial" charset="0"/>
              </a:rPr>
              <a:t> if it hasn’t resolved to 1 or 0</a:t>
            </a:r>
          </a:p>
          <a:p>
            <a:pPr marL="342900" indent="-342900">
              <a:spcBef>
                <a:spcPct val="20000"/>
              </a:spcBef>
              <a:buFontTx/>
              <a:buChar char="•"/>
            </a:pPr>
            <a:r>
              <a:rPr lang="en-US" sz="2400" dirty="0">
                <a:latin typeface="+mj-lt"/>
                <a:cs typeface="Arial" charset="0"/>
              </a:rPr>
              <a:t>If flip-flop input changes at random time, </a:t>
            </a:r>
            <a:r>
              <a:rPr lang="en-US" sz="2400" b="1" dirty="0">
                <a:latin typeface="+mj-lt"/>
                <a:cs typeface="Arial" charset="0"/>
              </a:rPr>
              <a:t>probability that output </a:t>
            </a:r>
            <a:r>
              <a:rPr lang="en-US" sz="2400" b="1" i="1" dirty="0">
                <a:latin typeface="+mj-lt"/>
                <a:cs typeface="Arial" charset="0"/>
              </a:rPr>
              <a:t>Q</a:t>
            </a:r>
            <a:r>
              <a:rPr lang="en-US" sz="2400" b="1" dirty="0">
                <a:latin typeface="+mj-lt"/>
                <a:cs typeface="Arial" charset="0"/>
              </a:rPr>
              <a:t> is metastable</a:t>
            </a:r>
            <a:r>
              <a:rPr lang="en-US" sz="2400" dirty="0">
                <a:latin typeface="+mj-lt"/>
                <a:cs typeface="Arial" charset="0"/>
              </a:rPr>
              <a:t> after waiting some time, </a:t>
            </a:r>
            <a:r>
              <a:rPr lang="en-US" sz="2400" i="1" dirty="0">
                <a:latin typeface="+mj-lt"/>
                <a:cs typeface="Arial" charset="0"/>
              </a:rPr>
              <a:t>t</a:t>
            </a:r>
            <a:r>
              <a:rPr lang="en-US" sz="2400" dirty="0">
                <a:latin typeface="+mj-lt"/>
                <a:cs typeface="Arial" charset="0"/>
              </a:rPr>
              <a:t>:</a:t>
            </a:r>
          </a:p>
          <a:p>
            <a:pPr marL="342900" indent="-342900">
              <a:spcBef>
                <a:spcPct val="20000"/>
              </a:spcBef>
            </a:pPr>
            <a:r>
              <a:rPr lang="en-US" sz="2000" b="1" dirty="0">
                <a:latin typeface="+mj-lt"/>
                <a:cs typeface="Arial" charset="0"/>
              </a:rPr>
              <a:t>                                    P(</a:t>
            </a:r>
            <a:r>
              <a:rPr lang="en-US" sz="2000" b="1" i="1" dirty="0" err="1">
                <a:latin typeface="+mj-lt"/>
                <a:cs typeface="Arial" charset="0"/>
              </a:rPr>
              <a:t>t</a:t>
            </a:r>
            <a:r>
              <a:rPr lang="en-US" sz="2000" b="1" baseline="-25000" dirty="0" err="1">
                <a:latin typeface="+mj-lt"/>
                <a:cs typeface="Arial" charset="0"/>
              </a:rPr>
              <a:t>res</a:t>
            </a:r>
            <a:r>
              <a:rPr lang="en-US" sz="2000" b="1" dirty="0">
                <a:latin typeface="+mj-lt"/>
                <a:cs typeface="Arial" charset="0"/>
              </a:rPr>
              <a:t> &gt; </a:t>
            </a:r>
            <a:r>
              <a:rPr lang="en-US" sz="2000" b="1" i="1" dirty="0">
                <a:latin typeface="+mj-lt"/>
                <a:cs typeface="Arial" charset="0"/>
              </a:rPr>
              <a:t>t</a:t>
            </a:r>
            <a:r>
              <a:rPr lang="en-US" sz="2000" b="1" dirty="0">
                <a:latin typeface="+mj-lt"/>
                <a:cs typeface="Arial" charset="0"/>
              </a:rPr>
              <a:t>) = (</a:t>
            </a:r>
            <a:r>
              <a:rPr lang="en-US" sz="2000" b="1" i="1" dirty="0">
                <a:latin typeface="+mj-lt"/>
                <a:cs typeface="Arial" charset="0"/>
              </a:rPr>
              <a:t>T</a:t>
            </a:r>
            <a:r>
              <a:rPr lang="en-US" sz="2000" b="1" baseline="-25000" dirty="0">
                <a:latin typeface="+mj-lt"/>
                <a:cs typeface="Arial" charset="0"/>
              </a:rPr>
              <a:t>0</a:t>
            </a:r>
            <a:r>
              <a:rPr lang="en-US" sz="2000" b="1" dirty="0">
                <a:latin typeface="+mj-lt"/>
                <a:cs typeface="Arial" charset="0"/>
              </a:rPr>
              <a:t>/</a:t>
            </a:r>
            <a:r>
              <a:rPr lang="en-US" sz="2000" b="1" i="1" dirty="0" err="1">
                <a:latin typeface="+mj-lt"/>
                <a:cs typeface="Arial" charset="0"/>
              </a:rPr>
              <a:t>T</a:t>
            </a:r>
            <a:r>
              <a:rPr lang="en-US" sz="2000" b="1" i="1" baseline="-25000" dirty="0" err="1">
                <a:latin typeface="+mj-lt"/>
                <a:cs typeface="Arial" charset="0"/>
              </a:rPr>
              <a:t>c</a:t>
            </a:r>
            <a:r>
              <a:rPr lang="en-US" sz="2000" b="1" i="1" baseline="-25000" dirty="0">
                <a:latin typeface="+mj-lt"/>
                <a:cs typeface="Arial" charset="0"/>
              </a:rPr>
              <a:t> </a:t>
            </a:r>
            <a:r>
              <a:rPr lang="en-US" sz="2000" b="1" dirty="0">
                <a:latin typeface="+mj-lt"/>
                <a:cs typeface="Arial" charset="0"/>
              </a:rPr>
              <a:t>) e</a:t>
            </a:r>
            <a:r>
              <a:rPr lang="en-US" sz="2000" b="1" baseline="30000" dirty="0">
                <a:latin typeface="+mj-lt"/>
                <a:cs typeface="Arial" charset="0"/>
              </a:rPr>
              <a:t>-</a:t>
            </a:r>
            <a:r>
              <a:rPr lang="en-US" sz="2000" b="1" i="1" baseline="30000" dirty="0">
                <a:latin typeface="+mj-lt"/>
                <a:cs typeface="Arial" charset="0"/>
              </a:rPr>
              <a:t>t</a:t>
            </a:r>
            <a:r>
              <a:rPr lang="en-US" sz="2000" b="1" baseline="30000" dirty="0">
                <a:latin typeface="+mj-lt"/>
                <a:cs typeface="Arial" charset="0"/>
              </a:rPr>
              <a:t>/</a:t>
            </a:r>
            <a:r>
              <a:rPr lang="el-GR" sz="2000" b="1" baseline="30000" dirty="0">
                <a:latin typeface="+mj-lt"/>
                <a:cs typeface="Times New Roman" pitchFamily="18" charset="0"/>
              </a:rPr>
              <a:t>τ</a:t>
            </a:r>
            <a:endParaRPr lang="en-US" sz="2000" b="1" baseline="30000" dirty="0">
              <a:latin typeface="+mj-lt"/>
              <a:cs typeface="Times New Roman" pitchFamily="18" charset="0"/>
            </a:endParaRPr>
          </a:p>
          <a:p>
            <a:pPr marL="342900" indent="-342900">
              <a:spcBef>
                <a:spcPct val="20000"/>
              </a:spcBef>
            </a:pPr>
            <a:endParaRPr lang="en-US" sz="1200" i="1" dirty="0">
              <a:latin typeface="+mj-lt"/>
              <a:cs typeface="Arial" charset="0"/>
            </a:endParaRPr>
          </a:p>
          <a:p>
            <a:pPr marL="342900" indent="-342900">
              <a:spcBef>
                <a:spcPct val="20000"/>
              </a:spcBef>
            </a:pPr>
            <a:r>
              <a:rPr lang="en-US" sz="2000" i="1" dirty="0">
                <a:latin typeface="+mj-lt"/>
                <a:cs typeface="Arial" charset="0"/>
              </a:rPr>
              <a:t> 			</a:t>
            </a:r>
            <a:r>
              <a:rPr lang="en-US" sz="2000" i="1" dirty="0" err="1">
                <a:latin typeface="+mj-lt"/>
                <a:cs typeface="Arial" charset="0"/>
              </a:rPr>
              <a:t>t</a:t>
            </a:r>
            <a:r>
              <a:rPr lang="en-US" sz="2000" baseline="-25000" dirty="0" err="1">
                <a:latin typeface="+mj-lt"/>
                <a:cs typeface="Arial" charset="0"/>
              </a:rPr>
              <a:t>res</a:t>
            </a:r>
            <a:r>
              <a:rPr lang="en-US" sz="2000" dirty="0">
                <a:latin typeface="+mj-lt"/>
                <a:cs typeface="Arial" charset="0"/>
              </a:rPr>
              <a:t>    :  time to resolve to 1 or 0</a:t>
            </a:r>
          </a:p>
          <a:p>
            <a:pPr marL="342900" indent="-342900">
              <a:spcBef>
                <a:spcPct val="20000"/>
              </a:spcBef>
            </a:pPr>
            <a:r>
              <a:rPr lang="en-US" sz="2000" i="1" dirty="0">
                <a:latin typeface="+mj-lt"/>
                <a:cs typeface="Arial" charset="0"/>
              </a:rPr>
              <a:t>      		T</a:t>
            </a:r>
            <a:r>
              <a:rPr lang="en-US" sz="2000" baseline="-25000" dirty="0">
                <a:latin typeface="+mj-lt"/>
                <a:cs typeface="Arial" charset="0"/>
              </a:rPr>
              <a:t>0</a:t>
            </a:r>
            <a:r>
              <a:rPr lang="en-US" sz="2000" dirty="0">
                <a:latin typeface="+mj-lt"/>
                <a:cs typeface="Arial" charset="0"/>
              </a:rPr>
              <a:t>, </a:t>
            </a:r>
            <a:r>
              <a:rPr lang="el-GR" sz="2000" dirty="0">
                <a:latin typeface="+mj-lt"/>
                <a:cs typeface="Times New Roman" pitchFamily="18" charset="0"/>
              </a:rPr>
              <a:t>τ</a:t>
            </a:r>
            <a:r>
              <a:rPr lang="en-US" sz="2000" dirty="0">
                <a:latin typeface="+mj-lt"/>
                <a:cs typeface="Times New Roman" pitchFamily="18" charset="0"/>
              </a:rPr>
              <a:t> :  properties of the circuit</a:t>
            </a:r>
            <a:endParaRPr lang="el-GR" sz="2000" dirty="0">
              <a:latin typeface="+mj-lt"/>
              <a:cs typeface="Times New Roman" pitchFamily="18" charset="0"/>
            </a:endParaRPr>
          </a:p>
          <a:p>
            <a:pPr marL="342900" indent="-342900">
              <a:spcBef>
                <a:spcPct val="20000"/>
              </a:spcBef>
            </a:pPr>
            <a:endParaRPr lang="el-GR" sz="2000" baseline="30000" dirty="0">
              <a:latin typeface="+mj-lt"/>
              <a:cs typeface="Times New Roman" pitchFamily="18" charset="0"/>
            </a:endParaRPr>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Flip-Flop Internals</a:t>
            </a:r>
          </a:p>
        </p:txBody>
      </p:sp>
    </p:spTree>
    <p:extLst>
      <p:ext uri="{BB962C8B-B14F-4D97-AF65-F5344CB8AC3E}">
        <p14:creationId xmlns:p14="http://schemas.microsoft.com/office/powerpoint/2010/main" val="20315641"/>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1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41413" name="Rectangle 5"/>
          <p:cNvSpPr>
            <a:spLocks noChangeArrowheads="1"/>
          </p:cNvSpPr>
          <p:nvPr>
            <p:custDataLst>
              <p:tags r:id="rId2"/>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41417" name="Rectangle 9"/>
          <p:cNvSpPr>
            <a:spLocks noChangeArrowheads="1"/>
          </p:cNvSpPr>
          <p:nvPr>
            <p:custDataLst>
              <p:tags r:id="rId3"/>
            </p:custDataLst>
          </p:nvPr>
        </p:nvSpPr>
        <p:spPr bwMode="auto">
          <a:xfrm>
            <a:off x="914400" y="1219200"/>
            <a:ext cx="7543800" cy="5029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lgn="just">
              <a:spcBef>
                <a:spcPct val="20000"/>
              </a:spcBef>
              <a:buFontTx/>
              <a:buChar char="•"/>
            </a:pPr>
            <a:r>
              <a:rPr lang="en-US" sz="2600" b="1" dirty="0">
                <a:solidFill>
                  <a:srgbClr val="0070C0"/>
                </a:solidFill>
                <a:latin typeface="+mj-lt"/>
                <a:cs typeface="Arial" charset="0"/>
              </a:rPr>
              <a:t>Intuitively:</a:t>
            </a:r>
          </a:p>
          <a:p>
            <a:pPr lvl="1" algn="just">
              <a:spcBef>
                <a:spcPct val="20000"/>
              </a:spcBef>
            </a:pPr>
            <a:r>
              <a:rPr lang="en-US" sz="2000" b="1" i="1" dirty="0">
                <a:solidFill>
                  <a:srgbClr val="0070C0"/>
                </a:solidFill>
                <a:latin typeface="+mj-lt"/>
                <a:cs typeface="Arial" charset="0"/>
              </a:rPr>
              <a:t>T</a:t>
            </a:r>
            <a:r>
              <a:rPr lang="en-US" sz="2000" b="1" baseline="-25000" dirty="0">
                <a:solidFill>
                  <a:srgbClr val="0070C0"/>
                </a:solidFill>
                <a:latin typeface="+mj-lt"/>
                <a:cs typeface="Arial" charset="0"/>
              </a:rPr>
              <a:t>0</a:t>
            </a:r>
            <a:r>
              <a:rPr lang="en-US" sz="2000" b="1" dirty="0">
                <a:solidFill>
                  <a:srgbClr val="0070C0"/>
                </a:solidFill>
                <a:latin typeface="+mj-lt"/>
                <a:cs typeface="Arial" charset="0"/>
              </a:rPr>
              <a:t>/</a:t>
            </a:r>
            <a:r>
              <a:rPr lang="en-US" sz="2000" b="1" i="1" dirty="0" err="1">
                <a:solidFill>
                  <a:srgbClr val="0070C0"/>
                </a:solidFill>
                <a:latin typeface="+mj-lt"/>
                <a:cs typeface="Arial" charset="0"/>
              </a:rPr>
              <a:t>T</a:t>
            </a:r>
            <a:r>
              <a:rPr lang="en-US" sz="2000" b="1" baseline="-25000" dirty="0" err="1">
                <a:solidFill>
                  <a:srgbClr val="0070C0"/>
                </a:solidFill>
                <a:latin typeface="+mj-lt"/>
                <a:cs typeface="Arial" charset="0"/>
              </a:rPr>
              <a:t>c</a:t>
            </a:r>
            <a:r>
              <a:rPr lang="en-US" sz="2000" b="1" dirty="0">
                <a:solidFill>
                  <a:srgbClr val="0070C0"/>
                </a:solidFill>
                <a:latin typeface="+mj-lt"/>
                <a:cs typeface="Arial" charset="0"/>
              </a:rPr>
              <a:t>: </a:t>
            </a:r>
            <a:r>
              <a:rPr lang="en-US" sz="2000" dirty="0">
                <a:latin typeface="+mj-lt"/>
                <a:cs typeface="Arial" charset="0"/>
              </a:rPr>
              <a:t>probability input changes at a bad time (during aperture)</a:t>
            </a:r>
          </a:p>
          <a:p>
            <a:pPr marL="342900" indent="-342900">
              <a:spcBef>
                <a:spcPct val="20000"/>
              </a:spcBef>
            </a:pPr>
            <a:r>
              <a:rPr lang="en-US" sz="2000" dirty="0">
                <a:latin typeface="+mj-lt"/>
                <a:cs typeface="Arial" charset="0"/>
              </a:rPr>
              <a:t>                                    P(</a:t>
            </a:r>
            <a:r>
              <a:rPr lang="en-US" sz="2000" i="1" dirty="0" err="1">
                <a:latin typeface="+mj-lt"/>
                <a:cs typeface="Arial" charset="0"/>
              </a:rPr>
              <a:t>t</a:t>
            </a:r>
            <a:r>
              <a:rPr lang="en-US" sz="2000" baseline="-25000" dirty="0" err="1">
                <a:latin typeface="+mj-lt"/>
                <a:cs typeface="Arial" charset="0"/>
              </a:rPr>
              <a:t>res</a:t>
            </a:r>
            <a:r>
              <a:rPr lang="en-US" sz="2000" dirty="0">
                <a:latin typeface="+mj-lt"/>
                <a:cs typeface="Arial" charset="0"/>
              </a:rPr>
              <a:t> &gt; </a:t>
            </a:r>
            <a:r>
              <a:rPr lang="en-US" sz="2000" i="1" dirty="0">
                <a:latin typeface="+mj-lt"/>
                <a:cs typeface="Arial" charset="0"/>
              </a:rPr>
              <a:t>t</a:t>
            </a:r>
            <a:r>
              <a:rPr lang="en-US" sz="2000" dirty="0">
                <a:latin typeface="+mj-lt"/>
                <a:cs typeface="Arial" charset="0"/>
              </a:rPr>
              <a:t>) = </a:t>
            </a:r>
            <a:r>
              <a:rPr lang="en-US" sz="2000" b="1" dirty="0">
                <a:solidFill>
                  <a:schemeClr val="accent1"/>
                </a:solidFill>
                <a:latin typeface="+mj-lt"/>
                <a:cs typeface="Arial" charset="0"/>
              </a:rPr>
              <a:t>(</a:t>
            </a:r>
            <a:r>
              <a:rPr lang="en-US" sz="2000" b="1" i="1" dirty="0">
                <a:solidFill>
                  <a:schemeClr val="accent1"/>
                </a:solidFill>
                <a:latin typeface="+mj-lt"/>
                <a:cs typeface="Arial" charset="0"/>
              </a:rPr>
              <a:t>T</a:t>
            </a:r>
            <a:r>
              <a:rPr lang="en-US" sz="2000" b="1" baseline="-25000" dirty="0">
                <a:solidFill>
                  <a:schemeClr val="accent1"/>
                </a:solidFill>
                <a:latin typeface="+mj-lt"/>
                <a:cs typeface="Arial" charset="0"/>
              </a:rPr>
              <a:t>0</a:t>
            </a:r>
            <a:r>
              <a:rPr lang="en-US" sz="2000" b="1" dirty="0">
                <a:solidFill>
                  <a:schemeClr val="accent1"/>
                </a:solidFill>
                <a:latin typeface="+mj-lt"/>
                <a:cs typeface="Arial" charset="0"/>
              </a:rPr>
              <a:t>/</a:t>
            </a:r>
            <a:r>
              <a:rPr lang="en-US" sz="2000" b="1" i="1" dirty="0" err="1">
                <a:solidFill>
                  <a:schemeClr val="accent1"/>
                </a:solidFill>
                <a:latin typeface="+mj-lt"/>
                <a:cs typeface="Arial" charset="0"/>
              </a:rPr>
              <a:t>T</a:t>
            </a:r>
            <a:r>
              <a:rPr lang="en-US" sz="2000" b="1" i="1" baseline="-25000" dirty="0" err="1">
                <a:solidFill>
                  <a:schemeClr val="accent1"/>
                </a:solidFill>
                <a:latin typeface="+mj-lt"/>
                <a:cs typeface="Arial" charset="0"/>
              </a:rPr>
              <a:t>c</a:t>
            </a:r>
            <a:r>
              <a:rPr lang="en-US" sz="2000" b="1" i="1" baseline="-25000" dirty="0">
                <a:solidFill>
                  <a:schemeClr val="accent1"/>
                </a:solidFill>
                <a:latin typeface="+mj-lt"/>
                <a:cs typeface="Arial" charset="0"/>
              </a:rPr>
              <a:t> </a:t>
            </a:r>
            <a:r>
              <a:rPr lang="en-US" sz="2000" b="1" dirty="0">
                <a:solidFill>
                  <a:schemeClr val="accent1"/>
                </a:solidFill>
                <a:latin typeface="+mj-lt"/>
                <a:cs typeface="Arial" charset="0"/>
              </a:rPr>
              <a:t>) </a:t>
            </a:r>
            <a:r>
              <a:rPr lang="en-US" sz="2000" dirty="0">
                <a:latin typeface="+mj-lt"/>
                <a:cs typeface="Arial" charset="0"/>
              </a:rPr>
              <a:t>e</a:t>
            </a:r>
            <a:r>
              <a:rPr lang="en-US" sz="2000" baseline="30000" dirty="0">
                <a:latin typeface="+mj-lt"/>
                <a:cs typeface="Arial" charset="0"/>
              </a:rPr>
              <a:t>-</a:t>
            </a:r>
            <a:r>
              <a:rPr lang="en-US" sz="2000" i="1" baseline="30000" dirty="0">
                <a:latin typeface="+mj-lt"/>
                <a:cs typeface="Arial" charset="0"/>
              </a:rPr>
              <a:t>t</a:t>
            </a:r>
            <a:r>
              <a:rPr lang="en-US" sz="2000" baseline="30000" dirty="0">
                <a:latin typeface="+mj-lt"/>
                <a:cs typeface="Arial" charset="0"/>
              </a:rPr>
              <a:t>/</a:t>
            </a:r>
            <a:r>
              <a:rPr lang="el-GR" sz="2000" baseline="30000" dirty="0">
                <a:latin typeface="+mj-lt"/>
                <a:cs typeface="Times New Roman" pitchFamily="18" charset="0"/>
              </a:rPr>
              <a:t>τ</a:t>
            </a:r>
            <a:endParaRPr lang="en-US" sz="2400" dirty="0">
              <a:latin typeface="+mj-lt"/>
              <a:cs typeface="Arial" charset="0"/>
            </a:endParaRPr>
          </a:p>
          <a:p>
            <a:pPr marL="742950" lvl="1" indent="-285750" algn="just">
              <a:spcBef>
                <a:spcPct val="20000"/>
              </a:spcBef>
              <a:buFontTx/>
              <a:buChar char="–"/>
            </a:pPr>
            <a:endParaRPr lang="en-US" sz="2000" dirty="0">
              <a:latin typeface="+mj-lt"/>
              <a:cs typeface="Arial" charset="0"/>
            </a:endParaRPr>
          </a:p>
          <a:p>
            <a:pPr lvl="1">
              <a:spcBef>
                <a:spcPct val="20000"/>
              </a:spcBef>
            </a:pPr>
            <a:r>
              <a:rPr lang="el-GR" sz="2000" b="1" dirty="0">
                <a:solidFill>
                  <a:srgbClr val="0070C0"/>
                </a:solidFill>
                <a:latin typeface="+mj-lt"/>
                <a:cs typeface="Times New Roman" pitchFamily="18" charset="0"/>
              </a:rPr>
              <a:t>τ</a:t>
            </a:r>
            <a:r>
              <a:rPr lang="en-US" sz="2000" b="1" dirty="0">
                <a:solidFill>
                  <a:srgbClr val="0070C0"/>
                </a:solidFill>
                <a:latin typeface="+mj-lt"/>
                <a:cs typeface="Arial" charset="0"/>
              </a:rPr>
              <a:t>: </a:t>
            </a:r>
            <a:r>
              <a:rPr lang="en-US" sz="2000" dirty="0">
                <a:latin typeface="+mj-lt"/>
                <a:cs typeface="Arial" charset="0"/>
              </a:rPr>
              <a:t>time constant for how fast flip-flop moves away from </a:t>
            </a:r>
            <a:r>
              <a:rPr lang="en-US" sz="2000" dirty="0" err="1">
                <a:latin typeface="+mj-lt"/>
                <a:cs typeface="Arial" charset="0"/>
              </a:rPr>
              <a:t>metastability</a:t>
            </a:r>
            <a:endParaRPr lang="en-US" sz="1800" dirty="0">
              <a:latin typeface="+mj-lt"/>
              <a:cs typeface="Arial" charset="0"/>
            </a:endParaRPr>
          </a:p>
          <a:p>
            <a:pPr marL="342900" indent="-342900">
              <a:spcBef>
                <a:spcPct val="20000"/>
              </a:spcBef>
            </a:pPr>
            <a:r>
              <a:rPr lang="en-US" sz="2000" dirty="0">
                <a:latin typeface="+mj-lt"/>
                <a:cs typeface="Arial" charset="0"/>
              </a:rPr>
              <a:t>                                    P(</a:t>
            </a:r>
            <a:r>
              <a:rPr lang="en-US" sz="2000" i="1" dirty="0" err="1">
                <a:latin typeface="+mj-lt"/>
                <a:cs typeface="Arial" charset="0"/>
              </a:rPr>
              <a:t>t</a:t>
            </a:r>
            <a:r>
              <a:rPr lang="en-US" sz="2000" baseline="-25000" dirty="0" err="1">
                <a:latin typeface="+mj-lt"/>
                <a:cs typeface="Arial" charset="0"/>
              </a:rPr>
              <a:t>res</a:t>
            </a:r>
            <a:r>
              <a:rPr lang="en-US" sz="2000" dirty="0">
                <a:latin typeface="+mj-lt"/>
                <a:cs typeface="Arial" charset="0"/>
              </a:rPr>
              <a:t> &gt; </a:t>
            </a:r>
            <a:r>
              <a:rPr lang="en-US" sz="2000" i="1" dirty="0">
                <a:latin typeface="+mj-lt"/>
                <a:cs typeface="Arial" charset="0"/>
              </a:rPr>
              <a:t>t</a:t>
            </a:r>
            <a:r>
              <a:rPr lang="en-US" sz="2000" dirty="0">
                <a:latin typeface="+mj-lt"/>
                <a:cs typeface="Arial" charset="0"/>
              </a:rPr>
              <a:t>) = (</a:t>
            </a:r>
            <a:r>
              <a:rPr lang="en-US" sz="2000" i="1" dirty="0">
                <a:latin typeface="+mj-lt"/>
                <a:cs typeface="Arial" charset="0"/>
              </a:rPr>
              <a:t>T</a:t>
            </a:r>
            <a:r>
              <a:rPr lang="en-US" sz="2000" baseline="-25000" dirty="0">
                <a:latin typeface="+mj-lt"/>
                <a:cs typeface="Arial" charset="0"/>
              </a:rPr>
              <a:t>0</a:t>
            </a:r>
            <a:r>
              <a:rPr lang="en-US" sz="2000" dirty="0">
                <a:latin typeface="+mj-lt"/>
                <a:cs typeface="Arial" charset="0"/>
              </a:rPr>
              <a:t>/</a:t>
            </a:r>
            <a:r>
              <a:rPr lang="en-US" sz="2000" i="1" dirty="0" err="1">
                <a:latin typeface="+mj-lt"/>
                <a:cs typeface="Arial" charset="0"/>
              </a:rPr>
              <a:t>T</a:t>
            </a:r>
            <a:r>
              <a:rPr lang="en-US" sz="2000" i="1" baseline="-25000" dirty="0" err="1">
                <a:latin typeface="+mj-lt"/>
                <a:cs typeface="Arial" charset="0"/>
              </a:rPr>
              <a:t>c</a:t>
            </a:r>
            <a:r>
              <a:rPr lang="en-US" sz="2000" i="1" baseline="-25000" dirty="0">
                <a:latin typeface="+mj-lt"/>
                <a:cs typeface="Arial" charset="0"/>
              </a:rPr>
              <a:t> </a:t>
            </a:r>
            <a:r>
              <a:rPr lang="en-US" sz="2000" dirty="0">
                <a:latin typeface="+mj-lt"/>
                <a:cs typeface="Arial" charset="0"/>
              </a:rPr>
              <a:t>) </a:t>
            </a:r>
            <a:r>
              <a:rPr lang="en-US" sz="2000" b="1" dirty="0">
                <a:solidFill>
                  <a:schemeClr val="accent1"/>
                </a:solidFill>
                <a:latin typeface="+mj-lt"/>
                <a:cs typeface="Arial" charset="0"/>
              </a:rPr>
              <a:t>e</a:t>
            </a:r>
            <a:r>
              <a:rPr lang="en-US" sz="2000" b="1" baseline="30000" dirty="0">
                <a:solidFill>
                  <a:schemeClr val="accent1"/>
                </a:solidFill>
                <a:latin typeface="+mj-lt"/>
                <a:cs typeface="Arial" charset="0"/>
              </a:rPr>
              <a:t>-</a:t>
            </a:r>
            <a:r>
              <a:rPr lang="en-US" sz="2000" b="1" i="1" baseline="30000" dirty="0">
                <a:solidFill>
                  <a:schemeClr val="accent1"/>
                </a:solidFill>
                <a:latin typeface="+mj-lt"/>
                <a:cs typeface="Arial" charset="0"/>
              </a:rPr>
              <a:t>t</a:t>
            </a:r>
            <a:r>
              <a:rPr lang="en-US" sz="2000" b="1" baseline="30000" dirty="0">
                <a:solidFill>
                  <a:schemeClr val="accent1"/>
                </a:solidFill>
                <a:latin typeface="+mj-lt"/>
                <a:cs typeface="Arial" charset="0"/>
              </a:rPr>
              <a:t>/</a:t>
            </a:r>
            <a:r>
              <a:rPr lang="el-GR" sz="2000" b="1" baseline="30000" dirty="0">
                <a:solidFill>
                  <a:schemeClr val="accent1"/>
                </a:solidFill>
                <a:latin typeface="+mj-lt"/>
                <a:cs typeface="Times New Roman" pitchFamily="18" charset="0"/>
              </a:rPr>
              <a:t>τ</a:t>
            </a:r>
            <a:endParaRPr lang="en-US" sz="2000" b="1" baseline="30000" dirty="0">
              <a:solidFill>
                <a:schemeClr val="accent1"/>
              </a:solidFill>
              <a:latin typeface="+mj-lt"/>
              <a:cs typeface="Times New Roman" pitchFamily="18" charset="0"/>
            </a:endParaRPr>
          </a:p>
          <a:p>
            <a:pPr marL="342900" indent="-342900">
              <a:spcBef>
                <a:spcPct val="20000"/>
              </a:spcBef>
            </a:pPr>
            <a:endParaRPr lang="en-US" sz="2000" i="1" dirty="0">
              <a:latin typeface="+mj-lt"/>
              <a:cs typeface="Arial" charset="0"/>
            </a:endParaRPr>
          </a:p>
          <a:p>
            <a:pPr marL="342900" indent="-342900">
              <a:spcBef>
                <a:spcPct val="20000"/>
              </a:spcBef>
              <a:buFontTx/>
              <a:buChar char="•"/>
            </a:pPr>
            <a:r>
              <a:rPr lang="en-US" sz="2400" dirty="0">
                <a:latin typeface="+mj-lt"/>
                <a:cs typeface="Arial" charset="0"/>
              </a:rPr>
              <a:t>If flip-flop samples metastable input, if you wait long enough (</a:t>
            </a:r>
            <a:r>
              <a:rPr lang="en-US" sz="2400" i="1" dirty="0">
                <a:latin typeface="+mj-lt"/>
                <a:cs typeface="Arial" charset="0"/>
              </a:rPr>
              <a:t>t</a:t>
            </a:r>
            <a:r>
              <a:rPr lang="en-US" sz="2400" dirty="0">
                <a:latin typeface="+mj-lt"/>
                <a:cs typeface="Arial" charset="0"/>
              </a:rPr>
              <a:t>), the output will have resolved to 1 or 0 with high probability.</a:t>
            </a:r>
          </a:p>
          <a:p>
            <a:pPr marL="342900" indent="-342900">
              <a:spcBef>
                <a:spcPct val="20000"/>
              </a:spcBef>
            </a:pPr>
            <a:endParaRPr lang="el-GR" sz="2400" baseline="30000" dirty="0">
              <a:latin typeface="+mj-lt"/>
              <a:cs typeface="Times New Roman" pitchFamily="18" charset="0"/>
            </a:endParaRPr>
          </a:p>
        </p:txBody>
      </p:sp>
      <p:sp>
        <p:nvSpPr>
          <p:cNvPr id="8" name="TextBox 7"/>
          <p:cNvSpPr txBox="1"/>
          <p:nvPr/>
        </p:nvSpPr>
        <p:spPr>
          <a:xfrm>
            <a:off x="457200" y="68759"/>
            <a:ext cx="7924800" cy="769441"/>
          </a:xfrm>
          <a:prstGeom prst="rect">
            <a:avLst/>
          </a:prstGeom>
          <a:noFill/>
        </p:spPr>
        <p:txBody>
          <a:bodyPr wrap="square" rtlCol="0">
            <a:spAutoFit/>
          </a:bodyPr>
          <a:lstStyle/>
          <a:p>
            <a:r>
              <a:rPr lang="en-US" sz="4400" dirty="0" err="1">
                <a:solidFill>
                  <a:schemeClr val="bg1"/>
                </a:solidFill>
                <a:latin typeface="+mj-lt"/>
              </a:rPr>
              <a:t>Metastability</a:t>
            </a:r>
            <a:endParaRPr lang="en-US" sz="4400" dirty="0">
              <a:solidFill>
                <a:schemeClr val="bg1"/>
              </a:solidFill>
              <a:latin typeface="+mj-lt"/>
            </a:endParaRPr>
          </a:p>
        </p:txBody>
      </p:sp>
    </p:spTree>
    <p:extLst>
      <p:ext uri="{BB962C8B-B14F-4D97-AF65-F5344CB8AC3E}">
        <p14:creationId xmlns:p14="http://schemas.microsoft.com/office/powerpoint/2010/main" val="144090176"/>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3461" name="Object 5"/>
          <p:cNvGraphicFramePr>
            <a:graphicFrameLocks noGrp="1" noChangeAspect="1"/>
          </p:cNvGraphicFramePr>
          <p:nvPr>
            <p:ph sz="half" idx="4294967295"/>
            <p:custDataLst>
              <p:tags r:id="rId2"/>
            </p:custDataLst>
            <p:extLst>
              <p:ext uri="{D42A27DB-BD31-4B8C-83A1-F6EECF244321}">
                <p14:modId xmlns:p14="http://schemas.microsoft.com/office/powerpoint/2010/main" val="2300944689"/>
              </p:ext>
            </p:extLst>
          </p:nvPr>
        </p:nvGraphicFramePr>
        <p:xfrm>
          <a:off x="3352800" y="3581400"/>
          <a:ext cx="2057400" cy="1854200"/>
        </p:xfrm>
        <a:graphic>
          <a:graphicData uri="http://schemas.openxmlformats.org/presentationml/2006/ole">
            <mc:AlternateContent xmlns:mc="http://schemas.openxmlformats.org/markup-compatibility/2006">
              <mc:Choice xmlns:v="urn:schemas-microsoft-com:vml" Requires="v">
                <p:oleObj spid="_x0000_s50178" name="VISIO" r:id="rId8" imgW="828720" imgH="780840" progId="Visio.Drawing.6">
                  <p:embed/>
                </p:oleObj>
              </mc:Choice>
              <mc:Fallback>
                <p:oleObj name="VISIO" r:id="rId8" imgW="828720" imgH="78084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52800" y="3581400"/>
                        <a:ext cx="2057400" cy="1854200"/>
                      </a:xfrm>
                      <a:prstGeom prst="rect">
                        <a:avLst/>
                      </a:prstGeom>
                    </p:spPr>
                  </p:pic>
                </p:oleObj>
              </mc:Fallback>
            </mc:AlternateContent>
          </a:graphicData>
        </a:graphic>
      </p:graphicFrame>
      <p:sp>
        <p:nvSpPr>
          <p:cNvPr id="1043458"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43460" name="Rectangle 4"/>
          <p:cNvSpPr>
            <a:spLocks noChangeArrowheads="1"/>
          </p:cNvSpPr>
          <p:nvPr>
            <p:custDataLst>
              <p:tags r:id="rId4"/>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43462" name="Rectangle 6"/>
          <p:cNvSpPr>
            <a:spLocks noChangeArrowheads="1"/>
          </p:cNvSpPr>
          <p:nvPr>
            <p:custDataLst>
              <p:tags r:id="rId5"/>
            </p:custDataLst>
          </p:nvPr>
        </p:nvSpPr>
        <p:spPr bwMode="auto">
          <a:xfrm>
            <a:off x="914400" y="1219200"/>
            <a:ext cx="7543800" cy="5029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b="1" dirty="0">
                <a:latin typeface="+mj-lt"/>
                <a:cs typeface="Arial" charset="0"/>
              </a:rPr>
              <a:t>Asynchronous inputs are inevitable </a:t>
            </a:r>
            <a:r>
              <a:rPr lang="en-US" sz="2400" dirty="0">
                <a:latin typeface="+mj-lt"/>
                <a:cs typeface="Arial" charset="0"/>
              </a:rPr>
              <a:t>(user interfaces, systems with different clocks interacting, etc.)</a:t>
            </a:r>
          </a:p>
          <a:p>
            <a:pPr marL="342900" indent="-342900">
              <a:spcBef>
                <a:spcPct val="20000"/>
              </a:spcBef>
              <a:buFontTx/>
              <a:buChar char="•"/>
            </a:pPr>
            <a:r>
              <a:rPr lang="en-US" sz="2400" b="1" dirty="0">
                <a:latin typeface="+mj-lt"/>
                <a:cs typeface="Arial" charset="0"/>
              </a:rPr>
              <a:t>Synchronizer goal: </a:t>
            </a:r>
            <a:r>
              <a:rPr lang="en-US" sz="2400" dirty="0">
                <a:latin typeface="+mj-lt"/>
                <a:cs typeface="Arial" charset="0"/>
              </a:rPr>
              <a:t>make the probability of failure (the output </a:t>
            </a:r>
            <a:r>
              <a:rPr lang="en-US" sz="2400" i="1" dirty="0">
                <a:latin typeface="+mj-lt"/>
                <a:cs typeface="Arial" charset="0"/>
              </a:rPr>
              <a:t>Q</a:t>
            </a:r>
            <a:r>
              <a:rPr lang="en-US" sz="2400" dirty="0">
                <a:latin typeface="+mj-lt"/>
                <a:cs typeface="Arial" charset="0"/>
              </a:rPr>
              <a:t> still being metastable) low</a:t>
            </a:r>
          </a:p>
          <a:p>
            <a:pPr marL="342900" indent="-342900">
              <a:spcBef>
                <a:spcPct val="20000"/>
              </a:spcBef>
              <a:buFontTx/>
              <a:buChar char="•"/>
            </a:pPr>
            <a:r>
              <a:rPr lang="en-US" sz="2400" dirty="0">
                <a:latin typeface="+mj-lt"/>
                <a:cs typeface="Arial" charset="0"/>
              </a:rPr>
              <a:t>Synchronizer cannot make the probability of failure 0</a:t>
            </a:r>
            <a:endParaRPr lang="en-US" sz="2000" baseline="30000" dirty="0">
              <a:solidFill>
                <a:schemeClr val="accent2"/>
              </a:solidFill>
              <a:latin typeface="+mj-lt"/>
              <a:cs typeface="Times New Roman" pitchFamily="18"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Synchronizers</a:t>
            </a:r>
          </a:p>
        </p:txBody>
      </p:sp>
    </p:spTree>
    <p:extLst>
      <p:ext uri="{BB962C8B-B14F-4D97-AF65-F5344CB8AC3E}">
        <p14:creationId xmlns:p14="http://schemas.microsoft.com/office/powerpoint/2010/main" val="2160343124"/>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488" name="Object 8"/>
          <p:cNvGraphicFramePr>
            <a:graphicFrameLocks noGrp="1" noChangeAspect="1"/>
          </p:cNvGraphicFramePr>
          <p:nvPr>
            <p:ph sz="half" idx="4294967295"/>
            <p:custDataLst>
              <p:tags r:id="rId2"/>
            </p:custDataLst>
            <p:extLst>
              <p:ext uri="{D42A27DB-BD31-4B8C-83A1-F6EECF244321}">
                <p14:modId xmlns:p14="http://schemas.microsoft.com/office/powerpoint/2010/main" val="1939982444"/>
              </p:ext>
            </p:extLst>
          </p:nvPr>
        </p:nvGraphicFramePr>
        <p:xfrm>
          <a:off x="2209800" y="2409620"/>
          <a:ext cx="3962400" cy="3416505"/>
        </p:xfrm>
        <a:graphic>
          <a:graphicData uri="http://schemas.openxmlformats.org/presentationml/2006/ole">
            <mc:AlternateContent xmlns:mc="http://schemas.openxmlformats.org/markup-compatibility/2006">
              <mc:Choice xmlns:v="urn:schemas-microsoft-com:vml" Requires="v">
                <p:oleObj spid="_x0000_s51202" name="VISIO" r:id="rId9" imgW="2486160" imgH="2143080" progId="Visio.Drawing.6">
                  <p:embed/>
                </p:oleObj>
              </mc:Choice>
              <mc:Fallback>
                <p:oleObj name="VISIO" r:id="rId9" imgW="2486160" imgH="214308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9800" y="2409620"/>
                        <a:ext cx="3962400" cy="3416505"/>
                      </a:xfrm>
                      <a:prstGeom prst="rect">
                        <a:avLst/>
                      </a:prstGeom>
                    </p:spPr>
                  </p:pic>
                </p:oleObj>
              </mc:Fallback>
            </mc:AlternateContent>
          </a:graphicData>
        </a:graphic>
      </p:graphicFrame>
      <p:sp>
        <p:nvSpPr>
          <p:cNvPr id="1044482"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44484" name="Rectangle 4"/>
          <p:cNvSpPr>
            <a:spLocks noChangeArrowheads="1"/>
          </p:cNvSpPr>
          <p:nvPr>
            <p:custDataLst>
              <p:tags r:id="rId4"/>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44486" name="Rectangle 6"/>
          <p:cNvSpPr>
            <a:spLocks noChangeArrowheads="1"/>
          </p:cNvSpPr>
          <p:nvPr>
            <p:custDataLst>
              <p:tags r:id="rId5"/>
            </p:custDataLst>
          </p:nvPr>
        </p:nvSpPr>
        <p:spPr bwMode="auto">
          <a:xfrm>
            <a:off x="0" y="30765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44489" name="Rectangle 9"/>
          <p:cNvSpPr>
            <a:spLocks noChangeArrowheads="1"/>
          </p:cNvSpPr>
          <p:nvPr>
            <p:custDataLst>
              <p:tags r:id="rId6"/>
            </p:custDataLst>
          </p:nvPr>
        </p:nvSpPr>
        <p:spPr bwMode="auto">
          <a:xfrm>
            <a:off x="685800" y="1066800"/>
            <a:ext cx="7543800" cy="5029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dirty="0">
                <a:latin typeface="+mj-lt"/>
                <a:cs typeface="Arial" charset="0"/>
              </a:rPr>
              <a:t>Synchronizer: built with two back-to-back flip-flops</a:t>
            </a:r>
          </a:p>
          <a:p>
            <a:pPr marL="342900" indent="-342900">
              <a:spcBef>
                <a:spcPct val="20000"/>
              </a:spcBef>
              <a:buFontTx/>
              <a:buChar char="•"/>
            </a:pPr>
            <a:r>
              <a:rPr lang="en-US" sz="2600" dirty="0">
                <a:latin typeface="+mj-lt"/>
                <a:cs typeface="Arial" charset="0"/>
              </a:rPr>
              <a:t>Suppose D is transitioning when sampled by F1</a:t>
            </a:r>
          </a:p>
          <a:p>
            <a:pPr marL="342900" indent="-342900">
              <a:spcBef>
                <a:spcPct val="20000"/>
              </a:spcBef>
              <a:buFontTx/>
              <a:buChar char="•"/>
            </a:pPr>
            <a:r>
              <a:rPr lang="en-US" sz="2600" dirty="0">
                <a:latin typeface="+mj-lt"/>
                <a:cs typeface="Arial" charset="0"/>
              </a:rPr>
              <a:t>Internal signal D2 has (</a:t>
            </a:r>
            <a:r>
              <a:rPr lang="en-US" sz="2600" i="1" dirty="0" err="1">
                <a:latin typeface="+mj-lt"/>
                <a:cs typeface="Arial" charset="0"/>
              </a:rPr>
              <a:t>T</a:t>
            </a:r>
            <a:r>
              <a:rPr lang="en-US" sz="2600" i="1" baseline="-25000" dirty="0" err="1">
                <a:latin typeface="+mj-lt"/>
                <a:cs typeface="Arial" charset="0"/>
              </a:rPr>
              <a:t>c</a:t>
            </a:r>
            <a:r>
              <a:rPr lang="en-US" sz="2600" dirty="0">
                <a:latin typeface="+mj-lt"/>
                <a:cs typeface="Arial" charset="0"/>
              </a:rPr>
              <a:t> - </a:t>
            </a:r>
            <a:r>
              <a:rPr lang="en-US" sz="2600" i="1" dirty="0" err="1">
                <a:latin typeface="+mj-lt"/>
                <a:cs typeface="Arial" charset="0"/>
              </a:rPr>
              <a:t>t</a:t>
            </a:r>
            <a:r>
              <a:rPr lang="en-US" sz="2600" baseline="-25000" dirty="0" err="1">
                <a:latin typeface="+mj-lt"/>
                <a:cs typeface="Arial" charset="0"/>
              </a:rPr>
              <a:t>setup</a:t>
            </a:r>
            <a:r>
              <a:rPr lang="en-US" sz="2600" dirty="0">
                <a:latin typeface="+mj-lt"/>
                <a:cs typeface="Arial" charset="0"/>
              </a:rPr>
              <a:t>) time to resolve to 1 or 0</a:t>
            </a:r>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Synchronizer Internals</a:t>
            </a:r>
          </a:p>
        </p:txBody>
      </p:sp>
    </p:spTree>
    <p:extLst>
      <p:ext uri="{BB962C8B-B14F-4D97-AF65-F5344CB8AC3E}">
        <p14:creationId xmlns:p14="http://schemas.microsoft.com/office/powerpoint/2010/main" val="1997734218"/>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4966" name="Object 6"/>
          <p:cNvGraphicFramePr>
            <a:graphicFrameLocks noGrp="1" noChangeAspect="1"/>
          </p:cNvGraphicFramePr>
          <p:nvPr>
            <p:ph sz="half" idx="4294967295"/>
            <p:custDataLst>
              <p:tags r:id="rId2"/>
            </p:custDataLst>
            <p:extLst>
              <p:ext uri="{D42A27DB-BD31-4B8C-83A1-F6EECF244321}">
                <p14:modId xmlns:p14="http://schemas.microsoft.com/office/powerpoint/2010/main" val="522085177"/>
              </p:ext>
            </p:extLst>
          </p:nvPr>
        </p:nvGraphicFramePr>
        <p:xfrm>
          <a:off x="2057400" y="1981200"/>
          <a:ext cx="4587234" cy="3954462"/>
        </p:xfrm>
        <a:graphic>
          <a:graphicData uri="http://schemas.openxmlformats.org/presentationml/2006/ole">
            <mc:AlternateContent xmlns:mc="http://schemas.openxmlformats.org/markup-compatibility/2006">
              <mc:Choice xmlns:v="urn:schemas-microsoft-com:vml" Requires="v">
                <p:oleObj spid="_x0000_s52226" name="VISIO" r:id="rId8" imgW="2486160" imgH="2143080" progId="Visio.Drawing.6">
                  <p:embed/>
                </p:oleObj>
              </mc:Choice>
              <mc:Fallback>
                <p:oleObj name="VISIO" r:id="rId8" imgW="2486160" imgH="214308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7400" y="1981200"/>
                        <a:ext cx="4587234" cy="3954462"/>
                      </a:xfrm>
                      <a:prstGeom prst="rect">
                        <a:avLst/>
                      </a:prstGeom>
                    </p:spPr>
                  </p:pic>
                </p:oleObj>
              </mc:Fallback>
            </mc:AlternateContent>
          </a:graphicData>
        </a:graphic>
      </p:graphicFrame>
      <p:sp>
        <p:nvSpPr>
          <p:cNvPr id="1064962"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64965" name="Rectangle 5"/>
          <p:cNvSpPr>
            <a:spLocks noChangeArrowheads="1"/>
          </p:cNvSpPr>
          <p:nvPr>
            <p:custDataLst>
              <p:tags r:id="rId4"/>
            </p:custDataLst>
          </p:nvPr>
        </p:nvSpPr>
        <p:spPr bwMode="auto">
          <a:xfrm>
            <a:off x="0" y="30765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64968" name="Rectangle 8"/>
          <p:cNvSpPr>
            <a:spLocks noChangeArrowheads="1"/>
          </p:cNvSpPr>
          <p:nvPr>
            <p:custDataLst>
              <p:tags r:id="rId5"/>
            </p:custDataLst>
          </p:nvPr>
        </p:nvSpPr>
        <p:spPr bwMode="auto">
          <a:xfrm>
            <a:off x="685800" y="990600"/>
            <a:ext cx="8077200" cy="2514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600" dirty="0">
                <a:latin typeface="Times New Roman" pitchFamily="18" charset="0"/>
                <a:cs typeface="Arial" charset="0"/>
              </a:rPr>
              <a:t>For each sample, probability of failure is:</a:t>
            </a:r>
          </a:p>
          <a:p>
            <a:pPr marL="342900" indent="-342900">
              <a:spcBef>
                <a:spcPct val="20000"/>
              </a:spcBef>
            </a:pPr>
            <a:r>
              <a:rPr lang="en-US" sz="2000" dirty="0">
                <a:latin typeface="Times New Roman" pitchFamily="18" charset="0"/>
                <a:cs typeface="Arial" charset="0"/>
              </a:rPr>
              <a:t>                   </a:t>
            </a:r>
            <a:r>
              <a:rPr lang="en-US" sz="3200" b="1" dirty="0">
                <a:latin typeface="Times New Roman" pitchFamily="18" charset="0"/>
                <a:cs typeface="Arial" charset="0"/>
              </a:rPr>
              <a:t>P(failure) = (</a:t>
            </a:r>
            <a:r>
              <a:rPr lang="en-US" sz="3200" b="1" i="1" dirty="0">
                <a:latin typeface="Times New Roman" pitchFamily="18" charset="0"/>
                <a:cs typeface="Arial" charset="0"/>
              </a:rPr>
              <a:t>T</a:t>
            </a:r>
            <a:r>
              <a:rPr lang="en-US" sz="3200" b="1" baseline="-25000" dirty="0">
                <a:latin typeface="Times New Roman" pitchFamily="18" charset="0"/>
                <a:cs typeface="Arial" charset="0"/>
              </a:rPr>
              <a:t>0</a:t>
            </a:r>
            <a:r>
              <a:rPr lang="en-US" sz="3200" b="1" dirty="0">
                <a:latin typeface="Times New Roman" pitchFamily="18" charset="0"/>
                <a:cs typeface="Arial" charset="0"/>
              </a:rPr>
              <a:t>/</a:t>
            </a:r>
            <a:r>
              <a:rPr lang="en-US" sz="3200" b="1" i="1" dirty="0" err="1">
                <a:latin typeface="Times New Roman" pitchFamily="18" charset="0"/>
                <a:cs typeface="Arial" charset="0"/>
              </a:rPr>
              <a:t>T</a:t>
            </a:r>
            <a:r>
              <a:rPr lang="en-US" sz="3200" b="1" i="1" baseline="-25000" dirty="0" err="1">
                <a:latin typeface="Times New Roman" pitchFamily="18" charset="0"/>
                <a:cs typeface="Arial" charset="0"/>
              </a:rPr>
              <a:t>c</a:t>
            </a:r>
            <a:r>
              <a:rPr lang="en-US" sz="3200" b="1" i="1" baseline="-25000" dirty="0">
                <a:latin typeface="Times New Roman" pitchFamily="18" charset="0"/>
                <a:cs typeface="Arial" charset="0"/>
              </a:rPr>
              <a:t> </a:t>
            </a:r>
            <a:r>
              <a:rPr lang="en-US" sz="3200" b="1" dirty="0">
                <a:latin typeface="Times New Roman" pitchFamily="18" charset="0"/>
                <a:cs typeface="Arial" charset="0"/>
              </a:rPr>
              <a:t>) e</a:t>
            </a:r>
            <a:r>
              <a:rPr lang="en-US" sz="3200" b="1" baseline="30000" dirty="0">
                <a:latin typeface="Times New Roman" pitchFamily="18" charset="0"/>
                <a:cs typeface="Arial" charset="0"/>
              </a:rPr>
              <a:t>-</a:t>
            </a:r>
            <a:r>
              <a:rPr lang="en-US" sz="3200" b="1" i="1" baseline="30000" dirty="0">
                <a:latin typeface="Times New Roman" pitchFamily="18" charset="0"/>
                <a:cs typeface="Arial" charset="0"/>
              </a:rPr>
              <a:t>(</a:t>
            </a:r>
            <a:r>
              <a:rPr lang="en-US" sz="3200" b="1" i="1" baseline="30000" dirty="0" err="1">
                <a:latin typeface="Times New Roman" pitchFamily="18" charset="0"/>
                <a:cs typeface="Arial" charset="0"/>
              </a:rPr>
              <a:t>T</a:t>
            </a:r>
            <a:r>
              <a:rPr lang="en-US" sz="2000" b="1" i="1" baseline="30000" dirty="0" err="1">
                <a:latin typeface="Times New Roman" pitchFamily="18" charset="0"/>
                <a:cs typeface="Arial" charset="0"/>
              </a:rPr>
              <a:t>c</a:t>
            </a:r>
            <a:r>
              <a:rPr lang="en-US" sz="3200" b="1" i="1" baseline="-25000" dirty="0">
                <a:latin typeface="Times New Roman" pitchFamily="18" charset="0"/>
                <a:cs typeface="Arial" charset="0"/>
              </a:rPr>
              <a:t> </a:t>
            </a:r>
            <a:r>
              <a:rPr lang="en-US" sz="3200" b="1" i="1" baseline="30000" dirty="0">
                <a:latin typeface="Times New Roman" pitchFamily="18" charset="0"/>
                <a:cs typeface="Arial" charset="0"/>
              </a:rPr>
              <a:t>-  </a:t>
            </a:r>
            <a:r>
              <a:rPr lang="en-US" sz="3200" b="1" i="1" baseline="30000" dirty="0" err="1">
                <a:latin typeface="Times New Roman" pitchFamily="18" charset="0"/>
                <a:cs typeface="Arial" charset="0"/>
              </a:rPr>
              <a:t>t</a:t>
            </a:r>
            <a:r>
              <a:rPr lang="en-US" sz="2000" b="1" i="1" baseline="30000" dirty="0" err="1">
                <a:latin typeface="Times New Roman" pitchFamily="18" charset="0"/>
                <a:cs typeface="Arial" charset="0"/>
              </a:rPr>
              <a:t>setup</a:t>
            </a:r>
            <a:r>
              <a:rPr lang="en-US" sz="3200" b="1" i="1" baseline="30000" dirty="0">
                <a:latin typeface="Times New Roman" pitchFamily="18" charset="0"/>
                <a:cs typeface="Arial" charset="0"/>
              </a:rPr>
              <a:t>)</a:t>
            </a:r>
            <a:r>
              <a:rPr lang="en-US" sz="3200" b="1" baseline="30000" dirty="0">
                <a:latin typeface="Times New Roman" pitchFamily="18" charset="0"/>
                <a:cs typeface="Arial" charset="0"/>
              </a:rPr>
              <a:t>/</a:t>
            </a:r>
            <a:r>
              <a:rPr lang="el-GR" sz="3200" b="1" baseline="30000" dirty="0">
                <a:latin typeface="Times New Roman" pitchFamily="18" charset="0"/>
                <a:cs typeface="Times New Roman" pitchFamily="18" charset="0"/>
              </a:rPr>
              <a:t>τ</a:t>
            </a:r>
            <a:endParaRPr lang="en-US" sz="3200" b="1" baseline="30000" dirty="0">
              <a:latin typeface="Times New Roman" pitchFamily="18" charset="0"/>
              <a:cs typeface="Times New Roman" pitchFamily="18" charset="0"/>
            </a:endParaRPr>
          </a:p>
        </p:txBody>
      </p:sp>
      <p:sp>
        <p:nvSpPr>
          <p:cNvPr id="10" name="TextBox 9"/>
          <p:cNvSpPr txBox="1"/>
          <p:nvPr/>
        </p:nvSpPr>
        <p:spPr>
          <a:xfrm>
            <a:off x="457200" y="68759"/>
            <a:ext cx="8382000" cy="769441"/>
          </a:xfrm>
          <a:prstGeom prst="rect">
            <a:avLst/>
          </a:prstGeom>
          <a:noFill/>
        </p:spPr>
        <p:txBody>
          <a:bodyPr wrap="square" rtlCol="0">
            <a:spAutoFit/>
          </a:bodyPr>
          <a:lstStyle/>
          <a:p>
            <a:r>
              <a:rPr lang="en-US" sz="4400" dirty="0">
                <a:solidFill>
                  <a:schemeClr val="bg1"/>
                </a:solidFill>
                <a:latin typeface="+mj-lt"/>
              </a:rPr>
              <a:t>Synchronizer Probability of Failure</a:t>
            </a:r>
          </a:p>
        </p:txBody>
      </p:sp>
    </p:spTree>
    <p:extLst>
      <p:ext uri="{BB962C8B-B14F-4D97-AF65-F5344CB8AC3E}">
        <p14:creationId xmlns:p14="http://schemas.microsoft.com/office/powerpoint/2010/main" val="1151633807"/>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6" name="Rectangle 2"/>
          <p:cNvSpPr>
            <a:spLocks noChangeArrowheads="1"/>
          </p:cNvSpPr>
          <p:nvPr>
            <p:custDataLst>
              <p:tags r:id="rId1"/>
            </p:custDataLst>
          </p:nvPr>
        </p:nvSpPr>
        <p:spPr bwMode="auto">
          <a:xfrm>
            <a:off x="304800" y="9144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mj-lt"/>
              <a:cs typeface="Arial" charset="0"/>
            </a:endParaRPr>
          </a:p>
          <a:p>
            <a:pPr marL="342900" indent="-342900">
              <a:spcBef>
                <a:spcPct val="20000"/>
              </a:spcBef>
            </a:pPr>
            <a:endParaRPr lang="en-US" sz="3200">
              <a:latin typeface="+mj-lt"/>
              <a:cs typeface="Arial" charset="0"/>
            </a:endParaRPr>
          </a:p>
          <a:p>
            <a:pPr marL="342900" indent="-342900">
              <a:spcBef>
                <a:spcPct val="20000"/>
              </a:spcBef>
            </a:pPr>
            <a:endParaRPr lang="en-US" sz="3200">
              <a:latin typeface="+mj-lt"/>
              <a:cs typeface="Arial" charset="0"/>
            </a:endParaRPr>
          </a:p>
        </p:txBody>
      </p:sp>
      <p:sp>
        <p:nvSpPr>
          <p:cNvPr id="1065988" name="Rectangle 4"/>
          <p:cNvSpPr>
            <a:spLocks noChangeArrowheads="1"/>
          </p:cNvSpPr>
          <p:nvPr>
            <p:custDataLst>
              <p:tags r:id="rId2"/>
            </p:custDataLst>
          </p:nvPr>
        </p:nvSpPr>
        <p:spPr bwMode="auto">
          <a:xfrm>
            <a:off x="-228600" y="2129909"/>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mj-lt"/>
            </a:endParaRPr>
          </a:p>
        </p:txBody>
      </p:sp>
      <p:sp>
        <p:nvSpPr>
          <p:cNvPr id="1065989" name="Rectangle 5"/>
          <p:cNvSpPr>
            <a:spLocks noChangeArrowheads="1"/>
          </p:cNvSpPr>
          <p:nvPr>
            <p:custDataLst>
              <p:tags r:id="rId3"/>
            </p:custDataLst>
          </p:nvPr>
        </p:nvSpPr>
        <p:spPr bwMode="auto">
          <a:xfrm>
            <a:off x="-228600" y="2739509"/>
            <a:ext cx="18473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atin typeface="+mj-lt"/>
            </a:endParaRPr>
          </a:p>
        </p:txBody>
      </p:sp>
      <p:sp>
        <p:nvSpPr>
          <p:cNvPr id="1065991" name="Rectangle 7"/>
          <p:cNvSpPr>
            <a:spLocks noChangeArrowheads="1"/>
          </p:cNvSpPr>
          <p:nvPr>
            <p:custDataLst>
              <p:tags r:id="rId4"/>
            </p:custDataLst>
          </p:nvPr>
        </p:nvSpPr>
        <p:spPr bwMode="auto">
          <a:xfrm>
            <a:off x="685800" y="1143000"/>
            <a:ext cx="8305800" cy="464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600" dirty="0">
                <a:latin typeface="+mj-lt"/>
                <a:cs typeface="Arial" charset="0"/>
              </a:rPr>
              <a:t>If asynchronous input changes once per second, probability of failure per second is </a:t>
            </a:r>
            <a:r>
              <a:rPr lang="en-US" sz="2600" i="1" dirty="0">
                <a:latin typeface="+mj-lt"/>
                <a:cs typeface="Arial" charset="0"/>
              </a:rPr>
              <a:t>P</a:t>
            </a:r>
            <a:r>
              <a:rPr lang="en-US" sz="2600" dirty="0">
                <a:latin typeface="+mj-lt"/>
                <a:cs typeface="Arial" charset="0"/>
              </a:rPr>
              <a:t>(failure).</a:t>
            </a:r>
          </a:p>
          <a:p>
            <a:pPr marL="342900" indent="-342900">
              <a:spcBef>
                <a:spcPct val="20000"/>
              </a:spcBef>
              <a:buFontTx/>
              <a:buChar char="•"/>
            </a:pPr>
            <a:r>
              <a:rPr lang="en-US" sz="2600" dirty="0">
                <a:latin typeface="+mj-lt"/>
                <a:cs typeface="Arial" charset="0"/>
              </a:rPr>
              <a:t>If input changes </a:t>
            </a:r>
            <a:r>
              <a:rPr lang="en-US" sz="2600" i="1" dirty="0">
                <a:latin typeface="+mj-lt"/>
                <a:cs typeface="Arial" charset="0"/>
              </a:rPr>
              <a:t>N</a:t>
            </a:r>
            <a:r>
              <a:rPr lang="en-US" sz="2600" dirty="0">
                <a:latin typeface="+mj-lt"/>
                <a:cs typeface="Arial" charset="0"/>
              </a:rPr>
              <a:t> times per second, probability of failure per second is:</a:t>
            </a:r>
          </a:p>
          <a:p>
            <a:pPr marL="342900" indent="-342900">
              <a:spcBef>
                <a:spcPct val="20000"/>
              </a:spcBef>
            </a:pPr>
            <a:r>
              <a:rPr lang="en-US" sz="2000" dirty="0">
                <a:solidFill>
                  <a:srgbClr val="0070C0"/>
                </a:solidFill>
                <a:latin typeface="+mj-lt"/>
                <a:cs typeface="Arial" charset="0"/>
              </a:rPr>
              <a:t>         </a:t>
            </a:r>
            <a:r>
              <a:rPr lang="en-US" sz="3200" b="1" i="1" dirty="0">
                <a:solidFill>
                  <a:srgbClr val="0070C0"/>
                </a:solidFill>
                <a:latin typeface="+mj-lt"/>
                <a:cs typeface="Arial" charset="0"/>
              </a:rPr>
              <a:t>P</a:t>
            </a:r>
            <a:r>
              <a:rPr lang="en-US" sz="3200" b="1" dirty="0">
                <a:solidFill>
                  <a:srgbClr val="0070C0"/>
                </a:solidFill>
                <a:latin typeface="+mj-lt"/>
                <a:cs typeface="Arial" charset="0"/>
              </a:rPr>
              <a:t>(failure)/second = (</a:t>
            </a:r>
            <a:r>
              <a:rPr lang="en-US" sz="3200" b="1" i="1" dirty="0">
                <a:solidFill>
                  <a:srgbClr val="0070C0"/>
                </a:solidFill>
                <a:latin typeface="+mj-lt"/>
                <a:cs typeface="Arial" charset="0"/>
              </a:rPr>
              <a:t>NT</a:t>
            </a:r>
            <a:r>
              <a:rPr lang="en-US" sz="3200" b="1" baseline="-25000" dirty="0">
                <a:solidFill>
                  <a:srgbClr val="0070C0"/>
                </a:solidFill>
                <a:latin typeface="+mj-lt"/>
                <a:cs typeface="Arial" charset="0"/>
              </a:rPr>
              <a:t>0</a:t>
            </a:r>
            <a:r>
              <a:rPr lang="en-US" sz="3200" b="1" dirty="0">
                <a:solidFill>
                  <a:srgbClr val="0070C0"/>
                </a:solidFill>
                <a:latin typeface="+mj-lt"/>
                <a:cs typeface="Arial" charset="0"/>
              </a:rPr>
              <a:t>/</a:t>
            </a:r>
            <a:r>
              <a:rPr lang="en-US" sz="3200" b="1" i="1" dirty="0" err="1">
                <a:solidFill>
                  <a:srgbClr val="0070C0"/>
                </a:solidFill>
                <a:latin typeface="+mj-lt"/>
                <a:cs typeface="Arial" charset="0"/>
              </a:rPr>
              <a:t>T</a:t>
            </a:r>
            <a:r>
              <a:rPr lang="en-US" sz="3200" b="1" i="1" baseline="-25000" dirty="0" err="1">
                <a:solidFill>
                  <a:srgbClr val="0070C0"/>
                </a:solidFill>
                <a:latin typeface="+mj-lt"/>
                <a:cs typeface="Arial" charset="0"/>
              </a:rPr>
              <a:t>c</a:t>
            </a:r>
            <a:r>
              <a:rPr lang="en-US" sz="3200" b="1" dirty="0">
                <a:solidFill>
                  <a:srgbClr val="0070C0"/>
                </a:solidFill>
                <a:latin typeface="+mj-lt"/>
                <a:cs typeface="Arial" charset="0"/>
              </a:rPr>
              <a:t>) e</a:t>
            </a:r>
            <a:r>
              <a:rPr lang="en-US" sz="3200" b="1" baseline="30000" dirty="0">
                <a:solidFill>
                  <a:srgbClr val="0070C0"/>
                </a:solidFill>
                <a:latin typeface="+mj-lt"/>
                <a:cs typeface="Arial" charset="0"/>
              </a:rPr>
              <a:t>-</a:t>
            </a:r>
            <a:r>
              <a:rPr lang="en-US" sz="3200" b="1" i="1" baseline="30000" dirty="0">
                <a:solidFill>
                  <a:srgbClr val="0070C0"/>
                </a:solidFill>
                <a:latin typeface="+mj-lt"/>
                <a:cs typeface="Arial" charset="0"/>
              </a:rPr>
              <a:t>(</a:t>
            </a:r>
            <a:r>
              <a:rPr lang="en-US" sz="3200" b="1" i="1" baseline="30000" dirty="0" err="1">
                <a:solidFill>
                  <a:srgbClr val="0070C0"/>
                </a:solidFill>
                <a:latin typeface="+mj-lt"/>
                <a:cs typeface="Arial" charset="0"/>
              </a:rPr>
              <a:t>T</a:t>
            </a:r>
            <a:r>
              <a:rPr lang="en-US" sz="2000" b="1" i="1" baseline="30000" dirty="0" err="1">
                <a:solidFill>
                  <a:srgbClr val="0070C0"/>
                </a:solidFill>
                <a:latin typeface="+mj-lt"/>
                <a:cs typeface="Arial" charset="0"/>
              </a:rPr>
              <a:t>c</a:t>
            </a:r>
            <a:r>
              <a:rPr lang="en-US" sz="3200" b="1" i="1" baseline="-25000" dirty="0">
                <a:solidFill>
                  <a:srgbClr val="0070C0"/>
                </a:solidFill>
                <a:latin typeface="+mj-lt"/>
                <a:cs typeface="Arial" charset="0"/>
              </a:rPr>
              <a:t> </a:t>
            </a:r>
            <a:r>
              <a:rPr lang="en-US" sz="3200" b="1" i="1" baseline="30000" dirty="0">
                <a:solidFill>
                  <a:srgbClr val="0070C0"/>
                </a:solidFill>
                <a:latin typeface="+mj-lt"/>
                <a:cs typeface="Arial" charset="0"/>
              </a:rPr>
              <a:t>-  </a:t>
            </a:r>
            <a:r>
              <a:rPr lang="en-US" sz="3200" b="1" i="1" baseline="30000" dirty="0" err="1">
                <a:solidFill>
                  <a:srgbClr val="0070C0"/>
                </a:solidFill>
                <a:latin typeface="+mj-lt"/>
                <a:cs typeface="Arial" charset="0"/>
              </a:rPr>
              <a:t>t</a:t>
            </a:r>
            <a:r>
              <a:rPr lang="en-US" sz="2000" b="1" i="1" baseline="30000" dirty="0" err="1">
                <a:solidFill>
                  <a:srgbClr val="0070C0"/>
                </a:solidFill>
                <a:latin typeface="+mj-lt"/>
                <a:cs typeface="Arial" charset="0"/>
              </a:rPr>
              <a:t>setup</a:t>
            </a:r>
            <a:r>
              <a:rPr lang="en-US" sz="3200" b="1" i="1" baseline="30000" dirty="0">
                <a:solidFill>
                  <a:srgbClr val="0070C0"/>
                </a:solidFill>
                <a:latin typeface="+mj-lt"/>
                <a:cs typeface="Arial" charset="0"/>
              </a:rPr>
              <a:t>)</a:t>
            </a:r>
            <a:r>
              <a:rPr lang="en-US" sz="3200" b="1" baseline="30000" dirty="0">
                <a:solidFill>
                  <a:srgbClr val="0070C0"/>
                </a:solidFill>
                <a:latin typeface="+mj-lt"/>
                <a:cs typeface="Arial" charset="0"/>
              </a:rPr>
              <a:t>/</a:t>
            </a:r>
            <a:r>
              <a:rPr lang="el-GR" sz="3200" b="1" baseline="30000" dirty="0">
                <a:solidFill>
                  <a:srgbClr val="0070C0"/>
                </a:solidFill>
                <a:latin typeface="+mj-lt"/>
                <a:cs typeface="Times New Roman" pitchFamily="18" charset="0"/>
              </a:rPr>
              <a:t>τ</a:t>
            </a:r>
            <a:endParaRPr lang="en-US" sz="3200" b="1" baseline="30000" dirty="0">
              <a:solidFill>
                <a:srgbClr val="0070C0"/>
              </a:solidFill>
              <a:latin typeface="+mj-lt"/>
              <a:cs typeface="Times New Roman" pitchFamily="18" charset="0"/>
            </a:endParaRPr>
          </a:p>
          <a:p>
            <a:pPr marL="342900" indent="-342900">
              <a:spcBef>
                <a:spcPct val="20000"/>
              </a:spcBef>
            </a:pPr>
            <a:endParaRPr lang="en-US" sz="2000" baseline="30000" dirty="0">
              <a:latin typeface="+mj-lt"/>
              <a:cs typeface="Times New Roman" pitchFamily="18" charset="0"/>
            </a:endParaRPr>
          </a:p>
          <a:p>
            <a:pPr marL="342900" indent="-342900">
              <a:spcBef>
                <a:spcPct val="20000"/>
              </a:spcBef>
              <a:buFontTx/>
              <a:buChar char="•"/>
            </a:pPr>
            <a:r>
              <a:rPr lang="en-US" sz="2600" dirty="0">
                <a:latin typeface="+mj-lt"/>
                <a:cs typeface="Arial" charset="0"/>
              </a:rPr>
              <a:t>Synchronizer fails, on average, 1/[</a:t>
            </a:r>
            <a:r>
              <a:rPr lang="en-US" sz="2600" i="1" dirty="0">
                <a:latin typeface="+mj-lt"/>
                <a:cs typeface="Arial" charset="0"/>
              </a:rPr>
              <a:t>P</a:t>
            </a:r>
            <a:r>
              <a:rPr lang="en-US" sz="2600" dirty="0">
                <a:latin typeface="+mj-lt"/>
                <a:cs typeface="Arial" charset="0"/>
              </a:rPr>
              <a:t>(failure)/second]</a:t>
            </a:r>
          </a:p>
          <a:p>
            <a:pPr marL="342900" indent="-342900">
              <a:spcBef>
                <a:spcPct val="20000"/>
              </a:spcBef>
              <a:buFontTx/>
              <a:buChar char="•"/>
            </a:pPr>
            <a:r>
              <a:rPr lang="en-US" sz="2600" dirty="0">
                <a:latin typeface="+mj-lt"/>
                <a:cs typeface="Arial" charset="0"/>
              </a:rPr>
              <a:t>Called </a:t>
            </a:r>
            <a:r>
              <a:rPr lang="en-US" sz="2600" b="1" i="1" dirty="0">
                <a:latin typeface="+mj-lt"/>
                <a:cs typeface="Arial" charset="0"/>
              </a:rPr>
              <a:t>mean time between failures</a:t>
            </a:r>
            <a:r>
              <a:rPr lang="en-US" sz="2600" dirty="0">
                <a:latin typeface="+mj-lt"/>
                <a:cs typeface="Arial" charset="0"/>
              </a:rPr>
              <a:t>, MTBF:</a:t>
            </a:r>
          </a:p>
          <a:p>
            <a:pPr marL="342900" indent="-342900">
              <a:spcBef>
                <a:spcPct val="20000"/>
              </a:spcBef>
              <a:buFontTx/>
              <a:buChar char="•"/>
            </a:pPr>
            <a:endParaRPr lang="en-US" sz="2000" dirty="0">
              <a:latin typeface="+mj-lt"/>
              <a:cs typeface="Arial" charset="0"/>
            </a:endParaRPr>
          </a:p>
          <a:p>
            <a:pPr marL="342900" indent="-342900">
              <a:spcBef>
                <a:spcPct val="20000"/>
              </a:spcBef>
            </a:pPr>
            <a:r>
              <a:rPr lang="en-US" b="1" dirty="0">
                <a:latin typeface="+mj-lt"/>
                <a:cs typeface="Arial" charset="0"/>
              </a:rPr>
              <a:t> </a:t>
            </a:r>
            <a:r>
              <a:rPr lang="en-US" sz="2800" b="1" dirty="0">
                <a:solidFill>
                  <a:srgbClr val="0070C0"/>
                </a:solidFill>
                <a:latin typeface="+mj-lt"/>
                <a:cs typeface="Arial" charset="0"/>
              </a:rPr>
              <a:t>MTBF = 1/[</a:t>
            </a:r>
            <a:r>
              <a:rPr lang="en-US" sz="2800" b="1" i="1" dirty="0">
                <a:solidFill>
                  <a:srgbClr val="0070C0"/>
                </a:solidFill>
                <a:latin typeface="+mj-lt"/>
                <a:cs typeface="Arial" charset="0"/>
              </a:rPr>
              <a:t>P</a:t>
            </a:r>
            <a:r>
              <a:rPr lang="en-US" sz="2800" b="1" dirty="0">
                <a:solidFill>
                  <a:srgbClr val="0070C0"/>
                </a:solidFill>
                <a:latin typeface="+mj-lt"/>
                <a:cs typeface="Arial" charset="0"/>
              </a:rPr>
              <a:t>(failure)/second] = (</a:t>
            </a:r>
            <a:r>
              <a:rPr lang="en-US" sz="2800" b="1" i="1" dirty="0" err="1">
                <a:solidFill>
                  <a:srgbClr val="0070C0"/>
                </a:solidFill>
                <a:latin typeface="+mj-lt"/>
                <a:cs typeface="Arial" charset="0"/>
              </a:rPr>
              <a:t>T</a:t>
            </a:r>
            <a:r>
              <a:rPr lang="en-US" sz="2800" b="1" i="1" baseline="-25000" dirty="0" err="1">
                <a:solidFill>
                  <a:srgbClr val="0070C0"/>
                </a:solidFill>
                <a:latin typeface="+mj-lt"/>
                <a:cs typeface="Arial" charset="0"/>
              </a:rPr>
              <a:t>c</a:t>
            </a:r>
            <a:r>
              <a:rPr lang="en-US" sz="2800" b="1" dirty="0">
                <a:solidFill>
                  <a:srgbClr val="0070C0"/>
                </a:solidFill>
                <a:latin typeface="+mj-lt"/>
                <a:cs typeface="Arial" charset="0"/>
              </a:rPr>
              <a:t>/</a:t>
            </a:r>
            <a:r>
              <a:rPr lang="en-US" sz="2800" b="1" i="1" dirty="0">
                <a:solidFill>
                  <a:srgbClr val="0070C0"/>
                </a:solidFill>
                <a:latin typeface="+mj-lt"/>
                <a:cs typeface="Arial" charset="0"/>
              </a:rPr>
              <a:t>NT</a:t>
            </a:r>
            <a:r>
              <a:rPr lang="en-US" sz="2800" b="1" baseline="-25000" dirty="0">
                <a:solidFill>
                  <a:srgbClr val="0070C0"/>
                </a:solidFill>
                <a:latin typeface="+mj-lt"/>
                <a:cs typeface="Arial" charset="0"/>
              </a:rPr>
              <a:t>0</a:t>
            </a:r>
            <a:r>
              <a:rPr lang="en-US" sz="2800" b="1" dirty="0">
                <a:solidFill>
                  <a:srgbClr val="0070C0"/>
                </a:solidFill>
                <a:latin typeface="+mj-lt"/>
                <a:cs typeface="Arial" charset="0"/>
              </a:rPr>
              <a:t>) e</a:t>
            </a:r>
            <a:r>
              <a:rPr lang="en-US" sz="2800" b="1" i="1" baseline="30000" dirty="0">
                <a:solidFill>
                  <a:srgbClr val="0070C0"/>
                </a:solidFill>
                <a:latin typeface="+mj-lt"/>
                <a:cs typeface="Arial" charset="0"/>
              </a:rPr>
              <a:t>(</a:t>
            </a:r>
            <a:r>
              <a:rPr lang="en-US" sz="2800" b="1" i="1" baseline="30000" dirty="0" err="1">
                <a:solidFill>
                  <a:srgbClr val="0070C0"/>
                </a:solidFill>
                <a:latin typeface="+mj-lt"/>
                <a:cs typeface="Arial" charset="0"/>
              </a:rPr>
              <a:t>T</a:t>
            </a:r>
            <a:r>
              <a:rPr lang="en-US" sz="2000" b="1" i="1" baseline="30000" dirty="0" err="1">
                <a:solidFill>
                  <a:srgbClr val="0070C0"/>
                </a:solidFill>
                <a:latin typeface="+mj-lt"/>
                <a:cs typeface="Arial" charset="0"/>
              </a:rPr>
              <a:t>c</a:t>
            </a:r>
            <a:r>
              <a:rPr lang="en-US" sz="2800" b="1" i="1" baseline="-25000" dirty="0">
                <a:solidFill>
                  <a:srgbClr val="0070C0"/>
                </a:solidFill>
                <a:latin typeface="+mj-lt"/>
                <a:cs typeface="Arial" charset="0"/>
              </a:rPr>
              <a:t> </a:t>
            </a:r>
            <a:r>
              <a:rPr lang="en-US" sz="2800" b="1" i="1" baseline="30000" dirty="0">
                <a:solidFill>
                  <a:srgbClr val="0070C0"/>
                </a:solidFill>
                <a:latin typeface="+mj-lt"/>
                <a:cs typeface="Arial" charset="0"/>
              </a:rPr>
              <a:t>-  </a:t>
            </a:r>
            <a:r>
              <a:rPr lang="en-US" sz="2800" b="1" i="1" baseline="30000" dirty="0" err="1">
                <a:solidFill>
                  <a:srgbClr val="0070C0"/>
                </a:solidFill>
                <a:latin typeface="+mj-lt"/>
                <a:cs typeface="Arial" charset="0"/>
              </a:rPr>
              <a:t>t</a:t>
            </a:r>
            <a:r>
              <a:rPr lang="en-US" sz="2000" b="1" i="1" baseline="30000" dirty="0" err="1">
                <a:solidFill>
                  <a:srgbClr val="0070C0"/>
                </a:solidFill>
                <a:latin typeface="+mj-lt"/>
                <a:cs typeface="Arial" charset="0"/>
              </a:rPr>
              <a:t>setup</a:t>
            </a:r>
            <a:r>
              <a:rPr lang="en-US" sz="2800" b="1" i="1" baseline="30000" dirty="0">
                <a:solidFill>
                  <a:srgbClr val="0070C0"/>
                </a:solidFill>
                <a:latin typeface="+mj-lt"/>
                <a:cs typeface="Arial" charset="0"/>
              </a:rPr>
              <a:t>)</a:t>
            </a:r>
            <a:r>
              <a:rPr lang="en-US" sz="2800" b="1" baseline="30000" dirty="0">
                <a:solidFill>
                  <a:srgbClr val="0070C0"/>
                </a:solidFill>
                <a:latin typeface="+mj-lt"/>
                <a:cs typeface="Arial" charset="0"/>
              </a:rPr>
              <a:t>/</a:t>
            </a:r>
            <a:r>
              <a:rPr lang="el-GR" sz="2800" b="1" baseline="30000" dirty="0">
                <a:solidFill>
                  <a:srgbClr val="0070C0"/>
                </a:solidFill>
                <a:latin typeface="+mj-lt"/>
                <a:cs typeface="Times New Roman" pitchFamily="18" charset="0"/>
              </a:rPr>
              <a:t>τ</a:t>
            </a:r>
            <a:endParaRPr lang="en-US" sz="2800" b="1" baseline="30000" dirty="0">
              <a:solidFill>
                <a:srgbClr val="0070C0"/>
              </a:solidFill>
              <a:latin typeface="+mj-lt"/>
              <a:cs typeface="Times New Roman" pitchFamily="18" charset="0"/>
            </a:endParaRPr>
          </a:p>
          <a:p>
            <a:pPr marL="342900" indent="-342900">
              <a:spcBef>
                <a:spcPct val="20000"/>
              </a:spcBef>
            </a:pPr>
            <a:endParaRPr lang="en-US" sz="2800" baseline="30000" dirty="0">
              <a:latin typeface="+mj-lt"/>
              <a:cs typeface="Times New Roman" pitchFamily="18" charset="0"/>
            </a:endParaRPr>
          </a:p>
        </p:txBody>
      </p:sp>
      <p:sp>
        <p:nvSpPr>
          <p:cNvPr id="1065993" name="Rectangle 9"/>
          <p:cNvSpPr>
            <a:spLocks noChangeArrowheads="1"/>
          </p:cNvSpPr>
          <p:nvPr>
            <p:custDataLst>
              <p:tags r:id="rId5"/>
            </p:custDataLst>
          </p:nvPr>
        </p:nvSpPr>
        <p:spPr bwMode="auto">
          <a:xfrm>
            <a:off x="712177" y="4876800"/>
            <a:ext cx="8050823" cy="838200"/>
          </a:xfrm>
          <a:prstGeom prst="rect">
            <a:avLst/>
          </a:prstGeom>
          <a:noFill/>
          <a:ln w="19050">
            <a:solidFill>
              <a:schemeClr val="accent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j-lt"/>
            </a:endParaRPr>
          </a:p>
        </p:txBody>
      </p:sp>
      <p:sp>
        <p:nvSpPr>
          <p:cNvPr id="1065994" name="Rectangle 10"/>
          <p:cNvSpPr>
            <a:spLocks noChangeArrowheads="1"/>
          </p:cNvSpPr>
          <p:nvPr>
            <p:custDataLst>
              <p:tags r:id="rId6"/>
            </p:custDataLst>
          </p:nvPr>
        </p:nvSpPr>
        <p:spPr bwMode="auto">
          <a:xfrm>
            <a:off x="851388" y="2886808"/>
            <a:ext cx="7772400" cy="685800"/>
          </a:xfrm>
          <a:prstGeom prst="rect">
            <a:avLst/>
          </a:prstGeom>
          <a:noFill/>
          <a:ln w="19050">
            <a:solidFill>
              <a:schemeClr val="accent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j-lt"/>
            </a:endParaRPr>
          </a:p>
        </p:txBody>
      </p:sp>
      <p:sp>
        <p:nvSpPr>
          <p:cNvPr id="11" name="TextBox 10"/>
          <p:cNvSpPr txBox="1"/>
          <p:nvPr/>
        </p:nvSpPr>
        <p:spPr>
          <a:xfrm>
            <a:off x="457200" y="146447"/>
            <a:ext cx="8534400" cy="677108"/>
          </a:xfrm>
          <a:prstGeom prst="rect">
            <a:avLst/>
          </a:prstGeom>
          <a:noFill/>
        </p:spPr>
        <p:txBody>
          <a:bodyPr wrap="square" rtlCol="0">
            <a:spAutoFit/>
          </a:bodyPr>
          <a:lstStyle/>
          <a:p>
            <a:r>
              <a:rPr lang="en-US" sz="3800" dirty="0">
                <a:solidFill>
                  <a:schemeClr val="bg1"/>
                </a:solidFill>
                <a:latin typeface="+mj-lt"/>
              </a:rPr>
              <a:t>Synchronizer Mean Time Between Failures</a:t>
            </a:r>
          </a:p>
        </p:txBody>
      </p:sp>
    </p:spTree>
    <p:extLst>
      <p:ext uri="{BB962C8B-B14F-4D97-AF65-F5344CB8AC3E}">
        <p14:creationId xmlns:p14="http://schemas.microsoft.com/office/powerpoint/2010/main" val="3354980347"/>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98085" name="Object 5"/>
          <p:cNvGraphicFramePr>
            <a:graphicFrameLocks noGrp="1" noChangeAspect="1"/>
          </p:cNvGraphicFramePr>
          <p:nvPr>
            <p:ph sz="half" idx="4294967295"/>
            <p:custDataLst>
              <p:tags r:id="rId2"/>
            </p:custDataLst>
            <p:extLst>
              <p:ext uri="{D42A27DB-BD31-4B8C-83A1-F6EECF244321}">
                <p14:modId xmlns:p14="http://schemas.microsoft.com/office/powerpoint/2010/main" val="4228183612"/>
              </p:ext>
            </p:extLst>
          </p:nvPr>
        </p:nvGraphicFramePr>
        <p:xfrm>
          <a:off x="1752600" y="960437"/>
          <a:ext cx="5334000" cy="1506538"/>
        </p:xfrm>
        <a:graphic>
          <a:graphicData uri="http://schemas.openxmlformats.org/presentationml/2006/ole">
            <mc:AlternateContent xmlns:mc="http://schemas.openxmlformats.org/markup-compatibility/2006">
              <mc:Choice xmlns:v="urn:schemas-microsoft-com:vml" Requires="v">
                <p:oleObj spid="_x0000_s53250" name="VISIO" r:id="rId8" imgW="2428920" imgH="685800" progId="Visio.Drawing.6">
                  <p:embed/>
                </p:oleObj>
              </mc:Choice>
              <mc:Fallback>
                <p:oleObj name="VISIO" r:id="rId8" imgW="2428920" imgH="68580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2600" y="960437"/>
                        <a:ext cx="5334000" cy="1506538"/>
                      </a:xfrm>
                      <a:prstGeom prst="rect">
                        <a:avLst/>
                      </a:prstGeom>
                    </p:spPr>
                  </p:pic>
                </p:oleObj>
              </mc:Fallback>
            </mc:AlternateContent>
          </a:graphicData>
        </a:graphic>
      </p:graphicFrame>
      <p:sp>
        <p:nvSpPr>
          <p:cNvPr id="1198082"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198084" name="Rectangle 4"/>
          <p:cNvSpPr>
            <a:spLocks noChangeArrowheads="1"/>
          </p:cNvSpPr>
          <p:nvPr>
            <p:custDataLst>
              <p:tags r:id="rId4"/>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198086" name="Rectangle 6"/>
          <p:cNvSpPr>
            <a:spLocks noChangeArrowheads="1"/>
          </p:cNvSpPr>
          <p:nvPr>
            <p:custDataLst>
              <p:tags r:id="rId5"/>
            </p:custDataLst>
          </p:nvPr>
        </p:nvSpPr>
        <p:spPr bwMode="auto">
          <a:xfrm>
            <a:off x="685800" y="2590800"/>
            <a:ext cx="8305800" cy="3124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000" dirty="0">
                <a:latin typeface="Times New Roman" pitchFamily="18" charset="0"/>
                <a:cs typeface="Arial" charset="0"/>
              </a:rPr>
              <a:t>Suppose:  	</a:t>
            </a:r>
            <a:r>
              <a:rPr lang="en-US" sz="2000" i="1" dirty="0" err="1">
                <a:latin typeface="Times New Roman" pitchFamily="18" charset="0"/>
                <a:cs typeface="Arial" charset="0"/>
              </a:rPr>
              <a:t>T</a:t>
            </a:r>
            <a:r>
              <a:rPr lang="en-US" sz="2000" i="1" baseline="-25000" dirty="0" err="1">
                <a:latin typeface="Times New Roman" pitchFamily="18" charset="0"/>
                <a:cs typeface="Arial" charset="0"/>
              </a:rPr>
              <a:t>c</a:t>
            </a:r>
            <a:r>
              <a:rPr lang="en-US" sz="2000" dirty="0">
                <a:latin typeface="Times New Roman" pitchFamily="18" charset="0"/>
                <a:cs typeface="Arial" charset="0"/>
              </a:rPr>
              <a:t>    = 1/500 MHz = 2 ns	</a:t>
            </a:r>
            <a:r>
              <a:rPr lang="el-GR" sz="2000" dirty="0">
                <a:latin typeface="Times New Roman" pitchFamily="18" charset="0"/>
                <a:cs typeface="Times New Roman" pitchFamily="18" charset="0"/>
              </a:rPr>
              <a:t>τ</a:t>
            </a:r>
            <a:r>
              <a:rPr lang="en-US" sz="2000" dirty="0">
                <a:latin typeface="Times New Roman" pitchFamily="18" charset="0"/>
                <a:cs typeface="Times New Roman" pitchFamily="18" charset="0"/>
              </a:rPr>
              <a:t>      = 200 </a:t>
            </a:r>
            <a:r>
              <a:rPr lang="en-US" sz="2000" dirty="0" err="1">
                <a:latin typeface="Times New Roman" pitchFamily="18" charset="0"/>
                <a:cs typeface="Times New Roman" pitchFamily="18" charset="0"/>
              </a:rPr>
              <a:t>ps</a:t>
            </a:r>
            <a:endParaRPr lang="el-GR" sz="2000" dirty="0">
              <a:latin typeface="Times New Roman" pitchFamily="18" charset="0"/>
              <a:cs typeface="Times New Roman" pitchFamily="18" charset="0"/>
            </a:endParaRPr>
          </a:p>
          <a:p>
            <a:pPr marL="342900" indent="-342900">
              <a:spcBef>
                <a:spcPct val="20000"/>
              </a:spcBef>
            </a:pPr>
            <a:r>
              <a:rPr lang="en-US" sz="2000" dirty="0">
                <a:latin typeface="Times New Roman" pitchFamily="18" charset="0"/>
                <a:cs typeface="Arial" charset="0"/>
              </a:rPr>
              <a:t>			</a:t>
            </a:r>
            <a:r>
              <a:rPr lang="en-US" sz="2000" i="1" dirty="0">
                <a:latin typeface="Times New Roman" pitchFamily="18" charset="0"/>
                <a:cs typeface="Arial" charset="0"/>
              </a:rPr>
              <a:t>T</a:t>
            </a:r>
            <a:r>
              <a:rPr lang="en-US" sz="2000" baseline="-25000" dirty="0">
                <a:latin typeface="Times New Roman" pitchFamily="18" charset="0"/>
                <a:cs typeface="Arial" charset="0"/>
              </a:rPr>
              <a:t>0</a:t>
            </a:r>
            <a:r>
              <a:rPr lang="en-US" sz="2000" dirty="0">
                <a:latin typeface="Times New Roman" pitchFamily="18" charset="0"/>
                <a:cs typeface="Arial" charset="0"/>
              </a:rPr>
              <a:t>    = 150 </a:t>
            </a:r>
            <a:r>
              <a:rPr lang="en-US" sz="2000" dirty="0" err="1">
                <a:latin typeface="Times New Roman" pitchFamily="18" charset="0"/>
                <a:cs typeface="Arial" charset="0"/>
              </a:rPr>
              <a:t>ps</a:t>
            </a:r>
            <a:r>
              <a:rPr lang="en-US" sz="2000" dirty="0">
                <a:latin typeface="Times New Roman" pitchFamily="18" charset="0"/>
                <a:cs typeface="Arial" charset="0"/>
              </a:rPr>
              <a:t>		</a:t>
            </a:r>
            <a:r>
              <a:rPr lang="en-US" sz="2000" i="1" dirty="0" err="1">
                <a:latin typeface="Times New Roman" pitchFamily="18" charset="0"/>
                <a:cs typeface="Arial" charset="0"/>
              </a:rPr>
              <a:t>t</a:t>
            </a:r>
            <a:r>
              <a:rPr lang="en-US" sz="2000" baseline="-25000" dirty="0" err="1">
                <a:latin typeface="Times New Roman" pitchFamily="18" charset="0"/>
                <a:cs typeface="Arial" charset="0"/>
              </a:rPr>
              <a:t>setup</a:t>
            </a:r>
            <a:r>
              <a:rPr lang="en-US" sz="2000" dirty="0">
                <a:latin typeface="Times New Roman" pitchFamily="18" charset="0"/>
                <a:cs typeface="Arial" charset="0"/>
              </a:rPr>
              <a:t> = 100 </a:t>
            </a:r>
            <a:r>
              <a:rPr lang="en-US" sz="2000" dirty="0" err="1">
                <a:latin typeface="Times New Roman" pitchFamily="18" charset="0"/>
                <a:cs typeface="Arial" charset="0"/>
              </a:rPr>
              <a:t>ps</a:t>
            </a:r>
            <a:endParaRPr lang="en-US" sz="2000" dirty="0">
              <a:latin typeface="Times New Roman" pitchFamily="18" charset="0"/>
              <a:cs typeface="Arial" charset="0"/>
            </a:endParaRPr>
          </a:p>
          <a:p>
            <a:pPr marL="342900" indent="-342900">
              <a:spcBef>
                <a:spcPct val="20000"/>
              </a:spcBef>
            </a:pPr>
            <a:r>
              <a:rPr lang="en-US" sz="2000" dirty="0">
                <a:latin typeface="Times New Roman" pitchFamily="18" charset="0"/>
                <a:cs typeface="Arial" charset="0"/>
              </a:rPr>
              <a:t>                             </a:t>
            </a:r>
            <a:r>
              <a:rPr lang="en-US" sz="2000" i="1" dirty="0">
                <a:latin typeface="Times New Roman" pitchFamily="18" charset="0"/>
                <a:cs typeface="Arial" charset="0"/>
              </a:rPr>
              <a:t>N</a:t>
            </a:r>
            <a:r>
              <a:rPr lang="en-US" sz="2000" dirty="0">
                <a:latin typeface="Times New Roman" pitchFamily="18" charset="0"/>
                <a:cs typeface="Arial" charset="0"/>
              </a:rPr>
              <a:t>     = 10 events per second</a:t>
            </a:r>
          </a:p>
          <a:p>
            <a:pPr marL="342900" indent="-342900">
              <a:spcBef>
                <a:spcPct val="20000"/>
              </a:spcBef>
              <a:buFontTx/>
              <a:buChar char="•"/>
            </a:pPr>
            <a:r>
              <a:rPr lang="en-US" sz="2000" dirty="0">
                <a:latin typeface="Times New Roman" pitchFamily="18" charset="0"/>
                <a:cs typeface="Arial" charset="0"/>
              </a:rPr>
              <a:t>What is the probability of failure? MTBF?</a:t>
            </a:r>
          </a:p>
          <a:p>
            <a:pPr marL="342900" indent="-342900">
              <a:spcBef>
                <a:spcPct val="20000"/>
              </a:spcBef>
            </a:pPr>
            <a:r>
              <a:rPr lang="en-US" sz="2000" dirty="0">
                <a:latin typeface="Times New Roman" pitchFamily="18" charset="0"/>
                <a:cs typeface="Arial" charset="0"/>
              </a:rPr>
              <a:t>                                   </a:t>
            </a:r>
            <a:r>
              <a:rPr lang="en-US" sz="2000" i="1" dirty="0">
                <a:latin typeface="Times New Roman" pitchFamily="18" charset="0"/>
                <a:cs typeface="Arial" charset="0"/>
              </a:rPr>
              <a:t>P</a:t>
            </a:r>
            <a:r>
              <a:rPr lang="en-US" sz="2000" dirty="0">
                <a:latin typeface="Times New Roman" pitchFamily="18" charset="0"/>
                <a:cs typeface="Arial" charset="0"/>
              </a:rPr>
              <a:t>(failure) = (150 ps/2 ns) e</a:t>
            </a:r>
            <a:r>
              <a:rPr lang="en-US" sz="2000" baseline="30000" dirty="0">
                <a:latin typeface="Times New Roman" pitchFamily="18" charset="0"/>
                <a:cs typeface="Arial" charset="0"/>
              </a:rPr>
              <a:t>-</a:t>
            </a:r>
            <a:r>
              <a:rPr lang="en-US" sz="2000" i="1" baseline="30000" dirty="0">
                <a:latin typeface="Times New Roman" pitchFamily="18" charset="0"/>
                <a:cs typeface="Arial" charset="0"/>
              </a:rPr>
              <a:t>(</a:t>
            </a:r>
            <a:r>
              <a:rPr lang="en-US" sz="2000" baseline="30000" dirty="0">
                <a:latin typeface="Times New Roman" pitchFamily="18" charset="0"/>
                <a:cs typeface="Arial" charset="0"/>
              </a:rPr>
              <a:t>1.9 ns</a:t>
            </a:r>
            <a:r>
              <a:rPr lang="en-US" sz="2000" i="1" baseline="30000" dirty="0">
                <a:latin typeface="Times New Roman" pitchFamily="18" charset="0"/>
                <a:cs typeface="Arial" charset="0"/>
              </a:rPr>
              <a:t>)</a:t>
            </a:r>
            <a:r>
              <a:rPr lang="en-US" sz="2000" baseline="30000" dirty="0">
                <a:latin typeface="Times New Roman" pitchFamily="18" charset="0"/>
                <a:cs typeface="Arial" charset="0"/>
              </a:rPr>
              <a:t>/</a:t>
            </a:r>
            <a:r>
              <a:rPr lang="en-US" sz="2000" baseline="30000" dirty="0">
                <a:latin typeface="Times New Roman" pitchFamily="18" charset="0"/>
                <a:cs typeface="Times New Roman" pitchFamily="18" charset="0"/>
              </a:rPr>
              <a:t>200 </a:t>
            </a:r>
            <a:r>
              <a:rPr lang="en-US" sz="2000" baseline="30000" dirty="0" err="1">
                <a:latin typeface="Times New Roman" pitchFamily="18" charset="0"/>
                <a:cs typeface="Times New Roman" pitchFamily="18" charset="0"/>
              </a:rPr>
              <a:t>ps</a:t>
            </a:r>
            <a:endParaRPr lang="en-US" sz="2000" dirty="0">
              <a:latin typeface="Times New Roman" pitchFamily="18" charset="0"/>
              <a:cs typeface="Times New Roman" pitchFamily="18" charset="0"/>
            </a:endParaRPr>
          </a:p>
          <a:p>
            <a:pPr marL="342900" indent="-342900">
              <a:spcBef>
                <a:spcPct val="20000"/>
              </a:spcBef>
            </a:pPr>
            <a:r>
              <a:rPr lang="en-US" sz="2000" baseline="30000" dirty="0">
                <a:latin typeface="Times New Roman" pitchFamily="18" charset="0"/>
                <a:cs typeface="Times New Roman" pitchFamily="18" charset="0"/>
              </a:rPr>
              <a:t>                                                                               </a:t>
            </a:r>
            <a:r>
              <a:rPr lang="en-US" sz="2000" dirty="0">
                <a:latin typeface="Times New Roman" pitchFamily="18" charset="0"/>
                <a:cs typeface="Times New Roman" pitchFamily="18" charset="0"/>
              </a:rPr>
              <a:t>= </a:t>
            </a:r>
            <a:r>
              <a:rPr lang="en-US" sz="2000" b="1" dirty="0">
                <a:solidFill>
                  <a:schemeClr val="accent1"/>
                </a:solidFill>
                <a:latin typeface="Times New Roman" pitchFamily="18" charset="0"/>
                <a:cs typeface="Times New Roman" pitchFamily="18" charset="0"/>
              </a:rPr>
              <a:t>5.6 × 10</a:t>
            </a:r>
            <a:r>
              <a:rPr lang="en-US" sz="2000" b="1" baseline="30000" dirty="0">
                <a:solidFill>
                  <a:schemeClr val="accent1"/>
                </a:solidFill>
                <a:latin typeface="Times New Roman" pitchFamily="18" charset="0"/>
                <a:cs typeface="Times New Roman" pitchFamily="18" charset="0"/>
              </a:rPr>
              <a:t>-6</a:t>
            </a:r>
          </a:p>
          <a:p>
            <a:pPr marL="342900" indent="-342900">
              <a:spcBef>
                <a:spcPct val="20000"/>
              </a:spcBef>
            </a:pPr>
            <a:r>
              <a:rPr lang="en-US" sz="2000" baseline="30000" dirty="0">
                <a:latin typeface="Times New Roman" pitchFamily="18" charset="0"/>
                <a:cs typeface="Times New Roman" pitchFamily="18" charset="0"/>
              </a:rPr>
              <a:t>                                  </a:t>
            </a:r>
            <a:r>
              <a:rPr lang="en-US" sz="2000" i="1" dirty="0">
                <a:latin typeface="Times New Roman" pitchFamily="18" charset="0"/>
                <a:cs typeface="Arial" charset="0"/>
              </a:rPr>
              <a:t>P</a:t>
            </a:r>
            <a:r>
              <a:rPr lang="en-US" sz="2000" dirty="0">
                <a:latin typeface="Times New Roman" pitchFamily="18" charset="0"/>
                <a:cs typeface="Arial" charset="0"/>
              </a:rPr>
              <a:t>(failure)/second = 10 </a:t>
            </a:r>
            <a:r>
              <a:rPr lang="en-US" sz="2000" dirty="0">
                <a:latin typeface="Times New Roman" pitchFamily="18" charset="0"/>
                <a:cs typeface="Times New Roman" pitchFamily="18" charset="0"/>
              </a:rPr>
              <a:t>× </a:t>
            </a:r>
            <a:r>
              <a:rPr lang="en-US" sz="2000" dirty="0">
                <a:latin typeface="Times New Roman" pitchFamily="18" charset="0"/>
                <a:cs typeface="Arial" charset="0"/>
              </a:rPr>
              <a:t>(</a:t>
            </a:r>
            <a:r>
              <a:rPr lang="en-US" sz="2000" dirty="0">
                <a:latin typeface="Times New Roman" pitchFamily="18" charset="0"/>
                <a:cs typeface="Times New Roman" pitchFamily="18" charset="0"/>
              </a:rPr>
              <a:t>5.6 × 10</a:t>
            </a:r>
            <a:r>
              <a:rPr lang="en-US" sz="2000" baseline="30000" dirty="0">
                <a:latin typeface="Times New Roman" pitchFamily="18" charset="0"/>
                <a:cs typeface="Times New Roman" pitchFamily="18" charset="0"/>
              </a:rPr>
              <a:t>-6 </a:t>
            </a:r>
            <a:r>
              <a:rPr lang="en-US" sz="2000" dirty="0">
                <a:latin typeface="Times New Roman" pitchFamily="18" charset="0"/>
                <a:cs typeface="Arial" charset="0"/>
              </a:rPr>
              <a:t>)</a:t>
            </a:r>
            <a:endParaRPr lang="en-US" sz="2000" dirty="0">
              <a:latin typeface="Times New Roman" pitchFamily="18" charset="0"/>
              <a:cs typeface="Times New Roman" pitchFamily="18" charset="0"/>
            </a:endParaRPr>
          </a:p>
          <a:p>
            <a:pPr marL="342900" indent="-342900">
              <a:spcBef>
                <a:spcPct val="20000"/>
              </a:spcBef>
            </a:pPr>
            <a:r>
              <a:rPr lang="en-US" sz="2000" baseline="30000" dirty="0">
                <a:latin typeface="Times New Roman" pitchFamily="18" charset="0"/>
                <a:cs typeface="Times New Roman" pitchFamily="18" charset="0"/>
              </a:rPr>
              <a:t>                                                                               </a:t>
            </a:r>
            <a:r>
              <a:rPr lang="en-US" sz="2000" dirty="0">
                <a:latin typeface="Times New Roman" pitchFamily="18" charset="0"/>
                <a:cs typeface="Times New Roman" pitchFamily="18" charset="0"/>
              </a:rPr>
              <a:t>= 5.6 × 10</a:t>
            </a:r>
            <a:r>
              <a:rPr lang="en-US" sz="2000" baseline="30000" dirty="0">
                <a:latin typeface="Times New Roman" pitchFamily="18" charset="0"/>
                <a:cs typeface="Times New Roman" pitchFamily="18" charset="0"/>
              </a:rPr>
              <a:t>-5</a:t>
            </a:r>
            <a:r>
              <a:rPr lang="en-US" sz="2000" dirty="0">
                <a:latin typeface="Times New Roman" pitchFamily="18" charset="0"/>
                <a:cs typeface="Times New Roman" pitchFamily="18" charset="0"/>
              </a:rPr>
              <a:t> / second</a:t>
            </a:r>
            <a:endParaRPr lang="en-US" sz="2000" baseline="30000" dirty="0">
              <a:latin typeface="Times New Roman" pitchFamily="18" charset="0"/>
              <a:cs typeface="Times New Roman" pitchFamily="18" charset="0"/>
            </a:endParaRPr>
          </a:p>
          <a:p>
            <a:pPr marL="342900" indent="-342900">
              <a:spcBef>
                <a:spcPct val="20000"/>
              </a:spcBef>
            </a:pPr>
            <a:r>
              <a:rPr lang="en-US" sz="2000" baseline="30000" dirty="0">
                <a:latin typeface="Times New Roman" pitchFamily="18" charset="0"/>
                <a:cs typeface="Times New Roman" pitchFamily="18" charset="0"/>
              </a:rPr>
              <a:t>      			            </a:t>
            </a:r>
            <a:r>
              <a:rPr lang="en-US" sz="2000" dirty="0">
                <a:latin typeface="Times New Roman" pitchFamily="18" charset="0"/>
                <a:cs typeface="Arial" charset="0"/>
              </a:rPr>
              <a:t>MTBF    = 1/[P(failure)/second] ≈ </a:t>
            </a:r>
            <a:r>
              <a:rPr lang="en-US" sz="2000" b="1" dirty="0">
                <a:solidFill>
                  <a:schemeClr val="accent1"/>
                </a:solidFill>
                <a:latin typeface="Times New Roman" pitchFamily="18" charset="0"/>
                <a:cs typeface="Arial" charset="0"/>
              </a:rPr>
              <a:t>5 hours</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Example Synchronizer</a:t>
            </a:r>
          </a:p>
        </p:txBody>
      </p:sp>
    </p:spTree>
    <p:extLst>
      <p:ext uri="{BB962C8B-B14F-4D97-AF65-F5344CB8AC3E}">
        <p14:creationId xmlns:p14="http://schemas.microsoft.com/office/powerpoint/2010/main" val="95360744"/>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46532" name="Rectangle 4"/>
          <p:cNvSpPr>
            <a:spLocks noChangeArrowheads="1"/>
          </p:cNvSpPr>
          <p:nvPr>
            <p:custDataLst>
              <p:tags r:id="rId2"/>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46534" name="Rectangle 6"/>
          <p:cNvSpPr>
            <a:spLocks noChangeArrowheads="1"/>
          </p:cNvSpPr>
          <p:nvPr>
            <p:custDataLst>
              <p:tags r:id="rId3"/>
            </p:custDataLst>
          </p:nvPr>
        </p:nvSpPr>
        <p:spPr bwMode="auto">
          <a:xfrm>
            <a:off x="0" y="30765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46536" name="Rectangle 8"/>
          <p:cNvSpPr>
            <a:spLocks noChangeArrowheads="1"/>
          </p:cNvSpPr>
          <p:nvPr>
            <p:custDataLst>
              <p:tags r:id="rId4"/>
            </p:custDataLst>
          </p:nvPr>
        </p:nvSpPr>
        <p:spPr bwMode="auto">
          <a:xfrm>
            <a:off x="533400" y="1143000"/>
            <a:ext cx="8305800" cy="464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latin typeface="+mj-lt"/>
                <a:cs typeface="Arial" charset="0"/>
              </a:rPr>
              <a:t>Two types of parallelism:</a:t>
            </a:r>
          </a:p>
          <a:p>
            <a:pPr marL="742950" lvl="1" indent="-285750">
              <a:spcBef>
                <a:spcPct val="20000"/>
              </a:spcBef>
              <a:buFontTx/>
              <a:buChar char="–"/>
            </a:pPr>
            <a:r>
              <a:rPr lang="en-US" sz="2600" b="1" dirty="0">
                <a:solidFill>
                  <a:schemeClr val="accent1"/>
                </a:solidFill>
                <a:latin typeface="+mj-lt"/>
                <a:cs typeface="Arial" charset="0"/>
              </a:rPr>
              <a:t>Spatial parallelism</a:t>
            </a:r>
          </a:p>
          <a:p>
            <a:pPr marL="1143000" lvl="2" indent="-228600">
              <a:spcBef>
                <a:spcPct val="20000"/>
              </a:spcBef>
              <a:buFontTx/>
              <a:buChar char="•"/>
            </a:pPr>
            <a:r>
              <a:rPr lang="en-US" sz="2600" dirty="0">
                <a:latin typeface="+mj-lt"/>
                <a:cs typeface="Arial" charset="0"/>
              </a:rPr>
              <a:t>duplicate hardware performs multiple tasks at once</a:t>
            </a:r>
          </a:p>
          <a:p>
            <a:pPr marL="742950" lvl="1" indent="-285750">
              <a:spcBef>
                <a:spcPct val="20000"/>
              </a:spcBef>
              <a:buFontTx/>
              <a:buChar char="–"/>
            </a:pPr>
            <a:r>
              <a:rPr lang="en-US" sz="2600" b="1" dirty="0">
                <a:solidFill>
                  <a:schemeClr val="accent1"/>
                </a:solidFill>
                <a:latin typeface="+mj-lt"/>
                <a:cs typeface="Arial" charset="0"/>
              </a:rPr>
              <a:t>Temporal parallelism</a:t>
            </a:r>
          </a:p>
          <a:p>
            <a:pPr marL="1143000" lvl="2" indent="-228600">
              <a:spcBef>
                <a:spcPct val="20000"/>
              </a:spcBef>
              <a:buFontTx/>
              <a:buChar char="•"/>
            </a:pPr>
            <a:r>
              <a:rPr lang="en-US" sz="2600" dirty="0">
                <a:latin typeface="+mj-lt"/>
                <a:cs typeface="Arial" charset="0"/>
              </a:rPr>
              <a:t>task is broken into multiple stages</a:t>
            </a:r>
          </a:p>
          <a:p>
            <a:pPr marL="1143000" lvl="2" indent="-228600">
              <a:spcBef>
                <a:spcPct val="20000"/>
              </a:spcBef>
              <a:buFontTx/>
              <a:buChar char="•"/>
            </a:pPr>
            <a:r>
              <a:rPr lang="en-US" sz="2600" dirty="0">
                <a:latin typeface="+mj-lt"/>
                <a:cs typeface="Arial" charset="0"/>
              </a:rPr>
              <a:t>also called pipelining</a:t>
            </a:r>
          </a:p>
          <a:p>
            <a:pPr marL="1143000" lvl="2" indent="-228600">
              <a:spcBef>
                <a:spcPct val="20000"/>
              </a:spcBef>
              <a:buFontTx/>
              <a:buChar char="•"/>
            </a:pPr>
            <a:r>
              <a:rPr lang="en-US" sz="2600" dirty="0">
                <a:latin typeface="+mj-lt"/>
                <a:cs typeface="Arial" charset="0"/>
              </a:rPr>
              <a:t>for example, an assembly line</a:t>
            </a:r>
            <a:endParaRPr lang="en-US" sz="2600" baseline="30000" dirty="0">
              <a:latin typeface="+mj-lt"/>
              <a:cs typeface="Times New Roman" pitchFamily="18"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Parallelism</a:t>
            </a:r>
          </a:p>
        </p:txBody>
      </p:sp>
    </p:spTree>
    <p:extLst>
      <p:ext uri="{BB962C8B-B14F-4D97-AF65-F5344CB8AC3E}">
        <p14:creationId xmlns:p14="http://schemas.microsoft.com/office/powerpoint/2010/main" val="618467690"/>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2658"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222660" name="Rectangle 4"/>
          <p:cNvSpPr>
            <a:spLocks noChangeArrowheads="1"/>
          </p:cNvSpPr>
          <p:nvPr>
            <p:custDataLst>
              <p:tags r:id="rId2"/>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222661" name="Rectangle 5"/>
          <p:cNvSpPr>
            <a:spLocks noChangeArrowheads="1"/>
          </p:cNvSpPr>
          <p:nvPr>
            <p:custDataLst>
              <p:tags r:id="rId3"/>
            </p:custDataLst>
          </p:nvPr>
        </p:nvSpPr>
        <p:spPr bwMode="auto">
          <a:xfrm>
            <a:off x="0" y="30765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222662" name="Rectangle 6"/>
          <p:cNvSpPr>
            <a:spLocks noChangeArrowheads="1"/>
          </p:cNvSpPr>
          <p:nvPr>
            <p:custDataLst>
              <p:tags r:id="rId4"/>
            </p:custDataLst>
          </p:nvPr>
        </p:nvSpPr>
        <p:spPr bwMode="auto">
          <a:xfrm>
            <a:off x="533400" y="1143000"/>
            <a:ext cx="7962900" cy="464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b="1" dirty="0">
                <a:solidFill>
                  <a:srgbClr val="0070C0"/>
                </a:solidFill>
                <a:latin typeface="+mj-lt"/>
                <a:cs typeface="Arial" charset="0"/>
              </a:rPr>
              <a:t>Token:</a:t>
            </a:r>
            <a:r>
              <a:rPr lang="en-US" sz="3200" dirty="0">
                <a:solidFill>
                  <a:schemeClr val="accent1"/>
                </a:solidFill>
                <a:latin typeface="+mj-lt"/>
                <a:cs typeface="Arial" charset="0"/>
              </a:rPr>
              <a:t> </a:t>
            </a:r>
            <a:r>
              <a:rPr lang="en-US" sz="3200" dirty="0">
                <a:latin typeface="+mj-lt"/>
                <a:cs typeface="Arial" charset="0"/>
              </a:rPr>
              <a:t>Group of inputs processed to produce group of outputs</a:t>
            </a:r>
          </a:p>
          <a:p>
            <a:pPr marL="342900" indent="-342900">
              <a:spcBef>
                <a:spcPct val="20000"/>
              </a:spcBef>
              <a:buFontTx/>
              <a:buChar char="•"/>
            </a:pPr>
            <a:r>
              <a:rPr lang="en-US" sz="3200" b="1" dirty="0">
                <a:solidFill>
                  <a:srgbClr val="0070C0"/>
                </a:solidFill>
                <a:latin typeface="+mj-lt"/>
                <a:cs typeface="Arial" charset="0"/>
              </a:rPr>
              <a:t>Latency:</a:t>
            </a:r>
            <a:r>
              <a:rPr lang="en-US" sz="3200" dirty="0">
                <a:solidFill>
                  <a:schemeClr val="accent1"/>
                </a:solidFill>
                <a:latin typeface="+mj-lt"/>
                <a:cs typeface="Arial" charset="0"/>
              </a:rPr>
              <a:t> </a:t>
            </a:r>
            <a:r>
              <a:rPr lang="en-US" sz="3200" dirty="0">
                <a:latin typeface="+mj-lt"/>
                <a:cs typeface="Arial" charset="0"/>
              </a:rPr>
              <a:t>Time for one token to pass from start to end</a:t>
            </a:r>
          </a:p>
          <a:p>
            <a:pPr marL="342900" indent="-342900">
              <a:spcBef>
                <a:spcPct val="20000"/>
              </a:spcBef>
              <a:buFontTx/>
              <a:buChar char="•"/>
            </a:pPr>
            <a:r>
              <a:rPr lang="en-US" sz="3200" b="1" dirty="0">
                <a:solidFill>
                  <a:srgbClr val="0070C0"/>
                </a:solidFill>
                <a:latin typeface="+mj-lt"/>
                <a:cs typeface="Arial" charset="0"/>
              </a:rPr>
              <a:t>Throughput:</a:t>
            </a:r>
            <a:r>
              <a:rPr lang="en-US" sz="3200" dirty="0">
                <a:solidFill>
                  <a:schemeClr val="accent1"/>
                </a:solidFill>
                <a:latin typeface="+mj-lt"/>
                <a:cs typeface="Arial" charset="0"/>
              </a:rPr>
              <a:t> </a:t>
            </a:r>
            <a:r>
              <a:rPr lang="en-US" sz="3200" dirty="0">
                <a:latin typeface="+mj-lt"/>
                <a:cs typeface="Arial" charset="0"/>
              </a:rPr>
              <a:t>Number of tokens produced per unit time</a:t>
            </a:r>
          </a:p>
          <a:p>
            <a:pPr marL="342900" indent="-342900">
              <a:spcBef>
                <a:spcPct val="20000"/>
              </a:spcBef>
              <a:buFontTx/>
              <a:buChar char="•"/>
            </a:pPr>
            <a:endParaRPr lang="en-US" sz="3200" dirty="0">
              <a:latin typeface="+mj-lt"/>
              <a:cs typeface="Arial" charset="0"/>
            </a:endParaRPr>
          </a:p>
          <a:p>
            <a:pPr>
              <a:spcBef>
                <a:spcPct val="20000"/>
              </a:spcBef>
            </a:pPr>
            <a:r>
              <a:rPr lang="en-US" sz="3200" dirty="0">
                <a:latin typeface="+mj-lt"/>
                <a:cs typeface="Arial" charset="0"/>
              </a:rPr>
              <a:t>         </a:t>
            </a:r>
            <a:r>
              <a:rPr lang="en-US" sz="3200" b="1" dirty="0">
                <a:latin typeface="+mj-lt"/>
                <a:cs typeface="Arial" charset="0"/>
              </a:rPr>
              <a:t>Parallelism increases throughput</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Parallelism Definitions</a:t>
            </a:r>
          </a:p>
        </p:txBody>
      </p:sp>
    </p:spTree>
    <p:extLst>
      <p:ext uri="{BB962C8B-B14F-4D97-AF65-F5344CB8AC3E}">
        <p14:creationId xmlns:p14="http://schemas.microsoft.com/office/powerpoint/2010/main" val="2248274728"/>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130"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200132" name="Rectangle 4"/>
          <p:cNvSpPr>
            <a:spLocks noChangeArrowheads="1"/>
          </p:cNvSpPr>
          <p:nvPr>
            <p:custDataLst>
              <p:tags r:id="rId2"/>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200133" name="Rectangle 5"/>
          <p:cNvSpPr>
            <a:spLocks noChangeArrowheads="1"/>
          </p:cNvSpPr>
          <p:nvPr>
            <p:custDataLst>
              <p:tags r:id="rId3"/>
            </p:custDataLst>
          </p:nvPr>
        </p:nvSpPr>
        <p:spPr bwMode="auto">
          <a:xfrm>
            <a:off x="0" y="30765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200134" name="Rectangle 6"/>
          <p:cNvSpPr>
            <a:spLocks noChangeArrowheads="1"/>
          </p:cNvSpPr>
          <p:nvPr>
            <p:custDataLst>
              <p:tags r:id="rId4"/>
            </p:custDataLst>
          </p:nvPr>
        </p:nvSpPr>
        <p:spPr bwMode="auto">
          <a:xfrm>
            <a:off x="914400" y="1295400"/>
            <a:ext cx="8001000" cy="464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2400" dirty="0">
                <a:latin typeface="+mj-lt"/>
                <a:cs typeface="Arial" charset="0"/>
              </a:rPr>
              <a:t>Ben </a:t>
            </a:r>
            <a:r>
              <a:rPr lang="en-US" sz="2400" dirty="0" err="1">
                <a:latin typeface="+mj-lt"/>
                <a:cs typeface="Arial" charset="0"/>
              </a:rPr>
              <a:t>Bitdiddle</a:t>
            </a:r>
            <a:r>
              <a:rPr lang="en-US" sz="2400" dirty="0">
                <a:latin typeface="+mj-lt"/>
                <a:cs typeface="Arial" charset="0"/>
              </a:rPr>
              <a:t> bakes cookies to celebrate traffic light controller installation </a:t>
            </a:r>
          </a:p>
          <a:p>
            <a:pPr marL="342900" indent="-342900">
              <a:spcBef>
                <a:spcPct val="20000"/>
              </a:spcBef>
              <a:buFontTx/>
              <a:buChar char="•"/>
            </a:pPr>
            <a:r>
              <a:rPr lang="en-US" sz="2400" dirty="0">
                <a:latin typeface="+mj-lt"/>
                <a:cs typeface="Arial" charset="0"/>
              </a:rPr>
              <a:t>5 minutes to roll cookies</a:t>
            </a:r>
          </a:p>
          <a:p>
            <a:pPr marL="342900" indent="-342900">
              <a:spcBef>
                <a:spcPct val="20000"/>
              </a:spcBef>
              <a:buFontTx/>
              <a:buChar char="•"/>
            </a:pPr>
            <a:r>
              <a:rPr lang="en-US" sz="2400" dirty="0">
                <a:latin typeface="+mj-lt"/>
                <a:cs typeface="Arial" charset="0"/>
              </a:rPr>
              <a:t>15 minutes to bake</a:t>
            </a:r>
          </a:p>
          <a:p>
            <a:pPr marL="342900" indent="-342900">
              <a:spcBef>
                <a:spcPct val="20000"/>
              </a:spcBef>
              <a:buFontTx/>
              <a:buChar char="•"/>
            </a:pPr>
            <a:r>
              <a:rPr lang="en-US" sz="2400" dirty="0">
                <a:latin typeface="+mj-lt"/>
                <a:cs typeface="Arial" charset="0"/>
              </a:rPr>
              <a:t>What is the latency and throughput without parallelism?</a:t>
            </a:r>
          </a:p>
          <a:p>
            <a:pPr marL="342900" indent="-342900">
              <a:spcBef>
                <a:spcPct val="20000"/>
              </a:spcBef>
              <a:buFontTx/>
              <a:buChar char="•"/>
            </a:pPr>
            <a:endParaRPr lang="en-US" sz="2400" dirty="0">
              <a:latin typeface="+mj-lt"/>
              <a:cs typeface="Arial" charset="0"/>
            </a:endParaRPr>
          </a:p>
          <a:p>
            <a:pPr marL="342900" indent="-342900">
              <a:spcBef>
                <a:spcPct val="20000"/>
              </a:spcBef>
            </a:pPr>
            <a:r>
              <a:rPr lang="en-US" sz="2400" baseline="30000" dirty="0">
                <a:latin typeface="+mj-lt"/>
                <a:cs typeface="Times New Roman" pitchFamily="18" charset="0"/>
              </a:rPr>
              <a:t>		</a:t>
            </a:r>
            <a:r>
              <a:rPr lang="en-US" sz="2400" b="1" dirty="0">
                <a:latin typeface="+mj-lt"/>
                <a:cs typeface="Arial" charset="0"/>
              </a:rPr>
              <a:t>Latency</a:t>
            </a:r>
            <a:r>
              <a:rPr lang="en-US" sz="2400" dirty="0">
                <a:latin typeface="+mj-lt"/>
                <a:cs typeface="Arial" charset="0"/>
              </a:rPr>
              <a:t> = 5 + 15 = 20 minutes = </a:t>
            </a:r>
            <a:r>
              <a:rPr lang="en-US" sz="2400" b="1" dirty="0">
                <a:solidFill>
                  <a:srgbClr val="0070C0"/>
                </a:solidFill>
                <a:latin typeface="+mj-lt"/>
                <a:cs typeface="Arial" charset="0"/>
              </a:rPr>
              <a:t>1/3 hour</a:t>
            </a:r>
          </a:p>
          <a:p>
            <a:pPr marL="342900" indent="-342900">
              <a:spcBef>
                <a:spcPct val="20000"/>
              </a:spcBef>
            </a:pPr>
            <a:r>
              <a:rPr lang="en-US" sz="2400" dirty="0">
                <a:latin typeface="+mj-lt"/>
                <a:cs typeface="Arial" charset="0"/>
              </a:rPr>
              <a:t>            </a:t>
            </a:r>
            <a:r>
              <a:rPr lang="en-US" sz="2400" b="1" dirty="0">
                <a:latin typeface="+mj-lt"/>
                <a:cs typeface="Arial" charset="0"/>
              </a:rPr>
              <a:t>Throughput</a:t>
            </a:r>
            <a:r>
              <a:rPr lang="en-US" sz="2400" dirty="0">
                <a:latin typeface="+mj-lt"/>
                <a:cs typeface="Arial" charset="0"/>
              </a:rPr>
              <a:t> = 1 tray/ 1/3 hour = </a:t>
            </a:r>
            <a:r>
              <a:rPr lang="en-US" sz="2400" b="1" dirty="0">
                <a:solidFill>
                  <a:srgbClr val="0070C0"/>
                </a:solidFill>
                <a:latin typeface="+mj-lt"/>
                <a:cs typeface="Arial" charset="0"/>
              </a:rPr>
              <a:t>3 trays/hour</a:t>
            </a: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Parallelism Example</a:t>
            </a:r>
          </a:p>
        </p:txBody>
      </p:sp>
      <p:sp>
        <p:nvSpPr>
          <p:cNvPr id="8" name="Rectangle 7"/>
          <p:cNvSpPr/>
          <p:nvPr/>
        </p:nvSpPr>
        <p:spPr>
          <a:xfrm>
            <a:off x="3124200" y="3886200"/>
            <a:ext cx="4038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3581400" y="4267200"/>
            <a:ext cx="4038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9460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4" name="Rectangle 2"/>
          <p:cNvSpPr>
            <a:spLocks noChangeArrowheads="1"/>
          </p:cNvSpPr>
          <p:nvPr>
            <p:custDataLst>
              <p:tags r:id="rId1"/>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68036" name="Rectangle 4"/>
          <p:cNvSpPr>
            <a:spLocks noChangeArrowheads="1"/>
          </p:cNvSpPr>
          <p:nvPr>
            <p:custDataLst>
              <p:tags r:id="rId2"/>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68037" name="Rectangle 5"/>
          <p:cNvSpPr>
            <a:spLocks noChangeArrowheads="1"/>
          </p:cNvSpPr>
          <p:nvPr>
            <p:custDataLst>
              <p:tags r:id="rId3"/>
            </p:custDataLst>
          </p:nvPr>
        </p:nvSpPr>
        <p:spPr bwMode="auto">
          <a:xfrm>
            <a:off x="0" y="30765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68038" name="Rectangle 6"/>
          <p:cNvSpPr>
            <a:spLocks noChangeArrowheads="1"/>
          </p:cNvSpPr>
          <p:nvPr>
            <p:custDataLst>
              <p:tags r:id="rId4"/>
            </p:custDataLst>
          </p:nvPr>
        </p:nvSpPr>
        <p:spPr bwMode="auto">
          <a:xfrm>
            <a:off x="685800" y="1143000"/>
            <a:ext cx="7658100" cy="464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r>
              <a:rPr lang="en-US" sz="3200" dirty="0">
                <a:latin typeface="+mj-lt"/>
                <a:cs typeface="Arial" charset="0"/>
              </a:rPr>
              <a:t>What is the latency and throughput if Ben uses parallelism?</a:t>
            </a:r>
          </a:p>
          <a:p>
            <a:pPr marL="742950" lvl="1" indent="-285750">
              <a:spcBef>
                <a:spcPct val="20000"/>
              </a:spcBef>
              <a:buFontTx/>
              <a:buChar char="–"/>
            </a:pPr>
            <a:r>
              <a:rPr lang="en-US" sz="2600" b="1" dirty="0">
                <a:solidFill>
                  <a:srgbClr val="0070C0"/>
                </a:solidFill>
                <a:latin typeface="+mj-lt"/>
                <a:cs typeface="Arial" charset="0"/>
              </a:rPr>
              <a:t>Spatial parallelism:</a:t>
            </a:r>
            <a:r>
              <a:rPr lang="en-US" sz="2600" dirty="0">
                <a:solidFill>
                  <a:srgbClr val="0070C0"/>
                </a:solidFill>
                <a:latin typeface="+mj-lt"/>
                <a:cs typeface="Arial" charset="0"/>
              </a:rPr>
              <a:t> </a:t>
            </a:r>
            <a:r>
              <a:rPr lang="en-US" sz="2600" dirty="0">
                <a:latin typeface="+mj-lt"/>
                <a:cs typeface="Arial" charset="0"/>
              </a:rPr>
              <a:t>Ben asks </a:t>
            </a:r>
            <a:r>
              <a:rPr lang="en-US" sz="2600" dirty="0" err="1">
                <a:latin typeface="+mj-lt"/>
                <a:cs typeface="Arial" charset="0"/>
              </a:rPr>
              <a:t>Allysa</a:t>
            </a:r>
            <a:r>
              <a:rPr lang="en-US" sz="2600" dirty="0">
                <a:latin typeface="+mj-lt"/>
                <a:cs typeface="Arial" charset="0"/>
              </a:rPr>
              <a:t> P. Hacker to help, using her own oven</a:t>
            </a:r>
          </a:p>
          <a:p>
            <a:pPr marL="742950" lvl="1" indent="-285750">
              <a:spcBef>
                <a:spcPct val="20000"/>
              </a:spcBef>
              <a:buFontTx/>
              <a:buChar char="–"/>
            </a:pPr>
            <a:r>
              <a:rPr lang="en-US" sz="2600" b="1" dirty="0">
                <a:solidFill>
                  <a:srgbClr val="0070C0"/>
                </a:solidFill>
                <a:latin typeface="+mj-lt"/>
                <a:cs typeface="Arial" charset="0"/>
              </a:rPr>
              <a:t>Temporal parallelism:</a:t>
            </a:r>
            <a:r>
              <a:rPr lang="en-US" sz="2600" dirty="0">
                <a:solidFill>
                  <a:srgbClr val="0070C0"/>
                </a:solidFill>
                <a:latin typeface="+mj-lt"/>
                <a:cs typeface="Arial" charset="0"/>
              </a:rPr>
              <a:t> </a:t>
            </a:r>
          </a:p>
          <a:p>
            <a:pPr marL="1371600" lvl="2" indent="-457200">
              <a:spcBef>
                <a:spcPct val="20000"/>
              </a:spcBef>
              <a:buFont typeface="Arial" pitchFamily="34" charset="0"/>
              <a:buChar char="•"/>
            </a:pPr>
            <a:r>
              <a:rPr lang="en-US" sz="2600" dirty="0">
                <a:latin typeface="+mj-lt"/>
                <a:cs typeface="Arial" charset="0"/>
              </a:rPr>
              <a:t>two stages: rolling and baking </a:t>
            </a:r>
          </a:p>
          <a:p>
            <a:pPr marL="1371600" lvl="2" indent="-457200">
              <a:spcBef>
                <a:spcPct val="20000"/>
              </a:spcBef>
              <a:buFont typeface="Arial" pitchFamily="34" charset="0"/>
              <a:buChar char="•"/>
            </a:pPr>
            <a:r>
              <a:rPr lang="en-US" sz="2600" dirty="0">
                <a:latin typeface="+mj-lt"/>
                <a:cs typeface="Arial" charset="0"/>
              </a:rPr>
              <a:t>He uses two trays  </a:t>
            </a:r>
          </a:p>
          <a:p>
            <a:pPr marL="1371600" lvl="2" indent="-457200">
              <a:spcBef>
                <a:spcPct val="20000"/>
              </a:spcBef>
              <a:buFont typeface="Arial" pitchFamily="34" charset="0"/>
              <a:buChar char="•"/>
            </a:pPr>
            <a:r>
              <a:rPr lang="en-US" sz="2600" dirty="0">
                <a:latin typeface="+mj-lt"/>
                <a:cs typeface="Arial" charset="0"/>
              </a:rPr>
              <a:t>While first batch is baking, he rolls the second batch, etc.</a:t>
            </a:r>
          </a:p>
          <a:p>
            <a:pPr marL="342900" indent="-342900">
              <a:spcBef>
                <a:spcPct val="20000"/>
              </a:spcBef>
            </a:pPr>
            <a:endParaRPr lang="en-US" sz="3200" dirty="0">
              <a:latin typeface="+mj-lt"/>
              <a:cs typeface="Arial" charset="0"/>
            </a:endParaRPr>
          </a:p>
        </p:txBody>
      </p:sp>
      <p:sp>
        <p:nvSpPr>
          <p:cNvPr id="9" name="TextBox 8"/>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Parallelism Example</a:t>
            </a:r>
          </a:p>
        </p:txBody>
      </p:sp>
    </p:spTree>
    <p:extLst>
      <p:ext uri="{BB962C8B-B14F-4D97-AF65-F5344CB8AC3E}">
        <p14:creationId xmlns:p14="http://schemas.microsoft.com/office/powerpoint/2010/main" val="1459528467"/>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Rectangle 2"/>
          <p:cNvSpPr>
            <a:spLocks noChangeArrowheads="1"/>
          </p:cNvSpPr>
          <p:nvPr>
            <p:custDataLst>
              <p:tags r:id="rId2"/>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070084" name="Rectangle 4"/>
          <p:cNvSpPr>
            <a:spLocks noChangeArrowheads="1"/>
          </p:cNvSpPr>
          <p:nvPr>
            <p:custDataLst>
              <p:tags r:id="rId3"/>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70085" name="Rectangle 5"/>
          <p:cNvSpPr>
            <a:spLocks noChangeArrowheads="1"/>
          </p:cNvSpPr>
          <p:nvPr>
            <p:custDataLst>
              <p:tags r:id="rId4"/>
            </p:custDataLst>
          </p:nvPr>
        </p:nvSpPr>
        <p:spPr bwMode="auto">
          <a:xfrm>
            <a:off x="0" y="30765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070086" name="Rectangle 6"/>
          <p:cNvSpPr>
            <a:spLocks noChangeArrowheads="1"/>
          </p:cNvSpPr>
          <p:nvPr>
            <p:custDataLst>
              <p:tags r:id="rId5"/>
            </p:custDataLst>
          </p:nvPr>
        </p:nvSpPr>
        <p:spPr bwMode="auto">
          <a:xfrm>
            <a:off x="0" y="4343400"/>
            <a:ext cx="8305800" cy="762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baseline="30000" dirty="0">
                <a:latin typeface="+mj-lt"/>
                <a:cs typeface="Times New Roman" pitchFamily="18" charset="0"/>
              </a:rPr>
              <a:t>		</a:t>
            </a:r>
            <a:r>
              <a:rPr lang="en-US" sz="2400" b="1" dirty="0">
                <a:latin typeface="+mj-lt"/>
                <a:cs typeface="Arial" charset="0"/>
              </a:rPr>
              <a:t>Latency</a:t>
            </a:r>
            <a:r>
              <a:rPr lang="en-US" sz="2400" dirty="0">
                <a:latin typeface="+mj-lt"/>
                <a:cs typeface="Arial" charset="0"/>
              </a:rPr>
              <a:t> = 5 + 15 = 20 minutes = </a:t>
            </a:r>
            <a:r>
              <a:rPr lang="en-US" sz="2400" b="1" dirty="0">
                <a:solidFill>
                  <a:srgbClr val="0070C0"/>
                </a:solidFill>
                <a:latin typeface="+mj-lt"/>
                <a:cs typeface="Arial" charset="0"/>
              </a:rPr>
              <a:t>1/3 hour</a:t>
            </a:r>
          </a:p>
          <a:p>
            <a:pPr marL="342900" indent="-342900">
              <a:spcBef>
                <a:spcPct val="20000"/>
              </a:spcBef>
            </a:pPr>
            <a:r>
              <a:rPr lang="en-US" sz="2400" dirty="0">
                <a:latin typeface="+mj-lt"/>
                <a:cs typeface="Arial" charset="0"/>
              </a:rPr>
              <a:t>           	</a:t>
            </a:r>
            <a:r>
              <a:rPr lang="en-US" sz="2400" b="1" dirty="0">
                <a:latin typeface="+mj-lt"/>
                <a:cs typeface="Arial" charset="0"/>
              </a:rPr>
              <a:t>Throughput</a:t>
            </a:r>
            <a:r>
              <a:rPr lang="en-US" sz="2400" dirty="0">
                <a:latin typeface="+mj-lt"/>
                <a:cs typeface="Arial" charset="0"/>
              </a:rPr>
              <a:t> = 2 trays/ 1/3 hour = </a:t>
            </a:r>
            <a:r>
              <a:rPr lang="en-US" sz="2400" b="1" dirty="0">
                <a:solidFill>
                  <a:srgbClr val="0070C0"/>
                </a:solidFill>
                <a:latin typeface="+mj-lt"/>
                <a:cs typeface="Arial" charset="0"/>
              </a:rPr>
              <a:t>6 trays/hour</a:t>
            </a:r>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Spatial Parallelism</a:t>
            </a:r>
          </a:p>
        </p:txBody>
      </p:sp>
      <p:graphicFrame>
        <p:nvGraphicFramePr>
          <p:cNvPr id="2" name="Object 1"/>
          <p:cNvGraphicFramePr>
            <a:graphicFrameLocks noChangeAspect="1"/>
          </p:cNvGraphicFramePr>
          <p:nvPr>
            <p:custDataLst>
              <p:tags r:id="rId6"/>
            </p:custDataLst>
            <p:extLst>
              <p:ext uri="{D42A27DB-BD31-4B8C-83A1-F6EECF244321}">
                <p14:modId xmlns:p14="http://schemas.microsoft.com/office/powerpoint/2010/main" val="2128384323"/>
              </p:ext>
            </p:extLst>
          </p:nvPr>
        </p:nvGraphicFramePr>
        <p:xfrm>
          <a:off x="304800" y="1262063"/>
          <a:ext cx="8458200" cy="2632075"/>
        </p:xfrm>
        <a:graphic>
          <a:graphicData uri="http://schemas.openxmlformats.org/presentationml/2006/ole">
            <mc:AlternateContent xmlns:mc="http://schemas.openxmlformats.org/markup-compatibility/2006">
              <mc:Choice xmlns:v="urn:schemas-microsoft-com:vml" Requires="v">
                <p:oleObj spid="_x0000_s54274" name="VISIO" r:id="rId9" imgW="5784076" imgH="1799796" progId="Visio.Drawing.6">
                  <p:embed/>
                </p:oleObj>
              </mc:Choice>
              <mc:Fallback>
                <p:oleObj name="VISIO" r:id="rId9" imgW="5784076" imgH="1799796"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1262063"/>
                        <a:ext cx="8458200" cy="2632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7"/>
          <p:cNvSpPr/>
          <p:nvPr/>
        </p:nvSpPr>
        <p:spPr>
          <a:xfrm>
            <a:off x="2133600" y="4267200"/>
            <a:ext cx="4038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2743200" y="4800600"/>
            <a:ext cx="4038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25923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4231" name="Object 7"/>
          <p:cNvGraphicFramePr>
            <a:graphicFrameLocks noGrp="1" noChangeAspect="1"/>
          </p:cNvGraphicFramePr>
          <p:nvPr>
            <p:ph idx="4294967295"/>
            <p:custDataLst>
              <p:tags r:id="rId2"/>
            </p:custDataLst>
            <p:extLst>
              <p:ext uri="{D42A27DB-BD31-4B8C-83A1-F6EECF244321}">
                <p14:modId xmlns:p14="http://schemas.microsoft.com/office/powerpoint/2010/main" val="1788397070"/>
              </p:ext>
            </p:extLst>
          </p:nvPr>
        </p:nvGraphicFramePr>
        <p:xfrm>
          <a:off x="304800" y="1419632"/>
          <a:ext cx="8458200" cy="2298293"/>
        </p:xfrm>
        <a:graphic>
          <a:graphicData uri="http://schemas.openxmlformats.org/presentationml/2006/ole">
            <mc:AlternateContent xmlns:mc="http://schemas.openxmlformats.org/markup-compatibility/2006">
              <mc:Choice xmlns:v="urn:schemas-microsoft-com:vml" Requires="v">
                <p:oleObj spid="_x0000_s55298" name="VISIO" r:id="rId9" imgW="5782320" imgH="1571040" progId="Visio.Drawing.6">
                  <p:embed/>
                </p:oleObj>
              </mc:Choice>
              <mc:Fallback>
                <p:oleObj name="VISIO" r:id="rId9" imgW="5782320" imgH="157104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1419632"/>
                        <a:ext cx="8458200" cy="2298293"/>
                      </a:xfrm>
                      <a:prstGeom prst="rect">
                        <a:avLst/>
                      </a:prstGeom>
                    </p:spPr>
                  </p:pic>
                </p:oleObj>
              </mc:Fallback>
            </mc:AlternateContent>
          </a:graphicData>
        </a:graphic>
      </p:graphicFrame>
      <p:sp>
        <p:nvSpPr>
          <p:cNvPr id="1204226" name="Rectangle 2"/>
          <p:cNvSpPr>
            <a:spLocks noChangeArrowheads="1"/>
          </p:cNvSpPr>
          <p:nvPr>
            <p:custDataLst>
              <p:tags r:id="rId3"/>
            </p:custDataLst>
          </p:nvPr>
        </p:nvSpPr>
        <p:spPr bwMode="auto">
          <a:xfrm>
            <a:off x="533400" y="1066800"/>
            <a:ext cx="8077200" cy="5181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a:p>
            <a:pPr marL="342900" indent="-342900">
              <a:spcBef>
                <a:spcPct val="20000"/>
              </a:spcBef>
            </a:pPr>
            <a:endParaRPr lang="en-US" sz="3200">
              <a:latin typeface="Times New Roman" pitchFamily="18" charset="0"/>
              <a:cs typeface="Arial" charset="0"/>
            </a:endParaRPr>
          </a:p>
        </p:txBody>
      </p:sp>
      <p:sp>
        <p:nvSpPr>
          <p:cNvPr id="1204228" name="Rectangle 4"/>
          <p:cNvSpPr>
            <a:spLocks noChangeArrowheads="1"/>
          </p:cNvSpPr>
          <p:nvPr>
            <p:custDataLst>
              <p:tags r:id="rId4"/>
            </p:custDataLst>
          </p:nvPr>
        </p:nvSpPr>
        <p:spPr bwMode="auto">
          <a:xfrm>
            <a:off x="0" y="24669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204229" name="Rectangle 5"/>
          <p:cNvSpPr>
            <a:spLocks noChangeArrowheads="1"/>
          </p:cNvSpPr>
          <p:nvPr>
            <p:custDataLst>
              <p:tags r:id="rId5"/>
            </p:custDataLst>
          </p:nvPr>
        </p:nvSpPr>
        <p:spPr bwMode="auto">
          <a:xfrm>
            <a:off x="0" y="3076575"/>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204230" name="Rectangle 6"/>
          <p:cNvSpPr>
            <a:spLocks noChangeArrowheads="1"/>
          </p:cNvSpPr>
          <p:nvPr>
            <p:custDataLst>
              <p:tags r:id="rId6"/>
            </p:custDataLst>
          </p:nvPr>
        </p:nvSpPr>
        <p:spPr bwMode="auto">
          <a:xfrm>
            <a:off x="533400" y="4038600"/>
            <a:ext cx="8305800" cy="762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baseline="30000" dirty="0">
                <a:latin typeface="+mj-lt"/>
                <a:cs typeface="Times New Roman" pitchFamily="18" charset="0"/>
              </a:rPr>
              <a:t>	</a:t>
            </a:r>
            <a:r>
              <a:rPr lang="en-US" sz="2400" b="1" dirty="0">
                <a:latin typeface="+mj-lt"/>
                <a:cs typeface="Arial" charset="0"/>
              </a:rPr>
              <a:t>Latency</a:t>
            </a:r>
            <a:r>
              <a:rPr lang="en-US" sz="2400" dirty="0">
                <a:latin typeface="+mj-lt"/>
                <a:cs typeface="Arial" charset="0"/>
              </a:rPr>
              <a:t> = 5 + 15 = 20 minutes = </a:t>
            </a:r>
            <a:r>
              <a:rPr lang="en-US" sz="2400" b="1" dirty="0">
                <a:solidFill>
                  <a:srgbClr val="0070C0"/>
                </a:solidFill>
                <a:latin typeface="+mj-lt"/>
                <a:cs typeface="Arial" charset="0"/>
              </a:rPr>
              <a:t>1/3 hour</a:t>
            </a:r>
          </a:p>
          <a:p>
            <a:pPr marL="342900" indent="-342900">
              <a:spcBef>
                <a:spcPct val="20000"/>
              </a:spcBef>
            </a:pPr>
            <a:r>
              <a:rPr lang="en-US" sz="2400" dirty="0">
                <a:latin typeface="+mj-lt"/>
                <a:cs typeface="Arial" charset="0"/>
              </a:rPr>
              <a:t>	</a:t>
            </a:r>
            <a:r>
              <a:rPr lang="en-US" sz="2400" b="1" dirty="0">
                <a:latin typeface="+mj-lt"/>
                <a:cs typeface="Arial" charset="0"/>
              </a:rPr>
              <a:t>Throughput</a:t>
            </a:r>
            <a:r>
              <a:rPr lang="en-US" sz="2400" dirty="0">
                <a:latin typeface="+mj-lt"/>
                <a:cs typeface="Arial" charset="0"/>
              </a:rPr>
              <a:t> = 1 trays/ 1/4 hour </a:t>
            </a:r>
            <a:r>
              <a:rPr lang="en-US" sz="2400" dirty="0">
                <a:solidFill>
                  <a:srgbClr val="0070C0"/>
                </a:solidFill>
                <a:latin typeface="+mj-lt"/>
                <a:cs typeface="Arial" charset="0"/>
              </a:rPr>
              <a:t>= </a:t>
            </a:r>
            <a:r>
              <a:rPr lang="en-US" sz="2400" b="1" dirty="0">
                <a:solidFill>
                  <a:srgbClr val="0070C0"/>
                </a:solidFill>
                <a:latin typeface="+mj-lt"/>
                <a:cs typeface="Arial" charset="0"/>
              </a:rPr>
              <a:t>4 trays/hour</a:t>
            </a:r>
          </a:p>
          <a:p>
            <a:pPr marL="342900" indent="-342900">
              <a:spcBef>
                <a:spcPct val="20000"/>
              </a:spcBef>
            </a:pPr>
            <a:endParaRPr lang="en-US" sz="1000" dirty="0">
              <a:solidFill>
                <a:schemeClr val="accent2"/>
              </a:solidFill>
              <a:latin typeface="+mj-lt"/>
              <a:cs typeface="Arial" charset="0"/>
            </a:endParaRPr>
          </a:p>
          <a:p>
            <a:pPr marL="342900" indent="-342900">
              <a:spcBef>
                <a:spcPct val="20000"/>
              </a:spcBef>
            </a:pPr>
            <a:r>
              <a:rPr lang="en-US" sz="2400" dirty="0">
                <a:solidFill>
                  <a:schemeClr val="accent2"/>
                </a:solidFill>
                <a:latin typeface="+mj-lt"/>
                <a:cs typeface="Arial" charset="0"/>
              </a:rPr>
              <a:t>	</a:t>
            </a:r>
            <a:r>
              <a:rPr lang="en-US" sz="2400" dirty="0">
                <a:latin typeface="+mj-lt"/>
                <a:cs typeface="Arial" charset="0"/>
              </a:rPr>
              <a:t>Using both techniques, the throughput would be </a:t>
            </a:r>
            <a:r>
              <a:rPr lang="en-US" sz="2400" b="1" dirty="0">
                <a:latin typeface="+mj-lt"/>
                <a:cs typeface="Arial" charset="0"/>
              </a:rPr>
              <a:t>8 trays/hour</a:t>
            </a:r>
          </a:p>
        </p:txBody>
      </p:sp>
      <p:sp>
        <p:nvSpPr>
          <p:cNvPr id="10" name="TextBox 9"/>
          <p:cNvSpPr txBox="1"/>
          <p:nvPr/>
        </p:nvSpPr>
        <p:spPr>
          <a:xfrm>
            <a:off x="457200" y="68759"/>
            <a:ext cx="7924800" cy="769441"/>
          </a:xfrm>
          <a:prstGeom prst="rect">
            <a:avLst/>
          </a:prstGeom>
          <a:noFill/>
        </p:spPr>
        <p:txBody>
          <a:bodyPr wrap="square" rtlCol="0">
            <a:spAutoFit/>
          </a:bodyPr>
          <a:lstStyle/>
          <a:p>
            <a:r>
              <a:rPr lang="en-US" sz="4400" dirty="0">
                <a:solidFill>
                  <a:schemeClr val="bg1"/>
                </a:solidFill>
                <a:latin typeface="+mj-lt"/>
              </a:rPr>
              <a:t>Temporal Parallelism</a:t>
            </a:r>
          </a:p>
        </p:txBody>
      </p:sp>
      <p:sp>
        <p:nvSpPr>
          <p:cNvPr id="8" name="Rectangle 7"/>
          <p:cNvSpPr/>
          <p:nvPr/>
        </p:nvSpPr>
        <p:spPr>
          <a:xfrm>
            <a:off x="2209800" y="4114800"/>
            <a:ext cx="4038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2743200" y="4572000"/>
            <a:ext cx="4038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7010400" y="5105400"/>
            <a:ext cx="228600" cy="457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427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22130</TotalTime>
  <Words>3698</Words>
  <Application>Microsoft Office PowerPoint</Application>
  <PresentationFormat>On-screen Show (4:3)</PresentationFormat>
  <Paragraphs>867</Paragraphs>
  <Slides>83</Slides>
  <Notes>80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83</vt:i4>
      </vt:variant>
    </vt:vector>
  </HeadingPairs>
  <TitlesOfParts>
    <vt:vector size="93" baseType="lpstr">
      <vt:lpstr>Ariel</vt:lpstr>
      <vt:lpstr>Courier (W1)</vt:lpstr>
      <vt:lpstr>Arial</vt:lpstr>
      <vt:lpstr>Calibri</vt:lpstr>
      <vt:lpstr>Cambria Math</vt:lpstr>
      <vt:lpstr>Courier New</vt:lpstr>
      <vt:lpstr>Times New Roman</vt:lpstr>
      <vt:lpstr>Office Theme</vt:lpstr>
      <vt:lpstr>VISIO</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Harvey Mudd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sharris</dc:creator>
  <cp:lastModifiedBy>user</cp:lastModifiedBy>
  <cp:revision>196</cp:revision>
  <cp:lastPrinted>2017-01-30T16:05:11Z</cp:lastPrinted>
  <dcterms:created xsi:type="dcterms:W3CDTF">2012-08-07T04:56:47Z</dcterms:created>
  <dcterms:modified xsi:type="dcterms:W3CDTF">2023-12-22T02:52:57Z</dcterms:modified>
</cp:coreProperties>
</file>