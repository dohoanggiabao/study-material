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14"/>
  </p:notesMasterIdLst>
  <p:sldIdLst>
    <p:sldId id="256" r:id="rId2"/>
    <p:sldId id="376" r:id="rId3"/>
    <p:sldId id="369" r:id="rId4"/>
    <p:sldId id="370" r:id="rId5"/>
    <p:sldId id="377" r:id="rId6"/>
    <p:sldId id="379" r:id="rId7"/>
    <p:sldId id="378" r:id="rId8"/>
    <p:sldId id="373" r:id="rId9"/>
    <p:sldId id="371" r:id="rId10"/>
    <p:sldId id="372" r:id="rId11"/>
    <p:sldId id="374" r:id="rId12"/>
    <p:sldId id="375" r:id="rId13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71DDEE-25E1-4FD0-9271-24F5402C3206}">
  <a:tblStyle styleId="{D971DDEE-25E1-4FD0-9271-24F5402C3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9" autoAdjust="0"/>
    <p:restoredTop sz="83304" autoAdjust="0"/>
  </p:normalViewPr>
  <p:slideViewPr>
    <p:cSldViewPr snapToGrid="0">
      <p:cViewPr>
        <p:scale>
          <a:sx n="107" d="100"/>
          <a:sy n="107" d="100"/>
        </p:scale>
        <p:origin x="72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10975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9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00000">
            <a:off x="-1515884" y="-1719378"/>
            <a:ext cx="3679200" cy="36792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10800000">
            <a:off x="708000" y="399750"/>
            <a:ext cx="7728000" cy="4344000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2175913">
            <a:off x="6501213" y="3908853"/>
            <a:ext cx="1705595" cy="1705595"/>
          </a:xfrm>
          <a:prstGeom prst="blockArc">
            <a:avLst>
              <a:gd name="adj1" fmla="val 13003178"/>
              <a:gd name="adj2" fmla="val 2121832"/>
              <a:gd name="adj3" fmla="val 25028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1355650" y="744575"/>
            <a:ext cx="6261600" cy="23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1355650" y="3396875"/>
            <a:ext cx="40485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080000" y="2834125"/>
            <a:ext cx="684000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1441200" y="1455663"/>
            <a:ext cx="6261600" cy="13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2649875" y="3207913"/>
            <a:ext cx="3823800" cy="62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 rot="10800000">
            <a:off x="7843922" y="-1058801"/>
            <a:ext cx="2481900" cy="2481900"/>
          </a:xfrm>
          <a:prstGeom prst="blockArc">
            <a:avLst>
              <a:gd name="adj1" fmla="val 15904124"/>
              <a:gd name="adj2" fmla="val 722519"/>
              <a:gd name="adj3" fmla="val 727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-154350" y="389075"/>
            <a:ext cx="9452700" cy="661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 rot="4458820">
            <a:off x="-1488663" y="4124021"/>
            <a:ext cx="2387832" cy="2387832"/>
          </a:xfrm>
          <a:prstGeom prst="blockArc">
            <a:avLst>
              <a:gd name="adj1" fmla="val 12582103"/>
              <a:gd name="adj2" fmla="val 16685375"/>
              <a:gd name="adj3" fmla="val 10255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909825" y="1507250"/>
            <a:ext cx="7315200" cy="33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094125" y="541475"/>
            <a:ext cx="68259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4125" y="434070"/>
            <a:ext cx="773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702925" y="1057150"/>
            <a:ext cx="7738200" cy="5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chemeClr val="dk2"/>
              </a:solidFill>
            </a:endParaRPr>
          </a:p>
        </p:txBody>
      </p:sp>
      <p:sp>
        <p:nvSpPr>
          <p:cNvPr id="61" name="Google Shape;61;p9"/>
          <p:cNvSpPr/>
          <p:nvPr/>
        </p:nvSpPr>
        <p:spPr>
          <a:xfrm rot="-900094">
            <a:off x="3798381" y="4368678"/>
            <a:ext cx="1783690" cy="1783980"/>
          </a:xfrm>
          <a:prstGeom prst="blockArc">
            <a:avLst>
              <a:gd name="adj1" fmla="val 12085351"/>
              <a:gd name="adj2" fmla="val 16819483"/>
              <a:gd name="adj3" fmla="val 1755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4572000" y="-73925"/>
            <a:ext cx="4572000" cy="530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5298300" y="2567075"/>
            <a:ext cx="31194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5298300" y="4049375"/>
            <a:ext cx="31194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316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5208725" y="4049375"/>
            <a:ext cx="31194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5387850" y="3299075"/>
            <a:ext cx="31194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5021275" y="810000"/>
            <a:ext cx="3549600" cy="385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602400" y="862850"/>
            <a:ext cx="3549600" cy="31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4_1_1_1_1_2">
    <p:bg>
      <p:bgPr>
        <a:solidFill>
          <a:schemeClr val="accent2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None/>
              <a:defRPr sz="3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9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7"/>
          <p:cNvSpPr txBox="1">
            <a:spLocks noGrp="1"/>
          </p:cNvSpPr>
          <p:nvPr>
            <p:ph type="title"/>
          </p:nvPr>
        </p:nvSpPr>
        <p:spPr>
          <a:xfrm>
            <a:off x="771525" y="1691969"/>
            <a:ext cx="7282229" cy="13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Lab 5: </a:t>
            </a:r>
            <a:r>
              <a:rPr lang="en-US" sz="3200" dirty="0"/>
              <a:t>Design sequential circuit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FF72-8B15-DF42-0C7A-AE0C03FB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24" y="484761"/>
            <a:ext cx="7738200" cy="572700"/>
          </a:xfrm>
        </p:spPr>
        <p:txBody>
          <a:bodyPr/>
          <a:lstStyle/>
          <a:p>
            <a:r>
              <a:rPr lang="en-US" dirty="0"/>
              <a:t>D flipflop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32FC5-B7AA-83B5-EE3C-D18FECCB7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626" y="1129786"/>
            <a:ext cx="7738200" cy="505200"/>
          </a:xfrm>
        </p:spPr>
        <p:txBody>
          <a:bodyPr/>
          <a:lstStyle/>
          <a:p>
            <a:r>
              <a:rPr lang="en-US" sz="1400" dirty="0"/>
              <a:t>D flipflop truth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85176E-01BE-3D9D-837B-C074DC358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22976"/>
              </p:ext>
            </p:extLst>
          </p:nvPr>
        </p:nvGraphicFramePr>
        <p:xfrm>
          <a:off x="2065148" y="1625707"/>
          <a:ext cx="4858719" cy="148336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1875299">
                  <a:extLst>
                    <a:ext uri="{9D8B030D-6E8A-4147-A177-3AD203B41FA5}">
                      <a16:colId xmlns:a16="http://schemas.microsoft.com/office/drawing/2014/main" val="4078393811"/>
                    </a:ext>
                  </a:extLst>
                </a:gridCol>
                <a:gridCol w="1363847">
                  <a:extLst>
                    <a:ext uri="{9D8B030D-6E8A-4147-A177-3AD203B41FA5}">
                      <a16:colId xmlns:a16="http://schemas.microsoft.com/office/drawing/2014/main" val="956965052"/>
                    </a:ext>
                  </a:extLst>
                </a:gridCol>
                <a:gridCol w="1619573">
                  <a:extLst>
                    <a:ext uri="{9D8B030D-6E8A-4147-A177-3AD203B41FA5}">
                      <a16:colId xmlns:a16="http://schemas.microsoft.com/office/drawing/2014/main" val="380800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endParaRPr lang="en-US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q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7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2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03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other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534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A8B9A9-EDC4-92B6-339F-1BF6797C8A98}"/>
              </a:ext>
            </a:extLst>
          </p:cNvPr>
          <p:cNvCxnSpPr/>
          <p:nvPr/>
        </p:nvCxnSpPr>
        <p:spPr>
          <a:xfrm flipV="1">
            <a:off x="3019591" y="2117133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F92001-2849-EE58-E91B-78DC0458ED00}"/>
              </a:ext>
            </a:extLst>
          </p:cNvPr>
          <p:cNvCxnSpPr/>
          <p:nvPr/>
        </p:nvCxnSpPr>
        <p:spPr>
          <a:xfrm flipV="1">
            <a:off x="3019591" y="2468428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B830669-ECE9-A339-3982-135958577623}"/>
              </a:ext>
            </a:extLst>
          </p:cNvPr>
          <p:cNvSpPr txBox="1"/>
          <p:nvPr/>
        </p:nvSpPr>
        <p:spPr>
          <a:xfrm>
            <a:off x="117654" y="3475152"/>
            <a:ext cx="929292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Using </a:t>
            </a:r>
            <a:r>
              <a:rPr lang="en-US" i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always_ff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  statement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 to model the behavior of sequential logic elements such as flip-flops, </a:t>
            </a:r>
          </a:p>
          <a:p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registers,…..</a:t>
            </a:r>
          </a:p>
          <a:p>
            <a:r>
              <a:rPr lang="en-US" b="0" i="0" dirty="0">
                <a:solidFill>
                  <a:schemeClr val="accent1"/>
                </a:solidFill>
                <a:effectLst/>
                <a:latin typeface="Montserrat" panose="00000500000000000000" pitchFamily="2" charset="0"/>
              </a:rPr>
              <a:t>- It ensures that the enclosed code block is executed only when there is a change on the clock signal.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</a:p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Ex: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always_ff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@(posedge clock) begin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    // Your sequential logic here</a:t>
            </a:r>
          </a:p>
          <a:p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      end</a:t>
            </a:r>
          </a:p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- Using non-blocking assignment.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A5586D-CEA9-793C-196B-104696651A72}"/>
              </a:ext>
            </a:extLst>
          </p:cNvPr>
          <p:cNvSpPr txBox="1"/>
          <p:nvPr/>
        </p:nvSpPr>
        <p:spPr>
          <a:xfrm>
            <a:off x="179724" y="3235285"/>
            <a:ext cx="6069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Design D flip flop using </a:t>
            </a:r>
            <a:r>
              <a:rPr lang="en-US" dirty="0" err="1">
                <a:solidFill>
                  <a:schemeClr val="accent1"/>
                </a:solidFill>
                <a:latin typeface="Montserrat" panose="00000500000000000000" pitchFamily="2" charset="0"/>
              </a:rPr>
              <a:t>always_ff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 and non-blocking assignment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860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5569-45AC-EE72-8141-3D6B8A71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D- flipflop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34597C-C17D-BBE2-5A25-0F5B507C8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705991"/>
              </p:ext>
            </p:extLst>
          </p:nvPr>
        </p:nvGraphicFramePr>
        <p:xfrm>
          <a:off x="733586" y="1406086"/>
          <a:ext cx="7966415" cy="327660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3944830">
                  <a:extLst>
                    <a:ext uri="{9D8B030D-6E8A-4147-A177-3AD203B41FA5}">
                      <a16:colId xmlns:a16="http://schemas.microsoft.com/office/drawing/2014/main" val="2820044285"/>
                    </a:ext>
                  </a:extLst>
                </a:gridCol>
                <a:gridCol w="4021585">
                  <a:extLst>
                    <a:ext uri="{9D8B030D-6E8A-4147-A177-3AD203B41FA5}">
                      <a16:colId xmlns:a16="http://schemas.microsoft.com/office/drawing/2014/main" val="1821635940"/>
                    </a:ext>
                  </a:extLst>
                </a:gridCol>
              </a:tblGrid>
              <a:tr h="15391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d_flipflop.sv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     d_flipflop_tb.sv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32723"/>
                  </a:ext>
                </a:extLst>
              </a:tr>
              <a:tr h="2163193"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module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d_flipflop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(input logic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, d,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output logic q);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always_ff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@(posedge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)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begin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q &lt;= d;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end 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					 </a:t>
                      </a:r>
                    </a:p>
                    <a:p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endmodule</a:t>
                      </a:r>
                      <a:endParaRPr lang="en-US" sz="9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module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d_flipflop_tb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();</a:t>
                      </a:r>
                    </a:p>
                    <a:p>
                      <a:endParaRPr lang="en-US" sz="9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logic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, d, q;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d_flipflop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dut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(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, d, q);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//Clock signal generation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always begin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	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= ~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; #5;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end</a:t>
                      </a:r>
                    </a:p>
                    <a:p>
                      <a:endParaRPr lang="en-US" sz="9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         always begin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	d = ~ d; #3;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end</a:t>
                      </a:r>
                    </a:p>
                    <a:p>
                      <a:endParaRPr lang="en-US" sz="9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initial begin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	 </a:t>
                      </a:r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= 0;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	 d = 0;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</a:t>
                      </a:r>
                      <a:r>
                        <a:rPr lang="en-US" sz="90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</a:t>
                      </a:r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	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end</a:t>
                      </a:r>
                    </a:p>
                    <a:p>
                      <a:r>
                        <a:rPr lang="en-US" sz="9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	</a:t>
                      </a:r>
                    </a:p>
                    <a:p>
                      <a:r>
                        <a:rPr lang="en-US" sz="9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endmodule</a:t>
                      </a:r>
                      <a:endParaRPr lang="en-US" sz="9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576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462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C5569-45AC-EE72-8141-3D6B8A71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D- flipflop simulation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404B6-9F56-D52D-D83D-DCD86CD00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7" y="1284607"/>
            <a:ext cx="8832325" cy="257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8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DBEF3-64FA-5DE6-18B0-9FB284332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F03-A903-62F0-E999-06C99EAC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98" y="375077"/>
            <a:ext cx="7738200" cy="572700"/>
          </a:xfrm>
        </p:spPr>
        <p:txBody>
          <a:bodyPr/>
          <a:lstStyle/>
          <a:p>
            <a:r>
              <a:rPr lang="en-US"/>
              <a:t>Test D-flipflop on STEP-MAX10 board -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E3F83-E20B-9F87-26F5-BE550536854F}"/>
              </a:ext>
            </a:extLst>
          </p:cNvPr>
          <p:cNvSpPr txBox="1"/>
          <p:nvPr/>
        </p:nvSpPr>
        <p:spPr>
          <a:xfrm>
            <a:off x="67097" y="1108572"/>
            <a:ext cx="9224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Montserrat" panose="00000500000000000000" pitchFamily="2" charset="0"/>
              </a:rPr>
              <a:t>Method 1:</a:t>
            </a:r>
            <a:r>
              <a:rPr lang="en-US">
                <a:solidFill>
                  <a:schemeClr val="accent1"/>
                </a:solidFill>
                <a:latin typeface="Montserrat" panose="00000500000000000000" pitchFamily="2" charset="0"/>
              </a:rPr>
              <a:t> Assign clock signal to a switch on STEP – MAX10 board. Using switch to create clock signal.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989FFD-28AE-CC95-E165-45EA8D23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207" y="1416350"/>
            <a:ext cx="5573643" cy="359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5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4F9F7-5795-2C57-6B49-7FD98A51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1E725-A984-243A-8598-1FFE497D9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98" y="375077"/>
            <a:ext cx="7738200" cy="572700"/>
          </a:xfrm>
        </p:spPr>
        <p:txBody>
          <a:bodyPr/>
          <a:lstStyle/>
          <a:p>
            <a:r>
              <a:rPr lang="en-US"/>
              <a:t>Test D-flipflop on STEP-MAX10 board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C20AB6-7757-EB07-D3DB-AAE6133C7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944774"/>
              </p:ext>
            </p:extLst>
          </p:nvPr>
        </p:nvGraphicFramePr>
        <p:xfrm>
          <a:off x="245934" y="1455296"/>
          <a:ext cx="8999006" cy="3565439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2532892">
                  <a:extLst>
                    <a:ext uri="{9D8B030D-6E8A-4147-A177-3AD203B41FA5}">
                      <a16:colId xmlns:a16="http://schemas.microsoft.com/office/drawing/2014/main" val="3875320215"/>
                    </a:ext>
                  </a:extLst>
                </a:gridCol>
                <a:gridCol w="3307278">
                  <a:extLst>
                    <a:ext uri="{9D8B030D-6E8A-4147-A177-3AD203B41FA5}">
                      <a16:colId xmlns:a16="http://schemas.microsoft.com/office/drawing/2014/main" val="3344541690"/>
                    </a:ext>
                  </a:extLst>
                </a:gridCol>
                <a:gridCol w="3158836">
                  <a:extLst>
                    <a:ext uri="{9D8B030D-6E8A-4147-A177-3AD203B41FA5}">
                      <a16:colId xmlns:a16="http://schemas.microsoft.com/office/drawing/2014/main" val="1653230920"/>
                    </a:ext>
                  </a:extLst>
                </a:gridCol>
              </a:tblGrid>
              <a:tr h="35801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/>
                          </a:solidFill>
                        </a:rPr>
                        <a:t>   d_flipflop.sv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/>
                          </a:solidFill>
                        </a:rPr>
                        <a:t>      clock_devider.sv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accent1"/>
                          </a:solidFill>
                        </a:rPr>
                        <a:t>      top_module.sv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524292"/>
                  </a:ext>
                </a:extLst>
              </a:tr>
              <a:tr h="3207424"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module d_flipflop(input logic clk, d,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           output logic q);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always_ff@(posedge clk)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begin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q &lt;= d;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end 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						 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endmodule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module clock_divider (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input logic clk_in,    // 12 MHz input clock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output logic clk_out    // 1 Hz output clock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logic [23:0] counter = 24'd0;  // 24-bit counter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always_ff @(posedge clk_in) begin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if (counter == 24'd6000000) begin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    counter &lt;= 24'd0;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    clk_out &lt;= ~clk_out;    // Toggle output clock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end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else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        counter &lt;= counter + 1;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end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endmodule</a:t>
                      </a:r>
                    </a:p>
                    <a:p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module top_module (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input logic clk_12mhz,  // 12 MHz input clock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input logic d ;// D input for D flip-flop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output logic q  // Q output of D flip-flop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// 1 Hz clock signal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logic clk_1hz;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// Instantiate clock divider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clock_divider clock_divider_instance (clk_12mhz, clk_1hz);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// Instantiate D flip-flop</a:t>
                      </a: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    d_flipflop d_flipflop_instance (clk_1hz, d, q);</a:t>
                      </a:r>
                    </a:p>
                    <a:p>
                      <a:endParaRPr lang="en-US" sz="90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  <a:p>
                      <a:r>
                        <a:rPr lang="en-US" sz="90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endmodule</a:t>
                      </a:r>
                    </a:p>
                    <a:p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4597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2DE2D81-9459-0C0F-D2FE-7BE5A1091F63}"/>
              </a:ext>
            </a:extLst>
          </p:cNvPr>
          <p:cNvSpPr txBox="1"/>
          <p:nvPr/>
        </p:nvSpPr>
        <p:spPr>
          <a:xfrm>
            <a:off x="427498" y="1047648"/>
            <a:ext cx="4870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Montserrat" panose="00000500000000000000" pitchFamily="2" charset="0"/>
              </a:rPr>
              <a:t>Method 2</a:t>
            </a:r>
            <a:r>
              <a:rPr lang="en-US">
                <a:solidFill>
                  <a:schemeClr val="accent1"/>
                </a:solidFill>
                <a:latin typeface="Montserrat" panose="00000500000000000000" pitchFamily="2" charset="0"/>
              </a:rPr>
              <a:t>: Using 12MHz clock on STEP-MAX10 board</a:t>
            </a:r>
          </a:p>
        </p:txBody>
      </p:sp>
    </p:spTree>
    <p:extLst>
      <p:ext uri="{BB962C8B-B14F-4D97-AF65-F5344CB8AC3E}">
        <p14:creationId xmlns:p14="http://schemas.microsoft.com/office/powerpoint/2010/main" val="352185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5A23-B992-7F54-1D28-EBC5409E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19" y="422271"/>
            <a:ext cx="7738200" cy="572700"/>
          </a:xfrm>
        </p:spPr>
        <p:txBody>
          <a:bodyPr/>
          <a:lstStyle/>
          <a:p>
            <a:r>
              <a:rPr lang="en-US"/>
              <a:t>Pin assignment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38D6F-92F9-6CAC-EF17-97202A12B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18" y="1146385"/>
            <a:ext cx="6368559" cy="38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3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A29E-FC60-9951-A315-28E4F3DA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used statement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7045E6-225E-417B-34AD-DCCD24885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68931"/>
              </p:ext>
            </p:extLst>
          </p:nvPr>
        </p:nvGraphicFramePr>
        <p:xfrm>
          <a:off x="712923" y="1214035"/>
          <a:ext cx="7687158" cy="3983126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4334313">
                  <a:extLst>
                    <a:ext uri="{9D8B030D-6E8A-4147-A177-3AD203B41FA5}">
                      <a16:colId xmlns:a16="http://schemas.microsoft.com/office/drawing/2014/main" val="3674131541"/>
                    </a:ext>
                  </a:extLst>
                </a:gridCol>
                <a:gridCol w="3352845">
                  <a:extLst>
                    <a:ext uri="{9D8B030D-6E8A-4147-A177-3AD203B41FA5}">
                      <a16:colId xmlns:a16="http://schemas.microsoft.com/office/drawing/2014/main" val="3736772492"/>
                    </a:ext>
                  </a:extLst>
                </a:gridCol>
              </a:tblGrid>
              <a:tr h="28021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          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    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182298"/>
                  </a:ext>
                </a:extLst>
              </a:tr>
              <a:tr h="2126821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for (initialization; condition; increment)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Loop body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</a:t>
                      </a:r>
                    </a:p>
                    <a:p>
                      <a:endParaRPr lang="en-US" sz="10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case (expression)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value1: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Code for when expression matches value1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end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value2: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Code for when expression matches value2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end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// More value cases...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default: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Code for when no value case matches the expression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end</a:t>
                      </a:r>
                    </a:p>
                    <a:p>
                      <a:r>
                        <a:rPr lang="en-US" sz="1000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endcase</a:t>
                      </a:r>
                      <a:endParaRPr lang="en-US" sz="10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  <a:p>
                      <a:endParaRPr lang="en-US" sz="10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66683"/>
                  </a:ext>
                </a:extLst>
              </a:tr>
              <a:tr h="28021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    if – else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                 while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652974"/>
                  </a:ext>
                </a:extLst>
              </a:tr>
              <a:tr h="1197648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if (condition)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Statements to execute when the condition is true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else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Statements to execute when the condition is false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</a:t>
                      </a:r>
                    </a:p>
                    <a:p>
                      <a:endParaRPr lang="en-US" sz="10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while (condition) begin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 Statements to execute while the condition is true</a:t>
                      </a:r>
                    </a:p>
                    <a:p>
                      <a:r>
                        <a:rPr lang="en-US" sz="1000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</a:t>
                      </a:r>
                    </a:p>
                    <a:p>
                      <a:endParaRPr lang="en-US" sz="1000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29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516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3822-681D-411C-7068-93BD1EB6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Resettable flipflop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7F528-3463-DA01-3278-42C16483B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2924" y="1057150"/>
            <a:ext cx="8032953" cy="505200"/>
          </a:xfrm>
        </p:spPr>
        <p:txBody>
          <a:bodyPr/>
          <a:lstStyle/>
          <a:p>
            <a:r>
              <a:rPr lang="en-US" b="1" dirty="0"/>
              <a:t>Ex1:</a:t>
            </a:r>
            <a:r>
              <a:rPr lang="en-US" dirty="0"/>
              <a:t> Design an resettable flipflop having following truth table  using in </a:t>
            </a:r>
            <a:r>
              <a:rPr lang="en-US" dirty="0" err="1"/>
              <a:t>SystemVerilog</a:t>
            </a:r>
            <a:r>
              <a:rPr lang="en-US" dirty="0"/>
              <a:t> and simulate </a:t>
            </a:r>
            <a:r>
              <a:rPr lang="en-US"/>
              <a:t>on ModelSim and test on STEP MAX10 board.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6C13C6-60BB-190E-BF03-4D215C3A5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905191"/>
              </p:ext>
            </p:extLst>
          </p:nvPr>
        </p:nvGraphicFramePr>
        <p:xfrm>
          <a:off x="1374814" y="2194840"/>
          <a:ext cx="6478292" cy="185420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1619573">
                  <a:extLst>
                    <a:ext uri="{9D8B030D-6E8A-4147-A177-3AD203B41FA5}">
                      <a16:colId xmlns:a16="http://schemas.microsoft.com/office/drawing/2014/main" val="4078393811"/>
                    </a:ext>
                  </a:extLst>
                </a:gridCol>
                <a:gridCol w="1619573">
                  <a:extLst>
                    <a:ext uri="{9D8B030D-6E8A-4147-A177-3AD203B41FA5}">
                      <a16:colId xmlns:a16="http://schemas.microsoft.com/office/drawing/2014/main" val="585689948"/>
                    </a:ext>
                  </a:extLst>
                </a:gridCol>
                <a:gridCol w="1619573">
                  <a:extLst>
                    <a:ext uri="{9D8B030D-6E8A-4147-A177-3AD203B41FA5}">
                      <a16:colId xmlns:a16="http://schemas.microsoft.com/office/drawing/2014/main" val="956965052"/>
                    </a:ext>
                  </a:extLst>
                </a:gridCol>
                <a:gridCol w="1619573">
                  <a:extLst>
                    <a:ext uri="{9D8B030D-6E8A-4147-A177-3AD203B41FA5}">
                      <a16:colId xmlns:a16="http://schemas.microsoft.com/office/drawing/2014/main" val="380800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</a:t>
                      </a:r>
                      <a:r>
                        <a:rPr lang="en-US" dirty="0" err="1"/>
                        <a:t>clk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reset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q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7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2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2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03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other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534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B50EF4-8A70-9B2D-0C7C-BF81ECCA5EC6}"/>
              </a:ext>
            </a:extLst>
          </p:cNvPr>
          <p:cNvCxnSpPr/>
          <p:nvPr/>
        </p:nvCxnSpPr>
        <p:spPr>
          <a:xfrm flipV="1">
            <a:off x="2001868" y="3270573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E99B11-A113-2767-6458-BA6A33FE62DF}"/>
              </a:ext>
            </a:extLst>
          </p:cNvPr>
          <p:cNvCxnSpPr/>
          <p:nvPr/>
        </p:nvCxnSpPr>
        <p:spPr>
          <a:xfrm flipV="1">
            <a:off x="2001868" y="2915296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47C2D1-1414-BBA6-A9F5-FF0E6A1AB0E1}"/>
              </a:ext>
            </a:extLst>
          </p:cNvPr>
          <p:cNvCxnSpPr/>
          <p:nvPr/>
        </p:nvCxnSpPr>
        <p:spPr>
          <a:xfrm flipV="1">
            <a:off x="2003120" y="2646058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3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3822-681D-411C-7068-93BD1EB6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Resettable enable flipflop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E7F528-3463-DA01-3278-42C16483B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Ex2:</a:t>
            </a:r>
            <a:r>
              <a:rPr lang="en-US" dirty="0"/>
              <a:t> Design an resettable enable flipflop having following truth table  using </a:t>
            </a:r>
            <a:r>
              <a:rPr lang="en-US"/>
              <a:t>in SystemVerilog, simulate on ModelSim and test on STEP MAX10 board.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6C13C6-60BB-190E-BF03-4D215C3A5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286622"/>
              </p:ext>
            </p:extLst>
          </p:nvPr>
        </p:nvGraphicFramePr>
        <p:xfrm>
          <a:off x="1239864" y="2484390"/>
          <a:ext cx="7592461" cy="222504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1522625">
                  <a:extLst>
                    <a:ext uri="{9D8B030D-6E8A-4147-A177-3AD203B41FA5}">
                      <a16:colId xmlns:a16="http://schemas.microsoft.com/office/drawing/2014/main" val="4078393811"/>
                    </a:ext>
                  </a:extLst>
                </a:gridCol>
                <a:gridCol w="1517459">
                  <a:extLst>
                    <a:ext uri="{9D8B030D-6E8A-4147-A177-3AD203B41FA5}">
                      <a16:colId xmlns:a16="http://schemas.microsoft.com/office/drawing/2014/main" val="585689948"/>
                    </a:ext>
                  </a:extLst>
                </a:gridCol>
                <a:gridCol w="1517459">
                  <a:extLst>
                    <a:ext uri="{9D8B030D-6E8A-4147-A177-3AD203B41FA5}">
                      <a16:colId xmlns:a16="http://schemas.microsoft.com/office/drawing/2014/main" val="2900432995"/>
                    </a:ext>
                  </a:extLst>
                </a:gridCol>
                <a:gridCol w="1517459">
                  <a:extLst>
                    <a:ext uri="{9D8B030D-6E8A-4147-A177-3AD203B41FA5}">
                      <a16:colId xmlns:a16="http://schemas.microsoft.com/office/drawing/2014/main" val="956965052"/>
                    </a:ext>
                  </a:extLst>
                </a:gridCol>
                <a:gridCol w="1517459">
                  <a:extLst>
                    <a:ext uri="{9D8B030D-6E8A-4147-A177-3AD203B41FA5}">
                      <a16:colId xmlns:a16="http://schemas.microsoft.com/office/drawing/2014/main" val="380800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  </a:t>
                      </a:r>
                      <a:r>
                        <a:rPr lang="en-US" dirty="0" err="1"/>
                        <a:t>clk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reset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enable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q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7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26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2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03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 other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82568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B50EF4-8A70-9B2D-0C7C-BF81ECCA5EC6}"/>
              </a:ext>
            </a:extLst>
          </p:cNvPr>
          <p:cNvCxnSpPr/>
          <p:nvPr/>
        </p:nvCxnSpPr>
        <p:spPr>
          <a:xfrm flipV="1">
            <a:off x="2001868" y="3270573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2E99B11-A113-2767-6458-BA6A33FE62DF}"/>
              </a:ext>
            </a:extLst>
          </p:cNvPr>
          <p:cNvCxnSpPr/>
          <p:nvPr/>
        </p:nvCxnSpPr>
        <p:spPr>
          <a:xfrm flipV="1">
            <a:off x="2001868" y="2915296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47C2D1-1414-BBA6-A9F5-FF0E6A1AB0E1}"/>
              </a:ext>
            </a:extLst>
          </p:cNvPr>
          <p:cNvCxnSpPr/>
          <p:nvPr/>
        </p:nvCxnSpPr>
        <p:spPr>
          <a:xfrm flipV="1">
            <a:off x="2007033" y="3731540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4876F4-2911-01CB-C241-366336D68360}"/>
              </a:ext>
            </a:extLst>
          </p:cNvPr>
          <p:cNvCxnSpPr/>
          <p:nvPr/>
        </p:nvCxnSpPr>
        <p:spPr>
          <a:xfrm flipV="1">
            <a:off x="2001868" y="4131913"/>
            <a:ext cx="0" cy="206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94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CAFF5-1C5A-96C2-C25C-9D4190F9F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JK flipflop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E1E94-55E4-6B24-0873-CFA89C3DB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Ex3:</a:t>
            </a:r>
            <a:r>
              <a:rPr lang="en-US" dirty="0"/>
              <a:t> Design an JK flipflop having following truth table  using </a:t>
            </a:r>
            <a:r>
              <a:rPr lang="en-US"/>
              <a:t>in SystemVerilog, simulate on ModelSim and test on STEP MAX10 board.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9E5FD-5F56-EB4E-60AC-AB71992A3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347" y="1562350"/>
            <a:ext cx="3951496" cy="341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7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778E-9E26-272E-F8B9-64FA7E269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 latch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D2E86-1417-C174-E052-45E9F35639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Ex4:</a:t>
            </a:r>
            <a:r>
              <a:rPr lang="en-US" dirty="0"/>
              <a:t> Design an JK flipflop having following truth table  using </a:t>
            </a:r>
            <a:r>
              <a:rPr lang="en-US"/>
              <a:t>in SystemVerilog, simulate on ModelSim and test on STEP MAX10 board.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2FB3FC-7F3D-F8B4-7073-51B75FABC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493499"/>
              </p:ext>
            </p:extLst>
          </p:nvPr>
        </p:nvGraphicFramePr>
        <p:xfrm>
          <a:off x="1631195" y="1830070"/>
          <a:ext cx="4858719" cy="148336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1875299">
                  <a:extLst>
                    <a:ext uri="{9D8B030D-6E8A-4147-A177-3AD203B41FA5}">
                      <a16:colId xmlns:a16="http://schemas.microsoft.com/office/drawing/2014/main" val="4078393811"/>
                    </a:ext>
                  </a:extLst>
                </a:gridCol>
                <a:gridCol w="1363847">
                  <a:extLst>
                    <a:ext uri="{9D8B030D-6E8A-4147-A177-3AD203B41FA5}">
                      <a16:colId xmlns:a16="http://schemas.microsoft.com/office/drawing/2014/main" val="956965052"/>
                    </a:ext>
                  </a:extLst>
                </a:gridCol>
                <a:gridCol w="1619573">
                  <a:extLst>
                    <a:ext uri="{9D8B030D-6E8A-4147-A177-3AD203B41FA5}">
                      <a16:colId xmlns:a16="http://schemas.microsoft.com/office/drawing/2014/main" val="3808006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endParaRPr lang="en-US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q</a:t>
                      </a:r>
                    </a:p>
                  </a:txBody>
                  <a:tcP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73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721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030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      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previous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553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DA6FB4-4015-432B-77C6-3C2EBC216987}"/>
              </a:ext>
            </a:extLst>
          </p:cNvPr>
          <p:cNvSpPr txBox="1"/>
          <p:nvPr/>
        </p:nvSpPr>
        <p:spPr>
          <a:xfrm>
            <a:off x="702925" y="3427262"/>
            <a:ext cx="7354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Using </a:t>
            </a:r>
            <a:r>
              <a:rPr lang="en-US" i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always_latch</a:t>
            </a:r>
            <a:r>
              <a:rPr lang="en-US" i="1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statement, which is used for design a latch in </a:t>
            </a:r>
            <a:r>
              <a:rPr lang="en-US" dirty="0" err="1">
                <a:solidFill>
                  <a:schemeClr val="accent1"/>
                </a:solidFill>
                <a:latin typeface="Montserrat" panose="00000500000000000000" pitchFamily="2" charset="0"/>
              </a:rPr>
              <a:t>SystemVerilog</a:t>
            </a:r>
            <a:endParaRPr lang="en-US" dirty="0">
              <a:solidFill>
                <a:schemeClr val="accent1"/>
              </a:solidFill>
              <a:latin typeface="Montserrat" panose="00000500000000000000" pitchFamily="2" charset="0"/>
            </a:endParaRPr>
          </a:p>
          <a:p>
            <a:r>
              <a:rPr lang="en-US" i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always_latch</a:t>
            </a:r>
            <a:r>
              <a:rPr lang="en-US" i="1" dirty="0">
                <a:solidFill>
                  <a:schemeClr val="accent1"/>
                </a:solidFill>
                <a:latin typeface="Montserrat" panose="00000500000000000000" pitchFamily="2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Montserrat" panose="00000500000000000000" pitchFamily="2" charset="0"/>
              </a:rPr>
              <a:t>is equivalent to </a:t>
            </a:r>
            <a:r>
              <a:rPr lang="en-US" i="1" dirty="0">
                <a:solidFill>
                  <a:schemeClr val="accent1"/>
                </a:solidFill>
                <a:latin typeface="Montserrat" panose="00000500000000000000" pitchFamily="2" charset="0"/>
              </a:rPr>
              <a:t>always@(</a:t>
            </a:r>
            <a:r>
              <a:rPr lang="en-US" i="1" dirty="0" err="1">
                <a:solidFill>
                  <a:schemeClr val="accent1"/>
                </a:solidFill>
                <a:latin typeface="Montserrat" panose="00000500000000000000" pitchFamily="2" charset="0"/>
              </a:rPr>
              <a:t>clk</a:t>
            </a:r>
            <a:r>
              <a:rPr lang="en-US" i="1" dirty="0">
                <a:solidFill>
                  <a:schemeClr val="accent1"/>
                </a:solidFill>
                <a:latin typeface="Montserrat" panose="00000500000000000000" pitchFamily="2" charset="0"/>
              </a:rPr>
              <a:t>, d).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BAAB90-C79A-158E-6C5C-BFE4E10A0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912331"/>
              </p:ext>
            </p:extLst>
          </p:nvPr>
        </p:nvGraphicFramePr>
        <p:xfrm>
          <a:off x="1012554" y="3950482"/>
          <a:ext cx="6096000" cy="1158240"/>
        </p:xfrm>
        <a:graphic>
          <a:graphicData uri="http://schemas.openxmlformats.org/drawingml/2006/table">
            <a:tbl>
              <a:tblPr firstRow="1" bandRow="1">
                <a:tableStyleId>{D971DDEE-25E1-4FD0-9271-24F5402C3206}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0199524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82887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always_latch</a:t>
                      </a:r>
                      <a:endParaRPr lang="en-US" dirty="0">
                        <a:solidFill>
                          <a:schemeClr val="accent1"/>
                        </a:solidFill>
                        <a:latin typeface="Montserrat" panose="00000500000000000000" pitchFamily="2" charset="0"/>
                      </a:endParaRPr>
                    </a:p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begin</a:t>
                      </a:r>
                    </a:p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//your code here</a:t>
                      </a:r>
                    </a:p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always@(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clk</a:t>
                      </a:r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, d)</a:t>
                      </a:r>
                    </a:p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begin</a:t>
                      </a:r>
                    </a:p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    //your code here</a:t>
                      </a:r>
                    </a:p>
                    <a:p>
                      <a:r>
                        <a:rPr lang="en-US" dirty="0">
                          <a:solidFill>
                            <a:schemeClr val="accent1"/>
                          </a:solidFill>
                          <a:latin typeface="Montserrat" panose="00000500000000000000" pitchFamily="2" charset="0"/>
                        </a:rPr>
                        <a:t>end</a:t>
                      </a:r>
                    </a:p>
                    <a:p>
                      <a:endParaRPr 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4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831999"/>
      </p:ext>
    </p:extLst>
  </p:cSld>
  <p:clrMapOvr>
    <a:masterClrMapping/>
  </p:clrMapOvr>
</p:sld>
</file>

<file path=ppt/theme/theme1.xml><?xml version="1.0" encoding="utf-8"?>
<a:theme xmlns:a="http://schemas.openxmlformats.org/drawingml/2006/main" name="Livine Meeting XL by Slidesgo">
  <a:themeElements>
    <a:clrScheme name="Simple Light">
      <a:dk1>
        <a:srgbClr val="FFFFFF"/>
      </a:dk1>
      <a:lt1>
        <a:srgbClr val="FFFFFF"/>
      </a:lt1>
      <a:dk2>
        <a:srgbClr val="595959"/>
      </a:dk2>
      <a:lt2>
        <a:srgbClr val="EEEEEE"/>
      </a:lt2>
      <a:accent1>
        <a:srgbClr val="27316F"/>
      </a:accent1>
      <a:accent2>
        <a:srgbClr val="75C4C0"/>
      </a:accent2>
      <a:accent3>
        <a:srgbClr val="FFC800"/>
      </a:accent3>
      <a:accent4>
        <a:srgbClr val="FFFFFF"/>
      </a:accent4>
      <a:accent5>
        <a:srgbClr val="C2C2C2"/>
      </a:accent5>
      <a:accent6>
        <a:srgbClr val="F2F2F2"/>
      </a:accent6>
      <a:hlink>
        <a:srgbClr val="27316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7899</TotalTime>
  <Words>955</Words>
  <Application>Microsoft Office PowerPoint</Application>
  <PresentationFormat>On-screen Show (16:9)</PresentationFormat>
  <Paragraphs>208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Consolas</vt:lpstr>
      <vt:lpstr>Arial</vt:lpstr>
      <vt:lpstr>Montserrat</vt:lpstr>
      <vt:lpstr>Livine Meeting XL by Slidesgo</vt:lpstr>
      <vt:lpstr>Lab 5: Design sequential circuit</vt:lpstr>
      <vt:lpstr>D flipflop</vt:lpstr>
      <vt:lpstr>D- flipflop</vt:lpstr>
      <vt:lpstr>D- flipflop simulation result</vt:lpstr>
      <vt:lpstr>Test D-flipflop on STEP-MAX10 board -</vt:lpstr>
      <vt:lpstr>Test D-flipflop on STEP-MAX10 board</vt:lpstr>
      <vt:lpstr>Pin assignment</vt:lpstr>
      <vt:lpstr>Common used statement</vt:lpstr>
      <vt:lpstr>Resettable flipflop</vt:lpstr>
      <vt:lpstr>Resettable enable flipflop</vt:lpstr>
      <vt:lpstr>JK flipflop</vt:lpstr>
      <vt:lpstr>D latch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 SOLUTION</dc:title>
  <dc:creator>Minh Ngoc Duong</dc:creator>
  <cp:lastModifiedBy>Minh Ngọc Dương</cp:lastModifiedBy>
  <cp:revision>66</cp:revision>
  <dcterms:modified xsi:type="dcterms:W3CDTF">2025-12-01T04:05:27Z</dcterms:modified>
</cp:coreProperties>
</file>