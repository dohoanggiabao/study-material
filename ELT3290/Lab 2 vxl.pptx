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1" r:id="rId1"/>
  </p:sldMasterIdLst>
  <p:notesMasterIdLst>
    <p:notesMasterId r:id="rId23"/>
  </p:notesMasterIdLst>
  <p:sldIdLst>
    <p:sldId id="256" r:id="rId2"/>
    <p:sldId id="367" r:id="rId3"/>
    <p:sldId id="257" r:id="rId4"/>
    <p:sldId id="348" r:id="rId5"/>
    <p:sldId id="349" r:id="rId6"/>
    <p:sldId id="352" r:id="rId7"/>
    <p:sldId id="350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3" r:id="rId18"/>
    <p:sldId id="366" r:id="rId19"/>
    <p:sldId id="362" r:id="rId20"/>
    <p:sldId id="364" r:id="rId21"/>
    <p:sldId id="365" r:id="rId22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Montserrat" panose="000005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71DDEE-25E1-4FD0-9271-24F5402C3206}">
  <a:tblStyle styleId="{D971DDEE-25E1-4FD0-9271-24F5402C3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78" autoAdjust="0"/>
    <p:restoredTop sz="93856" autoAdjust="0"/>
  </p:normalViewPr>
  <p:slideViewPr>
    <p:cSldViewPr snapToGrid="0">
      <p:cViewPr>
        <p:scale>
          <a:sx n="200" d="100"/>
          <a:sy n="200" d="100"/>
        </p:scale>
        <p:origin x="-5011" y="-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87664a200f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87664a200f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87664a200f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87664a200f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9739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906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207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5400000">
            <a:off x="-1515884" y="-1719378"/>
            <a:ext cx="3679200" cy="3679200"/>
          </a:xfrm>
          <a:prstGeom prst="blockArc">
            <a:avLst>
              <a:gd name="adj1" fmla="val 15904124"/>
              <a:gd name="adj2" fmla="val 722519"/>
              <a:gd name="adj3" fmla="val 727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10800000">
            <a:off x="708000" y="399750"/>
            <a:ext cx="7728000" cy="4344000"/>
          </a:xfrm>
          <a:prstGeom prst="round1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2175913">
            <a:off x="6501213" y="3908853"/>
            <a:ext cx="1705595" cy="1705595"/>
          </a:xfrm>
          <a:prstGeom prst="blockArc">
            <a:avLst>
              <a:gd name="adj1" fmla="val 13003178"/>
              <a:gd name="adj2" fmla="val 2121832"/>
              <a:gd name="adj3" fmla="val 2502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/>
          <p:nvPr/>
        </p:nvSpPr>
        <p:spPr>
          <a:xfrm>
            <a:off x="1355650" y="744575"/>
            <a:ext cx="6261600" cy="23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1355650" y="3396875"/>
            <a:ext cx="40485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1080000" y="2834125"/>
            <a:ext cx="68400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1441200" y="1455663"/>
            <a:ext cx="6261600" cy="13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2649875" y="3207913"/>
            <a:ext cx="3823800" cy="6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 rot="10800000">
            <a:off x="7843922" y="-1058801"/>
            <a:ext cx="2481900" cy="2481900"/>
          </a:xfrm>
          <a:prstGeom prst="blockArc">
            <a:avLst>
              <a:gd name="adj1" fmla="val 15904124"/>
              <a:gd name="adj2" fmla="val 722519"/>
              <a:gd name="adj3" fmla="val 727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-154350" y="389075"/>
            <a:ext cx="9452700" cy="661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 rot="4458820">
            <a:off x="-1488663" y="4124021"/>
            <a:ext cx="2387832" cy="2387832"/>
          </a:xfrm>
          <a:prstGeom prst="blockArc">
            <a:avLst>
              <a:gd name="adj1" fmla="val 12582103"/>
              <a:gd name="adj2" fmla="val 16685375"/>
              <a:gd name="adj3" fmla="val 1025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909825" y="1507250"/>
            <a:ext cx="7315200" cy="3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1094125" y="541475"/>
            <a:ext cx="68259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4125" y="434070"/>
            <a:ext cx="773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702925" y="1057150"/>
            <a:ext cx="7738200" cy="5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60" name="Google Shape;60;p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61" name="Google Shape;61;p9"/>
          <p:cNvSpPr/>
          <p:nvPr/>
        </p:nvSpPr>
        <p:spPr>
          <a:xfrm rot="-900094">
            <a:off x="3798381" y="4368678"/>
            <a:ext cx="1783690" cy="1783980"/>
          </a:xfrm>
          <a:prstGeom prst="blockArc">
            <a:avLst>
              <a:gd name="adj1" fmla="val 12085351"/>
              <a:gd name="adj2" fmla="val 16819483"/>
              <a:gd name="adj3" fmla="val 1755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4572000" y="-73925"/>
            <a:ext cx="4572000" cy="530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9"/>
          <p:cNvSpPr txBox="1"/>
          <p:nvPr/>
        </p:nvSpPr>
        <p:spPr>
          <a:xfrm>
            <a:off x="5298300" y="2567075"/>
            <a:ext cx="31194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9"/>
          <p:cNvSpPr txBox="1"/>
          <p:nvPr/>
        </p:nvSpPr>
        <p:spPr>
          <a:xfrm>
            <a:off x="5298300" y="4049375"/>
            <a:ext cx="31194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9"/>
          <p:cNvSpPr txBox="1"/>
          <p:nvPr/>
        </p:nvSpPr>
        <p:spPr>
          <a:xfrm>
            <a:off x="5208725" y="4049375"/>
            <a:ext cx="31194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9"/>
          <p:cNvSpPr txBox="1"/>
          <p:nvPr/>
        </p:nvSpPr>
        <p:spPr>
          <a:xfrm>
            <a:off x="5387850" y="3299075"/>
            <a:ext cx="31194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5021275" y="810000"/>
            <a:ext cx="3549600" cy="38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602400" y="862850"/>
            <a:ext cx="3549600" cy="318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4_1_1_1_1_2">
    <p:bg>
      <p:bgPr>
        <a:solidFill>
          <a:schemeClr val="accent2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97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7"/>
          <p:cNvSpPr txBox="1">
            <a:spLocks noGrp="1"/>
          </p:cNvSpPr>
          <p:nvPr>
            <p:ph type="title"/>
          </p:nvPr>
        </p:nvSpPr>
        <p:spPr>
          <a:xfrm>
            <a:off x="771525" y="1691969"/>
            <a:ext cx="7282229" cy="13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Lab 2: Introduction to hardware description language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00DA3-5AFA-515C-33E8-DD3BC9FED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D0F90C-B513-B03B-4F2E-B7D2C4857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695" y="1057149"/>
            <a:ext cx="8288430" cy="3064577"/>
          </a:xfrm>
        </p:spPr>
        <p:txBody>
          <a:bodyPr/>
          <a:lstStyle/>
          <a:p>
            <a:r>
              <a:rPr lang="en-US" dirty="0"/>
              <a:t>In this course: To design a digital circuit</a:t>
            </a:r>
          </a:p>
          <a:p>
            <a:endParaRPr lang="en-US" dirty="0"/>
          </a:p>
          <a:p>
            <a:r>
              <a:rPr lang="en-US" dirty="0"/>
              <a:t>                                              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B44DAC-2C6D-2949-812C-700EA4065C04}"/>
              </a:ext>
            </a:extLst>
          </p:cNvPr>
          <p:cNvSpPr/>
          <p:nvPr/>
        </p:nvSpPr>
        <p:spPr>
          <a:xfrm>
            <a:off x="152695" y="1920999"/>
            <a:ext cx="896276" cy="74814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Truth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C2F36A-3DC2-BC03-7A87-48782ADB9DF7}"/>
              </a:ext>
            </a:extLst>
          </p:cNvPr>
          <p:cNvSpPr/>
          <p:nvPr/>
        </p:nvSpPr>
        <p:spPr>
          <a:xfrm>
            <a:off x="1833093" y="1766454"/>
            <a:ext cx="1587392" cy="948169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Describe hardware using HDL (</a:t>
            </a:r>
            <a:r>
              <a:rPr lang="en-US" dirty="0" err="1">
                <a:solidFill>
                  <a:schemeClr val="accent1"/>
                </a:solidFill>
              </a:rPr>
              <a:t>SystemVerilog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A62503-588F-4FFB-E7C0-0368E1DA9578}"/>
              </a:ext>
            </a:extLst>
          </p:cNvPr>
          <p:cNvSpPr/>
          <p:nvPr/>
        </p:nvSpPr>
        <p:spPr>
          <a:xfrm>
            <a:off x="4177865" y="1836158"/>
            <a:ext cx="1209053" cy="808759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Simulate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ModelSim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E71412-30DD-6D22-8B8A-AAB094759B11}"/>
              </a:ext>
            </a:extLst>
          </p:cNvPr>
          <p:cNvSpPr/>
          <p:nvPr/>
        </p:nvSpPr>
        <p:spPr>
          <a:xfrm>
            <a:off x="7709634" y="1875522"/>
            <a:ext cx="1336018" cy="839100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Test on board</a:t>
            </a:r>
          </a:p>
          <a:p>
            <a:pPr algn="ctr"/>
            <a:r>
              <a:rPr lang="en-US">
                <a:solidFill>
                  <a:schemeClr val="accent1"/>
                </a:solidFill>
              </a:rPr>
              <a:t>(STEP MAX 10) </a:t>
            </a:r>
            <a:r>
              <a:rPr lang="en-US" dirty="0">
                <a:solidFill>
                  <a:schemeClr val="accent1"/>
                </a:solidFill>
              </a:rPr>
              <a:t>board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88EC764-03C9-B13F-FAA8-047F62A33068}"/>
              </a:ext>
            </a:extLst>
          </p:cNvPr>
          <p:cNvSpPr/>
          <p:nvPr/>
        </p:nvSpPr>
        <p:spPr>
          <a:xfrm>
            <a:off x="1063482" y="2004540"/>
            <a:ext cx="75510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2E55ED3-8DCC-E2D5-7905-842CE28E95B7}"/>
              </a:ext>
            </a:extLst>
          </p:cNvPr>
          <p:cNvSpPr/>
          <p:nvPr/>
        </p:nvSpPr>
        <p:spPr>
          <a:xfrm>
            <a:off x="3422765" y="2004540"/>
            <a:ext cx="75510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E584863-5ECA-B13C-556B-019EA6F1F9C1}"/>
              </a:ext>
            </a:extLst>
          </p:cNvPr>
          <p:cNvSpPr/>
          <p:nvPr/>
        </p:nvSpPr>
        <p:spPr>
          <a:xfrm>
            <a:off x="5389198" y="2020141"/>
            <a:ext cx="75510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AA3A46-D181-A07D-D49A-7097BAF8CB91}"/>
              </a:ext>
            </a:extLst>
          </p:cNvPr>
          <p:cNvSpPr/>
          <p:nvPr/>
        </p:nvSpPr>
        <p:spPr>
          <a:xfrm>
            <a:off x="6163038" y="1845231"/>
            <a:ext cx="1130756" cy="808759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Synthesis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(Quartus)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A9B9111-E7EA-F826-7BD1-88F6AF6E5BF2}"/>
              </a:ext>
            </a:extLst>
          </p:cNvPr>
          <p:cNvSpPr/>
          <p:nvPr/>
        </p:nvSpPr>
        <p:spPr>
          <a:xfrm>
            <a:off x="7310907" y="2063116"/>
            <a:ext cx="376690" cy="4232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11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8"/>
          <p:cNvSpPr txBox="1">
            <a:spLocks noGrp="1"/>
          </p:cNvSpPr>
          <p:nvPr>
            <p:ph type="title"/>
          </p:nvPr>
        </p:nvSpPr>
        <p:spPr>
          <a:xfrm>
            <a:off x="1094125" y="434070"/>
            <a:ext cx="773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Simulation and Synthesis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E2F078-3AC9-651D-B678-47233B8BF8E4}"/>
              </a:ext>
            </a:extLst>
          </p:cNvPr>
          <p:cNvSpPr txBox="1"/>
          <p:nvPr/>
        </p:nvSpPr>
        <p:spPr>
          <a:xfrm>
            <a:off x="150867" y="1354892"/>
            <a:ext cx="75413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Montserrat" panose="00000500000000000000" pitchFamily="2" charset="0"/>
              </a:rPr>
              <a:t>Simulation</a:t>
            </a:r>
          </a:p>
          <a:p>
            <a:r>
              <a:rPr lang="en-US" dirty="0">
                <a:solidFill>
                  <a:schemeClr val="accent1"/>
                </a:solidFill>
                <a:latin typeface="Montserrat" panose="00000500000000000000" pitchFamily="2" charset="0"/>
              </a:rPr>
              <a:t>To verify the module operates correctly or not</a:t>
            </a:r>
          </a:p>
          <a:p>
            <a:r>
              <a:rPr lang="en-US" dirty="0">
                <a:solidFill>
                  <a:schemeClr val="accent1"/>
                </a:solidFill>
                <a:latin typeface="Montserrat" panose="00000500000000000000" pitchFamily="2" charset="0"/>
              </a:rPr>
              <a:t>By applying inputs to a module and checking outputs</a:t>
            </a:r>
          </a:p>
          <a:p>
            <a:endParaRPr lang="en-US" dirty="0">
              <a:solidFill>
                <a:schemeClr val="accent1"/>
              </a:solidFill>
              <a:latin typeface="Montserrat" panose="00000500000000000000" pitchFamily="2" charset="0"/>
            </a:endParaRPr>
          </a:p>
          <a:p>
            <a:endParaRPr lang="en-US" dirty="0">
              <a:solidFill>
                <a:schemeClr val="accent1"/>
              </a:solidFill>
              <a:latin typeface="Montserrat" panose="00000500000000000000" pitchFamily="2" charset="0"/>
            </a:endParaRPr>
          </a:p>
          <a:p>
            <a:endParaRPr lang="en-US" dirty="0">
              <a:solidFill>
                <a:schemeClr val="accent1"/>
              </a:solidFill>
              <a:latin typeface="Montserrat" panose="00000500000000000000" pitchFamily="2" charset="0"/>
            </a:endParaRPr>
          </a:p>
          <a:p>
            <a:endParaRPr lang="en-US" dirty="0">
              <a:solidFill>
                <a:schemeClr val="accent1"/>
              </a:solidFill>
              <a:latin typeface="Montserrat" panose="00000500000000000000" pitchFamily="2" charset="0"/>
            </a:endParaRPr>
          </a:p>
          <a:p>
            <a:endParaRPr lang="en-US" dirty="0">
              <a:solidFill>
                <a:schemeClr val="accent1"/>
              </a:solidFill>
              <a:latin typeface="Montserrat" panose="00000500000000000000" pitchFamily="2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Montserrat" panose="00000500000000000000" pitchFamily="2" charset="0"/>
              </a:rPr>
              <a:t>Synthesis</a:t>
            </a:r>
          </a:p>
          <a:p>
            <a:r>
              <a:rPr lang="en-US" dirty="0">
                <a:solidFill>
                  <a:schemeClr val="accent1"/>
                </a:solidFill>
                <a:latin typeface="Montserrat" panose="00000500000000000000" pitchFamily="2" charset="0"/>
              </a:rPr>
              <a:t>Textual description of a module is transformed into logic gates.</a:t>
            </a:r>
          </a:p>
        </p:txBody>
      </p:sp>
      <p:pic>
        <p:nvPicPr>
          <p:cNvPr id="3" name="Picture 2" descr="Why is Modelsim's logo a Rhinoceros? : r/FPGA">
            <a:extLst>
              <a:ext uri="{FF2B5EF4-FFF2-40B4-BE49-F238E27FC236}">
                <a16:creationId xmlns:a16="http://schemas.microsoft.com/office/drawing/2014/main" id="{E3B8F328-A4F8-2498-A727-1AF4C5CEE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766" y="1119484"/>
            <a:ext cx="1246508" cy="157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Intel Quartus: Errors in ModelSim - YouTube">
            <a:extLst>
              <a:ext uri="{FF2B5EF4-FFF2-40B4-BE49-F238E27FC236}">
                <a16:creationId xmlns:a16="http://schemas.microsoft.com/office/drawing/2014/main" id="{2870CB18-7EB1-BCDD-F28A-C9350066C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6274" y="1119484"/>
            <a:ext cx="2694822" cy="1515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Quartus® Prime Design Software - Intel | Mouser">
            <a:extLst>
              <a:ext uri="{FF2B5EF4-FFF2-40B4-BE49-F238E27FC236}">
                <a16:creationId xmlns:a16="http://schemas.microsoft.com/office/drawing/2014/main" id="{059052AF-9DC1-00FE-9C18-686F9FFD6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196" y="3645485"/>
            <a:ext cx="1939603" cy="1243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Quartus查看逻辑的RTL视图_闲庭信步sss的博客-CSDN博客">
            <a:extLst>
              <a:ext uri="{FF2B5EF4-FFF2-40B4-BE49-F238E27FC236}">
                <a16:creationId xmlns:a16="http://schemas.microsoft.com/office/drawing/2014/main" id="{3FD9F73D-0C67-4D7C-60AC-F0F7133C3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099" y="3669413"/>
            <a:ext cx="2936546" cy="1219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8"/>
          <p:cNvSpPr txBox="1">
            <a:spLocks noGrp="1"/>
          </p:cNvSpPr>
          <p:nvPr>
            <p:ph type="title"/>
          </p:nvPr>
        </p:nvSpPr>
        <p:spPr>
          <a:xfrm>
            <a:off x="1094125" y="434070"/>
            <a:ext cx="773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Hardware description language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961144-1E0A-4EAB-5588-12A079312194}"/>
              </a:ext>
            </a:extLst>
          </p:cNvPr>
          <p:cNvSpPr txBox="1"/>
          <p:nvPr/>
        </p:nvSpPr>
        <p:spPr>
          <a:xfrm>
            <a:off x="159328" y="1402199"/>
            <a:ext cx="861806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chemeClr val="accent1"/>
                </a:solidFill>
                <a:effectLst/>
                <a:latin typeface="Montserrat" panose="00000500000000000000" pitchFamily="2" charset="0"/>
              </a:rPr>
              <a:t>Hardware Description Languages (HDL) like </a:t>
            </a:r>
            <a:r>
              <a:rPr lang="en-US" b="0" i="0" dirty="0" err="1">
                <a:solidFill>
                  <a:schemeClr val="accent1"/>
                </a:solidFill>
                <a:effectLst/>
                <a:latin typeface="Montserrat" panose="00000500000000000000" pitchFamily="2" charset="0"/>
              </a:rPr>
              <a:t>SystemVerilog</a:t>
            </a:r>
            <a:r>
              <a:rPr lang="en-US" b="0" i="0" dirty="0">
                <a:solidFill>
                  <a:schemeClr val="accent1"/>
                </a:solidFill>
                <a:effectLst/>
                <a:latin typeface="Montserrat" panose="00000500000000000000" pitchFamily="2" charset="0"/>
              </a:rPr>
              <a:t> are used to describe hardware </a:t>
            </a:r>
          </a:p>
          <a:p>
            <a:r>
              <a:rPr lang="en-US" b="0" i="0" dirty="0">
                <a:solidFill>
                  <a:schemeClr val="accent1"/>
                </a:solidFill>
                <a:effectLst/>
                <a:latin typeface="Montserrat" panose="00000500000000000000" pitchFamily="2" charset="0"/>
              </a:rPr>
              <a:t>behavior</a:t>
            </a:r>
          </a:p>
          <a:p>
            <a:r>
              <a:rPr lang="en-US" b="0" i="0" dirty="0">
                <a:solidFill>
                  <a:schemeClr val="accent1"/>
                </a:solidFill>
                <a:effectLst/>
                <a:latin typeface="Montserrat" panose="00000500000000000000" pitchFamily="2" charset="0"/>
              </a:rPr>
              <a:t> -&gt; It can be converted to digital blocks made up of combinational and sequential elements.</a:t>
            </a:r>
          </a:p>
          <a:p>
            <a:endParaRPr lang="en-US" dirty="0">
              <a:solidFill>
                <a:schemeClr val="accent1"/>
              </a:solidFill>
              <a:latin typeface="Montserrat" panose="00000500000000000000" pitchFamily="2" charset="0"/>
            </a:endParaRPr>
          </a:p>
          <a:p>
            <a:r>
              <a:rPr lang="en-U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SystemVerilog</a:t>
            </a:r>
            <a:r>
              <a:rPr lang="en-US" dirty="0">
                <a:solidFill>
                  <a:schemeClr val="accent1"/>
                </a:solidFill>
                <a:latin typeface="Montserrat" panose="00000500000000000000" pitchFamily="2" charset="0"/>
              </a:rPr>
              <a:t> is an extension of Verilog with more features</a:t>
            </a:r>
          </a:p>
        </p:txBody>
      </p:sp>
    </p:spTree>
    <p:extLst>
      <p:ext uri="{BB962C8B-B14F-4D97-AF65-F5344CB8AC3E}">
        <p14:creationId xmlns:p14="http://schemas.microsoft.com/office/powerpoint/2010/main" val="733965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7BC0B-2253-1EF7-E75D-2A11062EF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2DA65-6D36-3AE2-3384-851343AA5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491" y="1149617"/>
            <a:ext cx="8569501" cy="3889857"/>
          </a:xfrm>
        </p:spPr>
        <p:txBody>
          <a:bodyPr/>
          <a:lstStyle/>
          <a:p>
            <a:r>
              <a:rPr lang="en-US" b="1" dirty="0"/>
              <a:t>Definition:</a:t>
            </a:r>
          </a:p>
          <a:p>
            <a:r>
              <a:rPr lang="en-US" dirty="0"/>
              <a:t>Module is block of </a:t>
            </a:r>
            <a:r>
              <a:rPr lang="en-US" dirty="0" err="1"/>
              <a:t>SystemVerilog</a:t>
            </a:r>
            <a:r>
              <a:rPr lang="en-US" dirty="0"/>
              <a:t> code that implements a certain functionality</a:t>
            </a:r>
          </a:p>
          <a:p>
            <a:r>
              <a:rPr lang="en-US" dirty="0"/>
              <a:t>A module can be embedded within other modules and these modules can communicate</a:t>
            </a:r>
          </a:p>
          <a:p>
            <a:r>
              <a:rPr lang="en-US" dirty="0"/>
              <a:t>with each other using their input + output ports.</a:t>
            </a:r>
          </a:p>
          <a:p>
            <a:endParaRPr lang="en-US" dirty="0"/>
          </a:p>
          <a:p>
            <a:r>
              <a:rPr lang="en-US" b="1" dirty="0"/>
              <a:t>Syntax:</a:t>
            </a:r>
          </a:p>
          <a:p>
            <a:r>
              <a:rPr lang="en-US" dirty="0"/>
              <a:t>module </a:t>
            </a:r>
            <a:r>
              <a:rPr lang="en-US" dirty="0" err="1"/>
              <a:t>Module_name</a:t>
            </a:r>
            <a:r>
              <a:rPr lang="en-US" dirty="0"/>
              <a:t>( input [</a:t>
            </a:r>
            <a:r>
              <a:rPr lang="en-US" dirty="0" err="1"/>
              <a:t>data_type</a:t>
            </a:r>
            <a:r>
              <a:rPr lang="en-US" dirty="0"/>
              <a:t>] port1, input [</a:t>
            </a:r>
            <a:r>
              <a:rPr lang="en-US" dirty="0" err="1"/>
              <a:t>data_type</a:t>
            </a:r>
            <a:r>
              <a:rPr lang="en-US" dirty="0"/>
              <a:t>] port2, output [</a:t>
            </a:r>
            <a:r>
              <a:rPr lang="en-US" dirty="0" err="1"/>
              <a:t>data_type</a:t>
            </a:r>
            <a:r>
              <a:rPr lang="en-US" dirty="0"/>
              <a:t>] port3);</a:t>
            </a:r>
          </a:p>
          <a:p>
            <a:r>
              <a:rPr lang="en-US" dirty="0"/>
              <a:t>//internal logic</a:t>
            </a:r>
          </a:p>
          <a:p>
            <a:r>
              <a:rPr lang="en-US" dirty="0" err="1"/>
              <a:t>endmodule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Declaration:</a:t>
            </a:r>
            <a:r>
              <a:rPr lang="en-US" dirty="0"/>
              <a:t> Using </a:t>
            </a:r>
            <a:r>
              <a:rPr lang="en-US" i="1" dirty="0"/>
              <a:t>module</a:t>
            </a:r>
            <a:r>
              <a:rPr lang="en-US" dirty="0"/>
              <a:t> keyword, followed by module name, an optional port list; end of a module by</a:t>
            </a:r>
          </a:p>
          <a:p>
            <a:r>
              <a:rPr lang="en-US" i="1" dirty="0" err="1"/>
              <a:t>endmodule</a:t>
            </a:r>
            <a:r>
              <a:rPr lang="en-US" dirty="0"/>
              <a:t> keyword</a:t>
            </a:r>
          </a:p>
          <a:p>
            <a:endParaRPr lang="en-US" dirty="0"/>
          </a:p>
          <a:p>
            <a:r>
              <a:rPr lang="en-US" b="1" dirty="0" err="1"/>
              <a:t>Portlist</a:t>
            </a:r>
            <a:r>
              <a:rPr lang="en-US" b="1" dirty="0"/>
              <a:t>:</a:t>
            </a:r>
            <a:r>
              <a:rPr lang="en-US" dirty="0"/>
              <a:t> Specify input, output ports to module and their data types; </a:t>
            </a:r>
            <a:r>
              <a:rPr lang="en-US" dirty="0" err="1"/>
              <a:t>portlist</a:t>
            </a:r>
            <a:r>
              <a:rPr lang="en-US" dirty="0"/>
              <a:t> is optional.</a:t>
            </a:r>
          </a:p>
          <a:p>
            <a:endParaRPr lang="en-US" dirty="0"/>
          </a:p>
          <a:p>
            <a:pPr marL="179388" indent="-39688"/>
            <a:r>
              <a:rPr lang="en-US" b="1" dirty="0"/>
              <a:t>Internal logic: </a:t>
            </a:r>
            <a:r>
              <a:rPr lang="en-US" dirty="0"/>
              <a:t>Specify how module ’s outputs are derived from its inputs: using operators, assignments,   variables, statements, call other modules,…..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085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9D5EC-D534-C53F-0816-EB08A690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and values of a variable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11879D-1FB3-5CD8-7F8A-A6F6C947F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98" y="1065514"/>
            <a:ext cx="7738200" cy="897464"/>
          </a:xfrm>
        </p:spPr>
        <p:txBody>
          <a:bodyPr/>
          <a:lstStyle/>
          <a:p>
            <a:r>
              <a:rPr lang="en-US" dirty="0"/>
              <a:t>Basic data types available in </a:t>
            </a:r>
            <a:r>
              <a:rPr lang="en-US" dirty="0" err="1"/>
              <a:t>SystemVerilog</a:t>
            </a:r>
            <a:r>
              <a:rPr lang="en-US" dirty="0"/>
              <a:t> are shown in table below:</a:t>
            </a:r>
          </a:p>
          <a:p>
            <a:endParaRPr lang="en-US" dirty="0"/>
          </a:p>
          <a:p>
            <a:r>
              <a:rPr lang="en-US" dirty="0"/>
              <a:t>Nearly all </a:t>
            </a:r>
            <a:r>
              <a:rPr lang="en-US" dirty="0" err="1"/>
              <a:t>SystemVerilog</a:t>
            </a:r>
            <a:r>
              <a:rPr lang="en-US" dirty="0"/>
              <a:t> signals can be </a:t>
            </a:r>
            <a:r>
              <a:rPr lang="en-US" i="1" dirty="0"/>
              <a:t>logic, </a:t>
            </a:r>
            <a:r>
              <a:rPr lang="en-US" dirty="0"/>
              <a:t>except that</a:t>
            </a:r>
          </a:p>
          <a:p>
            <a:r>
              <a:rPr lang="en-US" dirty="0"/>
              <a:t>signals with multiple </a:t>
            </a:r>
            <a:r>
              <a:rPr lang="en-US"/>
              <a:t>drivers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Values </a:t>
            </a:r>
            <a:r>
              <a:rPr lang="en-US" dirty="0" err="1"/>
              <a:t>SystemVerilog</a:t>
            </a:r>
            <a:r>
              <a:rPr lang="en-US" dirty="0"/>
              <a:t> variables can hold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A1C64E-7756-1397-0CA1-5E3798B10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295" y="1702994"/>
            <a:ext cx="4432983" cy="3006436"/>
          </a:xfrm>
          <a:prstGeom prst="rect">
            <a:avLst/>
          </a:prstGeom>
        </p:spPr>
      </p:pic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8870DC72-ECBD-9026-3145-65FC98806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863064"/>
              </p:ext>
            </p:extLst>
          </p:nvPr>
        </p:nvGraphicFramePr>
        <p:xfrm>
          <a:off x="320704" y="2594626"/>
          <a:ext cx="4043478" cy="1742440"/>
        </p:xfrm>
        <a:graphic>
          <a:graphicData uri="http://schemas.openxmlformats.org/drawingml/2006/table">
            <a:tbl>
              <a:tblPr firstRow="1" bandRow="1">
                <a:tableStyleId>{D971DDEE-25E1-4FD0-9271-24F5402C3206}</a:tableStyleId>
              </a:tblPr>
              <a:tblGrid>
                <a:gridCol w="1085533">
                  <a:extLst>
                    <a:ext uri="{9D8B030D-6E8A-4147-A177-3AD203B41FA5}">
                      <a16:colId xmlns:a16="http://schemas.microsoft.com/office/drawing/2014/main" val="511140109"/>
                    </a:ext>
                  </a:extLst>
                </a:gridCol>
                <a:gridCol w="2957945">
                  <a:extLst>
                    <a:ext uri="{9D8B030D-6E8A-4147-A177-3AD203B41FA5}">
                      <a16:colId xmlns:a16="http://schemas.microsoft.com/office/drawing/2014/main" val="729620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accent1"/>
                          </a:solidFill>
                          <a:effectLst/>
                          <a:latin typeface="Montserrat" panose="00000500000000000000" pitchFamily="2" charset="0"/>
                          <a:ea typeface="Arial"/>
                          <a:cs typeface="Arial"/>
                          <a:sym typeface="Arial"/>
                        </a:rPr>
                        <a:t>represents a logic zero, or a false condition</a:t>
                      </a:r>
                      <a:endParaRPr lang="en-US" sz="1200" dirty="0">
                        <a:solidFill>
                          <a:schemeClr val="accent1"/>
                        </a:solidFill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396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accent1"/>
                          </a:solidFill>
                          <a:effectLst/>
                          <a:latin typeface="Montserrat" panose="00000500000000000000" pitchFamily="2" charset="0"/>
                          <a:ea typeface="Arial"/>
                          <a:cs typeface="Arial"/>
                          <a:sym typeface="Arial"/>
                        </a:rPr>
                        <a:t>represents a logic one, or a true condition</a:t>
                      </a:r>
                      <a:endParaRPr lang="en-US" sz="1200" dirty="0">
                        <a:solidFill>
                          <a:schemeClr val="accent1"/>
                        </a:solidFill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072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x or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accent1"/>
                          </a:solidFill>
                          <a:effectLst/>
                          <a:latin typeface="Montserrat" panose="00000500000000000000" pitchFamily="2" charset="0"/>
                          <a:ea typeface="Arial"/>
                          <a:cs typeface="Arial"/>
                          <a:sym typeface="Arial"/>
                        </a:rPr>
                        <a:t>represents an unknown logic value (can be zero or one)</a:t>
                      </a:r>
                      <a:endParaRPr lang="en-US" sz="1200" dirty="0">
                        <a:solidFill>
                          <a:schemeClr val="accent1"/>
                        </a:solidFill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167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accent1"/>
                          </a:solidFill>
                          <a:effectLst/>
                          <a:latin typeface="Montserrat" panose="00000500000000000000" pitchFamily="2" charset="0"/>
                          <a:ea typeface="Arial"/>
                          <a:cs typeface="Arial"/>
                          <a:sym typeface="Arial"/>
                        </a:rPr>
                        <a:t>represents a high-impedance state</a:t>
                      </a:r>
                      <a:endParaRPr lang="en-US" sz="1200" dirty="0">
                        <a:solidFill>
                          <a:schemeClr val="accent1"/>
                        </a:solidFill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327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4131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AC8B0-50EB-B498-1B6D-A7D7E77B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and precedence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875892-F768-075F-8DEE-F1AAFBE1E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398" y="1126422"/>
            <a:ext cx="7738200" cy="505200"/>
          </a:xfrm>
        </p:spPr>
        <p:txBody>
          <a:bodyPr/>
          <a:lstStyle/>
          <a:p>
            <a:r>
              <a:rPr lang="en-US" dirty="0" err="1"/>
              <a:t>SystemVerilog</a:t>
            </a:r>
            <a:r>
              <a:rPr lang="en-US" dirty="0"/>
              <a:t> operators and precedence of operators are shown in below table: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ADD026-8B3F-F30A-9846-4CE583AB9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225" y="1631622"/>
            <a:ext cx="3444969" cy="33112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9A7FF5-57AE-31F2-2E80-FE7F0EF61430}"/>
              </a:ext>
            </a:extLst>
          </p:cNvPr>
          <p:cNvSpPr txBox="1"/>
          <p:nvPr/>
        </p:nvSpPr>
        <p:spPr>
          <a:xfrm>
            <a:off x="735806" y="1631622"/>
            <a:ext cx="2448106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accent1"/>
                </a:solidFill>
                <a:latin typeface="Montserrat" panose="00000500000000000000" pitchFamily="2" charset="0"/>
              </a:rPr>
              <a:t>Some types of operators: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accent1"/>
                </a:solidFill>
                <a:latin typeface="Montserrat" panose="00000500000000000000" pitchFamily="2" charset="0"/>
              </a:rPr>
              <a:t>- Arithmetic operators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accent1"/>
                </a:solidFill>
                <a:latin typeface="Montserrat" panose="00000500000000000000" pitchFamily="2" charset="0"/>
              </a:rPr>
              <a:t>- Relational operators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accent1"/>
                </a:solidFill>
                <a:latin typeface="Montserrat" panose="00000500000000000000" pitchFamily="2" charset="0"/>
              </a:rPr>
              <a:t>- Bitwise operators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accent1"/>
                </a:solidFill>
                <a:latin typeface="Montserrat" panose="00000500000000000000" pitchFamily="2" charset="0"/>
              </a:rPr>
              <a:t>- Conditional operator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accent1"/>
                </a:solidFill>
                <a:latin typeface="Montserrat" panose="00000500000000000000" pitchFamily="2" charset="0"/>
              </a:rPr>
              <a:t>- Assignment operators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accent1"/>
                </a:solidFill>
                <a:latin typeface="Montserrat" panose="00000500000000000000" pitchFamily="2" charset="0"/>
              </a:rPr>
              <a:t>  + Blocking assignment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accent1"/>
                </a:solidFill>
                <a:latin typeface="Montserrat" panose="00000500000000000000" pitchFamily="2" charset="0"/>
              </a:rPr>
              <a:t>  + Non-blocking assignment </a:t>
            </a:r>
          </a:p>
          <a:p>
            <a:endParaRPr lang="en-US" sz="12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605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33D98-EE84-C9DE-7852-5FED876D0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51" y="484450"/>
            <a:ext cx="8638693" cy="572700"/>
          </a:xfrm>
        </p:spPr>
        <p:txBody>
          <a:bodyPr/>
          <a:lstStyle/>
          <a:p>
            <a:r>
              <a:rPr lang="en-US" dirty="0"/>
              <a:t>Continuous and conditional assignment </a:t>
            </a:r>
            <a:r>
              <a:rPr lang="en-US" dirty="0" err="1"/>
              <a:t>assignamn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6E8D4-790F-C14F-3811-EE334D591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050" y="1174914"/>
            <a:ext cx="8292332" cy="505200"/>
          </a:xfrm>
        </p:spPr>
        <p:txBody>
          <a:bodyPr/>
          <a:lstStyle/>
          <a:p>
            <a:pPr marL="179388" indent="-39688"/>
            <a:r>
              <a:rPr lang="en-US" b="1" dirty="0"/>
              <a:t>Continuous assignment:</a:t>
            </a:r>
            <a:r>
              <a:rPr lang="en-US" dirty="0"/>
              <a:t> value of the left-hand side signal is continuously updated to match the value of the right-hand side expression</a:t>
            </a:r>
          </a:p>
          <a:p>
            <a:pPr marL="179388" indent="-39688"/>
            <a:r>
              <a:rPr lang="en-US" i="1" dirty="0"/>
              <a:t>assign</a:t>
            </a:r>
            <a:r>
              <a:rPr lang="en-US" dirty="0"/>
              <a:t> statement is used to create continuous assignment in hardware description.</a:t>
            </a:r>
          </a:p>
          <a:p>
            <a:endParaRPr lang="en-US" dirty="0"/>
          </a:p>
          <a:p>
            <a:r>
              <a:rPr lang="en-US" b="1" dirty="0"/>
              <a:t>Syntax:</a:t>
            </a:r>
          </a:p>
          <a:p>
            <a:r>
              <a:rPr lang="en-US" dirty="0"/>
              <a:t>            assign LHS = RHS</a:t>
            </a:r>
          </a:p>
          <a:p>
            <a:endParaRPr lang="en-US" dirty="0"/>
          </a:p>
          <a:p>
            <a:r>
              <a:rPr lang="en-US" dirty="0"/>
              <a:t>LHS: signal need to assign a value to</a:t>
            </a:r>
          </a:p>
          <a:p>
            <a:r>
              <a:rPr lang="en-US" dirty="0"/>
              <a:t>RHS: signal or expression</a:t>
            </a:r>
          </a:p>
          <a:p>
            <a:endParaRPr lang="en-US" dirty="0"/>
          </a:p>
          <a:p>
            <a:pPr marL="179388" indent="-39688"/>
            <a:r>
              <a:rPr lang="en-US" b="1" dirty="0"/>
              <a:t>Conditional assignment: </a:t>
            </a:r>
            <a:r>
              <a:rPr lang="en-US" dirty="0"/>
              <a:t>select the output from among alternatives based on an input called the condition</a:t>
            </a:r>
          </a:p>
          <a:p>
            <a:r>
              <a:rPr lang="en-US" dirty="0"/>
              <a:t>Using </a:t>
            </a:r>
            <a:r>
              <a:rPr lang="en-US" i="1" dirty="0"/>
              <a:t>assign</a:t>
            </a:r>
            <a:r>
              <a:rPr lang="en-US" dirty="0"/>
              <a:t> statement and conditional operator </a:t>
            </a:r>
            <a:r>
              <a:rPr lang="en-US" i="1" dirty="0"/>
              <a:t>?:</a:t>
            </a:r>
          </a:p>
          <a:p>
            <a:endParaRPr lang="en-US" b="1" dirty="0"/>
          </a:p>
          <a:p>
            <a:r>
              <a:rPr lang="en-US" b="1" dirty="0"/>
              <a:t>Syntax:</a:t>
            </a:r>
          </a:p>
          <a:p>
            <a:r>
              <a:rPr lang="en-US" dirty="0"/>
              <a:t>     assign y= &lt;first exp&gt; ?: &lt;second exp&gt; : &lt;third exp&gt;</a:t>
            </a:r>
          </a:p>
          <a:p>
            <a:endParaRPr lang="en-US" dirty="0"/>
          </a:p>
          <a:p>
            <a:r>
              <a:rPr lang="en-US" dirty="0"/>
              <a:t>Based on value of first exp (condition) to choose second exp or third exp</a:t>
            </a:r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117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098A6-090C-360B-F818-6C5672825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inverter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AF59A-5E78-E888-7A97-FBDE0CD34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2925" y="1057149"/>
            <a:ext cx="7738200" cy="1789959"/>
          </a:xfrm>
        </p:spPr>
        <p:txBody>
          <a:bodyPr/>
          <a:lstStyle/>
          <a:p>
            <a:r>
              <a:rPr lang="en-US" dirty="0"/>
              <a:t>An example of design an inverter using </a:t>
            </a:r>
            <a:r>
              <a:rPr lang="en-US" dirty="0" err="1"/>
              <a:t>SystemVerilog</a:t>
            </a:r>
            <a:r>
              <a:rPr lang="en-US" dirty="0"/>
              <a:t> is shown below</a:t>
            </a:r>
          </a:p>
          <a:p>
            <a:endParaRPr lang="en-US" dirty="0"/>
          </a:p>
          <a:p>
            <a:r>
              <a:rPr lang="en-US" dirty="0">
                <a:latin typeface="Consolas" panose="020B0609020204030204" pitchFamily="49" charset="0"/>
              </a:rPr>
              <a:t>module inverter(input logic x,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 output logic y);</a:t>
            </a:r>
          </a:p>
          <a:p>
            <a:r>
              <a:rPr lang="en-US" dirty="0">
                <a:latin typeface="Consolas" panose="020B0609020204030204" pitchFamily="49" charset="0"/>
              </a:rPr>
              <a:t>	assign y = ~x;</a:t>
            </a:r>
          </a:p>
          <a:p>
            <a:r>
              <a:rPr lang="en-US" dirty="0" err="1">
                <a:latin typeface="Consolas" panose="020B0609020204030204" pitchFamily="49" charset="0"/>
              </a:rPr>
              <a:t>endmodule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8C6570-96CC-92C7-0487-FC79E0D19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656" y="1415987"/>
            <a:ext cx="5261813" cy="296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66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4A760-E251-676D-2A81-3437D9E67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testbench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D5FB56-729C-2240-24F2-90842D25F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2925" y="1057150"/>
            <a:ext cx="8129400" cy="2635086"/>
          </a:xfrm>
        </p:spPr>
        <p:txBody>
          <a:bodyPr/>
          <a:lstStyle/>
          <a:p>
            <a:r>
              <a:rPr lang="en-US" b="1" dirty="0"/>
              <a:t>Testbench:</a:t>
            </a:r>
            <a:r>
              <a:rPr lang="en-US" dirty="0"/>
              <a:t> a </a:t>
            </a:r>
            <a:r>
              <a:rPr lang="en-US" dirty="0" err="1"/>
              <a:t>SystemVerilog</a:t>
            </a:r>
            <a:r>
              <a:rPr lang="en-US" dirty="0"/>
              <a:t> module to verify the functionality of a design through simulations. 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US" b="1" dirty="0"/>
              <a:t>Steps:</a:t>
            </a:r>
          </a:p>
          <a:p>
            <a:pPr>
              <a:lnSpc>
                <a:spcPct val="150000"/>
              </a:lnSpc>
            </a:pPr>
            <a:r>
              <a:rPr lang="en-US" dirty="0"/>
              <a:t>- Top level hardware design module is instantiated within testbench</a:t>
            </a:r>
          </a:p>
          <a:p>
            <a:pPr>
              <a:lnSpc>
                <a:spcPct val="150000"/>
              </a:lnSpc>
            </a:pPr>
            <a:r>
              <a:rPr lang="en-US" dirty="0"/>
              <a:t>- Declare testbench component signals and connect them to design ‘s input/output ports</a:t>
            </a:r>
          </a:p>
          <a:p>
            <a:pPr>
              <a:lnSpc>
                <a:spcPct val="150000"/>
              </a:lnSpc>
            </a:pPr>
            <a:r>
              <a:rPr lang="en-US" dirty="0"/>
              <a:t>- Inputs to the design are driven with certain values </a:t>
            </a:r>
          </a:p>
          <a:p>
            <a:pPr marL="179388" indent="-39688">
              <a:lnSpc>
                <a:spcPct val="150000"/>
              </a:lnSpc>
            </a:pPr>
            <a:r>
              <a:rPr lang="en-US" dirty="0"/>
              <a:t>- Outputs of design are analyzed and compared with expected values to check if the design behavior is correct or not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90485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4A760-E251-676D-2A81-3437D9E67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testbench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D5FB56-729C-2240-24F2-90842D25F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743" y="1254207"/>
            <a:ext cx="8129400" cy="2635086"/>
          </a:xfrm>
        </p:spPr>
        <p:txBody>
          <a:bodyPr/>
          <a:lstStyle/>
          <a:p>
            <a:r>
              <a:rPr lang="en-US" b="1" dirty="0"/>
              <a:t>Structure of a testbench: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E4E0759-92D2-2D2A-1E84-EE51CDEF8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09" y="1693060"/>
            <a:ext cx="7488937" cy="2031325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696" tIns="0" rIns="12696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// All verification components are placed in this top testbench module 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latin typeface="Consolas" panose="020B0609020204030204" pitchFamily="49" charset="0"/>
              </a:rPr>
              <a:t> Module </a:t>
            </a:r>
            <a:r>
              <a:rPr lang="en-US" altLang="en-US" sz="1200" dirty="0" err="1">
                <a:latin typeface="Consolas" panose="020B0609020204030204" pitchFamily="49" charset="0"/>
              </a:rPr>
              <a:t>tb_top</a:t>
            </a:r>
            <a:r>
              <a:rPr lang="en-US" altLang="en-US" sz="1200" dirty="0">
                <a:latin typeface="Consolas" panose="020B0609020204030204" pitchFamily="49" charset="0"/>
              </a:rPr>
              <a:t>();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Declare testbench component signals that need to be connected to the design instance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// These signals are assigned some values that in turn gets transferred to 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the design as inputs because they are connected with the ports in the design 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latin typeface="Consolas" panose="020B0609020204030204" pitchFamily="49" charset="0"/>
              </a:rPr>
              <a:t>logic a, b, y;</a:t>
            </a:r>
          </a:p>
          <a:p>
            <a:pPr eaLnBrk="0" fontAlgn="b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Instantiate the design module and connect the testbench component signals declared above with the ports in the design 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 err="1">
                <a:latin typeface="Consolas" panose="020B0609020204030204" pitchFamily="49" charset="0"/>
              </a:rPr>
              <a:t>mydesign</a:t>
            </a:r>
            <a:r>
              <a:rPr lang="en-US" altLang="en-US" sz="1200" dirty="0">
                <a:latin typeface="Consolas" panose="020B0609020204030204" pitchFamily="49" charset="0"/>
              </a:rPr>
              <a:t> DUT(</a:t>
            </a:r>
            <a:r>
              <a:rPr lang="en-US" altLang="en-US" sz="1200" dirty="0" err="1">
                <a:latin typeface="Consolas" panose="020B0609020204030204" pitchFamily="49" charset="0"/>
              </a:rPr>
              <a:t>a,b,y</a:t>
            </a:r>
            <a:r>
              <a:rPr lang="en-US" altLang="en-US" sz="1200" dirty="0"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//Assign values to testbench component signals  that can be </a:t>
            </a:r>
            <a:r>
              <a:rPr lang="en-US" altLang="en-US" sz="12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diven</a:t>
            </a:r>
            <a:r>
              <a:rPr lang="en-US" altLang="en-US" sz="12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to the design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2AE1D82-D52C-54B7-AA28-7CF2C12DD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57" y="2802582"/>
            <a:ext cx="25705" cy="276999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696" tIns="0" rIns="12696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5347BB6-5245-0DA1-BAD7-1E13457A2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25705" cy="276999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696" tIns="0" rIns="12696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A091C4-A2AB-5C54-B059-49294EB026C2}"/>
              </a:ext>
            </a:extLst>
          </p:cNvPr>
          <p:cNvSpPr txBox="1"/>
          <p:nvPr/>
        </p:nvSpPr>
        <p:spPr>
          <a:xfrm>
            <a:off x="344545" y="4167834"/>
            <a:ext cx="8672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Montserrat" panose="00000500000000000000" pitchFamily="2" charset="0"/>
              </a:rPr>
              <a:t>DUT stands for design under test and is top hardware design module written in </a:t>
            </a:r>
            <a:r>
              <a:rPr lang="en-U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SystemVerilog</a:t>
            </a:r>
            <a:endParaRPr lang="en-US" dirty="0">
              <a:solidFill>
                <a:schemeClr val="accent1"/>
              </a:solidFill>
              <a:latin typeface="Montserrat" panose="00000500000000000000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535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5A95D-08D5-32E1-82FF-EFDB26A73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inverter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07D6E-AE79-B149-D278-842006607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691" y="1006770"/>
            <a:ext cx="7803816" cy="3445577"/>
          </a:xfrm>
        </p:spPr>
        <p:txBody>
          <a:bodyPr/>
          <a:lstStyle/>
          <a:p>
            <a:r>
              <a:rPr lang="en-US" dirty="0"/>
              <a:t>An example testbench for inverter design is given below:</a:t>
            </a:r>
          </a:p>
          <a:p>
            <a:endParaRPr lang="en-US" dirty="0"/>
          </a:p>
          <a:p>
            <a:r>
              <a:rPr lang="en-US" dirty="0">
                <a:latin typeface="Consolas" panose="020B0609020204030204" pitchFamily="49" charset="0"/>
              </a:rPr>
              <a:t>module </a:t>
            </a:r>
            <a:r>
              <a:rPr lang="en-US" dirty="0" err="1">
                <a:latin typeface="Consolas" panose="020B0609020204030204" pitchFamily="49" charset="0"/>
              </a:rPr>
              <a:t>inverter_tb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latin typeface="Consolas" panose="020B0609020204030204" pitchFamily="49" charset="0"/>
              </a:rPr>
              <a:t>	logic </a:t>
            </a:r>
            <a:r>
              <a:rPr lang="en-US" dirty="0" err="1">
                <a:latin typeface="Consolas" panose="020B0609020204030204" pitchFamily="49" charset="0"/>
              </a:rPr>
              <a:t>a,b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	// instantiate device under test</a:t>
            </a:r>
          </a:p>
          <a:p>
            <a:r>
              <a:rPr lang="en-US" dirty="0">
                <a:latin typeface="Consolas" panose="020B0609020204030204" pitchFamily="49" charset="0"/>
              </a:rPr>
              <a:t>	inverter </a:t>
            </a:r>
            <a:r>
              <a:rPr lang="en-US" dirty="0" err="1">
                <a:latin typeface="Consolas" panose="020B0609020204030204" pitchFamily="49" charset="0"/>
              </a:rPr>
              <a:t>dut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a,b</a:t>
            </a:r>
            <a:r>
              <a:rPr lang="en-US" dirty="0"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latin typeface="Consolas" panose="020B0609020204030204" pitchFamily="49" charset="0"/>
              </a:rPr>
              <a:t>	</a:t>
            </a:r>
          </a:p>
          <a:p>
            <a:r>
              <a:rPr lang="en-US" dirty="0">
                <a:latin typeface="Consolas" panose="020B0609020204030204" pitchFamily="49" charset="0"/>
              </a:rPr>
              <a:t>	//apply input one at a time</a:t>
            </a:r>
          </a:p>
          <a:p>
            <a:r>
              <a:rPr lang="en-US" dirty="0">
                <a:latin typeface="Consolas" panose="020B0609020204030204" pitchFamily="49" charset="0"/>
              </a:rPr>
              <a:t>	initial begin</a:t>
            </a:r>
          </a:p>
          <a:p>
            <a:r>
              <a:rPr lang="en-US" dirty="0">
                <a:latin typeface="Consolas" panose="020B0609020204030204" pitchFamily="49" charset="0"/>
              </a:rPr>
              <a:t>		a=0;  #10;</a:t>
            </a:r>
          </a:p>
          <a:p>
            <a:r>
              <a:rPr lang="en-US" dirty="0">
                <a:latin typeface="Consolas" panose="020B0609020204030204" pitchFamily="49" charset="0"/>
              </a:rPr>
              <a:t>         assert (b == 1) else $error(“a = 0 failed”);</a:t>
            </a:r>
          </a:p>
          <a:p>
            <a:r>
              <a:rPr lang="en-US" dirty="0">
                <a:latin typeface="Consolas" panose="020B0609020204030204" pitchFamily="49" charset="0"/>
              </a:rPr>
              <a:t>		a=1;  #10;</a:t>
            </a:r>
          </a:p>
          <a:p>
            <a:r>
              <a:rPr lang="en-US" dirty="0">
                <a:latin typeface="Consolas" panose="020B0609020204030204" pitchFamily="49" charset="0"/>
              </a:rPr>
              <a:t>         assert (b == 0) else $error(“a = 1 failed”);</a:t>
            </a:r>
          </a:p>
          <a:p>
            <a:r>
              <a:rPr lang="en-US" dirty="0">
                <a:latin typeface="Consolas" panose="020B0609020204030204" pitchFamily="49" charset="0"/>
              </a:rPr>
              <a:t>	end</a:t>
            </a:r>
          </a:p>
          <a:p>
            <a:r>
              <a:rPr lang="en-US" dirty="0" err="1">
                <a:latin typeface="Consolas" panose="020B0609020204030204" pitchFamily="49" charset="0"/>
              </a:rPr>
              <a:t>endmodule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latin typeface="Montserrat" panose="00000500000000000000" pitchFamily="2" charset="0"/>
              </a:rPr>
              <a:t>delay</a:t>
            </a:r>
            <a:r>
              <a:rPr lang="en-US" dirty="0">
                <a:latin typeface="Montserrat" panose="00000500000000000000" pitchFamily="2" charset="0"/>
              </a:rPr>
              <a:t>:#10 – delay 10 time units</a:t>
            </a:r>
          </a:p>
          <a:p>
            <a:r>
              <a:rPr lang="en-US" b="1" dirty="0">
                <a:latin typeface="Montserrat" panose="00000500000000000000" pitchFamily="2" charset="0"/>
              </a:rPr>
              <a:t>initial</a:t>
            </a:r>
            <a:r>
              <a:rPr lang="en-US" dirty="0">
                <a:latin typeface="Montserrat" panose="00000500000000000000" pitchFamily="2" charset="0"/>
              </a:rPr>
              <a:t>: define a block of code that is</a:t>
            </a:r>
          </a:p>
          <a:p>
            <a:r>
              <a:rPr lang="en-US" dirty="0">
                <a:latin typeface="Montserrat" panose="00000500000000000000" pitchFamily="2" charset="0"/>
              </a:rPr>
              <a:t>execute once at the beginning of a simulation;</a:t>
            </a:r>
          </a:p>
          <a:p>
            <a:r>
              <a:rPr lang="en-US" dirty="0">
                <a:latin typeface="Montserrat" panose="00000500000000000000" pitchFamily="2" charset="0"/>
              </a:rPr>
              <a:t>used for initialization, testbench setup,…</a:t>
            </a:r>
          </a:p>
          <a:p>
            <a:r>
              <a:rPr lang="en-US" b="1" dirty="0">
                <a:latin typeface="Montserrat" panose="00000500000000000000" pitchFamily="2" charset="0"/>
              </a:rPr>
              <a:t>assert</a:t>
            </a:r>
            <a:r>
              <a:rPr lang="en-US" dirty="0">
                <a:latin typeface="Montserrat" panose="00000500000000000000" pitchFamily="2" charset="0"/>
              </a:rPr>
              <a:t>: a statement is used to specified and check conditions during design and verification.</a:t>
            </a:r>
          </a:p>
          <a:p>
            <a:r>
              <a:rPr lang="en-US" b="1" dirty="0">
                <a:latin typeface="Montserrat" panose="00000500000000000000" pitchFamily="2" charset="0"/>
              </a:rPr>
              <a:t>$error</a:t>
            </a:r>
            <a:r>
              <a:rPr lang="en-US" dirty="0">
                <a:latin typeface="Montserrat" panose="00000500000000000000" pitchFamily="2" charset="0"/>
              </a:rPr>
              <a:t>: is used to report error message during simulation, if </a:t>
            </a:r>
            <a:r>
              <a:rPr lang="en-US" dirty="0" err="1">
                <a:latin typeface="Montserrat" panose="00000500000000000000" pitchFamily="2" charset="0"/>
              </a:rPr>
              <a:t>encounterd</a:t>
            </a:r>
            <a:r>
              <a:rPr lang="en-US" dirty="0">
                <a:latin typeface="Montserrat" panose="00000500000000000000" pitchFamily="2" charset="0"/>
              </a:rPr>
              <a:t>, $error stops simulation and displays message. 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6D19DC-D281-39F8-1E96-F529911A0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139" y="1208531"/>
            <a:ext cx="4318861" cy="272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316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02C4C-A6A5-9085-6D36-2BA6FD5BA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simulation in </a:t>
            </a:r>
            <a:r>
              <a:rPr lang="en-US" dirty="0" err="1"/>
              <a:t>Quaturs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67782-C38A-D1ED-1E2A-F8D7456A9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2900" y="1147769"/>
            <a:ext cx="7738200" cy="505200"/>
          </a:xfrm>
        </p:spPr>
        <p:txBody>
          <a:bodyPr/>
          <a:lstStyle/>
          <a:p>
            <a:r>
              <a:rPr lang="en-US" dirty="0"/>
              <a:t>After add inverter.sv and inverter_tb.sv file to current project -&gt; run simulation</a:t>
            </a:r>
          </a:p>
          <a:p>
            <a:r>
              <a:rPr lang="en-US" dirty="0"/>
              <a:t>Choose </a:t>
            </a:r>
            <a:r>
              <a:rPr lang="en-US" dirty="0" err="1"/>
              <a:t>Asignments</a:t>
            </a:r>
            <a:r>
              <a:rPr lang="en-US" dirty="0"/>
              <a:t> -&gt; Settings to add testbench file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404024-E69D-EA25-86C0-6898C4FF1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961" y="1731622"/>
            <a:ext cx="6104596" cy="328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535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02C4C-A6A5-9085-6D36-2BA6FD5BA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simulation in </a:t>
            </a:r>
            <a:r>
              <a:rPr lang="en-US" dirty="0" err="1"/>
              <a:t>Quaturs</a:t>
            </a:r>
            <a:r>
              <a:rPr lang="en-US" dirty="0"/>
              <a:t>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67782-C38A-D1ED-1E2A-F8D7456A92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 Settings, go to Simulation and configure as picture below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D361F1-5E57-0C63-9B6F-5F2A19649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588" y="1461654"/>
            <a:ext cx="4179575" cy="356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958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02C4C-A6A5-9085-6D36-2BA6FD5BA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simulation in </a:t>
            </a:r>
            <a:r>
              <a:rPr lang="en-US" dirty="0" err="1"/>
              <a:t>Quaturs</a:t>
            </a:r>
            <a:r>
              <a:rPr lang="en-US" dirty="0"/>
              <a:t>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67782-C38A-D1ED-1E2A-F8D7456A92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Click on </a:t>
            </a:r>
            <a:r>
              <a:rPr lang="en-US" dirty="0" err="1"/>
              <a:t>TestBenches</a:t>
            </a:r>
            <a:r>
              <a:rPr lang="en-US" dirty="0"/>
              <a:t> -&gt; New </a:t>
            </a:r>
          </a:p>
          <a:p>
            <a:r>
              <a:rPr lang="en-US" dirty="0"/>
              <a:t>Enter test bench name, top level module in test bench</a:t>
            </a:r>
          </a:p>
          <a:p>
            <a:r>
              <a:rPr lang="en-US" dirty="0"/>
              <a:t>In Filename, browse to </a:t>
            </a:r>
            <a:r>
              <a:rPr lang="en-US" i="1" dirty="0"/>
              <a:t>inverter_tb.sv </a:t>
            </a:r>
            <a:r>
              <a:rPr lang="en-US" dirty="0"/>
              <a:t>file in your computer and click  Add -&gt; OK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9D907C-59C9-F16E-E8E3-CC2AEF033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174" y="1821874"/>
            <a:ext cx="2281846" cy="316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538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02C4C-A6A5-9085-6D36-2BA6FD5BA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simulation in </a:t>
            </a:r>
            <a:r>
              <a:rPr lang="en-US" dirty="0" err="1"/>
              <a:t>Quaturs</a:t>
            </a:r>
            <a:r>
              <a:rPr lang="en-US" dirty="0"/>
              <a:t>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67782-C38A-D1ED-1E2A-F8D7456A9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2924" y="1057150"/>
            <a:ext cx="8018165" cy="505200"/>
          </a:xfrm>
        </p:spPr>
        <p:txBody>
          <a:bodyPr/>
          <a:lstStyle/>
          <a:p>
            <a:r>
              <a:rPr lang="en-US" dirty="0"/>
              <a:t>Add path to </a:t>
            </a:r>
            <a:r>
              <a:rPr lang="en-US" dirty="0" err="1"/>
              <a:t>ModelSim</a:t>
            </a:r>
            <a:r>
              <a:rPr lang="en-US" dirty="0"/>
              <a:t>: go to Tools -&gt; Options -&gt; EDA Tool Options -&gt; add path to </a:t>
            </a:r>
            <a:r>
              <a:rPr lang="en-US" dirty="0" err="1"/>
              <a:t>ModelSim</a:t>
            </a:r>
            <a:r>
              <a:rPr lang="en-US" dirty="0"/>
              <a:t> Altera</a:t>
            </a:r>
          </a:p>
          <a:p>
            <a:r>
              <a:rPr lang="en-US" dirty="0"/>
              <a:t>Path has format: </a:t>
            </a:r>
          </a:p>
          <a:p>
            <a:r>
              <a:rPr lang="en-US" dirty="0"/>
              <a:t>C:/intelFPGA_lite/20.1std/modelsim_ase/win32aloem</a:t>
            </a:r>
          </a:p>
          <a:p>
            <a:endParaRPr lang="en-US" dirty="0"/>
          </a:p>
          <a:p>
            <a:pPr marL="179388" indent="-39688"/>
            <a:r>
              <a:rPr lang="en-US" dirty="0"/>
              <a:t>Choose Tools -&gt; Run Simulation Tool -&gt; RTL Simulation to </a:t>
            </a:r>
            <a:r>
              <a:rPr lang="en-US" dirty="0" err="1"/>
              <a:t>lauch</a:t>
            </a:r>
            <a:r>
              <a:rPr lang="en-US" dirty="0"/>
              <a:t> </a:t>
            </a:r>
            <a:r>
              <a:rPr lang="en-US" dirty="0" err="1"/>
              <a:t>ModelSim</a:t>
            </a:r>
            <a:r>
              <a:rPr lang="en-US" dirty="0"/>
              <a:t> and observe result of  simulation</a:t>
            </a:r>
          </a:p>
          <a:p>
            <a:pPr marL="179388" indent="-39688"/>
            <a:endParaRPr lang="en-US" dirty="0"/>
          </a:p>
          <a:p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7C4CC-FADD-B796-845B-785201AA4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778" y="2060176"/>
            <a:ext cx="5093696" cy="308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48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02C4C-A6A5-9085-6D36-2BA6FD5BA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198" y="371725"/>
            <a:ext cx="8666402" cy="572700"/>
          </a:xfrm>
        </p:spPr>
        <p:txBody>
          <a:bodyPr/>
          <a:lstStyle/>
          <a:p>
            <a:r>
              <a:rPr lang="en-US" sz="2600" dirty="0"/>
              <a:t>Test design module </a:t>
            </a:r>
            <a:r>
              <a:rPr lang="en-US" sz="2600"/>
              <a:t>in STEP MAX-10 </a:t>
            </a:r>
            <a:r>
              <a:rPr lang="en-US" sz="2600" dirty="0"/>
              <a:t>board (</a:t>
            </a:r>
            <a:r>
              <a:rPr lang="en-US" sz="2600" dirty="0" err="1"/>
              <a:t>cont</a:t>
            </a:r>
            <a:r>
              <a:rPr lang="en-US" sz="2600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67782-C38A-D1ED-1E2A-F8D7456A9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627" y="1041652"/>
            <a:ext cx="7738200" cy="505200"/>
          </a:xfrm>
        </p:spPr>
        <p:txBody>
          <a:bodyPr/>
          <a:lstStyle/>
          <a:p>
            <a:r>
              <a:rPr lang="en-US"/>
              <a:t>Go </a:t>
            </a:r>
            <a:r>
              <a:rPr lang="en-US" dirty="0"/>
              <a:t>to Assignments -&gt; Pin Planner -&gt; assign pins of design module on </a:t>
            </a:r>
            <a:r>
              <a:rPr lang="en-US"/>
              <a:t>DE-10 board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236FAC-24C9-5CA1-9674-12C38F573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257" y="1397035"/>
            <a:ext cx="6226854" cy="370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44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02C4C-A6A5-9085-6D36-2BA6FD5BA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198" y="371725"/>
            <a:ext cx="8699982" cy="882848"/>
          </a:xfrm>
        </p:spPr>
        <p:txBody>
          <a:bodyPr/>
          <a:lstStyle/>
          <a:p>
            <a:r>
              <a:rPr lang="en-US" sz="2600" dirty="0"/>
              <a:t>Test design module </a:t>
            </a:r>
            <a:r>
              <a:rPr lang="en-US" sz="2600"/>
              <a:t>in STEP MAX-10 </a:t>
            </a:r>
            <a:r>
              <a:rPr lang="en-US" sz="2600" dirty="0"/>
              <a:t>board (</a:t>
            </a:r>
            <a:r>
              <a:rPr lang="en-US" sz="2600" dirty="0" err="1"/>
              <a:t>cont</a:t>
            </a:r>
            <a:r>
              <a:rPr lang="en-US" sz="2600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67782-C38A-D1ED-1E2A-F8D7456A92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179388" indent="-39688"/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DF8E35-69EF-11E3-EC1E-8DE0714FB079}"/>
              </a:ext>
            </a:extLst>
          </p:cNvPr>
          <p:cNvSpPr txBox="1"/>
          <p:nvPr/>
        </p:nvSpPr>
        <p:spPr>
          <a:xfrm>
            <a:off x="702925" y="1302327"/>
            <a:ext cx="5538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Montserrat" panose="00000500000000000000" pitchFamily="2" charset="0"/>
              </a:rPr>
              <a:t>Below table show Pin </a:t>
            </a:r>
            <a:r>
              <a:rPr lang="en-US">
                <a:solidFill>
                  <a:schemeClr val="accent1"/>
                </a:solidFill>
                <a:latin typeface="Montserrat" panose="00000500000000000000" pitchFamily="2" charset="0"/>
              </a:rPr>
              <a:t>assignment on STEP MAX-10 </a:t>
            </a:r>
            <a:r>
              <a:rPr lang="en-US" dirty="0">
                <a:solidFill>
                  <a:schemeClr val="accent1"/>
                </a:solidFill>
                <a:latin typeface="Montserrat" panose="00000500000000000000" pitchFamily="2" charset="0"/>
              </a:rPr>
              <a:t>board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4E3A86-D4C5-9FE3-4896-FCA0806B9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284" y="1705810"/>
            <a:ext cx="3648539" cy="333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395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72E9D6-3CDE-680E-364B-9AA8B3CA7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015" y="1057150"/>
            <a:ext cx="7738200" cy="505200"/>
          </a:xfrm>
        </p:spPr>
        <p:txBody>
          <a:bodyPr/>
          <a:lstStyle/>
          <a:p>
            <a:r>
              <a:rPr lang="en-US" dirty="0"/>
              <a:t>Do complete Compline step in design</a:t>
            </a:r>
          </a:p>
          <a:p>
            <a:r>
              <a:rPr lang="en-US" dirty="0"/>
              <a:t>Right click on Compile Design -&gt; Start</a:t>
            </a:r>
          </a:p>
          <a:p>
            <a:r>
              <a:rPr lang="en-US" dirty="0"/>
              <a:t>All green check mark -&gt; done Compline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A6907-D898-BD28-724B-9CD20ACE5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93" y="1690255"/>
            <a:ext cx="5522725" cy="329503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26BAF78-FE1E-294B-0B35-018B49FC25BD}"/>
              </a:ext>
            </a:extLst>
          </p:cNvPr>
          <p:cNvSpPr txBox="1">
            <a:spLocks/>
          </p:cNvSpPr>
          <p:nvPr/>
        </p:nvSpPr>
        <p:spPr>
          <a:xfrm>
            <a:off x="99255" y="484450"/>
            <a:ext cx="894549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600"/>
              <a:t>Test design module in STEP MAX-10 board (cont)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360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EF6FB-1130-056F-EF28-8604BB87A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510" y="441880"/>
            <a:ext cx="8945490" cy="572700"/>
          </a:xfrm>
        </p:spPr>
        <p:txBody>
          <a:bodyPr/>
          <a:lstStyle/>
          <a:p>
            <a:r>
              <a:rPr lang="en-US" sz="2600" dirty="0"/>
              <a:t>Test design module </a:t>
            </a:r>
            <a:r>
              <a:rPr lang="en-US" sz="2600"/>
              <a:t>in STEP MAX-10 </a:t>
            </a:r>
            <a:r>
              <a:rPr lang="en-US" sz="2600" dirty="0"/>
              <a:t>board </a:t>
            </a:r>
            <a:r>
              <a:rPr lang="en-US" sz="2600"/>
              <a:t>(cont)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72E9D6-3CDE-680E-364B-9AA8B3CA75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 to Tool -&gt; Programmer</a:t>
            </a:r>
          </a:p>
          <a:p>
            <a:r>
              <a:rPr lang="en-US" dirty="0"/>
              <a:t>After select Hardware , click on Start</a:t>
            </a:r>
          </a:p>
          <a:p>
            <a:r>
              <a:rPr lang="en-US" dirty="0"/>
              <a:t>Progress bar is full with green -&gt; Done</a:t>
            </a:r>
          </a:p>
          <a:p>
            <a:r>
              <a:rPr lang="en-US" dirty="0"/>
              <a:t>Check operations of design on DE-10 board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38012E-F98A-1C35-3AB6-697820C01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107" y="1891270"/>
            <a:ext cx="5143765" cy="316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443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AF0D2-F73D-4656-2FF1-A9B77BA08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A3D3-2DC0-D415-1D6C-CD8A12303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2925" y="1057150"/>
            <a:ext cx="7738200" cy="2718214"/>
          </a:xfrm>
        </p:spPr>
        <p:txBody>
          <a:bodyPr/>
          <a:lstStyle/>
          <a:p>
            <a:r>
              <a:rPr lang="en-US" dirty="0"/>
              <a:t>Ex1: Design a NAND gate using </a:t>
            </a:r>
            <a:r>
              <a:rPr lang="en-US" dirty="0" err="1"/>
              <a:t>SystemVerilog</a:t>
            </a:r>
            <a:r>
              <a:rPr lang="en-US" dirty="0"/>
              <a:t>, simulate on </a:t>
            </a:r>
            <a:r>
              <a:rPr lang="en-US" dirty="0" err="1"/>
              <a:t>ModelSim</a:t>
            </a:r>
            <a:r>
              <a:rPr lang="en-US" dirty="0"/>
              <a:t> and test operations of design </a:t>
            </a:r>
            <a:r>
              <a:rPr lang="en-US"/>
              <a:t>in STEP MAX-10 </a:t>
            </a:r>
            <a:r>
              <a:rPr lang="en-US" dirty="0"/>
              <a:t>board.</a:t>
            </a:r>
          </a:p>
          <a:p>
            <a:endParaRPr lang="en-US" dirty="0"/>
          </a:p>
          <a:p>
            <a:r>
              <a:rPr lang="en-US" dirty="0"/>
              <a:t>Ex2: Design a 2:1 multiplexer using </a:t>
            </a:r>
            <a:r>
              <a:rPr lang="en-US" dirty="0" err="1"/>
              <a:t>SystemVerilog</a:t>
            </a:r>
            <a:r>
              <a:rPr lang="en-US" dirty="0"/>
              <a:t>, simulate on </a:t>
            </a:r>
            <a:r>
              <a:rPr lang="en-US" dirty="0" err="1"/>
              <a:t>ModelSim</a:t>
            </a:r>
            <a:r>
              <a:rPr lang="en-US" dirty="0"/>
              <a:t> and test operations of design </a:t>
            </a:r>
            <a:r>
              <a:rPr lang="en-US"/>
              <a:t>in STEP MAX-10 </a:t>
            </a:r>
            <a:r>
              <a:rPr lang="en-US" dirty="0"/>
              <a:t>board. (Using conditional operator)</a:t>
            </a:r>
          </a:p>
          <a:p>
            <a:endParaRPr lang="en-US" dirty="0"/>
          </a:p>
          <a:p>
            <a:r>
              <a:rPr lang="en-US" dirty="0"/>
              <a:t>Ex3: Design a 4:1 multiplexer using </a:t>
            </a:r>
            <a:r>
              <a:rPr lang="en-US" dirty="0" err="1"/>
              <a:t>SystemVerilog</a:t>
            </a:r>
            <a:r>
              <a:rPr lang="en-US" dirty="0"/>
              <a:t>, simulate on </a:t>
            </a:r>
            <a:r>
              <a:rPr lang="en-US" dirty="0" err="1"/>
              <a:t>ModelSim</a:t>
            </a:r>
            <a:r>
              <a:rPr lang="en-US" dirty="0"/>
              <a:t> and test operations of design </a:t>
            </a:r>
            <a:r>
              <a:rPr lang="en-US"/>
              <a:t>in STEP MAX-10 </a:t>
            </a:r>
            <a:r>
              <a:rPr lang="en-US" dirty="0"/>
              <a:t>board. (Using conditional operator)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713842"/>
      </p:ext>
    </p:extLst>
  </p:cSld>
  <p:clrMapOvr>
    <a:masterClrMapping/>
  </p:clrMapOvr>
</p:sld>
</file>

<file path=ppt/theme/theme1.xml><?xml version="1.0" encoding="utf-8"?>
<a:theme xmlns:a="http://schemas.openxmlformats.org/drawingml/2006/main" name="Livine Meeting XL by Slidesgo">
  <a:themeElements>
    <a:clrScheme name="Simple Light">
      <a:dk1>
        <a:srgbClr val="FFFFFF"/>
      </a:dk1>
      <a:lt1>
        <a:srgbClr val="FFFFFF"/>
      </a:lt1>
      <a:dk2>
        <a:srgbClr val="595959"/>
      </a:dk2>
      <a:lt2>
        <a:srgbClr val="EEEEEE"/>
      </a:lt2>
      <a:accent1>
        <a:srgbClr val="27316F"/>
      </a:accent1>
      <a:accent2>
        <a:srgbClr val="75C4C0"/>
      </a:accent2>
      <a:accent3>
        <a:srgbClr val="FFC800"/>
      </a:accent3>
      <a:accent4>
        <a:srgbClr val="FFFFFF"/>
      </a:accent4>
      <a:accent5>
        <a:srgbClr val="C2C2C2"/>
      </a:accent5>
      <a:accent6>
        <a:srgbClr val="F2F2F2"/>
      </a:accent6>
      <a:hlink>
        <a:srgbClr val="27316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2610</TotalTime>
  <Words>1266</Words>
  <Application>Microsoft Office PowerPoint</Application>
  <PresentationFormat>On-screen Show (16:9)</PresentationFormat>
  <Paragraphs>194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Consolas</vt:lpstr>
      <vt:lpstr>Montserrat</vt:lpstr>
      <vt:lpstr>Arial</vt:lpstr>
      <vt:lpstr>Livine Meeting XL by Slidesgo</vt:lpstr>
      <vt:lpstr>Lab 2: Introduction to hardware description language</vt:lpstr>
      <vt:lpstr>Design flow</vt:lpstr>
      <vt:lpstr>Simulation and Synthesis</vt:lpstr>
      <vt:lpstr>Hardware description language</vt:lpstr>
      <vt:lpstr>Module</vt:lpstr>
      <vt:lpstr>Data types and values of a variable</vt:lpstr>
      <vt:lpstr>Operator and precedence</vt:lpstr>
      <vt:lpstr>Continuous and conditional assignment assignamn</vt:lpstr>
      <vt:lpstr>Example: inverter</vt:lpstr>
      <vt:lpstr>Writing testbench</vt:lpstr>
      <vt:lpstr>Writing testbench (cont)</vt:lpstr>
      <vt:lpstr>Example: inverter (cont)</vt:lpstr>
      <vt:lpstr>Run simulation in Quaturs</vt:lpstr>
      <vt:lpstr>Run simulation in Quaturs (cont)</vt:lpstr>
      <vt:lpstr>Run simulation in Quaturs (cont)</vt:lpstr>
      <vt:lpstr>Run simulation in Quaturs (cont)</vt:lpstr>
      <vt:lpstr>Test design module in STEP MAX-10 board (cont)</vt:lpstr>
      <vt:lpstr>Test design module in STEP MAX-10 board (cont)</vt:lpstr>
      <vt:lpstr>PowerPoint Presentation</vt:lpstr>
      <vt:lpstr>Test design module in STEP MAX-10 board (cont)</vt:lpstr>
      <vt:lpstr>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MIDTERM EXAM SOLUTION</dc:title>
  <dc:creator>Minh Ngoc Duong</dc:creator>
  <cp:lastModifiedBy>Minh Đình</cp:lastModifiedBy>
  <cp:revision>46</cp:revision>
  <dcterms:modified xsi:type="dcterms:W3CDTF">2025-11-21T16:37:53Z</dcterms:modified>
</cp:coreProperties>
</file>